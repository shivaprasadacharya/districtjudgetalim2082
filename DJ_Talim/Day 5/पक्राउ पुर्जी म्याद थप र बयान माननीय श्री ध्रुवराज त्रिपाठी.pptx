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3" r:id="rId4"/>
    <p:sldId id="295" r:id="rId5"/>
    <p:sldId id="262" r:id="rId6"/>
    <p:sldId id="263" r:id="rId7"/>
    <p:sldId id="264" r:id="rId8"/>
    <p:sldId id="265" r:id="rId9"/>
    <p:sldId id="258" r:id="rId10"/>
    <p:sldId id="260" r:id="rId11"/>
    <p:sldId id="259" r:id="rId12"/>
    <p:sldId id="261" r:id="rId13"/>
    <p:sldId id="266" r:id="rId14"/>
    <p:sldId id="267" r:id="rId15"/>
    <p:sldId id="269" r:id="rId16"/>
    <p:sldId id="268" r:id="rId17"/>
    <p:sldId id="270" r:id="rId18"/>
    <p:sldId id="271" r:id="rId19"/>
    <p:sldId id="272" r:id="rId20"/>
    <p:sldId id="273" r:id="rId21"/>
    <p:sldId id="274" r:id="rId22"/>
    <p:sldId id="297" r:id="rId23"/>
    <p:sldId id="276" r:id="rId24"/>
    <p:sldId id="275" r:id="rId25"/>
    <p:sldId id="277" r:id="rId26"/>
    <p:sldId id="278" r:id="rId27"/>
    <p:sldId id="286" r:id="rId28"/>
    <p:sldId id="279" r:id="rId29"/>
    <p:sldId id="280" r:id="rId30"/>
    <p:sldId id="287" r:id="rId31"/>
    <p:sldId id="285" r:id="rId32"/>
    <p:sldId id="288" r:id="rId33"/>
    <p:sldId id="289" r:id="rId34"/>
    <p:sldId id="281" r:id="rId35"/>
    <p:sldId id="298" r:id="rId36"/>
    <p:sldId id="290" r:id="rId37"/>
    <p:sldId id="282" r:id="rId38"/>
    <p:sldId id="291" r:id="rId39"/>
    <p:sldId id="283" r:id="rId40"/>
    <p:sldId id="284" r:id="rId41"/>
    <p:sldId id="29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026B0C4-3101-4215-8441-22B8C05E803A}"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C61451-1D5F-4DCC-A606-1C8D950CF064}" type="slidenum">
              <a:rPr lang="en-US" smtClean="0"/>
              <a:t>‹#›</a:t>
            </a:fld>
            <a:endParaRPr lang="en-US"/>
          </a:p>
        </p:txBody>
      </p:sp>
    </p:spTree>
    <p:extLst>
      <p:ext uri="{BB962C8B-B14F-4D97-AF65-F5344CB8AC3E}">
        <p14:creationId xmlns:p14="http://schemas.microsoft.com/office/powerpoint/2010/main" val="2570178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26B0C4-3101-4215-8441-22B8C05E803A}"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C61451-1D5F-4DCC-A606-1C8D950CF064}" type="slidenum">
              <a:rPr lang="en-US" smtClean="0"/>
              <a:t>‹#›</a:t>
            </a:fld>
            <a:endParaRPr lang="en-US"/>
          </a:p>
        </p:txBody>
      </p:sp>
    </p:spTree>
    <p:extLst>
      <p:ext uri="{BB962C8B-B14F-4D97-AF65-F5344CB8AC3E}">
        <p14:creationId xmlns:p14="http://schemas.microsoft.com/office/powerpoint/2010/main" val="716933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026B0C4-3101-4215-8441-22B8C05E803A}"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C61451-1D5F-4DCC-A606-1C8D950CF064}" type="slidenum">
              <a:rPr lang="en-US" smtClean="0"/>
              <a:t>‹#›</a:t>
            </a:fld>
            <a:endParaRPr lang="en-US"/>
          </a:p>
        </p:txBody>
      </p:sp>
    </p:spTree>
    <p:extLst>
      <p:ext uri="{BB962C8B-B14F-4D97-AF65-F5344CB8AC3E}">
        <p14:creationId xmlns:p14="http://schemas.microsoft.com/office/powerpoint/2010/main" val="535256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026B0C4-3101-4215-8441-22B8C05E803A}"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C61451-1D5F-4DCC-A606-1C8D950CF064}" type="slidenum">
              <a:rPr lang="en-US" smtClean="0"/>
              <a:t>‹#›</a:t>
            </a:fld>
            <a:endParaRPr lang="en-US"/>
          </a:p>
        </p:txBody>
      </p:sp>
    </p:spTree>
    <p:extLst>
      <p:ext uri="{BB962C8B-B14F-4D97-AF65-F5344CB8AC3E}">
        <p14:creationId xmlns:p14="http://schemas.microsoft.com/office/powerpoint/2010/main" val="2242345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026B0C4-3101-4215-8441-22B8C05E803A}"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C61451-1D5F-4DCC-A606-1C8D950CF064}" type="slidenum">
              <a:rPr lang="en-US" smtClean="0"/>
              <a:t>‹#›</a:t>
            </a:fld>
            <a:endParaRPr lang="en-US"/>
          </a:p>
        </p:txBody>
      </p:sp>
    </p:spTree>
    <p:extLst>
      <p:ext uri="{BB962C8B-B14F-4D97-AF65-F5344CB8AC3E}">
        <p14:creationId xmlns:p14="http://schemas.microsoft.com/office/powerpoint/2010/main" val="2982624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026B0C4-3101-4215-8441-22B8C05E803A}"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C61451-1D5F-4DCC-A606-1C8D950CF064}" type="slidenum">
              <a:rPr lang="en-US" smtClean="0"/>
              <a:t>‹#›</a:t>
            </a:fld>
            <a:endParaRPr lang="en-US"/>
          </a:p>
        </p:txBody>
      </p:sp>
    </p:spTree>
    <p:extLst>
      <p:ext uri="{BB962C8B-B14F-4D97-AF65-F5344CB8AC3E}">
        <p14:creationId xmlns:p14="http://schemas.microsoft.com/office/powerpoint/2010/main" val="525948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26B0C4-3101-4215-8441-22B8C05E803A}"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C61451-1D5F-4DCC-A606-1C8D950CF064}" type="slidenum">
              <a:rPr lang="en-US" smtClean="0"/>
              <a:t>‹#›</a:t>
            </a:fld>
            <a:endParaRPr lang="en-US"/>
          </a:p>
        </p:txBody>
      </p:sp>
    </p:spTree>
    <p:extLst>
      <p:ext uri="{BB962C8B-B14F-4D97-AF65-F5344CB8AC3E}">
        <p14:creationId xmlns:p14="http://schemas.microsoft.com/office/powerpoint/2010/main" val="2944795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026B0C4-3101-4215-8441-22B8C05E803A}"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C61451-1D5F-4DCC-A606-1C8D950CF064}" type="slidenum">
              <a:rPr lang="en-US" smtClean="0"/>
              <a:t>‹#›</a:t>
            </a:fld>
            <a:endParaRPr lang="en-US"/>
          </a:p>
        </p:txBody>
      </p:sp>
    </p:spTree>
    <p:extLst>
      <p:ext uri="{BB962C8B-B14F-4D97-AF65-F5344CB8AC3E}">
        <p14:creationId xmlns:p14="http://schemas.microsoft.com/office/powerpoint/2010/main" val="386813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026B0C4-3101-4215-8441-22B8C05E803A}"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C61451-1D5F-4DCC-A606-1C8D950CF064}" type="slidenum">
              <a:rPr lang="en-US" smtClean="0"/>
              <a:t>‹#›</a:t>
            </a:fld>
            <a:endParaRPr lang="en-US"/>
          </a:p>
        </p:txBody>
      </p:sp>
    </p:spTree>
    <p:extLst>
      <p:ext uri="{BB962C8B-B14F-4D97-AF65-F5344CB8AC3E}">
        <p14:creationId xmlns:p14="http://schemas.microsoft.com/office/powerpoint/2010/main" val="2040991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26B0C4-3101-4215-8441-22B8C05E803A}"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C61451-1D5F-4DCC-A606-1C8D950CF064}" type="slidenum">
              <a:rPr lang="en-US" smtClean="0"/>
              <a:t>‹#›</a:t>
            </a:fld>
            <a:endParaRPr lang="en-US"/>
          </a:p>
        </p:txBody>
      </p:sp>
    </p:spTree>
    <p:extLst>
      <p:ext uri="{BB962C8B-B14F-4D97-AF65-F5344CB8AC3E}">
        <p14:creationId xmlns:p14="http://schemas.microsoft.com/office/powerpoint/2010/main" val="743828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26B0C4-3101-4215-8441-22B8C05E803A}"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C61451-1D5F-4DCC-A606-1C8D950CF064}" type="slidenum">
              <a:rPr lang="en-US" smtClean="0"/>
              <a:t>‹#›</a:t>
            </a:fld>
            <a:endParaRPr lang="en-US"/>
          </a:p>
        </p:txBody>
      </p:sp>
    </p:spTree>
    <p:extLst>
      <p:ext uri="{BB962C8B-B14F-4D97-AF65-F5344CB8AC3E}">
        <p14:creationId xmlns:p14="http://schemas.microsoft.com/office/powerpoint/2010/main" val="3740062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26B0C4-3101-4215-8441-22B8C05E803A}" type="datetimeFigureOut">
              <a:rPr lang="en-US" smtClean="0"/>
              <a:t>1/15/2026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C61451-1D5F-4DCC-A606-1C8D950CF064}" type="slidenum">
              <a:rPr lang="en-US" smtClean="0"/>
              <a:t>‹#›</a:t>
            </a:fld>
            <a:endParaRPr lang="en-US"/>
          </a:p>
        </p:txBody>
      </p:sp>
    </p:spTree>
    <p:extLst>
      <p:ext uri="{BB962C8B-B14F-4D97-AF65-F5344CB8AC3E}">
        <p14:creationId xmlns:p14="http://schemas.microsoft.com/office/powerpoint/2010/main" val="1577981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7114" y="576775"/>
            <a:ext cx="10944664" cy="2208628"/>
          </a:xfrm>
        </p:spPr>
        <p:txBody>
          <a:bodyPr/>
          <a:lstStyle/>
          <a:p>
            <a:r>
              <a:rPr lang="ne-NP" dirty="0" smtClean="0">
                <a:cs typeface="Kalimati" panose="00000400000000000000" pitchFamily="2"/>
              </a:rPr>
              <a:t>पक्राउ पुर्जी, म्याद थप र प्रतिबादीको बयान</a:t>
            </a:r>
            <a:endParaRPr lang="en-US" dirty="0">
              <a:cs typeface="Kalimati" panose="00000400000000000000" pitchFamily="2"/>
            </a:endParaRPr>
          </a:p>
        </p:txBody>
      </p:sp>
      <p:sp>
        <p:nvSpPr>
          <p:cNvPr id="3" name="Subtitle 2"/>
          <p:cNvSpPr>
            <a:spLocks noGrp="1"/>
          </p:cNvSpPr>
          <p:nvPr>
            <p:ph type="subTitle" idx="1"/>
          </p:nvPr>
        </p:nvSpPr>
        <p:spPr>
          <a:xfrm>
            <a:off x="1524000" y="3953022"/>
            <a:ext cx="9144000" cy="2447778"/>
          </a:xfrm>
        </p:spPr>
        <p:txBody>
          <a:bodyPr>
            <a:noAutofit/>
          </a:bodyPr>
          <a:lstStyle/>
          <a:p>
            <a:r>
              <a:rPr lang="ne-NP" sz="2800" u="sng" dirty="0" smtClean="0">
                <a:cs typeface="Kalimati" panose="00000400000000000000" pitchFamily="2"/>
              </a:rPr>
              <a:t>प्रस्तुतकर्ता</a:t>
            </a:r>
          </a:p>
          <a:p>
            <a:r>
              <a:rPr lang="ne-NP" sz="2800" dirty="0" smtClean="0">
                <a:cs typeface="Kalimati" panose="00000400000000000000" pitchFamily="2"/>
              </a:rPr>
              <a:t>ध्रुबराज त्रिपाठी</a:t>
            </a:r>
          </a:p>
          <a:p>
            <a:r>
              <a:rPr lang="ne-NP" sz="2800" dirty="0" smtClean="0">
                <a:cs typeface="Kalimati" panose="00000400000000000000" pitchFamily="2"/>
              </a:rPr>
              <a:t>जिल्ला न्यायधीश </a:t>
            </a:r>
          </a:p>
          <a:p>
            <a:r>
              <a:rPr lang="ne-NP" sz="2800" dirty="0" smtClean="0">
                <a:cs typeface="Kalimati" panose="00000400000000000000" pitchFamily="2"/>
              </a:rPr>
              <a:t>ललितपुर जिल्ला अदालत</a:t>
            </a:r>
            <a:endParaRPr lang="en-US" sz="2800" dirty="0">
              <a:cs typeface="Kalimati" panose="00000400000000000000" pitchFamily="2"/>
            </a:endParaRPr>
          </a:p>
        </p:txBody>
      </p:sp>
    </p:spTree>
    <p:extLst>
      <p:ext uri="{BB962C8B-B14F-4D97-AF65-F5344CB8AC3E}">
        <p14:creationId xmlns:p14="http://schemas.microsoft.com/office/powerpoint/2010/main" val="38419594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3895"/>
            <a:ext cx="10515600" cy="6133514"/>
          </a:xfrm>
        </p:spPr>
        <p:txBody>
          <a:bodyPr>
            <a:normAutofit/>
          </a:bodyPr>
          <a:lstStyle/>
          <a:p>
            <a:pPr marL="0" indent="0" algn="ctr">
              <a:buNone/>
            </a:pPr>
            <a:r>
              <a:rPr lang="ne-NP" sz="3600" dirty="0" smtClean="0">
                <a:cs typeface="Kalimati" panose="00000400000000000000" pitchFamily="2"/>
              </a:rPr>
              <a:t>प्रस्तुती भित्र</a:t>
            </a:r>
            <a:endParaRPr lang="ne-NP" sz="3600" dirty="0">
              <a:cs typeface="Kalimati" panose="00000400000000000000" pitchFamily="2"/>
            </a:endParaRPr>
          </a:p>
          <a:p>
            <a:pPr>
              <a:buFont typeface="Wingdings" panose="05000000000000000000" pitchFamily="2" charset="2"/>
              <a:buChar char="v"/>
            </a:pPr>
            <a:r>
              <a:rPr lang="ne-NP" sz="3600" dirty="0" smtClean="0">
                <a:cs typeface="Kalimati" panose="00000400000000000000" pitchFamily="2"/>
              </a:rPr>
              <a:t>शैद्धान्तिक अवधारणा</a:t>
            </a:r>
          </a:p>
          <a:p>
            <a:pPr>
              <a:buFont typeface="Wingdings" panose="05000000000000000000" pitchFamily="2" charset="2"/>
              <a:buChar char="v"/>
            </a:pPr>
            <a:r>
              <a:rPr lang="ne-NP" sz="3600" dirty="0" smtClean="0">
                <a:cs typeface="Kalimati" panose="00000400000000000000" pitchFamily="2"/>
              </a:rPr>
              <a:t>संबैधानिक ब्यवस्था</a:t>
            </a:r>
          </a:p>
          <a:p>
            <a:pPr>
              <a:buFont typeface="Wingdings" panose="05000000000000000000" pitchFamily="2" charset="2"/>
              <a:buChar char="v"/>
            </a:pPr>
            <a:r>
              <a:rPr lang="ne-NP" sz="3600" dirty="0" smtClean="0">
                <a:cs typeface="Kalimati" panose="00000400000000000000" pitchFamily="2"/>
              </a:rPr>
              <a:t>कानूनी ब्यवस्था</a:t>
            </a:r>
          </a:p>
          <a:p>
            <a:pPr>
              <a:buFont typeface="Wingdings" panose="05000000000000000000" pitchFamily="2" charset="2"/>
              <a:buChar char="v"/>
            </a:pPr>
            <a:r>
              <a:rPr lang="ne-NP" sz="3600" dirty="0" smtClean="0">
                <a:cs typeface="Kalimati" panose="00000400000000000000" pitchFamily="2"/>
              </a:rPr>
              <a:t>ब्यावहारिक समस्या र छलफल</a:t>
            </a:r>
          </a:p>
          <a:p>
            <a:pPr>
              <a:buFont typeface="Wingdings" panose="05000000000000000000" pitchFamily="2" charset="2"/>
              <a:buChar char="v"/>
            </a:pPr>
            <a:r>
              <a:rPr lang="ne-NP" sz="3600" dirty="0" smtClean="0">
                <a:cs typeface="Kalimati" panose="00000400000000000000" pitchFamily="2"/>
              </a:rPr>
              <a:t>समस्या र चुनौती</a:t>
            </a:r>
          </a:p>
          <a:p>
            <a:pPr marL="0" indent="0">
              <a:buNone/>
            </a:pPr>
            <a:endParaRPr lang="en-US" sz="3600" dirty="0">
              <a:cs typeface="Kalimati" panose="00000400000000000000" pitchFamily="2"/>
            </a:endParaRPr>
          </a:p>
        </p:txBody>
      </p:sp>
    </p:spTree>
    <p:extLst>
      <p:ext uri="{BB962C8B-B14F-4D97-AF65-F5344CB8AC3E}">
        <p14:creationId xmlns:p14="http://schemas.microsoft.com/office/powerpoint/2010/main" val="23827828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963" y="379828"/>
            <a:ext cx="11310425" cy="6161649"/>
          </a:xfrm>
        </p:spPr>
        <p:txBody>
          <a:bodyPr/>
          <a:lstStyle/>
          <a:p>
            <a:pPr marL="0" indent="0">
              <a:buNone/>
            </a:pPr>
            <a:r>
              <a:rPr lang="en-US" dirty="0" smtClean="0"/>
              <a:t>..</a:t>
            </a:r>
            <a:endParaRPr lang="en-US" dirty="0"/>
          </a:p>
        </p:txBody>
      </p:sp>
      <p:sp>
        <p:nvSpPr>
          <p:cNvPr id="4" name="Oval 2"/>
          <p:cNvSpPr>
            <a:spLocks noChangeArrowheads="1"/>
          </p:cNvSpPr>
          <p:nvPr/>
        </p:nvSpPr>
        <p:spPr bwMode="auto">
          <a:xfrm>
            <a:off x="4234391" y="2419641"/>
            <a:ext cx="3066736" cy="1811215"/>
          </a:xfrm>
          <a:prstGeom prst="ellipse">
            <a:avLst/>
          </a:prstGeom>
          <a:solidFill>
            <a:srgbClr val="FFFFFF"/>
          </a:solidFill>
          <a:ln w="9525">
            <a:solidFill>
              <a:srgbClr val="000000"/>
            </a:solidFill>
            <a:round/>
            <a:headEnd/>
            <a:tailEnd/>
          </a:ln>
        </p:spPr>
        <p:txBody>
          <a:bodyPr/>
          <a:lstStyle/>
          <a:p>
            <a:endParaRPr lang="en-US"/>
          </a:p>
        </p:txBody>
      </p:sp>
      <p:sp>
        <p:nvSpPr>
          <p:cNvPr id="5" name="Text Box 3"/>
          <p:cNvSpPr txBox="1">
            <a:spLocks noChangeArrowheads="1"/>
          </p:cNvSpPr>
          <p:nvPr/>
        </p:nvSpPr>
        <p:spPr bwMode="auto">
          <a:xfrm>
            <a:off x="4740823" y="2968280"/>
            <a:ext cx="1856936" cy="867508"/>
          </a:xfrm>
          <a:prstGeom prst="rect">
            <a:avLst/>
          </a:prstGeom>
          <a:solidFill>
            <a:srgbClr val="FFFFFF"/>
          </a:solidFill>
          <a:ln w="9525">
            <a:solidFill>
              <a:srgbClr val="000000"/>
            </a:solidFill>
            <a:miter lim="800000"/>
            <a:headEnd/>
            <a:tailEnd/>
          </a:ln>
        </p:spPr>
        <p:txBody>
          <a:bodyPr/>
          <a:lstStyle/>
          <a:p>
            <a:endParaRPr lang="en-US" altLang="en-US" sz="1200" dirty="0">
              <a:cs typeface="Times New Roman" panose="02020603050405020304" pitchFamily="18" charset="0"/>
            </a:endParaRPr>
          </a:p>
          <a:p>
            <a:pPr algn="ctr" eaLnBrk="0" hangingPunct="0"/>
            <a:r>
              <a:rPr lang="en-US" altLang="en-US" sz="4000" b="1" dirty="0">
                <a:latin typeface="Times New Roman" panose="02020603050405020304" pitchFamily="18" charset="0"/>
                <a:cs typeface="Times New Roman" panose="02020603050405020304" pitchFamily="18" charset="0"/>
              </a:rPr>
              <a:t>Judge</a:t>
            </a:r>
          </a:p>
        </p:txBody>
      </p:sp>
      <p:sp>
        <p:nvSpPr>
          <p:cNvPr id="7" name="Text Box 5"/>
          <p:cNvSpPr txBox="1">
            <a:spLocks noChangeArrowheads="1"/>
          </p:cNvSpPr>
          <p:nvPr/>
        </p:nvSpPr>
        <p:spPr bwMode="auto">
          <a:xfrm>
            <a:off x="6316389" y="1111341"/>
            <a:ext cx="5205049" cy="1336436"/>
          </a:xfrm>
          <a:prstGeom prst="rect">
            <a:avLst/>
          </a:prstGeom>
          <a:solidFill>
            <a:srgbClr val="FFFFFF"/>
          </a:solidFill>
          <a:ln w="9525">
            <a:solidFill>
              <a:srgbClr val="000000"/>
            </a:solidFill>
            <a:miter lim="800000"/>
            <a:headEnd/>
            <a:tailEnd/>
          </a:ln>
        </p:spPr>
        <p:txBody>
          <a:bodyPr/>
          <a:lstStyle/>
          <a:p>
            <a:endParaRPr lang="en-US" altLang="en-US" sz="1200" dirty="0">
              <a:cs typeface="Times New Roman" panose="02020603050405020304" pitchFamily="18" charset="0"/>
            </a:endParaRPr>
          </a:p>
          <a:p>
            <a:pPr algn="ctr" eaLnBrk="0" hangingPunct="0"/>
            <a:r>
              <a:rPr lang="en-US" altLang="en-US" sz="3200" b="1" dirty="0">
                <a:latin typeface="Times New Roman" panose="02020603050405020304" pitchFamily="18" charset="0"/>
                <a:cs typeface="Times New Roman" panose="02020603050405020304" pitchFamily="18" charset="0"/>
              </a:rPr>
              <a:t>Protection of the rights and interest of victim</a:t>
            </a:r>
          </a:p>
        </p:txBody>
      </p:sp>
      <p:sp>
        <p:nvSpPr>
          <p:cNvPr id="8" name="Text Box 7"/>
          <p:cNvSpPr txBox="1">
            <a:spLocks noChangeArrowheads="1"/>
          </p:cNvSpPr>
          <p:nvPr/>
        </p:nvSpPr>
        <p:spPr bwMode="auto">
          <a:xfrm>
            <a:off x="6304596" y="4206240"/>
            <a:ext cx="5230910" cy="1322363"/>
          </a:xfrm>
          <a:prstGeom prst="rect">
            <a:avLst/>
          </a:prstGeom>
          <a:solidFill>
            <a:srgbClr val="FFFFFF"/>
          </a:solidFill>
          <a:ln w="9525">
            <a:solidFill>
              <a:srgbClr val="000000"/>
            </a:solidFill>
            <a:miter lim="800000"/>
            <a:headEnd/>
            <a:tailEnd/>
          </a:ln>
        </p:spPr>
        <p:txBody>
          <a:bodyPr/>
          <a:lstStyle/>
          <a:p>
            <a:pPr algn="ctr"/>
            <a:r>
              <a:rPr lang="en-US" altLang="en-US" sz="3200" b="1" dirty="0">
                <a:latin typeface="Times New Roman" panose="02020603050405020304" pitchFamily="18" charset="0"/>
                <a:cs typeface="Times New Roman" panose="02020603050405020304" pitchFamily="18" charset="0"/>
              </a:rPr>
              <a:t>Protection of interest of society</a:t>
            </a:r>
          </a:p>
          <a:p>
            <a:pPr eaLnBrk="0" hangingPunct="0"/>
            <a:endParaRPr lang="en-US" altLang="en-US" sz="3600" dirty="0"/>
          </a:p>
        </p:txBody>
      </p:sp>
      <p:sp>
        <p:nvSpPr>
          <p:cNvPr id="9" name="Rectangle 8"/>
          <p:cNvSpPr>
            <a:spLocks noChangeArrowheads="1"/>
          </p:cNvSpPr>
          <p:nvPr/>
        </p:nvSpPr>
        <p:spPr bwMode="auto">
          <a:xfrm>
            <a:off x="0" y="21478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 name="Rectangle 9"/>
          <p:cNvSpPr>
            <a:spLocks noChangeArrowheads="1"/>
          </p:cNvSpPr>
          <p:nvPr/>
        </p:nvSpPr>
        <p:spPr bwMode="auto">
          <a:xfrm>
            <a:off x="0" y="2218006"/>
            <a:ext cx="2476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n-US" sz="1400" dirty="0"/>
          </a:p>
          <a:p>
            <a:pPr eaLnBrk="0" hangingPunct="0"/>
            <a:r>
              <a:rPr lang="en-US" altLang="en-US" dirty="0"/>
              <a:t> </a:t>
            </a:r>
          </a:p>
        </p:txBody>
      </p:sp>
      <p:sp>
        <p:nvSpPr>
          <p:cNvPr id="13" name="Text Box 6"/>
          <p:cNvSpPr txBox="1">
            <a:spLocks noChangeArrowheads="1"/>
          </p:cNvSpPr>
          <p:nvPr/>
        </p:nvSpPr>
        <p:spPr bwMode="auto">
          <a:xfrm>
            <a:off x="407963" y="2672872"/>
            <a:ext cx="3826427" cy="1603717"/>
          </a:xfrm>
          <a:prstGeom prst="rect">
            <a:avLst/>
          </a:prstGeom>
          <a:solidFill>
            <a:srgbClr val="FFFFFF"/>
          </a:solidFill>
          <a:ln w="9525">
            <a:solidFill>
              <a:srgbClr val="000000"/>
            </a:solidFill>
            <a:miter lim="800000"/>
            <a:headEnd/>
            <a:tailEnd/>
          </a:ln>
        </p:spPr>
        <p:txBody>
          <a:bodyPr/>
          <a:lstStyle/>
          <a:p>
            <a:pPr algn="ctr"/>
            <a:r>
              <a:rPr lang="en-US" altLang="en-US" sz="3200" b="1" dirty="0">
                <a:latin typeface="Times New Roman" panose="02020603050405020304" pitchFamily="18" charset="0"/>
                <a:cs typeface="Times New Roman" panose="02020603050405020304" pitchFamily="18" charset="0"/>
              </a:rPr>
              <a:t>Protection of the rights and interest of offender</a:t>
            </a:r>
          </a:p>
        </p:txBody>
      </p:sp>
    </p:spTree>
    <p:extLst>
      <p:ext uri="{BB962C8B-B14F-4D97-AF65-F5344CB8AC3E}">
        <p14:creationId xmlns:p14="http://schemas.microsoft.com/office/powerpoint/2010/main" val="3795893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a:spLocks noChangeArrowheads="1"/>
          </p:cNvSpPr>
          <p:nvPr/>
        </p:nvSpPr>
        <p:spPr bwMode="auto">
          <a:xfrm>
            <a:off x="2057400" y="2286000"/>
            <a:ext cx="4648200" cy="3886200"/>
          </a:xfrm>
          <a:prstGeom prst="ellipse">
            <a:avLst/>
          </a:prstGeom>
          <a:noFill/>
          <a:ln w="19050">
            <a:solidFill>
              <a:schemeClr val="tx1"/>
            </a:solidFill>
            <a:round/>
            <a:headEnd/>
            <a:tailEnd/>
          </a:ln>
          <a:effectLst/>
          <a:extLst>
            <a:ext uri="{909E8E84-426E-40DD-AFC4-6F175D3DCCD1}">
              <a14:hiddenFill xmlns:a14="http://schemas.microsoft.com/office/drawing/2010/main">
                <a:gradFill rotWithShape="0">
                  <a:gsLst>
                    <a:gs pos="0">
                      <a:srgbClr val="00FFFF"/>
                    </a:gs>
                    <a:gs pos="100000">
                      <a:schemeClr val="hlink"/>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en-US" sz="2400" b="1" dirty="0">
              <a:solidFill>
                <a:srgbClr val="00FF00"/>
              </a:solidFill>
              <a:latin typeface="Times New Roman" panose="02020603050405020304" pitchFamily="18" charset="0"/>
            </a:endParaRPr>
          </a:p>
          <a:p>
            <a:pPr algn="ctr" eaLnBrk="0" hangingPunct="0"/>
            <a:endParaRPr lang="en-US" altLang="en-US" sz="2400" b="1" dirty="0">
              <a:solidFill>
                <a:srgbClr val="00FF00"/>
              </a:solidFill>
              <a:latin typeface="Times New Roman" panose="02020603050405020304" pitchFamily="18" charset="0"/>
            </a:endParaRPr>
          </a:p>
          <a:p>
            <a:pPr algn="ctr" eaLnBrk="0" hangingPunct="0"/>
            <a:endParaRPr lang="en-US" altLang="en-US" sz="2400" b="1" dirty="0">
              <a:solidFill>
                <a:srgbClr val="00FF00"/>
              </a:solidFill>
              <a:latin typeface="Times New Roman" panose="02020603050405020304" pitchFamily="18" charset="0"/>
            </a:endParaRPr>
          </a:p>
          <a:p>
            <a:pPr algn="ctr" eaLnBrk="0" hangingPunct="0"/>
            <a:endParaRPr lang="en-US" altLang="en-US" sz="2400" b="1" dirty="0">
              <a:solidFill>
                <a:srgbClr val="00FF00"/>
              </a:solidFill>
              <a:latin typeface="Times New Roman" panose="02020603050405020304" pitchFamily="18" charset="0"/>
            </a:endParaRPr>
          </a:p>
          <a:p>
            <a:pPr algn="ctr" eaLnBrk="0" hangingPunct="0"/>
            <a:r>
              <a:rPr lang="en-US" altLang="en-US" sz="2400" b="1" dirty="0">
                <a:solidFill>
                  <a:schemeClr val="tx2"/>
                </a:solidFill>
                <a:latin typeface="Times New Roman" panose="02020603050405020304" pitchFamily="18" charset="0"/>
              </a:rPr>
              <a:t>Qualified Defense </a:t>
            </a:r>
          </a:p>
          <a:p>
            <a:pPr algn="ctr" eaLnBrk="0" hangingPunct="0"/>
            <a:r>
              <a:rPr lang="en-US" altLang="en-US" sz="2400" b="1" dirty="0">
                <a:solidFill>
                  <a:schemeClr val="tx2"/>
                </a:solidFill>
                <a:latin typeface="Times New Roman" panose="02020603050405020304" pitchFamily="18" charset="0"/>
              </a:rPr>
              <a:t>Counsel</a:t>
            </a:r>
          </a:p>
        </p:txBody>
      </p:sp>
      <p:sp>
        <p:nvSpPr>
          <p:cNvPr id="5" name="Text Box 4"/>
          <p:cNvSpPr txBox="1">
            <a:spLocks noChangeArrowheads="1"/>
          </p:cNvSpPr>
          <p:nvPr/>
        </p:nvSpPr>
        <p:spPr bwMode="auto">
          <a:xfrm>
            <a:off x="3404382" y="2438400"/>
            <a:ext cx="192961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spcBef>
                <a:spcPct val="50000"/>
              </a:spcBef>
            </a:pPr>
            <a:r>
              <a:rPr lang="en-US" altLang="en-US" sz="2400" b="1" dirty="0">
                <a:solidFill>
                  <a:schemeClr val="accent2"/>
                </a:solidFill>
                <a:latin typeface="Times New Roman" panose="02020603050405020304" pitchFamily="18" charset="0"/>
              </a:rPr>
              <a:t>Fair Judgment</a:t>
            </a:r>
          </a:p>
        </p:txBody>
      </p:sp>
      <p:grpSp>
        <p:nvGrpSpPr>
          <p:cNvPr id="6" name="Group 5"/>
          <p:cNvGrpSpPr>
            <a:grpSpLocks/>
          </p:cNvGrpSpPr>
          <p:nvPr/>
        </p:nvGrpSpPr>
        <p:grpSpPr bwMode="auto">
          <a:xfrm>
            <a:off x="1308296" y="561975"/>
            <a:ext cx="5838092" cy="3400425"/>
            <a:chOff x="192" y="354"/>
            <a:chExt cx="3360" cy="2142"/>
          </a:xfrm>
        </p:grpSpPr>
        <p:sp>
          <p:nvSpPr>
            <p:cNvPr id="7" name="Oval 6"/>
            <p:cNvSpPr>
              <a:spLocks noChangeArrowheads="1"/>
            </p:cNvSpPr>
            <p:nvPr/>
          </p:nvSpPr>
          <p:spPr bwMode="auto">
            <a:xfrm>
              <a:off x="192" y="354"/>
              <a:ext cx="3360" cy="2142"/>
            </a:xfrm>
            <a:prstGeom prst="ellipse">
              <a:avLst/>
            </a:prstGeom>
            <a:noFill/>
            <a:ln w="19050">
              <a:solidFill>
                <a:schemeClr val="tx1"/>
              </a:solidFill>
              <a:round/>
              <a:headEnd/>
              <a:tailEnd/>
            </a:ln>
            <a:effectLst/>
            <a:extLst>
              <a:ext uri="{909E8E84-426E-40DD-AFC4-6F175D3DCCD1}">
                <a14:hiddenFill xmlns:a14="http://schemas.microsoft.com/office/drawing/2010/main">
                  <a:gradFill rotWithShape="0">
                    <a:gsLst>
                      <a:gs pos="0">
                        <a:srgbClr val="00FFFF"/>
                      </a:gs>
                      <a:gs pos="100000">
                        <a:schemeClr val="hlink"/>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ltLang="en-US" sz="2400">
                <a:latin typeface="Times New Roman" panose="02020603050405020304" pitchFamily="18" charset="0"/>
              </a:endParaRPr>
            </a:p>
          </p:txBody>
        </p:sp>
        <p:sp>
          <p:nvSpPr>
            <p:cNvPr id="8" name="Text Box 7"/>
            <p:cNvSpPr txBox="1">
              <a:spLocks noChangeArrowheads="1"/>
            </p:cNvSpPr>
            <p:nvPr/>
          </p:nvSpPr>
          <p:spPr bwMode="auto">
            <a:xfrm>
              <a:off x="624" y="870"/>
              <a:ext cx="1536"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400" b="1" dirty="0">
                  <a:latin typeface="Times New Roman" panose="02020603050405020304" pitchFamily="18" charset="0"/>
                </a:rPr>
                <a:t>Qualified Police </a:t>
              </a:r>
            </a:p>
            <a:p>
              <a:pPr eaLnBrk="0" hangingPunct="0"/>
              <a:r>
                <a:rPr lang="en-US" altLang="en-US" sz="2400" b="1" dirty="0">
                  <a:latin typeface="Times New Roman" panose="02020603050405020304" pitchFamily="18" charset="0"/>
                </a:rPr>
                <a:t>and Prosecutor</a:t>
              </a:r>
            </a:p>
          </p:txBody>
        </p:sp>
      </p:grpSp>
      <p:sp>
        <p:nvSpPr>
          <p:cNvPr id="9" name="Oval 2"/>
          <p:cNvSpPr>
            <a:spLocks noGrp="1" noChangeArrowheads="1"/>
          </p:cNvSpPr>
          <p:nvPr>
            <p:ph idx="1"/>
          </p:nvPr>
        </p:nvSpPr>
        <p:spPr bwMode="auto">
          <a:xfrm>
            <a:off x="5880294" y="1825625"/>
            <a:ext cx="4262512" cy="2380615"/>
          </a:xfrm>
          <a:prstGeom prst="ellipse">
            <a:avLst/>
          </a:prstGeom>
          <a:noFill/>
          <a:ln w="19050">
            <a:solidFill>
              <a:schemeClr val="tx1"/>
            </a:solidFill>
            <a:round/>
            <a:headEnd/>
            <a:tailEnd/>
          </a:ln>
          <a:effectLst/>
          <a:extLst>
            <a:ext uri="{909E8E84-426E-40DD-AFC4-6F175D3DCCD1}">
              <a14:hiddenFill xmlns:a14="http://schemas.microsoft.com/office/drawing/2010/main">
                <a:gradFill rotWithShape="0">
                  <a:gsLst>
                    <a:gs pos="0">
                      <a:srgbClr val="00FFFF"/>
                    </a:gs>
                    <a:gs pos="100000">
                      <a:schemeClr val="hlink"/>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indent="0" algn="r" eaLnBrk="0" hangingPunct="0">
              <a:buNone/>
            </a:pPr>
            <a:r>
              <a:rPr lang="en-US" altLang="en-US" sz="2400" b="1" dirty="0">
                <a:latin typeface="Times New Roman" panose="02020603050405020304" pitchFamily="18" charset="0"/>
              </a:rPr>
              <a:t>Qualified </a:t>
            </a:r>
          </a:p>
          <a:p>
            <a:pPr marL="0" indent="0" algn="r" eaLnBrk="0" hangingPunct="0">
              <a:buNone/>
            </a:pPr>
            <a:r>
              <a:rPr lang="en-US" altLang="en-US" sz="2400" b="1" dirty="0">
                <a:latin typeface="Times New Roman" panose="02020603050405020304" pitchFamily="18" charset="0"/>
              </a:rPr>
              <a:t>Judge</a:t>
            </a:r>
          </a:p>
        </p:txBody>
      </p:sp>
    </p:spTree>
    <p:extLst>
      <p:ext uri="{BB962C8B-B14F-4D97-AF65-F5344CB8AC3E}">
        <p14:creationId xmlns:p14="http://schemas.microsoft.com/office/powerpoint/2010/main" val="1961383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5"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1000" fill="hold"/>
                                        <p:tgtEl>
                                          <p:spTgt spid="5"/>
                                        </p:tgtEl>
                                        <p:attrNameLst>
                                          <p:attrName>ppt_w</p:attrName>
                                        </p:attrNameLst>
                                      </p:cBhvr>
                                      <p:tavLst>
                                        <p:tav tm="0">
                                          <p:val>
                                            <p:fltVal val="0"/>
                                          </p:val>
                                        </p:tav>
                                        <p:tav tm="100000">
                                          <p:val>
                                            <p:strVal val="#ppt_w"/>
                                          </p:val>
                                        </p:tav>
                                      </p:tavLst>
                                    </p:anim>
                                    <p:anim calcmode="lin" valueType="num">
                                      <p:cBhvr>
                                        <p:cTn id="20" dur="1000" fill="hold"/>
                                        <p:tgtEl>
                                          <p:spTgt spid="5"/>
                                        </p:tgtEl>
                                        <p:attrNameLst>
                                          <p:attrName>ppt_h</p:attrName>
                                        </p:attrNameLst>
                                      </p:cBhvr>
                                      <p:tavLst>
                                        <p:tav tm="0">
                                          <p:val>
                                            <p:fltVal val="0"/>
                                          </p:val>
                                        </p:tav>
                                        <p:tav tm="100000">
                                          <p:val>
                                            <p:strVal val="#ppt_h"/>
                                          </p:val>
                                        </p:tav>
                                      </p:tavLst>
                                    </p:anim>
                                    <p:anim calcmode="lin" valueType="num">
                                      <p:cBhvr>
                                        <p:cTn id="21"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0-#ppt_w/2"/>
                                          </p:val>
                                        </p:tav>
                                        <p:tav tm="100000">
                                          <p:val>
                                            <p:strVal val="#ppt_x"/>
                                          </p:val>
                                        </p:tav>
                                      </p:tavLst>
                                    </p:anim>
                                    <p:anim calcmode="lin" valueType="num">
                                      <p:cBhvr additive="base">
                                        <p:cTn id="2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5" grpId="0" autoUpdateAnimBg="0"/>
      <p:bldP spid="9"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6098" y="492369"/>
            <a:ext cx="11352628" cy="5964702"/>
          </a:xfrm>
        </p:spPr>
        <p:txBody>
          <a:bodyPr/>
          <a:lstStyle/>
          <a:p>
            <a:pPr marL="0" indent="0" algn="ctr">
              <a:buNone/>
            </a:pPr>
            <a:r>
              <a:rPr lang="ne-NP" sz="4000" dirty="0" smtClean="0">
                <a:cs typeface="Kalimati" panose="00000400000000000000" pitchFamily="2"/>
              </a:rPr>
              <a:t>शैद्धान्तिक अवधारणा</a:t>
            </a:r>
          </a:p>
          <a:p>
            <a:pPr marL="0" indent="0">
              <a:buNone/>
            </a:pPr>
            <a:r>
              <a:rPr lang="ne-NP" sz="4000" u="sng" dirty="0" smtClean="0">
                <a:cs typeface="Kalimati" panose="00000400000000000000" pitchFamily="2"/>
              </a:rPr>
              <a:t>पक्राउ पूर्जी</a:t>
            </a:r>
          </a:p>
          <a:p>
            <a:pPr>
              <a:buFont typeface="Wingdings" panose="05000000000000000000" pitchFamily="2" charset="2"/>
              <a:buChar char="v"/>
            </a:pPr>
            <a:r>
              <a:rPr lang="ne-NP" sz="3600" dirty="0" smtClean="0">
                <a:cs typeface="Kalimati" panose="00000400000000000000" pitchFamily="2"/>
              </a:rPr>
              <a:t>कानूनी प्रक्रिया बिना गिरफ्तारी निषेध</a:t>
            </a:r>
          </a:p>
          <a:p>
            <a:pPr>
              <a:buFont typeface="Wingdings" panose="05000000000000000000" pitchFamily="2" charset="2"/>
              <a:buChar char="v"/>
            </a:pPr>
            <a:r>
              <a:rPr lang="ne-NP" sz="3600" dirty="0" smtClean="0">
                <a:cs typeface="Kalimati" panose="00000400000000000000" pitchFamily="2"/>
              </a:rPr>
              <a:t>न्यायिक स्वीकृति</a:t>
            </a:r>
          </a:p>
          <a:p>
            <a:pPr>
              <a:buFont typeface="Wingdings" panose="05000000000000000000" pitchFamily="2" charset="2"/>
              <a:buChar char="v"/>
            </a:pPr>
            <a:r>
              <a:rPr lang="ne-NP" sz="3600" dirty="0" smtClean="0">
                <a:cs typeface="Kalimati" panose="00000400000000000000" pitchFamily="2"/>
              </a:rPr>
              <a:t>पक्राउ अनुमति बिना पक्राउ र समर्थन</a:t>
            </a:r>
          </a:p>
          <a:p>
            <a:pPr>
              <a:buFont typeface="Wingdings" panose="05000000000000000000" pitchFamily="2" charset="2"/>
              <a:buChar char="v"/>
            </a:pPr>
            <a:r>
              <a:rPr lang="ne-NP" sz="3600" dirty="0" smtClean="0">
                <a:cs typeface="Kalimati" panose="00000400000000000000" pitchFamily="2"/>
              </a:rPr>
              <a:t>पक्राउ गर्न अदालतबाट दिइने लिखित आदेश</a:t>
            </a:r>
          </a:p>
          <a:p>
            <a:pPr>
              <a:buFont typeface="Wingdings" panose="05000000000000000000" pitchFamily="2" charset="2"/>
              <a:buChar char="v"/>
            </a:pPr>
            <a:r>
              <a:rPr lang="ne-NP" sz="3600" dirty="0" smtClean="0">
                <a:cs typeface="Kalimati" panose="00000400000000000000" pitchFamily="2"/>
              </a:rPr>
              <a:t>ब्यक्तिगत स्वतन्त्रताको संरक्षण र अपराध नियन्त्रण बिचको सन्तुलन सुनिश्चित</a:t>
            </a:r>
          </a:p>
          <a:p>
            <a:pPr>
              <a:buFont typeface="Wingdings" panose="05000000000000000000" pitchFamily="2" charset="2"/>
              <a:buChar char="v"/>
            </a:pPr>
            <a:r>
              <a:rPr lang="ne-NP" sz="3600" dirty="0" smtClean="0">
                <a:cs typeface="Kalimati" panose="00000400000000000000" pitchFamily="2"/>
              </a:rPr>
              <a:t>यो अपवाद होइन समान्य नियम हो </a:t>
            </a:r>
            <a:endParaRPr lang="en-US" sz="3600" dirty="0">
              <a:cs typeface="Kalimati" panose="00000400000000000000" pitchFamily="2"/>
            </a:endParaRPr>
          </a:p>
        </p:txBody>
      </p:sp>
    </p:spTree>
    <p:extLst>
      <p:ext uri="{BB962C8B-B14F-4D97-AF65-F5344CB8AC3E}">
        <p14:creationId xmlns:p14="http://schemas.microsoft.com/office/powerpoint/2010/main" val="34422868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1692" y="450166"/>
            <a:ext cx="11535508" cy="6133514"/>
          </a:xfrm>
        </p:spPr>
        <p:txBody>
          <a:bodyPr>
            <a:normAutofit fontScale="92500" lnSpcReduction="20000"/>
          </a:bodyPr>
          <a:lstStyle/>
          <a:p>
            <a:pPr marL="0" indent="0">
              <a:buNone/>
            </a:pPr>
            <a:r>
              <a:rPr lang="ne-NP" sz="4300" u="sng" dirty="0" smtClean="0">
                <a:cs typeface="Kalimati" panose="00000400000000000000" pitchFamily="2"/>
              </a:rPr>
              <a:t>म्याद थप</a:t>
            </a:r>
            <a:endParaRPr lang="ne-NP" sz="4300" u="sng" dirty="0">
              <a:cs typeface="Kalimati" panose="00000400000000000000" pitchFamily="2"/>
            </a:endParaRPr>
          </a:p>
          <a:p>
            <a:pPr>
              <a:buFont typeface="Wingdings" panose="05000000000000000000" pitchFamily="2" charset="2"/>
              <a:buChar char="v"/>
            </a:pPr>
            <a:r>
              <a:rPr lang="ne-NP" sz="3600" dirty="0" smtClean="0">
                <a:cs typeface="Kalimati" panose="00000400000000000000" pitchFamily="2"/>
              </a:rPr>
              <a:t>अनुसन्धान पुरा गर्न अभियुक्तलाई हिरासतमा राख्न लिइने अनुमति</a:t>
            </a:r>
          </a:p>
          <a:p>
            <a:pPr>
              <a:buFont typeface="Wingdings" panose="05000000000000000000" pitchFamily="2" charset="2"/>
              <a:buChar char="v"/>
            </a:pPr>
            <a:r>
              <a:rPr lang="ne-NP" sz="3600" dirty="0" smtClean="0">
                <a:cs typeface="Kalimati" panose="00000400000000000000" pitchFamily="2"/>
              </a:rPr>
              <a:t>राज्यको अनुसन्धान गर्ने अधिकार र ब्यक्तिको स्वतन्त्रताको अधिकारबीच सन्तुलन कायम राख्छ</a:t>
            </a:r>
          </a:p>
          <a:p>
            <a:pPr>
              <a:buFont typeface="Wingdings" panose="05000000000000000000" pitchFamily="2" charset="2"/>
              <a:buChar char="v"/>
            </a:pPr>
            <a:r>
              <a:rPr lang="ne-NP" sz="3600" dirty="0" smtClean="0">
                <a:cs typeface="Kalimati" panose="00000400000000000000" pitchFamily="2"/>
              </a:rPr>
              <a:t>म्याद थपको लागी स्पष्ट कानूनी आधार हुनु पर्ने</a:t>
            </a:r>
          </a:p>
          <a:p>
            <a:pPr>
              <a:buFont typeface="Wingdings" panose="05000000000000000000" pitchFamily="2" charset="2"/>
              <a:buChar char="v"/>
            </a:pPr>
            <a:r>
              <a:rPr lang="ne-NP" sz="3600" dirty="0" smtClean="0">
                <a:cs typeface="Kalimati" panose="00000400000000000000" pitchFamily="2"/>
              </a:rPr>
              <a:t>अनुसन्धानको लागी अनिवार्य भएमा मात्र </a:t>
            </a:r>
          </a:p>
          <a:p>
            <a:pPr>
              <a:buFont typeface="Wingdings" panose="05000000000000000000" pitchFamily="2" charset="2"/>
              <a:buChar char="v"/>
            </a:pPr>
            <a:r>
              <a:rPr lang="ne-NP" sz="3600" dirty="0" smtClean="0">
                <a:cs typeface="Kalimati" panose="00000400000000000000" pitchFamily="2"/>
              </a:rPr>
              <a:t>समयको सिमाबद्धता</a:t>
            </a:r>
          </a:p>
          <a:p>
            <a:pPr>
              <a:buFont typeface="Wingdings" panose="05000000000000000000" pitchFamily="2" charset="2"/>
              <a:buChar char="v"/>
            </a:pPr>
            <a:r>
              <a:rPr lang="ne-NP" sz="3600" dirty="0" smtClean="0">
                <a:cs typeface="Kalimati" panose="00000400000000000000" pitchFamily="2"/>
              </a:rPr>
              <a:t>अनिश्चितकालिन हिरासत निषेध</a:t>
            </a:r>
          </a:p>
          <a:p>
            <a:pPr>
              <a:buFont typeface="Wingdings" panose="05000000000000000000" pitchFamily="2" charset="2"/>
              <a:buChar char="v"/>
            </a:pPr>
            <a:r>
              <a:rPr lang="ne-NP" sz="3600" dirty="0" smtClean="0">
                <a:cs typeface="Kalimati" panose="00000400000000000000" pitchFamily="2"/>
              </a:rPr>
              <a:t>न्यायिक निगरानी</a:t>
            </a:r>
          </a:p>
          <a:p>
            <a:pPr>
              <a:buFont typeface="Wingdings" panose="05000000000000000000" pitchFamily="2" charset="2"/>
              <a:buChar char="v"/>
            </a:pPr>
            <a:r>
              <a:rPr lang="ne-NP" sz="3600" dirty="0" smtClean="0">
                <a:cs typeface="Kalimati" panose="00000400000000000000" pitchFamily="2"/>
              </a:rPr>
              <a:t>मानव अधिकारको संरक्षण, यातना, अमानबीय ब्यवहार निषेध </a:t>
            </a:r>
          </a:p>
          <a:p>
            <a:pPr>
              <a:buFont typeface="Wingdings" panose="05000000000000000000" pitchFamily="2" charset="2"/>
              <a:buChar char="v"/>
            </a:pPr>
            <a:r>
              <a:rPr lang="ne-NP" sz="3600" dirty="0" smtClean="0">
                <a:cs typeface="Kalimati" panose="00000400000000000000" pitchFamily="2"/>
              </a:rPr>
              <a:t>अधिकार होइन, न्यायिक बिवेकको बिषय</a:t>
            </a:r>
          </a:p>
          <a:p>
            <a:pPr marL="0" indent="0">
              <a:buNone/>
            </a:pPr>
            <a:r>
              <a:rPr lang="ne-NP" dirty="0" smtClean="0"/>
              <a:t> </a:t>
            </a:r>
            <a:endParaRPr lang="en-US" dirty="0"/>
          </a:p>
        </p:txBody>
      </p:sp>
    </p:spTree>
    <p:extLst>
      <p:ext uri="{BB962C8B-B14F-4D97-AF65-F5344CB8AC3E}">
        <p14:creationId xmlns:p14="http://schemas.microsoft.com/office/powerpoint/2010/main" val="29552679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57" y="337625"/>
            <a:ext cx="11465169" cy="6189784"/>
          </a:xfrm>
        </p:spPr>
        <p:txBody>
          <a:bodyPr/>
          <a:lstStyle/>
          <a:p>
            <a:pPr marL="0" indent="0">
              <a:buNone/>
            </a:pPr>
            <a:r>
              <a:rPr lang="ne-NP" sz="4000" u="sng" dirty="0" smtClean="0">
                <a:cs typeface="Kalimati" panose="00000400000000000000" pitchFamily="2"/>
              </a:rPr>
              <a:t>बयान</a:t>
            </a:r>
          </a:p>
          <a:p>
            <a:pPr>
              <a:buFont typeface="Wingdings" panose="05000000000000000000" pitchFamily="2" charset="2"/>
              <a:buChar char="v"/>
            </a:pPr>
            <a:r>
              <a:rPr lang="ne-NP" sz="3600" dirty="0" smtClean="0">
                <a:cs typeface="Kalimati" panose="00000400000000000000" pitchFamily="2"/>
              </a:rPr>
              <a:t>अदालत समक्ष दिइने कथन</a:t>
            </a:r>
          </a:p>
          <a:p>
            <a:pPr>
              <a:buFont typeface="Wingdings" panose="05000000000000000000" pitchFamily="2" charset="2"/>
              <a:buChar char="v"/>
            </a:pPr>
            <a:r>
              <a:rPr lang="ne-NP" sz="3600" dirty="0" smtClean="0">
                <a:cs typeface="Kalimati" panose="00000400000000000000" pitchFamily="2"/>
              </a:rPr>
              <a:t>डर त्रास बिना स्वेच्छिकतामा आधारीत हुन्छ</a:t>
            </a:r>
          </a:p>
          <a:p>
            <a:pPr>
              <a:buFont typeface="Wingdings" panose="05000000000000000000" pitchFamily="2" charset="2"/>
              <a:buChar char="v"/>
            </a:pPr>
            <a:r>
              <a:rPr lang="ne-NP" sz="3600" dirty="0" smtClean="0">
                <a:cs typeface="Kalimati" panose="00000400000000000000" pitchFamily="2"/>
              </a:rPr>
              <a:t>आफ्नो बिरुद्ध बोल्न दवाब नदिइने</a:t>
            </a:r>
          </a:p>
          <a:p>
            <a:pPr>
              <a:buFont typeface="Wingdings" panose="05000000000000000000" pitchFamily="2" charset="2"/>
              <a:buChar char="v"/>
            </a:pPr>
            <a:r>
              <a:rPr lang="ne-NP" sz="3600" dirty="0" smtClean="0">
                <a:cs typeface="Kalimati" panose="00000400000000000000" pitchFamily="2"/>
              </a:rPr>
              <a:t>मुद्दा हेर्ने अधिकारीको प्रत्यक्ष संलग्नतामा बयान हुने</a:t>
            </a:r>
          </a:p>
          <a:p>
            <a:pPr>
              <a:buFont typeface="Wingdings" panose="05000000000000000000" pitchFamily="2" charset="2"/>
              <a:buChar char="v"/>
            </a:pPr>
            <a:r>
              <a:rPr lang="ne-NP" sz="3600" dirty="0" smtClean="0">
                <a:cs typeface="Kalimati" panose="00000400000000000000" pitchFamily="2"/>
              </a:rPr>
              <a:t>स्वच्छ सुनुवाईमा आधारीत</a:t>
            </a:r>
          </a:p>
          <a:p>
            <a:pPr>
              <a:buFont typeface="Wingdings" panose="05000000000000000000" pitchFamily="2" charset="2"/>
              <a:buChar char="v"/>
            </a:pPr>
            <a:r>
              <a:rPr lang="ne-NP" sz="3600" dirty="0" smtClean="0">
                <a:cs typeface="Kalimati" panose="00000400000000000000" pitchFamily="2"/>
              </a:rPr>
              <a:t>प्रतिबादीले आफू बिरुद्ध लागेको अभियोगको सम्बन्धमा आफ्नो भनाई राख्ने र प्रमाण पेश गर्ने अवसर</a:t>
            </a:r>
          </a:p>
          <a:p>
            <a:pPr>
              <a:buFont typeface="Wingdings" panose="05000000000000000000" pitchFamily="2" charset="2"/>
              <a:buChar char="v"/>
            </a:pPr>
            <a:r>
              <a:rPr lang="ne-NP" sz="3600" dirty="0" smtClean="0">
                <a:cs typeface="Kalimati" panose="00000400000000000000" pitchFamily="2"/>
              </a:rPr>
              <a:t>बयान सत्य खोज्ने साधन हो दबाबको उपकरण होइन </a:t>
            </a:r>
            <a:endParaRPr lang="en-US" sz="3600" dirty="0">
              <a:cs typeface="Kalimati" panose="00000400000000000000" pitchFamily="2"/>
            </a:endParaRPr>
          </a:p>
        </p:txBody>
      </p:sp>
    </p:spTree>
    <p:extLst>
      <p:ext uri="{BB962C8B-B14F-4D97-AF65-F5344CB8AC3E}">
        <p14:creationId xmlns:p14="http://schemas.microsoft.com/office/powerpoint/2010/main" val="671986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3046"/>
            <a:ext cx="10515600" cy="5543917"/>
          </a:xfrm>
        </p:spPr>
        <p:txBody>
          <a:bodyPr/>
          <a:lstStyle/>
          <a:p>
            <a:pPr marL="0" indent="0">
              <a:buNone/>
            </a:pPr>
            <a:r>
              <a:rPr lang="ne-NP" sz="3600" u="sng" dirty="0" smtClean="0">
                <a:cs typeface="Kalimati" panose="00000400000000000000" pitchFamily="2"/>
              </a:rPr>
              <a:t>समग्रमा पक्राउ पुर्जी, म्याद थप र बयान</a:t>
            </a:r>
            <a:endParaRPr lang="en-US" sz="3600" u="sng" dirty="0" smtClean="0">
              <a:cs typeface="Kalimati" panose="00000400000000000000" pitchFamily="2"/>
            </a:endParaRPr>
          </a:p>
          <a:p>
            <a:pPr>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Fair Trial</a:t>
            </a:r>
            <a:endParaRPr lang="ne-NP" sz="36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Due process of law</a:t>
            </a:r>
          </a:p>
          <a:p>
            <a:pPr>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Rule of law</a:t>
            </a:r>
          </a:p>
          <a:p>
            <a:pPr>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Natural justice</a:t>
            </a:r>
          </a:p>
          <a:p>
            <a:pPr>
              <a:buFont typeface="Wingdings" panose="05000000000000000000" pitchFamily="2" charset="2"/>
              <a:buChar char="v"/>
            </a:pPr>
            <a:r>
              <a:rPr lang="en-US" sz="3600" dirty="0" smtClean="0">
                <a:latin typeface="Times New Roman" panose="02020603050405020304" pitchFamily="18" charset="0"/>
                <a:cs typeface="Times New Roman" panose="02020603050405020304" pitchFamily="18" charset="0"/>
              </a:rPr>
              <a:t>Human right protection</a:t>
            </a:r>
            <a:endParaRPr lang="ne-NP" sz="3600" dirty="0">
              <a:latin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969462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2493"/>
          </a:xfrm>
        </p:spPr>
        <p:txBody>
          <a:bodyPr/>
          <a:lstStyle/>
          <a:p>
            <a:pPr algn="ctr"/>
            <a:r>
              <a:rPr lang="ne-NP" dirty="0" smtClean="0">
                <a:cs typeface="Kalimati" panose="00000400000000000000" pitchFamily="2"/>
              </a:rPr>
              <a:t>संबैधानिक ब्यवस्था</a:t>
            </a:r>
            <a:endParaRPr lang="en-US" dirty="0">
              <a:cs typeface="Kalimati" panose="00000400000000000000" pitchFamily="2"/>
            </a:endParaRPr>
          </a:p>
        </p:txBody>
      </p:sp>
      <p:sp>
        <p:nvSpPr>
          <p:cNvPr id="3" name="Content Placeholder 2"/>
          <p:cNvSpPr>
            <a:spLocks noGrp="1"/>
          </p:cNvSpPr>
          <p:nvPr>
            <p:ph idx="1"/>
          </p:nvPr>
        </p:nvSpPr>
        <p:spPr>
          <a:xfrm>
            <a:off x="393895" y="1167618"/>
            <a:ext cx="11352627" cy="5373859"/>
          </a:xfrm>
        </p:spPr>
        <p:txBody>
          <a:bodyPr>
            <a:normAutofit/>
          </a:bodyPr>
          <a:lstStyle/>
          <a:p>
            <a:endParaRPr lang="ne-NP" dirty="0" smtClean="0">
              <a:cs typeface="Kalimati" panose="00000400000000000000" pitchFamily="2"/>
            </a:endParaRPr>
          </a:p>
          <a:p>
            <a:pPr algn="just">
              <a:buFont typeface="Wingdings" panose="05000000000000000000" pitchFamily="2" charset="2"/>
              <a:buChar char="v"/>
            </a:pPr>
            <a:r>
              <a:rPr lang="ne-NP" sz="3600" dirty="0" smtClean="0">
                <a:cs typeface="Kalimati" panose="00000400000000000000" pitchFamily="2"/>
              </a:rPr>
              <a:t>सम्मानपूर्वक बाँच्न पाउने हकः (१) प्रत्येक व्यक्तिलाई सम्मान पूर्वक बाँच्न पाउने हक हुनेछ। (धारा-१६)</a:t>
            </a:r>
          </a:p>
          <a:p>
            <a:pPr algn="just">
              <a:buFont typeface="Wingdings" panose="05000000000000000000" pitchFamily="2" charset="2"/>
              <a:buChar char="v"/>
            </a:pPr>
            <a:r>
              <a:rPr lang="ne-NP" sz="3600" dirty="0" smtClean="0">
                <a:cs typeface="Kalimati" panose="00000400000000000000" pitchFamily="2"/>
              </a:rPr>
              <a:t>स्वतन्त्रताको हक (१) कानून बमोजिम बाहेक कुनै पनि व्यक्तिलाई बैयक्तिक स्वतन्त्रताबाट बञ्चित गरिने छैन।(धारा-१७)</a:t>
            </a:r>
          </a:p>
          <a:p>
            <a:pPr algn="just">
              <a:buFont typeface="Wingdings" panose="05000000000000000000" pitchFamily="2" charset="2"/>
              <a:buChar char="v"/>
            </a:pPr>
            <a:r>
              <a:rPr lang="ne-NP" sz="3600" dirty="0" smtClean="0">
                <a:cs typeface="Kalimati" panose="00000400000000000000" pitchFamily="2"/>
              </a:rPr>
              <a:t>न्याय सम्बन्धी हकः धारा-२० (१) कुनै पनि व्यक्तिलाई पक्राउ भएको कारण सहितको सूचना नदिई थुनामा राख</a:t>
            </a:r>
            <a:r>
              <a:rPr lang="ne-NP" sz="3600" dirty="0">
                <a:cs typeface="Kalimati" panose="00000400000000000000" pitchFamily="2"/>
              </a:rPr>
              <a:t>ि</a:t>
            </a:r>
            <a:r>
              <a:rPr lang="ne-NP" sz="3600" dirty="0" smtClean="0">
                <a:cs typeface="Kalimati" panose="00000400000000000000" pitchFamily="2"/>
              </a:rPr>
              <a:t>ने छैन ।</a:t>
            </a:r>
          </a:p>
        </p:txBody>
      </p:sp>
    </p:spTree>
    <p:extLst>
      <p:ext uri="{BB962C8B-B14F-4D97-AF65-F5344CB8AC3E}">
        <p14:creationId xmlns:p14="http://schemas.microsoft.com/office/powerpoint/2010/main" val="40211266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2031" y="548641"/>
            <a:ext cx="11437033" cy="5908430"/>
          </a:xfrm>
        </p:spPr>
        <p:txBody>
          <a:bodyPr>
            <a:normAutofit/>
          </a:bodyPr>
          <a:lstStyle/>
          <a:p>
            <a:endParaRPr lang="ne-NP" dirty="0" smtClean="0">
              <a:cs typeface="Kalimati" panose="00000400000000000000" pitchFamily="2"/>
            </a:endParaRPr>
          </a:p>
          <a:p>
            <a:pPr algn="just">
              <a:buFont typeface="Wingdings" panose="05000000000000000000" pitchFamily="2" charset="2"/>
              <a:buChar char="v"/>
            </a:pPr>
            <a:r>
              <a:rPr lang="ne-NP" sz="4000" dirty="0" smtClean="0">
                <a:cs typeface="Kalimati" panose="00000400000000000000" pitchFamily="2"/>
              </a:rPr>
              <a:t>पक्राउ परेका व्यक्तिलाई पक्राउ परेको समयदेखि नै आफूले रोजेको कानून ब्यवसायीसँग सल्लाह लिन पाउने तथा कानून ब्यवसायीद्वारा पुर्पक्ष गर्ने हक हुनेछ ।</a:t>
            </a:r>
          </a:p>
          <a:p>
            <a:pPr algn="just">
              <a:buFont typeface="Wingdings" panose="05000000000000000000" pitchFamily="2" charset="2"/>
              <a:buChar char="v"/>
            </a:pPr>
            <a:r>
              <a:rPr lang="ne-NP" sz="4000" dirty="0" smtClean="0">
                <a:cs typeface="Kalimati" panose="00000400000000000000" pitchFamily="2"/>
              </a:rPr>
              <a:t>पक्राउ गरीएको व्यक्तिलाई पक्राउ भएको समय तथा स्थानबाट बाटोको म्याद बाहेक चौबीस घण्टा भित्र मुद्दा हेर्ने अधिकारी समक्ष उपस्थित गराउनु पनेछ र त्यस्तो अधिकारीबाट आदेश भएमा बाहेक पक्राउ भएको व्यक्तिलाई थुनामा राखिने छैन ।</a:t>
            </a:r>
            <a:endParaRPr lang="en-US" sz="4000" dirty="0">
              <a:cs typeface="Kalimati" panose="00000400000000000000" pitchFamily="2"/>
            </a:endParaRPr>
          </a:p>
        </p:txBody>
      </p:sp>
    </p:spTree>
    <p:extLst>
      <p:ext uri="{BB962C8B-B14F-4D97-AF65-F5344CB8AC3E}">
        <p14:creationId xmlns:p14="http://schemas.microsoft.com/office/powerpoint/2010/main" val="14183053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895" y="464234"/>
            <a:ext cx="11422967" cy="5978769"/>
          </a:xfrm>
        </p:spPr>
        <p:txBody>
          <a:bodyPr/>
          <a:lstStyle/>
          <a:p>
            <a:pPr algn="just">
              <a:buFont typeface="Wingdings" panose="05000000000000000000" pitchFamily="2" charset="2"/>
              <a:buChar char="v"/>
            </a:pPr>
            <a:r>
              <a:rPr lang="ne-NP" sz="3600" dirty="0" smtClean="0">
                <a:cs typeface="Kalimati" panose="00000400000000000000" pitchFamily="2"/>
              </a:rPr>
              <a:t>प्रत्येक व्यक्ति लाई निज विरुद्ध गरिएको कारबाहीको जानकारी पाउने हक हुनेछ ।</a:t>
            </a:r>
          </a:p>
          <a:p>
            <a:pPr algn="just">
              <a:buFont typeface="Wingdings" panose="05000000000000000000" pitchFamily="2" charset="2"/>
              <a:buChar char="v"/>
            </a:pPr>
            <a:r>
              <a:rPr lang="ne-NP" sz="3600" dirty="0" smtClean="0">
                <a:cs typeface="Kalimati" panose="00000400000000000000" pitchFamily="2"/>
              </a:rPr>
              <a:t>प्रत्येक व्यक्तिलाई स्वतन्त्र, निष्पक्ष र सक्षम अदालत वा न्यायिक निकायबाट स्वच्छ सुनुवाईको हक हुनेछ। </a:t>
            </a:r>
          </a:p>
          <a:p>
            <a:pPr algn="just">
              <a:buFont typeface="Wingdings" panose="05000000000000000000" pitchFamily="2" charset="2"/>
              <a:buChar char="v"/>
            </a:pPr>
            <a:r>
              <a:rPr lang="ne-NP" sz="3600" dirty="0" smtClean="0">
                <a:cs typeface="Kalimati" panose="00000400000000000000" pitchFamily="2"/>
              </a:rPr>
              <a:t>यातना विरुद्धको हक (धारा २२) पक्राउ परेको वा थुनामा रहेको ब्यक्तिलाई शारीरिक मानसिक यातना दिइने वा निजसँग निर्मम अमानवीय वा अपमानजनक ब्यवहार गरीने छैन।</a:t>
            </a:r>
          </a:p>
          <a:p>
            <a:pPr algn="just">
              <a:buFont typeface="Wingdings" panose="05000000000000000000" pitchFamily="2" charset="2"/>
              <a:buChar char="v"/>
            </a:pPr>
            <a:r>
              <a:rPr lang="ne-NP" sz="3600" dirty="0" smtClean="0">
                <a:cs typeface="Kalimati" panose="00000400000000000000" pitchFamily="2"/>
              </a:rPr>
              <a:t>प्रत्येक बालबालिकालाई बाल अनुकुल न्यायको हक हुनेछ।(धारा-३९को उपधारा-८</a:t>
            </a:r>
            <a:r>
              <a:rPr lang="ne-NP" dirty="0" smtClean="0"/>
              <a:t>)</a:t>
            </a:r>
            <a:endParaRPr lang="en-US" dirty="0"/>
          </a:p>
        </p:txBody>
      </p:sp>
    </p:spTree>
    <p:extLst>
      <p:ext uri="{BB962C8B-B14F-4D97-AF65-F5344CB8AC3E}">
        <p14:creationId xmlns:p14="http://schemas.microsoft.com/office/powerpoint/2010/main" val="38220335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9489" y="365760"/>
            <a:ext cx="11605845" cy="6231988"/>
          </a:xfrm>
        </p:spPr>
        <p:txBody>
          <a:bodyPr>
            <a:normAutofit/>
          </a:bodyPr>
          <a:lstStyle/>
          <a:p>
            <a:pPr marL="0" indent="0" algn="ctr">
              <a:buNone/>
            </a:pPr>
            <a:endParaRPr lang="ne-NP" sz="4000" dirty="0" smtClean="0">
              <a:cs typeface="Kalimati" panose="00000400000000000000" pitchFamily="2"/>
            </a:endParaRPr>
          </a:p>
          <a:p>
            <a:pPr marL="0" indent="0" algn="ctr">
              <a:buNone/>
            </a:pPr>
            <a:r>
              <a:rPr lang="ne-NP" sz="4000" dirty="0" smtClean="0">
                <a:cs typeface="Kalimati" panose="00000400000000000000" pitchFamily="2"/>
              </a:rPr>
              <a:t>पक्राउ पुर्जी सम्बन्धमा भएका कानूनी ब्यवस्था</a:t>
            </a:r>
            <a:endParaRPr lang="en-US" sz="4000" dirty="0">
              <a:cs typeface="Kalimati" panose="00000400000000000000" pitchFamily="2"/>
            </a:endParaRPr>
          </a:p>
          <a:p>
            <a:pPr>
              <a:buFont typeface="Wingdings" panose="05000000000000000000" pitchFamily="2" charset="2"/>
              <a:buChar char="v"/>
            </a:pPr>
            <a:endParaRPr lang="ne-NP" sz="4000" dirty="0" smtClean="0">
              <a:cs typeface="Kalimati" panose="00000400000000000000" pitchFamily="2"/>
            </a:endParaRPr>
          </a:p>
          <a:p>
            <a:pPr>
              <a:buFont typeface="Wingdings" panose="05000000000000000000" pitchFamily="2" charset="2"/>
              <a:buChar char="v"/>
            </a:pPr>
            <a:r>
              <a:rPr lang="ne-NP" sz="4000" dirty="0" smtClean="0">
                <a:cs typeface="Kalimati" panose="00000400000000000000" pitchFamily="2"/>
              </a:rPr>
              <a:t>पक्राउ पुर्जी जारी गर्ने अनुमति</a:t>
            </a:r>
          </a:p>
          <a:p>
            <a:pPr>
              <a:buFont typeface="Wingdings" panose="05000000000000000000" pitchFamily="2" charset="2"/>
              <a:buChar char="v"/>
            </a:pPr>
            <a:r>
              <a:rPr lang="ne-NP" sz="4000" dirty="0" smtClean="0">
                <a:cs typeface="Kalimati" panose="00000400000000000000" pitchFamily="2"/>
              </a:rPr>
              <a:t>जरुरी पक्राउ पुर्जी र स्वीकृती</a:t>
            </a:r>
          </a:p>
          <a:p>
            <a:pPr>
              <a:buFont typeface="Wingdings" panose="05000000000000000000" pitchFamily="2" charset="2"/>
              <a:buChar char="v"/>
            </a:pPr>
            <a:r>
              <a:rPr lang="ne-NP" sz="4000" dirty="0" smtClean="0">
                <a:cs typeface="Kalimati" panose="00000400000000000000" pitchFamily="2"/>
              </a:rPr>
              <a:t>अभियोग दायर भएपछी अदालतबाट जारी हुने पक्राउ पुर्जी</a:t>
            </a:r>
            <a:endParaRPr lang="en-US" sz="4000" dirty="0">
              <a:cs typeface="Kalimati" panose="00000400000000000000" pitchFamily="2"/>
            </a:endParaRPr>
          </a:p>
        </p:txBody>
      </p:sp>
    </p:spTree>
    <p:extLst>
      <p:ext uri="{BB962C8B-B14F-4D97-AF65-F5344CB8AC3E}">
        <p14:creationId xmlns:p14="http://schemas.microsoft.com/office/powerpoint/2010/main" val="21966475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7626" y="432923"/>
            <a:ext cx="11549574" cy="6010079"/>
          </a:xfrm>
        </p:spPr>
        <p:txBody>
          <a:bodyPr>
            <a:normAutofit/>
          </a:bodyPr>
          <a:lstStyle/>
          <a:p>
            <a:pPr marL="0" indent="0" algn="ctr">
              <a:buNone/>
            </a:pPr>
            <a:r>
              <a:rPr lang="ne-NP" sz="4000" u="sng" dirty="0" smtClean="0">
                <a:cs typeface="Kalimati" panose="00000400000000000000" pitchFamily="2"/>
              </a:rPr>
              <a:t>पक्राउ </a:t>
            </a:r>
            <a:r>
              <a:rPr lang="ne-NP" sz="4000" u="sng" dirty="0">
                <a:cs typeface="Kalimati" panose="00000400000000000000" pitchFamily="2"/>
              </a:rPr>
              <a:t>पुर्जी जारी गर्ने </a:t>
            </a:r>
            <a:r>
              <a:rPr lang="ne-NP" sz="4000" u="sng" dirty="0" smtClean="0">
                <a:cs typeface="Kalimati" panose="00000400000000000000" pitchFamily="2"/>
              </a:rPr>
              <a:t>अनुमति </a:t>
            </a:r>
            <a:r>
              <a:rPr lang="ne-NP" sz="2400" dirty="0" smtClean="0">
                <a:cs typeface="Kalimati" panose="00000400000000000000" pitchFamily="2"/>
              </a:rPr>
              <a:t>(मु. फौ. का. सं. २०७४ को दफा ९)</a:t>
            </a:r>
            <a:endParaRPr lang="en-US" sz="2400" dirty="0" smtClean="0">
              <a:cs typeface="Kalimati" panose="00000400000000000000" pitchFamily="2"/>
            </a:endParaRPr>
          </a:p>
          <a:p>
            <a:pPr algn="just">
              <a:buFont typeface="Wingdings" panose="05000000000000000000" pitchFamily="2" charset="2"/>
              <a:buChar char="v"/>
            </a:pPr>
            <a:r>
              <a:rPr lang="ne-NP" sz="3600" dirty="0" smtClean="0">
                <a:cs typeface="Kalimati" panose="00000400000000000000" pitchFamily="2"/>
              </a:rPr>
              <a:t>कुनै ब्यक्तिलाई कसूरको अनुसन्धानको सिलसिलामा तत्कालै पक्राउ गर्नु पर्ने भएमा त्यसको कारण खुलाई सम्भव भएसम्म पक्राउ गर्नु पर्ने ब्यक्तिको पहिचान खुल्ने बिवरण सहित पक्राउ पुर्जी जारी गर्ने अनुमतिको लागी मुद्दा हेर्ने अधिकारी समक्ष निवेदन दिनु पर्नेछ।–दफा ९(२)</a:t>
            </a:r>
          </a:p>
          <a:p>
            <a:pPr algn="just">
              <a:buFont typeface="Wingdings" panose="05000000000000000000" pitchFamily="2" charset="2"/>
              <a:buChar char="v"/>
            </a:pPr>
            <a:r>
              <a:rPr lang="ne-NP" sz="3600" dirty="0" smtClean="0">
                <a:cs typeface="Kalimati" panose="00000400000000000000" pitchFamily="2"/>
              </a:rPr>
              <a:t>उपदफा (२) बमोजिम निवेदन परेमा र पक्राउ गर्नु पर्ने कारण मनासिब देखिएमा मुद्दा हेर्ने अधिकारीले पक्राउ पुर्जी जारी गर्न अनुमति दिन सक्नेछ।–दफा ९(३)</a:t>
            </a:r>
          </a:p>
          <a:p>
            <a:pPr algn="just">
              <a:buFont typeface="Wingdings" panose="05000000000000000000" pitchFamily="2" charset="2"/>
              <a:buChar char="v"/>
            </a:pPr>
            <a:r>
              <a:rPr lang="ne-NP" sz="3600" dirty="0" smtClean="0">
                <a:cs typeface="Kalimati" panose="00000400000000000000" pitchFamily="2"/>
              </a:rPr>
              <a:t>पक्राउ अनुमतिको आदेश पक्राउ गर्नु पर्ने ब्यक्ति पक्राउ नपरेसम्म सार्बजनिक गरिने छैन।</a:t>
            </a:r>
          </a:p>
        </p:txBody>
      </p:sp>
    </p:spTree>
    <p:extLst>
      <p:ext uri="{BB962C8B-B14F-4D97-AF65-F5344CB8AC3E}">
        <p14:creationId xmlns:p14="http://schemas.microsoft.com/office/powerpoint/2010/main" val="1539811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8812" y="422031"/>
            <a:ext cx="11816862" cy="6203852"/>
          </a:xfrm>
        </p:spPr>
        <p:txBody>
          <a:bodyPr>
            <a:normAutofit lnSpcReduction="10000"/>
          </a:bodyPr>
          <a:lstStyle/>
          <a:p>
            <a:pPr marL="0" indent="0" algn="ctr">
              <a:buNone/>
            </a:pPr>
            <a:r>
              <a:rPr lang="ne-NP" sz="4000" u="sng" dirty="0">
                <a:cs typeface="Kalimati" panose="00000400000000000000" pitchFamily="2"/>
              </a:rPr>
              <a:t>जरुरी पक्राउ पुर्जी र </a:t>
            </a:r>
            <a:r>
              <a:rPr lang="ne-NP" sz="4000" u="sng" dirty="0" smtClean="0">
                <a:cs typeface="Kalimati" panose="00000400000000000000" pitchFamily="2"/>
              </a:rPr>
              <a:t>स्वीकृती</a:t>
            </a:r>
            <a:endParaRPr lang="ne-NP" sz="4000" u="sng" dirty="0">
              <a:cs typeface="Kalimati" panose="00000400000000000000" pitchFamily="2"/>
            </a:endParaRPr>
          </a:p>
          <a:p>
            <a:pPr algn="just">
              <a:buFont typeface="Wingdings" panose="05000000000000000000" pitchFamily="2" charset="2"/>
              <a:buChar char="v"/>
            </a:pPr>
            <a:r>
              <a:rPr lang="ne-NP" sz="4000" dirty="0" smtClean="0">
                <a:cs typeface="Kalimati" panose="00000400000000000000" pitchFamily="2"/>
              </a:rPr>
              <a:t>कसूर गर्ने ब्यक्ति तत्काल पक्राउ नभएमा त्यस्तो ब्यक्ति भाग्ने उम्कने वा निजले प्रमाण, दसी वा सबुद नष्ट गर्ने मनासिब कारण भएमा त्यस्तो ब्यक्तिलाई तत्कालै जरुरी पक्राउ पुर्जी जारी गरी पक्राउ गरी स्वीकृतिको लागी पक्राउ परेको ब्यक्ति सहित मुद्दा हेर्ने अधिकारी समक्ष पेश गर्नु पर्नेछ।-दफा ९(६)</a:t>
            </a:r>
          </a:p>
          <a:p>
            <a:pPr algn="just">
              <a:buFont typeface="Wingdings" panose="05000000000000000000" pitchFamily="2" charset="2"/>
              <a:buChar char="v"/>
            </a:pPr>
            <a:r>
              <a:rPr lang="ne-NP" sz="4000" dirty="0">
                <a:cs typeface="Kalimati" panose="00000400000000000000" pitchFamily="2"/>
              </a:rPr>
              <a:t> </a:t>
            </a:r>
            <a:r>
              <a:rPr lang="ne-NP" sz="4000" dirty="0" smtClean="0">
                <a:cs typeface="Kalimati" panose="00000400000000000000" pitchFamily="2"/>
              </a:rPr>
              <a:t>उपदफा (६) बमोजिम जरुरी पक्राउ पुर्जी जारी गरी कुनै ब्यक्ति पक्राउ भएमा मुद्दा हेर्ने अधिकारीबाट स्वीकृत प्राप्त नगरी त्यस्तो कसूरसँग सम्बन्धित अन्य अनुसन्धान सम्बन्धी कारबाही गर्न सकिने छैन।-दफा ९(७)</a:t>
            </a:r>
            <a:endParaRPr lang="ne-NP" sz="4000" dirty="0">
              <a:cs typeface="Kalimati" panose="00000400000000000000" pitchFamily="2"/>
            </a:endParaRPr>
          </a:p>
        </p:txBody>
      </p:sp>
    </p:spTree>
    <p:extLst>
      <p:ext uri="{BB962C8B-B14F-4D97-AF65-F5344CB8AC3E}">
        <p14:creationId xmlns:p14="http://schemas.microsoft.com/office/powerpoint/2010/main" val="2095263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87" y="422030"/>
            <a:ext cx="11577710" cy="6091311"/>
          </a:xfrm>
        </p:spPr>
        <p:txBody>
          <a:bodyPr>
            <a:normAutofit lnSpcReduction="10000"/>
          </a:bodyPr>
          <a:lstStyle/>
          <a:p>
            <a:pPr marL="0" indent="0" algn="ctr">
              <a:buNone/>
            </a:pPr>
            <a:r>
              <a:rPr lang="ne-NP" sz="4000" u="sng" dirty="0" smtClean="0">
                <a:cs typeface="Kalimati" panose="00000400000000000000" pitchFamily="2"/>
              </a:rPr>
              <a:t>पक्राउ पूर्जीको लागी अनुमति प्रदान गर्दा</a:t>
            </a:r>
            <a:endParaRPr lang="ne-NP" sz="4000" u="sng" dirty="0">
              <a:cs typeface="Kalimati" panose="00000400000000000000" pitchFamily="2"/>
            </a:endParaRPr>
          </a:p>
          <a:p>
            <a:pPr>
              <a:buFont typeface="Wingdings" panose="05000000000000000000" pitchFamily="2" charset="2"/>
              <a:buChar char="v"/>
            </a:pPr>
            <a:r>
              <a:rPr lang="ne-NP" sz="4000" dirty="0" smtClean="0">
                <a:cs typeface="Kalimati" panose="00000400000000000000" pitchFamily="2"/>
              </a:rPr>
              <a:t>प्रचलित कानून बमोजिमको कसूर गरेको अवस्था</a:t>
            </a:r>
          </a:p>
          <a:p>
            <a:pPr>
              <a:buFont typeface="Wingdings" panose="05000000000000000000" pitchFamily="2" charset="2"/>
              <a:buChar char="v"/>
            </a:pPr>
            <a:r>
              <a:rPr lang="ne-NP" sz="4000" dirty="0" smtClean="0">
                <a:cs typeface="Kalimati" panose="00000400000000000000" pitchFamily="2"/>
              </a:rPr>
              <a:t>कसुर गरेको खुल्ने आधार प्रमाण</a:t>
            </a:r>
          </a:p>
          <a:p>
            <a:pPr>
              <a:buFont typeface="Wingdings" panose="05000000000000000000" pitchFamily="2" charset="2"/>
              <a:buChar char="v"/>
            </a:pPr>
            <a:r>
              <a:rPr lang="ne-NP" sz="4000" dirty="0" smtClean="0">
                <a:cs typeface="Kalimati" panose="00000400000000000000" pitchFamily="2"/>
              </a:rPr>
              <a:t>पक्राउ गर्नु पर्ने ब्यक्तिको स्पष्ट पहिचान खुल्ने बिवरण</a:t>
            </a:r>
          </a:p>
          <a:p>
            <a:pPr>
              <a:buFont typeface="Wingdings" panose="05000000000000000000" pitchFamily="2" charset="2"/>
              <a:buChar char="v"/>
            </a:pPr>
            <a:r>
              <a:rPr lang="ne-NP" sz="4000" dirty="0" smtClean="0">
                <a:cs typeface="Kalimati" panose="00000400000000000000" pitchFamily="2"/>
              </a:rPr>
              <a:t>जाहेरी दरखास्त लगायतका प्रमाण संलग्न गर्नु पर्ने</a:t>
            </a:r>
          </a:p>
          <a:p>
            <a:pPr>
              <a:buFont typeface="Wingdings" panose="05000000000000000000" pitchFamily="2" charset="2"/>
              <a:buChar char="v"/>
            </a:pPr>
            <a:r>
              <a:rPr lang="ne-NP" sz="4000" dirty="0" smtClean="0">
                <a:cs typeface="Kalimati" panose="00000400000000000000" pitchFamily="2"/>
              </a:rPr>
              <a:t>पक्राउ पूर्जी जारी गर्न अनुमति माग गर्ने बिषयलाई समान्य र जरुरी पक्राउ पूर्जीलाई अपवादको रुपमा लिनु पर्दछ।</a:t>
            </a:r>
          </a:p>
          <a:p>
            <a:pPr>
              <a:buFont typeface="Wingdings" panose="05000000000000000000" pitchFamily="2" charset="2"/>
              <a:buChar char="v"/>
            </a:pPr>
            <a:r>
              <a:rPr lang="ne-NP" sz="4000" dirty="0" smtClean="0">
                <a:cs typeface="Kalimati" panose="00000400000000000000" pitchFamily="2"/>
              </a:rPr>
              <a:t>अनुसन्धानको लागी पक्राउ गर्नु पर्ने स्पष्ट अधार र कारण </a:t>
            </a:r>
            <a:endParaRPr lang="en-US" sz="4000" dirty="0">
              <a:cs typeface="Kalimati" panose="00000400000000000000" pitchFamily="2"/>
            </a:endParaRPr>
          </a:p>
        </p:txBody>
      </p:sp>
    </p:spTree>
    <p:extLst>
      <p:ext uri="{BB962C8B-B14F-4D97-AF65-F5344CB8AC3E}">
        <p14:creationId xmlns:p14="http://schemas.microsoft.com/office/powerpoint/2010/main" val="1047566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379828"/>
            <a:ext cx="11437034" cy="6175717"/>
          </a:xfrm>
        </p:spPr>
        <p:txBody>
          <a:bodyPr>
            <a:normAutofit fontScale="92500" lnSpcReduction="10000"/>
          </a:bodyPr>
          <a:lstStyle/>
          <a:p>
            <a:pPr marL="0" indent="0" algn="ctr">
              <a:buNone/>
            </a:pPr>
            <a:r>
              <a:rPr lang="ne-NP" sz="4000" dirty="0" smtClean="0">
                <a:cs typeface="Kalimati" panose="00000400000000000000" pitchFamily="2"/>
              </a:rPr>
              <a:t> </a:t>
            </a:r>
            <a:r>
              <a:rPr lang="ne-NP" sz="4000" u="sng" dirty="0">
                <a:cs typeface="Kalimati" panose="00000400000000000000" pitchFamily="2"/>
              </a:rPr>
              <a:t>अदालतबाट जारी हुने पक्राउ </a:t>
            </a:r>
            <a:r>
              <a:rPr lang="ne-NP" sz="4000" u="sng" dirty="0" smtClean="0">
                <a:cs typeface="Kalimati" panose="00000400000000000000" pitchFamily="2"/>
              </a:rPr>
              <a:t>पुर्जी</a:t>
            </a:r>
          </a:p>
          <a:p>
            <a:pPr>
              <a:buFont typeface="Wingdings" panose="05000000000000000000" pitchFamily="2" charset="2"/>
              <a:buChar char="v"/>
            </a:pPr>
            <a:r>
              <a:rPr lang="ne-NP" sz="4000" dirty="0" smtClean="0">
                <a:cs typeface="Kalimati" panose="00000400000000000000" pitchFamily="2"/>
              </a:rPr>
              <a:t>अभियोगपत्र अदालतमा दायर भए पछी फरार प्रतिबादीको हकमा </a:t>
            </a:r>
          </a:p>
          <a:p>
            <a:pPr>
              <a:buFont typeface="Wingdings" panose="05000000000000000000" pitchFamily="2" charset="2"/>
              <a:buChar char="v"/>
            </a:pPr>
            <a:r>
              <a:rPr lang="ne-NP" sz="4000" dirty="0" smtClean="0">
                <a:cs typeface="Kalimati" panose="00000400000000000000" pitchFamily="2"/>
              </a:rPr>
              <a:t>३५ दिने पक्राउ पुर्जी जारी हुने </a:t>
            </a:r>
          </a:p>
          <a:p>
            <a:pPr>
              <a:buFont typeface="Wingdings" panose="05000000000000000000" pitchFamily="2" charset="2"/>
              <a:buChar char="v"/>
            </a:pPr>
            <a:r>
              <a:rPr lang="ne-NP" sz="4000" dirty="0" smtClean="0">
                <a:cs typeface="Kalimati" panose="00000400000000000000" pitchFamily="2"/>
              </a:rPr>
              <a:t>अनुसन्धान गर्ने प्रहरी निकाय मार्फत पठाईने र पक्राउ नपरेमा पक्राउ पुर्जी तामेल हुने</a:t>
            </a:r>
          </a:p>
          <a:p>
            <a:pPr>
              <a:buFont typeface="Wingdings" panose="05000000000000000000" pitchFamily="2" charset="2"/>
              <a:buChar char="v"/>
            </a:pPr>
            <a:r>
              <a:rPr lang="ne-NP" sz="4000" dirty="0" smtClean="0">
                <a:cs typeface="Kalimati" panose="00000400000000000000" pitchFamily="2"/>
              </a:rPr>
              <a:t>स्वयं अदालतले पनि पठाउन सक्ने </a:t>
            </a:r>
          </a:p>
          <a:p>
            <a:pPr>
              <a:buFont typeface="Wingdings" panose="05000000000000000000" pitchFamily="2" charset="2"/>
              <a:buChar char="v"/>
            </a:pPr>
            <a:r>
              <a:rPr lang="ne-NP" sz="4000" dirty="0" smtClean="0">
                <a:cs typeface="Kalimati" panose="00000400000000000000" pitchFamily="2"/>
              </a:rPr>
              <a:t>जघन्य र गम्भिर कसूरमा पक्राउ पुर्जी जारी हुने</a:t>
            </a:r>
          </a:p>
          <a:p>
            <a:pPr>
              <a:buFont typeface="Wingdings" panose="05000000000000000000" pitchFamily="2" charset="2"/>
              <a:buChar char="v"/>
            </a:pPr>
            <a:r>
              <a:rPr lang="ne-NP" sz="4000" dirty="0" smtClean="0">
                <a:cs typeface="Kalimati" panose="00000400000000000000" pitchFamily="2"/>
              </a:rPr>
              <a:t>अन्यमा समाह्वान जारी हुने</a:t>
            </a:r>
          </a:p>
          <a:p>
            <a:pPr>
              <a:buFont typeface="Wingdings" panose="05000000000000000000" pitchFamily="2" charset="2"/>
              <a:buChar char="v"/>
            </a:pPr>
            <a:r>
              <a:rPr lang="ne-NP" sz="4000" dirty="0" smtClean="0">
                <a:cs typeface="Kalimati" panose="00000400000000000000" pitchFamily="2"/>
              </a:rPr>
              <a:t>पक्राउ नपरे, पक्राउ पुर्जी तामेल नभएमा राष्ट्रिय स्तरको पत्रिकामा प्रकासन गर्न सकिने   </a:t>
            </a:r>
            <a:endParaRPr lang="en-US" sz="4000" dirty="0">
              <a:cs typeface="Kalimati" panose="00000400000000000000" pitchFamily="2"/>
            </a:endParaRPr>
          </a:p>
          <a:p>
            <a:pPr marL="0" indent="0">
              <a:buNone/>
            </a:pPr>
            <a:endParaRPr lang="en-US" dirty="0"/>
          </a:p>
        </p:txBody>
      </p:sp>
    </p:spTree>
    <p:extLst>
      <p:ext uri="{BB962C8B-B14F-4D97-AF65-F5344CB8AC3E}">
        <p14:creationId xmlns:p14="http://schemas.microsoft.com/office/powerpoint/2010/main" val="2619367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9151" y="309489"/>
            <a:ext cx="11648049" cy="6316394"/>
          </a:xfrm>
        </p:spPr>
        <p:txBody>
          <a:bodyPr>
            <a:normAutofit lnSpcReduction="10000"/>
          </a:bodyPr>
          <a:lstStyle/>
          <a:p>
            <a:pPr marL="0" indent="0" algn="ctr">
              <a:buNone/>
            </a:pPr>
            <a:r>
              <a:rPr lang="ne-NP" sz="4400" u="sng" dirty="0" smtClean="0">
                <a:cs typeface="Kalimati" panose="00000400000000000000" pitchFamily="2"/>
              </a:rPr>
              <a:t>म्याद थप (दफा-१४)</a:t>
            </a:r>
          </a:p>
          <a:p>
            <a:pPr algn="just">
              <a:buFont typeface="Wingdings" panose="05000000000000000000" pitchFamily="2" charset="2"/>
              <a:buChar char="v"/>
            </a:pPr>
            <a:r>
              <a:rPr lang="ne-NP" sz="3600" dirty="0" smtClean="0">
                <a:cs typeface="Kalimati" panose="00000400000000000000" pitchFamily="2"/>
              </a:rPr>
              <a:t>बाटोका म्याद बाहेक पक्राउ परेको चौबिस घण्टा भित्र मुद्दा हेर्ने अधिकारी समक्ष उपस्थित गराउनु पर्ने</a:t>
            </a:r>
          </a:p>
          <a:p>
            <a:pPr algn="just">
              <a:buFont typeface="Wingdings" panose="05000000000000000000" pitchFamily="2" charset="2"/>
              <a:buChar char="v"/>
            </a:pPr>
            <a:r>
              <a:rPr lang="ne-NP" sz="3600" dirty="0" smtClean="0">
                <a:cs typeface="Kalimati" panose="00000400000000000000" pitchFamily="2"/>
              </a:rPr>
              <a:t>हिरासतमा राख्ने अनुमतिको लागी अनुसन्धान अधिकारीले आधार र कारण खुलाई जिल्ला सरकारी वकिल कार्यालय मार्फत मुद्दा हेर्ने अधिकारी समक्ष अनुमति माग्नु पर्ने</a:t>
            </a:r>
          </a:p>
          <a:p>
            <a:pPr algn="just">
              <a:buFont typeface="Wingdings" panose="05000000000000000000" pitchFamily="2" charset="2"/>
              <a:buChar char="v"/>
            </a:pPr>
            <a:r>
              <a:rPr lang="ne-NP" sz="3600" dirty="0" smtClean="0">
                <a:cs typeface="Kalimati" panose="00000400000000000000" pitchFamily="2"/>
              </a:rPr>
              <a:t>बिशेष ऐन अन्तर्गतको मुद्दामा सोही बमोजिम हुने</a:t>
            </a:r>
          </a:p>
          <a:p>
            <a:pPr algn="just">
              <a:buFont typeface="Wingdings" panose="05000000000000000000" pitchFamily="2" charset="2"/>
              <a:buChar char="v"/>
            </a:pPr>
            <a:r>
              <a:rPr lang="ne-NP" sz="3600" dirty="0" smtClean="0">
                <a:cs typeface="Kalimati" panose="00000400000000000000" pitchFamily="2"/>
              </a:rPr>
              <a:t>सो बाहेक सामान्य ऐन अन्तर्गतको मुद्दामा एकै पटक वा पटक पटक गरी बढीमा २५ दिन सम्म हिरासतमा राख्ने आदेश दिन सक्ने</a:t>
            </a:r>
          </a:p>
          <a:p>
            <a:pPr algn="just">
              <a:buFont typeface="Wingdings" panose="05000000000000000000" pitchFamily="2" charset="2"/>
              <a:buChar char="v"/>
            </a:pPr>
            <a:r>
              <a:rPr lang="ne-NP" sz="3600" dirty="0" smtClean="0">
                <a:cs typeface="Kalimati" panose="00000400000000000000" pitchFamily="2"/>
              </a:rPr>
              <a:t>दफा </a:t>
            </a:r>
            <a:r>
              <a:rPr lang="ne-NP" sz="3600" dirty="0">
                <a:cs typeface="Kalimati" panose="00000400000000000000" pitchFamily="2"/>
              </a:rPr>
              <a:t>१४ को उपदफा ७ को हकमा थप १५ दिन हिरासतमा राख्ने आदेश दिन सक्ने </a:t>
            </a:r>
            <a:endParaRPr lang="en-US" sz="3600" dirty="0">
              <a:cs typeface="Kalimati" panose="00000400000000000000" pitchFamily="2"/>
            </a:endParaRPr>
          </a:p>
          <a:p>
            <a:pPr algn="just">
              <a:buFont typeface="Wingdings" panose="05000000000000000000" pitchFamily="2" charset="2"/>
              <a:buChar char="v"/>
            </a:pPr>
            <a:endParaRPr lang="ne-NP" sz="3600" dirty="0" smtClean="0">
              <a:cs typeface="Kalimati" panose="00000400000000000000" pitchFamily="2"/>
            </a:endParaRPr>
          </a:p>
        </p:txBody>
      </p:sp>
    </p:spTree>
    <p:extLst>
      <p:ext uri="{BB962C8B-B14F-4D97-AF65-F5344CB8AC3E}">
        <p14:creationId xmlns:p14="http://schemas.microsoft.com/office/powerpoint/2010/main" val="3481367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895" y="393895"/>
            <a:ext cx="11422967" cy="6161650"/>
          </a:xfrm>
        </p:spPr>
        <p:txBody>
          <a:bodyPr>
            <a:normAutofit lnSpcReduction="10000"/>
          </a:bodyPr>
          <a:lstStyle/>
          <a:p>
            <a:pPr marL="0" indent="0" algn="ctr">
              <a:buNone/>
            </a:pPr>
            <a:r>
              <a:rPr lang="ne-NP" dirty="0" smtClean="0"/>
              <a:t> </a:t>
            </a:r>
            <a:r>
              <a:rPr lang="ne-NP" sz="4000" u="sng" dirty="0" smtClean="0">
                <a:cs typeface="Kalimati" panose="00000400000000000000" pitchFamily="2"/>
              </a:rPr>
              <a:t>हिरासतमा राख्न मिल्ने अधिकतम अवधी</a:t>
            </a:r>
            <a:endParaRPr lang="en-US" sz="4000" u="sng" dirty="0">
              <a:cs typeface="Kalimati" panose="00000400000000000000" pitchFamily="2"/>
            </a:endParaRPr>
          </a:p>
          <a:p>
            <a:pPr>
              <a:buFont typeface="Wingdings" panose="05000000000000000000" pitchFamily="2" charset="2"/>
              <a:buChar char="v"/>
            </a:pPr>
            <a:r>
              <a:rPr lang="ne-NP" sz="4000" dirty="0" smtClean="0">
                <a:cs typeface="Kalimati" panose="00000400000000000000" pitchFamily="2"/>
              </a:rPr>
              <a:t>मुलुकी फौजदारी कार्यबिधि संहिता,२०७४ को दफा १४(६) बमजिम </a:t>
            </a:r>
            <a:r>
              <a:rPr lang="ne-NP" sz="4000" dirty="0" smtClean="0">
                <a:solidFill>
                  <a:srgbClr val="FF0000"/>
                </a:solidFill>
                <a:cs typeface="Kalimati" panose="00000400000000000000" pitchFamily="2"/>
              </a:rPr>
              <a:t>२५ दिन</a:t>
            </a:r>
          </a:p>
          <a:p>
            <a:pPr>
              <a:buFont typeface="Wingdings" panose="05000000000000000000" pitchFamily="2" charset="2"/>
              <a:buChar char="v"/>
            </a:pPr>
            <a:r>
              <a:rPr lang="ne-NP" sz="4000" dirty="0" smtClean="0">
                <a:cs typeface="Kalimati" panose="00000400000000000000" pitchFamily="2"/>
              </a:rPr>
              <a:t>ऐ. को दफा १४(७) बमोजिम </a:t>
            </a:r>
            <a:r>
              <a:rPr lang="ne-NP" sz="4000" dirty="0" smtClean="0">
                <a:solidFill>
                  <a:srgbClr val="FF0000"/>
                </a:solidFill>
                <a:cs typeface="Kalimati" panose="00000400000000000000" pitchFamily="2"/>
              </a:rPr>
              <a:t>थप १५ दिन</a:t>
            </a:r>
          </a:p>
          <a:p>
            <a:pPr>
              <a:buFont typeface="Wingdings" panose="05000000000000000000" pitchFamily="2" charset="2"/>
              <a:buChar char="v"/>
            </a:pPr>
            <a:r>
              <a:rPr lang="ne-NP" sz="4000" dirty="0" smtClean="0">
                <a:cs typeface="Kalimati" panose="00000400000000000000" pitchFamily="2"/>
              </a:rPr>
              <a:t>संगठीत अपराध निवारणऐन,२०७० को दफा १४मा पटक पटक गरी </a:t>
            </a:r>
            <a:r>
              <a:rPr lang="ne-NP" sz="4000" dirty="0" smtClean="0">
                <a:solidFill>
                  <a:srgbClr val="FF0000"/>
                </a:solidFill>
                <a:cs typeface="Kalimati" panose="00000400000000000000" pitchFamily="2"/>
              </a:rPr>
              <a:t>६० दिन</a:t>
            </a:r>
          </a:p>
          <a:p>
            <a:pPr>
              <a:buFont typeface="Wingdings" panose="05000000000000000000" pitchFamily="2" charset="2"/>
              <a:buChar char="v"/>
            </a:pPr>
            <a:r>
              <a:rPr lang="ne-NP" sz="4000" dirty="0" smtClean="0">
                <a:cs typeface="Kalimati" panose="00000400000000000000" pitchFamily="2"/>
              </a:rPr>
              <a:t>लागू औषध(नियन्त्रण)ऐन, २०३३ को दफा २२(ग)-एक पटकमा </a:t>
            </a:r>
            <a:r>
              <a:rPr lang="ne-NP" sz="4000" dirty="0" smtClean="0">
                <a:solidFill>
                  <a:srgbClr val="FF0000"/>
                </a:solidFill>
                <a:cs typeface="Kalimati" panose="00000400000000000000" pitchFamily="2"/>
              </a:rPr>
              <a:t>१ महिनामा </a:t>
            </a:r>
            <a:r>
              <a:rPr lang="ne-NP" sz="4000" dirty="0" smtClean="0">
                <a:cs typeface="Kalimati" panose="00000400000000000000" pitchFamily="2"/>
              </a:rPr>
              <a:t>नबढाई बढीमा </a:t>
            </a:r>
            <a:r>
              <a:rPr lang="ne-NP" sz="4000" dirty="0" smtClean="0">
                <a:solidFill>
                  <a:srgbClr val="FF0000"/>
                </a:solidFill>
                <a:cs typeface="Kalimati" panose="00000400000000000000" pitchFamily="2"/>
              </a:rPr>
              <a:t>९० दिन </a:t>
            </a:r>
          </a:p>
          <a:p>
            <a:pPr>
              <a:buFont typeface="Wingdings" panose="05000000000000000000" pitchFamily="2" charset="2"/>
              <a:buChar char="v"/>
            </a:pPr>
            <a:r>
              <a:rPr lang="ne-NP" sz="4000" dirty="0" smtClean="0">
                <a:cs typeface="Kalimati" panose="00000400000000000000" pitchFamily="2"/>
              </a:rPr>
              <a:t>राष्ट्रिय निकुञ्ज तथा बन्य जन्तु संरक्षण ऐन,२०२९ को दफा २४क(३)-एकै पटक वा पटक पटक गरी </a:t>
            </a:r>
            <a:r>
              <a:rPr lang="ne-NP" sz="4000" dirty="0" smtClean="0">
                <a:solidFill>
                  <a:srgbClr val="FF0000"/>
                </a:solidFill>
                <a:cs typeface="Kalimati" panose="00000400000000000000" pitchFamily="2"/>
              </a:rPr>
              <a:t>४५</a:t>
            </a:r>
            <a:r>
              <a:rPr lang="ne-NP" sz="4000" dirty="0" smtClean="0">
                <a:cs typeface="Kalimati" panose="00000400000000000000" pitchFamily="2"/>
              </a:rPr>
              <a:t> दिन</a:t>
            </a:r>
          </a:p>
          <a:p>
            <a:pPr>
              <a:buFont typeface="Wingdings" panose="05000000000000000000" pitchFamily="2" charset="2"/>
              <a:buChar char="v"/>
            </a:pPr>
            <a:endParaRPr lang="ne-NP" sz="4000" dirty="0" smtClean="0">
              <a:solidFill>
                <a:srgbClr val="FF0000"/>
              </a:solidFill>
              <a:cs typeface="Kalimati" panose="00000400000000000000" pitchFamily="2"/>
            </a:endParaRPr>
          </a:p>
          <a:p>
            <a:pPr>
              <a:buFont typeface="Wingdings" panose="05000000000000000000" pitchFamily="2" charset="2"/>
              <a:buChar char="v"/>
            </a:pPr>
            <a:endParaRPr lang="en-US" sz="4000" dirty="0">
              <a:cs typeface="Kalimati" panose="00000400000000000000" pitchFamily="2"/>
            </a:endParaRPr>
          </a:p>
        </p:txBody>
      </p:sp>
    </p:spTree>
    <p:extLst>
      <p:ext uri="{BB962C8B-B14F-4D97-AF65-F5344CB8AC3E}">
        <p14:creationId xmlns:p14="http://schemas.microsoft.com/office/powerpoint/2010/main" val="3810734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3218" y="365760"/>
            <a:ext cx="11633982" cy="6189785"/>
          </a:xfrm>
        </p:spPr>
        <p:txBody>
          <a:bodyPr>
            <a:noAutofit/>
          </a:bodyPr>
          <a:lstStyle/>
          <a:p>
            <a:pPr algn="just">
              <a:buFont typeface="Wingdings" panose="05000000000000000000" pitchFamily="2" charset="2"/>
              <a:buChar char="v"/>
            </a:pPr>
            <a:r>
              <a:rPr lang="ne-NP" sz="3600" dirty="0" smtClean="0">
                <a:cs typeface="Kalimati" panose="00000400000000000000" pitchFamily="2"/>
              </a:rPr>
              <a:t>बालबालिका संबन्धी ऐन, २०७५ को दफा २१(७)- एक पटकमा </a:t>
            </a:r>
            <a:r>
              <a:rPr lang="ne-NP" sz="3600" dirty="0" smtClean="0">
                <a:solidFill>
                  <a:srgbClr val="FF0000"/>
                </a:solidFill>
                <a:cs typeface="Kalimati" panose="00000400000000000000" pitchFamily="2"/>
              </a:rPr>
              <a:t>५ दिनमा </a:t>
            </a:r>
            <a:r>
              <a:rPr lang="ne-NP" sz="3600" dirty="0" smtClean="0">
                <a:cs typeface="Kalimati" panose="00000400000000000000" pitchFamily="2"/>
              </a:rPr>
              <a:t>नबढने गरी </a:t>
            </a:r>
            <a:r>
              <a:rPr lang="ne-NP" sz="3600" dirty="0" smtClean="0">
                <a:solidFill>
                  <a:srgbClr val="FF0000"/>
                </a:solidFill>
                <a:cs typeface="Kalimati" panose="00000400000000000000" pitchFamily="2"/>
              </a:rPr>
              <a:t>बढीमा २१ दिन</a:t>
            </a:r>
          </a:p>
          <a:p>
            <a:pPr algn="just">
              <a:buFont typeface="Wingdings" panose="05000000000000000000" pitchFamily="2" charset="2"/>
              <a:buChar char="v"/>
            </a:pPr>
            <a:r>
              <a:rPr lang="ne-NP" sz="3600" dirty="0" smtClean="0">
                <a:cs typeface="Kalimati" panose="00000400000000000000" pitchFamily="2"/>
              </a:rPr>
              <a:t>बैङ्किङ कसूर तथा सजाँय ऐन, २०६४ को दफा १९(४)-एक पटकमा </a:t>
            </a:r>
            <a:r>
              <a:rPr lang="ne-NP" sz="3600" dirty="0" smtClean="0">
                <a:solidFill>
                  <a:srgbClr val="FF0000"/>
                </a:solidFill>
                <a:cs typeface="Kalimati" panose="00000400000000000000" pitchFamily="2"/>
              </a:rPr>
              <a:t>७ दिनमा </a:t>
            </a:r>
            <a:r>
              <a:rPr lang="ne-NP" sz="3600" dirty="0" smtClean="0">
                <a:cs typeface="Kalimati" panose="00000400000000000000" pitchFamily="2"/>
              </a:rPr>
              <a:t>नबढने गरी </a:t>
            </a:r>
            <a:r>
              <a:rPr lang="ne-NP" sz="3600" dirty="0" smtClean="0">
                <a:solidFill>
                  <a:srgbClr val="FF0000"/>
                </a:solidFill>
                <a:cs typeface="Kalimati" panose="00000400000000000000" pitchFamily="2"/>
              </a:rPr>
              <a:t>बढीमा ६० दिन</a:t>
            </a:r>
          </a:p>
          <a:p>
            <a:pPr algn="just">
              <a:buFont typeface="Wingdings" panose="05000000000000000000" pitchFamily="2" charset="2"/>
              <a:buChar char="v"/>
            </a:pPr>
            <a:r>
              <a:rPr lang="ne-NP" sz="3600" dirty="0" smtClean="0">
                <a:cs typeface="Kalimati" panose="00000400000000000000" pitchFamily="2"/>
              </a:rPr>
              <a:t>वन ऐन, २०७६ को दफा ५८(६) पटक पटक गरी बढीमा </a:t>
            </a:r>
            <a:r>
              <a:rPr lang="ne-NP" sz="3600" dirty="0" smtClean="0">
                <a:solidFill>
                  <a:srgbClr val="FF0000"/>
                </a:solidFill>
                <a:cs typeface="Kalimati" panose="00000400000000000000" pitchFamily="2"/>
              </a:rPr>
              <a:t>२५ दिन </a:t>
            </a:r>
            <a:r>
              <a:rPr lang="ne-NP" sz="3600" dirty="0" smtClean="0">
                <a:cs typeface="Kalimati" panose="00000400000000000000" pitchFamily="2"/>
              </a:rPr>
              <a:t>सम्म</a:t>
            </a:r>
          </a:p>
          <a:p>
            <a:pPr algn="just">
              <a:buFont typeface="Wingdings" panose="05000000000000000000" pitchFamily="2" charset="2"/>
              <a:buChar char="v"/>
            </a:pPr>
            <a:r>
              <a:rPr lang="ne-NP" sz="3600" dirty="0" smtClean="0">
                <a:cs typeface="Kalimati" panose="00000400000000000000" pitchFamily="2"/>
              </a:rPr>
              <a:t>भ्रष्टाचार निवारण ऐन, २०५९ को दफा ३१(४)-एकै पटक वा पटक पटक गरी </a:t>
            </a:r>
            <a:r>
              <a:rPr lang="ne-NP" sz="3600" dirty="0" smtClean="0">
                <a:solidFill>
                  <a:srgbClr val="FF0000"/>
                </a:solidFill>
                <a:cs typeface="Kalimati" panose="00000400000000000000" pitchFamily="2"/>
              </a:rPr>
              <a:t>३० दिनमा </a:t>
            </a:r>
            <a:r>
              <a:rPr lang="ne-NP" sz="3600" dirty="0" smtClean="0">
                <a:cs typeface="Kalimati" panose="00000400000000000000" pitchFamily="2"/>
              </a:rPr>
              <a:t>नबढने गरी बढीमा </a:t>
            </a:r>
            <a:r>
              <a:rPr lang="ne-NP" sz="3600" dirty="0" smtClean="0">
                <a:solidFill>
                  <a:srgbClr val="FF0000"/>
                </a:solidFill>
                <a:cs typeface="Kalimati" panose="00000400000000000000" pitchFamily="2"/>
              </a:rPr>
              <a:t>६ महिना </a:t>
            </a:r>
            <a:r>
              <a:rPr lang="ne-NP" sz="3600" dirty="0" smtClean="0">
                <a:cs typeface="Kalimati" panose="00000400000000000000" pitchFamily="2"/>
              </a:rPr>
              <a:t>सम्म</a:t>
            </a:r>
          </a:p>
          <a:p>
            <a:pPr algn="just">
              <a:buFont typeface="Wingdings" panose="05000000000000000000" pitchFamily="2" charset="2"/>
              <a:buChar char="v"/>
            </a:pPr>
            <a:r>
              <a:rPr lang="ne-NP" sz="3600" dirty="0" smtClean="0">
                <a:cs typeface="Kalimati" panose="00000400000000000000" pitchFamily="2"/>
              </a:rPr>
              <a:t> राजश्व चुहावट (अनुसन्धान तथा नियन्त्रण) ऐन, २०५२ को दफा १३- एक पटकमा </a:t>
            </a:r>
            <a:r>
              <a:rPr lang="ne-NP" sz="3600" dirty="0" smtClean="0">
                <a:solidFill>
                  <a:srgbClr val="FF0000"/>
                </a:solidFill>
                <a:cs typeface="Kalimati" panose="00000400000000000000" pitchFamily="2"/>
              </a:rPr>
              <a:t>१५ दिनमा </a:t>
            </a:r>
            <a:r>
              <a:rPr lang="ne-NP" sz="3600" dirty="0" smtClean="0">
                <a:cs typeface="Kalimati" panose="00000400000000000000" pitchFamily="2"/>
              </a:rPr>
              <a:t>नबढाई बढीमा </a:t>
            </a:r>
            <a:r>
              <a:rPr lang="ne-NP" sz="3600" dirty="0" smtClean="0">
                <a:solidFill>
                  <a:srgbClr val="FF0000"/>
                </a:solidFill>
                <a:cs typeface="Kalimati" panose="00000400000000000000" pitchFamily="2"/>
              </a:rPr>
              <a:t>९० दिन </a:t>
            </a:r>
            <a:r>
              <a:rPr lang="ne-NP" sz="3600" dirty="0" smtClean="0">
                <a:cs typeface="Kalimati" panose="00000400000000000000" pitchFamily="2"/>
              </a:rPr>
              <a:t>सम्म</a:t>
            </a:r>
          </a:p>
          <a:p>
            <a:pPr algn="just">
              <a:buFont typeface="Wingdings" panose="05000000000000000000" pitchFamily="2" charset="2"/>
              <a:buChar char="v"/>
            </a:pPr>
            <a:endParaRPr lang="en-US" sz="3600" dirty="0"/>
          </a:p>
        </p:txBody>
      </p:sp>
    </p:spTree>
    <p:extLst>
      <p:ext uri="{BB962C8B-B14F-4D97-AF65-F5344CB8AC3E}">
        <p14:creationId xmlns:p14="http://schemas.microsoft.com/office/powerpoint/2010/main" val="4218173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7625"/>
            <a:ext cx="10515600" cy="5839338"/>
          </a:xfrm>
        </p:spPr>
        <p:txBody>
          <a:bodyPr>
            <a:normAutofit lnSpcReduction="10000"/>
          </a:bodyPr>
          <a:lstStyle/>
          <a:p>
            <a:pPr marL="0" indent="0" algn="ctr">
              <a:lnSpc>
                <a:spcPct val="115000"/>
              </a:lnSpc>
              <a:spcBef>
                <a:spcPts val="0"/>
              </a:spcBef>
              <a:spcAft>
                <a:spcPts val="1000"/>
              </a:spcAft>
              <a:buNone/>
              <a:defRPr/>
            </a:pPr>
            <a:r>
              <a:rPr lang="ne-NP" sz="4000" u="sng" dirty="0" smtClean="0">
                <a:latin typeface="Preeti"/>
                <a:ea typeface="Calibri"/>
                <a:cs typeface="Kalimati" panose="00000400000000000000" pitchFamily="2"/>
              </a:rPr>
              <a:t>म्याद थप किन</a:t>
            </a:r>
          </a:p>
          <a:p>
            <a:pPr indent="-457200">
              <a:lnSpc>
                <a:spcPct val="115000"/>
              </a:lnSpc>
              <a:spcBef>
                <a:spcPts val="0"/>
              </a:spcBef>
              <a:spcAft>
                <a:spcPts val="1000"/>
              </a:spcAft>
              <a:buFont typeface="Wingdings" panose="05000000000000000000" pitchFamily="2" charset="2"/>
              <a:buChar char="v"/>
              <a:defRPr/>
            </a:pPr>
            <a:r>
              <a:rPr lang="ne-NP" sz="3600" dirty="0" smtClean="0">
                <a:latin typeface="Preeti"/>
                <a:ea typeface="Calibri"/>
                <a:cs typeface="Kalimati" panose="00000400000000000000" pitchFamily="2"/>
              </a:rPr>
              <a:t>कसुरदार भाग्न उम्कन सक्ने</a:t>
            </a:r>
          </a:p>
          <a:p>
            <a:pPr indent="-457200">
              <a:lnSpc>
                <a:spcPct val="115000"/>
              </a:lnSpc>
              <a:spcBef>
                <a:spcPts val="0"/>
              </a:spcBef>
              <a:spcAft>
                <a:spcPts val="1000"/>
              </a:spcAft>
              <a:buFont typeface="Wingdings" panose="05000000000000000000" pitchFamily="2" charset="2"/>
              <a:buChar char="v"/>
              <a:defRPr/>
            </a:pPr>
            <a:r>
              <a:rPr lang="ne-NP" sz="3600" dirty="0" smtClean="0">
                <a:latin typeface="Preeti"/>
                <a:ea typeface="Calibri"/>
                <a:cs typeface="Kalimati" panose="00000400000000000000" pitchFamily="2"/>
              </a:rPr>
              <a:t>प्रमाण लोप वा नास गर्न सक्ने</a:t>
            </a:r>
          </a:p>
          <a:p>
            <a:pPr indent="-457200">
              <a:lnSpc>
                <a:spcPct val="115000"/>
              </a:lnSpc>
              <a:spcBef>
                <a:spcPts val="0"/>
              </a:spcBef>
              <a:spcAft>
                <a:spcPts val="1000"/>
              </a:spcAft>
              <a:buFont typeface="Wingdings" panose="05000000000000000000" pitchFamily="2" charset="2"/>
              <a:buChar char="v"/>
              <a:defRPr/>
            </a:pPr>
            <a:r>
              <a:rPr lang="ne-NP" sz="3600" dirty="0" smtClean="0">
                <a:latin typeface="Preeti"/>
                <a:ea typeface="Calibri"/>
                <a:cs typeface="Kalimati" panose="00000400000000000000" pitchFamily="2"/>
              </a:rPr>
              <a:t>पिडित उपर थप पिडा पुर्‍याउन सक्ने</a:t>
            </a:r>
          </a:p>
          <a:p>
            <a:pPr indent="-457200">
              <a:lnSpc>
                <a:spcPct val="115000"/>
              </a:lnSpc>
              <a:spcBef>
                <a:spcPts val="0"/>
              </a:spcBef>
              <a:spcAft>
                <a:spcPts val="1000"/>
              </a:spcAft>
              <a:buFont typeface="Wingdings" panose="05000000000000000000" pitchFamily="2" charset="2"/>
              <a:buChar char="v"/>
              <a:defRPr/>
            </a:pPr>
            <a:r>
              <a:rPr lang="ne-NP" sz="3600" dirty="0" smtClean="0">
                <a:latin typeface="Preeti"/>
                <a:ea typeface="Calibri"/>
                <a:cs typeface="Kalimati" panose="00000400000000000000" pitchFamily="2"/>
              </a:rPr>
              <a:t>समाजमा त्रास फैलाउन सक्ने</a:t>
            </a:r>
          </a:p>
          <a:p>
            <a:pPr indent="-457200">
              <a:lnSpc>
                <a:spcPct val="115000"/>
              </a:lnSpc>
              <a:spcBef>
                <a:spcPts val="0"/>
              </a:spcBef>
              <a:spcAft>
                <a:spcPts val="1000"/>
              </a:spcAft>
              <a:buFont typeface="Wingdings" panose="05000000000000000000" pitchFamily="2" charset="2"/>
              <a:buChar char="v"/>
              <a:defRPr/>
            </a:pPr>
            <a:r>
              <a:rPr lang="ne-NP" sz="3600" dirty="0" smtClean="0">
                <a:latin typeface="Preeti"/>
                <a:ea typeface="Calibri"/>
                <a:cs typeface="Kalimati" panose="00000400000000000000" pitchFamily="2"/>
              </a:rPr>
              <a:t>न्यायीक कार्यमा असहजता ल्याउन सक्ने</a:t>
            </a:r>
          </a:p>
          <a:p>
            <a:pPr indent="-457200">
              <a:lnSpc>
                <a:spcPct val="115000"/>
              </a:lnSpc>
              <a:spcBef>
                <a:spcPts val="0"/>
              </a:spcBef>
              <a:spcAft>
                <a:spcPts val="1000"/>
              </a:spcAft>
              <a:buFont typeface="Wingdings" panose="05000000000000000000" pitchFamily="2" charset="2"/>
              <a:buChar char="v"/>
              <a:defRPr/>
            </a:pPr>
            <a:r>
              <a:rPr lang="ne-NP" sz="3600" dirty="0" smtClean="0">
                <a:latin typeface="Preeti"/>
                <a:ea typeface="Calibri"/>
                <a:cs typeface="Kalimati" panose="00000400000000000000" pitchFamily="2"/>
              </a:rPr>
              <a:t>प्रमाण संकलनमा अवरोध गर्न </a:t>
            </a:r>
            <a:r>
              <a:rPr lang="ne-NP" sz="3600" dirty="0" smtClean="0">
                <a:latin typeface="Preeti"/>
                <a:ea typeface="Calibri"/>
                <a:cs typeface="Kalimati" panose="00000400000000000000" pitchFamily="2"/>
              </a:rPr>
              <a:t>सक्ने</a:t>
            </a:r>
          </a:p>
          <a:p>
            <a:pPr indent="-457200">
              <a:lnSpc>
                <a:spcPct val="115000"/>
              </a:lnSpc>
              <a:spcBef>
                <a:spcPts val="0"/>
              </a:spcBef>
              <a:spcAft>
                <a:spcPts val="1000"/>
              </a:spcAft>
              <a:buFont typeface="Wingdings" panose="05000000000000000000" pitchFamily="2" charset="2"/>
              <a:buChar char="v"/>
              <a:defRPr/>
            </a:pPr>
            <a:r>
              <a:rPr lang="ne-NP" sz="3600" dirty="0" smtClean="0">
                <a:latin typeface="Preeti"/>
                <a:ea typeface="Calibri"/>
                <a:cs typeface="Kalimati" panose="00000400000000000000" pitchFamily="2"/>
              </a:rPr>
              <a:t>समाजमा बिग्रह ल्याउन सक्ने</a:t>
            </a:r>
            <a:endParaRPr lang="ne-NP" sz="3600" dirty="0" smtClean="0">
              <a:latin typeface="Preeti"/>
              <a:ea typeface="Calibri"/>
              <a:cs typeface="Kalimati" panose="00000400000000000000" pitchFamily="2"/>
            </a:endParaRPr>
          </a:p>
        </p:txBody>
      </p:sp>
    </p:spTree>
    <p:extLst>
      <p:ext uri="{BB962C8B-B14F-4D97-AF65-F5344CB8AC3E}">
        <p14:creationId xmlns:p14="http://schemas.microsoft.com/office/powerpoint/2010/main" val="2293871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167" y="337624"/>
            <a:ext cx="11408898" cy="6231987"/>
          </a:xfrm>
        </p:spPr>
        <p:txBody>
          <a:bodyPr/>
          <a:lstStyle/>
          <a:p>
            <a:pPr marL="0" indent="0" algn="ctr">
              <a:lnSpc>
                <a:spcPct val="115000"/>
              </a:lnSpc>
              <a:spcBef>
                <a:spcPct val="0"/>
              </a:spcBef>
              <a:buNone/>
            </a:pPr>
            <a:r>
              <a:rPr lang="ne-NP" altLang="en-US" sz="4000" u="sng" dirty="0" smtClean="0">
                <a:ea typeface="Calibri" panose="020F0502020204030204" pitchFamily="34" charset="0"/>
                <a:cs typeface="Kalimati" panose="00000400000000000000" pitchFamily="2"/>
              </a:rPr>
              <a:t>म्याद थपमा बिचार पुर्‍याउनु पर्ने कुराहरु</a:t>
            </a:r>
          </a:p>
          <a:p>
            <a:pPr algn="just">
              <a:lnSpc>
                <a:spcPct val="115000"/>
              </a:lnSpc>
              <a:spcBef>
                <a:spcPct val="0"/>
              </a:spcBef>
              <a:buFont typeface="Wingdings" panose="05000000000000000000" pitchFamily="2" charset="2"/>
              <a:buChar char="v"/>
            </a:pPr>
            <a:endParaRPr lang="ne-NP" altLang="en-US" sz="3600" dirty="0" smtClean="0">
              <a:ea typeface="Calibri" panose="020F0502020204030204" pitchFamily="34" charset="0"/>
              <a:cs typeface="Kalimati" panose="00000400000000000000" pitchFamily="2"/>
            </a:endParaRPr>
          </a:p>
          <a:p>
            <a:pPr algn="just">
              <a:lnSpc>
                <a:spcPct val="115000"/>
              </a:lnSpc>
              <a:spcBef>
                <a:spcPct val="0"/>
              </a:spcBef>
              <a:buFont typeface="Wingdings" panose="05000000000000000000" pitchFamily="2" charset="2"/>
              <a:buChar char="v"/>
            </a:pPr>
            <a:r>
              <a:rPr lang="ne-NP" altLang="en-US" sz="3600" dirty="0" smtClean="0">
                <a:ea typeface="Calibri" panose="020F0502020204030204" pitchFamily="34" charset="0"/>
                <a:cs typeface="Kalimati" panose="00000400000000000000" pitchFamily="2"/>
              </a:rPr>
              <a:t>जाहेरी </a:t>
            </a:r>
            <a:r>
              <a:rPr lang="ne-NP" altLang="en-US" sz="3600" dirty="0" smtClean="0">
                <a:ea typeface="Calibri" panose="020F0502020204030204" pitchFamily="34" charset="0"/>
                <a:cs typeface="Kalimati" panose="00000400000000000000" pitchFamily="2"/>
              </a:rPr>
              <a:t>दरखास्त, प्रतिबेदन लगायतका कागजहरु </a:t>
            </a:r>
            <a:endParaRPr lang="ne-NP" altLang="en-US" sz="3600" dirty="0">
              <a:ea typeface="Calibri" panose="020F0502020204030204" pitchFamily="34" charset="0"/>
              <a:cs typeface="Kalimati" panose="00000400000000000000" pitchFamily="2"/>
            </a:endParaRPr>
          </a:p>
          <a:p>
            <a:pPr algn="just">
              <a:lnSpc>
                <a:spcPct val="115000"/>
              </a:lnSpc>
              <a:spcBef>
                <a:spcPct val="0"/>
              </a:spcBef>
              <a:buFont typeface="Wingdings" panose="05000000000000000000" pitchFamily="2" charset="2"/>
              <a:buChar char="v"/>
            </a:pPr>
            <a:r>
              <a:rPr lang="en-US" altLang="en-US" sz="3600" dirty="0">
                <a:ea typeface="Calibri" panose="020F0502020204030204" pitchFamily="34" charset="0"/>
                <a:cs typeface="Kalimati" panose="00000400000000000000" pitchFamily="2"/>
              </a:rPr>
              <a:t> </a:t>
            </a:r>
            <a:r>
              <a:rPr lang="ne-NP" altLang="en-US" sz="3600" dirty="0">
                <a:ea typeface="Calibri" panose="020F0502020204030204" pitchFamily="34" charset="0"/>
                <a:cs typeface="Kalimati" panose="00000400000000000000" pitchFamily="2"/>
              </a:rPr>
              <a:t>वारदात मिति</a:t>
            </a:r>
            <a:r>
              <a:rPr lang="en-US" altLang="en-US" sz="3600" dirty="0">
                <a:ea typeface="Calibri" panose="020F0502020204030204" pitchFamily="34" charset="0"/>
                <a:cs typeface="Kalimati" panose="00000400000000000000" pitchFamily="2"/>
              </a:rPr>
              <a:t>,</a:t>
            </a:r>
            <a:r>
              <a:rPr lang="ne-NP" altLang="en-US" sz="3600" dirty="0">
                <a:ea typeface="Calibri" panose="020F0502020204030204" pitchFamily="34" charset="0"/>
                <a:cs typeface="Kalimati" panose="00000400000000000000" pitchFamily="2"/>
              </a:rPr>
              <a:t> स्थान </a:t>
            </a:r>
            <a:endParaRPr lang="en-US" altLang="en-US" sz="3600" dirty="0">
              <a:ea typeface="Calibri" panose="020F0502020204030204" pitchFamily="34" charset="0"/>
              <a:cs typeface="Kalimati" panose="00000400000000000000" pitchFamily="2"/>
            </a:endParaRPr>
          </a:p>
          <a:p>
            <a:pPr algn="just">
              <a:lnSpc>
                <a:spcPct val="115000"/>
              </a:lnSpc>
              <a:spcBef>
                <a:spcPct val="0"/>
              </a:spcBef>
              <a:buFont typeface="Wingdings" panose="05000000000000000000" pitchFamily="2" charset="2"/>
              <a:buChar char="v"/>
            </a:pPr>
            <a:r>
              <a:rPr lang="en-US" altLang="en-US" sz="3600" dirty="0">
                <a:ea typeface="Calibri" panose="020F0502020204030204" pitchFamily="34" charset="0"/>
                <a:cs typeface="Kalimati" panose="00000400000000000000" pitchFamily="2"/>
              </a:rPr>
              <a:t> </a:t>
            </a:r>
            <a:r>
              <a:rPr lang="ne-NP" altLang="en-US" sz="3600" dirty="0">
                <a:ea typeface="Calibri" panose="020F0502020204030204" pitchFamily="34" charset="0"/>
                <a:cs typeface="Kalimati" panose="00000400000000000000" pitchFamily="2"/>
              </a:rPr>
              <a:t>गैर कानूनी </a:t>
            </a:r>
            <a:r>
              <a:rPr lang="ne-NP" altLang="en-US" sz="3600" dirty="0" smtClean="0">
                <a:ea typeface="Calibri" panose="020F0502020204030204" pitchFamily="34" charset="0"/>
                <a:cs typeface="Kalimati" panose="00000400000000000000" pitchFamily="2"/>
              </a:rPr>
              <a:t>कार्य(कसूरजन्य</a:t>
            </a:r>
            <a:r>
              <a:rPr lang="en-US" altLang="en-US" sz="3600" dirty="0" smtClean="0">
                <a:ea typeface="Calibri" panose="020F0502020204030204" pitchFamily="34" charset="0"/>
                <a:cs typeface="Kalimati" panose="00000400000000000000" pitchFamily="2"/>
              </a:rPr>
              <a:t> </a:t>
            </a:r>
            <a:r>
              <a:rPr lang="ne-NP" altLang="en-US" sz="3600" dirty="0">
                <a:ea typeface="Calibri" panose="020F0502020204030204" pitchFamily="34" charset="0"/>
                <a:cs typeface="Kalimati" panose="00000400000000000000" pitchFamily="2"/>
              </a:rPr>
              <a:t>कार्य) हो वा होईन</a:t>
            </a:r>
            <a:endParaRPr lang="en-US" altLang="en-US" sz="3600" dirty="0">
              <a:ea typeface="Calibri" panose="020F0502020204030204" pitchFamily="34" charset="0"/>
              <a:cs typeface="Kalimati" panose="00000400000000000000" pitchFamily="2"/>
            </a:endParaRPr>
          </a:p>
          <a:p>
            <a:pPr algn="just">
              <a:lnSpc>
                <a:spcPct val="115000"/>
              </a:lnSpc>
              <a:spcBef>
                <a:spcPct val="0"/>
              </a:spcBef>
              <a:buFont typeface="Wingdings" panose="05000000000000000000" pitchFamily="2" charset="2"/>
              <a:buChar char="v"/>
            </a:pPr>
            <a:r>
              <a:rPr lang="en-US" altLang="en-US" sz="3600" dirty="0">
                <a:ea typeface="Calibri" panose="020F0502020204030204" pitchFamily="34" charset="0"/>
                <a:cs typeface="Kalimati" panose="00000400000000000000" pitchFamily="2"/>
              </a:rPr>
              <a:t> </a:t>
            </a:r>
            <a:r>
              <a:rPr lang="ne-NP" altLang="en-US" sz="3600" dirty="0" smtClean="0">
                <a:ea typeface="Calibri" panose="020F0502020204030204" pitchFamily="34" charset="0"/>
                <a:cs typeface="Kalimati" panose="00000400000000000000" pitchFamily="2"/>
              </a:rPr>
              <a:t>खानतलासी </a:t>
            </a:r>
            <a:r>
              <a:rPr lang="ne-NP" altLang="en-US" sz="3600" dirty="0">
                <a:ea typeface="Calibri" panose="020F0502020204030204" pitchFamily="34" charset="0"/>
                <a:cs typeface="Kalimati" panose="00000400000000000000" pitchFamily="2"/>
              </a:rPr>
              <a:t>तथा </a:t>
            </a:r>
            <a:r>
              <a:rPr lang="ne-NP" altLang="en-US" sz="3600" dirty="0" smtClean="0">
                <a:ea typeface="Calibri" panose="020F0502020204030204" pitchFamily="34" charset="0"/>
                <a:cs typeface="Kalimati" panose="00000400000000000000" pitchFamily="2"/>
              </a:rPr>
              <a:t>बरामदी </a:t>
            </a:r>
            <a:r>
              <a:rPr lang="ne-NP" altLang="en-US" sz="3600" dirty="0">
                <a:ea typeface="Calibri" panose="020F0502020204030204" pitchFamily="34" charset="0"/>
                <a:cs typeface="Kalimati" panose="00000400000000000000" pitchFamily="2"/>
              </a:rPr>
              <a:t>मुचुल्का </a:t>
            </a:r>
            <a:endParaRPr lang="en-US" altLang="en-US" sz="3600" dirty="0">
              <a:ea typeface="Calibri" panose="020F0502020204030204" pitchFamily="34" charset="0"/>
              <a:cs typeface="Kalimati" panose="00000400000000000000" pitchFamily="2"/>
            </a:endParaRPr>
          </a:p>
          <a:p>
            <a:pPr algn="just">
              <a:lnSpc>
                <a:spcPct val="115000"/>
              </a:lnSpc>
              <a:spcBef>
                <a:spcPct val="0"/>
              </a:spcBef>
              <a:buFont typeface="Wingdings" panose="05000000000000000000" pitchFamily="2" charset="2"/>
              <a:buChar char="v"/>
            </a:pPr>
            <a:r>
              <a:rPr lang="en-US" altLang="en-US" sz="3600" dirty="0">
                <a:ea typeface="Calibri" panose="020F0502020204030204" pitchFamily="34" charset="0"/>
                <a:cs typeface="Kalimati" panose="00000400000000000000" pitchFamily="2"/>
              </a:rPr>
              <a:t> </a:t>
            </a:r>
            <a:r>
              <a:rPr lang="ne-NP" altLang="en-US" sz="3600" dirty="0">
                <a:ea typeface="Calibri" panose="020F0502020204030204" pitchFamily="34" charset="0"/>
                <a:cs typeface="Kalimati" panose="00000400000000000000" pitchFamily="2"/>
              </a:rPr>
              <a:t>पीडितको नाम</a:t>
            </a:r>
            <a:r>
              <a:rPr lang="en-US" altLang="en-US" sz="3600" dirty="0">
                <a:ea typeface="Calibri" panose="020F0502020204030204" pitchFamily="34" charset="0"/>
                <a:cs typeface="Kalimati" panose="00000400000000000000" pitchFamily="2"/>
              </a:rPr>
              <a:t>,</a:t>
            </a:r>
            <a:r>
              <a:rPr lang="ne-NP" altLang="en-US" sz="3600" dirty="0">
                <a:ea typeface="Calibri" panose="020F0502020204030204" pitchFamily="34" charset="0"/>
                <a:cs typeface="Kalimati" panose="00000400000000000000" pitchFamily="2"/>
              </a:rPr>
              <a:t> उमेर</a:t>
            </a:r>
            <a:r>
              <a:rPr lang="en-US" altLang="en-US" sz="3600" dirty="0">
                <a:ea typeface="Calibri" panose="020F0502020204030204" pitchFamily="34" charset="0"/>
                <a:cs typeface="Kalimati" panose="00000400000000000000" pitchFamily="2"/>
              </a:rPr>
              <a:t>,</a:t>
            </a:r>
            <a:r>
              <a:rPr lang="ne-NP" altLang="en-US" sz="3600" dirty="0">
                <a:ea typeface="Calibri" panose="020F0502020204030204" pitchFamily="34" charset="0"/>
                <a:cs typeface="Kalimati" panose="00000400000000000000" pitchFamily="2"/>
              </a:rPr>
              <a:t> </a:t>
            </a:r>
            <a:r>
              <a:rPr lang="ne-NP" altLang="en-US" sz="3600" dirty="0" smtClean="0">
                <a:ea typeface="Calibri" panose="020F0502020204030204" pitchFamily="34" charset="0"/>
                <a:cs typeface="Kalimati" panose="00000400000000000000" pitchFamily="2"/>
              </a:rPr>
              <a:t>ठगाना स्पष्ट छ छैन</a:t>
            </a:r>
          </a:p>
          <a:p>
            <a:pPr algn="just">
              <a:lnSpc>
                <a:spcPct val="115000"/>
              </a:lnSpc>
              <a:spcBef>
                <a:spcPct val="0"/>
              </a:spcBef>
              <a:buFont typeface="Wingdings" panose="05000000000000000000" pitchFamily="2" charset="2"/>
              <a:buChar char="v"/>
            </a:pPr>
            <a:r>
              <a:rPr lang="ne-NP" sz="3600" dirty="0" smtClean="0">
                <a:ea typeface="Calibri" panose="020F0502020204030204" pitchFamily="34" charset="0"/>
                <a:cs typeface="Kalimati" panose="00000400000000000000" pitchFamily="2"/>
              </a:rPr>
              <a:t>प्रतिबादी उपस्थित गराएको छ </a:t>
            </a:r>
            <a:r>
              <a:rPr lang="ne-NP" sz="3600" dirty="0" smtClean="0">
                <a:ea typeface="Calibri" panose="020F0502020204030204" pitchFamily="34" charset="0"/>
                <a:cs typeface="Kalimati" panose="00000400000000000000" pitchFamily="2"/>
              </a:rPr>
              <a:t>छैन</a:t>
            </a:r>
            <a:endParaRPr lang="ne-NP" sz="3600" dirty="0" smtClean="0">
              <a:ea typeface="Calibri" panose="020F0502020204030204" pitchFamily="34" charset="0"/>
              <a:cs typeface="Kalimati" panose="00000400000000000000" pitchFamily="2"/>
            </a:endParaRPr>
          </a:p>
        </p:txBody>
      </p:sp>
    </p:spTree>
    <p:extLst>
      <p:ext uri="{BB962C8B-B14F-4D97-AF65-F5344CB8AC3E}">
        <p14:creationId xmlns:p14="http://schemas.microsoft.com/office/powerpoint/2010/main" val="3301749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407962"/>
            <a:ext cx="11422966" cy="6161649"/>
          </a:xfrm>
        </p:spPr>
        <p:txBody>
          <a:bodyPr>
            <a:normAutofit/>
          </a:bodyPr>
          <a:lstStyle/>
          <a:p>
            <a:pPr algn="just">
              <a:lnSpc>
                <a:spcPct val="115000"/>
              </a:lnSpc>
              <a:spcBef>
                <a:spcPct val="0"/>
              </a:spcBef>
              <a:buFont typeface="Wingdings" panose="05000000000000000000" pitchFamily="2" charset="2"/>
              <a:buChar char="v"/>
            </a:pPr>
            <a:endParaRPr lang="ne-NP" dirty="0" smtClean="0">
              <a:ea typeface="Calibri" panose="020F0502020204030204" pitchFamily="34" charset="0"/>
              <a:cs typeface="Kalimati" panose="00000400000000000000" pitchFamily="2"/>
            </a:endParaRPr>
          </a:p>
          <a:p>
            <a:pPr algn="just">
              <a:lnSpc>
                <a:spcPct val="115000"/>
              </a:lnSpc>
              <a:spcBef>
                <a:spcPct val="0"/>
              </a:spcBef>
              <a:buFont typeface="Wingdings" panose="05000000000000000000" pitchFamily="2" charset="2"/>
              <a:buChar char="v"/>
            </a:pPr>
            <a:r>
              <a:rPr lang="ne-NP" dirty="0" smtClean="0">
                <a:ea typeface="Calibri" panose="020F0502020204030204" pitchFamily="34" charset="0"/>
                <a:cs typeface="Kalimati" panose="00000400000000000000" pitchFamily="2"/>
              </a:rPr>
              <a:t> </a:t>
            </a:r>
            <a:r>
              <a:rPr lang="ne-NP" sz="3600" dirty="0" smtClean="0">
                <a:ea typeface="Calibri" panose="020F0502020204030204" pitchFamily="34" charset="0"/>
                <a:cs typeface="Kalimati" panose="00000400000000000000" pitchFamily="2"/>
              </a:rPr>
              <a:t>ल्याउन </a:t>
            </a:r>
            <a:r>
              <a:rPr lang="ne-NP" sz="3600" dirty="0">
                <a:ea typeface="Calibri" panose="020F0502020204030204" pitchFamily="34" charset="0"/>
                <a:cs typeface="Kalimati" panose="00000400000000000000" pitchFamily="2"/>
              </a:rPr>
              <a:t>सकिने दशीको सामान हेर्नु पर्ने</a:t>
            </a:r>
          </a:p>
          <a:p>
            <a:pPr algn="just">
              <a:lnSpc>
                <a:spcPct val="115000"/>
              </a:lnSpc>
              <a:spcBef>
                <a:spcPct val="0"/>
              </a:spcBef>
              <a:buFont typeface="Wingdings" panose="05000000000000000000" pitchFamily="2" charset="2"/>
              <a:buChar char="v"/>
            </a:pPr>
            <a:r>
              <a:rPr lang="ne-NP" sz="3600" dirty="0" smtClean="0">
                <a:ea typeface="Calibri" panose="020F0502020204030204" pitchFamily="34" charset="0"/>
                <a:cs typeface="Kalimati" panose="00000400000000000000" pitchFamily="2"/>
              </a:rPr>
              <a:t> दोस्रो </a:t>
            </a:r>
            <a:r>
              <a:rPr lang="ne-NP" sz="3600" dirty="0">
                <a:ea typeface="Calibri" panose="020F0502020204030204" pitchFamily="34" charset="0"/>
                <a:cs typeface="Kalimati" panose="00000400000000000000" pitchFamily="2"/>
              </a:rPr>
              <a:t>पटक म्याद थप गर्दा बयान गराएको छ </a:t>
            </a:r>
            <a:r>
              <a:rPr lang="ne-NP" sz="3600" dirty="0" smtClean="0">
                <a:ea typeface="Calibri" panose="020F0502020204030204" pitchFamily="34" charset="0"/>
                <a:cs typeface="Kalimati" panose="00000400000000000000" pitchFamily="2"/>
              </a:rPr>
              <a:t>छैन</a:t>
            </a:r>
          </a:p>
          <a:p>
            <a:pPr>
              <a:lnSpc>
                <a:spcPct val="115000"/>
              </a:lnSpc>
              <a:spcBef>
                <a:spcPct val="0"/>
              </a:spcBef>
              <a:buFont typeface="Wingdings" panose="05000000000000000000" pitchFamily="2" charset="2"/>
              <a:buChar char="v"/>
            </a:pPr>
            <a:r>
              <a:rPr lang="ne-NP" altLang="en-US" sz="3600" dirty="0" smtClean="0">
                <a:ea typeface="Calibri" panose="020F0502020204030204" pitchFamily="34" charset="0"/>
                <a:cs typeface="Kalimati" panose="00000400000000000000" pitchFamily="2"/>
              </a:rPr>
              <a:t> पोस्टमार्टम </a:t>
            </a:r>
            <a:r>
              <a:rPr lang="ne-NP" altLang="en-US" sz="3600" dirty="0">
                <a:ea typeface="Calibri" panose="020F0502020204030204" pitchFamily="34" charset="0"/>
                <a:cs typeface="Kalimati" panose="00000400000000000000" pitchFamily="2"/>
              </a:rPr>
              <a:t>रिपोर्ट</a:t>
            </a:r>
            <a:r>
              <a:rPr lang="en-US" altLang="en-US" sz="3600" dirty="0">
                <a:ea typeface="Calibri" panose="020F0502020204030204" pitchFamily="34" charset="0"/>
                <a:cs typeface="Kalimati" panose="00000400000000000000" pitchFamily="2"/>
              </a:rPr>
              <a:t>,</a:t>
            </a:r>
            <a:r>
              <a:rPr lang="ne-NP" altLang="en-US" sz="3600" dirty="0">
                <a:ea typeface="Calibri" panose="020F0502020204030204" pitchFamily="34" charset="0"/>
                <a:cs typeface="Kalimati" panose="00000400000000000000" pitchFamily="2"/>
              </a:rPr>
              <a:t> स्वास्थ परिक्षण प्रतिवेदन तथा घाँ केश फाराम</a:t>
            </a:r>
          </a:p>
          <a:p>
            <a:pPr>
              <a:lnSpc>
                <a:spcPct val="115000"/>
              </a:lnSpc>
              <a:spcBef>
                <a:spcPct val="0"/>
              </a:spcBef>
              <a:buFont typeface="Wingdings" panose="05000000000000000000" pitchFamily="2" charset="2"/>
              <a:buChar char="v"/>
            </a:pPr>
            <a:r>
              <a:rPr lang="en-US" altLang="en-US" sz="3600" dirty="0">
                <a:ea typeface="Calibri" panose="020F0502020204030204" pitchFamily="34" charset="0"/>
                <a:cs typeface="Kalimati" panose="00000400000000000000" pitchFamily="2"/>
              </a:rPr>
              <a:t> </a:t>
            </a:r>
            <a:r>
              <a:rPr lang="ne-NP" altLang="en-US" sz="3600" dirty="0">
                <a:ea typeface="Calibri" panose="020F0502020204030204" pitchFamily="34" charset="0"/>
                <a:cs typeface="Kalimati" panose="00000400000000000000" pitchFamily="2"/>
              </a:rPr>
              <a:t>अभियुक्तको स्वास्थ परीक्षण प्रतिवेदन</a:t>
            </a:r>
            <a:endParaRPr lang="en-US" altLang="en-US" sz="3600" dirty="0">
              <a:ea typeface="Calibri" panose="020F0502020204030204" pitchFamily="34" charset="0"/>
              <a:cs typeface="Kalimati" panose="00000400000000000000" pitchFamily="2"/>
            </a:endParaRPr>
          </a:p>
          <a:p>
            <a:pPr>
              <a:lnSpc>
                <a:spcPct val="115000"/>
              </a:lnSpc>
              <a:spcBef>
                <a:spcPct val="0"/>
              </a:spcBef>
              <a:spcAft>
                <a:spcPts val="1000"/>
              </a:spcAft>
              <a:buFont typeface="Wingdings" panose="05000000000000000000" pitchFamily="2" charset="2"/>
              <a:buChar char="v"/>
            </a:pPr>
            <a:r>
              <a:rPr lang="ne-NP" altLang="en-US" sz="3600" dirty="0">
                <a:ea typeface="Calibri" panose="020F0502020204030204" pitchFamily="34" charset="0"/>
                <a:cs typeface="Kalimati" panose="00000400000000000000" pitchFamily="2"/>
              </a:rPr>
              <a:t> के कामको लागी म्याद थप मागिएको हो खुलेको हुनु पर्ने</a:t>
            </a:r>
          </a:p>
          <a:p>
            <a:pPr>
              <a:lnSpc>
                <a:spcPct val="115000"/>
              </a:lnSpc>
              <a:spcBef>
                <a:spcPct val="0"/>
              </a:spcBef>
              <a:spcAft>
                <a:spcPts val="1000"/>
              </a:spcAft>
              <a:buFont typeface="Wingdings" panose="05000000000000000000" pitchFamily="2" charset="2"/>
              <a:buChar char="v"/>
            </a:pPr>
            <a:r>
              <a:rPr lang="ne-NP" altLang="en-US" sz="3600" dirty="0">
                <a:ea typeface="Calibri" panose="020F0502020204030204" pitchFamily="34" charset="0"/>
                <a:cs typeface="Kalimati" panose="00000400000000000000" pitchFamily="2"/>
              </a:rPr>
              <a:t> नाबालकको हकमा उमेर खुल्ने कागज वा उमेर परिक्षण प्रतिवेदन</a:t>
            </a:r>
            <a:endParaRPr lang="en-US" altLang="en-US" sz="3600" dirty="0">
              <a:ea typeface="Calibri" panose="020F0502020204030204" pitchFamily="34" charset="0"/>
              <a:cs typeface="Kalimati" panose="00000400000000000000" pitchFamily="2"/>
            </a:endParaRPr>
          </a:p>
          <a:p>
            <a:pPr marL="0" indent="0">
              <a:lnSpc>
                <a:spcPct val="115000"/>
              </a:lnSpc>
              <a:spcBef>
                <a:spcPct val="0"/>
              </a:spcBef>
              <a:buNone/>
            </a:pPr>
            <a:endParaRPr lang="en-US" dirty="0">
              <a:cs typeface="Kalimati" panose="00000400000000000000" pitchFamily="2"/>
            </a:endParaRPr>
          </a:p>
        </p:txBody>
      </p:sp>
    </p:spTree>
    <p:extLst>
      <p:ext uri="{BB962C8B-B14F-4D97-AF65-F5344CB8AC3E}">
        <p14:creationId xmlns:p14="http://schemas.microsoft.com/office/powerpoint/2010/main" val="17808863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86" y="309488"/>
            <a:ext cx="11535508" cy="6358597"/>
          </a:xfrm>
        </p:spPr>
        <p:txBody>
          <a:bodyPr>
            <a:normAutofit/>
          </a:bodyPr>
          <a:lstStyle/>
          <a:p>
            <a:pPr>
              <a:lnSpc>
                <a:spcPct val="115000"/>
              </a:lnSpc>
              <a:spcBef>
                <a:spcPct val="0"/>
              </a:spcBef>
              <a:buFont typeface="Wingdings" panose="05000000000000000000" pitchFamily="2" charset="2"/>
              <a:buChar char="v"/>
            </a:pPr>
            <a:endParaRPr lang="ne-NP" altLang="en-US" sz="3200" dirty="0" smtClean="0">
              <a:ea typeface="Calibri" panose="020F0502020204030204" pitchFamily="34" charset="0"/>
              <a:cs typeface="Kalimati" panose="00000400000000000000" pitchFamily="2"/>
            </a:endParaRPr>
          </a:p>
          <a:p>
            <a:pPr algn="just">
              <a:lnSpc>
                <a:spcPct val="115000"/>
              </a:lnSpc>
              <a:spcBef>
                <a:spcPct val="0"/>
              </a:spcBef>
              <a:buFont typeface="Wingdings" panose="05000000000000000000" pitchFamily="2" charset="2"/>
              <a:buChar char="v"/>
            </a:pPr>
            <a:r>
              <a:rPr lang="ne-NP" altLang="en-US" sz="3600" dirty="0" smtClean="0">
                <a:ea typeface="Calibri" panose="020F0502020204030204" pitchFamily="34" charset="0"/>
                <a:cs typeface="Kalimati" panose="00000400000000000000" pitchFamily="2"/>
              </a:rPr>
              <a:t>म्याद </a:t>
            </a:r>
            <a:r>
              <a:rPr lang="ne-NP" altLang="en-US" sz="3600" dirty="0">
                <a:ea typeface="Calibri" panose="020F0502020204030204" pitchFamily="34" charset="0"/>
                <a:cs typeface="Kalimati" panose="00000400000000000000" pitchFamily="2"/>
              </a:rPr>
              <a:t>थपको क्रममा प्रतिबादीको नाम थर ठेगाना सोध्ने र कुनै समस्या छ छैन भनि संबाद गर्नु राम्रो </a:t>
            </a:r>
            <a:r>
              <a:rPr lang="ne-NP" altLang="en-US" sz="3600" dirty="0" smtClean="0">
                <a:ea typeface="Calibri" panose="020F0502020204030204" pitchFamily="34" charset="0"/>
                <a:cs typeface="Kalimati" panose="00000400000000000000" pitchFamily="2"/>
              </a:rPr>
              <a:t>हुन्छ</a:t>
            </a:r>
          </a:p>
          <a:p>
            <a:pPr algn="just">
              <a:lnSpc>
                <a:spcPct val="115000"/>
              </a:lnSpc>
              <a:spcBef>
                <a:spcPct val="0"/>
              </a:spcBef>
              <a:buFont typeface="Wingdings" panose="05000000000000000000" pitchFamily="2" charset="2"/>
              <a:buChar char="v"/>
            </a:pPr>
            <a:r>
              <a:rPr lang="ne-NP" altLang="en-US" sz="3600" dirty="0" smtClean="0">
                <a:ea typeface="Calibri" panose="020F0502020204030204" pitchFamily="34" charset="0"/>
                <a:cs typeface="Kalimati" panose="00000400000000000000" pitchFamily="2"/>
              </a:rPr>
              <a:t>प्रतिबादीलाई हुने सजाँय भन्दा बढी अवधि हिरासतमा राख्नु </a:t>
            </a:r>
            <a:r>
              <a:rPr lang="ne-NP" altLang="en-US" sz="3600" dirty="0" smtClean="0">
                <a:ea typeface="Calibri" panose="020F0502020204030204" pitchFamily="34" charset="0"/>
                <a:cs typeface="Kalimati" panose="00000400000000000000" pitchFamily="2"/>
              </a:rPr>
              <a:t>हुदैन</a:t>
            </a:r>
          </a:p>
          <a:p>
            <a:pPr algn="just">
              <a:lnSpc>
                <a:spcPct val="115000"/>
              </a:lnSpc>
              <a:spcBef>
                <a:spcPct val="0"/>
              </a:spcBef>
              <a:buFont typeface="Wingdings" panose="05000000000000000000" pitchFamily="2" charset="2"/>
              <a:buChar char="v"/>
            </a:pPr>
            <a:r>
              <a:rPr lang="ne-NP" altLang="en-US" sz="3600" dirty="0">
                <a:ea typeface="Calibri" panose="020F0502020204030204" pitchFamily="34" charset="0"/>
                <a:cs typeface="Kalimati" panose="00000400000000000000" pitchFamily="2"/>
              </a:rPr>
              <a:t>शरीरमा कुनै चोटपटक लागेको भए सो सम्बन्धमा सोध्ने र घाउ चोटको जाँच गराई पाउ भनि निवेदन दिए जाँचको लागी </a:t>
            </a:r>
            <a:r>
              <a:rPr lang="ne-NP" altLang="en-US" sz="3600" dirty="0" smtClean="0">
                <a:ea typeface="Calibri" panose="020F0502020204030204" pitchFamily="34" charset="0"/>
                <a:cs typeface="Kalimati" panose="00000400000000000000" pitchFamily="2"/>
              </a:rPr>
              <a:t>पठाउने</a:t>
            </a:r>
          </a:p>
          <a:p>
            <a:pPr algn="just">
              <a:lnSpc>
                <a:spcPct val="115000"/>
              </a:lnSpc>
              <a:spcBef>
                <a:spcPct val="0"/>
              </a:spcBef>
              <a:buFont typeface="Wingdings" panose="05000000000000000000" pitchFamily="2" charset="2"/>
              <a:buChar char="v"/>
            </a:pPr>
            <a:r>
              <a:rPr lang="ne-NP" altLang="en-US" sz="3600" dirty="0">
                <a:ea typeface="Calibri" panose="020F0502020204030204" pitchFamily="34" charset="0"/>
                <a:cs typeface="Kalimati" panose="00000400000000000000" pitchFamily="2"/>
              </a:rPr>
              <a:t>अनुसन्धान प्रयोजनको लागी कुन कुन कामको लागी म्याद थप   गर्ने हो सो स्पष्ट खुलाउनु पर्ने</a:t>
            </a:r>
          </a:p>
          <a:p>
            <a:pPr marL="0" indent="0" algn="just">
              <a:lnSpc>
                <a:spcPct val="115000"/>
              </a:lnSpc>
              <a:spcBef>
                <a:spcPct val="0"/>
              </a:spcBef>
              <a:buNone/>
            </a:pPr>
            <a:endParaRPr lang="ne-NP" altLang="en-US" sz="3600" dirty="0">
              <a:ea typeface="Calibri" panose="020F0502020204030204" pitchFamily="34" charset="0"/>
              <a:cs typeface="Kalimati" panose="00000400000000000000" pitchFamily="2"/>
            </a:endParaRPr>
          </a:p>
          <a:p>
            <a:pPr>
              <a:lnSpc>
                <a:spcPct val="115000"/>
              </a:lnSpc>
              <a:spcBef>
                <a:spcPct val="0"/>
              </a:spcBef>
              <a:buFont typeface="Wingdings" panose="05000000000000000000" pitchFamily="2" charset="2"/>
              <a:buChar char="v"/>
            </a:pPr>
            <a:endParaRPr lang="ne-NP" altLang="en-US" sz="3200" dirty="0">
              <a:ea typeface="Calibri" panose="020F0502020204030204" pitchFamily="34" charset="0"/>
              <a:cs typeface="Kalimati" panose="00000400000000000000" pitchFamily="2"/>
            </a:endParaRPr>
          </a:p>
        </p:txBody>
      </p:sp>
    </p:spTree>
    <p:extLst>
      <p:ext uri="{BB962C8B-B14F-4D97-AF65-F5344CB8AC3E}">
        <p14:creationId xmlns:p14="http://schemas.microsoft.com/office/powerpoint/2010/main" val="1579372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86" y="309488"/>
            <a:ext cx="11521440" cy="6358597"/>
          </a:xfrm>
        </p:spPr>
        <p:txBody>
          <a:bodyPr>
            <a:normAutofit/>
          </a:bodyPr>
          <a:lstStyle/>
          <a:p>
            <a:pPr>
              <a:lnSpc>
                <a:spcPct val="115000"/>
              </a:lnSpc>
              <a:spcBef>
                <a:spcPct val="0"/>
              </a:spcBef>
              <a:buFont typeface="Wingdings" panose="05000000000000000000" pitchFamily="2" charset="2"/>
              <a:buChar char="v"/>
            </a:pPr>
            <a:endParaRPr lang="ne-NP" altLang="en-US" sz="3600" dirty="0" smtClean="0">
              <a:ea typeface="Calibri" panose="020F0502020204030204" pitchFamily="34" charset="0"/>
              <a:cs typeface="Kalimati" panose="00000400000000000000" pitchFamily="2"/>
            </a:endParaRPr>
          </a:p>
          <a:p>
            <a:pPr>
              <a:lnSpc>
                <a:spcPct val="115000"/>
              </a:lnSpc>
              <a:spcBef>
                <a:spcPct val="0"/>
              </a:spcBef>
              <a:buFont typeface="Wingdings" panose="05000000000000000000" pitchFamily="2" charset="2"/>
              <a:buChar char="v"/>
            </a:pPr>
            <a:r>
              <a:rPr lang="ne-NP" altLang="en-US" sz="3600" dirty="0" smtClean="0">
                <a:ea typeface="Calibri" panose="020F0502020204030204" pitchFamily="34" charset="0"/>
                <a:cs typeface="Kalimati" panose="00000400000000000000" pitchFamily="2"/>
              </a:rPr>
              <a:t>महिला</a:t>
            </a:r>
            <a:r>
              <a:rPr lang="ne-NP" altLang="en-US" sz="3600" dirty="0" smtClean="0">
                <a:ea typeface="Calibri" panose="020F0502020204030204" pitchFamily="34" charset="0"/>
                <a:cs typeface="Kalimati" panose="00000400000000000000" pitchFamily="2"/>
              </a:rPr>
              <a:t>, बृद्ध, जेष्ट नागरीक, फरक क्षमताका ब्यक्तिको हकमा ध्यान दिने</a:t>
            </a:r>
          </a:p>
          <a:p>
            <a:pPr>
              <a:lnSpc>
                <a:spcPct val="115000"/>
              </a:lnSpc>
              <a:spcBef>
                <a:spcPct val="0"/>
              </a:spcBef>
              <a:buFont typeface="Wingdings" panose="05000000000000000000" pitchFamily="2" charset="2"/>
              <a:buChar char="v"/>
            </a:pPr>
            <a:r>
              <a:rPr lang="ne-NP" altLang="en-US" sz="3600" dirty="0" smtClean="0">
                <a:ea typeface="Calibri" panose="020F0502020204030204" pitchFamily="34" charset="0"/>
                <a:cs typeface="Kalimati" panose="00000400000000000000" pitchFamily="2"/>
              </a:rPr>
              <a:t>भाषाको समस्या भए दोभाषेको ब्यवस्थापन गर्न लगाउने </a:t>
            </a:r>
            <a:endParaRPr lang="en-US" altLang="en-US" sz="3600" dirty="0">
              <a:ea typeface="Calibri" panose="020F0502020204030204" pitchFamily="34" charset="0"/>
              <a:cs typeface="Kalimati" panose="00000400000000000000" pitchFamily="2"/>
            </a:endParaRPr>
          </a:p>
          <a:p>
            <a:pPr>
              <a:lnSpc>
                <a:spcPct val="115000"/>
              </a:lnSpc>
              <a:spcBef>
                <a:spcPct val="0"/>
              </a:spcBef>
              <a:buFont typeface="Wingdings" panose="05000000000000000000" pitchFamily="2" charset="2"/>
              <a:buChar char="v"/>
            </a:pPr>
            <a:r>
              <a:rPr lang="ne-NP" altLang="en-US" sz="3600" dirty="0">
                <a:ea typeface="Calibri" panose="020F0502020204030204" pitchFamily="34" charset="0"/>
                <a:cs typeface="Kalimati" panose="00000400000000000000" pitchFamily="2"/>
              </a:rPr>
              <a:t> </a:t>
            </a:r>
            <a:r>
              <a:rPr lang="ne-NP" altLang="en-US" sz="3600" dirty="0" smtClean="0">
                <a:ea typeface="Calibri" panose="020F0502020204030204" pitchFamily="34" charset="0"/>
                <a:cs typeface="Kalimati" panose="00000400000000000000" pitchFamily="2"/>
              </a:rPr>
              <a:t>सम्भव भएमा प्रतिबादीहरु सँग घटना वारदातको सम्बन्धमा आवश्यक संवाद गर्ने</a:t>
            </a:r>
          </a:p>
          <a:p>
            <a:pPr>
              <a:lnSpc>
                <a:spcPct val="115000"/>
              </a:lnSpc>
              <a:spcBef>
                <a:spcPct val="0"/>
              </a:spcBef>
              <a:buFont typeface="Wingdings" panose="05000000000000000000" pitchFamily="2" charset="2"/>
              <a:buChar char="v"/>
            </a:pPr>
            <a:r>
              <a:rPr lang="ne-NP" sz="3600" dirty="0" smtClean="0">
                <a:ea typeface="Calibri" panose="020F0502020204030204" pitchFamily="34" charset="0"/>
                <a:cs typeface="Kalimati" panose="00000400000000000000" pitchFamily="2"/>
              </a:rPr>
              <a:t>प्रतिबादीको कानून ब्यवसायीहरुले बहस गरेमा सो समेत सुनी म्याद थप हुने नहुने सम्बन्धमा आदेश गर्ने</a:t>
            </a:r>
            <a:endParaRPr lang="en-US" dirty="0"/>
          </a:p>
        </p:txBody>
      </p:sp>
    </p:spTree>
    <p:extLst>
      <p:ext uri="{BB962C8B-B14F-4D97-AF65-F5344CB8AC3E}">
        <p14:creationId xmlns:p14="http://schemas.microsoft.com/office/powerpoint/2010/main" val="3622608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1692" y="295422"/>
            <a:ext cx="11465170" cy="6217920"/>
          </a:xfrm>
        </p:spPr>
        <p:txBody>
          <a:bodyPr>
            <a:normAutofit fontScale="92500" lnSpcReduction="20000"/>
          </a:bodyPr>
          <a:lstStyle/>
          <a:p>
            <a:pPr marL="0" indent="0" algn="ctr">
              <a:buNone/>
            </a:pPr>
            <a:r>
              <a:rPr lang="ne-NP" altLang="en-US" sz="4000" b="1" u="sng" dirty="0">
                <a:ea typeface="Calibri" panose="020F0502020204030204" pitchFamily="34" charset="0"/>
                <a:cs typeface="Kalimati" panose="00000400000000000000" pitchFamily="2"/>
              </a:rPr>
              <a:t>म्याद </a:t>
            </a:r>
            <a:r>
              <a:rPr lang="ne-NP" altLang="en-US" sz="4000" b="1" u="sng" dirty="0" smtClean="0">
                <a:ea typeface="Calibri" panose="020F0502020204030204" pitchFamily="34" charset="0"/>
                <a:cs typeface="Kalimati" panose="00000400000000000000" pitchFamily="2"/>
              </a:rPr>
              <a:t>थपको क्रममा अभियुक्त संग </a:t>
            </a:r>
            <a:r>
              <a:rPr lang="ne-NP" altLang="en-US" sz="4000" b="1" u="sng" dirty="0">
                <a:ea typeface="Calibri" panose="020F0502020204030204" pitchFamily="34" charset="0"/>
                <a:cs typeface="Kalimati" panose="00000400000000000000" pitchFamily="2"/>
              </a:rPr>
              <a:t>वार्ता र </a:t>
            </a:r>
            <a:r>
              <a:rPr lang="ne-NP" altLang="en-US" sz="4000" b="1" u="sng" dirty="0" smtClean="0">
                <a:ea typeface="Calibri" panose="020F0502020204030204" pitchFamily="34" charset="0"/>
                <a:cs typeface="Kalimati" panose="00000400000000000000" pitchFamily="2"/>
              </a:rPr>
              <a:t>व्यवहार</a:t>
            </a:r>
          </a:p>
          <a:p>
            <a:pPr>
              <a:lnSpc>
                <a:spcPct val="115000"/>
              </a:lnSpc>
              <a:spcBef>
                <a:spcPts val="0"/>
              </a:spcBef>
              <a:buFont typeface="Wingdings" panose="05000000000000000000" pitchFamily="2" charset="2"/>
              <a:buChar char="v"/>
              <a:defRPr/>
            </a:pPr>
            <a:endParaRPr lang="ne-NP" sz="3200" dirty="0" smtClean="0">
              <a:ea typeface="Calibri"/>
              <a:cs typeface="Kalimati"/>
            </a:endParaRPr>
          </a:p>
          <a:p>
            <a:pPr>
              <a:lnSpc>
                <a:spcPct val="115000"/>
              </a:lnSpc>
              <a:spcBef>
                <a:spcPts val="0"/>
              </a:spcBef>
              <a:buFont typeface="Wingdings" panose="05000000000000000000" pitchFamily="2" charset="2"/>
              <a:buChar char="v"/>
              <a:defRPr/>
            </a:pPr>
            <a:r>
              <a:rPr lang="ne-NP" sz="3500" dirty="0" smtClean="0">
                <a:ea typeface="Calibri"/>
                <a:cs typeface="Kalimati"/>
              </a:rPr>
              <a:t>बोली </a:t>
            </a:r>
            <a:r>
              <a:rPr lang="ne-NP" sz="3500" dirty="0" smtClean="0">
                <a:ea typeface="Calibri"/>
                <a:cs typeface="Kalimati"/>
              </a:rPr>
              <a:t>बचन राम्रो गर्नु पर्ने</a:t>
            </a:r>
            <a:endParaRPr lang="en-US" sz="3500" dirty="0">
              <a:ea typeface="Calibri"/>
              <a:cs typeface="Mangal"/>
            </a:endParaRPr>
          </a:p>
          <a:p>
            <a:pPr>
              <a:lnSpc>
                <a:spcPct val="115000"/>
              </a:lnSpc>
              <a:spcBef>
                <a:spcPts val="0"/>
              </a:spcBef>
              <a:buFont typeface="Wingdings" panose="05000000000000000000" pitchFamily="2" charset="2"/>
              <a:buChar char="v"/>
              <a:defRPr/>
            </a:pPr>
            <a:r>
              <a:rPr lang="ne-NP" sz="3500" dirty="0">
                <a:ea typeface="Calibri"/>
                <a:cs typeface="Kalimati"/>
              </a:rPr>
              <a:t>पक्राउ किन कहाँ र कहिले भएको</a:t>
            </a:r>
            <a:endParaRPr lang="en-US" sz="3500" dirty="0">
              <a:ea typeface="Calibri"/>
              <a:cs typeface="Mangal"/>
            </a:endParaRPr>
          </a:p>
          <a:p>
            <a:pPr>
              <a:lnSpc>
                <a:spcPct val="115000"/>
              </a:lnSpc>
              <a:spcBef>
                <a:spcPts val="0"/>
              </a:spcBef>
              <a:buFont typeface="Wingdings" panose="05000000000000000000" pitchFamily="2" charset="2"/>
              <a:buChar char="v"/>
              <a:defRPr/>
            </a:pPr>
            <a:r>
              <a:rPr lang="ne-NP" sz="3500" dirty="0">
                <a:ea typeface="Calibri"/>
                <a:cs typeface="Kalimati"/>
              </a:rPr>
              <a:t>स्वास्थ्य अवस्था के </a:t>
            </a:r>
            <a:r>
              <a:rPr lang="ne-NP" sz="3500" dirty="0" smtClean="0">
                <a:ea typeface="Calibri"/>
                <a:cs typeface="Kalimati"/>
              </a:rPr>
              <a:t>कस्तो</a:t>
            </a:r>
            <a:r>
              <a:rPr lang="en-US" sz="3500" dirty="0">
                <a:ea typeface="Calibri"/>
                <a:cs typeface="Mangal"/>
              </a:rPr>
              <a:t> </a:t>
            </a:r>
            <a:r>
              <a:rPr lang="ne-NP" sz="3500" dirty="0" smtClean="0">
                <a:ea typeface="Calibri"/>
                <a:cs typeface="Kalimati" panose="00000400000000000000" pitchFamily="2"/>
              </a:rPr>
              <a:t>छ</a:t>
            </a:r>
            <a:endParaRPr lang="ne-NP" sz="3500" dirty="0">
              <a:ea typeface="Calibri"/>
              <a:cs typeface="Kalimati" panose="00000400000000000000" pitchFamily="2"/>
            </a:endParaRPr>
          </a:p>
          <a:p>
            <a:pPr>
              <a:lnSpc>
                <a:spcPct val="115000"/>
              </a:lnSpc>
              <a:spcBef>
                <a:spcPts val="0"/>
              </a:spcBef>
              <a:buFont typeface="Wingdings" panose="05000000000000000000" pitchFamily="2" charset="2"/>
              <a:buChar char="v"/>
              <a:defRPr/>
            </a:pPr>
            <a:r>
              <a:rPr lang="ne-NP" sz="3500" dirty="0">
                <a:ea typeface="Calibri"/>
                <a:cs typeface="Kalimati"/>
              </a:rPr>
              <a:t>पक्राउ पुर्जी र थुनुवा पुर्जी दिए नदिएको </a:t>
            </a:r>
            <a:endParaRPr lang="en-US" sz="3500" dirty="0">
              <a:ea typeface="Calibri"/>
              <a:cs typeface="Mangal"/>
            </a:endParaRPr>
          </a:p>
          <a:p>
            <a:pPr>
              <a:lnSpc>
                <a:spcPct val="115000"/>
              </a:lnSpc>
              <a:spcBef>
                <a:spcPts val="0"/>
              </a:spcBef>
              <a:spcAft>
                <a:spcPts val="1000"/>
              </a:spcAft>
              <a:buFont typeface="Wingdings" panose="05000000000000000000" pitchFamily="2" charset="2"/>
              <a:buChar char="v"/>
              <a:defRPr/>
            </a:pPr>
            <a:r>
              <a:rPr lang="ne-NP" sz="3500" dirty="0">
                <a:ea typeface="Calibri"/>
                <a:cs typeface="Kalimati"/>
              </a:rPr>
              <a:t>स्वास्थ परिक्षण सरसफाईको अवस्था</a:t>
            </a:r>
          </a:p>
          <a:p>
            <a:pPr>
              <a:lnSpc>
                <a:spcPct val="115000"/>
              </a:lnSpc>
              <a:spcBef>
                <a:spcPts val="0"/>
              </a:spcBef>
              <a:spcAft>
                <a:spcPts val="1000"/>
              </a:spcAft>
              <a:buFont typeface="Wingdings" panose="05000000000000000000" pitchFamily="2" charset="2"/>
              <a:buChar char="v"/>
              <a:defRPr/>
            </a:pPr>
            <a:r>
              <a:rPr lang="ne-NP" sz="3500" dirty="0">
                <a:ea typeface="Calibri"/>
                <a:cs typeface="Kalimati"/>
              </a:rPr>
              <a:t>आफन्तसँग भेट भएको वा नभएको</a:t>
            </a:r>
          </a:p>
          <a:p>
            <a:pPr>
              <a:lnSpc>
                <a:spcPct val="115000"/>
              </a:lnSpc>
              <a:spcBef>
                <a:spcPts val="0"/>
              </a:spcBef>
              <a:spcAft>
                <a:spcPts val="1000"/>
              </a:spcAft>
              <a:buFont typeface="Wingdings" panose="05000000000000000000" pitchFamily="2" charset="2"/>
              <a:buChar char="v"/>
              <a:defRPr/>
            </a:pPr>
            <a:r>
              <a:rPr lang="ne-NP" sz="3500" dirty="0" smtClean="0">
                <a:ea typeface="Calibri"/>
                <a:cs typeface="Kalimati"/>
              </a:rPr>
              <a:t>अभियुक्तले केही कुरा भन्न चाहेमा ध्यान पुर्बक सुन्ने </a:t>
            </a:r>
          </a:p>
          <a:p>
            <a:pPr>
              <a:lnSpc>
                <a:spcPct val="115000"/>
              </a:lnSpc>
              <a:spcBef>
                <a:spcPts val="0"/>
              </a:spcBef>
              <a:spcAft>
                <a:spcPts val="1000"/>
              </a:spcAft>
              <a:buFont typeface="Wingdings" panose="05000000000000000000" pitchFamily="2" charset="2"/>
              <a:buChar char="v"/>
              <a:defRPr/>
            </a:pPr>
            <a:r>
              <a:rPr lang="ne-NP" sz="3500" dirty="0" smtClean="0">
                <a:ea typeface="Calibri"/>
                <a:cs typeface="Kalimati"/>
              </a:rPr>
              <a:t>बिरामी भए उपचारको ब्यवस्था गराउन आदेश दिने</a:t>
            </a:r>
            <a:endParaRPr lang="en-US" sz="3500" dirty="0" smtClean="0">
              <a:ea typeface="Calibri"/>
              <a:cs typeface="Kalimati"/>
            </a:endParaRPr>
          </a:p>
          <a:p>
            <a:pPr>
              <a:lnSpc>
                <a:spcPct val="115000"/>
              </a:lnSpc>
              <a:spcBef>
                <a:spcPts val="0"/>
              </a:spcBef>
              <a:spcAft>
                <a:spcPts val="1000"/>
              </a:spcAft>
              <a:buFont typeface="Wingdings" panose="05000000000000000000" pitchFamily="2" charset="2"/>
              <a:buChar char="v"/>
              <a:defRPr/>
            </a:pPr>
            <a:r>
              <a:rPr lang="ne-NP" sz="3500" dirty="0" smtClean="0">
                <a:ea typeface="Calibri"/>
                <a:cs typeface="Kalimati"/>
              </a:rPr>
              <a:t>अन्य कुनै समस्या भए</a:t>
            </a:r>
          </a:p>
          <a:p>
            <a:pPr>
              <a:lnSpc>
                <a:spcPct val="115000"/>
              </a:lnSpc>
              <a:spcBef>
                <a:spcPts val="0"/>
              </a:spcBef>
              <a:spcAft>
                <a:spcPts val="1000"/>
              </a:spcAft>
              <a:buFont typeface="Wingdings" panose="05000000000000000000" pitchFamily="2" charset="2"/>
              <a:buChar char="v"/>
              <a:defRPr/>
            </a:pPr>
            <a:endParaRPr lang="en-US" sz="3500" dirty="0"/>
          </a:p>
          <a:p>
            <a:endParaRPr lang="en-US" dirty="0"/>
          </a:p>
        </p:txBody>
      </p:sp>
    </p:spTree>
    <p:extLst>
      <p:ext uri="{BB962C8B-B14F-4D97-AF65-F5344CB8AC3E}">
        <p14:creationId xmlns:p14="http://schemas.microsoft.com/office/powerpoint/2010/main" val="21749426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2369" y="604910"/>
            <a:ext cx="11310425" cy="6063175"/>
          </a:xfrm>
        </p:spPr>
        <p:txBody>
          <a:bodyPr>
            <a:normAutofit fontScale="92500" lnSpcReduction="10000"/>
          </a:bodyPr>
          <a:lstStyle/>
          <a:p>
            <a:pPr marL="0" indent="0" algn="ctr">
              <a:buNone/>
            </a:pPr>
            <a:r>
              <a:rPr lang="ne-NP" sz="4000" u="sng" dirty="0" smtClean="0">
                <a:cs typeface="Kalimati" panose="00000400000000000000" pitchFamily="2"/>
              </a:rPr>
              <a:t>म्याद थपको क्रममा देखिने ब्याबहारीक समस्याहरु</a:t>
            </a:r>
            <a:endParaRPr lang="ne-NP" sz="4000" u="sng" dirty="0">
              <a:cs typeface="Kalimati" panose="00000400000000000000" pitchFamily="2"/>
            </a:endParaRPr>
          </a:p>
          <a:p>
            <a:pPr>
              <a:buFont typeface="Wingdings" panose="05000000000000000000" pitchFamily="2" charset="2"/>
              <a:buChar char="v"/>
            </a:pPr>
            <a:r>
              <a:rPr lang="ne-NP" sz="3600" dirty="0" smtClean="0">
                <a:cs typeface="Kalimati" panose="00000400000000000000" pitchFamily="2"/>
              </a:rPr>
              <a:t>बिगतका अनुभव</a:t>
            </a:r>
          </a:p>
          <a:p>
            <a:pPr>
              <a:buFont typeface="Wingdings" panose="05000000000000000000" pitchFamily="2" charset="2"/>
              <a:buChar char="v"/>
            </a:pPr>
            <a:r>
              <a:rPr lang="ne-NP" sz="3600" dirty="0" smtClean="0">
                <a:cs typeface="Kalimati" panose="00000400000000000000" pitchFamily="2"/>
              </a:rPr>
              <a:t>इजलासले ट्याकल गर्नु पर्ने कुरा</a:t>
            </a:r>
          </a:p>
          <a:p>
            <a:pPr>
              <a:buFont typeface="Wingdings" panose="05000000000000000000" pitchFamily="2" charset="2"/>
              <a:buChar char="v"/>
            </a:pPr>
            <a:r>
              <a:rPr lang="ne-NP" sz="3600" dirty="0" smtClean="0">
                <a:cs typeface="Kalimati" panose="00000400000000000000" pitchFamily="2"/>
              </a:rPr>
              <a:t>उच्च राजनितिक ब्यक्तिहरुको मुद्दामा </a:t>
            </a:r>
          </a:p>
          <a:p>
            <a:pPr>
              <a:buFont typeface="Wingdings" panose="05000000000000000000" pitchFamily="2" charset="2"/>
              <a:buChar char="v"/>
            </a:pPr>
            <a:r>
              <a:rPr lang="ne-NP" sz="3600" dirty="0" smtClean="0">
                <a:cs typeface="Kalimati" panose="00000400000000000000" pitchFamily="2"/>
              </a:rPr>
              <a:t>नावालक रहेको मुद्दामा </a:t>
            </a:r>
          </a:p>
          <a:p>
            <a:pPr>
              <a:buFont typeface="Wingdings" panose="05000000000000000000" pitchFamily="2" charset="2"/>
              <a:buChar char="v"/>
            </a:pPr>
            <a:r>
              <a:rPr lang="ne-NP" sz="3600" dirty="0" smtClean="0">
                <a:cs typeface="Kalimati" panose="00000400000000000000" pitchFamily="2"/>
              </a:rPr>
              <a:t>जेष्ठ नागरीक प्रतिबादी रहेको मुद्दा</a:t>
            </a:r>
          </a:p>
          <a:p>
            <a:pPr>
              <a:buFont typeface="Wingdings" panose="05000000000000000000" pitchFamily="2" charset="2"/>
              <a:buChar char="v"/>
            </a:pPr>
            <a:r>
              <a:rPr lang="ne-NP" sz="3600" dirty="0" smtClean="0">
                <a:cs typeface="Kalimati" panose="00000400000000000000" pitchFamily="2"/>
              </a:rPr>
              <a:t>भिडभाडमा पक्राउ पूर्जी र म्याद थप ल्याउने अवस्था </a:t>
            </a:r>
          </a:p>
          <a:p>
            <a:pPr>
              <a:buFont typeface="Wingdings" panose="05000000000000000000" pitchFamily="2" charset="2"/>
              <a:buChar char="v"/>
            </a:pPr>
            <a:r>
              <a:rPr lang="ne-NP" sz="3600" dirty="0" smtClean="0">
                <a:cs typeface="Kalimati" panose="00000400000000000000" pitchFamily="2"/>
              </a:rPr>
              <a:t>आर्थिक अपराध सँग सम्बन्धित मुद्दामा पक्राउ अनुमति र म्याद थप</a:t>
            </a:r>
          </a:p>
          <a:p>
            <a:pPr>
              <a:buFont typeface="Wingdings" panose="05000000000000000000" pitchFamily="2" charset="2"/>
              <a:buChar char="v"/>
            </a:pPr>
            <a:r>
              <a:rPr lang="ne-NP" sz="3600" dirty="0" smtClean="0">
                <a:cs typeface="Kalimati" panose="00000400000000000000" pitchFamily="2"/>
              </a:rPr>
              <a:t>म्याद थप सँग आउने</a:t>
            </a:r>
            <a:r>
              <a:rPr lang="en-US" sz="3600" dirty="0" smtClean="0">
                <a:cs typeface="Kalimati" panose="00000400000000000000" pitchFamily="2"/>
              </a:rPr>
              <a:t> CDR </a:t>
            </a:r>
            <a:r>
              <a:rPr lang="ne-NP" sz="3600" dirty="0" smtClean="0">
                <a:cs typeface="Kalimati" panose="00000400000000000000" pitchFamily="2"/>
              </a:rPr>
              <a:t> र कल डिटेल्स हरु</a:t>
            </a:r>
          </a:p>
          <a:p>
            <a:pPr>
              <a:buFont typeface="Wingdings" panose="05000000000000000000" pitchFamily="2" charset="2"/>
              <a:buChar char="v"/>
            </a:pPr>
            <a:r>
              <a:rPr lang="ne-NP" sz="3600" dirty="0" smtClean="0">
                <a:cs typeface="Kalimati" panose="00000400000000000000" pitchFamily="2"/>
              </a:rPr>
              <a:t>धरै कानून ब्यवसायीहरुले बहस गर्ने अवस्था रहेमा </a:t>
            </a:r>
          </a:p>
          <a:p>
            <a:pPr>
              <a:buFont typeface="Wingdings" panose="05000000000000000000" pitchFamily="2" charset="2"/>
              <a:buChar char="v"/>
            </a:pPr>
            <a:endParaRPr lang="en-US" sz="3600" dirty="0">
              <a:cs typeface="Kalimati" panose="00000400000000000000" pitchFamily="2"/>
            </a:endParaRPr>
          </a:p>
        </p:txBody>
      </p:sp>
    </p:spTree>
    <p:extLst>
      <p:ext uri="{BB962C8B-B14F-4D97-AF65-F5344CB8AC3E}">
        <p14:creationId xmlns:p14="http://schemas.microsoft.com/office/powerpoint/2010/main" val="1946643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2708" y="576774"/>
            <a:ext cx="11114649" cy="5978769"/>
          </a:xfrm>
        </p:spPr>
        <p:txBody>
          <a:bodyPr>
            <a:normAutofit/>
          </a:bodyPr>
          <a:lstStyle/>
          <a:p>
            <a:pPr marL="0" indent="0" algn="just">
              <a:buNone/>
            </a:pPr>
            <a:endParaRPr lang="ne-NP" sz="3600" dirty="0" smtClean="0">
              <a:cs typeface="Kalimati" panose="00000400000000000000" pitchFamily="2"/>
            </a:endParaRPr>
          </a:p>
          <a:p>
            <a:pPr marL="0" indent="0" algn="just">
              <a:buNone/>
            </a:pPr>
            <a:endParaRPr lang="ne-NP" sz="3600" dirty="0" smtClean="0">
              <a:cs typeface="Kalimati" panose="00000400000000000000" pitchFamily="2"/>
            </a:endParaRPr>
          </a:p>
          <a:p>
            <a:pPr algn="just">
              <a:buFont typeface="Wingdings" panose="05000000000000000000" pitchFamily="2" charset="2"/>
              <a:buChar char="v"/>
            </a:pPr>
            <a:r>
              <a:rPr lang="ne-NP" sz="3600" dirty="0" smtClean="0">
                <a:cs typeface="Kalimati" panose="00000400000000000000" pitchFamily="2"/>
              </a:rPr>
              <a:t>“अनुसन्धानको लागी पक्राउ परेको ब्यक्तिलाई थुनामा राखी तहकिकात गर्नु पर्ने आधार र कारण खुलाई अनुमति माग गर्नु पर्ने र माग गरीएको आधार र कारण सन्तोषजनक भए नभएको बिचार गरेर मात्र थुनामा राखि तहकिकात गर्न अनुमति दिनू पर्ने” </a:t>
            </a:r>
            <a:r>
              <a:rPr lang="ne-NP" dirty="0" smtClean="0">
                <a:cs typeface="Kalimati" panose="00000400000000000000" pitchFamily="2"/>
              </a:rPr>
              <a:t>(मुक्तिनारायण प्रधानको हकमा उपेन्द्र कुमार प्रधान बि. गृह मन्त्रालय) </a:t>
            </a:r>
          </a:p>
          <a:p>
            <a:pPr marL="0" indent="0" algn="just">
              <a:buNone/>
            </a:pPr>
            <a:endParaRPr lang="ne-NP" dirty="0">
              <a:cs typeface="Kalimati" panose="00000400000000000000" pitchFamily="2"/>
            </a:endParaRPr>
          </a:p>
        </p:txBody>
      </p:sp>
    </p:spTree>
    <p:extLst>
      <p:ext uri="{BB962C8B-B14F-4D97-AF65-F5344CB8AC3E}">
        <p14:creationId xmlns:p14="http://schemas.microsoft.com/office/powerpoint/2010/main" val="4085246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963" y="492369"/>
            <a:ext cx="11366695" cy="5950634"/>
          </a:xfrm>
        </p:spPr>
        <p:txBody>
          <a:bodyPr>
            <a:normAutofit/>
          </a:bodyPr>
          <a:lstStyle/>
          <a:p>
            <a:pPr marL="0" indent="0" algn="ctr">
              <a:buNone/>
            </a:pPr>
            <a:r>
              <a:rPr lang="ne-NP" sz="4000" u="sng" dirty="0" smtClean="0">
                <a:cs typeface="Kalimati" panose="00000400000000000000" pitchFamily="2"/>
              </a:rPr>
              <a:t>प्रतिबादीको बयान</a:t>
            </a:r>
            <a:endParaRPr lang="ne-NP" sz="4000" u="sng" dirty="0">
              <a:cs typeface="Kalimati" panose="00000400000000000000" pitchFamily="2"/>
            </a:endParaRPr>
          </a:p>
          <a:p>
            <a:pPr>
              <a:buFont typeface="Wingdings" panose="05000000000000000000" pitchFamily="2" charset="2"/>
              <a:buChar char="v"/>
            </a:pPr>
            <a:r>
              <a:rPr lang="ne-NP" sz="3600" dirty="0" smtClean="0">
                <a:cs typeface="Kalimati" panose="00000400000000000000" pitchFamily="2"/>
              </a:rPr>
              <a:t>अनुसन्धानको बयान</a:t>
            </a:r>
          </a:p>
          <a:p>
            <a:pPr>
              <a:buFont typeface="Wingdings" panose="05000000000000000000" pitchFamily="2" charset="2"/>
              <a:buChar char="v"/>
            </a:pPr>
            <a:r>
              <a:rPr lang="ne-NP" sz="3600" dirty="0" smtClean="0">
                <a:cs typeface="Kalimati" panose="00000400000000000000" pitchFamily="2"/>
              </a:rPr>
              <a:t>अदालतको बयान </a:t>
            </a:r>
          </a:p>
          <a:p>
            <a:pPr>
              <a:buFont typeface="Wingdings" panose="05000000000000000000" pitchFamily="2" charset="2"/>
              <a:buChar char="v"/>
            </a:pPr>
            <a:r>
              <a:rPr lang="ne-NP" sz="3600" dirty="0" smtClean="0">
                <a:cs typeface="Kalimati" panose="00000400000000000000" pitchFamily="2"/>
              </a:rPr>
              <a:t>ततिम्बा बयान</a:t>
            </a:r>
          </a:p>
          <a:p>
            <a:pPr marL="0" indent="0" algn="ctr">
              <a:buNone/>
            </a:pPr>
            <a:r>
              <a:rPr lang="ne-NP" sz="3600" u="sng" dirty="0" smtClean="0">
                <a:cs typeface="Kalimati" panose="00000400000000000000" pitchFamily="2"/>
              </a:rPr>
              <a:t>अनुसन्धानको बयान(दफा १७)</a:t>
            </a:r>
          </a:p>
          <a:p>
            <a:pPr>
              <a:buFont typeface="Wingdings" panose="05000000000000000000" pitchFamily="2" charset="2"/>
              <a:buChar char="v"/>
            </a:pPr>
            <a:r>
              <a:rPr lang="ne-NP" sz="3600" dirty="0" smtClean="0">
                <a:cs typeface="Kalimati" panose="00000400000000000000" pitchFamily="2"/>
              </a:rPr>
              <a:t>अनुसूची-१ र २ अन्तर्गतका कसुरको सम्बन्धमा अनुसन्धान अधिकृतले सरकारी वकिल समक्ष अभियुक्तको बयान लिनेछ।</a:t>
            </a:r>
          </a:p>
          <a:p>
            <a:pPr>
              <a:buFont typeface="Wingdings" panose="05000000000000000000" pitchFamily="2" charset="2"/>
              <a:buChar char="v"/>
            </a:pPr>
            <a:r>
              <a:rPr lang="ne-NP" sz="3600" dirty="0" smtClean="0">
                <a:cs typeface="Kalimati" panose="00000400000000000000" pitchFamily="2"/>
              </a:rPr>
              <a:t>बयान लिंदा कसूरको सम्बन्धमा खुलाउनु पर्ने आवश्यक कुरा सोध्ने अधिकार सरकारी वकिललाई हुने।</a:t>
            </a:r>
            <a:endParaRPr lang="en-US" sz="3600" dirty="0">
              <a:cs typeface="Kalimati" panose="00000400000000000000" pitchFamily="2"/>
            </a:endParaRPr>
          </a:p>
        </p:txBody>
      </p:sp>
    </p:spTree>
    <p:extLst>
      <p:ext uri="{BB962C8B-B14F-4D97-AF65-F5344CB8AC3E}">
        <p14:creationId xmlns:p14="http://schemas.microsoft.com/office/powerpoint/2010/main" val="25977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7625" y="506437"/>
            <a:ext cx="11648049" cy="6020972"/>
          </a:xfrm>
        </p:spPr>
        <p:txBody>
          <a:bodyPr>
            <a:normAutofit/>
          </a:bodyPr>
          <a:lstStyle/>
          <a:p>
            <a:pPr marL="0" indent="0" algn="ctr">
              <a:buNone/>
            </a:pPr>
            <a:r>
              <a:rPr lang="ne-NP" sz="4000" u="sng" dirty="0" smtClean="0">
                <a:cs typeface="Kalimati" panose="00000400000000000000" pitchFamily="2"/>
              </a:rPr>
              <a:t>अदालतको बयान</a:t>
            </a:r>
            <a:endParaRPr lang="en-US" sz="4000" u="sng" dirty="0" smtClean="0">
              <a:cs typeface="Kalimati" panose="00000400000000000000" pitchFamily="2"/>
            </a:endParaRPr>
          </a:p>
          <a:p>
            <a:pPr lvl="0">
              <a:buFont typeface="Wingdings" panose="05000000000000000000" pitchFamily="2" charset="2"/>
              <a:buChar char="v"/>
            </a:pPr>
            <a:r>
              <a:rPr lang="en-US" sz="3600" dirty="0">
                <a:latin typeface="Times New Roman" panose="02020603050405020304" pitchFamily="18" charset="0"/>
                <a:cs typeface="Times New Roman" panose="02020603050405020304" pitchFamily="18" charset="0"/>
              </a:rPr>
              <a:t>International  </a:t>
            </a:r>
            <a:r>
              <a:rPr lang="en-US" sz="3600" dirty="0" err="1">
                <a:latin typeface="Times New Roman" panose="02020603050405020304" pitchFamily="18" charset="0"/>
                <a:cs typeface="Times New Roman" panose="02020603050405020304" pitchFamily="18" charset="0"/>
              </a:rPr>
              <a:t>Covenent</a:t>
            </a:r>
            <a:r>
              <a:rPr lang="en-US" sz="3600" dirty="0">
                <a:latin typeface="Times New Roman" panose="02020603050405020304" pitchFamily="18" charset="0"/>
                <a:cs typeface="Times New Roman" panose="02020603050405020304" pitchFamily="18" charset="0"/>
              </a:rPr>
              <a:t> on Civil and Political Rights</a:t>
            </a:r>
            <a:r>
              <a:rPr lang="ne-NP" sz="3600" dirty="0">
                <a:latin typeface="Times New Roman" panose="02020603050405020304" pitchFamily="18" charset="0"/>
              </a:rPr>
              <a:t>,</a:t>
            </a:r>
            <a:r>
              <a:rPr lang="en-US" sz="3600" dirty="0">
                <a:latin typeface="Times New Roman" panose="02020603050405020304" pitchFamily="18" charset="0"/>
                <a:cs typeface="Times New Roman" panose="02020603050405020304" pitchFamily="18" charset="0"/>
              </a:rPr>
              <a:t> 1966</a:t>
            </a:r>
            <a:r>
              <a:rPr lang="ne-NP" sz="3600" dirty="0">
                <a:latin typeface="Times New Roman" panose="02020603050405020304" pitchFamily="18" charset="0"/>
              </a:rPr>
              <a:t> </a:t>
            </a:r>
            <a:r>
              <a:rPr lang="ne-NP" sz="3600" dirty="0">
                <a:cs typeface="Kalimati" panose="00000400000000000000" pitchFamily="2"/>
              </a:rPr>
              <a:t>(नागरिक तथा राजनितिक अधिकार सम्वन्धि </a:t>
            </a:r>
            <a:r>
              <a:rPr lang="ne-NP" sz="3600" dirty="0" smtClean="0">
                <a:cs typeface="Kalimati" panose="00000400000000000000" pitchFamily="2"/>
              </a:rPr>
              <a:t>अनुवन्ध)</a:t>
            </a:r>
            <a:endParaRPr lang="en-US" sz="3600" dirty="0" smtClean="0">
              <a:cs typeface="Kalimati" panose="00000400000000000000" pitchFamily="2"/>
            </a:endParaRPr>
          </a:p>
          <a:p>
            <a:pPr lvl="0">
              <a:buFont typeface="Wingdings" panose="05000000000000000000" pitchFamily="2" charset="2"/>
              <a:buChar char="v"/>
            </a:pPr>
            <a:r>
              <a:rPr lang="ne-NP" sz="3600" dirty="0" smtClean="0">
                <a:cs typeface="Kalimati" panose="00000400000000000000" pitchFamily="2"/>
              </a:rPr>
              <a:t>स्वेच्छाचारीरूपले </a:t>
            </a:r>
            <a:r>
              <a:rPr lang="ne-NP" sz="3600" dirty="0">
                <a:cs typeface="Kalimati" panose="00000400000000000000" pitchFamily="2"/>
              </a:rPr>
              <a:t>पक्राउ गर्ने र </a:t>
            </a:r>
            <a:r>
              <a:rPr lang="ne-NP" sz="3600" dirty="0" smtClean="0">
                <a:cs typeface="Kalimati" panose="00000400000000000000" pitchFamily="2"/>
              </a:rPr>
              <a:t>थुनामा </a:t>
            </a:r>
            <a:r>
              <a:rPr lang="ne-NP" sz="3600" dirty="0">
                <a:cs typeface="Kalimati" panose="00000400000000000000" pitchFamily="2"/>
              </a:rPr>
              <a:t>राख्न </a:t>
            </a:r>
            <a:r>
              <a:rPr lang="ne-NP" sz="3600" dirty="0" smtClean="0">
                <a:cs typeface="Kalimati" panose="00000400000000000000" pitchFamily="2"/>
              </a:rPr>
              <a:t>नपाईने</a:t>
            </a:r>
            <a:r>
              <a:rPr lang="en-US" sz="3600" dirty="0" smtClean="0">
                <a:cs typeface="Kalimati" panose="00000400000000000000" pitchFamily="2"/>
              </a:rPr>
              <a:t> </a:t>
            </a:r>
          </a:p>
          <a:p>
            <a:pPr lvl="0">
              <a:buFont typeface="Wingdings" panose="05000000000000000000" pitchFamily="2" charset="2"/>
              <a:buChar char="v"/>
            </a:pPr>
            <a:r>
              <a:rPr lang="ne-NP" sz="3600" dirty="0" smtClean="0">
                <a:cs typeface="Kalimati" panose="00000400000000000000" pitchFamily="2"/>
              </a:rPr>
              <a:t>गैरकानूनी </a:t>
            </a:r>
            <a:r>
              <a:rPr lang="ne-NP" sz="3600" dirty="0">
                <a:cs typeface="Kalimati" panose="00000400000000000000" pitchFamily="2"/>
              </a:rPr>
              <a:t>पक्राउ परी थुनामा र</a:t>
            </a:r>
            <a:r>
              <a:rPr lang="ne-NP" sz="3600" dirty="0" smtClean="0">
                <a:cs typeface="Kalimati" panose="00000400000000000000" pitchFamily="2"/>
              </a:rPr>
              <a:t>हेकालाई </a:t>
            </a:r>
            <a:r>
              <a:rPr lang="ne-NP" sz="3600" dirty="0">
                <a:cs typeface="Kalimati" panose="00000400000000000000" pitchFamily="2"/>
              </a:rPr>
              <a:t>क्षतिपूर्ति</a:t>
            </a:r>
            <a:endParaRPr lang="en-US" sz="3600" dirty="0">
              <a:cs typeface="Kalimati" panose="00000400000000000000" pitchFamily="2"/>
            </a:endParaRPr>
          </a:p>
          <a:p>
            <a:pPr>
              <a:buFont typeface="Wingdings" panose="05000000000000000000" pitchFamily="2" charset="2"/>
              <a:buChar char="v"/>
            </a:pPr>
            <a:r>
              <a:rPr lang="ne-NP" sz="3600" dirty="0" smtClean="0">
                <a:cs typeface="Kalimati" panose="00000400000000000000" pitchFamily="2"/>
              </a:rPr>
              <a:t>दोषी </a:t>
            </a:r>
            <a:r>
              <a:rPr lang="ne-NP" sz="3600" dirty="0">
                <a:cs typeface="Kalimati" panose="00000400000000000000" pitchFamily="2"/>
              </a:rPr>
              <a:t>ठहर नभएसम्म </a:t>
            </a:r>
            <a:r>
              <a:rPr lang="ne-NP" sz="3600" dirty="0" smtClean="0">
                <a:cs typeface="Kalimati" panose="00000400000000000000" pitchFamily="2"/>
              </a:rPr>
              <a:t>निर्दोष</a:t>
            </a:r>
          </a:p>
          <a:p>
            <a:pPr>
              <a:buFont typeface="Wingdings" panose="05000000000000000000" pitchFamily="2" charset="2"/>
              <a:buChar char="v"/>
            </a:pPr>
            <a:r>
              <a:rPr lang="ne-NP" sz="3600" dirty="0" smtClean="0">
                <a:cs typeface="Kalimati" panose="00000400000000000000" pitchFamily="2"/>
              </a:rPr>
              <a:t>वुझ्ने </a:t>
            </a:r>
            <a:r>
              <a:rPr lang="ne-NP" sz="3600" dirty="0">
                <a:cs typeface="Kalimati" panose="00000400000000000000" pitchFamily="2"/>
              </a:rPr>
              <a:t>भाषामा जानकारी </a:t>
            </a:r>
            <a:r>
              <a:rPr lang="ne-NP" sz="3600" dirty="0" smtClean="0">
                <a:cs typeface="Kalimati" panose="00000400000000000000" pitchFamily="2"/>
              </a:rPr>
              <a:t>पाउने/प्रतिरक्षाका </a:t>
            </a:r>
            <a:r>
              <a:rPr lang="ne-NP" sz="3600" dirty="0">
                <a:cs typeface="Kalimati" panose="00000400000000000000" pitchFamily="2"/>
              </a:rPr>
              <a:t>लागि समय / </a:t>
            </a:r>
            <a:r>
              <a:rPr lang="ne-NP" sz="3600" dirty="0" smtClean="0">
                <a:cs typeface="Kalimati" panose="00000400000000000000" pitchFamily="2"/>
              </a:rPr>
              <a:t>कानून ब्यवसायी संग परामर्स</a:t>
            </a:r>
            <a:endParaRPr lang="en-US" sz="3600" dirty="0">
              <a:cs typeface="Kalimati" panose="00000400000000000000" pitchFamily="2"/>
            </a:endParaRPr>
          </a:p>
          <a:p>
            <a:pPr marL="0" indent="0">
              <a:buNone/>
            </a:pPr>
            <a:endParaRPr lang="en-US" sz="3600" u="sng" dirty="0">
              <a:cs typeface="Kalimati" panose="00000400000000000000" pitchFamily="2"/>
            </a:endParaRPr>
          </a:p>
        </p:txBody>
      </p:sp>
    </p:spTree>
    <p:extLst>
      <p:ext uri="{BB962C8B-B14F-4D97-AF65-F5344CB8AC3E}">
        <p14:creationId xmlns:p14="http://schemas.microsoft.com/office/powerpoint/2010/main" val="833687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600" u="sng" dirty="0">
                <a:latin typeface="Times New Roman" panose="02020603050405020304" pitchFamily="18" charset="0"/>
                <a:cs typeface="Times New Roman" panose="02020603050405020304" pitchFamily="18" charset="0"/>
              </a:rPr>
              <a:t>Miranda Vs Arizona Case (US SC 1966)</a:t>
            </a:r>
            <a:endParaRPr lang="en-US" sz="3600" dirty="0">
              <a:latin typeface="Times New Roman" panose="02020603050405020304" pitchFamily="18" charset="0"/>
              <a:cs typeface="Times New Roman" panose="02020603050405020304" pitchFamily="18" charset="0"/>
            </a:endParaRPr>
          </a:p>
          <a:p>
            <a:pPr lvl="0"/>
            <a:r>
              <a:rPr lang="ne-NP" sz="3600" dirty="0" smtClean="0">
                <a:cs typeface="Kalimati" panose="00000400000000000000" pitchFamily="2"/>
              </a:rPr>
              <a:t>कानून व्यवसायी </a:t>
            </a:r>
            <a:r>
              <a:rPr lang="ne-NP" sz="3600" dirty="0">
                <a:cs typeface="Kalimati" panose="00000400000000000000" pitchFamily="2"/>
              </a:rPr>
              <a:t>राख्ने अवसर नदिएको भन्ने सवाल</a:t>
            </a:r>
            <a:endParaRPr lang="en-US" sz="3600" dirty="0">
              <a:cs typeface="Kalimati" panose="00000400000000000000" pitchFamily="2"/>
            </a:endParaRPr>
          </a:p>
          <a:p>
            <a:pPr lvl="0"/>
            <a:r>
              <a:rPr lang="ne-NP" sz="3600" dirty="0">
                <a:cs typeface="Kalimati" panose="00000400000000000000" pitchFamily="2"/>
              </a:rPr>
              <a:t>चुप लाग्ने अधिकार </a:t>
            </a:r>
            <a:endParaRPr lang="en-US" sz="3600" dirty="0">
              <a:cs typeface="Kalimati" panose="00000400000000000000" pitchFamily="2"/>
            </a:endParaRPr>
          </a:p>
          <a:p>
            <a:pPr lvl="0"/>
            <a:r>
              <a:rPr lang="en-US" sz="3600" dirty="0" smtClean="0">
                <a:cs typeface="Kalimati" panose="00000400000000000000" pitchFamily="2"/>
              </a:rPr>
              <a:t>Right to Council </a:t>
            </a:r>
            <a:r>
              <a:rPr lang="ne-NP" sz="3600" dirty="0">
                <a:cs typeface="Kalimati" panose="00000400000000000000" pitchFamily="2"/>
              </a:rPr>
              <a:t>को अधिकार </a:t>
            </a:r>
            <a:endParaRPr lang="en-US" sz="3600" dirty="0">
              <a:cs typeface="Kalimati" panose="00000400000000000000" pitchFamily="2"/>
            </a:endParaRPr>
          </a:p>
          <a:p>
            <a:pPr marL="0" lvl="0" indent="0">
              <a:buNone/>
            </a:pPr>
            <a:endParaRPr lang="en-US" sz="3600" dirty="0">
              <a:cs typeface="Kalimati" panose="00000400000000000000" pitchFamily="2"/>
            </a:endParaRPr>
          </a:p>
        </p:txBody>
      </p:sp>
    </p:spTree>
    <p:extLst>
      <p:ext uri="{BB962C8B-B14F-4D97-AF65-F5344CB8AC3E}">
        <p14:creationId xmlns:p14="http://schemas.microsoft.com/office/powerpoint/2010/main" val="375807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6098" y="436098"/>
            <a:ext cx="11535508" cy="6077244"/>
          </a:xfrm>
        </p:spPr>
        <p:txBody>
          <a:bodyPr>
            <a:normAutofit/>
          </a:bodyPr>
          <a:lstStyle/>
          <a:p>
            <a:pPr marL="0" lvl="0" indent="0" algn="ctr">
              <a:buNone/>
            </a:pPr>
            <a:r>
              <a:rPr lang="ne-NP" sz="4300" dirty="0" smtClean="0">
                <a:cs typeface="Kalimati" panose="00000400000000000000" pitchFamily="2"/>
              </a:rPr>
              <a:t>बयानको तयारी</a:t>
            </a:r>
          </a:p>
          <a:p>
            <a:pPr lvl="0"/>
            <a:endParaRPr lang="ne-NP" dirty="0"/>
          </a:p>
          <a:p>
            <a:pPr lvl="0"/>
            <a:r>
              <a:rPr lang="ne-NP" sz="3600" dirty="0" smtClean="0">
                <a:cs typeface="Kalimati" panose="00000400000000000000" pitchFamily="2"/>
              </a:rPr>
              <a:t>प्रतिवादी </a:t>
            </a:r>
            <a:r>
              <a:rPr lang="ne-NP" sz="3600" dirty="0">
                <a:cs typeface="Kalimati" panose="00000400000000000000" pitchFamily="2"/>
              </a:rPr>
              <a:t>आफै वा </a:t>
            </a:r>
            <a:r>
              <a:rPr lang="ne-NP" sz="3600" dirty="0" smtClean="0">
                <a:cs typeface="Kalimati" panose="00000400000000000000" pitchFamily="2"/>
              </a:rPr>
              <a:t>अभियोगसाथ </a:t>
            </a:r>
            <a:r>
              <a:rPr lang="ne-NP" sz="3600" dirty="0">
                <a:cs typeface="Kalimati" panose="00000400000000000000" pitchFamily="2"/>
              </a:rPr>
              <a:t>वा पक्राउ भै आएमा सम्वन्धित इजलासमा पेश गर्ने,</a:t>
            </a:r>
            <a:endParaRPr lang="en-US" sz="3600" dirty="0">
              <a:cs typeface="Kalimati" panose="00000400000000000000" pitchFamily="2"/>
            </a:endParaRPr>
          </a:p>
          <a:p>
            <a:pPr lvl="0"/>
            <a:r>
              <a:rPr lang="ne-NP" sz="3600" dirty="0">
                <a:cs typeface="Kalimati" panose="00000400000000000000" pitchFamily="2"/>
              </a:rPr>
              <a:t>निवेदन, अभियोग दर्ता भए नभएको हेर्नुपर्ने,</a:t>
            </a:r>
            <a:endParaRPr lang="en-US" sz="3600" dirty="0">
              <a:cs typeface="Kalimati" panose="00000400000000000000" pitchFamily="2"/>
            </a:endParaRPr>
          </a:p>
          <a:p>
            <a:pPr lvl="0"/>
            <a:r>
              <a:rPr lang="ne-NP" sz="3600" dirty="0">
                <a:cs typeface="Kalimati" panose="00000400000000000000" pitchFamily="2"/>
              </a:rPr>
              <a:t>सम्वन्धित मिसिल अध्ययन गर्ने (छिनुवा तथा विचाराधिन),</a:t>
            </a:r>
            <a:endParaRPr lang="en-US" sz="3600" dirty="0">
              <a:cs typeface="Kalimati" panose="00000400000000000000" pitchFamily="2"/>
            </a:endParaRPr>
          </a:p>
          <a:p>
            <a:pPr lvl="0"/>
            <a:r>
              <a:rPr lang="ne-NP" sz="3600" dirty="0">
                <a:cs typeface="Kalimati" panose="00000400000000000000" pitchFamily="2"/>
              </a:rPr>
              <a:t>वन्द इजलासवाट हेर्नुपर्ने हो वा खुला </a:t>
            </a:r>
            <a:r>
              <a:rPr lang="ne-NP" sz="3600" dirty="0" smtClean="0">
                <a:cs typeface="Kalimati" panose="00000400000000000000" pitchFamily="2"/>
              </a:rPr>
              <a:t>इजलासबाट हो सो यकिन गर्ने</a:t>
            </a:r>
            <a:endParaRPr lang="en-US" sz="3600" dirty="0">
              <a:cs typeface="Kalimati" panose="00000400000000000000" pitchFamily="2"/>
            </a:endParaRPr>
          </a:p>
          <a:p>
            <a:pPr lvl="0"/>
            <a:r>
              <a:rPr lang="ne-NP" sz="3600" dirty="0">
                <a:cs typeface="Kalimati" panose="00000400000000000000" pitchFamily="2"/>
              </a:rPr>
              <a:t>प्रतिवादीको नाम, थर भिड्छ वा भिड्दैन</a:t>
            </a:r>
            <a:r>
              <a:rPr lang="ne-NP" sz="3600" dirty="0" smtClean="0">
                <a:cs typeface="Kalimati" panose="00000400000000000000" pitchFamily="2"/>
              </a:rPr>
              <a:t>,</a:t>
            </a:r>
          </a:p>
          <a:p>
            <a:pPr lvl="0"/>
            <a:r>
              <a:rPr lang="ne-NP" sz="3600" dirty="0" smtClean="0">
                <a:cs typeface="Kalimati" panose="00000400000000000000" pitchFamily="2"/>
              </a:rPr>
              <a:t>बयान सुरु नभएसम्म सुरक्षाकर्मी को जिम्मा लगाउने</a:t>
            </a:r>
            <a:endParaRPr lang="en-US" sz="3600" dirty="0">
              <a:cs typeface="Kalimati" panose="00000400000000000000" pitchFamily="2"/>
            </a:endParaRPr>
          </a:p>
          <a:p>
            <a:endParaRPr lang="en-US" dirty="0">
              <a:cs typeface="Kalimati" panose="00000400000000000000" pitchFamily="2"/>
            </a:endParaRPr>
          </a:p>
        </p:txBody>
      </p:sp>
    </p:spTree>
    <p:extLst>
      <p:ext uri="{BB962C8B-B14F-4D97-AF65-F5344CB8AC3E}">
        <p14:creationId xmlns:p14="http://schemas.microsoft.com/office/powerpoint/2010/main" val="12164009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0843"/>
            <a:ext cx="10515600" cy="5586120"/>
          </a:xfrm>
        </p:spPr>
        <p:txBody>
          <a:bodyPr/>
          <a:lstStyle/>
          <a:p>
            <a:pPr lvl="0"/>
            <a:endParaRPr lang="ne-NP" dirty="0" smtClean="0">
              <a:cs typeface="Kalimati" panose="00000400000000000000" pitchFamily="2"/>
            </a:endParaRPr>
          </a:p>
          <a:p>
            <a:pPr lvl="0">
              <a:buFont typeface="Wingdings" panose="05000000000000000000" pitchFamily="2" charset="2"/>
              <a:buChar char="v"/>
            </a:pPr>
            <a:r>
              <a:rPr lang="ne-NP" sz="3600" dirty="0" smtClean="0">
                <a:cs typeface="Kalimati" panose="00000400000000000000" pitchFamily="2"/>
              </a:rPr>
              <a:t>प्रतिवादी </a:t>
            </a:r>
            <a:r>
              <a:rPr lang="ne-NP" sz="3600" dirty="0">
                <a:cs typeface="Kalimati" panose="00000400000000000000" pitchFamily="2"/>
              </a:rPr>
              <a:t>अशक्त वा विरामी भए सुविधा हुने ठाउँमा राख्न लगाउने,</a:t>
            </a:r>
            <a:endParaRPr lang="en-US" sz="3600" dirty="0">
              <a:cs typeface="Kalimati" panose="00000400000000000000" pitchFamily="2"/>
            </a:endParaRPr>
          </a:p>
          <a:p>
            <a:pPr lvl="0">
              <a:buFont typeface="Wingdings" panose="05000000000000000000" pitchFamily="2" charset="2"/>
              <a:buChar char="v"/>
            </a:pPr>
            <a:r>
              <a:rPr lang="ne-NP" sz="3600" dirty="0">
                <a:cs typeface="Kalimati" panose="00000400000000000000" pitchFamily="2"/>
              </a:rPr>
              <a:t>वयान गर्ने प्रतिवादीलाई अन्य मुद्दामा कैद जरिवाना छ वा छैन भिडाउने,</a:t>
            </a:r>
            <a:endParaRPr lang="en-US" sz="3600" dirty="0">
              <a:cs typeface="Kalimati" panose="00000400000000000000" pitchFamily="2"/>
            </a:endParaRPr>
          </a:p>
          <a:p>
            <a:pPr lvl="0">
              <a:buFont typeface="Wingdings" panose="05000000000000000000" pitchFamily="2" charset="2"/>
              <a:buChar char="v"/>
            </a:pPr>
            <a:r>
              <a:rPr lang="ne-NP" sz="3600" dirty="0">
                <a:cs typeface="Kalimati" panose="00000400000000000000" pitchFamily="2"/>
              </a:rPr>
              <a:t>सरकारी वकिललाई सुचना दिने,</a:t>
            </a:r>
            <a:endParaRPr lang="en-US" sz="3600" dirty="0">
              <a:cs typeface="Kalimati" panose="00000400000000000000" pitchFamily="2"/>
            </a:endParaRPr>
          </a:p>
          <a:p>
            <a:pPr lvl="0">
              <a:buFont typeface="Wingdings" panose="05000000000000000000" pitchFamily="2" charset="2"/>
              <a:buChar char="v"/>
            </a:pPr>
            <a:r>
              <a:rPr lang="ne-NP" sz="3600" dirty="0">
                <a:cs typeface="Kalimati" panose="00000400000000000000" pitchFamily="2"/>
              </a:rPr>
              <a:t>कानून ब्यवसायीसंग सल्लाह गर्ने व्यवस्था मिलाई दिने,</a:t>
            </a:r>
            <a:endParaRPr lang="en-US" sz="3600" dirty="0">
              <a:cs typeface="Kalimati" panose="00000400000000000000" pitchFamily="2"/>
            </a:endParaRPr>
          </a:p>
          <a:p>
            <a:pPr marL="0" lvl="0" indent="0">
              <a:buNone/>
            </a:pPr>
            <a:endParaRPr lang="en-US" dirty="0">
              <a:cs typeface="Kalimati" panose="00000400000000000000" pitchFamily="2"/>
            </a:endParaRPr>
          </a:p>
          <a:p>
            <a:endParaRPr lang="en-US" dirty="0"/>
          </a:p>
        </p:txBody>
      </p:sp>
    </p:spTree>
    <p:extLst>
      <p:ext uri="{BB962C8B-B14F-4D97-AF65-F5344CB8AC3E}">
        <p14:creationId xmlns:p14="http://schemas.microsoft.com/office/powerpoint/2010/main" val="18436152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8302"/>
            <a:ext cx="10515600" cy="5698661"/>
          </a:xfrm>
        </p:spPr>
        <p:txBody>
          <a:bodyPr>
            <a:normAutofit/>
          </a:bodyPr>
          <a:lstStyle/>
          <a:p>
            <a:pPr marL="0" indent="0" algn="ctr">
              <a:buNone/>
            </a:pPr>
            <a:r>
              <a:rPr lang="ne-NP" sz="4000" u="sng" dirty="0" smtClean="0">
                <a:cs typeface="Kalimati" panose="00000400000000000000" pitchFamily="2"/>
              </a:rPr>
              <a:t>बयान</a:t>
            </a:r>
            <a:endParaRPr lang="ne-NP" sz="4000" u="sng" dirty="0">
              <a:cs typeface="Kalimati" panose="00000400000000000000" pitchFamily="2"/>
            </a:endParaRPr>
          </a:p>
          <a:p>
            <a:pPr>
              <a:buFont typeface="Wingdings" panose="05000000000000000000" pitchFamily="2" charset="2"/>
              <a:buChar char="v"/>
            </a:pPr>
            <a:r>
              <a:rPr lang="ne-NP" sz="4000" dirty="0" smtClean="0">
                <a:cs typeface="Kalimati" panose="00000400000000000000" pitchFamily="2"/>
              </a:rPr>
              <a:t>परिचय खण्ड</a:t>
            </a:r>
          </a:p>
          <a:p>
            <a:pPr>
              <a:buFont typeface="Wingdings" panose="05000000000000000000" pitchFamily="2" charset="2"/>
              <a:buChar char="v"/>
            </a:pPr>
            <a:r>
              <a:rPr lang="ne-NP" sz="4000" dirty="0" smtClean="0">
                <a:cs typeface="Kalimati" panose="00000400000000000000" pitchFamily="2"/>
              </a:rPr>
              <a:t>तथ्य खण्ड</a:t>
            </a:r>
          </a:p>
          <a:p>
            <a:pPr>
              <a:buFont typeface="Wingdings" panose="05000000000000000000" pitchFamily="2" charset="2"/>
              <a:buChar char="v"/>
            </a:pPr>
            <a:r>
              <a:rPr lang="ne-NP" sz="4000" dirty="0" smtClean="0">
                <a:cs typeface="Kalimati" panose="00000400000000000000" pitchFamily="2"/>
              </a:rPr>
              <a:t>अभियोगदाबी</a:t>
            </a:r>
          </a:p>
          <a:p>
            <a:pPr>
              <a:buFont typeface="Wingdings" panose="05000000000000000000" pitchFamily="2" charset="2"/>
              <a:buChar char="v"/>
            </a:pPr>
            <a:r>
              <a:rPr lang="ne-NP" sz="4000" dirty="0" smtClean="0">
                <a:cs typeface="Kalimati" panose="00000400000000000000" pitchFamily="2"/>
              </a:rPr>
              <a:t>प्रतिबादीको </a:t>
            </a:r>
            <a:r>
              <a:rPr lang="ne-NP" sz="4000" dirty="0" smtClean="0">
                <a:cs typeface="Kalimati" panose="00000400000000000000" pitchFamily="2"/>
              </a:rPr>
              <a:t>साक्षी प्रमाण </a:t>
            </a:r>
            <a:endParaRPr lang="ne-NP" sz="4000" dirty="0" smtClean="0">
              <a:cs typeface="Kalimati" panose="00000400000000000000" pitchFamily="2"/>
            </a:endParaRPr>
          </a:p>
          <a:p>
            <a:pPr>
              <a:buFont typeface="Wingdings" panose="05000000000000000000" pitchFamily="2" charset="2"/>
              <a:buChar char="v"/>
            </a:pPr>
            <a:r>
              <a:rPr lang="ne-NP" sz="4000" dirty="0" smtClean="0">
                <a:cs typeface="Kalimati" panose="00000400000000000000" pitchFamily="2"/>
              </a:rPr>
              <a:t>भन्न बाँकी केही भए</a:t>
            </a:r>
            <a:endParaRPr lang="en-US" sz="4000" dirty="0">
              <a:cs typeface="Kalimati" panose="00000400000000000000" pitchFamily="2"/>
            </a:endParaRPr>
          </a:p>
        </p:txBody>
      </p:sp>
    </p:spTree>
    <p:extLst>
      <p:ext uri="{BB962C8B-B14F-4D97-AF65-F5344CB8AC3E}">
        <p14:creationId xmlns:p14="http://schemas.microsoft.com/office/powerpoint/2010/main" val="21730691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9827" y="365760"/>
            <a:ext cx="11479237" cy="6020972"/>
          </a:xfrm>
        </p:spPr>
        <p:txBody>
          <a:bodyPr>
            <a:normAutofit/>
          </a:bodyPr>
          <a:lstStyle/>
          <a:p>
            <a:pPr algn="just">
              <a:buFont typeface="Wingdings" panose="05000000000000000000" pitchFamily="2" charset="2"/>
              <a:buChar char="v"/>
            </a:pPr>
            <a:r>
              <a:rPr lang="ne-NP" dirty="0"/>
              <a:t> </a:t>
            </a:r>
            <a:r>
              <a:rPr lang="ne-NP" sz="3600" dirty="0" smtClean="0">
                <a:cs typeface="Kalimati" panose="00000400000000000000" pitchFamily="2"/>
              </a:rPr>
              <a:t>प्रतिवादीको </a:t>
            </a:r>
            <a:r>
              <a:rPr lang="ne-NP" sz="3600" dirty="0">
                <a:cs typeface="Kalimati" panose="00000400000000000000" pitchFamily="2"/>
              </a:rPr>
              <a:t>नाम, थर, वतन, उमेर, पेशा, वावुको नाम, थर, परिवार संख्या, आर्थिक </a:t>
            </a:r>
            <a:r>
              <a:rPr lang="ne-NP" sz="3600" dirty="0" smtClean="0">
                <a:cs typeface="Kalimati" panose="00000400000000000000" pitchFamily="2"/>
              </a:rPr>
              <a:t>अवस्था, शैक्षिक अवस्था, पेशा ब्यवसाय</a:t>
            </a:r>
            <a:endParaRPr lang="en-US" sz="3600" dirty="0">
              <a:cs typeface="Kalimati" panose="00000400000000000000" pitchFamily="2"/>
            </a:endParaRPr>
          </a:p>
          <a:p>
            <a:pPr algn="just">
              <a:buFont typeface="Wingdings" panose="05000000000000000000" pitchFamily="2" charset="2"/>
              <a:buChar char="v"/>
            </a:pPr>
            <a:r>
              <a:rPr lang="ne-NP" sz="3600" dirty="0">
                <a:cs typeface="Kalimati" panose="00000400000000000000" pitchFamily="2"/>
              </a:rPr>
              <a:t> </a:t>
            </a:r>
            <a:r>
              <a:rPr lang="ne-NP" sz="3600" dirty="0" smtClean="0">
                <a:cs typeface="Kalimati" panose="00000400000000000000" pitchFamily="2"/>
              </a:rPr>
              <a:t>विदेशी </a:t>
            </a:r>
            <a:r>
              <a:rPr lang="ne-NP" sz="3600" dirty="0">
                <a:cs typeface="Kalimati" panose="00000400000000000000" pitchFamily="2"/>
              </a:rPr>
              <a:t>भए राहदानी अथवा प्रवेशाज्ञा(भिसा) </a:t>
            </a:r>
            <a:r>
              <a:rPr lang="ne-NP" sz="3600" dirty="0" smtClean="0">
                <a:cs typeface="Kalimati" panose="00000400000000000000" pitchFamily="2"/>
              </a:rPr>
              <a:t>नम्वर, आधार कार्ड खुलाउन लगाउने, नेपाल आउनुको कारण समेत सोध्ने</a:t>
            </a:r>
            <a:endParaRPr lang="en-US" sz="3600" dirty="0">
              <a:cs typeface="Kalimati" panose="00000400000000000000" pitchFamily="2"/>
            </a:endParaRPr>
          </a:p>
          <a:p>
            <a:pPr algn="just">
              <a:buFont typeface="Wingdings" panose="05000000000000000000" pitchFamily="2" charset="2"/>
              <a:buChar char="v"/>
            </a:pPr>
            <a:r>
              <a:rPr lang="ne-NP" sz="3600" dirty="0">
                <a:cs typeface="Kalimati" panose="00000400000000000000" pitchFamily="2"/>
              </a:rPr>
              <a:t> </a:t>
            </a:r>
            <a:r>
              <a:rPr lang="ne-NP" sz="3600" dirty="0" smtClean="0">
                <a:cs typeface="Kalimati" panose="00000400000000000000" pitchFamily="2"/>
              </a:rPr>
              <a:t>अदालतमा </a:t>
            </a:r>
            <a:r>
              <a:rPr lang="ne-NP" sz="3600" dirty="0">
                <a:cs typeface="Kalimati" panose="00000400000000000000" pitchFamily="2"/>
              </a:rPr>
              <a:t>उपस्थित हुनुको कारण के हो, थाहा छ?</a:t>
            </a:r>
            <a:endParaRPr lang="en-US" sz="3600" dirty="0">
              <a:cs typeface="Kalimati" panose="00000400000000000000" pitchFamily="2"/>
            </a:endParaRPr>
          </a:p>
          <a:p>
            <a:pPr algn="just">
              <a:buFont typeface="Wingdings" panose="05000000000000000000" pitchFamily="2" charset="2"/>
              <a:buChar char="v"/>
            </a:pPr>
            <a:r>
              <a:rPr lang="ne-NP" sz="3600" dirty="0">
                <a:cs typeface="Kalimati" panose="00000400000000000000" pitchFamily="2"/>
              </a:rPr>
              <a:t> </a:t>
            </a:r>
            <a:r>
              <a:rPr lang="ne-NP" sz="3600" dirty="0" smtClean="0">
                <a:cs typeface="Kalimati" panose="00000400000000000000" pitchFamily="2"/>
              </a:rPr>
              <a:t>प्रतिवादी </a:t>
            </a:r>
            <a:r>
              <a:rPr lang="ne-NP" sz="3600" dirty="0">
                <a:cs typeface="Kalimati" panose="00000400000000000000" pitchFamily="2"/>
              </a:rPr>
              <a:t>उपर लागेको अभियोगका सवै कागज सुनाई, मतलव सम्झाई सो अनुसारको कार्य गरेको हो वा      होइन सोध्ने </a:t>
            </a:r>
            <a:endParaRPr lang="en-US" sz="3600" dirty="0">
              <a:cs typeface="Kalimati" panose="00000400000000000000" pitchFamily="2"/>
            </a:endParaRPr>
          </a:p>
          <a:p>
            <a:pPr algn="just">
              <a:buFont typeface="Wingdings" panose="05000000000000000000" pitchFamily="2" charset="2"/>
              <a:buChar char="v"/>
            </a:pPr>
            <a:r>
              <a:rPr lang="ne-NP" sz="3600" dirty="0">
                <a:cs typeface="Kalimati" panose="00000400000000000000" pitchFamily="2"/>
              </a:rPr>
              <a:t> </a:t>
            </a:r>
            <a:endParaRPr lang="en-US" sz="3600" dirty="0">
              <a:cs typeface="Kalimati" panose="00000400000000000000" pitchFamily="2"/>
            </a:endParaRPr>
          </a:p>
        </p:txBody>
      </p:sp>
    </p:spTree>
    <p:extLst>
      <p:ext uri="{BB962C8B-B14F-4D97-AF65-F5344CB8AC3E}">
        <p14:creationId xmlns:p14="http://schemas.microsoft.com/office/powerpoint/2010/main" val="11941958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437" y="548640"/>
            <a:ext cx="11197883" cy="5950634"/>
          </a:xfrm>
        </p:spPr>
        <p:txBody>
          <a:bodyPr/>
          <a:lstStyle/>
          <a:p>
            <a:pPr algn="just">
              <a:buFont typeface="Wingdings" panose="05000000000000000000" pitchFamily="2" charset="2"/>
              <a:buChar char="v"/>
            </a:pPr>
            <a:endParaRPr lang="ne-NP" dirty="0" smtClean="0">
              <a:cs typeface="Kalimati" panose="00000400000000000000" pitchFamily="2"/>
            </a:endParaRPr>
          </a:p>
          <a:p>
            <a:pPr algn="just">
              <a:buFont typeface="Wingdings" panose="05000000000000000000" pitchFamily="2" charset="2"/>
              <a:buChar char="v"/>
            </a:pPr>
            <a:r>
              <a:rPr lang="ne-NP" dirty="0" smtClean="0">
                <a:cs typeface="Kalimati" panose="00000400000000000000" pitchFamily="2"/>
              </a:rPr>
              <a:t> </a:t>
            </a:r>
            <a:r>
              <a:rPr lang="ne-NP" sz="3600" dirty="0" smtClean="0">
                <a:cs typeface="Kalimati" panose="00000400000000000000" pitchFamily="2"/>
              </a:rPr>
              <a:t>किटानी </a:t>
            </a:r>
            <a:r>
              <a:rPr lang="ne-NP" sz="3600" dirty="0">
                <a:cs typeface="Kalimati" panose="00000400000000000000" pitchFamily="2"/>
              </a:rPr>
              <a:t>जाहेरी/ पोल गर्नुपर्ने कारण के हो?</a:t>
            </a:r>
            <a:endParaRPr lang="en-US" sz="3600" dirty="0">
              <a:cs typeface="Kalimati" panose="00000400000000000000" pitchFamily="2"/>
            </a:endParaRPr>
          </a:p>
          <a:p>
            <a:pPr algn="just">
              <a:buFont typeface="Wingdings" panose="05000000000000000000" pitchFamily="2" charset="2"/>
              <a:buChar char="v"/>
            </a:pPr>
            <a:r>
              <a:rPr lang="ne-NP" sz="3600" dirty="0">
                <a:cs typeface="Kalimati" panose="00000400000000000000" pitchFamily="2"/>
              </a:rPr>
              <a:t> अधिकार प्राप्त अधिकारी समक्षको वयानको वारेमा </a:t>
            </a:r>
            <a:r>
              <a:rPr lang="ne-NP" sz="3600" dirty="0" smtClean="0">
                <a:cs typeface="Kalimati" panose="00000400000000000000" pitchFamily="2"/>
              </a:rPr>
              <a:t>सोध्ने</a:t>
            </a:r>
          </a:p>
          <a:p>
            <a:pPr algn="just">
              <a:buFont typeface="Wingdings" panose="05000000000000000000" pitchFamily="2" charset="2"/>
              <a:buChar char="v"/>
            </a:pPr>
            <a:r>
              <a:rPr lang="ne-NP" sz="3600" dirty="0"/>
              <a:t> </a:t>
            </a:r>
            <a:r>
              <a:rPr lang="ne-NP" sz="3600" dirty="0">
                <a:cs typeface="Kalimati" panose="00000400000000000000" pitchFamily="2"/>
              </a:rPr>
              <a:t>कसुर स्विकारे:-किन, कहिले, के कारणले, को को भै गरेको हो?</a:t>
            </a:r>
            <a:endParaRPr lang="en-US" sz="3600" dirty="0">
              <a:cs typeface="Kalimati" panose="00000400000000000000" pitchFamily="2"/>
            </a:endParaRPr>
          </a:p>
          <a:p>
            <a:pPr algn="just">
              <a:buFont typeface="Wingdings" panose="05000000000000000000" pitchFamily="2" charset="2"/>
              <a:buChar char="v"/>
            </a:pPr>
            <a:r>
              <a:rPr lang="ne-NP" sz="3600" dirty="0">
                <a:cs typeface="Kalimati" panose="00000400000000000000" pitchFamily="2"/>
              </a:rPr>
              <a:t> इन्कारी भए:- दोषारोपण गरिनुको कारण के, हो? निर्दोषिताको प्रमाण खुलाउन लगाउने।</a:t>
            </a:r>
          </a:p>
          <a:p>
            <a:pPr algn="just">
              <a:buFont typeface="Wingdings" panose="05000000000000000000" pitchFamily="2" charset="2"/>
              <a:buChar char="v"/>
            </a:pPr>
            <a:r>
              <a:rPr lang="ne-NP" sz="3600" dirty="0">
                <a:cs typeface="Kalimati" panose="00000400000000000000" pitchFamily="2"/>
              </a:rPr>
              <a:t> दसी बरामद भएको भए सो सनाखत सम्वन्धी प्रश्न सोध्नु पर्ने</a:t>
            </a:r>
            <a:endParaRPr lang="en-US" sz="3600" dirty="0">
              <a:cs typeface="Kalimati" panose="00000400000000000000" pitchFamily="2"/>
            </a:endParaRPr>
          </a:p>
          <a:p>
            <a:pPr marL="0" indent="0" algn="just">
              <a:buNone/>
            </a:pPr>
            <a:endParaRPr lang="en-US" sz="3600" dirty="0">
              <a:cs typeface="Kalimati" panose="00000400000000000000" pitchFamily="2"/>
            </a:endParaRPr>
          </a:p>
          <a:p>
            <a:pPr algn="just"/>
            <a:endParaRPr lang="en-US" dirty="0">
              <a:cs typeface="Kalimati" panose="00000400000000000000" pitchFamily="2"/>
            </a:endParaRPr>
          </a:p>
          <a:p>
            <a:endParaRPr lang="en-US" dirty="0"/>
          </a:p>
        </p:txBody>
      </p:sp>
    </p:spTree>
    <p:extLst>
      <p:ext uri="{BB962C8B-B14F-4D97-AF65-F5344CB8AC3E}">
        <p14:creationId xmlns:p14="http://schemas.microsoft.com/office/powerpoint/2010/main" val="23817897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6098" y="393895"/>
            <a:ext cx="11451102" cy="6049107"/>
          </a:xfrm>
        </p:spPr>
        <p:txBody>
          <a:bodyPr>
            <a:normAutofit/>
          </a:bodyPr>
          <a:lstStyle/>
          <a:p>
            <a:pPr algn="just">
              <a:buFont typeface="Wingdings" panose="05000000000000000000" pitchFamily="2" charset="2"/>
              <a:buChar char="v"/>
            </a:pPr>
            <a:endParaRPr lang="ne-NP" sz="3600" dirty="0" smtClean="0">
              <a:cs typeface="Kalimati" panose="00000400000000000000" pitchFamily="2"/>
            </a:endParaRPr>
          </a:p>
          <a:p>
            <a:pPr algn="just">
              <a:buFont typeface="Wingdings" panose="05000000000000000000" pitchFamily="2" charset="2"/>
              <a:buChar char="v"/>
            </a:pPr>
            <a:r>
              <a:rPr lang="ne-NP" sz="3600" dirty="0" smtClean="0">
                <a:cs typeface="Kalimati" panose="00000400000000000000" pitchFamily="2"/>
              </a:rPr>
              <a:t>पिडित पक्षसंग निजको कुनै नाता सम्वन्ध छ वा छैन भए सो व्यहोरा खुलाउन लगाउने।</a:t>
            </a:r>
            <a:endParaRPr lang="en-US" sz="3600" dirty="0" smtClean="0">
              <a:cs typeface="Kalimati" panose="00000400000000000000" pitchFamily="2"/>
            </a:endParaRPr>
          </a:p>
          <a:p>
            <a:pPr algn="just">
              <a:buFont typeface="Wingdings" panose="05000000000000000000" pitchFamily="2" charset="2"/>
              <a:buChar char="v"/>
            </a:pPr>
            <a:r>
              <a:rPr lang="ne-NP" sz="3600" dirty="0" smtClean="0">
                <a:cs typeface="Kalimati" panose="00000400000000000000" pitchFamily="2"/>
              </a:rPr>
              <a:t> </a:t>
            </a:r>
            <a:r>
              <a:rPr lang="ne-NP" sz="3600" dirty="0" smtClean="0">
                <a:cs typeface="Kalimati" panose="00000400000000000000" pitchFamily="2"/>
              </a:rPr>
              <a:t>सवुद </a:t>
            </a:r>
            <a:r>
              <a:rPr lang="ne-NP" sz="3600" dirty="0">
                <a:cs typeface="Kalimati" panose="00000400000000000000" pitchFamily="2"/>
              </a:rPr>
              <a:t>प्रमाण के छ?</a:t>
            </a:r>
            <a:endParaRPr lang="en-US" sz="3600" dirty="0">
              <a:cs typeface="Kalimati" panose="00000400000000000000" pitchFamily="2"/>
            </a:endParaRPr>
          </a:p>
          <a:p>
            <a:pPr algn="just">
              <a:buFont typeface="Wingdings" panose="05000000000000000000" pitchFamily="2" charset="2"/>
              <a:buChar char="v"/>
            </a:pPr>
            <a:r>
              <a:rPr lang="ne-NP" sz="3600" dirty="0">
                <a:cs typeface="Kalimati" panose="00000400000000000000" pitchFamily="2"/>
              </a:rPr>
              <a:t> </a:t>
            </a:r>
            <a:r>
              <a:rPr lang="ne-NP" sz="3600" dirty="0" smtClean="0">
                <a:cs typeface="Kalimati" panose="00000400000000000000" pitchFamily="2"/>
              </a:rPr>
              <a:t>यस अगाडी </a:t>
            </a:r>
            <a:r>
              <a:rPr lang="ne-NP" sz="3600" dirty="0">
                <a:cs typeface="Kalimati" panose="00000400000000000000" pitchFamily="2"/>
              </a:rPr>
              <a:t>फौजदारी </a:t>
            </a:r>
            <a:r>
              <a:rPr lang="ne-NP" sz="3600" dirty="0" smtClean="0">
                <a:cs typeface="Kalimati" panose="00000400000000000000" pitchFamily="2"/>
              </a:rPr>
              <a:t>मुद्दामा सजाय </a:t>
            </a:r>
            <a:r>
              <a:rPr lang="ne-NP" sz="3600" dirty="0">
                <a:cs typeface="Kalimati" panose="00000400000000000000" pitchFamily="2"/>
              </a:rPr>
              <a:t>पाएको छ छैन</a:t>
            </a:r>
            <a:r>
              <a:rPr lang="ne-NP" sz="3600" dirty="0" smtClean="0">
                <a:cs typeface="Kalimati" panose="00000400000000000000" pitchFamily="2"/>
              </a:rPr>
              <a:t>?</a:t>
            </a:r>
          </a:p>
          <a:p>
            <a:pPr algn="just">
              <a:buFont typeface="Wingdings" panose="05000000000000000000" pitchFamily="2" charset="2"/>
              <a:buChar char="v"/>
            </a:pPr>
            <a:r>
              <a:rPr lang="ne-NP" sz="3600" dirty="0" smtClean="0">
                <a:cs typeface="Kalimati" panose="00000400000000000000" pitchFamily="2"/>
              </a:rPr>
              <a:t>अरु केही भन्न बाँकी छ की</a:t>
            </a:r>
            <a:endParaRPr lang="en-US" sz="3600" dirty="0">
              <a:cs typeface="Kalimati" panose="00000400000000000000" pitchFamily="2"/>
            </a:endParaRPr>
          </a:p>
          <a:p>
            <a:pPr algn="just">
              <a:buFont typeface="Wingdings" panose="05000000000000000000" pitchFamily="2" charset="2"/>
              <a:buChar char="v"/>
            </a:pPr>
            <a:r>
              <a:rPr lang="ne-NP" sz="3600" dirty="0">
                <a:cs typeface="Kalimati" panose="00000400000000000000" pitchFamily="2"/>
              </a:rPr>
              <a:t> </a:t>
            </a:r>
            <a:r>
              <a:rPr lang="ne-NP" sz="3600" dirty="0" smtClean="0">
                <a:cs typeface="Kalimati" panose="00000400000000000000" pitchFamily="2"/>
              </a:rPr>
              <a:t>वयान </a:t>
            </a:r>
            <a:r>
              <a:rPr lang="ne-NP" sz="3600" dirty="0">
                <a:cs typeface="Kalimati" panose="00000400000000000000" pitchFamily="2"/>
              </a:rPr>
              <a:t>पढी सुनाईन्छ, कसो भयो?</a:t>
            </a:r>
            <a:endParaRPr lang="en-US" sz="3600" dirty="0">
              <a:cs typeface="Kalimati" panose="00000400000000000000" pitchFamily="2"/>
            </a:endParaRPr>
          </a:p>
          <a:p>
            <a:pPr algn="just"/>
            <a:endParaRPr lang="en-US" sz="3600" dirty="0">
              <a:cs typeface="Kalimati" panose="00000400000000000000" pitchFamily="2"/>
            </a:endParaRPr>
          </a:p>
        </p:txBody>
      </p:sp>
    </p:spTree>
    <p:extLst>
      <p:ext uri="{BB962C8B-B14F-4D97-AF65-F5344CB8AC3E}">
        <p14:creationId xmlns:p14="http://schemas.microsoft.com/office/powerpoint/2010/main" val="2885374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6099" y="281354"/>
            <a:ext cx="11324492" cy="6358597"/>
          </a:xfrm>
        </p:spPr>
        <p:txBody>
          <a:bodyPr>
            <a:normAutofit lnSpcReduction="10000"/>
          </a:bodyPr>
          <a:lstStyle/>
          <a:p>
            <a:pPr algn="ctr">
              <a:buNone/>
            </a:pPr>
            <a:r>
              <a:rPr lang="ne-NP" sz="4700" u="sng" dirty="0" smtClean="0">
                <a:cs typeface="Kalimati" panose="00000400000000000000" pitchFamily="2"/>
              </a:rPr>
              <a:t>बयान गर्दा</a:t>
            </a:r>
          </a:p>
          <a:p>
            <a:pPr>
              <a:buFont typeface="Wingdings" panose="05000000000000000000" pitchFamily="2" charset="2"/>
              <a:buChar char="v"/>
            </a:pPr>
            <a:r>
              <a:rPr lang="ne-NP" sz="3200" dirty="0" smtClean="0">
                <a:cs typeface="Kalimati" panose="00000400000000000000" pitchFamily="2"/>
              </a:rPr>
              <a:t>वयान </a:t>
            </a:r>
            <a:r>
              <a:rPr lang="ne-NP" sz="3200" dirty="0">
                <a:cs typeface="Kalimati" panose="00000400000000000000" pitchFamily="2"/>
              </a:rPr>
              <a:t>गर्दा गर्दै:- वेहोस </a:t>
            </a:r>
            <a:r>
              <a:rPr lang="ne-NP" sz="3200" dirty="0" smtClean="0">
                <a:cs typeface="Kalimati" panose="00000400000000000000" pitchFamily="2"/>
              </a:rPr>
              <a:t>भएमा, भागेमा </a:t>
            </a:r>
            <a:r>
              <a:rPr lang="ne-NP" sz="3200" dirty="0">
                <a:cs typeface="Kalimati" panose="00000400000000000000" pitchFamily="2"/>
              </a:rPr>
              <a:t>के गर्ने?</a:t>
            </a:r>
            <a:endParaRPr lang="en-US" sz="3200" dirty="0">
              <a:cs typeface="Kalimati" panose="00000400000000000000" pitchFamily="2"/>
            </a:endParaRPr>
          </a:p>
          <a:p>
            <a:pPr>
              <a:buFont typeface="Wingdings" panose="05000000000000000000" pitchFamily="2" charset="2"/>
              <a:buChar char="v"/>
            </a:pPr>
            <a:r>
              <a:rPr lang="ne-NP" sz="3200" dirty="0" smtClean="0">
                <a:cs typeface="Kalimati" panose="00000400000000000000" pitchFamily="2"/>
              </a:rPr>
              <a:t>चुप </a:t>
            </a:r>
            <a:r>
              <a:rPr lang="ne-NP" sz="3200" dirty="0">
                <a:cs typeface="Kalimati" panose="00000400000000000000" pitchFamily="2"/>
              </a:rPr>
              <a:t>लाग्छु भन्यो तर प्रमाण पेश गर्छु भन्यो, पाउनेकी नपाउने?</a:t>
            </a:r>
            <a:endParaRPr lang="en-US" sz="3200" dirty="0">
              <a:cs typeface="Kalimati" panose="00000400000000000000" pitchFamily="2"/>
            </a:endParaRPr>
          </a:p>
          <a:p>
            <a:pPr>
              <a:buFont typeface="Wingdings" panose="05000000000000000000" pitchFamily="2" charset="2"/>
              <a:buChar char="v"/>
            </a:pPr>
            <a:r>
              <a:rPr lang="ne-NP" sz="3200" dirty="0" smtClean="0">
                <a:cs typeface="Kalimati" panose="00000400000000000000" pitchFamily="2"/>
              </a:rPr>
              <a:t>वयान </a:t>
            </a:r>
            <a:r>
              <a:rPr lang="ne-NP" sz="3200" dirty="0">
                <a:cs typeface="Kalimati" panose="00000400000000000000" pitchFamily="2"/>
              </a:rPr>
              <a:t>गर्न आउनेको </a:t>
            </a:r>
            <a:r>
              <a:rPr lang="ne-NP" sz="3200" dirty="0" smtClean="0">
                <a:cs typeface="Kalimati" panose="00000400000000000000" pitchFamily="2"/>
              </a:rPr>
              <a:t>नाम </a:t>
            </a:r>
            <a:r>
              <a:rPr lang="ne-NP" sz="3200" dirty="0">
                <a:cs typeface="Kalimati" panose="00000400000000000000" pitchFamily="2"/>
              </a:rPr>
              <a:t>नभिडेमा के गर्ने?</a:t>
            </a:r>
            <a:endParaRPr lang="en-US" sz="3200" dirty="0">
              <a:cs typeface="Kalimati" panose="00000400000000000000" pitchFamily="2"/>
            </a:endParaRPr>
          </a:p>
          <a:p>
            <a:pPr>
              <a:buFont typeface="Wingdings" panose="05000000000000000000" pitchFamily="2" charset="2"/>
              <a:buChar char="v"/>
            </a:pPr>
            <a:r>
              <a:rPr lang="ne-NP" sz="3200" dirty="0" smtClean="0">
                <a:cs typeface="Kalimati" panose="00000400000000000000" pitchFamily="2"/>
              </a:rPr>
              <a:t>फरार </a:t>
            </a:r>
            <a:r>
              <a:rPr lang="ne-NP" sz="3200" dirty="0">
                <a:cs typeface="Kalimati" panose="00000400000000000000" pitchFamily="2"/>
              </a:rPr>
              <a:t>प्रतिवादी का.व्य. मार्फत उपस्थित भए निवेदन दर्ता गराए, इजलाशमा उपस्थित भए तर सौचालय जाने वहानामा भागे, फेला परेनन् के गर्ने?</a:t>
            </a:r>
            <a:endParaRPr lang="en-US" sz="3200" dirty="0">
              <a:cs typeface="Kalimati" panose="00000400000000000000" pitchFamily="2"/>
            </a:endParaRPr>
          </a:p>
          <a:p>
            <a:pPr>
              <a:buFont typeface="Wingdings" panose="05000000000000000000" pitchFamily="2" charset="2"/>
              <a:buChar char="v"/>
            </a:pPr>
            <a:r>
              <a:rPr lang="ne-NP" sz="3200" dirty="0" smtClean="0">
                <a:cs typeface="Kalimati" panose="00000400000000000000" pitchFamily="2"/>
              </a:rPr>
              <a:t>नेपाली </a:t>
            </a:r>
            <a:r>
              <a:rPr lang="ne-NP" sz="3200" dirty="0">
                <a:cs typeface="Kalimati" panose="00000400000000000000" pitchFamily="2"/>
              </a:rPr>
              <a:t>भाषा नवुझ्ने भए के </a:t>
            </a:r>
            <a:r>
              <a:rPr lang="ne-NP" sz="3200" dirty="0" smtClean="0">
                <a:cs typeface="Kalimati" panose="00000400000000000000" pitchFamily="2"/>
              </a:rPr>
              <a:t>गर्ने</a:t>
            </a:r>
            <a:r>
              <a:rPr lang="ne-NP" sz="3200" dirty="0">
                <a:cs typeface="Kalimati" panose="00000400000000000000" pitchFamily="2"/>
              </a:rPr>
              <a:t> </a:t>
            </a:r>
            <a:endParaRPr lang="en-US" sz="3200" dirty="0">
              <a:cs typeface="Kalimati" panose="00000400000000000000" pitchFamily="2"/>
            </a:endParaRPr>
          </a:p>
          <a:p>
            <a:pPr>
              <a:buFont typeface="Wingdings" panose="05000000000000000000" pitchFamily="2" charset="2"/>
              <a:buChar char="v"/>
            </a:pPr>
            <a:r>
              <a:rPr lang="ne-NP" sz="3200" dirty="0" smtClean="0">
                <a:cs typeface="Kalimati" panose="00000400000000000000" pitchFamily="2"/>
              </a:rPr>
              <a:t>वयान </a:t>
            </a:r>
            <a:r>
              <a:rPr lang="ne-NP" sz="3200" dirty="0">
                <a:cs typeface="Kalimati" panose="00000400000000000000" pitchFamily="2"/>
              </a:rPr>
              <a:t>प्रमाणित गर्न ल्याए र नभिडे के </a:t>
            </a:r>
            <a:r>
              <a:rPr lang="ne-NP" sz="3200" dirty="0" smtClean="0">
                <a:cs typeface="Kalimati" panose="00000400000000000000" pitchFamily="2"/>
              </a:rPr>
              <a:t>गर्ने</a:t>
            </a:r>
            <a:endParaRPr lang="en-US" sz="3200" dirty="0">
              <a:cs typeface="Kalimati" panose="00000400000000000000" pitchFamily="2"/>
            </a:endParaRPr>
          </a:p>
          <a:p>
            <a:pPr>
              <a:buFont typeface="Wingdings" panose="05000000000000000000" pitchFamily="2" charset="2"/>
              <a:buChar char="v"/>
            </a:pPr>
            <a:r>
              <a:rPr lang="ne-NP" sz="3200" dirty="0" smtClean="0">
                <a:cs typeface="Kalimati" panose="00000400000000000000" pitchFamily="2"/>
              </a:rPr>
              <a:t>वोल्न </a:t>
            </a:r>
            <a:r>
              <a:rPr lang="ne-NP" sz="3200" dirty="0">
                <a:cs typeface="Kalimati" panose="00000400000000000000" pitchFamily="2"/>
              </a:rPr>
              <a:t>असमर्थ </a:t>
            </a:r>
            <a:r>
              <a:rPr lang="ne-NP" sz="3200" dirty="0" smtClean="0">
                <a:cs typeface="Kalimati" panose="00000400000000000000" pitchFamily="2"/>
              </a:rPr>
              <a:t>व्यक्तिको </a:t>
            </a:r>
            <a:r>
              <a:rPr lang="ne-NP" sz="3200" dirty="0">
                <a:cs typeface="Kalimati" panose="00000400000000000000" pitchFamily="2"/>
              </a:rPr>
              <a:t>हकमा कसरी वयान </a:t>
            </a:r>
            <a:r>
              <a:rPr lang="ne-NP" sz="3200" dirty="0" smtClean="0">
                <a:cs typeface="Kalimati" panose="00000400000000000000" pitchFamily="2"/>
              </a:rPr>
              <a:t>लिने</a:t>
            </a:r>
            <a:endParaRPr lang="en-US" sz="3200" dirty="0">
              <a:cs typeface="Kalimati" panose="00000400000000000000" pitchFamily="2"/>
            </a:endParaRPr>
          </a:p>
          <a:p>
            <a:pPr>
              <a:buFont typeface="Wingdings" panose="05000000000000000000" pitchFamily="2" charset="2"/>
              <a:buChar char="v"/>
            </a:pPr>
            <a:r>
              <a:rPr lang="ne-NP" sz="3200" dirty="0" smtClean="0">
                <a:cs typeface="Kalimati" panose="00000400000000000000" pitchFamily="2"/>
              </a:rPr>
              <a:t>वयान </a:t>
            </a:r>
            <a:r>
              <a:rPr lang="ne-NP" sz="3200" dirty="0">
                <a:cs typeface="Kalimati" panose="00000400000000000000" pitchFamily="2"/>
              </a:rPr>
              <a:t>गर्न आउने सावालक भनेर ल्याईन्छ?  तर अदालतमा </a:t>
            </a:r>
            <a:r>
              <a:rPr lang="ne-NP" sz="3200" dirty="0" smtClean="0">
                <a:cs typeface="Kalimati" panose="00000400000000000000" pitchFamily="2"/>
              </a:rPr>
              <a:t>नावालक देखिए </a:t>
            </a:r>
            <a:r>
              <a:rPr lang="ne-NP" sz="3200" dirty="0">
                <a:cs typeface="Kalimati" panose="00000400000000000000" pitchFamily="2"/>
              </a:rPr>
              <a:t>के गर्ने</a:t>
            </a:r>
            <a:r>
              <a:rPr lang="ne-NP" dirty="0">
                <a:cs typeface="Kalimati" panose="00000400000000000000" pitchFamily="2"/>
              </a:rPr>
              <a:t>?</a:t>
            </a:r>
            <a:endParaRPr lang="en-US" dirty="0">
              <a:cs typeface="Kalimati" panose="00000400000000000000" pitchFamily="2"/>
            </a:endParaRPr>
          </a:p>
          <a:p>
            <a:endParaRPr lang="en-US" dirty="0">
              <a:cs typeface="Kalimati" panose="00000400000000000000" pitchFamily="2"/>
            </a:endParaRPr>
          </a:p>
          <a:p>
            <a:endParaRPr lang="en-US" dirty="0">
              <a:cs typeface="Kalimati" panose="00000400000000000000" pitchFamily="2"/>
            </a:endParaRPr>
          </a:p>
        </p:txBody>
      </p:sp>
    </p:spTree>
    <p:extLst>
      <p:ext uri="{BB962C8B-B14F-4D97-AF65-F5344CB8AC3E}">
        <p14:creationId xmlns:p14="http://schemas.microsoft.com/office/powerpoint/2010/main" val="20283058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2031" y="520504"/>
            <a:ext cx="11352627" cy="5978769"/>
          </a:xfrm>
        </p:spPr>
        <p:txBody>
          <a:bodyPr>
            <a:normAutofit/>
          </a:bodyPr>
          <a:lstStyle/>
          <a:p>
            <a:pPr marL="0" indent="0" algn="ctr">
              <a:buNone/>
            </a:pPr>
            <a:r>
              <a:rPr lang="ne-NP" sz="4000" u="sng" dirty="0" smtClean="0">
                <a:cs typeface="Kalimati" panose="00000400000000000000" pitchFamily="2"/>
              </a:rPr>
              <a:t>पीडितको बयान प्रमाणित</a:t>
            </a:r>
            <a:endParaRPr lang="ne-NP" sz="4000" u="sng" dirty="0">
              <a:cs typeface="Kalimati" panose="00000400000000000000" pitchFamily="2"/>
            </a:endParaRPr>
          </a:p>
          <a:p>
            <a:pPr algn="just">
              <a:buFont typeface="Wingdings" panose="05000000000000000000" pitchFamily="2" charset="2"/>
              <a:buChar char="v"/>
            </a:pPr>
            <a:r>
              <a:rPr lang="ne-NP" sz="3200" dirty="0" smtClean="0">
                <a:cs typeface="Kalimati" panose="00000400000000000000" pitchFamily="2"/>
              </a:rPr>
              <a:t>पीडित आफैले उजुरी दिएमा प्रहरी कार्यालयले निजको तत्काल बयान गराई त्यस्तो बयान प्रमाणित गराउन निजलाई तुरुन्त नजिकको जिल्ला अदालतमा उपस्थित गरानु पर्ने</a:t>
            </a:r>
          </a:p>
          <a:p>
            <a:pPr algn="just">
              <a:buFont typeface="Wingdings" panose="05000000000000000000" pitchFamily="2" charset="2"/>
              <a:buChar char="v"/>
            </a:pPr>
            <a:r>
              <a:rPr lang="ne-NP" sz="3200" dirty="0" smtClean="0">
                <a:cs typeface="Kalimati" panose="00000400000000000000" pitchFamily="2"/>
              </a:rPr>
              <a:t>बयान प्रमाणित गराउन ल्याएमा प्रचलित कानूनमा जुनसुकै कुरा लेखिएको भएतापनि र सो बयान सँग सम्बन्धित कसूरको मुद्दा सो जिल्ला अदालतको क्षेत्राधिकार भित्र नपर्ने भए पनि जिल्ला अदालतको न्यायाधीशले बयान निजलाई पढी बाची सुनाई निजले भने बमोजिम लेखिएको भए सो ब्यहोरा र भने बमोजिम नभएमा के कति फरक छ सो ब्यहोरा उल्लेख गरी प्रमाणित गरी दिनु पर्नेछ। </a:t>
            </a:r>
            <a:r>
              <a:rPr lang="ne-NP" sz="2400" b="1" dirty="0" smtClean="0">
                <a:cs typeface="Kalimati" panose="00000400000000000000" pitchFamily="2"/>
              </a:rPr>
              <a:t>(मानव </a:t>
            </a:r>
            <a:r>
              <a:rPr lang="ne-NP" sz="2400" b="1" dirty="0">
                <a:cs typeface="Kalimati" panose="00000400000000000000" pitchFamily="2"/>
              </a:rPr>
              <a:t>बेचबिखन तथा ओसारपसार(नियन्त्रण) ऐन,२०६४ को दफा </a:t>
            </a:r>
            <a:r>
              <a:rPr lang="ne-NP" sz="2400" b="1" dirty="0" smtClean="0">
                <a:cs typeface="Kalimati" panose="00000400000000000000" pitchFamily="2"/>
              </a:rPr>
              <a:t>६ मा भएको कानूनी ब्यवस्था)</a:t>
            </a:r>
            <a:endParaRPr lang="ne-NP" sz="2400" b="1" dirty="0">
              <a:cs typeface="Kalimati" panose="00000400000000000000" pitchFamily="2"/>
            </a:endParaRPr>
          </a:p>
          <a:p>
            <a:pPr>
              <a:buFont typeface="Wingdings" panose="05000000000000000000" pitchFamily="2" charset="2"/>
              <a:buChar char="v"/>
            </a:pPr>
            <a:endParaRPr lang="en-US" sz="3200" dirty="0">
              <a:cs typeface="Kalimati" panose="00000400000000000000" pitchFamily="2"/>
            </a:endParaRPr>
          </a:p>
        </p:txBody>
      </p:sp>
    </p:spTree>
    <p:extLst>
      <p:ext uri="{BB962C8B-B14F-4D97-AF65-F5344CB8AC3E}">
        <p14:creationId xmlns:p14="http://schemas.microsoft.com/office/powerpoint/2010/main" val="5421077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166" y="562707"/>
            <a:ext cx="11297530" cy="6006905"/>
          </a:xfrm>
        </p:spPr>
        <p:txBody>
          <a:bodyPr/>
          <a:lstStyle/>
          <a:p>
            <a:pPr marL="0" lvl="0" indent="0" algn="ctr">
              <a:buNone/>
            </a:pPr>
            <a:r>
              <a:rPr lang="ne-NP" sz="4000" u="sng" dirty="0" smtClean="0">
                <a:cs typeface="Kalimati" panose="00000400000000000000" pitchFamily="2"/>
              </a:rPr>
              <a:t>ततिम्बा बयान</a:t>
            </a:r>
          </a:p>
          <a:p>
            <a:pPr lvl="0" algn="just">
              <a:buFont typeface="Wingdings" panose="05000000000000000000" pitchFamily="2" charset="2"/>
              <a:buChar char="v"/>
            </a:pPr>
            <a:r>
              <a:rPr lang="ne-NP" sz="3600" dirty="0" smtClean="0">
                <a:cs typeface="Kalimati" panose="00000400000000000000" pitchFamily="2"/>
              </a:rPr>
              <a:t>पहिला </a:t>
            </a:r>
            <a:r>
              <a:rPr lang="ne-NP" sz="3600" dirty="0">
                <a:cs typeface="Kalimati" panose="00000400000000000000" pitchFamily="2"/>
              </a:rPr>
              <a:t>वयान गर्दा नवुझि नहुने तर वुझ्न छुट भएका कुराहरुका वारेमा थप वयान </a:t>
            </a:r>
            <a:r>
              <a:rPr lang="ne-NP" sz="3600" dirty="0" smtClean="0">
                <a:cs typeface="Kalimati" panose="00000400000000000000" pitchFamily="2"/>
              </a:rPr>
              <a:t>गराई खुलाउनुनै </a:t>
            </a:r>
            <a:r>
              <a:rPr lang="ne-NP" sz="3600" dirty="0">
                <a:cs typeface="Kalimati" panose="00000400000000000000" pitchFamily="2"/>
              </a:rPr>
              <a:t>ततिम्वा वयान हो।</a:t>
            </a:r>
            <a:endParaRPr lang="en-US" sz="3600" dirty="0">
              <a:cs typeface="Kalimati" panose="00000400000000000000" pitchFamily="2"/>
            </a:endParaRPr>
          </a:p>
          <a:p>
            <a:pPr lvl="0" algn="just">
              <a:buFont typeface="Wingdings" panose="05000000000000000000" pitchFamily="2" charset="2"/>
              <a:buChar char="v"/>
            </a:pPr>
            <a:r>
              <a:rPr lang="ne-NP" sz="3600" dirty="0" smtClean="0">
                <a:cs typeface="Kalimati" panose="00000400000000000000" pitchFamily="2"/>
              </a:rPr>
              <a:t>ततिम्वा </a:t>
            </a:r>
            <a:r>
              <a:rPr lang="ne-NP" sz="3600" dirty="0">
                <a:cs typeface="Kalimati" panose="00000400000000000000" pitchFamily="2"/>
              </a:rPr>
              <a:t>वयान गराउँदा पहिले वयान भैसकेको भनि शिर व्यहोरामा उल्लेख गरी थप कुरा वुझ्न आवश्यक परेको व्यहोरा उल्लेख गर्नुपर्ने,</a:t>
            </a:r>
            <a:endParaRPr lang="en-US" sz="3600" dirty="0">
              <a:cs typeface="Kalimati" panose="00000400000000000000" pitchFamily="2"/>
            </a:endParaRPr>
          </a:p>
          <a:p>
            <a:pPr lvl="0" algn="just">
              <a:buFont typeface="Wingdings" panose="05000000000000000000" pitchFamily="2" charset="2"/>
              <a:buChar char="v"/>
            </a:pPr>
            <a:r>
              <a:rPr lang="ne-NP" sz="3600" dirty="0">
                <a:cs typeface="Kalimati" panose="00000400000000000000" pitchFamily="2"/>
              </a:rPr>
              <a:t>यसरी </a:t>
            </a:r>
            <a:r>
              <a:rPr lang="ne-NP" sz="3600" dirty="0" smtClean="0">
                <a:cs typeface="Kalimati" panose="00000400000000000000" pitchFamily="2"/>
              </a:rPr>
              <a:t>ततिम्बा वयान </a:t>
            </a:r>
            <a:r>
              <a:rPr lang="ne-NP" sz="3600" dirty="0">
                <a:cs typeface="Kalimati" panose="00000400000000000000" pitchFamily="2"/>
              </a:rPr>
              <a:t>गराउदा पहिलेका कुरा खण्डन गर्ने र तथ्यमा फरक पर्ने गरी गराउन नहुने।</a:t>
            </a:r>
            <a:endParaRPr lang="en-US" sz="3600" dirty="0">
              <a:cs typeface="Kalimati" panose="00000400000000000000" pitchFamily="2"/>
            </a:endParaRPr>
          </a:p>
          <a:p>
            <a:endParaRPr lang="en-US" dirty="0"/>
          </a:p>
        </p:txBody>
      </p:sp>
    </p:spTree>
    <p:extLst>
      <p:ext uri="{BB962C8B-B14F-4D97-AF65-F5344CB8AC3E}">
        <p14:creationId xmlns:p14="http://schemas.microsoft.com/office/powerpoint/2010/main" val="8837330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1" y="422030"/>
            <a:ext cx="11493304" cy="6203853"/>
          </a:xfrm>
        </p:spPr>
        <p:txBody>
          <a:bodyPr>
            <a:normAutofit fontScale="92500" lnSpcReduction="10000"/>
          </a:bodyPr>
          <a:lstStyle/>
          <a:p>
            <a:pPr marL="0" lvl="0" indent="0">
              <a:buNone/>
            </a:pPr>
            <a:r>
              <a:rPr lang="ne-NP" sz="3600" u="sng" dirty="0" smtClean="0">
                <a:cs typeface="Kalimati" panose="00000400000000000000" pitchFamily="2"/>
              </a:rPr>
              <a:t>समस्याहरु</a:t>
            </a:r>
            <a:endParaRPr lang="en-US" sz="3600" u="sng" dirty="0" smtClean="0">
              <a:cs typeface="Kalimati" panose="00000400000000000000" pitchFamily="2"/>
            </a:endParaRPr>
          </a:p>
          <a:p>
            <a:pPr lvl="0"/>
            <a:r>
              <a:rPr lang="ne-NP" sz="3200" dirty="0" smtClean="0">
                <a:cs typeface="Kalimati" panose="00000400000000000000" pitchFamily="2"/>
              </a:rPr>
              <a:t>म्याद थप माग्दा आधार कारण खुलाउने नगरीने</a:t>
            </a:r>
          </a:p>
          <a:p>
            <a:pPr lvl="0"/>
            <a:r>
              <a:rPr lang="ne-NP" sz="3200" dirty="0" smtClean="0">
                <a:cs typeface="Kalimati" panose="00000400000000000000" pitchFamily="2"/>
              </a:rPr>
              <a:t>जरुरी पक्राउ पुर्जीको दुरुपयोग हुने गरेको</a:t>
            </a:r>
          </a:p>
          <a:p>
            <a:pPr lvl="0"/>
            <a:r>
              <a:rPr lang="ne-NP" sz="3200" dirty="0" smtClean="0">
                <a:cs typeface="Kalimati" panose="00000400000000000000" pitchFamily="2"/>
              </a:rPr>
              <a:t>पक्राउ पुर्जी जारी भएकोमा पक्राउ नपरे सम्म गोप्य राख्नु पर्नेमा सो हुने नगरेको</a:t>
            </a:r>
          </a:p>
          <a:p>
            <a:pPr lvl="0"/>
            <a:r>
              <a:rPr lang="ne-NP" sz="3200" dirty="0" smtClean="0">
                <a:cs typeface="Kalimati" panose="00000400000000000000" pitchFamily="2"/>
              </a:rPr>
              <a:t>कानून बमोजिम हिरासतमा राख्न मिल्ने पुरै अवधी हिरासतमा राख्ने अभ्यास</a:t>
            </a:r>
          </a:p>
          <a:p>
            <a:pPr lvl="0"/>
            <a:r>
              <a:rPr lang="ne-NP" sz="3200" dirty="0" smtClean="0">
                <a:cs typeface="Kalimati" panose="00000400000000000000" pitchFamily="2"/>
              </a:rPr>
              <a:t>अलग अलग प्रतिबादीको वयान </a:t>
            </a:r>
            <a:r>
              <a:rPr lang="ne-NP" sz="3200" dirty="0">
                <a:cs typeface="Kalimati" panose="00000400000000000000" pitchFamily="2"/>
              </a:rPr>
              <a:t>एउटै </a:t>
            </a:r>
            <a:r>
              <a:rPr lang="en-US" sz="3200" dirty="0">
                <a:cs typeface="Kalimati" panose="00000400000000000000" pitchFamily="2"/>
              </a:rPr>
              <a:t>Format</a:t>
            </a:r>
            <a:r>
              <a:rPr lang="ne-NP" sz="3200" dirty="0">
                <a:cs typeface="Kalimati" panose="00000400000000000000" pitchFamily="2"/>
              </a:rPr>
              <a:t> मा हुनु,</a:t>
            </a:r>
            <a:endParaRPr lang="en-US" sz="3200" dirty="0">
              <a:cs typeface="Kalimati" panose="00000400000000000000" pitchFamily="2"/>
            </a:endParaRPr>
          </a:p>
          <a:p>
            <a:pPr lvl="0"/>
            <a:r>
              <a:rPr lang="ne-NP" sz="3200" dirty="0" smtClean="0">
                <a:cs typeface="Kalimati" panose="00000400000000000000" pitchFamily="2"/>
              </a:rPr>
              <a:t>सोधिनु </a:t>
            </a:r>
            <a:r>
              <a:rPr lang="ne-NP" sz="3200" dirty="0">
                <a:cs typeface="Kalimati" panose="00000400000000000000" pitchFamily="2"/>
              </a:rPr>
              <a:t>पर्ने </a:t>
            </a:r>
            <a:r>
              <a:rPr lang="ne-NP" sz="3200" dirty="0" smtClean="0">
                <a:cs typeface="Kalimati" panose="00000400000000000000" pitchFamily="2"/>
              </a:rPr>
              <a:t>सवालहरु </a:t>
            </a:r>
            <a:r>
              <a:rPr lang="ne-NP" sz="3200" dirty="0">
                <a:cs typeface="Kalimati" panose="00000400000000000000" pitchFamily="2"/>
              </a:rPr>
              <a:t>नसोधिनु,</a:t>
            </a:r>
            <a:endParaRPr lang="en-US" sz="3200" dirty="0">
              <a:cs typeface="Kalimati" panose="00000400000000000000" pitchFamily="2"/>
            </a:endParaRPr>
          </a:p>
          <a:p>
            <a:pPr lvl="0"/>
            <a:r>
              <a:rPr lang="ne-NP" sz="3200" dirty="0">
                <a:cs typeface="Kalimati" panose="00000400000000000000" pitchFamily="2"/>
              </a:rPr>
              <a:t>सावीती भै सहयोग गर्नेलाई सजायमा छुट नहुनु</a:t>
            </a:r>
            <a:r>
              <a:rPr lang="ne-NP" sz="3200" dirty="0" smtClean="0">
                <a:cs typeface="Kalimati" panose="00000400000000000000" pitchFamily="2"/>
              </a:rPr>
              <a:t>,</a:t>
            </a:r>
          </a:p>
          <a:p>
            <a:pPr lvl="0"/>
            <a:r>
              <a:rPr lang="ne-NP" sz="3200" dirty="0" smtClean="0">
                <a:cs typeface="Kalimati" panose="00000400000000000000" pitchFamily="2"/>
              </a:rPr>
              <a:t>दुनियाबादी प्रकृतिको आर्थिक बिषयमा पक्राउ अनुमति माग्ने संख्या बढदै गएको</a:t>
            </a:r>
          </a:p>
          <a:p>
            <a:pPr lvl="0"/>
            <a:r>
              <a:rPr lang="ne-NP" sz="3200" dirty="0" smtClean="0">
                <a:cs typeface="Kalimati" panose="00000400000000000000" pitchFamily="2"/>
              </a:rPr>
              <a:t>कतिपय मुद्दामा दोस्रो पटक म्याद थपमा आउदा पनि प्रतिबादीको बयान नगराई ल्याउने गरीएको</a:t>
            </a:r>
          </a:p>
          <a:p>
            <a:pPr marL="0" lvl="0" indent="0">
              <a:buNone/>
            </a:pPr>
            <a:endParaRPr lang="en-US" sz="3200" dirty="0">
              <a:cs typeface="Kalimati" panose="00000400000000000000" pitchFamily="2"/>
            </a:endParaRPr>
          </a:p>
          <a:p>
            <a:pPr marL="0" lvl="0" indent="0">
              <a:buNone/>
            </a:pPr>
            <a:endParaRPr lang="en-US" dirty="0"/>
          </a:p>
        </p:txBody>
      </p:sp>
    </p:spTree>
    <p:extLst>
      <p:ext uri="{BB962C8B-B14F-4D97-AF65-F5344CB8AC3E}">
        <p14:creationId xmlns:p14="http://schemas.microsoft.com/office/powerpoint/2010/main" val="19970442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r>
              <a:rPr lang="ne-NP" sz="4000" dirty="0" smtClean="0">
                <a:cs typeface="Kalimati" panose="00000400000000000000" pitchFamily="2"/>
              </a:rPr>
              <a:t>छलफल.................</a:t>
            </a:r>
          </a:p>
          <a:p>
            <a:pPr marL="0" indent="0" algn="ctr">
              <a:buNone/>
            </a:pPr>
            <a:endParaRPr lang="ne-NP" sz="4000" dirty="0" smtClean="0">
              <a:cs typeface="Kalimati" panose="00000400000000000000" pitchFamily="2"/>
            </a:endParaRPr>
          </a:p>
          <a:p>
            <a:pPr marL="0" indent="0" algn="ctr">
              <a:buNone/>
            </a:pPr>
            <a:endParaRPr lang="ne-NP" sz="4000" dirty="0">
              <a:cs typeface="Kalimati" panose="00000400000000000000" pitchFamily="2"/>
            </a:endParaRPr>
          </a:p>
          <a:p>
            <a:pPr marL="0" indent="0" algn="ctr">
              <a:buNone/>
            </a:pPr>
            <a:r>
              <a:rPr lang="ne-NP" sz="4000" dirty="0" smtClean="0">
                <a:cs typeface="Kalimati" panose="00000400000000000000" pitchFamily="2"/>
              </a:rPr>
              <a:t>कुनै जिज्ञाशा भए...........????????</a:t>
            </a:r>
            <a:endParaRPr lang="en-US" sz="4000" dirty="0">
              <a:cs typeface="Kalimati" panose="00000400000000000000" pitchFamily="2"/>
            </a:endParaRPr>
          </a:p>
        </p:txBody>
      </p:sp>
    </p:spTree>
    <p:extLst>
      <p:ext uri="{BB962C8B-B14F-4D97-AF65-F5344CB8AC3E}">
        <p14:creationId xmlns:p14="http://schemas.microsoft.com/office/powerpoint/2010/main" val="21742583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518</TotalTime>
  <Words>2158</Words>
  <Application>Microsoft Office PowerPoint</Application>
  <PresentationFormat>Widescreen</PresentationFormat>
  <Paragraphs>262</Paragraphs>
  <Slides>41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Calibri</vt:lpstr>
      <vt:lpstr>Calibri Light</vt:lpstr>
      <vt:lpstr>Kalimati</vt:lpstr>
      <vt:lpstr>Mangal</vt:lpstr>
      <vt:lpstr>Preeti</vt:lpstr>
      <vt:lpstr>Times New Roman</vt:lpstr>
      <vt:lpstr>Wingdings</vt:lpstr>
      <vt:lpstr>Office Theme</vt:lpstr>
      <vt:lpstr>पक्राउ पुर्जी, म्याद थप र प्रतिबादीको बयान</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संबैधानिक ब्यवस्था</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पक्राउ पुर्जी, म्याद थप र प्रतिबादीको बयान</dc:title>
  <dc:creator>DELL</dc:creator>
  <cp:lastModifiedBy>DELL</cp:lastModifiedBy>
  <cp:revision>58</cp:revision>
  <dcterms:created xsi:type="dcterms:W3CDTF">2026-01-12T14:27:04Z</dcterms:created>
  <dcterms:modified xsi:type="dcterms:W3CDTF">2026-01-15T16:04:04Z</dcterms:modified>
</cp:coreProperties>
</file>