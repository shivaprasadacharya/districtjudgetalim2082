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66" r:id="rId6"/>
    <p:sldId id="267" r:id="rId7"/>
    <p:sldId id="268" r:id="rId8"/>
    <p:sldId id="259" r:id="rId9"/>
    <p:sldId id="260" r:id="rId10"/>
    <p:sldId id="269" r:id="rId11"/>
    <p:sldId id="273" r:id="rId12"/>
    <p:sldId id="270" r:id="rId13"/>
    <p:sldId id="261" r:id="rId14"/>
    <p:sldId id="262" r:id="rId15"/>
    <p:sldId id="272" r:id="rId16"/>
    <p:sldId id="263" r:id="rId17"/>
    <p:sldId id="264" r:id="rId18"/>
    <p:sldId id="265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1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2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4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3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8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20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5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4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1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24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4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2735B-657B-47FB-9F41-4E4C70609BC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9E931-9DF6-4B02-B766-EFD876BFA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1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95082"/>
            <a:ext cx="9144000" cy="2756647"/>
          </a:xfrm>
        </p:spPr>
        <p:txBody>
          <a:bodyPr>
            <a:normAutofit/>
          </a:bodyPr>
          <a:lstStyle/>
          <a:p>
            <a:r>
              <a:rPr lang="en-US" sz="5400" b="1" dirty="0" smtClean="0"/>
              <a:t>Fair Trial and Role of District Judge </a:t>
            </a: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1" y="4502991"/>
            <a:ext cx="9144000" cy="1655762"/>
          </a:xfrm>
        </p:spPr>
        <p:txBody>
          <a:bodyPr/>
          <a:lstStyle/>
          <a:p>
            <a:pPr algn="r"/>
            <a:r>
              <a:rPr lang="en-US" dirty="0" smtClean="0"/>
              <a:t>Dr. </a:t>
            </a:r>
            <a:r>
              <a:rPr lang="en-US" dirty="0" err="1" smtClean="0"/>
              <a:t>Nahakul</a:t>
            </a:r>
            <a:r>
              <a:rPr lang="en-US" dirty="0" smtClean="0"/>
              <a:t> </a:t>
            </a:r>
            <a:r>
              <a:rPr lang="en-US" dirty="0" err="1" smtClean="0"/>
              <a:t>Subedi</a:t>
            </a:r>
            <a:endParaRPr lang="ne-NP" dirty="0" smtClean="0"/>
          </a:p>
          <a:p>
            <a:pPr algn="r"/>
            <a:r>
              <a:rPr lang="en-US" dirty="0" smtClean="0"/>
              <a:t>Justice, Supreme Court</a:t>
            </a:r>
            <a:endParaRPr lang="ne-NP" dirty="0" smtClean="0"/>
          </a:p>
          <a:p>
            <a:pPr algn="r"/>
            <a:r>
              <a:rPr lang="en-US" dirty="0" smtClean="0"/>
              <a:t>NJA</a:t>
            </a:r>
            <a:r>
              <a:rPr lang="ne-NP" dirty="0" smtClean="0"/>
              <a:t> </a:t>
            </a:r>
            <a:r>
              <a:rPr lang="en-US" dirty="0" smtClean="0"/>
              <a:t>2082/09/02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05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3682"/>
            <a:ext cx="10515600" cy="4953281"/>
          </a:xfrm>
        </p:spPr>
        <p:txBody>
          <a:bodyPr/>
          <a:lstStyle/>
          <a:p>
            <a:pPr marL="0" indent="0" algn="ctr">
              <a:buNone/>
            </a:pPr>
            <a:endParaRPr lang="en-US" sz="4000" b="1" dirty="0" smtClean="0"/>
          </a:p>
          <a:p>
            <a:pPr marL="0" indent="0" algn="ctr">
              <a:buNone/>
            </a:pPr>
            <a:r>
              <a:rPr lang="en-US" sz="4000" b="1" dirty="0" smtClean="0"/>
              <a:t>Congratulations and Best wishes </a:t>
            </a:r>
          </a:p>
          <a:p>
            <a:pPr marL="0" indent="0" algn="ctr">
              <a:buNone/>
            </a:pPr>
            <a:r>
              <a:rPr lang="en-US" sz="4000" b="1" dirty="0" smtClean="0"/>
              <a:t>on your new position</a:t>
            </a:r>
          </a:p>
          <a:p>
            <a:pPr marL="0" indent="0" algn="ctr">
              <a:buNone/>
            </a:pPr>
            <a:r>
              <a:rPr lang="en-US" sz="4000" b="1" u="sng" dirty="0" smtClean="0"/>
              <a:t>Hon’ble District Judge !!!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18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68064"/>
          </a:xfrm>
        </p:spPr>
        <p:txBody>
          <a:bodyPr/>
          <a:lstStyle/>
          <a:p>
            <a:r>
              <a:rPr lang="en-US" dirty="0" smtClean="0"/>
              <a:t>Fair trial is the foundation of </a:t>
            </a:r>
            <a:r>
              <a:rPr lang="en-US" b="1" u="sng" dirty="0" smtClean="0"/>
              <a:t>a justice system </a:t>
            </a:r>
            <a:r>
              <a:rPr lang="en-US" dirty="0" smtClean="0"/>
              <a:t>and rule of law</a:t>
            </a:r>
          </a:p>
          <a:p>
            <a:r>
              <a:rPr lang="en-US" b="1" dirty="0" smtClean="0"/>
              <a:t>not merely a procedural requirement </a:t>
            </a:r>
            <a:r>
              <a:rPr lang="en-US" dirty="0" smtClean="0"/>
              <a:t>but a </a:t>
            </a:r>
            <a:r>
              <a:rPr lang="en-US" b="1" dirty="0" smtClean="0"/>
              <a:t>substantive guarantee that ensures justice is done (</a:t>
            </a:r>
            <a:r>
              <a:rPr lang="en-US" dirty="0" smtClean="0"/>
              <a:t>seen to be done)</a:t>
            </a:r>
          </a:p>
          <a:p>
            <a:r>
              <a:rPr lang="en-US" u="sng" dirty="0" smtClean="0"/>
              <a:t>Fair process is as important as correct outcome </a:t>
            </a:r>
            <a:r>
              <a:rPr lang="en-US" dirty="0" smtClean="0"/>
              <a:t>- even a legally correct decision may lose legitimacy</a:t>
            </a:r>
          </a:p>
          <a:p>
            <a:r>
              <a:rPr lang="en-US" dirty="0" smtClean="0"/>
              <a:t>A fair trial strengthens public confidence in the judiciary- </a:t>
            </a:r>
            <a:r>
              <a:rPr lang="en-US" dirty="0" smtClean="0"/>
              <a:t>Trial courts are the first and most decisive forum for fair trial</a:t>
            </a:r>
          </a:p>
          <a:p>
            <a:r>
              <a:rPr lang="en-US" dirty="0" smtClean="0"/>
              <a:t>Evolving ideas/challenges- application of IT/MLA in court procedures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9695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of Fair Trial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Just, fair (impartial</a:t>
            </a:r>
            <a:r>
              <a:rPr lang="en-US" b="1" dirty="0"/>
              <a:t> </a:t>
            </a:r>
            <a:r>
              <a:rPr lang="en-US" b="1" dirty="0" smtClean="0"/>
              <a:t>and transparent) and reasonable</a:t>
            </a:r>
            <a:endParaRPr lang="ne-NP" b="1" dirty="0" smtClean="0"/>
          </a:p>
          <a:p>
            <a:r>
              <a:rPr lang="en-US" b="1" dirty="0" smtClean="0"/>
              <a:t>Due Process of law </a:t>
            </a:r>
            <a:r>
              <a:rPr lang="en-US" b="1" dirty="0" smtClean="0"/>
              <a:t>(substantive+ procedural)</a:t>
            </a:r>
            <a:endParaRPr lang="en-US" b="1" dirty="0" smtClean="0"/>
          </a:p>
          <a:p>
            <a:r>
              <a:rPr lang="en-US" dirty="0" smtClean="0"/>
              <a:t>Fair trial is </a:t>
            </a:r>
            <a:r>
              <a:rPr lang="en-US" dirty="0" smtClean="0"/>
              <a:t>not a theoretical concept but </a:t>
            </a:r>
            <a:r>
              <a:rPr lang="en-US" dirty="0" smtClean="0"/>
              <a:t>a practical obligation of ensuring justice- </a:t>
            </a:r>
            <a:r>
              <a:rPr lang="en-US" b="1" dirty="0" smtClean="0"/>
              <a:t>Article 126 </a:t>
            </a:r>
            <a:r>
              <a:rPr lang="en-US" dirty="0" smtClean="0"/>
              <a:t>(Constitution, law and recognized principles of justice)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84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Natural Justice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Audi Alteram Partem</a:t>
            </a:r>
            <a:r>
              <a:rPr lang="en-US" dirty="0" smtClean="0"/>
              <a:t>(Hear the other side)</a:t>
            </a:r>
          </a:p>
          <a:p>
            <a:pPr lvl="1"/>
            <a:r>
              <a:rPr lang="en-US" sz="2800" dirty="0" smtClean="0"/>
              <a:t>No person should be condemned without being heard</a:t>
            </a:r>
          </a:p>
          <a:p>
            <a:pPr lvl="1"/>
            <a:r>
              <a:rPr lang="en-US" sz="2800" dirty="0" smtClean="0"/>
              <a:t>Right to prior notice of the case</a:t>
            </a:r>
          </a:p>
          <a:p>
            <a:pPr lvl="1"/>
            <a:r>
              <a:rPr lang="en-US" sz="2800" dirty="0" smtClean="0"/>
              <a:t>Right to adequate opportunity to present one’s case</a:t>
            </a:r>
          </a:p>
          <a:p>
            <a:pPr lvl="1"/>
            <a:r>
              <a:rPr lang="en-US" sz="2800" dirty="0" smtClean="0"/>
              <a:t>Right to present evidence and rebut opposing evidence</a:t>
            </a:r>
          </a:p>
          <a:p>
            <a:pPr lvl="1"/>
            <a:r>
              <a:rPr lang="en-US" sz="2800" dirty="0" smtClean="0"/>
              <a:t>Right to cross-examine witnesses (where applicable)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394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smtClean="0"/>
              <a:t>Nemo </a:t>
            </a:r>
            <a:r>
              <a:rPr lang="en-US" i="1" dirty="0" err="1" smtClean="0"/>
              <a:t>Judex</a:t>
            </a:r>
            <a:r>
              <a:rPr lang="en-US" i="1" dirty="0" smtClean="0"/>
              <a:t> in Causa </a:t>
            </a:r>
            <a:r>
              <a:rPr lang="en-US" i="1" dirty="0" err="1" smtClean="0"/>
              <a:t>Sua</a:t>
            </a:r>
            <a:r>
              <a:rPr lang="en-US" i="1" dirty="0" smtClean="0"/>
              <a:t> (No one should be a judge in his own cause)</a:t>
            </a:r>
            <a:endParaRPr lang="en-US" dirty="0" smtClean="0"/>
          </a:p>
          <a:p>
            <a:pPr lvl="1"/>
            <a:r>
              <a:rPr lang="en-US" sz="3200" dirty="0" smtClean="0"/>
              <a:t>Decision-maker must be impartial</a:t>
            </a:r>
          </a:p>
          <a:p>
            <a:pPr lvl="1"/>
            <a:r>
              <a:rPr lang="en-US" sz="3200" dirty="0" smtClean="0"/>
              <a:t>Bias is against fair trials</a:t>
            </a:r>
          </a:p>
          <a:p>
            <a:pPr lvl="1"/>
            <a:r>
              <a:rPr lang="en-US" sz="3200" dirty="0" smtClean="0"/>
              <a:t>Includes:</a:t>
            </a:r>
          </a:p>
          <a:p>
            <a:pPr lvl="2"/>
            <a:r>
              <a:rPr lang="en-US" sz="2800" dirty="0" smtClean="0"/>
              <a:t>Personal bias</a:t>
            </a:r>
          </a:p>
          <a:p>
            <a:pPr lvl="2"/>
            <a:r>
              <a:rPr lang="en-US" sz="2800" dirty="0" smtClean="0"/>
              <a:t>Pecuniary bias</a:t>
            </a:r>
          </a:p>
          <a:p>
            <a:pPr lvl="2"/>
            <a:r>
              <a:rPr lang="en-US" sz="2800" dirty="0" smtClean="0"/>
              <a:t>Subject-matter bias</a:t>
            </a:r>
          </a:p>
          <a:p>
            <a:pPr lvl="2"/>
            <a:r>
              <a:rPr lang="en-US" sz="2800" dirty="0" smtClean="0"/>
              <a:t>Official or institutional bias</a:t>
            </a:r>
          </a:p>
          <a:p>
            <a:pPr lvl="1"/>
            <a:r>
              <a:rPr lang="en-US" sz="3200" dirty="0"/>
              <a:t>A</a:t>
            </a:r>
            <a:r>
              <a:rPr lang="en-US" sz="3200" dirty="0" smtClean="0"/>
              <a:t>ctual bias v. </a:t>
            </a:r>
            <a:r>
              <a:rPr lang="en-US" sz="3200" b="1" dirty="0" smtClean="0"/>
              <a:t>reasonable apprehension </a:t>
            </a:r>
            <a:r>
              <a:rPr lang="en-US" sz="3200" dirty="0" smtClean="0"/>
              <a:t>of bias</a:t>
            </a:r>
          </a:p>
          <a:p>
            <a:pPr lvl="1"/>
            <a:endParaRPr lang="en-US" sz="3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90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Reasoned Decision (Speaking Order) </a:t>
            </a:r>
            <a:r>
              <a:rPr lang="en-US" i="1" dirty="0" smtClean="0"/>
              <a:t>(Often treated as a modern principle)</a:t>
            </a:r>
            <a:endParaRPr lang="en-US" dirty="0" smtClean="0"/>
          </a:p>
          <a:p>
            <a:pPr lvl="1"/>
            <a:r>
              <a:rPr lang="en-US" sz="2800" dirty="0" smtClean="0"/>
              <a:t>Decision must disclose reasons</a:t>
            </a:r>
          </a:p>
          <a:p>
            <a:pPr lvl="1"/>
            <a:r>
              <a:rPr lang="en-US" sz="2800" dirty="0" smtClean="0"/>
              <a:t>Shows application of mind</a:t>
            </a:r>
          </a:p>
          <a:p>
            <a:pPr lvl="1"/>
            <a:r>
              <a:rPr lang="en-US" sz="2800" dirty="0" smtClean="0"/>
              <a:t>Enables appellate review</a:t>
            </a:r>
          </a:p>
          <a:p>
            <a:pPr lvl="1"/>
            <a:r>
              <a:rPr lang="en-US" sz="2800" dirty="0" smtClean="0"/>
              <a:t>Promotes transparency and accountability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3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Right to be heard (</a:t>
            </a:r>
            <a:r>
              <a:rPr lang="en-US" i="1" dirty="0" err="1" smtClean="0"/>
              <a:t>audi</a:t>
            </a:r>
            <a:r>
              <a:rPr lang="en-US" i="1" dirty="0" smtClean="0"/>
              <a:t> alteram partem</a:t>
            </a:r>
            <a:r>
              <a:rPr lang="en-US" dirty="0" smtClean="0"/>
              <a:t>)</a:t>
            </a:r>
          </a:p>
          <a:p>
            <a:r>
              <a:rPr lang="en-US" dirty="0" smtClean="0"/>
              <a:t>Right to an independent and impartial judge</a:t>
            </a:r>
          </a:p>
          <a:p>
            <a:r>
              <a:rPr lang="en-US" dirty="0" smtClean="0"/>
              <a:t>Adequate time and facilities to prepare the case</a:t>
            </a:r>
          </a:p>
          <a:p>
            <a:r>
              <a:rPr lang="en-US" dirty="0" smtClean="0"/>
              <a:t>Right to legal representation</a:t>
            </a:r>
          </a:p>
          <a:p>
            <a:r>
              <a:rPr lang="en-US" dirty="0" smtClean="0"/>
              <a:t>Opportunity to present evidence and cross-examine witnesses</a:t>
            </a:r>
          </a:p>
          <a:p>
            <a:r>
              <a:rPr lang="en-US" dirty="0" smtClean="0"/>
              <a:t>Reasoned and speaking judgment</a:t>
            </a:r>
          </a:p>
          <a:p>
            <a:r>
              <a:rPr lang="en-US" dirty="0" smtClean="0"/>
              <a:t>Timely disposal—delay can amount to injustice</a:t>
            </a:r>
          </a:p>
          <a:p>
            <a:r>
              <a:rPr lang="en-US" dirty="0" smtClean="0"/>
              <a:t>Enforcement of judgment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35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International standards: </a:t>
            </a:r>
          </a:p>
          <a:p>
            <a:r>
              <a:rPr lang="en-US" dirty="0" smtClean="0"/>
              <a:t>UDHR Article 10 (Philosophical foundation)</a:t>
            </a:r>
          </a:p>
          <a:p>
            <a:r>
              <a:rPr lang="en-US" dirty="0" smtClean="0"/>
              <a:t>ICCPR </a:t>
            </a:r>
            <a:r>
              <a:rPr lang="en-US" dirty="0" smtClean="0"/>
              <a:t>Article 14 (Operational standards) </a:t>
            </a:r>
          </a:p>
          <a:p>
            <a:r>
              <a:rPr lang="en-US" b="1" dirty="0" smtClean="0"/>
              <a:t>Key elements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                                                                                     cont.</a:t>
            </a:r>
          </a:p>
        </p:txBody>
      </p:sp>
    </p:spTree>
    <p:extLst>
      <p:ext uri="{BB962C8B-B14F-4D97-AF65-F5344CB8AC3E}">
        <p14:creationId xmlns:p14="http://schemas.microsoft.com/office/powerpoint/2010/main" val="399972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Component of ICCPR Art 14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Equality before courts and tribunals</a:t>
            </a:r>
          </a:p>
          <a:p>
            <a:r>
              <a:rPr lang="en-US" dirty="0" smtClean="0"/>
              <a:t>Fair and public hearing</a:t>
            </a:r>
          </a:p>
          <a:p>
            <a:r>
              <a:rPr lang="en-US" dirty="0" smtClean="0"/>
              <a:t>Competent, independent, and impartial tribunal</a:t>
            </a:r>
          </a:p>
          <a:p>
            <a:r>
              <a:rPr lang="en-US" dirty="0" smtClean="0"/>
              <a:t>Presumption of innocence</a:t>
            </a:r>
          </a:p>
          <a:p>
            <a:r>
              <a:rPr lang="en-US" dirty="0" smtClean="0"/>
              <a:t>Right to be informed promptly of charges</a:t>
            </a:r>
          </a:p>
          <a:p>
            <a:r>
              <a:rPr lang="en-US" dirty="0" smtClean="0"/>
              <a:t>Adequate time and facilities to prepare a </a:t>
            </a:r>
            <a:r>
              <a:rPr lang="en-US" dirty="0" err="1" smtClean="0"/>
              <a:t>defence</a:t>
            </a:r>
            <a:endParaRPr lang="en-US" dirty="0" smtClean="0"/>
          </a:p>
          <a:p>
            <a:r>
              <a:rPr lang="en-US" dirty="0" smtClean="0"/>
              <a:t>Right to legal assistance</a:t>
            </a:r>
          </a:p>
          <a:p>
            <a:r>
              <a:rPr lang="en-US" dirty="0" smtClean="0"/>
              <a:t>Right to examine witnesses</a:t>
            </a:r>
          </a:p>
          <a:p>
            <a:r>
              <a:rPr lang="en-US" dirty="0" smtClean="0"/>
              <a:t>Right to free interpretation if needed</a:t>
            </a:r>
          </a:p>
          <a:p>
            <a:r>
              <a:rPr lang="en-US" dirty="0" smtClean="0"/>
              <a:t>Right not to be compelled to confess guilt</a:t>
            </a:r>
          </a:p>
          <a:p>
            <a:r>
              <a:rPr lang="en-US" dirty="0" smtClean="0"/>
              <a:t>Right to review by a higher tribunal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/>
          <p:cNvSpPr>
            <a:spLocks noGrp="1"/>
          </p:cNvSpPr>
          <p:nvPr>
            <p:ph idx="1"/>
          </p:nvPr>
        </p:nvSpPr>
        <p:spPr>
          <a:xfrm>
            <a:off x="847165" y="685801"/>
            <a:ext cx="9516035" cy="5916705"/>
          </a:xfrm>
        </p:spPr>
        <p:txBody>
          <a:bodyPr>
            <a:normAutofit/>
          </a:bodyPr>
          <a:lstStyle/>
          <a:p>
            <a:pPr eaLnBrk="1" hangingPunct="1"/>
            <a:endParaRPr lang="ne-NP" altLang="en-US" sz="2200" b="1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b="1" dirty="0" smtClean="0"/>
              <a:t>Basic </a:t>
            </a:r>
            <a:r>
              <a:rPr lang="en-US" altLang="en-US" b="1" dirty="0"/>
              <a:t>Principles on the Independence of the Judiciary, 1985 </a:t>
            </a:r>
          </a:p>
          <a:p>
            <a:pPr eaLnBrk="1" hangingPunct="1">
              <a:buFont typeface="Wingdings 3" panose="05040102010807070707" pitchFamily="18" charset="2"/>
              <a:buNone/>
            </a:pPr>
            <a:r>
              <a:rPr lang="en-US" altLang="en-US" sz="2200" b="1" dirty="0"/>
              <a:t>	</a:t>
            </a:r>
            <a:r>
              <a:rPr lang="en-US" altLang="en-US" sz="2200" dirty="0"/>
              <a:t>(endorsed by </a:t>
            </a:r>
            <a:r>
              <a:rPr lang="en-US" altLang="en-US" sz="2200" b="1" dirty="0"/>
              <a:t>UN</a:t>
            </a:r>
            <a:r>
              <a:rPr lang="en-US" altLang="en-US" sz="2200" dirty="0"/>
              <a:t> General Assembly Resolution 40/146):</a:t>
            </a:r>
          </a:p>
          <a:p>
            <a:pPr eaLnBrk="1" hangingPunct="1"/>
            <a:r>
              <a:rPr lang="en-US" altLang="en-US" sz="2400" dirty="0"/>
              <a:t>There shall not be any </a:t>
            </a:r>
            <a:r>
              <a:rPr lang="en-US" altLang="en-US" sz="2400" i="1" dirty="0"/>
              <a:t>inappropriate or </a:t>
            </a:r>
            <a:r>
              <a:rPr lang="en-US" altLang="en-US" sz="2400" i="1" u="sng" dirty="0"/>
              <a:t>unwarranted (</a:t>
            </a:r>
            <a:r>
              <a:rPr lang="en-US" altLang="en-US" sz="2400" b="1" i="1" u="sng" dirty="0"/>
              <a:t>unnecessary) interference</a:t>
            </a:r>
            <a:r>
              <a:rPr lang="en-US" altLang="en-US" sz="2400" i="1" u="sng" dirty="0"/>
              <a:t>  </a:t>
            </a:r>
            <a:r>
              <a:rPr lang="en-US" altLang="en-US" sz="2400" u="sng" dirty="0"/>
              <a:t>with the </a:t>
            </a:r>
            <a:r>
              <a:rPr lang="en-US" altLang="en-US" sz="2400" i="1" u="sng" dirty="0"/>
              <a:t>judicial process</a:t>
            </a:r>
            <a:r>
              <a:rPr lang="en-US" altLang="en-US" sz="2400" u="sng" dirty="0"/>
              <a:t>.</a:t>
            </a:r>
          </a:p>
          <a:p>
            <a:pPr eaLnBrk="1" hangingPunct="1"/>
            <a:r>
              <a:rPr lang="en-US" altLang="en-US" sz="2400" dirty="0"/>
              <a:t>The judiciary shall decide matters before them </a:t>
            </a:r>
            <a:r>
              <a:rPr lang="en-US" altLang="en-US" sz="2400" i="1" u="sng" dirty="0"/>
              <a:t>impartially</a:t>
            </a:r>
            <a:r>
              <a:rPr lang="en-US" altLang="en-US" sz="2400" u="sng" dirty="0"/>
              <a:t>, on the </a:t>
            </a:r>
            <a:r>
              <a:rPr lang="en-US" altLang="en-US" sz="2400" i="1" u="sng" dirty="0"/>
              <a:t>basis of facts and in accordance with the law</a:t>
            </a:r>
            <a:r>
              <a:rPr lang="en-US" altLang="en-US" sz="2400" u="sng" dirty="0"/>
              <a:t>.</a:t>
            </a:r>
          </a:p>
          <a:p>
            <a:pPr eaLnBrk="1" hangingPunct="1"/>
            <a:r>
              <a:rPr lang="en-US" altLang="en-US" sz="2400" dirty="0" smtClean="0"/>
              <a:t> </a:t>
            </a:r>
            <a:r>
              <a:rPr lang="en-US" altLang="en-US" sz="2400" dirty="0"/>
              <a:t>Everyone shall have the </a:t>
            </a:r>
            <a:r>
              <a:rPr lang="en-US" altLang="en-US" sz="2400" i="1" u="sng" dirty="0"/>
              <a:t>right to be tried by ordinary courts </a:t>
            </a:r>
            <a:r>
              <a:rPr lang="en-US" altLang="en-US" sz="2400" u="sng" dirty="0"/>
              <a:t>or tribunals </a:t>
            </a:r>
            <a:r>
              <a:rPr lang="en-US" altLang="en-US" sz="2400" i="1" dirty="0"/>
              <a:t>using established legal procedures</a:t>
            </a:r>
            <a:r>
              <a:rPr lang="en-US" altLang="en-US" sz="2400" dirty="0"/>
              <a:t>.</a:t>
            </a:r>
          </a:p>
          <a:p>
            <a:pPr eaLnBrk="1" hangingPunct="1"/>
            <a:r>
              <a:rPr lang="en-US" altLang="en-US" sz="2400" dirty="0"/>
              <a:t>- Judiciary has to ensure </a:t>
            </a:r>
            <a:r>
              <a:rPr lang="en-US" altLang="en-US" sz="2400" i="1" dirty="0"/>
              <a:t>that judicial proceedings are conducted </a:t>
            </a:r>
            <a:r>
              <a:rPr lang="en-US" altLang="en-US" sz="2400" i="1" u="sng" dirty="0"/>
              <a:t>fairly </a:t>
            </a:r>
            <a:r>
              <a:rPr lang="en-US" altLang="en-US" sz="2400" u="sng" dirty="0"/>
              <a:t>and that the </a:t>
            </a:r>
            <a:r>
              <a:rPr lang="en-US" altLang="en-US" sz="2400" i="1" u="sng" dirty="0"/>
              <a:t>rights of the parties are respected</a:t>
            </a:r>
            <a:r>
              <a:rPr lang="en-US" altLang="en-US" sz="2400" u="sng" dirty="0"/>
              <a:t>.</a:t>
            </a:r>
          </a:p>
          <a:p>
            <a:pPr eaLnBrk="1" hangingPunct="1"/>
            <a:r>
              <a:rPr lang="en-US" altLang="en-US" sz="2400" dirty="0"/>
              <a:t>- It is </a:t>
            </a:r>
            <a:r>
              <a:rPr lang="en-US" altLang="en-US" sz="2400" b="1" i="1" dirty="0"/>
              <a:t>duty of each Member State to respect and observe the independence of the judiciary</a:t>
            </a:r>
            <a:r>
              <a:rPr lang="en-US" altLang="en-US" sz="2400" dirty="0"/>
              <a:t>; provide </a:t>
            </a:r>
            <a:r>
              <a:rPr lang="en-US" altLang="en-US" sz="2400" i="1" dirty="0"/>
              <a:t>adequate resources </a:t>
            </a:r>
            <a:r>
              <a:rPr lang="en-US" altLang="en-US" sz="2400" dirty="0"/>
              <a:t>to enable the judiciary to properly perform its functions.</a:t>
            </a:r>
            <a:endParaRPr lang="en-US" altLang="en-US" sz="2400" b="1" dirty="0"/>
          </a:p>
          <a:p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4438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Constitutional and Legal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Constitutional guarantees of the right to justice and fair hearing as a fundamental right. </a:t>
            </a:r>
          </a:p>
          <a:p>
            <a:pPr lvl="1"/>
            <a:r>
              <a:rPr lang="en-US" sz="2800" dirty="0" smtClean="0"/>
              <a:t>Article 20 (8)(9) Applicable not only on criminal charges but civil and administrative proceedings</a:t>
            </a:r>
          </a:p>
          <a:p>
            <a:r>
              <a:rPr lang="en-US" dirty="0" smtClean="0"/>
              <a:t>Preamble: independent, fair and competent judiciary</a:t>
            </a:r>
          </a:p>
          <a:p>
            <a:r>
              <a:rPr lang="en-US" dirty="0" smtClean="0"/>
              <a:t>Part 11 of the constitution on Judiciary: </a:t>
            </a:r>
          </a:p>
          <a:p>
            <a:pPr lvl="1"/>
            <a:r>
              <a:rPr lang="en-US" sz="2800" dirty="0" smtClean="0"/>
              <a:t>constitutional commitments to translated fair trial into reality </a:t>
            </a:r>
          </a:p>
          <a:p>
            <a:pPr marL="457200" lvl="1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                                                                                  cont.</a:t>
            </a:r>
          </a:p>
        </p:txBody>
      </p:sp>
    </p:spTree>
    <p:extLst>
      <p:ext uri="{BB962C8B-B14F-4D97-AF65-F5344CB8AC3E}">
        <p14:creationId xmlns:p14="http://schemas.microsoft.com/office/powerpoint/2010/main" val="149629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Legal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Procedural Codes, Court rules and other laws further operationalize this right through various rules on judicial proceedings </a:t>
            </a:r>
            <a:r>
              <a:rPr lang="en-US" dirty="0" smtClean="0"/>
              <a:t>such as submission of </a:t>
            </a:r>
            <a:r>
              <a:rPr lang="en-US" dirty="0" smtClean="0"/>
              <a:t>evidence, hearing and appeal </a:t>
            </a:r>
            <a:r>
              <a:rPr lang="en-US" dirty="0" err="1" smtClean="0"/>
              <a:t>procesures</a:t>
            </a:r>
            <a:r>
              <a:rPr lang="en-US" dirty="0" smtClean="0"/>
              <a:t>.</a:t>
            </a:r>
          </a:p>
          <a:p>
            <a:pPr lvl="1"/>
            <a:r>
              <a:rPr lang="en-US" sz="2800" b="1" dirty="0" smtClean="0"/>
              <a:t>Criminal procedure</a:t>
            </a:r>
            <a:r>
              <a:rPr lang="en-US" sz="2800" dirty="0" smtClean="0"/>
              <a:t>: no crime without law, retroactive law, presumption of innocence, double jeopardy, rights against self-incrimination etc.</a:t>
            </a:r>
          </a:p>
          <a:p>
            <a:pPr lvl="1"/>
            <a:r>
              <a:rPr lang="en-US" sz="2800" b="1" dirty="0" smtClean="0"/>
              <a:t>Civil procedure</a:t>
            </a:r>
            <a:r>
              <a:rPr lang="en-US" sz="2800" dirty="0" smtClean="0"/>
              <a:t>: hearing of parties, due process</a:t>
            </a:r>
          </a:p>
          <a:p>
            <a:pPr lvl="1"/>
            <a:r>
              <a:rPr lang="en-US" sz="2800" b="1" dirty="0" smtClean="0"/>
              <a:t>Evidence laws</a:t>
            </a:r>
            <a:r>
              <a:rPr lang="en-US" sz="2800" dirty="0" smtClean="0"/>
              <a:t>: submission, examination and evaluation of evidence, Judicial discretion must align with fair trial principles</a:t>
            </a:r>
          </a:p>
          <a:p>
            <a:r>
              <a:rPr lang="en-US" b="1" dirty="0" smtClean="0"/>
              <a:t>Procedure is a justice safeguard, not a technical obstacle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2703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Supreme Court on Fair Trial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Violation of natural justice </a:t>
            </a:r>
          </a:p>
          <a:p>
            <a:r>
              <a:rPr lang="en-US" dirty="0" smtClean="0"/>
              <a:t>Proper notice/summon</a:t>
            </a:r>
          </a:p>
          <a:p>
            <a:r>
              <a:rPr lang="en-US" dirty="0" smtClean="0"/>
              <a:t>Violation of procedures</a:t>
            </a:r>
          </a:p>
          <a:p>
            <a:r>
              <a:rPr lang="en-US" dirty="0" smtClean="0"/>
              <a:t>Equality of parties</a:t>
            </a:r>
          </a:p>
          <a:p>
            <a:r>
              <a:rPr lang="en-US" dirty="0" smtClean="0"/>
              <a:t>Judicial mind</a:t>
            </a:r>
          </a:p>
          <a:p>
            <a:r>
              <a:rPr lang="en-US" dirty="0" smtClean="0"/>
              <a:t>Denial of rebut of adverse evidence</a:t>
            </a:r>
          </a:p>
          <a:p>
            <a:r>
              <a:rPr lang="en-US" dirty="0" smtClean="0"/>
              <a:t>Bias—actual or likelihood</a:t>
            </a:r>
          </a:p>
          <a:p>
            <a:r>
              <a:rPr lang="en-US" dirty="0" smtClean="0"/>
              <a:t>restraining application of inherent power of judiciary violates Fair trial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9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576"/>
            <a:ext cx="10515600" cy="6629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ne-NP" b="1" dirty="0" smtClean="0"/>
          </a:p>
          <a:p>
            <a:pPr marL="0" indent="0">
              <a:buNone/>
            </a:pPr>
            <a:r>
              <a:rPr lang="ne-NP" sz="2600" b="1" dirty="0" smtClean="0"/>
              <a:t>सन्तोष कुमार महतो वि. भष्टाचार नियन्त्रण शाही आयोग समेत, ने.का.प.२०६२, अंक ११, पृ. १३०७</a:t>
            </a:r>
          </a:p>
          <a:p>
            <a:r>
              <a:rPr lang="ne-NP" sz="2600" dirty="0" smtClean="0"/>
              <a:t>छानबिन गर्ने, कारबाही गर्ने र सजाय गर्ने समेतको कार्य एउटै निकायलाई तोक्दा निस्पक्षता र स्वच्छता कायम हुन नसक्ने कारण भष्टाचार नियन्त्रण शाही आयोगको खारेज हुने</a:t>
            </a:r>
            <a:endParaRPr lang="en-US" sz="2600" dirty="0" smtClean="0"/>
          </a:p>
          <a:p>
            <a:pPr marL="0" indent="0">
              <a:buNone/>
            </a:pPr>
            <a:r>
              <a:rPr lang="ne-NP" sz="2600" b="1" dirty="0" smtClean="0"/>
              <a:t>डा</a:t>
            </a:r>
            <a:r>
              <a:rPr lang="en-US" sz="2600" b="1" dirty="0" smtClean="0"/>
              <a:t>.</a:t>
            </a:r>
            <a:r>
              <a:rPr lang="ne-NP" sz="2600" b="1" dirty="0" smtClean="0"/>
              <a:t> पुष्करराज पाण्डे वि सविना पाण्डे मुद्दा अंश नि</a:t>
            </a:r>
            <a:r>
              <a:rPr lang="en-US" sz="2600" b="1" dirty="0" smtClean="0"/>
              <a:t>.</a:t>
            </a:r>
            <a:r>
              <a:rPr lang="ne-NP" sz="2600" b="1" dirty="0" smtClean="0"/>
              <a:t>नं</a:t>
            </a:r>
            <a:r>
              <a:rPr lang="en-US" sz="2600" b="1" dirty="0" smtClean="0"/>
              <a:t>.</a:t>
            </a:r>
            <a:r>
              <a:rPr lang="ne-NP" sz="2600" b="1" dirty="0" smtClean="0"/>
              <a:t> ८५७२</a:t>
            </a:r>
          </a:p>
          <a:p>
            <a:r>
              <a:rPr lang="sa-IN" sz="2600" dirty="0"/>
              <a:t>विदेशको अदालतबाट भएको फैसलाले मान्यता पाउन मुद्दाको कारबाहीमा प्रतिवादी बनाइएको व्यक्तिको प्रभावकारी उपस्थितिको अवसर महत्वपूर्ण हुन्छ । मुद्दाको कारबाहीमा विभिन्न बाह्य कारणले गर्दा उपस्थिति सम्भव नभएको कारण भएको फैसलालाई </a:t>
            </a:r>
            <a:r>
              <a:rPr lang="en-US" sz="2600" dirty="0"/>
              <a:t>Fair Trial </a:t>
            </a:r>
            <a:r>
              <a:rPr lang="sa-IN" sz="2600" dirty="0"/>
              <a:t>मानिँदैन र त्यस्तो फैसलाले मान्यता नपाउने ।</a:t>
            </a:r>
          </a:p>
          <a:p>
            <a:r>
              <a:rPr lang="sa-IN" sz="2600" dirty="0"/>
              <a:t> महंगो अदालती कारबाही, अपरिचित कार्यविधि र आफ्नो विरुद्धको मुद्दामा आफ्नो उपस्थिति र आफ्नो जिकीर प्रमाणित गर्न साक्षी प्रमाण नै उपस्थित गराउन नसकिने कारबाहीलाई </a:t>
            </a:r>
            <a:r>
              <a:rPr lang="en-US" sz="2600" dirty="0"/>
              <a:t>Fair Trial </a:t>
            </a:r>
            <a:r>
              <a:rPr lang="sa-IN" sz="2600" dirty="0"/>
              <a:t>मानिँदैन भने </a:t>
            </a:r>
            <a:r>
              <a:rPr lang="en-US" sz="2600" dirty="0"/>
              <a:t>Fair Trial </a:t>
            </a:r>
            <a:r>
              <a:rPr lang="sa-IN" sz="2600" dirty="0"/>
              <a:t>नभएको फैसलालाई मान्यता प्रदान गर्न नसकिने </a:t>
            </a:r>
            <a:r>
              <a:rPr lang="sa-IN" sz="2600" dirty="0" smtClean="0"/>
              <a:t>।</a:t>
            </a:r>
            <a:endParaRPr lang="ne-NP" sz="2600" dirty="0" smtClean="0"/>
          </a:p>
          <a:p>
            <a:pPr marL="0" indent="0">
              <a:buNone/>
            </a:pPr>
            <a:r>
              <a:rPr lang="ne-NP" sz="2600" b="1" dirty="0" smtClean="0"/>
              <a:t>तारादेवी ढकाल वि</a:t>
            </a:r>
            <a:r>
              <a:rPr lang="en-US" sz="2600" b="1" dirty="0" smtClean="0"/>
              <a:t>.</a:t>
            </a:r>
            <a:r>
              <a:rPr lang="ne-NP" sz="2600" b="1" dirty="0" smtClean="0"/>
              <a:t> काठमाडौं जिल्ला अदालत समेत </a:t>
            </a:r>
          </a:p>
          <a:p>
            <a:r>
              <a:rPr lang="ne-NP" sz="2600" dirty="0" smtClean="0"/>
              <a:t>देवानी कार्यविधि संहिता बमोजिम प्रारम्भिक सुनुवाई पश्चात थप प्रमाण  फेला परेकोमा विचराधीन मुद्दामा थप प्रमाण ग्रहण नगर्नु स्वच्छ सुनुवाईको मान्यता विपरित हुने । </a:t>
            </a:r>
            <a:endParaRPr lang="sa-IN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10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Challenges: Actual vs. perceived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</a:t>
            </a:r>
            <a:r>
              <a:rPr lang="en-US" dirty="0" smtClean="0"/>
              <a:t>aseload and time limit/delay</a:t>
            </a:r>
          </a:p>
          <a:p>
            <a:r>
              <a:rPr lang="en-US" dirty="0" smtClean="0"/>
              <a:t>Procedural requirements</a:t>
            </a:r>
          </a:p>
          <a:p>
            <a:r>
              <a:rPr lang="en-US" dirty="0" smtClean="0"/>
              <a:t>Insufficient physical infrastructure and human resource</a:t>
            </a:r>
            <a:endParaRPr lang="en-US" dirty="0" smtClean="0"/>
          </a:p>
          <a:p>
            <a:r>
              <a:rPr lang="en-US" dirty="0" smtClean="0"/>
              <a:t>Weak case management capacity i.e. DCM</a:t>
            </a:r>
          </a:p>
          <a:p>
            <a:r>
              <a:rPr lang="en-US" dirty="0" smtClean="0"/>
              <a:t>Lack of professionalism/coordination of/with Bar; i.e. adjournments and delay tactics</a:t>
            </a:r>
          </a:p>
          <a:p>
            <a:r>
              <a:rPr lang="en-US" dirty="0" smtClean="0"/>
              <a:t>Poor investigation/prosecution/pleadings</a:t>
            </a:r>
          </a:p>
          <a:p>
            <a:r>
              <a:rPr lang="en-US" dirty="0" smtClean="0"/>
              <a:t>Unrepresented or poorly represented litigants</a:t>
            </a:r>
          </a:p>
          <a:p>
            <a:r>
              <a:rPr lang="en-US" dirty="0" smtClean="0"/>
              <a:t>Language barriers and witness management issues</a:t>
            </a:r>
          </a:p>
          <a:p>
            <a:r>
              <a:rPr lang="en-US" dirty="0" smtClean="0"/>
              <a:t>External pressure, public expectation and extra-judicious consideration</a:t>
            </a:r>
          </a:p>
        </p:txBody>
      </p:sp>
    </p:spTree>
    <p:extLst>
      <p:ext uri="{BB962C8B-B14F-4D97-AF65-F5344CB8AC3E}">
        <p14:creationId xmlns:p14="http://schemas.microsoft.com/office/powerpoint/2010/main" val="166929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Trial Court Judge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800" b="1" dirty="0" smtClean="0"/>
              <a:t>Primary guardian of fair trial rights</a:t>
            </a:r>
          </a:p>
          <a:p>
            <a:r>
              <a:rPr lang="en-US" dirty="0" smtClean="0"/>
              <a:t>Application of </a:t>
            </a:r>
            <a:r>
              <a:rPr lang="en-US" dirty="0" smtClean="0"/>
              <a:t> law, precedents and rule of procedures</a:t>
            </a:r>
          </a:p>
          <a:p>
            <a:r>
              <a:rPr lang="en-US" dirty="0" smtClean="0"/>
              <a:t>Ensure equality between parties</a:t>
            </a:r>
          </a:p>
          <a:p>
            <a:r>
              <a:rPr lang="en-US" dirty="0" smtClean="0"/>
              <a:t>Ensure proper notice and meaningful hearing</a:t>
            </a:r>
          </a:p>
          <a:p>
            <a:r>
              <a:rPr lang="en-US" dirty="0" smtClean="0"/>
              <a:t>Every case vis-à-vis order and hearing matters</a:t>
            </a:r>
          </a:p>
          <a:p>
            <a:r>
              <a:rPr lang="en-US" dirty="0" smtClean="0"/>
              <a:t>Maintain neutrality and courtroom decorum </a:t>
            </a:r>
          </a:p>
          <a:p>
            <a:r>
              <a:rPr lang="en-US" dirty="0" smtClean="0"/>
              <a:t>Prevent abuse of power/process </a:t>
            </a:r>
          </a:p>
          <a:p>
            <a:r>
              <a:rPr lang="en-US" dirty="0" smtClean="0"/>
              <a:t>Active but impartial case management</a:t>
            </a:r>
          </a:p>
          <a:p>
            <a:r>
              <a:rPr lang="en-US" dirty="0" smtClean="0"/>
              <a:t>Deliver clear, reasoned, and evidence-based judgments</a:t>
            </a:r>
          </a:p>
          <a:p>
            <a:r>
              <a:rPr lang="en-US" dirty="0" smtClean="0"/>
              <a:t>Judicial behavior: humility, Politeness, Patience, Respectful,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Public trust and confidence </a:t>
            </a:r>
            <a:r>
              <a:rPr lang="en-US" b="1" dirty="0" smtClean="0"/>
              <a:t>largely </a:t>
            </a:r>
            <a:r>
              <a:rPr lang="en-US" b="1" dirty="0" smtClean="0"/>
              <a:t>depends on trial judge conduct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2992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Remarks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Fair trial is the backbone of the rule of law</a:t>
            </a:r>
          </a:p>
          <a:p>
            <a:r>
              <a:rPr lang="en-US" dirty="0" smtClean="0"/>
              <a:t>Trial court shapes the case vis-à-vis fair trial</a:t>
            </a:r>
          </a:p>
          <a:p>
            <a:r>
              <a:rPr lang="en-US" dirty="0" smtClean="0"/>
              <a:t>Constitution, Laws and precedents gives the rule not the wisdom that requires to ensure justice</a:t>
            </a:r>
          </a:p>
          <a:p>
            <a:r>
              <a:rPr lang="en-US" dirty="0" smtClean="0"/>
              <a:t>Commitment to fair trial is a constitutional, professional, and moral obligation not a pleasure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66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2012"/>
            <a:ext cx="10515600" cy="5544951"/>
          </a:xfrm>
        </p:spPr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11500" b="1" dirty="0" smtClean="0"/>
              <a:t>Thank you. </a:t>
            </a:r>
            <a:endParaRPr lang="en-US" sz="11500" b="1" dirty="0"/>
          </a:p>
        </p:txBody>
      </p:sp>
    </p:spTree>
    <p:extLst>
      <p:ext uri="{BB962C8B-B14F-4D97-AF65-F5344CB8AC3E}">
        <p14:creationId xmlns:p14="http://schemas.microsoft.com/office/powerpoint/2010/main" val="74342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Words>896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Mangal</vt:lpstr>
      <vt:lpstr>Wingdings 3</vt:lpstr>
      <vt:lpstr>Office Theme</vt:lpstr>
      <vt:lpstr>Fair Trial and Role of District Judge </vt:lpstr>
      <vt:lpstr>PowerPoint Presentation</vt:lpstr>
      <vt:lpstr>Introduction</vt:lpstr>
      <vt:lpstr>Concept of Fair Trial</vt:lpstr>
      <vt:lpstr>Natural Justice</vt:lpstr>
      <vt:lpstr>PowerPoint Presentation</vt:lpstr>
      <vt:lpstr>PowerPoint Presentation</vt:lpstr>
      <vt:lpstr>Content</vt:lpstr>
      <vt:lpstr>Context </vt:lpstr>
      <vt:lpstr>Key Component of ICCPR Art 14</vt:lpstr>
      <vt:lpstr>PowerPoint Presentation</vt:lpstr>
      <vt:lpstr>Constitutional and Legal Framework</vt:lpstr>
      <vt:lpstr>Legal Framework</vt:lpstr>
      <vt:lpstr>Supreme Court on Fair Trial</vt:lpstr>
      <vt:lpstr>PowerPoint Presentation</vt:lpstr>
      <vt:lpstr>Challenges: Actual vs. perceived</vt:lpstr>
      <vt:lpstr>Role of Trial Court Judge</vt:lpstr>
      <vt:lpstr>Final Remarks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स्वच्छ सुनुवाई र जिल्ला न्यायाधीशको भूमिका</dc:title>
  <dc:creator>N</dc:creator>
  <cp:lastModifiedBy>N</cp:lastModifiedBy>
  <cp:revision>40</cp:revision>
  <dcterms:created xsi:type="dcterms:W3CDTF">2026-01-15T09:22:19Z</dcterms:created>
  <dcterms:modified xsi:type="dcterms:W3CDTF">2026-01-15T13:35:11Z</dcterms:modified>
</cp:coreProperties>
</file>