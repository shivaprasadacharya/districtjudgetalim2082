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notesMasterIdLst>
    <p:notesMasterId r:id="rId38"/>
  </p:notesMasterIdLst>
  <p:sldIdLst>
    <p:sldId id="258" r:id="rId2"/>
    <p:sldId id="436" r:id="rId3"/>
    <p:sldId id="386" r:id="rId4"/>
    <p:sldId id="344" r:id="rId5"/>
    <p:sldId id="426" r:id="rId6"/>
    <p:sldId id="429" r:id="rId7"/>
    <p:sldId id="420" r:id="rId8"/>
    <p:sldId id="422" r:id="rId9"/>
    <p:sldId id="443" r:id="rId10"/>
    <p:sldId id="384" r:id="rId11"/>
    <p:sldId id="430" r:id="rId12"/>
    <p:sldId id="359" r:id="rId13"/>
    <p:sldId id="357" r:id="rId14"/>
    <p:sldId id="347" r:id="rId15"/>
    <p:sldId id="383" r:id="rId16"/>
    <p:sldId id="349" r:id="rId17"/>
    <p:sldId id="432" r:id="rId18"/>
    <p:sldId id="434" r:id="rId19"/>
    <p:sldId id="360" r:id="rId20"/>
    <p:sldId id="406" r:id="rId21"/>
    <p:sldId id="363" r:id="rId22"/>
    <p:sldId id="364" r:id="rId23"/>
    <p:sldId id="440" r:id="rId24"/>
    <p:sldId id="397" r:id="rId25"/>
    <p:sldId id="392" r:id="rId26"/>
    <p:sldId id="407" r:id="rId27"/>
    <p:sldId id="382" r:id="rId28"/>
    <p:sldId id="376" r:id="rId29"/>
    <p:sldId id="437" r:id="rId30"/>
    <p:sldId id="418" r:id="rId31"/>
    <p:sldId id="414" r:id="rId32"/>
    <p:sldId id="442" r:id="rId33"/>
    <p:sldId id="337" r:id="rId34"/>
    <p:sldId id="374" r:id="rId35"/>
    <p:sldId id="444" r:id="rId36"/>
    <p:sldId id="435"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A16FF8D-E9D1-4DF7-A750-1328334B05CE}">
          <p14:sldIdLst>
            <p14:sldId id="258"/>
            <p14:sldId id="436"/>
            <p14:sldId id="386"/>
            <p14:sldId id="344"/>
            <p14:sldId id="426"/>
            <p14:sldId id="429"/>
            <p14:sldId id="420"/>
            <p14:sldId id="422"/>
          </p14:sldIdLst>
        </p14:section>
        <p14:section name="Untitled Section" id="{07ABCB92-0EB5-450E-B891-5AF7689AEED9}">
          <p14:sldIdLst>
            <p14:sldId id="443"/>
            <p14:sldId id="384"/>
            <p14:sldId id="430"/>
            <p14:sldId id="359"/>
            <p14:sldId id="357"/>
            <p14:sldId id="347"/>
            <p14:sldId id="383"/>
            <p14:sldId id="349"/>
            <p14:sldId id="432"/>
            <p14:sldId id="434"/>
            <p14:sldId id="360"/>
            <p14:sldId id="406"/>
            <p14:sldId id="363"/>
            <p14:sldId id="364"/>
            <p14:sldId id="440"/>
            <p14:sldId id="397"/>
            <p14:sldId id="392"/>
            <p14:sldId id="407"/>
            <p14:sldId id="382"/>
            <p14:sldId id="376"/>
            <p14:sldId id="437"/>
            <p14:sldId id="418"/>
            <p14:sldId id="414"/>
            <p14:sldId id="442"/>
            <p14:sldId id="337"/>
            <p14:sldId id="374"/>
            <p14:sldId id="444"/>
            <p14:sldId id="43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0" autoAdjust="0"/>
    <p:restoredTop sz="94660"/>
  </p:normalViewPr>
  <p:slideViewPr>
    <p:cSldViewPr>
      <p:cViewPr varScale="1">
        <p:scale>
          <a:sx n="115" d="100"/>
          <a:sy n="115" d="100"/>
        </p:scale>
        <p:origin x="142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6DBBBA4-3656-4026-9B5A-3721EBA41E14}" type="doc">
      <dgm:prSet loTypeId="urn:microsoft.com/office/officeart/2005/8/layout/hierarchy3" loCatId="list" qsTypeId="urn:microsoft.com/office/officeart/2005/8/quickstyle/simple1" qsCatId="simple" csTypeId="urn:microsoft.com/office/officeart/2005/8/colors/accent5_2" csCatId="accent5" phldr="1"/>
      <dgm:spPr/>
      <dgm:t>
        <a:bodyPr/>
        <a:lstStyle/>
        <a:p>
          <a:endParaRPr lang="en-US"/>
        </a:p>
      </dgm:t>
    </dgm:pt>
    <dgm:pt modelId="{095D99F8-7C8F-4BAE-BF3E-771C9DEEBD3C}">
      <dgm:prSet phldrT="[Text]" custT="1"/>
      <dgm:spPr/>
      <dgm:t>
        <a:bodyPr/>
        <a:lstStyle/>
        <a:p>
          <a:r>
            <a:rPr lang="ne-NP" sz="2800" dirty="0">
              <a:latin typeface="Preeti" pitchFamily="2" charset="0"/>
              <a:cs typeface="Kalimati" panose="00000400000000000000" pitchFamily="2"/>
            </a:rPr>
            <a:t>थुनाका आधारहरु</a:t>
          </a:r>
          <a:endParaRPr lang="en-US" sz="2800" dirty="0">
            <a:latin typeface="Preeti" pitchFamily="2" charset="0"/>
            <a:cs typeface="Kalimati" panose="00000400000000000000" pitchFamily="2"/>
          </a:endParaRPr>
        </a:p>
        <a:p>
          <a:endParaRPr lang="en-US" sz="3200" dirty="0">
            <a:latin typeface="Preeti" pitchFamily="2" charset="0"/>
          </a:endParaRPr>
        </a:p>
      </dgm:t>
    </dgm:pt>
    <dgm:pt modelId="{45AA29D9-FB36-4744-80BC-7D40E5DF80E6}" type="parTrans" cxnId="{365CFE7A-EF19-4918-A226-62A8C67EC63F}">
      <dgm:prSet/>
      <dgm:spPr/>
      <dgm:t>
        <a:bodyPr/>
        <a:lstStyle/>
        <a:p>
          <a:endParaRPr lang="en-US"/>
        </a:p>
      </dgm:t>
    </dgm:pt>
    <dgm:pt modelId="{7F1615BD-58D3-4AB4-A7FE-FFAC75F25043}" type="sibTrans" cxnId="{365CFE7A-EF19-4918-A226-62A8C67EC63F}">
      <dgm:prSet/>
      <dgm:spPr/>
      <dgm:t>
        <a:bodyPr/>
        <a:lstStyle/>
        <a:p>
          <a:endParaRPr lang="en-US"/>
        </a:p>
      </dgm:t>
    </dgm:pt>
    <dgm:pt modelId="{8558F9DA-244B-4D5B-A1C7-E47ADA773583}">
      <dgm:prSet phldrT="[Text]" custT="1"/>
      <dgm:spPr/>
      <dgm:t>
        <a:bodyPr/>
        <a:lstStyle/>
        <a:p>
          <a:r>
            <a:rPr lang="ne-NP" sz="1800" dirty="0">
              <a:latin typeface="Preeti" pitchFamily="2" charset="0"/>
              <a:cs typeface="Kalimati" panose="00000400000000000000" pitchFamily="2"/>
            </a:rPr>
            <a:t>तत्काल प्राप्त प्रमाणबाट कसूरदार देखिने भएमा वा</a:t>
          </a:r>
          <a:endParaRPr lang="en-US" sz="1800" dirty="0">
            <a:latin typeface="Preeti" pitchFamily="2" charset="0"/>
            <a:cs typeface="Kalimati" panose="00000400000000000000" pitchFamily="2"/>
          </a:endParaRPr>
        </a:p>
      </dgm:t>
    </dgm:pt>
    <dgm:pt modelId="{0B2CD569-E4AE-47E2-819C-74E42E89AF83}" type="parTrans" cxnId="{44E00A51-5FE4-4F50-B9EE-7C656B28FE43}">
      <dgm:prSet/>
      <dgm:spPr/>
      <dgm:t>
        <a:bodyPr/>
        <a:lstStyle/>
        <a:p>
          <a:endParaRPr lang="en-US"/>
        </a:p>
      </dgm:t>
    </dgm:pt>
    <dgm:pt modelId="{6885A960-38A9-4268-9A73-D587D959A198}" type="sibTrans" cxnId="{44E00A51-5FE4-4F50-B9EE-7C656B28FE43}">
      <dgm:prSet/>
      <dgm:spPr/>
      <dgm:t>
        <a:bodyPr/>
        <a:lstStyle/>
        <a:p>
          <a:endParaRPr lang="en-US"/>
        </a:p>
      </dgm:t>
    </dgm:pt>
    <dgm:pt modelId="{C812FF31-DFC5-4DF0-AA71-83952729F186}">
      <dgm:prSet phldrT="[Text]" custT="1"/>
      <dgm:spPr/>
      <dgm:t>
        <a:bodyPr/>
        <a:lstStyle/>
        <a:p>
          <a:r>
            <a:rPr lang="ne-NP" sz="2800" dirty="0">
              <a:latin typeface="Preeti" pitchFamily="2" charset="0"/>
              <a:cs typeface="Kalimati" panose="00000400000000000000" pitchFamily="2"/>
            </a:rPr>
            <a:t>थुनामा राख्ने कसूरहरु</a:t>
          </a:r>
          <a:endParaRPr lang="en-US" sz="2800" dirty="0">
            <a:latin typeface="Preeti" pitchFamily="2" charset="0"/>
            <a:cs typeface="Kalimati" panose="00000400000000000000" pitchFamily="2"/>
          </a:endParaRPr>
        </a:p>
      </dgm:t>
    </dgm:pt>
    <dgm:pt modelId="{FE52BC0B-E269-4ACC-A3DA-73279E8A14E6}" type="parTrans" cxnId="{7BD4AF04-10A7-47BF-8F65-55FE54252BB7}">
      <dgm:prSet/>
      <dgm:spPr/>
      <dgm:t>
        <a:bodyPr/>
        <a:lstStyle/>
        <a:p>
          <a:endParaRPr lang="en-US"/>
        </a:p>
      </dgm:t>
    </dgm:pt>
    <dgm:pt modelId="{6ADF0B30-BD57-4B91-BDCD-91BA89A54296}" type="sibTrans" cxnId="{7BD4AF04-10A7-47BF-8F65-55FE54252BB7}">
      <dgm:prSet/>
      <dgm:spPr/>
      <dgm:t>
        <a:bodyPr/>
        <a:lstStyle/>
        <a:p>
          <a:endParaRPr lang="en-US"/>
        </a:p>
      </dgm:t>
    </dgm:pt>
    <dgm:pt modelId="{09CB61D4-56A9-41D9-9DEA-60EAFAA9A0E7}">
      <dgm:prSet phldrT="[Text]" custT="1"/>
      <dgm:spPr/>
      <dgm:t>
        <a:bodyPr/>
        <a:lstStyle/>
        <a:p>
          <a:endParaRPr lang="en-US" sz="2000" dirty="0">
            <a:latin typeface="Preeti" pitchFamily="2" charset="0"/>
          </a:endParaRPr>
        </a:p>
        <a:p>
          <a:r>
            <a:rPr lang="ne-NP" sz="1800" dirty="0">
              <a:latin typeface="Preeti" pitchFamily="2" charset="0"/>
              <a:cs typeface="Kalimati" panose="00000400000000000000" pitchFamily="2"/>
            </a:rPr>
            <a:t>जन्म कैदको सजाय हुन सक्ने कसूर, </a:t>
          </a:r>
          <a:endParaRPr lang="en-US" sz="1800" dirty="0">
            <a:latin typeface="Preeti" pitchFamily="2" charset="0"/>
            <a:cs typeface="Kalimati" panose="00000400000000000000" pitchFamily="2"/>
          </a:endParaRPr>
        </a:p>
        <a:p>
          <a:endParaRPr lang="en-US" sz="2800" dirty="0">
            <a:latin typeface="Preeti" pitchFamily="2" charset="0"/>
          </a:endParaRPr>
        </a:p>
      </dgm:t>
    </dgm:pt>
    <dgm:pt modelId="{C9D6147E-C861-4736-86B6-1E26D665AA24}" type="parTrans" cxnId="{2528748B-FA36-4B25-82BD-4356A35B7BF3}">
      <dgm:prSet/>
      <dgm:spPr/>
      <dgm:t>
        <a:bodyPr/>
        <a:lstStyle/>
        <a:p>
          <a:endParaRPr lang="en-US"/>
        </a:p>
      </dgm:t>
    </dgm:pt>
    <dgm:pt modelId="{35635728-76B9-4B39-A267-745BCE1879B4}" type="sibTrans" cxnId="{2528748B-FA36-4B25-82BD-4356A35B7BF3}">
      <dgm:prSet/>
      <dgm:spPr/>
      <dgm:t>
        <a:bodyPr/>
        <a:lstStyle/>
        <a:p>
          <a:endParaRPr lang="en-US"/>
        </a:p>
      </dgm:t>
    </dgm:pt>
    <dgm:pt modelId="{2067CE1B-259A-4732-84F7-0BB78AAB8A21}">
      <dgm:prSet custT="1"/>
      <dgm:spPr/>
      <dgm:t>
        <a:bodyPr/>
        <a:lstStyle/>
        <a:p>
          <a:r>
            <a:rPr lang="ne-NP" sz="1800" dirty="0">
              <a:latin typeface="Preeti" pitchFamily="2" charset="0"/>
              <a:cs typeface="Kalimati" panose="00000400000000000000" pitchFamily="2"/>
            </a:rPr>
            <a:t>कसूरदार हो भन्ने विश्वास गर्ने कुनै मनासिब आधार भएमा</a:t>
          </a:r>
          <a:endParaRPr lang="en-US" sz="1800" dirty="0">
            <a:latin typeface="Preeti" pitchFamily="2" charset="0"/>
            <a:cs typeface="Kalimati" panose="00000400000000000000" pitchFamily="2"/>
          </a:endParaRPr>
        </a:p>
      </dgm:t>
    </dgm:pt>
    <dgm:pt modelId="{716E731C-0790-41F3-B50E-42F4E22A2FA4}" type="parTrans" cxnId="{7B2FA0B3-1CEA-4170-B83D-BB9390DE7C68}">
      <dgm:prSet/>
      <dgm:spPr/>
      <dgm:t>
        <a:bodyPr/>
        <a:lstStyle/>
        <a:p>
          <a:endParaRPr lang="en-US"/>
        </a:p>
      </dgm:t>
    </dgm:pt>
    <dgm:pt modelId="{214AE667-06E5-4971-88C1-453EA7ADBEE8}" type="sibTrans" cxnId="{7B2FA0B3-1CEA-4170-B83D-BB9390DE7C68}">
      <dgm:prSet/>
      <dgm:spPr/>
      <dgm:t>
        <a:bodyPr/>
        <a:lstStyle/>
        <a:p>
          <a:endParaRPr lang="en-US"/>
        </a:p>
      </dgm:t>
    </dgm:pt>
    <dgm:pt modelId="{C2A6F780-EBEB-479F-B1C9-0785C65AB7D0}">
      <dgm:prSet custT="1"/>
      <dgm:spPr/>
      <dgm:t>
        <a:bodyPr/>
        <a:lstStyle/>
        <a:p>
          <a:r>
            <a:rPr lang="ne-NP" sz="1800" dirty="0">
              <a:latin typeface="Preeti" pitchFamily="2" charset="0"/>
              <a:cs typeface="Kalimati" panose="00000400000000000000" pitchFamily="2"/>
            </a:rPr>
            <a:t>आधार र कारण खुलाउन पर्ने</a:t>
          </a:r>
          <a:endParaRPr lang="en-US" sz="1800" dirty="0">
            <a:latin typeface="Preeti" pitchFamily="2" charset="0"/>
            <a:cs typeface="Kalimati" panose="00000400000000000000" pitchFamily="2"/>
          </a:endParaRPr>
        </a:p>
      </dgm:t>
    </dgm:pt>
    <dgm:pt modelId="{4BC7F4E1-9DF5-4886-837C-9D401F6C8FD5}" type="parTrans" cxnId="{5DBDC982-E191-4B35-9314-52DC76B19538}">
      <dgm:prSet/>
      <dgm:spPr/>
      <dgm:t>
        <a:bodyPr/>
        <a:lstStyle/>
        <a:p>
          <a:endParaRPr lang="en-US"/>
        </a:p>
      </dgm:t>
    </dgm:pt>
    <dgm:pt modelId="{4E7E66DA-7DDA-404F-804B-C9FE4534B294}" type="sibTrans" cxnId="{5DBDC982-E191-4B35-9314-52DC76B19538}">
      <dgm:prSet/>
      <dgm:spPr/>
      <dgm:t>
        <a:bodyPr/>
        <a:lstStyle/>
        <a:p>
          <a:endParaRPr lang="en-US"/>
        </a:p>
      </dgm:t>
    </dgm:pt>
    <dgm:pt modelId="{9D9E436D-97DD-46A9-86D1-3E9F0B8BC430}">
      <dgm:prSet custT="1"/>
      <dgm:spPr/>
      <dgm:t>
        <a:bodyPr/>
        <a:lstStyle/>
        <a:p>
          <a:r>
            <a:rPr lang="ne-NP" sz="1600" dirty="0">
              <a:latin typeface="Preeti" pitchFamily="2" charset="0"/>
              <a:cs typeface="Kalimati" panose="00000400000000000000" pitchFamily="2"/>
            </a:rPr>
            <a:t>तीन वर्षभन्दा बढी कैदको सजाय हुन सक्ने संहिताको अनुसूची–१ वा अनुसूची–२ अन्तर्गतका कसूर, वा</a:t>
          </a:r>
          <a:endParaRPr lang="en-US" sz="1600" dirty="0">
            <a:latin typeface="Preeti" pitchFamily="2" charset="0"/>
            <a:cs typeface="Kalimati" panose="00000400000000000000" pitchFamily="2"/>
          </a:endParaRPr>
        </a:p>
      </dgm:t>
    </dgm:pt>
    <dgm:pt modelId="{32063C60-ED5D-42B8-B8D0-9F08136E1030}" type="parTrans" cxnId="{9E8586AF-B11F-44BC-8679-065C7D208482}">
      <dgm:prSet/>
      <dgm:spPr/>
      <dgm:t>
        <a:bodyPr/>
        <a:lstStyle/>
        <a:p>
          <a:endParaRPr lang="en-US"/>
        </a:p>
      </dgm:t>
    </dgm:pt>
    <dgm:pt modelId="{B075D5C2-7C97-4DEB-8EA8-6DFE1D239A27}" type="sibTrans" cxnId="{9E8586AF-B11F-44BC-8679-065C7D208482}">
      <dgm:prSet/>
      <dgm:spPr/>
      <dgm:t>
        <a:bodyPr/>
        <a:lstStyle/>
        <a:p>
          <a:endParaRPr lang="en-US"/>
        </a:p>
      </dgm:t>
    </dgm:pt>
    <dgm:pt modelId="{0746CCD9-1EF4-4F38-A3EF-32B7AF818637}">
      <dgm:prSet custT="1"/>
      <dgm:spPr/>
      <dgm:t>
        <a:bodyPr/>
        <a:lstStyle/>
        <a:p>
          <a:endParaRPr lang="en-US" sz="2400" dirty="0">
            <a:latin typeface="Preeti" pitchFamily="2" charset="0"/>
          </a:endParaRPr>
        </a:p>
        <a:p>
          <a:r>
            <a:rPr lang="ne-NP" sz="1600" dirty="0">
              <a:latin typeface="Preeti" pitchFamily="2" charset="0"/>
              <a:cs typeface="Kalimati" panose="00000400000000000000" pitchFamily="2"/>
            </a:rPr>
            <a:t>सो कसूरको उद्योग, दुरुत्साहन वा आपराधिक षडयन्त्र गरेको वा त्यस्तो कसूरमा मतियार भएको कसूर।</a:t>
          </a:r>
          <a:endParaRPr lang="en-US" sz="1600" dirty="0">
            <a:latin typeface="Preeti" pitchFamily="2" charset="0"/>
            <a:cs typeface="Kalimati" panose="00000400000000000000" pitchFamily="2"/>
          </a:endParaRPr>
        </a:p>
      </dgm:t>
    </dgm:pt>
    <dgm:pt modelId="{695A1CD2-B3DD-43EA-B080-C27558958CC3}" type="parTrans" cxnId="{A76C5070-1403-47EE-89ED-740AA8522E00}">
      <dgm:prSet/>
      <dgm:spPr/>
      <dgm:t>
        <a:bodyPr/>
        <a:lstStyle/>
        <a:p>
          <a:endParaRPr lang="en-US"/>
        </a:p>
      </dgm:t>
    </dgm:pt>
    <dgm:pt modelId="{DACB1E55-640E-415A-B9C3-8F49519903ED}" type="sibTrans" cxnId="{A76C5070-1403-47EE-89ED-740AA8522E00}">
      <dgm:prSet/>
      <dgm:spPr/>
      <dgm:t>
        <a:bodyPr/>
        <a:lstStyle/>
        <a:p>
          <a:endParaRPr lang="en-US"/>
        </a:p>
      </dgm:t>
    </dgm:pt>
    <dgm:pt modelId="{631BF7BE-67B4-4EDA-B911-46EB06FEB41D}" type="pres">
      <dgm:prSet presAssocID="{46DBBBA4-3656-4026-9B5A-3721EBA41E14}" presName="diagram" presStyleCnt="0">
        <dgm:presLayoutVars>
          <dgm:chPref val="1"/>
          <dgm:dir/>
          <dgm:animOne val="branch"/>
          <dgm:animLvl val="lvl"/>
          <dgm:resizeHandles/>
        </dgm:presLayoutVars>
      </dgm:prSet>
      <dgm:spPr/>
    </dgm:pt>
    <dgm:pt modelId="{CAC41A5C-218C-44E3-8455-7CA612607E68}" type="pres">
      <dgm:prSet presAssocID="{095D99F8-7C8F-4BAE-BF3E-771C9DEEBD3C}" presName="root" presStyleCnt="0"/>
      <dgm:spPr/>
    </dgm:pt>
    <dgm:pt modelId="{2DA9360C-07C0-4885-B920-EABCEC1388C2}" type="pres">
      <dgm:prSet presAssocID="{095D99F8-7C8F-4BAE-BF3E-771C9DEEBD3C}" presName="rootComposite" presStyleCnt="0"/>
      <dgm:spPr/>
    </dgm:pt>
    <dgm:pt modelId="{13576D72-EB89-4B2B-8AF7-59BC562CCDED}" type="pres">
      <dgm:prSet presAssocID="{095D99F8-7C8F-4BAE-BF3E-771C9DEEBD3C}" presName="rootText" presStyleLbl="node1" presStyleIdx="0" presStyleCnt="2" custScaleX="145113" custLinFactNeighborX="23219" custLinFactNeighborY="40084"/>
      <dgm:spPr/>
    </dgm:pt>
    <dgm:pt modelId="{BD3CB314-EFD0-4FF4-BB32-AC810A094A00}" type="pres">
      <dgm:prSet presAssocID="{095D99F8-7C8F-4BAE-BF3E-771C9DEEBD3C}" presName="rootConnector" presStyleLbl="node1" presStyleIdx="0" presStyleCnt="2"/>
      <dgm:spPr/>
    </dgm:pt>
    <dgm:pt modelId="{9BCEB4AB-D4B7-42C3-BE19-44A180B8F9F6}" type="pres">
      <dgm:prSet presAssocID="{095D99F8-7C8F-4BAE-BF3E-771C9DEEBD3C}" presName="childShape" presStyleCnt="0"/>
      <dgm:spPr/>
    </dgm:pt>
    <dgm:pt modelId="{91652614-C77C-4CDC-90F9-BA4A712EA14B}" type="pres">
      <dgm:prSet presAssocID="{0B2CD569-E4AE-47E2-819C-74E42E89AF83}" presName="Name13" presStyleLbl="parChTrans1D2" presStyleIdx="0" presStyleCnt="6"/>
      <dgm:spPr/>
    </dgm:pt>
    <dgm:pt modelId="{7860E490-5EAE-4999-B7A2-FB7F4E7AF234}" type="pres">
      <dgm:prSet presAssocID="{8558F9DA-244B-4D5B-A1C7-E47ADA773583}" presName="childText" presStyleLbl="bgAcc1" presStyleIdx="0" presStyleCnt="6" custScaleX="140678" custLinFactNeighborX="26760" custLinFactNeighborY="31705">
        <dgm:presLayoutVars>
          <dgm:bulletEnabled val="1"/>
        </dgm:presLayoutVars>
      </dgm:prSet>
      <dgm:spPr/>
    </dgm:pt>
    <dgm:pt modelId="{535108DA-8431-429E-9FCC-A6AAC73F7346}" type="pres">
      <dgm:prSet presAssocID="{716E731C-0790-41F3-B50E-42F4E22A2FA4}" presName="Name13" presStyleLbl="parChTrans1D2" presStyleIdx="1" presStyleCnt="6"/>
      <dgm:spPr/>
    </dgm:pt>
    <dgm:pt modelId="{95665648-AD65-4B0C-B956-9A4D8DCEFBE3}" type="pres">
      <dgm:prSet presAssocID="{2067CE1B-259A-4732-84F7-0BB78AAB8A21}" presName="childText" presStyleLbl="bgAcc1" presStyleIdx="1" presStyleCnt="6" custScaleX="140678" custLinFactNeighborX="26760" custLinFactNeighborY="31101">
        <dgm:presLayoutVars>
          <dgm:bulletEnabled val="1"/>
        </dgm:presLayoutVars>
      </dgm:prSet>
      <dgm:spPr/>
    </dgm:pt>
    <dgm:pt modelId="{406C4C5A-2C12-4A68-8528-EC2FB58E6804}" type="pres">
      <dgm:prSet presAssocID="{4BC7F4E1-9DF5-4886-837C-9D401F6C8FD5}" presName="Name13" presStyleLbl="parChTrans1D2" presStyleIdx="2" presStyleCnt="6"/>
      <dgm:spPr/>
    </dgm:pt>
    <dgm:pt modelId="{B35144D1-F999-4781-9EF4-E507B3C4C82D}" type="pres">
      <dgm:prSet presAssocID="{C2A6F780-EBEB-479F-B1C9-0785C65AB7D0}" presName="childText" presStyleLbl="bgAcc1" presStyleIdx="2" presStyleCnt="6" custScaleX="140678" custLinFactNeighborX="26760" custLinFactNeighborY="46047">
        <dgm:presLayoutVars>
          <dgm:bulletEnabled val="1"/>
        </dgm:presLayoutVars>
      </dgm:prSet>
      <dgm:spPr/>
    </dgm:pt>
    <dgm:pt modelId="{2914A3DE-3D82-4D70-8824-CAB250D49CE6}" type="pres">
      <dgm:prSet presAssocID="{C812FF31-DFC5-4DF0-AA71-83952729F186}" presName="root" presStyleCnt="0"/>
      <dgm:spPr/>
    </dgm:pt>
    <dgm:pt modelId="{99324778-2E60-4C4D-82D6-4AB83E16ABE5}" type="pres">
      <dgm:prSet presAssocID="{C812FF31-DFC5-4DF0-AA71-83952729F186}" presName="rootComposite" presStyleCnt="0"/>
      <dgm:spPr/>
    </dgm:pt>
    <dgm:pt modelId="{4B05EAB3-A6D9-4929-B568-4389FF439FA2}" type="pres">
      <dgm:prSet presAssocID="{C812FF31-DFC5-4DF0-AA71-83952729F186}" presName="rootText" presStyleLbl="node1" presStyleIdx="1" presStyleCnt="2" custScaleX="140678" custLinFactNeighborX="31925" custLinFactNeighborY="22009"/>
      <dgm:spPr/>
    </dgm:pt>
    <dgm:pt modelId="{12B00384-A097-4042-B3B5-6CE8E1A92225}" type="pres">
      <dgm:prSet presAssocID="{C812FF31-DFC5-4DF0-AA71-83952729F186}" presName="rootConnector" presStyleLbl="node1" presStyleIdx="1" presStyleCnt="2"/>
      <dgm:spPr/>
    </dgm:pt>
    <dgm:pt modelId="{37A32438-765C-4A23-BE41-EAE381E8C2A5}" type="pres">
      <dgm:prSet presAssocID="{C812FF31-DFC5-4DF0-AA71-83952729F186}" presName="childShape" presStyleCnt="0"/>
      <dgm:spPr/>
    </dgm:pt>
    <dgm:pt modelId="{AE4D4D63-B140-4019-9D66-2D6DD8F90737}" type="pres">
      <dgm:prSet presAssocID="{C9D6147E-C861-4736-86B6-1E26D665AA24}" presName="Name13" presStyleLbl="parChTrans1D2" presStyleIdx="3" presStyleCnt="6"/>
      <dgm:spPr/>
    </dgm:pt>
    <dgm:pt modelId="{2437E09E-75FB-4004-B02C-E10B3A66CA01}" type="pres">
      <dgm:prSet presAssocID="{09CB61D4-56A9-41D9-9DEA-60EAFAA9A0E7}" presName="childText" presStyleLbl="bgAcc1" presStyleIdx="3" presStyleCnt="6" custScaleX="161122" custLinFactNeighborX="24174" custLinFactNeighborY="16155">
        <dgm:presLayoutVars>
          <dgm:bulletEnabled val="1"/>
        </dgm:presLayoutVars>
      </dgm:prSet>
      <dgm:spPr/>
    </dgm:pt>
    <dgm:pt modelId="{8F7003E9-A809-4D27-9342-7C81091010C4}" type="pres">
      <dgm:prSet presAssocID="{32063C60-ED5D-42B8-B8D0-9F08136E1030}" presName="Name13" presStyleLbl="parChTrans1D2" presStyleIdx="4" presStyleCnt="6"/>
      <dgm:spPr/>
    </dgm:pt>
    <dgm:pt modelId="{01916170-008C-4484-8EF1-8F40345A82CB}" type="pres">
      <dgm:prSet presAssocID="{9D9E436D-97DD-46A9-86D1-3E9F0B8BC430}" presName="childText" presStyleLbl="bgAcc1" presStyleIdx="4" presStyleCnt="6" custScaleX="160921" custScaleY="116233" custLinFactNeighborX="24174" custLinFactNeighborY="15552">
        <dgm:presLayoutVars>
          <dgm:bulletEnabled val="1"/>
        </dgm:presLayoutVars>
      </dgm:prSet>
      <dgm:spPr/>
    </dgm:pt>
    <dgm:pt modelId="{4ADC5878-D7C6-458D-903E-A58FE5291228}" type="pres">
      <dgm:prSet presAssocID="{695A1CD2-B3DD-43EA-B080-C27558958CC3}" presName="Name13" presStyleLbl="parChTrans1D2" presStyleIdx="5" presStyleCnt="6"/>
      <dgm:spPr/>
    </dgm:pt>
    <dgm:pt modelId="{25B9A613-B1A6-41BF-812A-A9220A0AB690}" type="pres">
      <dgm:prSet presAssocID="{0746CCD9-1EF4-4F38-A3EF-32B7AF818637}" presName="childText" presStyleLbl="bgAcc1" presStyleIdx="5" presStyleCnt="6" custScaleX="164570" custScaleY="195589" custLinFactNeighborX="29033" custLinFactNeighborY="105">
        <dgm:presLayoutVars>
          <dgm:bulletEnabled val="1"/>
        </dgm:presLayoutVars>
      </dgm:prSet>
      <dgm:spPr/>
    </dgm:pt>
  </dgm:ptLst>
  <dgm:cxnLst>
    <dgm:cxn modelId="{7BD4AF04-10A7-47BF-8F65-55FE54252BB7}" srcId="{46DBBBA4-3656-4026-9B5A-3721EBA41E14}" destId="{C812FF31-DFC5-4DF0-AA71-83952729F186}" srcOrd="1" destOrd="0" parTransId="{FE52BC0B-E269-4ACC-A3DA-73279E8A14E6}" sibTransId="{6ADF0B30-BD57-4B91-BDCD-91BA89A54296}"/>
    <dgm:cxn modelId="{8C44DB12-6788-49B4-9A1A-FA6B78C6A2F6}" type="presOf" srcId="{095D99F8-7C8F-4BAE-BF3E-771C9DEEBD3C}" destId="{BD3CB314-EFD0-4FF4-BB32-AC810A094A00}" srcOrd="1" destOrd="0" presId="urn:microsoft.com/office/officeart/2005/8/layout/hierarchy3"/>
    <dgm:cxn modelId="{758E1814-6484-4CEF-8D64-94D60D5B8F72}" type="presOf" srcId="{C812FF31-DFC5-4DF0-AA71-83952729F186}" destId="{12B00384-A097-4042-B3B5-6CE8E1A92225}" srcOrd="1" destOrd="0" presId="urn:microsoft.com/office/officeart/2005/8/layout/hierarchy3"/>
    <dgm:cxn modelId="{5BAB5D14-FAFF-4913-8A17-71C1219C885B}" type="presOf" srcId="{8558F9DA-244B-4D5B-A1C7-E47ADA773583}" destId="{7860E490-5EAE-4999-B7A2-FB7F4E7AF234}" srcOrd="0" destOrd="0" presId="urn:microsoft.com/office/officeart/2005/8/layout/hierarchy3"/>
    <dgm:cxn modelId="{0912EC1F-BB85-4FBC-9BA7-E85D884CE0CF}" type="presOf" srcId="{095D99F8-7C8F-4BAE-BF3E-771C9DEEBD3C}" destId="{13576D72-EB89-4B2B-8AF7-59BC562CCDED}" srcOrd="0" destOrd="0" presId="urn:microsoft.com/office/officeart/2005/8/layout/hierarchy3"/>
    <dgm:cxn modelId="{66441D32-BC1E-4066-9C3A-3F8743B57064}" type="presOf" srcId="{09CB61D4-56A9-41D9-9DEA-60EAFAA9A0E7}" destId="{2437E09E-75FB-4004-B02C-E10B3A66CA01}" srcOrd="0" destOrd="0" presId="urn:microsoft.com/office/officeart/2005/8/layout/hierarchy3"/>
    <dgm:cxn modelId="{B2DB0E33-A411-445A-B366-7E0131BF03D1}" type="presOf" srcId="{46DBBBA4-3656-4026-9B5A-3721EBA41E14}" destId="{631BF7BE-67B4-4EDA-B911-46EB06FEB41D}" srcOrd="0" destOrd="0" presId="urn:microsoft.com/office/officeart/2005/8/layout/hierarchy3"/>
    <dgm:cxn modelId="{9B609E44-688F-462C-A2C0-28B0FE02762C}" type="presOf" srcId="{695A1CD2-B3DD-43EA-B080-C27558958CC3}" destId="{4ADC5878-D7C6-458D-903E-A58FE5291228}" srcOrd="0" destOrd="0" presId="urn:microsoft.com/office/officeart/2005/8/layout/hierarchy3"/>
    <dgm:cxn modelId="{758CE847-28D3-4A26-952B-3DB0F0F249AC}" type="presOf" srcId="{C2A6F780-EBEB-479F-B1C9-0785C65AB7D0}" destId="{B35144D1-F999-4781-9EF4-E507B3C4C82D}" srcOrd="0" destOrd="0" presId="urn:microsoft.com/office/officeart/2005/8/layout/hierarchy3"/>
    <dgm:cxn modelId="{A76C5070-1403-47EE-89ED-740AA8522E00}" srcId="{C812FF31-DFC5-4DF0-AA71-83952729F186}" destId="{0746CCD9-1EF4-4F38-A3EF-32B7AF818637}" srcOrd="2" destOrd="0" parTransId="{695A1CD2-B3DD-43EA-B080-C27558958CC3}" sibTransId="{DACB1E55-640E-415A-B9C3-8F49519903ED}"/>
    <dgm:cxn modelId="{44E00A51-5FE4-4F50-B9EE-7C656B28FE43}" srcId="{095D99F8-7C8F-4BAE-BF3E-771C9DEEBD3C}" destId="{8558F9DA-244B-4D5B-A1C7-E47ADA773583}" srcOrd="0" destOrd="0" parTransId="{0B2CD569-E4AE-47E2-819C-74E42E89AF83}" sibTransId="{6885A960-38A9-4268-9A73-D587D959A198}"/>
    <dgm:cxn modelId="{6FA31A51-DBFB-4BDD-B67D-4C996C661F45}" type="presOf" srcId="{0746CCD9-1EF4-4F38-A3EF-32B7AF818637}" destId="{25B9A613-B1A6-41BF-812A-A9220A0AB690}" srcOrd="0" destOrd="0" presId="urn:microsoft.com/office/officeart/2005/8/layout/hierarchy3"/>
    <dgm:cxn modelId="{2FED1875-BC3D-46B5-86F6-8EFEAD40E977}" type="presOf" srcId="{2067CE1B-259A-4732-84F7-0BB78AAB8A21}" destId="{95665648-AD65-4B0C-B956-9A4D8DCEFBE3}" srcOrd="0" destOrd="0" presId="urn:microsoft.com/office/officeart/2005/8/layout/hierarchy3"/>
    <dgm:cxn modelId="{C5F41057-EBF3-4F5D-A2F7-7A984AAFF503}" type="presOf" srcId="{9D9E436D-97DD-46A9-86D1-3E9F0B8BC430}" destId="{01916170-008C-4484-8EF1-8F40345A82CB}" srcOrd="0" destOrd="0" presId="urn:microsoft.com/office/officeart/2005/8/layout/hierarchy3"/>
    <dgm:cxn modelId="{365CFE7A-EF19-4918-A226-62A8C67EC63F}" srcId="{46DBBBA4-3656-4026-9B5A-3721EBA41E14}" destId="{095D99F8-7C8F-4BAE-BF3E-771C9DEEBD3C}" srcOrd="0" destOrd="0" parTransId="{45AA29D9-FB36-4744-80BC-7D40E5DF80E6}" sibTransId="{7F1615BD-58D3-4AB4-A7FE-FFAC75F25043}"/>
    <dgm:cxn modelId="{5DBDC982-E191-4B35-9314-52DC76B19538}" srcId="{095D99F8-7C8F-4BAE-BF3E-771C9DEEBD3C}" destId="{C2A6F780-EBEB-479F-B1C9-0785C65AB7D0}" srcOrd="2" destOrd="0" parTransId="{4BC7F4E1-9DF5-4886-837C-9D401F6C8FD5}" sibTransId="{4E7E66DA-7DDA-404F-804B-C9FE4534B294}"/>
    <dgm:cxn modelId="{2528748B-FA36-4B25-82BD-4356A35B7BF3}" srcId="{C812FF31-DFC5-4DF0-AA71-83952729F186}" destId="{09CB61D4-56A9-41D9-9DEA-60EAFAA9A0E7}" srcOrd="0" destOrd="0" parTransId="{C9D6147E-C861-4736-86B6-1E26D665AA24}" sibTransId="{35635728-76B9-4B39-A267-745BCE1879B4}"/>
    <dgm:cxn modelId="{70B28EA1-095E-4A7D-816B-382ABC9A0FA2}" type="presOf" srcId="{C812FF31-DFC5-4DF0-AA71-83952729F186}" destId="{4B05EAB3-A6D9-4929-B568-4389FF439FA2}" srcOrd="0" destOrd="0" presId="urn:microsoft.com/office/officeart/2005/8/layout/hierarchy3"/>
    <dgm:cxn modelId="{9E8586AF-B11F-44BC-8679-065C7D208482}" srcId="{C812FF31-DFC5-4DF0-AA71-83952729F186}" destId="{9D9E436D-97DD-46A9-86D1-3E9F0B8BC430}" srcOrd="1" destOrd="0" parTransId="{32063C60-ED5D-42B8-B8D0-9F08136E1030}" sibTransId="{B075D5C2-7C97-4DEB-8EA8-6DFE1D239A27}"/>
    <dgm:cxn modelId="{179178B1-52B4-4D57-A276-399EE5E2A536}" type="presOf" srcId="{32063C60-ED5D-42B8-B8D0-9F08136E1030}" destId="{8F7003E9-A809-4D27-9342-7C81091010C4}" srcOrd="0" destOrd="0" presId="urn:microsoft.com/office/officeart/2005/8/layout/hierarchy3"/>
    <dgm:cxn modelId="{7B2FA0B3-1CEA-4170-B83D-BB9390DE7C68}" srcId="{095D99F8-7C8F-4BAE-BF3E-771C9DEEBD3C}" destId="{2067CE1B-259A-4732-84F7-0BB78AAB8A21}" srcOrd="1" destOrd="0" parTransId="{716E731C-0790-41F3-B50E-42F4E22A2FA4}" sibTransId="{214AE667-06E5-4971-88C1-453EA7ADBEE8}"/>
    <dgm:cxn modelId="{3B4243B7-E17A-4440-90DD-3F06432030E4}" type="presOf" srcId="{4BC7F4E1-9DF5-4886-837C-9D401F6C8FD5}" destId="{406C4C5A-2C12-4A68-8528-EC2FB58E6804}" srcOrd="0" destOrd="0" presId="urn:microsoft.com/office/officeart/2005/8/layout/hierarchy3"/>
    <dgm:cxn modelId="{05D2C5B9-F3B6-47D1-BBB5-1F90E75264EA}" type="presOf" srcId="{0B2CD569-E4AE-47E2-819C-74E42E89AF83}" destId="{91652614-C77C-4CDC-90F9-BA4A712EA14B}" srcOrd="0" destOrd="0" presId="urn:microsoft.com/office/officeart/2005/8/layout/hierarchy3"/>
    <dgm:cxn modelId="{30CCEEC3-04A5-4182-B09D-D39EA5F282DF}" type="presOf" srcId="{716E731C-0790-41F3-B50E-42F4E22A2FA4}" destId="{535108DA-8431-429E-9FCC-A6AAC73F7346}" srcOrd="0" destOrd="0" presId="urn:microsoft.com/office/officeart/2005/8/layout/hierarchy3"/>
    <dgm:cxn modelId="{D79B95F3-5314-441E-B248-5356ADBBBDD9}" type="presOf" srcId="{C9D6147E-C861-4736-86B6-1E26D665AA24}" destId="{AE4D4D63-B140-4019-9D66-2D6DD8F90737}" srcOrd="0" destOrd="0" presId="urn:microsoft.com/office/officeart/2005/8/layout/hierarchy3"/>
    <dgm:cxn modelId="{41A23CDA-140C-45BE-A736-1E95F46782EE}" type="presParOf" srcId="{631BF7BE-67B4-4EDA-B911-46EB06FEB41D}" destId="{CAC41A5C-218C-44E3-8455-7CA612607E68}" srcOrd="0" destOrd="0" presId="urn:microsoft.com/office/officeart/2005/8/layout/hierarchy3"/>
    <dgm:cxn modelId="{1E6956EC-FBB5-4BCB-92B0-00E918A9A9C9}" type="presParOf" srcId="{CAC41A5C-218C-44E3-8455-7CA612607E68}" destId="{2DA9360C-07C0-4885-B920-EABCEC1388C2}" srcOrd="0" destOrd="0" presId="urn:microsoft.com/office/officeart/2005/8/layout/hierarchy3"/>
    <dgm:cxn modelId="{AF2B00A5-190D-4734-B417-2E99314E9D7A}" type="presParOf" srcId="{2DA9360C-07C0-4885-B920-EABCEC1388C2}" destId="{13576D72-EB89-4B2B-8AF7-59BC562CCDED}" srcOrd="0" destOrd="0" presId="urn:microsoft.com/office/officeart/2005/8/layout/hierarchy3"/>
    <dgm:cxn modelId="{FDFD7325-33DF-4EAD-B125-4A63EBC52E03}" type="presParOf" srcId="{2DA9360C-07C0-4885-B920-EABCEC1388C2}" destId="{BD3CB314-EFD0-4FF4-BB32-AC810A094A00}" srcOrd="1" destOrd="0" presId="urn:microsoft.com/office/officeart/2005/8/layout/hierarchy3"/>
    <dgm:cxn modelId="{047D6FA1-3EF8-4E45-85A2-B5E82AA3899E}" type="presParOf" srcId="{CAC41A5C-218C-44E3-8455-7CA612607E68}" destId="{9BCEB4AB-D4B7-42C3-BE19-44A180B8F9F6}" srcOrd="1" destOrd="0" presId="urn:microsoft.com/office/officeart/2005/8/layout/hierarchy3"/>
    <dgm:cxn modelId="{EC0F8559-9C65-4888-81A8-F868153468F3}" type="presParOf" srcId="{9BCEB4AB-D4B7-42C3-BE19-44A180B8F9F6}" destId="{91652614-C77C-4CDC-90F9-BA4A712EA14B}" srcOrd="0" destOrd="0" presId="urn:microsoft.com/office/officeart/2005/8/layout/hierarchy3"/>
    <dgm:cxn modelId="{A0C621BC-1852-42CC-A0B2-75218A26CBB9}" type="presParOf" srcId="{9BCEB4AB-D4B7-42C3-BE19-44A180B8F9F6}" destId="{7860E490-5EAE-4999-B7A2-FB7F4E7AF234}" srcOrd="1" destOrd="0" presId="urn:microsoft.com/office/officeart/2005/8/layout/hierarchy3"/>
    <dgm:cxn modelId="{3FA4130A-773C-4ECE-BB74-6FED068D19DD}" type="presParOf" srcId="{9BCEB4AB-D4B7-42C3-BE19-44A180B8F9F6}" destId="{535108DA-8431-429E-9FCC-A6AAC73F7346}" srcOrd="2" destOrd="0" presId="urn:microsoft.com/office/officeart/2005/8/layout/hierarchy3"/>
    <dgm:cxn modelId="{5F5D408C-12FF-41B7-AF76-F4FFA74FB26C}" type="presParOf" srcId="{9BCEB4AB-D4B7-42C3-BE19-44A180B8F9F6}" destId="{95665648-AD65-4B0C-B956-9A4D8DCEFBE3}" srcOrd="3" destOrd="0" presId="urn:microsoft.com/office/officeart/2005/8/layout/hierarchy3"/>
    <dgm:cxn modelId="{80943E12-0289-459E-9FFE-D0E2DC8214D7}" type="presParOf" srcId="{9BCEB4AB-D4B7-42C3-BE19-44A180B8F9F6}" destId="{406C4C5A-2C12-4A68-8528-EC2FB58E6804}" srcOrd="4" destOrd="0" presId="urn:microsoft.com/office/officeart/2005/8/layout/hierarchy3"/>
    <dgm:cxn modelId="{7138365E-BBBC-4A4E-8DF7-3DE5A26372BB}" type="presParOf" srcId="{9BCEB4AB-D4B7-42C3-BE19-44A180B8F9F6}" destId="{B35144D1-F999-4781-9EF4-E507B3C4C82D}" srcOrd="5" destOrd="0" presId="urn:microsoft.com/office/officeart/2005/8/layout/hierarchy3"/>
    <dgm:cxn modelId="{52B3CF11-2CC2-4D58-86A4-81306C746DAA}" type="presParOf" srcId="{631BF7BE-67B4-4EDA-B911-46EB06FEB41D}" destId="{2914A3DE-3D82-4D70-8824-CAB250D49CE6}" srcOrd="1" destOrd="0" presId="urn:microsoft.com/office/officeart/2005/8/layout/hierarchy3"/>
    <dgm:cxn modelId="{951B54FB-A70E-4C68-BFFF-FBEA1F5D990F}" type="presParOf" srcId="{2914A3DE-3D82-4D70-8824-CAB250D49CE6}" destId="{99324778-2E60-4C4D-82D6-4AB83E16ABE5}" srcOrd="0" destOrd="0" presId="urn:microsoft.com/office/officeart/2005/8/layout/hierarchy3"/>
    <dgm:cxn modelId="{F61A7137-333D-49B9-A69E-6DCC4A65061E}" type="presParOf" srcId="{99324778-2E60-4C4D-82D6-4AB83E16ABE5}" destId="{4B05EAB3-A6D9-4929-B568-4389FF439FA2}" srcOrd="0" destOrd="0" presId="urn:microsoft.com/office/officeart/2005/8/layout/hierarchy3"/>
    <dgm:cxn modelId="{6A0BF546-FC16-4964-B7C5-2545156379BE}" type="presParOf" srcId="{99324778-2E60-4C4D-82D6-4AB83E16ABE5}" destId="{12B00384-A097-4042-B3B5-6CE8E1A92225}" srcOrd="1" destOrd="0" presId="urn:microsoft.com/office/officeart/2005/8/layout/hierarchy3"/>
    <dgm:cxn modelId="{D72009AF-46C5-4169-9573-9C36176D434A}" type="presParOf" srcId="{2914A3DE-3D82-4D70-8824-CAB250D49CE6}" destId="{37A32438-765C-4A23-BE41-EAE381E8C2A5}" srcOrd="1" destOrd="0" presId="urn:microsoft.com/office/officeart/2005/8/layout/hierarchy3"/>
    <dgm:cxn modelId="{EBBB8290-185A-454F-AF32-FCE20E80E8D5}" type="presParOf" srcId="{37A32438-765C-4A23-BE41-EAE381E8C2A5}" destId="{AE4D4D63-B140-4019-9D66-2D6DD8F90737}" srcOrd="0" destOrd="0" presId="urn:microsoft.com/office/officeart/2005/8/layout/hierarchy3"/>
    <dgm:cxn modelId="{DC43F629-1F19-4988-984B-4B6642A493BA}" type="presParOf" srcId="{37A32438-765C-4A23-BE41-EAE381E8C2A5}" destId="{2437E09E-75FB-4004-B02C-E10B3A66CA01}" srcOrd="1" destOrd="0" presId="urn:microsoft.com/office/officeart/2005/8/layout/hierarchy3"/>
    <dgm:cxn modelId="{9AAE14BA-CE0A-4218-9F99-2CF62855DB90}" type="presParOf" srcId="{37A32438-765C-4A23-BE41-EAE381E8C2A5}" destId="{8F7003E9-A809-4D27-9342-7C81091010C4}" srcOrd="2" destOrd="0" presId="urn:microsoft.com/office/officeart/2005/8/layout/hierarchy3"/>
    <dgm:cxn modelId="{CBBD8C81-7621-4A6A-919A-A68DA71D0609}" type="presParOf" srcId="{37A32438-765C-4A23-BE41-EAE381E8C2A5}" destId="{01916170-008C-4484-8EF1-8F40345A82CB}" srcOrd="3" destOrd="0" presId="urn:microsoft.com/office/officeart/2005/8/layout/hierarchy3"/>
    <dgm:cxn modelId="{96893923-7DBA-4D5C-8CBA-F3F42B752871}" type="presParOf" srcId="{37A32438-765C-4A23-BE41-EAE381E8C2A5}" destId="{4ADC5878-D7C6-458D-903E-A58FE5291228}" srcOrd="4" destOrd="0" presId="urn:microsoft.com/office/officeart/2005/8/layout/hierarchy3"/>
    <dgm:cxn modelId="{2817E450-EA2D-41E5-AAFE-4FCC075DBA45}" type="presParOf" srcId="{37A32438-765C-4A23-BE41-EAE381E8C2A5}" destId="{25B9A613-B1A6-41BF-812A-A9220A0AB690}" srcOrd="5"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576D72-EB89-4B2B-8AF7-59BC562CCDED}">
      <dsp:nvSpPr>
        <dsp:cNvPr id="0" name=""/>
        <dsp:cNvSpPr/>
      </dsp:nvSpPr>
      <dsp:spPr>
        <a:xfrm>
          <a:off x="1301504" y="393702"/>
          <a:ext cx="2844492" cy="98009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ne-NP" sz="2800" kern="1200" dirty="0">
              <a:latin typeface="Preeti" pitchFamily="2" charset="0"/>
              <a:cs typeface="Kalimati" panose="00000400000000000000" pitchFamily="2"/>
            </a:rPr>
            <a:t>थुनाका आधारहरु</a:t>
          </a:r>
          <a:endParaRPr lang="en-US" sz="2800" kern="1200" dirty="0">
            <a:latin typeface="Preeti" pitchFamily="2" charset="0"/>
            <a:cs typeface="Kalimati" panose="00000400000000000000" pitchFamily="2"/>
          </a:endParaRPr>
        </a:p>
        <a:p>
          <a:pPr marL="0" lvl="0" indent="0" algn="ctr" defTabSz="1244600">
            <a:lnSpc>
              <a:spcPct val="90000"/>
            </a:lnSpc>
            <a:spcBef>
              <a:spcPct val="0"/>
            </a:spcBef>
            <a:spcAft>
              <a:spcPct val="35000"/>
            </a:spcAft>
            <a:buNone/>
          </a:pPr>
          <a:endParaRPr lang="en-US" sz="3200" kern="1200" dirty="0">
            <a:latin typeface="Preeti" pitchFamily="2" charset="0"/>
          </a:endParaRPr>
        </a:p>
      </dsp:txBody>
      <dsp:txXfrm>
        <a:off x="1330210" y="422408"/>
        <a:ext cx="2787080" cy="922683"/>
      </dsp:txXfrm>
    </dsp:sp>
    <dsp:sp modelId="{91652614-C77C-4CDC-90F9-BA4A712EA14B}">
      <dsp:nvSpPr>
        <dsp:cNvPr id="0" name=""/>
        <dsp:cNvSpPr/>
      </dsp:nvSpPr>
      <dsp:spPr>
        <a:xfrm>
          <a:off x="1585953" y="1373798"/>
          <a:ext cx="248950" cy="652949"/>
        </a:xfrm>
        <a:custGeom>
          <a:avLst/>
          <a:gdLst/>
          <a:ahLst/>
          <a:cxnLst/>
          <a:rect l="0" t="0" r="0" b="0"/>
          <a:pathLst>
            <a:path>
              <a:moveTo>
                <a:pt x="0" y="0"/>
              </a:moveTo>
              <a:lnTo>
                <a:pt x="0" y="652949"/>
              </a:lnTo>
              <a:lnTo>
                <a:pt x="248950" y="652949"/>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60E490-5EAE-4999-B7A2-FB7F4E7AF234}">
      <dsp:nvSpPr>
        <dsp:cNvPr id="0" name=""/>
        <dsp:cNvSpPr/>
      </dsp:nvSpPr>
      <dsp:spPr>
        <a:xfrm>
          <a:off x="1834903" y="1536700"/>
          <a:ext cx="2206046" cy="98009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ne-NP" sz="1800" kern="1200" dirty="0">
              <a:latin typeface="Preeti" pitchFamily="2" charset="0"/>
              <a:cs typeface="Kalimati" panose="00000400000000000000" pitchFamily="2"/>
            </a:rPr>
            <a:t>तत्काल प्राप्त प्रमाणबाट कसूरदार देखिने भएमा वा</a:t>
          </a:r>
          <a:endParaRPr lang="en-US" sz="1800" kern="1200" dirty="0">
            <a:latin typeface="Preeti" pitchFamily="2" charset="0"/>
            <a:cs typeface="Kalimati" panose="00000400000000000000" pitchFamily="2"/>
          </a:endParaRPr>
        </a:p>
      </dsp:txBody>
      <dsp:txXfrm>
        <a:off x="1863609" y="1565406"/>
        <a:ext cx="2148634" cy="922683"/>
      </dsp:txXfrm>
    </dsp:sp>
    <dsp:sp modelId="{535108DA-8431-429E-9FCC-A6AAC73F7346}">
      <dsp:nvSpPr>
        <dsp:cNvPr id="0" name=""/>
        <dsp:cNvSpPr/>
      </dsp:nvSpPr>
      <dsp:spPr>
        <a:xfrm>
          <a:off x="1585953" y="1373798"/>
          <a:ext cx="248950" cy="1872149"/>
        </a:xfrm>
        <a:custGeom>
          <a:avLst/>
          <a:gdLst/>
          <a:ahLst/>
          <a:cxnLst/>
          <a:rect l="0" t="0" r="0" b="0"/>
          <a:pathLst>
            <a:path>
              <a:moveTo>
                <a:pt x="0" y="0"/>
              </a:moveTo>
              <a:lnTo>
                <a:pt x="0" y="1872149"/>
              </a:lnTo>
              <a:lnTo>
                <a:pt x="248950" y="1872149"/>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665648-AD65-4B0C-B956-9A4D8DCEFBE3}">
      <dsp:nvSpPr>
        <dsp:cNvPr id="0" name=""/>
        <dsp:cNvSpPr/>
      </dsp:nvSpPr>
      <dsp:spPr>
        <a:xfrm>
          <a:off x="1834903" y="2755900"/>
          <a:ext cx="2206046" cy="98009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ne-NP" sz="1800" kern="1200" dirty="0">
              <a:latin typeface="Preeti" pitchFamily="2" charset="0"/>
              <a:cs typeface="Kalimati" panose="00000400000000000000" pitchFamily="2"/>
            </a:rPr>
            <a:t>कसूरदार हो भन्ने विश्वास गर्ने कुनै मनासिब आधार भएमा</a:t>
          </a:r>
          <a:endParaRPr lang="en-US" sz="1800" kern="1200" dirty="0">
            <a:latin typeface="Preeti" pitchFamily="2" charset="0"/>
            <a:cs typeface="Kalimati" panose="00000400000000000000" pitchFamily="2"/>
          </a:endParaRPr>
        </a:p>
      </dsp:txBody>
      <dsp:txXfrm>
        <a:off x="1863609" y="2784606"/>
        <a:ext cx="2148634" cy="922683"/>
      </dsp:txXfrm>
    </dsp:sp>
    <dsp:sp modelId="{406C4C5A-2C12-4A68-8528-EC2FB58E6804}">
      <dsp:nvSpPr>
        <dsp:cNvPr id="0" name=""/>
        <dsp:cNvSpPr/>
      </dsp:nvSpPr>
      <dsp:spPr>
        <a:xfrm>
          <a:off x="1585953" y="1373798"/>
          <a:ext cx="248950" cy="3243754"/>
        </a:xfrm>
        <a:custGeom>
          <a:avLst/>
          <a:gdLst/>
          <a:ahLst/>
          <a:cxnLst/>
          <a:rect l="0" t="0" r="0" b="0"/>
          <a:pathLst>
            <a:path>
              <a:moveTo>
                <a:pt x="0" y="0"/>
              </a:moveTo>
              <a:lnTo>
                <a:pt x="0" y="3243754"/>
              </a:lnTo>
              <a:lnTo>
                <a:pt x="248950" y="3243754"/>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5144D1-F999-4781-9EF4-E507B3C4C82D}">
      <dsp:nvSpPr>
        <dsp:cNvPr id="0" name=""/>
        <dsp:cNvSpPr/>
      </dsp:nvSpPr>
      <dsp:spPr>
        <a:xfrm>
          <a:off x="1834903" y="4127504"/>
          <a:ext cx="2206046" cy="98009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ne-NP" sz="1800" kern="1200" dirty="0">
              <a:latin typeface="Preeti" pitchFamily="2" charset="0"/>
              <a:cs typeface="Kalimati" panose="00000400000000000000" pitchFamily="2"/>
            </a:rPr>
            <a:t>आधार र कारण खुलाउन पर्ने</a:t>
          </a:r>
          <a:endParaRPr lang="en-US" sz="1800" kern="1200" dirty="0">
            <a:latin typeface="Preeti" pitchFamily="2" charset="0"/>
            <a:cs typeface="Kalimati" panose="00000400000000000000" pitchFamily="2"/>
          </a:endParaRPr>
        </a:p>
      </dsp:txBody>
      <dsp:txXfrm>
        <a:off x="1863609" y="4156210"/>
        <a:ext cx="2148634" cy="922683"/>
      </dsp:txXfrm>
    </dsp:sp>
    <dsp:sp modelId="{4B05EAB3-A6D9-4929-B568-4389FF439FA2}">
      <dsp:nvSpPr>
        <dsp:cNvPr id="0" name=""/>
        <dsp:cNvSpPr/>
      </dsp:nvSpPr>
      <dsp:spPr>
        <a:xfrm>
          <a:off x="4806698" y="216550"/>
          <a:ext cx="2757558" cy="980095"/>
        </a:xfrm>
        <a:prstGeom prst="roundRect">
          <a:avLst>
            <a:gd name="adj" fmla="val 10000"/>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ne-NP" sz="2800" kern="1200" dirty="0">
              <a:latin typeface="Preeti" pitchFamily="2" charset="0"/>
              <a:cs typeface="Kalimati" panose="00000400000000000000" pitchFamily="2"/>
            </a:rPr>
            <a:t>थुनामा राख्ने कसूरहरु</a:t>
          </a:r>
          <a:endParaRPr lang="en-US" sz="2800" kern="1200" dirty="0">
            <a:latin typeface="Preeti" pitchFamily="2" charset="0"/>
            <a:cs typeface="Kalimati" panose="00000400000000000000" pitchFamily="2"/>
          </a:endParaRPr>
        </a:p>
      </dsp:txBody>
      <dsp:txXfrm>
        <a:off x="4835404" y="245256"/>
        <a:ext cx="2700146" cy="922683"/>
      </dsp:txXfrm>
    </dsp:sp>
    <dsp:sp modelId="{AE4D4D63-B140-4019-9D66-2D6DD8F90737}">
      <dsp:nvSpPr>
        <dsp:cNvPr id="0" name=""/>
        <dsp:cNvSpPr/>
      </dsp:nvSpPr>
      <dsp:spPr>
        <a:xfrm>
          <a:off x="5036734" y="1196646"/>
          <a:ext cx="91440" cy="677696"/>
        </a:xfrm>
        <a:custGeom>
          <a:avLst/>
          <a:gdLst/>
          <a:ahLst/>
          <a:cxnLst/>
          <a:rect l="0" t="0" r="0" b="0"/>
          <a:pathLst>
            <a:path>
              <a:moveTo>
                <a:pt x="45720" y="0"/>
              </a:moveTo>
              <a:lnTo>
                <a:pt x="45720" y="677696"/>
              </a:lnTo>
              <a:lnTo>
                <a:pt x="74770" y="677696"/>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37E09E-75FB-4004-B02C-E10B3A66CA01}">
      <dsp:nvSpPr>
        <dsp:cNvPr id="0" name=""/>
        <dsp:cNvSpPr/>
      </dsp:nvSpPr>
      <dsp:spPr>
        <a:xfrm>
          <a:off x="5111504" y="1384295"/>
          <a:ext cx="2526639" cy="980095"/>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endParaRPr lang="en-US" sz="2000" kern="1200" dirty="0">
            <a:latin typeface="Preeti" pitchFamily="2" charset="0"/>
          </a:endParaRPr>
        </a:p>
        <a:p>
          <a:pPr marL="0" lvl="0" indent="0" algn="ctr" defTabSz="889000">
            <a:lnSpc>
              <a:spcPct val="90000"/>
            </a:lnSpc>
            <a:spcBef>
              <a:spcPct val="0"/>
            </a:spcBef>
            <a:spcAft>
              <a:spcPct val="35000"/>
            </a:spcAft>
            <a:buNone/>
          </a:pPr>
          <a:r>
            <a:rPr lang="ne-NP" sz="1800" kern="1200" dirty="0">
              <a:latin typeface="Preeti" pitchFamily="2" charset="0"/>
              <a:cs typeface="Kalimati" panose="00000400000000000000" pitchFamily="2"/>
            </a:rPr>
            <a:t>जन्म कैदको सजाय हुन सक्ने कसूर, </a:t>
          </a:r>
          <a:endParaRPr lang="en-US" sz="1800" kern="1200" dirty="0">
            <a:latin typeface="Preeti" pitchFamily="2" charset="0"/>
            <a:cs typeface="Kalimati" panose="00000400000000000000" pitchFamily="2"/>
          </a:endParaRPr>
        </a:p>
        <a:p>
          <a:pPr marL="0" lvl="0" indent="0" algn="ctr" defTabSz="889000">
            <a:lnSpc>
              <a:spcPct val="90000"/>
            </a:lnSpc>
            <a:spcBef>
              <a:spcPct val="0"/>
            </a:spcBef>
            <a:spcAft>
              <a:spcPct val="35000"/>
            </a:spcAft>
            <a:buNone/>
          </a:pPr>
          <a:endParaRPr lang="en-US" sz="2800" kern="1200" dirty="0">
            <a:latin typeface="Preeti" pitchFamily="2" charset="0"/>
          </a:endParaRPr>
        </a:p>
      </dsp:txBody>
      <dsp:txXfrm>
        <a:off x="5140210" y="1413001"/>
        <a:ext cx="2469227" cy="922683"/>
      </dsp:txXfrm>
    </dsp:sp>
    <dsp:sp modelId="{8F7003E9-A809-4D27-9342-7C81091010C4}">
      <dsp:nvSpPr>
        <dsp:cNvPr id="0" name=""/>
        <dsp:cNvSpPr/>
      </dsp:nvSpPr>
      <dsp:spPr>
        <a:xfrm>
          <a:off x="5036734" y="1196646"/>
          <a:ext cx="91440" cy="1976456"/>
        </a:xfrm>
        <a:custGeom>
          <a:avLst/>
          <a:gdLst/>
          <a:ahLst/>
          <a:cxnLst/>
          <a:rect l="0" t="0" r="0" b="0"/>
          <a:pathLst>
            <a:path>
              <a:moveTo>
                <a:pt x="45720" y="0"/>
              </a:moveTo>
              <a:lnTo>
                <a:pt x="45720" y="1976456"/>
              </a:lnTo>
              <a:lnTo>
                <a:pt x="74770" y="1976456"/>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916170-008C-4484-8EF1-8F40345A82CB}">
      <dsp:nvSpPr>
        <dsp:cNvPr id="0" name=""/>
        <dsp:cNvSpPr/>
      </dsp:nvSpPr>
      <dsp:spPr>
        <a:xfrm>
          <a:off x="5111504" y="2603505"/>
          <a:ext cx="2523487" cy="1139194"/>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lvl="0" indent="0" algn="ctr" defTabSz="711200">
            <a:lnSpc>
              <a:spcPct val="90000"/>
            </a:lnSpc>
            <a:spcBef>
              <a:spcPct val="0"/>
            </a:spcBef>
            <a:spcAft>
              <a:spcPct val="35000"/>
            </a:spcAft>
            <a:buNone/>
          </a:pPr>
          <a:r>
            <a:rPr lang="ne-NP" sz="1600" kern="1200" dirty="0">
              <a:latin typeface="Preeti" pitchFamily="2" charset="0"/>
              <a:cs typeface="Kalimati" panose="00000400000000000000" pitchFamily="2"/>
            </a:rPr>
            <a:t>तीन वर्षभन्दा बढी कैदको सजाय हुन सक्ने संहिताको अनुसूची–१ वा अनुसूची–२ अन्तर्गतका कसूर, वा</a:t>
          </a:r>
          <a:endParaRPr lang="en-US" sz="1600" kern="1200" dirty="0">
            <a:latin typeface="Preeti" pitchFamily="2" charset="0"/>
            <a:cs typeface="Kalimati" panose="00000400000000000000" pitchFamily="2"/>
          </a:endParaRPr>
        </a:p>
      </dsp:txBody>
      <dsp:txXfrm>
        <a:off x="5144870" y="2636871"/>
        <a:ext cx="2456755" cy="1072462"/>
      </dsp:txXfrm>
    </dsp:sp>
    <dsp:sp modelId="{4ADC5878-D7C6-458D-903E-A58FE5291228}">
      <dsp:nvSpPr>
        <dsp:cNvPr id="0" name=""/>
        <dsp:cNvSpPr/>
      </dsp:nvSpPr>
      <dsp:spPr>
        <a:xfrm>
          <a:off x="5082454" y="1196646"/>
          <a:ext cx="105246" cy="3597973"/>
        </a:xfrm>
        <a:custGeom>
          <a:avLst/>
          <a:gdLst/>
          <a:ahLst/>
          <a:cxnLst/>
          <a:rect l="0" t="0" r="0" b="0"/>
          <a:pathLst>
            <a:path>
              <a:moveTo>
                <a:pt x="0" y="0"/>
              </a:moveTo>
              <a:lnTo>
                <a:pt x="0" y="3597973"/>
              </a:lnTo>
              <a:lnTo>
                <a:pt x="105246" y="3597973"/>
              </a:lnTo>
            </a:path>
          </a:pathLst>
        </a:custGeom>
        <a:noFill/>
        <a:ln w="1270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5B9A613-B1A6-41BF-812A-A9220A0AB690}">
      <dsp:nvSpPr>
        <dsp:cNvPr id="0" name=""/>
        <dsp:cNvSpPr/>
      </dsp:nvSpPr>
      <dsp:spPr>
        <a:xfrm>
          <a:off x="5187701" y="3836140"/>
          <a:ext cx="2580709" cy="1916959"/>
        </a:xfrm>
        <a:prstGeom prst="roundRect">
          <a:avLst>
            <a:gd name="adj" fmla="val 10000"/>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30480" rIns="45720" bIns="30480" numCol="1" spcCol="1270" anchor="ctr" anchorCtr="0">
          <a:noAutofit/>
        </a:bodyPr>
        <a:lstStyle/>
        <a:p>
          <a:pPr marL="0" lvl="0" indent="0" algn="ctr" defTabSz="1066800">
            <a:lnSpc>
              <a:spcPct val="90000"/>
            </a:lnSpc>
            <a:spcBef>
              <a:spcPct val="0"/>
            </a:spcBef>
            <a:spcAft>
              <a:spcPct val="35000"/>
            </a:spcAft>
            <a:buNone/>
          </a:pPr>
          <a:endParaRPr lang="en-US" sz="2400" kern="1200" dirty="0">
            <a:latin typeface="Preeti" pitchFamily="2" charset="0"/>
          </a:endParaRPr>
        </a:p>
        <a:p>
          <a:pPr marL="0" lvl="0" indent="0" algn="ctr" defTabSz="1066800">
            <a:lnSpc>
              <a:spcPct val="90000"/>
            </a:lnSpc>
            <a:spcBef>
              <a:spcPct val="0"/>
            </a:spcBef>
            <a:spcAft>
              <a:spcPct val="35000"/>
            </a:spcAft>
            <a:buNone/>
          </a:pPr>
          <a:r>
            <a:rPr lang="ne-NP" sz="1600" kern="1200" dirty="0">
              <a:latin typeface="Preeti" pitchFamily="2" charset="0"/>
              <a:cs typeface="Kalimati" panose="00000400000000000000" pitchFamily="2"/>
            </a:rPr>
            <a:t>सो कसूरको उद्योग, दुरुत्साहन वा आपराधिक षडयन्त्र गरेको वा त्यस्तो कसूरमा मतियार भएको कसूर।</a:t>
          </a:r>
          <a:endParaRPr lang="en-US" sz="1600" kern="1200" dirty="0">
            <a:latin typeface="Preeti" pitchFamily="2" charset="0"/>
            <a:cs typeface="Kalimati" panose="00000400000000000000" pitchFamily="2"/>
          </a:endParaRPr>
        </a:p>
      </dsp:txBody>
      <dsp:txXfrm>
        <a:off x="5243847" y="3892286"/>
        <a:ext cx="2468417" cy="180466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545461E-FCFC-4386-9AA2-71D83920813D}" type="datetimeFigureOut">
              <a:rPr lang="en-US" smtClean="0"/>
              <a:pPr/>
              <a:t>1/15/2026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8AD458-FC4F-4DC8-8CB9-06B8CD29C849}" type="slidenum">
              <a:rPr lang="en-US" smtClean="0"/>
              <a:pPr/>
              <a:t>‹#›</a:t>
            </a:fld>
            <a:endParaRPr lang="en-US"/>
          </a:p>
        </p:txBody>
      </p:sp>
    </p:spTree>
    <p:extLst>
      <p:ext uri="{BB962C8B-B14F-4D97-AF65-F5344CB8AC3E}">
        <p14:creationId xmlns:p14="http://schemas.microsoft.com/office/powerpoint/2010/main" val="3429341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A8AD458-FC4F-4DC8-8CB9-06B8CD29C849}" type="slidenum">
              <a:rPr lang="en-US" smtClean="0"/>
              <a:pPr/>
              <a:t>1</a:t>
            </a:fld>
            <a:endParaRPr lang="en-US"/>
          </a:p>
        </p:txBody>
      </p:sp>
    </p:spTree>
    <p:extLst>
      <p:ext uri="{BB962C8B-B14F-4D97-AF65-F5344CB8AC3E}">
        <p14:creationId xmlns:p14="http://schemas.microsoft.com/office/powerpoint/2010/main" val="3262773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fld id="{148E7D70-B406-48F4-95AF-395AA0895A8C}" type="datetime1">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4217597960"/>
      </p:ext>
    </p:extLst>
  </p:cSld>
  <p:clrMapOvr>
    <a:masterClrMapping/>
  </p:clrMapOvr>
  <p:transition spd="slow">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C6642CD-5E54-438A-9D8B-711896B2424A}" type="datetime1">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4270019584"/>
      </p:ext>
    </p:extLst>
  </p:cSld>
  <p:clrMapOvr>
    <a:masterClrMapping/>
  </p:clrMapOvr>
  <p:transition spd="slow">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F81C39C-1DC1-40E2-AB3C-978E80B2F868}" type="datetime1">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3006057932"/>
      </p:ext>
    </p:extLst>
  </p:cSld>
  <p:clrMapOvr>
    <a:masterClrMapping/>
  </p:clrMapOvr>
  <p:transition spd="slow">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037F7-1F52-4C37-9B3B-7FAAD10CC3D4}" type="datetime1">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4177742747"/>
      </p:ext>
    </p:extLst>
  </p:cSld>
  <p:clrMapOvr>
    <a:masterClrMapping/>
  </p:clrMapOvr>
  <p:transition spd="slow">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7EB85FB-AD47-4E62-91B0-D1542A001817}" type="datetime1">
              <a:rPr lang="en-US" smtClean="0"/>
              <a:pPr/>
              <a:t>1/15/2026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669880337"/>
      </p:ext>
    </p:extLst>
  </p:cSld>
  <p:clrMapOvr>
    <a:masterClrMapping/>
  </p:clrMapOvr>
  <p:transition spd="slow">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E53E4DF-8EF4-478A-BD2C-447CB1041350}" type="datetime1">
              <a:rPr lang="en-US" smtClean="0"/>
              <a:pPr/>
              <a:t>1/15/2026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3155481791"/>
      </p:ext>
    </p:extLst>
  </p:cSld>
  <p:clrMapOvr>
    <a:masterClrMapping/>
  </p:clrMapOvr>
  <p:transition spd="slow">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CA9138-18EB-41F7-BC6C-626A682BFD69}" type="datetime1">
              <a:rPr lang="en-US" smtClean="0"/>
              <a:pPr/>
              <a:t>1/15/2026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3241737269"/>
      </p:ext>
    </p:extLst>
  </p:cSld>
  <p:clrMapOvr>
    <a:masterClrMapping/>
  </p:clrMapOvr>
  <p:transition spd="slow">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15BD1079-FEC2-4AC2-B680-42DB2D62477A}" type="datetime1">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2889860778"/>
      </p:ext>
    </p:extLst>
  </p:cSld>
  <p:clrMapOvr>
    <a:masterClrMapping/>
  </p:clrMapOvr>
  <p:transition spd="slow">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0D767964-3BA3-454F-87F0-4A2C55D3592E}" type="datetime1">
              <a:rPr lang="en-US" smtClean="0"/>
              <a:pPr/>
              <a:t>1/15/2026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489901021"/>
      </p:ext>
    </p:extLst>
  </p:cSld>
  <p:clrMapOvr>
    <a:masterClrMapping/>
  </p:clrMapOvr>
  <p:transition spd="slow">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895859-2111-4CE2-8220-87BF24DED40C}" type="datetime1">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1599432681"/>
      </p:ext>
    </p:extLst>
  </p:cSld>
  <p:clrMapOvr>
    <a:masterClrMapping/>
  </p:clrMapOvr>
  <p:transition spd="slow">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B988206-6E68-4280-AB29-0F80A2DF48F2}" type="datetime1">
              <a:rPr lang="en-US" smtClean="0"/>
              <a:pPr/>
              <a:t>1/15/2026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6EA1BC9-060C-4734-A581-933889F0292E}" type="slidenum">
              <a:rPr lang="en-US" smtClean="0"/>
              <a:pPr/>
              <a:t>‹#›</a:t>
            </a:fld>
            <a:endParaRPr lang="en-US"/>
          </a:p>
        </p:txBody>
      </p:sp>
    </p:spTree>
    <p:extLst>
      <p:ext uri="{BB962C8B-B14F-4D97-AF65-F5344CB8AC3E}">
        <p14:creationId xmlns:p14="http://schemas.microsoft.com/office/powerpoint/2010/main" val="2753438214"/>
      </p:ext>
    </p:extLst>
  </p:cSld>
  <p:clrMapOvr>
    <a:masterClrMapping/>
  </p:clrMapOvr>
  <p:transition spd="slow">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4CEB1CE3-4F6D-45F7-9727-74C2936779DA}" type="datetime1">
              <a:rPr lang="en-US" smtClean="0"/>
              <a:pPr/>
              <a:t>1/15/2026</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6EA1BC9-060C-4734-A581-933889F0292E}" type="slidenum">
              <a:rPr lang="en-US" smtClean="0"/>
              <a:pPr/>
              <a:t>‹#›</a:t>
            </a:fld>
            <a:endParaRPr lang="en-US"/>
          </a:p>
        </p:txBody>
      </p:sp>
    </p:spTree>
    <p:extLst>
      <p:ext uri="{BB962C8B-B14F-4D97-AF65-F5344CB8AC3E}">
        <p14:creationId xmlns:p14="http://schemas.microsoft.com/office/powerpoint/2010/main" val="1808443135"/>
      </p:ext>
    </p:extLst>
  </p:cSld>
  <p:clrMap bg1="lt1" tx1="dk1" bg2="lt2" tx2="dk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Lst>
  <p:transition spd="slow">
    <p:wedge/>
  </p:transition>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2343;&#2352;&#2380;&#2335;%20_&#2340;&#2341;&#2366;_&#2332;&#2350;&#2366;&#2344;&#2368;&#2360;&#2350;&#2381;&#2348;&#2344;&#2381;&#2343;&#2368;%20_&#2344;&#2367;&#2352;&#2381;&#2342;&#2375;&#2358;&#2367;&#2325;&#2366;,_&#2408;&#2406;&#2413;&#2411;.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609600"/>
            <a:ext cx="8305800" cy="5791200"/>
          </a:xfrm>
        </p:spPr>
        <p:txBody>
          <a:bodyPr/>
          <a:lstStyle/>
          <a:p>
            <a:pPr algn="ctr">
              <a:buNone/>
            </a:pPr>
            <a:r>
              <a:rPr lang="ne-NP" sz="4400" b="1" dirty="0">
                <a:cs typeface="Kalimati" panose="00000400000000000000" pitchFamily="2"/>
              </a:rPr>
              <a:t> </a:t>
            </a:r>
            <a:r>
              <a:rPr lang="ne-NP" sz="3200" b="1" dirty="0">
                <a:cs typeface="Kalimati" panose="00000400000000000000" pitchFamily="2"/>
              </a:rPr>
              <a:t>थुनछेक</a:t>
            </a:r>
            <a:r>
              <a:rPr lang="en-US" sz="3200" b="1" dirty="0">
                <a:cs typeface="Kalimati" panose="00000400000000000000" pitchFamily="2"/>
              </a:rPr>
              <a:t>,</a:t>
            </a:r>
            <a:r>
              <a:rPr lang="ne-NP" sz="3200" b="1" dirty="0">
                <a:cs typeface="Kalimati" panose="00000400000000000000" pitchFamily="2"/>
              </a:rPr>
              <a:t> जमानत र धरौट सम्बन्धी कानूनी व्यवस्था र अभ्यास</a:t>
            </a:r>
          </a:p>
        </p:txBody>
      </p:sp>
      <p:sp>
        <p:nvSpPr>
          <p:cNvPr id="4" name="Slide Number Placeholder 3"/>
          <p:cNvSpPr>
            <a:spLocks noGrp="1"/>
          </p:cNvSpPr>
          <p:nvPr>
            <p:ph type="sldNum" sz="quarter" idx="12"/>
          </p:nvPr>
        </p:nvSpPr>
        <p:spPr/>
        <p:txBody>
          <a:bodyPr/>
          <a:lstStyle/>
          <a:p>
            <a:fld id="{26EA1BC9-060C-4734-A581-933889F0292E}" type="slidenum">
              <a:rPr lang="en-US" smtClean="0"/>
              <a:pPr/>
              <a:t>1</a:t>
            </a:fld>
            <a:endParaRPr lang="en-US"/>
          </a:p>
        </p:txBody>
      </p:sp>
      <p:sp>
        <p:nvSpPr>
          <p:cNvPr id="2" name="TextBox 1"/>
          <p:cNvSpPr txBox="1"/>
          <p:nvPr/>
        </p:nvSpPr>
        <p:spPr>
          <a:xfrm>
            <a:off x="3962400" y="3962400"/>
            <a:ext cx="4724400" cy="1200329"/>
          </a:xfrm>
          <a:prstGeom prst="rect">
            <a:avLst/>
          </a:prstGeom>
          <a:noFill/>
        </p:spPr>
        <p:txBody>
          <a:bodyPr wrap="square" rtlCol="0">
            <a:spAutoFit/>
          </a:bodyPr>
          <a:lstStyle/>
          <a:p>
            <a:pPr algn="ctr"/>
            <a:r>
              <a:rPr lang="ne-NP" sz="2400" b="1" dirty="0">
                <a:latin typeface="Preeti" pitchFamily="2" charset="0"/>
                <a:cs typeface="Kalimati" pitchFamily="2"/>
              </a:rPr>
              <a:t> </a:t>
            </a:r>
            <a:r>
              <a:rPr lang="ne-NP" sz="2400" b="1" dirty="0">
                <a:latin typeface="Times New Roman" panose="02020603050405020304" pitchFamily="18" charset="0"/>
                <a:cs typeface="Kalimati" pitchFamily="2"/>
              </a:rPr>
              <a:t>डा</a:t>
            </a:r>
            <a:r>
              <a:rPr lang="en-US" sz="2400" b="1" dirty="0">
                <a:latin typeface="Times New Roman" panose="02020603050405020304" pitchFamily="18" charset="0"/>
                <a:cs typeface="Times New Roman" panose="02020603050405020304" pitchFamily="18" charset="0"/>
              </a:rPr>
              <a:t>. </a:t>
            </a:r>
            <a:r>
              <a:rPr lang="ne-NP" sz="2400" b="1" dirty="0">
                <a:latin typeface="Times New Roman" panose="02020603050405020304" pitchFamily="18" charset="0"/>
                <a:cs typeface="Kalimati" pitchFamily="2"/>
              </a:rPr>
              <a:t>दिवाकर</a:t>
            </a:r>
            <a:r>
              <a:rPr lang="ne-NP" sz="2400" b="1" dirty="0">
                <a:latin typeface="Preeti" pitchFamily="2" charset="0"/>
                <a:cs typeface="Kalimati" pitchFamily="2"/>
              </a:rPr>
              <a:t> भट्ट</a:t>
            </a:r>
          </a:p>
          <a:p>
            <a:pPr algn="ctr"/>
            <a:r>
              <a:rPr lang="ne-NP" sz="2400" b="1" dirty="0">
                <a:latin typeface="Preeti" pitchFamily="2" charset="0"/>
                <a:cs typeface="Kalimati" pitchFamily="2"/>
              </a:rPr>
              <a:t>जिल्ला न्यायाधीश</a:t>
            </a:r>
          </a:p>
          <a:p>
            <a:pPr algn="ctr"/>
            <a:r>
              <a:rPr lang="ne-NP" sz="2400" b="1">
                <a:latin typeface="Preeti" pitchFamily="2" charset="0"/>
                <a:cs typeface="Kalimati" pitchFamily="2"/>
              </a:rPr>
              <a:t>काठमाडौं जिल्ला </a:t>
            </a:r>
            <a:r>
              <a:rPr lang="ne-NP" sz="2400" b="1" dirty="0">
                <a:latin typeface="Preeti" pitchFamily="2" charset="0"/>
                <a:cs typeface="Kalimati" pitchFamily="2"/>
              </a:rPr>
              <a:t>अदालत</a:t>
            </a:r>
          </a:p>
        </p:txBody>
      </p:sp>
    </p:spTree>
  </p:cSld>
  <p:clrMapOvr>
    <a:masterClrMapping/>
  </p:clrMapOvr>
  <p:transition spd="slow">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6382" y="314208"/>
            <a:ext cx="3451746" cy="420805"/>
          </a:xfrm>
        </p:spPr>
        <p:txBody>
          <a:bodyPr>
            <a:noAutofit/>
          </a:bodyPr>
          <a:lstStyle/>
          <a:p>
            <a:pPr>
              <a:lnSpc>
                <a:spcPct val="80000"/>
              </a:lnSpc>
              <a:spcBef>
                <a:spcPts val="750"/>
              </a:spcBef>
            </a:pPr>
            <a:r>
              <a:rPr lang="ne-NP" sz="2800" dirty="0">
                <a:latin typeface="Preeti" pitchFamily="2" charset="0"/>
                <a:ea typeface="+mn-ea"/>
                <a:cs typeface="Kalimati" panose="00000400000000000000" pitchFamily="2"/>
              </a:rPr>
              <a:t>प्रस्तुतीकरणको खाका</a:t>
            </a:r>
            <a:endParaRPr lang="en-US" sz="2800" dirty="0">
              <a:latin typeface="Preeti" pitchFamily="2" charset="0"/>
              <a:ea typeface="+mn-ea"/>
              <a:cs typeface="Kalimati" panose="00000400000000000000" pitchFamily="2"/>
            </a:endParaRPr>
          </a:p>
        </p:txBody>
      </p:sp>
      <p:sp>
        <p:nvSpPr>
          <p:cNvPr id="3" name="Content Placeholder 2"/>
          <p:cNvSpPr>
            <a:spLocks noGrp="1"/>
          </p:cNvSpPr>
          <p:nvPr>
            <p:ph idx="1"/>
          </p:nvPr>
        </p:nvSpPr>
        <p:spPr>
          <a:xfrm>
            <a:off x="566382" y="735013"/>
            <a:ext cx="7948968" cy="5441950"/>
          </a:xfrm>
        </p:spPr>
        <p:txBody>
          <a:bodyPr>
            <a:normAutofit fontScale="92500" lnSpcReduction="20000"/>
          </a:bodyPr>
          <a:lstStyle/>
          <a:p>
            <a:r>
              <a:rPr lang="ne-NP" sz="2000" dirty="0">
                <a:latin typeface="Preeti" pitchFamily="2" charset="0"/>
                <a:cs typeface="Kalimati" panose="00000400000000000000" pitchFamily="2"/>
              </a:rPr>
              <a:t>थुनछेकको अर्थ र अवधारणा।</a:t>
            </a:r>
          </a:p>
          <a:p>
            <a:r>
              <a:rPr lang="ne-NP" sz="2000" dirty="0">
                <a:latin typeface="Preeti" pitchFamily="2" charset="0"/>
                <a:cs typeface="Kalimati" panose="00000400000000000000" pitchFamily="2"/>
              </a:rPr>
              <a:t>थुनछेकको उद्देश्य।</a:t>
            </a:r>
          </a:p>
          <a:p>
            <a:r>
              <a:rPr lang="ne-NP" sz="2000" dirty="0">
                <a:latin typeface="Preeti" pitchFamily="2" charset="0"/>
                <a:cs typeface="Kalimati" panose="00000400000000000000" pitchFamily="2"/>
              </a:rPr>
              <a:t>फौजदारी न्याय सम्बन्धी अन्तर्राष्ट्रिय मापदण्डहरु</a:t>
            </a:r>
          </a:p>
          <a:p>
            <a:r>
              <a:rPr lang="ne-NP" sz="2000" dirty="0">
                <a:latin typeface="Preeti" pitchFamily="2" charset="0"/>
                <a:cs typeface="Kalimati" panose="00000400000000000000" pitchFamily="2"/>
              </a:rPr>
              <a:t>थुनछेकका आधारहरु</a:t>
            </a:r>
            <a:r>
              <a:rPr lang="en-US" sz="2000" dirty="0">
                <a:latin typeface="Preeti" pitchFamily="2" charset="0"/>
                <a:cs typeface="Kalimati" panose="00000400000000000000" pitchFamily="2"/>
              </a:rPr>
              <a:t> </a:t>
            </a:r>
            <a:r>
              <a:rPr lang="ne-NP" sz="2000" dirty="0">
                <a:latin typeface="Preeti" pitchFamily="2" charset="0"/>
                <a:cs typeface="Kalimati" panose="00000400000000000000" pitchFamily="2"/>
              </a:rPr>
              <a:t>(तत्काल प्राप्त प्रमाण) के के हुन सक्दछन्</a:t>
            </a:r>
            <a:r>
              <a:rPr lang="en-US" sz="2000" dirty="0">
                <a:latin typeface="Preeti" pitchFamily="2" charset="0"/>
                <a:cs typeface="Kalimati" panose="00000400000000000000" pitchFamily="2"/>
              </a:rPr>
              <a:t> </a:t>
            </a:r>
            <a:r>
              <a:rPr lang="en-US" sz="2000" dirty="0">
                <a:latin typeface="Times New Roman" panose="02020603050405020304" pitchFamily="18" charset="0"/>
                <a:cs typeface="Times New Roman" panose="02020603050405020304" pitchFamily="18" charset="0"/>
              </a:rPr>
              <a:t>?</a:t>
            </a:r>
            <a:endParaRPr lang="ne-NP" sz="2000" dirty="0">
              <a:latin typeface="Preeti" pitchFamily="2" charset="0"/>
              <a:cs typeface="Kalimati" panose="00000400000000000000" pitchFamily="2"/>
            </a:endParaRPr>
          </a:p>
          <a:p>
            <a:r>
              <a:rPr lang="ne-NP" sz="2000" dirty="0">
                <a:latin typeface="Preeti" pitchFamily="2" charset="0"/>
                <a:cs typeface="Kalimati" panose="00000400000000000000" pitchFamily="2"/>
              </a:rPr>
              <a:t>थुनछेक सम्बन्धी सामान्य र विशेष कानूनी व्यवस्था।</a:t>
            </a:r>
          </a:p>
          <a:p>
            <a:r>
              <a:rPr lang="ne-NP" sz="2000" dirty="0">
                <a:latin typeface="Preeti" pitchFamily="2" charset="0"/>
                <a:cs typeface="Kalimati" panose="00000400000000000000" pitchFamily="2"/>
              </a:rPr>
              <a:t>मुलुकी फौजदारी कार्यविधि संहिता, २०७४ को थुनछेक सम्बन्धी व्यवस्था।</a:t>
            </a:r>
          </a:p>
          <a:p>
            <a:r>
              <a:rPr lang="ne-NP" sz="2000" dirty="0">
                <a:latin typeface="Preeti" pitchFamily="2" charset="0"/>
                <a:cs typeface="Kalimati" panose="00000400000000000000" pitchFamily="2"/>
              </a:rPr>
              <a:t>विशेष अदालत ऐन, २०५९ र अन्य विशेष ऐनहरुमा भएको थुनछेक सम्बन्धी व्यवस्था।</a:t>
            </a:r>
          </a:p>
          <a:p>
            <a:r>
              <a:rPr lang="ne-NP" sz="2000" dirty="0">
                <a:latin typeface="Preeti" pitchFamily="2" charset="0"/>
                <a:cs typeface="Kalimati" panose="00000400000000000000" pitchFamily="2"/>
              </a:rPr>
              <a:t>थुनछेक सम्बन्धी</a:t>
            </a:r>
            <a:r>
              <a:rPr lang="en-US" sz="2000" dirty="0">
                <a:latin typeface="Preeti" pitchFamily="2" charset="0"/>
                <a:cs typeface="Kalimati" panose="00000400000000000000" pitchFamily="2"/>
              </a:rPr>
              <a:t> </a:t>
            </a:r>
            <a:r>
              <a:rPr lang="ne-NP" sz="2000" dirty="0">
                <a:latin typeface="Preeti" pitchFamily="2" charset="0"/>
                <a:cs typeface="Kalimati" panose="00000400000000000000" pitchFamily="2"/>
              </a:rPr>
              <a:t>साविक व्यवस्था र मुलुकी फौजदारी कार्यविधि संहिताको व्यवस्था बीच समानता र भिन्नता।</a:t>
            </a:r>
          </a:p>
          <a:p>
            <a:r>
              <a:rPr lang="ne-NP" sz="2000" dirty="0">
                <a:latin typeface="Preeti" pitchFamily="2" charset="0"/>
                <a:cs typeface="Kalimati" panose="00000400000000000000" pitchFamily="2"/>
              </a:rPr>
              <a:t>थुनछेक सम्बन्धमा सर्वोच्च अदालतबाट प्रतिपादित न्यायिक सिद्धान्तहरु</a:t>
            </a:r>
          </a:p>
          <a:p>
            <a:r>
              <a:rPr lang="ne-NP" sz="2000" dirty="0">
                <a:latin typeface="Preeti" pitchFamily="2" charset="0"/>
                <a:cs typeface="Kalimati" panose="00000400000000000000" pitchFamily="2"/>
              </a:rPr>
              <a:t>थुनछेकका क्रममा आई पर्ने द्विविधाजन्य अबस्था र अनुभवहरु। </a:t>
            </a:r>
          </a:p>
          <a:p>
            <a:r>
              <a:rPr lang="ne-NP" sz="2000" dirty="0">
                <a:latin typeface="Preeti" pitchFamily="2" charset="0"/>
                <a:cs typeface="Kalimati" panose="00000400000000000000" pitchFamily="2"/>
              </a:rPr>
              <a:t>थुनछेक आदेश सम्बन्धी न्यायिक दृष्टिकोण।</a:t>
            </a:r>
          </a:p>
          <a:p>
            <a:r>
              <a:rPr lang="ne-NP" sz="2000" dirty="0">
                <a:latin typeface="Preeti" pitchFamily="2" charset="0"/>
                <a:cs typeface="Kalimati" panose="00000400000000000000" pitchFamily="2"/>
              </a:rPr>
              <a:t>छलफल</a:t>
            </a:r>
            <a:endParaRPr lang="en-US" sz="2000" dirty="0">
              <a:latin typeface="Preeti" pitchFamily="2" charset="0"/>
              <a:cs typeface="Kalimati" panose="00000400000000000000" pitchFamily="2"/>
            </a:endParaRPr>
          </a:p>
          <a:p>
            <a:r>
              <a:rPr lang="ne-NP" sz="2000" dirty="0">
                <a:cs typeface="Kalimati" panose="00000400000000000000" pitchFamily="2"/>
              </a:rPr>
              <a:t>समस्या</a:t>
            </a:r>
            <a:r>
              <a:rPr lang="en-US" sz="2000" dirty="0">
                <a:cs typeface="Kalimati" panose="00000400000000000000" pitchFamily="2"/>
              </a:rPr>
              <a:t>, </a:t>
            </a:r>
            <a:r>
              <a:rPr lang="ne-NP" sz="2000" dirty="0">
                <a:cs typeface="Kalimati" panose="00000400000000000000" pitchFamily="2"/>
              </a:rPr>
              <a:t>चुनौतीहरु</a:t>
            </a:r>
            <a:r>
              <a:rPr lang="en-US" sz="2000" dirty="0">
                <a:cs typeface="Kalimati" panose="00000400000000000000" pitchFamily="2"/>
              </a:rPr>
              <a:t> </a:t>
            </a:r>
            <a:r>
              <a:rPr lang="ne-NP" sz="2000" dirty="0">
                <a:cs typeface="Kalimati" panose="00000400000000000000" pitchFamily="2"/>
              </a:rPr>
              <a:t>र </a:t>
            </a:r>
            <a:r>
              <a:rPr lang="ne-NP" sz="2000" dirty="0">
                <a:latin typeface="Preeti" pitchFamily="2" charset="0"/>
                <a:cs typeface="Kalimati" panose="00000400000000000000" pitchFamily="2"/>
              </a:rPr>
              <a:t>निष्कर्ष।</a:t>
            </a:r>
            <a:br>
              <a:rPr lang="en-US" sz="2000" dirty="0">
                <a:cs typeface="Kalimati" panose="00000400000000000000" pitchFamily="2"/>
              </a:rPr>
            </a:br>
            <a:br>
              <a:rPr lang="en-US" sz="2000" b="1" dirty="0"/>
            </a:br>
            <a:br>
              <a:rPr lang="en-US" sz="2000" dirty="0">
                <a:cs typeface="Kalimati" panose="00000400000000000000" pitchFamily="2"/>
              </a:rPr>
            </a:br>
            <a:endParaRPr lang="en-US" sz="2000" dirty="0"/>
          </a:p>
          <a:p>
            <a:endParaRPr lang="en-US" dirty="0"/>
          </a:p>
        </p:txBody>
      </p:sp>
      <p:sp>
        <p:nvSpPr>
          <p:cNvPr id="4" name="Slide Number Placeholder 3"/>
          <p:cNvSpPr>
            <a:spLocks noGrp="1"/>
          </p:cNvSpPr>
          <p:nvPr>
            <p:ph type="sldNum" sz="quarter" idx="12"/>
          </p:nvPr>
        </p:nvSpPr>
        <p:spPr/>
        <p:txBody>
          <a:bodyPr/>
          <a:lstStyle/>
          <a:p>
            <a:fld id="{26EA1BC9-060C-4734-A581-933889F0292E}" type="slidenum">
              <a:rPr lang="en-US" smtClean="0"/>
              <a:pPr/>
              <a:t>2</a:t>
            </a:fld>
            <a:endParaRPr lang="en-US"/>
          </a:p>
        </p:txBody>
      </p:sp>
    </p:spTree>
    <p:extLst>
      <p:ext uri="{BB962C8B-B14F-4D97-AF65-F5344CB8AC3E}">
        <p14:creationId xmlns:p14="http://schemas.microsoft.com/office/powerpoint/2010/main" val="3865033198"/>
      </p:ext>
    </p:extLst>
  </p:cSld>
  <p:clrMapOvr>
    <a:masterClrMapping/>
  </p:clrMapOvr>
  <p:transition spd="slow">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7200"/>
            <a:ext cx="4724400" cy="304800"/>
          </a:xfrm>
        </p:spPr>
        <p:txBody>
          <a:bodyPr>
            <a:normAutofit fontScale="90000"/>
          </a:bodyPr>
          <a:lstStyle/>
          <a:p>
            <a:br>
              <a:rPr lang="ne-NP" dirty="0">
                <a:solidFill>
                  <a:schemeClr val="tx1"/>
                </a:solidFill>
                <a:cs typeface="Kalimati" panose="00000400000000000000" pitchFamily="2"/>
              </a:rPr>
            </a:br>
            <a:br>
              <a:rPr lang="en-US" dirty="0">
                <a:solidFill>
                  <a:schemeClr val="tx1"/>
                </a:solidFill>
                <a:cs typeface="Kalimati" panose="00000400000000000000" pitchFamily="2"/>
              </a:rPr>
            </a:br>
            <a:r>
              <a:rPr lang="ne-NP" sz="3600" dirty="0">
                <a:cs typeface="Kalimati" panose="00000400000000000000" pitchFamily="2"/>
              </a:rPr>
              <a:t>थुनछेकको अर्थ</a:t>
            </a:r>
            <a:br>
              <a:rPr lang="ne-NP" dirty="0">
                <a:solidFill>
                  <a:schemeClr val="tx1"/>
                </a:solidFill>
                <a:cs typeface="Kalimati" panose="00000400000000000000" pitchFamily="2"/>
              </a:rPr>
            </a:br>
            <a:br>
              <a:rPr lang="ne-NP" dirty="0">
                <a:solidFill>
                  <a:schemeClr val="tx1"/>
                </a:solidFill>
                <a:cs typeface="Kalimati" panose="00000400000000000000" pitchFamily="2"/>
              </a:rPr>
            </a:br>
            <a:endParaRPr lang="en-US" sz="3100" dirty="0">
              <a:solidFill>
                <a:schemeClr val="tx1"/>
              </a:solidFill>
              <a:cs typeface="Kalimati" panose="00000400000000000000" pitchFamily="2"/>
            </a:endParaRPr>
          </a:p>
        </p:txBody>
      </p:sp>
      <p:sp>
        <p:nvSpPr>
          <p:cNvPr id="4" name="Content Placeholder 3"/>
          <p:cNvSpPr>
            <a:spLocks noGrp="1"/>
          </p:cNvSpPr>
          <p:nvPr>
            <p:ph idx="1"/>
          </p:nvPr>
        </p:nvSpPr>
        <p:spPr>
          <a:xfrm>
            <a:off x="838200" y="1066800"/>
            <a:ext cx="8077200" cy="6324600"/>
          </a:xfrm>
        </p:spPr>
        <p:txBody>
          <a:bodyPr>
            <a:normAutofit/>
          </a:bodyPr>
          <a:lstStyle/>
          <a:p>
            <a:r>
              <a:rPr lang="ne-NP" dirty="0">
                <a:cs typeface="Kalimati" panose="00000400000000000000" pitchFamily="2"/>
              </a:rPr>
              <a:t>फौजदारी मुद्दामा न्यायिक कारवाहीको (</a:t>
            </a:r>
            <a:r>
              <a:rPr lang="en-US" dirty="0">
                <a:cs typeface="Kalimati" panose="00000400000000000000" pitchFamily="2"/>
              </a:rPr>
              <a:t>Trial</a:t>
            </a:r>
            <a:r>
              <a:rPr lang="ne-NP" dirty="0">
                <a:cs typeface="Kalimati" panose="00000400000000000000" pitchFamily="2"/>
              </a:rPr>
              <a:t>) पहिलो चरण।</a:t>
            </a:r>
          </a:p>
          <a:p>
            <a:r>
              <a:rPr lang="ne-NP" dirty="0">
                <a:cs typeface="Kalimati" panose="00000400000000000000" pitchFamily="2"/>
              </a:rPr>
              <a:t>अभियुक्तको अदालतमा उपस्थितिको अबस्था एकिन गर्ने कार्यविधि।</a:t>
            </a:r>
            <a:endParaRPr lang="en-US" dirty="0">
              <a:cs typeface="Kalimati" panose="00000400000000000000" pitchFamily="2"/>
            </a:endParaRPr>
          </a:p>
          <a:p>
            <a:r>
              <a:rPr lang="ne-NP" dirty="0">
                <a:cs typeface="Kalimati" panose="00000400000000000000" pitchFamily="2"/>
              </a:rPr>
              <a:t>फौजदारी मुद्दामा अदालती कारवाहीलाई निर्देशित गर्ने प्रस्थान विन्दु।</a:t>
            </a:r>
          </a:p>
          <a:p>
            <a:r>
              <a:rPr lang="ne-NP" dirty="0">
                <a:cs typeface="Kalimati" panose="00000400000000000000" pitchFamily="2"/>
              </a:rPr>
              <a:t>मुद्दाको थप कारवाहीलाई एकिन गर्ने मार्गचित्र।</a:t>
            </a:r>
          </a:p>
          <a:p>
            <a:r>
              <a:rPr lang="ne-NP" dirty="0">
                <a:cs typeface="Kalimati" panose="00000400000000000000" pitchFamily="2"/>
              </a:rPr>
              <a:t>कुनै पनि अभियुक्तलाई थुनामा राखेर मुद्दाको न्यायिक कारवाही हुने वा धरौट वा जमानत लिई मुद्दाको कारवाही गर्ने सम्बन्धमा अपनाईने न्यायिक कारवाही।</a:t>
            </a:r>
          </a:p>
          <a:p>
            <a:r>
              <a:rPr lang="en-US" dirty="0">
                <a:cs typeface="Kalimati" panose="00000400000000000000" pitchFamily="2"/>
              </a:rPr>
              <a:t>"</a:t>
            </a:r>
            <a:r>
              <a:rPr lang="en-US" dirty="0">
                <a:latin typeface="Times New Roman" panose="02020603050405020304" pitchFamily="18" charset="0"/>
                <a:cs typeface="Times New Roman" panose="02020603050405020304" pitchFamily="18" charset="0"/>
              </a:rPr>
              <a:t>First Surrender and Then Hear" </a:t>
            </a:r>
            <a:r>
              <a:rPr lang="ne-NP" dirty="0">
                <a:latin typeface="Times New Roman" panose="02020603050405020304" pitchFamily="18" charset="0"/>
                <a:cs typeface="Kalimati" panose="00000400000000000000" pitchFamily="2"/>
              </a:rPr>
              <a:t>को मान्यतामा आधारित न्यायिक प्रकृयाको पहिलो चरण।</a:t>
            </a:r>
            <a:endParaRPr lang="en-US" dirty="0">
              <a:latin typeface="Times New Roman" panose="02020603050405020304" pitchFamily="18" charset="0"/>
              <a:cs typeface="Kalimati" panose="00000400000000000000" pitchFamily="2"/>
            </a:endParaRPr>
          </a:p>
          <a:p>
            <a:r>
              <a:rPr lang="ne-NP" dirty="0">
                <a:latin typeface="Times New Roman" panose="02020603050405020304" pitchFamily="18" charset="0"/>
                <a:cs typeface="Kalimati" panose="00000400000000000000" pitchFamily="2"/>
              </a:rPr>
              <a:t>तत्काल प्राप्त प्रमाणको आधारमा अभियुक्त कसुरदार देखिएको वा कसुरदार हो भन्न विश्वसनीय वा मनासिव आधार खोजी गर्ने चरण।</a:t>
            </a:r>
          </a:p>
          <a:p>
            <a:endParaRPr lang="ne-NP" dirty="0">
              <a:latin typeface="Times New Roman" panose="02020603050405020304" pitchFamily="18" charset="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3</a:t>
            </a:fld>
            <a:endParaRPr lang="en-US"/>
          </a:p>
        </p:txBody>
      </p:sp>
    </p:spTree>
    <p:extLst>
      <p:ext uri="{BB962C8B-B14F-4D97-AF65-F5344CB8AC3E}">
        <p14:creationId xmlns:p14="http://schemas.microsoft.com/office/powerpoint/2010/main" val="2542513656"/>
      </p:ext>
    </p:extLst>
  </p:cSld>
  <p:clrMapOvr>
    <a:masterClrMapping/>
  </p:clrMapOvr>
  <p:transition spd="slow">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3810000" cy="639762"/>
          </a:xfrm>
        </p:spPr>
        <p:txBody>
          <a:bodyPr>
            <a:normAutofit/>
          </a:bodyPr>
          <a:lstStyle/>
          <a:p>
            <a:r>
              <a:rPr lang="ne-NP" altLang="en-US" sz="3200" b="1" dirty="0">
                <a:solidFill>
                  <a:schemeClr val="tx1"/>
                </a:solidFill>
                <a:latin typeface="Preeti" pitchFamily="2" charset="0"/>
                <a:cs typeface="Kalimati" panose="00000400000000000000" pitchFamily="2"/>
              </a:rPr>
              <a:t>थुनछेकको उद्देश्य</a:t>
            </a:r>
            <a:endParaRPr lang="en-US" sz="3200" b="1" dirty="0">
              <a:solidFill>
                <a:schemeClr val="tx1"/>
              </a:solidFill>
              <a:latin typeface="Preeti" pitchFamily="2" charset="0"/>
              <a:cs typeface="Kalimati" panose="00000400000000000000" pitchFamily="2"/>
            </a:endParaRPr>
          </a:p>
        </p:txBody>
      </p:sp>
      <p:sp>
        <p:nvSpPr>
          <p:cNvPr id="4" name="Content Placeholder 3"/>
          <p:cNvSpPr>
            <a:spLocks noGrp="1"/>
          </p:cNvSpPr>
          <p:nvPr>
            <p:ph idx="1"/>
          </p:nvPr>
        </p:nvSpPr>
        <p:spPr>
          <a:xfrm>
            <a:off x="762000" y="990600"/>
            <a:ext cx="7772400" cy="5029200"/>
          </a:xfrm>
        </p:spPr>
        <p:txBody>
          <a:bodyPr>
            <a:normAutofit fontScale="92500" lnSpcReduction="10000"/>
          </a:bodyPr>
          <a:lstStyle/>
          <a:p>
            <a:pPr marL="465138" indent="-465138"/>
            <a:r>
              <a:rPr lang="ne-NP" altLang="en-US" sz="2800" dirty="0">
                <a:latin typeface="Preeti" pitchFamily="2" charset="0"/>
                <a:cs typeface="Kalimati" panose="00000400000000000000" pitchFamily="2"/>
              </a:rPr>
              <a:t>समाजमा सुरक्षा प्रदान गर्ने ।</a:t>
            </a:r>
          </a:p>
          <a:p>
            <a:pPr marL="465138" indent="-465138"/>
            <a:r>
              <a:rPr lang="ne-NP" altLang="en-US" sz="2800" dirty="0">
                <a:latin typeface="Preeti" pitchFamily="2" charset="0"/>
                <a:cs typeface="Kalimati" panose="00000400000000000000" pitchFamily="2"/>
              </a:rPr>
              <a:t>समाजमा अपराधको नियन्त्रण गर्ने ।</a:t>
            </a:r>
          </a:p>
          <a:p>
            <a:pPr marL="465138" indent="-465138"/>
            <a:r>
              <a:rPr lang="ne-NP" altLang="en-US" sz="2800" dirty="0">
                <a:latin typeface="Preeti" pitchFamily="2" charset="0"/>
                <a:cs typeface="Kalimati" panose="00000400000000000000" pitchFamily="2"/>
              </a:rPr>
              <a:t>अपराध अनुसन्धानलाई स्वतन्त्र बनाउने र प्रमाण लोप हुन नदिने।</a:t>
            </a:r>
          </a:p>
          <a:p>
            <a:pPr marL="465138" indent="-465138"/>
            <a:r>
              <a:rPr lang="ne-NP" altLang="en-US" sz="2800" dirty="0">
                <a:latin typeface="Preeti" pitchFamily="2" charset="0"/>
                <a:cs typeface="Kalimati" panose="00000400000000000000" pitchFamily="2"/>
              </a:rPr>
              <a:t>अभियुक्तको अदालतमा उपस्थिति सुनिश्चित गर्ने।</a:t>
            </a:r>
          </a:p>
          <a:p>
            <a:pPr marL="465138" indent="-465138"/>
            <a:r>
              <a:rPr lang="ne-NP" altLang="en-US" sz="2800" dirty="0">
                <a:latin typeface="Preeti" pitchFamily="2" charset="0"/>
                <a:cs typeface="Kalimati" panose="00000400000000000000" pitchFamily="2"/>
              </a:rPr>
              <a:t>न्यायिक प्रक्रिया र फैसला कार्यान्वयनलाई सहज बनाउने।</a:t>
            </a:r>
          </a:p>
          <a:p>
            <a:pPr marL="465138" indent="-465138"/>
            <a:r>
              <a:rPr lang="ne-NP" altLang="en-US" sz="2800" dirty="0">
                <a:latin typeface="Preeti" pitchFamily="2" charset="0"/>
                <a:cs typeface="Kalimati" panose="00000400000000000000" pitchFamily="2"/>
              </a:rPr>
              <a:t>पुनः अपराध गर्न नपाउने अबस्था सृजना गर्ने।</a:t>
            </a:r>
          </a:p>
          <a:p>
            <a:pPr marL="465138" indent="-465138"/>
            <a:r>
              <a:rPr lang="ne-NP" altLang="en-US" sz="2800" dirty="0">
                <a:latin typeface="Preeti" pitchFamily="2" charset="0"/>
                <a:cs typeface="Kalimati" panose="00000400000000000000" pitchFamily="2"/>
              </a:rPr>
              <a:t>अभियुक्त प्रतिको सामाजिक आक्रोशलाई कम गर्ने।</a:t>
            </a:r>
          </a:p>
          <a:p>
            <a:pPr marL="465138" indent="-465138"/>
            <a:r>
              <a:rPr lang="ne-NP" altLang="en-US" sz="2800" dirty="0">
                <a:latin typeface="Preeti" pitchFamily="2" charset="0"/>
                <a:cs typeface="Kalimati" panose="00000400000000000000" pitchFamily="2"/>
              </a:rPr>
              <a:t>पिडितलाई न्याय दिलाउने।</a:t>
            </a:r>
          </a:p>
          <a:p>
            <a:pPr marL="465138" indent="-465138"/>
            <a:r>
              <a:rPr lang="ne-NP" altLang="en-US" sz="2800" dirty="0">
                <a:latin typeface="Preeti" pitchFamily="2" charset="0"/>
                <a:cs typeface="Kalimati" panose="00000400000000000000" pitchFamily="2"/>
              </a:rPr>
              <a:t>साक्षी प्रमाणहरुलाई सुरक्षा प्रदान गर्ने।</a:t>
            </a:r>
            <a:endParaRPr lang="en-US" altLang="en-US" sz="2800" dirty="0">
              <a:latin typeface="Preeti" pitchFamily="2" charset="0"/>
              <a:cs typeface="Kalimati" panose="00000400000000000000" pitchFamily="2"/>
            </a:endParaRPr>
          </a:p>
          <a:p>
            <a:pPr marL="465138" indent="-465138"/>
            <a:r>
              <a:rPr lang="ne-NP" sz="2800" dirty="0">
                <a:latin typeface="Preeti" pitchFamily="2" charset="0"/>
                <a:cs typeface="Kalimati" panose="00000400000000000000" pitchFamily="2"/>
              </a:rPr>
              <a:t>फौजदारी न्याय प्रशासनलाई प्रभावकारी बनाउने ।</a:t>
            </a:r>
          </a:p>
          <a:p>
            <a:pPr marL="0" indent="0">
              <a:buNone/>
            </a:pPr>
            <a:endParaRPr lang="en-US" sz="2800" dirty="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4</a:t>
            </a:fld>
            <a:endParaRPr lang="en-US"/>
          </a:p>
        </p:txBody>
      </p:sp>
    </p:spTree>
  </p:cSld>
  <p:clrMapOvr>
    <a:masterClrMapping/>
  </p:clrMapOvr>
  <p:transition spd="slow">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504" y="295701"/>
            <a:ext cx="3892296" cy="618699"/>
          </a:xfrm>
        </p:spPr>
        <p:txBody>
          <a:bodyPr>
            <a:noAutofit/>
          </a:bodyPr>
          <a:lstStyle/>
          <a:p>
            <a:pPr>
              <a:lnSpc>
                <a:spcPct val="150000"/>
              </a:lnSpc>
              <a:spcBef>
                <a:spcPts val="580"/>
              </a:spcBef>
              <a:buClr>
                <a:schemeClr val="accent1"/>
              </a:buClr>
              <a:buSzPct val="85000"/>
            </a:pPr>
            <a:r>
              <a:rPr lang="ne-NP" sz="2400" dirty="0">
                <a:solidFill>
                  <a:schemeClr val="tx1"/>
                </a:solidFill>
                <a:latin typeface="+mn-lt"/>
                <a:ea typeface="+mn-ea"/>
                <a:cs typeface="Kalimati" pitchFamily="2"/>
              </a:rPr>
              <a:t>थुनछेक पूर्वका केही प्रकृयाहरु</a:t>
            </a:r>
            <a:endParaRPr lang="en-US" sz="2400" dirty="0">
              <a:solidFill>
                <a:schemeClr val="tx1"/>
              </a:solidFill>
              <a:latin typeface="+mn-lt"/>
              <a:ea typeface="+mn-ea"/>
              <a:cs typeface="Kalimati" pitchFamily="2"/>
            </a:endParaRPr>
          </a:p>
        </p:txBody>
      </p:sp>
      <p:sp>
        <p:nvSpPr>
          <p:cNvPr id="4" name="Content Placeholder 3"/>
          <p:cNvSpPr>
            <a:spLocks noGrp="1"/>
          </p:cNvSpPr>
          <p:nvPr>
            <p:ph idx="1"/>
          </p:nvPr>
        </p:nvSpPr>
        <p:spPr>
          <a:xfrm>
            <a:off x="750627" y="1091820"/>
            <a:ext cx="7783773" cy="4832729"/>
          </a:xfrm>
        </p:spPr>
        <p:txBody>
          <a:bodyPr>
            <a:normAutofit/>
          </a:bodyPr>
          <a:lstStyle/>
          <a:p>
            <a:pPr>
              <a:lnSpc>
                <a:spcPct val="150000"/>
              </a:lnSpc>
              <a:buFont typeface="Wingdings" pitchFamily="2" charset="2"/>
              <a:buChar char="§"/>
            </a:pPr>
            <a:r>
              <a:rPr lang="ne-NP" dirty="0">
                <a:cs typeface="Kalimati" pitchFamily="2"/>
              </a:rPr>
              <a:t>अभियुक्तलाई अभियोग सुनाउनु पर्ने (१२१)</a:t>
            </a:r>
          </a:p>
          <a:p>
            <a:pPr>
              <a:lnSpc>
                <a:spcPct val="150000"/>
              </a:lnSpc>
              <a:buFont typeface="Wingdings" pitchFamily="2" charset="2"/>
              <a:buChar char="§"/>
            </a:pPr>
            <a:r>
              <a:rPr lang="ne-NP" dirty="0">
                <a:cs typeface="Kalimati" pitchFamily="2"/>
              </a:rPr>
              <a:t>अभियुक्तको बयान गराउने (१२२)</a:t>
            </a:r>
          </a:p>
          <a:p>
            <a:pPr>
              <a:lnSpc>
                <a:spcPct val="150000"/>
              </a:lnSpc>
              <a:buFont typeface="Wingdings" pitchFamily="2" charset="2"/>
              <a:buChar char="§"/>
            </a:pPr>
            <a:r>
              <a:rPr lang="ne-NP" dirty="0">
                <a:cs typeface="Kalimati" pitchFamily="2"/>
              </a:rPr>
              <a:t>बयानपूर्व कानुन ब्यवसायीसँग सल्लाह लिन चाहेमा सोको मौका दिनु पर्ने</a:t>
            </a:r>
            <a:r>
              <a:rPr lang="en-US" dirty="0">
                <a:cs typeface="Kalimati" pitchFamily="2"/>
              </a:rPr>
              <a:t> </a:t>
            </a:r>
            <a:r>
              <a:rPr lang="ne-NP" dirty="0">
                <a:cs typeface="Kalimati" pitchFamily="2"/>
              </a:rPr>
              <a:t>(१२२)</a:t>
            </a:r>
          </a:p>
          <a:p>
            <a:pPr>
              <a:lnSpc>
                <a:spcPct val="150000"/>
              </a:lnSpc>
              <a:buFont typeface="Wingdings" pitchFamily="2" charset="2"/>
              <a:buChar char="§"/>
            </a:pPr>
            <a:r>
              <a:rPr lang="ne-NP" dirty="0">
                <a:cs typeface="Kalimati" pitchFamily="2"/>
              </a:rPr>
              <a:t>अभियुक्तले कसुर स्वीकार गरे मुद्दाको फैसला तत्काल गर्नु पर्ने (१२३)</a:t>
            </a:r>
          </a:p>
          <a:p>
            <a:pPr>
              <a:lnSpc>
                <a:spcPct val="150000"/>
              </a:lnSpc>
              <a:buFont typeface="Wingdings" pitchFamily="2" charset="2"/>
              <a:buChar char="§"/>
            </a:pPr>
            <a:r>
              <a:rPr lang="ne-NP" dirty="0">
                <a:cs typeface="Kalimati" pitchFamily="2"/>
              </a:rPr>
              <a:t>अधिकार क्षेत्र र हदम्याद सम्बन्धमा निर्णय गर्नु पर्ने (५१)</a:t>
            </a:r>
          </a:p>
          <a:p>
            <a:pPr marL="0" indent="0">
              <a:buNone/>
            </a:pPr>
            <a:endParaRPr lang="en-US" dirty="0"/>
          </a:p>
        </p:txBody>
      </p:sp>
      <p:sp>
        <p:nvSpPr>
          <p:cNvPr id="3" name="Slide Number Placeholder 2"/>
          <p:cNvSpPr>
            <a:spLocks noGrp="1"/>
          </p:cNvSpPr>
          <p:nvPr>
            <p:ph type="sldNum" sz="quarter" idx="12"/>
          </p:nvPr>
        </p:nvSpPr>
        <p:spPr/>
        <p:txBody>
          <a:bodyPr/>
          <a:lstStyle/>
          <a:p>
            <a:fld id="{26EA1BC9-060C-4734-A581-933889F0292E}" type="slidenum">
              <a:rPr lang="en-US" smtClean="0"/>
              <a:pPr/>
              <a:t>5</a:t>
            </a:fld>
            <a:endParaRPr lang="en-US"/>
          </a:p>
        </p:txBody>
      </p:sp>
    </p:spTree>
    <p:extLst>
      <p:ext uri="{BB962C8B-B14F-4D97-AF65-F5344CB8AC3E}">
        <p14:creationId xmlns:p14="http://schemas.microsoft.com/office/powerpoint/2010/main" val="1714245579"/>
      </p:ext>
    </p:extLst>
  </p:cSld>
  <p:clrMapOvr>
    <a:masterClrMapping/>
  </p:clrMapOvr>
  <p:transition spd="slow">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000"/>
            <a:ext cx="7391400" cy="838200"/>
          </a:xfrm>
        </p:spPr>
        <p:txBody>
          <a:bodyPr>
            <a:noAutofit/>
          </a:bodyPr>
          <a:lstStyle/>
          <a:p>
            <a:br>
              <a:rPr lang="en-US" sz="2400" dirty="0">
                <a:cs typeface="Kalimati" pitchFamily="2"/>
              </a:rPr>
            </a:br>
            <a:br>
              <a:rPr lang="en-US" sz="2400" dirty="0">
                <a:cs typeface="Kalimati" pitchFamily="2"/>
              </a:rPr>
            </a:br>
            <a:br>
              <a:rPr lang="en-US" sz="2400" dirty="0">
                <a:cs typeface="Kalimati" pitchFamily="2"/>
              </a:rPr>
            </a:br>
            <a:br>
              <a:rPr lang="en-US" sz="2400" dirty="0">
                <a:cs typeface="Kalimati" pitchFamily="2"/>
              </a:rPr>
            </a:br>
            <a:br>
              <a:rPr lang="en-US" sz="2400" dirty="0">
                <a:cs typeface="Kalimati" pitchFamily="2"/>
              </a:rPr>
            </a:br>
            <a:br>
              <a:rPr lang="en-US" sz="2400" dirty="0">
                <a:cs typeface="Kalimati" pitchFamily="2"/>
              </a:rPr>
            </a:br>
            <a:endParaRPr lang="en-US" sz="2400" dirty="0">
              <a:solidFill>
                <a:schemeClr val="tx1"/>
              </a:solidFill>
            </a:endParaRPr>
          </a:p>
        </p:txBody>
      </p:sp>
      <p:sp>
        <p:nvSpPr>
          <p:cNvPr id="4" name="Content Placeholder 3"/>
          <p:cNvSpPr>
            <a:spLocks noGrp="1"/>
          </p:cNvSpPr>
          <p:nvPr>
            <p:ph idx="1"/>
          </p:nvPr>
        </p:nvSpPr>
        <p:spPr>
          <a:xfrm>
            <a:off x="762000" y="533400"/>
            <a:ext cx="7924800" cy="6143199"/>
          </a:xfrm>
        </p:spPr>
        <p:txBody>
          <a:bodyPr>
            <a:normAutofit/>
          </a:bodyPr>
          <a:lstStyle/>
          <a:p>
            <a:pPr marL="0" indent="0">
              <a:buNone/>
            </a:pPr>
            <a:r>
              <a:rPr lang="ne-NP" sz="2400" b="1" dirty="0">
                <a:latin typeface="+mj-lt"/>
                <a:ea typeface="+mj-ea"/>
                <a:cs typeface="Kalimati" pitchFamily="2"/>
              </a:rPr>
              <a:t>अधिकार क्षेत्र र हदम्यादमा निर्णय गर्नु पर्ने दफा (५१)</a:t>
            </a:r>
          </a:p>
          <a:p>
            <a:r>
              <a:rPr lang="ne-NP" sz="2400" dirty="0">
                <a:latin typeface="+mj-lt"/>
                <a:ea typeface="+mj-ea"/>
                <a:cs typeface="Kalimati" pitchFamily="2"/>
              </a:rPr>
              <a:t>प्रतिवादीले वयान गर्दा वा प्रतिउत्तर पत्र पेश गर्दा </a:t>
            </a:r>
          </a:p>
          <a:p>
            <a:pPr>
              <a:buFont typeface="Courier New" panose="02070309020205020404" pitchFamily="49" charset="0"/>
              <a:buChar char="o"/>
            </a:pPr>
            <a:r>
              <a:rPr lang="ne-NP" sz="2400" b="1" i="1" dirty="0">
                <a:latin typeface="+mj-lt"/>
                <a:ea typeface="+mj-ea"/>
                <a:cs typeface="Kalimati" pitchFamily="2"/>
              </a:rPr>
              <a:t>अदालतको अधिकार क्षेत्र नभएको</a:t>
            </a:r>
          </a:p>
          <a:p>
            <a:pPr>
              <a:buFont typeface="Courier New" panose="02070309020205020404" pitchFamily="49" charset="0"/>
              <a:buChar char="o"/>
            </a:pPr>
            <a:r>
              <a:rPr lang="ne-NP" sz="2400" b="1" i="1" dirty="0">
                <a:latin typeface="+mj-lt"/>
                <a:ea typeface="+mj-ea"/>
                <a:cs typeface="Kalimati" pitchFamily="2"/>
              </a:rPr>
              <a:t>वादीलाई मुद्दा दायर गर्ने हकदैया नभएको वा</a:t>
            </a:r>
          </a:p>
          <a:p>
            <a:pPr>
              <a:buFont typeface="Courier New" panose="02070309020205020404" pitchFamily="49" charset="0"/>
              <a:buChar char="o"/>
            </a:pPr>
            <a:r>
              <a:rPr lang="ne-NP" sz="2400" b="1" i="1" dirty="0">
                <a:latin typeface="+mj-lt"/>
                <a:ea typeface="+mj-ea"/>
                <a:cs typeface="Kalimati" pitchFamily="2"/>
              </a:rPr>
              <a:t>हदम्याद नभएको भन्ने प्रश्न उठाएमा</a:t>
            </a:r>
          </a:p>
          <a:p>
            <a:pPr marL="0" indent="0">
              <a:buNone/>
            </a:pPr>
            <a:r>
              <a:rPr lang="ne-NP" sz="2400" dirty="0">
                <a:latin typeface="+mj-lt"/>
                <a:ea typeface="+mj-ea"/>
                <a:cs typeface="Kalimati" pitchFamily="2"/>
              </a:rPr>
              <a:t>पहिले सो प्रश्नको सम्बन्धमा निर्णय गरेर मात्र अन्य कारवाही अगाडी बढाउनु पर्ने</a:t>
            </a:r>
          </a:p>
          <a:p>
            <a:pPr marL="0" indent="0">
              <a:buNone/>
            </a:pPr>
            <a:r>
              <a:rPr lang="ne-NP" sz="2400" b="1" dirty="0">
                <a:latin typeface="+mj-lt"/>
                <a:ea typeface="+mj-ea"/>
                <a:cs typeface="Kalimati" pitchFamily="2"/>
              </a:rPr>
              <a:t>त्यस्तो निर्णय उपर ३० दिन भित्र पुनरावेदन सुन्ने अदालतमा उजुर गर्न सकिने</a:t>
            </a:r>
          </a:p>
          <a:p>
            <a:r>
              <a:rPr lang="ne-NP" sz="2400" dirty="0">
                <a:latin typeface="+mj-lt"/>
                <a:ea typeface="+mj-ea"/>
                <a:cs typeface="Kalimati" pitchFamily="2"/>
              </a:rPr>
              <a:t>सो प्रश्न उपर पुनः प्रश्न उठाउन नपाईने तर मुद्दाको रोहमा हुने अन्तरकालीन आदेशका हकमा यो लागु नहुने।</a:t>
            </a:r>
          </a:p>
        </p:txBody>
      </p:sp>
      <p:sp>
        <p:nvSpPr>
          <p:cNvPr id="3" name="Slide Number Placeholder 2"/>
          <p:cNvSpPr>
            <a:spLocks noGrp="1"/>
          </p:cNvSpPr>
          <p:nvPr>
            <p:ph type="sldNum" sz="quarter" idx="12"/>
          </p:nvPr>
        </p:nvSpPr>
        <p:spPr/>
        <p:txBody>
          <a:bodyPr/>
          <a:lstStyle/>
          <a:p>
            <a:fld id="{26EA1BC9-060C-4734-A581-933889F0292E}" type="slidenum">
              <a:rPr lang="en-US" smtClean="0"/>
              <a:pPr/>
              <a:t>6</a:t>
            </a:fld>
            <a:endParaRPr lang="en-US"/>
          </a:p>
        </p:txBody>
      </p:sp>
    </p:spTree>
    <p:extLst>
      <p:ext uri="{BB962C8B-B14F-4D97-AF65-F5344CB8AC3E}">
        <p14:creationId xmlns:p14="http://schemas.microsoft.com/office/powerpoint/2010/main" val="3284168954"/>
      </p:ext>
    </p:extLst>
  </p:cSld>
  <p:clrMapOvr>
    <a:masterClrMapping/>
  </p:clrMapOvr>
  <p:transition spd="slow">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639762"/>
          </a:xfrm>
        </p:spPr>
        <p:txBody>
          <a:bodyPr>
            <a:normAutofit/>
          </a:bodyPr>
          <a:lstStyle/>
          <a:p>
            <a:r>
              <a:rPr lang="ne-NP" sz="2800" dirty="0">
                <a:solidFill>
                  <a:schemeClr val="tx1"/>
                </a:solidFill>
                <a:cs typeface="Kalimati" panose="00000400000000000000" pitchFamily="2"/>
              </a:rPr>
              <a:t>थुनछेक</a:t>
            </a:r>
            <a:r>
              <a:rPr lang="en-US" sz="2800" dirty="0">
                <a:solidFill>
                  <a:schemeClr val="tx1"/>
                </a:solidFill>
                <a:cs typeface="Kalimati" panose="00000400000000000000" pitchFamily="2"/>
              </a:rPr>
              <a:t> </a:t>
            </a:r>
            <a:r>
              <a:rPr lang="ne-NP" sz="2800" dirty="0">
                <a:solidFill>
                  <a:schemeClr val="tx1"/>
                </a:solidFill>
                <a:cs typeface="Kalimati" panose="00000400000000000000" pitchFamily="2"/>
              </a:rPr>
              <a:t>सम्बन्धी फौजदारी न्यायका मापदण्डहरू</a:t>
            </a:r>
            <a:endParaRPr lang="en-US" sz="2800" dirty="0">
              <a:solidFill>
                <a:schemeClr val="tx1"/>
              </a:solidFill>
              <a:cs typeface="Kalimati" panose="00000400000000000000" pitchFamily="2"/>
            </a:endParaRPr>
          </a:p>
        </p:txBody>
      </p:sp>
      <p:sp>
        <p:nvSpPr>
          <p:cNvPr id="3" name="Content Placeholder 2"/>
          <p:cNvSpPr>
            <a:spLocks noGrp="1"/>
          </p:cNvSpPr>
          <p:nvPr>
            <p:ph idx="1"/>
          </p:nvPr>
        </p:nvSpPr>
        <p:spPr>
          <a:xfrm>
            <a:off x="228600" y="914400"/>
            <a:ext cx="8763000" cy="5791200"/>
          </a:xfrm>
        </p:spPr>
        <p:txBody>
          <a:bodyPr>
            <a:noAutofit/>
          </a:bodyPr>
          <a:lstStyle/>
          <a:p>
            <a:pPr algn="just">
              <a:spcBef>
                <a:spcPts val="0"/>
              </a:spcBef>
            </a:pPr>
            <a:r>
              <a:rPr lang="ne-NP" sz="2200" dirty="0">
                <a:cs typeface="Kalimati" panose="00000400000000000000" pitchFamily="2"/>
              </a:rPr>
              <a:t>अभियुक्तलाई निर्दोष मान्ने फौजदारी न्यायको सिद्धान्त</a:t>
            </a:r>
            <a:r>
              <a:rPr lang="en-US" sz="2200" dirty="0">
                <a:cs typeface="Kalimati" panose="00000400000000000000" pitchFamily="2"/>
              </a:rPr>
              <a:t>,</a:t>
            </a:r>
            <a:r>
              <a:rPr lang="en-US" sz="2200" b="1" dirty="0">
                <a:cs typeface="Kalimati" panose="00000400000000000000" pitchFamily="2"/>
              </a:rPr>
              <a:t> An accused is presumed to be innocent until actually convicted.</a:t>
            </a:r>
            <a:endParaRPr lang="ne-NP" sz="2200" b="1" dirty="0">
              <a:cs typeface="Kalimati" panose="00000400000000000000" pitchFamily="2"/>
            </a:endParaRPr>
          </a:p>
          <a:p>
            <a:pPr algn="just">
              <a:spcBef>
                <a:spcPts val="0"/>
              </a:spcBef>
            </a:pPr>
            <a:r>
              <a:rPr lang="en-US" sz="2200" b="1" dirty="0">
                <a:cs typeface="Kalimati" panose="00000400000000000000" pitchFamily="2"/>
              </a:rPr>
              <a:t>ICCPR</a:t>
            </a:r>
            <a:r>
              <a:rPr lang="ne-NP" sz="2200" dirty="0">
                <a:cs typeface="Kalimati" panose="00000400000000000000" pitchFamily="2"/>
              </a:rPr>
              <a:t> को धारा १४(२): फौजदारी अभियोग लागेका जो सुकैलाई निर्दोष अनुमान गर्नु पर्ने, </a:t>
            </a:r>
            <a:r>
              <a:rPr lang="ne-NP" sz="2200" dirty="0">
                <a:solidFill>
                  <a:srgbClr val="FF0000"/>
                </a:solidFill>
                <a:cs typeface="Kalimati" panose="00000400000000000000" pitchFamily="2"/>
              </a:rPr>
              <a:t>निर्दोष मान्नुको अर्थ अभियुक्तलाई निर्दोषको रुपमा हेर्नु र व्यवहार गर्नु</a:t>
            </a:r>
            <a:r>
              <a:rPr lang="ne-NP" sz="2200" dirty="0">
                <a:cs typeface="Kalimati" panose="00000400000000000000" pitchFamily="2"/>
              </a:rPr>
              <a:t>। </a:t>
            </a:r>
            <a:endParaRPr lang="en-US" sz="2200" dirty="0">
              <a:cs typeface="Kalimati" panose="00000400000000000000" pitchFamily="2"/>
            </a:endParaRPr>
          </a:p>
          <a:p>
            <a:pPr indent="-182880" algn="just">
              <a:spcBef>
                <a:spcPts val="0"/>
              </a:spcBef>
            </a:pPr>
            <a:r>
              <a:rPr lang="en-US" sz="2200" b="1" dirty="0">
                <a:cs typeface="Kalimati" panose="00000400000000000000" pitchFamily="2"/>
              </a:rPr>
              <a:t>ICCPR</a:t>
            </a:r>
            <a:r>
              <a:rPr lang="ne-NP" sz="2200" dirty="0">
                <a:cs typeface="Kalimati" panose="00000400000000000000" pitchFamily="2"/>
              </a:rPr>
              <a:t> को धारा ९(३): थुनामा राखिने कुरा अपवाद हो र थुनामा राखिएकालाई मुनासिब समयभित्र सुनुवाई र छुटकारा पाउने अधिकार रहने।</a:t>
            </a:r>
            <a:endParaRPr lang="en-US" sz="2200" dirty="0">
              <a:cs typeface="Kalimati" panose="00000400000000000000" pitchFamily="2"/>
            </a:endParaRPr>
          </a:p>
          <a:p>
            <a:pPr algn="just">
              <a:spcBef>
                <a:spcPts val="0"/>
              </a:spcBef>
            </a:pPr>
            <a:r>
              <a:rPr lang="en-US" sz="2200" b="1" dirty="0">
                <a:cs typeface="Kalimati" panose="00000400000000000000" pitchFamily="2"/>
              </a:rPr>
              <a:t>United Nations Standard Minimum Rules for Non-Custodial Measures (The Tokyo Rules)</a:t>
            </a:r>
            <a:r>
              <a:rPr lang="ne-NP" sz="2200" dirty="0">
                <a:cs typeface="Kalimati" panose="00000400000000000000" pitchFamily="2"/>
              </a:rPr>
              <a:t> को धारा ६(१) ले थुनामा राख्ने कार्यलाई महत्व दिन हुदैन</a:t>
            </a:r>
            <a:r>
              <a:rPr lang="en-US" sz="2200" dirty="0">
                <a:cs typeface="Kalimati" panose="00000400000000000000" pitchFamily="2"/>
              </a:rPr>
              <a:t>, </a:t>
            </a:r>
            <a:r>
              <a:rPr lang="ne-NP" sz="2200" dirty="0">
                <a:cs typeface="Kalimati" panose="00000400000000000000" pitchFamily="2"/>
              </a:rPr>
              <a:t>थुनामा राखिने कार्य अन्तिम उपाय मान्नु पर्ने मान्यता लाई स्वीकार गरेको छ। (</a:t>
            </a:r>
            <a:r>
              <a:rPr lang="en-US" sz="2200" b="1" dirty="0">
                <a:cs typeface="Kalimati" panose="00000400000000000000" pitchFamily="2"/>
              </a:rPr>
              <a:t>UNO</a:t>
            </a:r>
            <a:r>
              <a:rPr lang="ne-NP" sz="2200" dirty="0">
                <a:cs typeface="Kalimati" panose="00000400000000000000" pitchFamily="2"/>
              </a:rPr>
              <a:t> बाट १९९० मा पारित)</a:t>
            </a:r>
            <a:endParaRPr lang="en-US" sz="2200" dirty="0">
              <a:cs typeface="Kalimati" panose="00000400000000000000" pitchFamily="2"/>
            </a:endParaRPr>
          </a:p>
          <a:p>
            <a:pPr algn="just">
              <a:spcBef>
                <a:spcPts val="0"/>
              </a:spcBef>
            </a:pPr>
            <a:r>
              <a:rPr lang="ne-NP" sz="2200" dirty="0">
                <a:cs typeface="Kalimati" panose="00000400000000000000" pitchFamily="2"/>
              </a:rPr>
              <a:t>नेपालको संविधानः- न्याय सम्बन्धी हक (धारा २०)</a:t>
            </a:r>
            <a:r>
              <a:rPr lang="en-US" sz="2200" dirty="0">
                <a:cs typeface="Kalimati" panose="00000400000000000000" pitchFamily="2"/>
              </a:rPr>
              <a:t> </a:t>
            </a:r>
            <a:r>
              <a:rPr lang="ne-NP" sz="2200" dirty="0">
                <a:cs typeface="Kalimati" panose="00000400000000000000" pitchFamily="2"/>
              </a:rPr>
              <a:t>कसूर प्रमाणित नभएसम्म कसूरदार नमानिने एवं सक्षम निकायबाट स्वच्छ सुनुवाईको हक हुने।</a:t>
            </a:r>
            <a:endParaRPr lang="en-US" sz="2200" dirty="0">
              <a:cs typeface="Kalimati" panose="00000400000000000000" pitchFamily="2"/>
            </a:endParaRPr>
          </a:p>
          <a:p>
            <a:pPr algn="just">
              <a:spcBef>
                <a:spcPts val="0"/>
              </a:spcBef>
            </a:pPr>
            <a:r>
              <a:rPr lang="ne-NP" sz="2200" dirty="0">
                <a:cs typeface="Kalimati" panose="00000400000000000000" pitchFamily="2"/>
              </a:rPr>
              <a:t>थुनछेकका आधारहरुमा </a:t>
            </a:r>
            <a:r>
              <a:rPr lang="ne-NP" sz="2200" dirty="0">
                <a:solidFill>
                  <a:srgbClr val="00B0F0"/>
                </a:solidFill>
                <a:cs typeface="Kalimati" panose="00000400000000000000" pitchFamily="2"/>
              </a:rPr>
              <a:t>मानवअधिकार सम्बन्धी अवधारणालाई नै प्रमुख </a:t>
            </a:r>
            <a:r>
              <a:rPr lang="ne-NP" sz="2200" dirty="0">
                <a:cs typeface="Kalimati" panose="00000400000000000000" pitchFamily="2"/>
              </a:rPr>
              <a:t>रुपमा लिइने।</a:t>
            </a:r>
            <a:endParaRPr lang="en-US" sz="2200" dirty="0">
              <a:cs typeface="Kalimati" panose="00000400000000000000" pitchFamily="2"/>
            </a:endParaRPr>
          </a:p>
          <a:p>
            <a:pPr algn="just">
              <a:spcBef>
                <a:spcPts val="0"/>
              </a:spcBef>
            </a:pPr>
            <a:r>
              <a:rPr lang="ne-NP" sz="2200" dirty="0">
                <a:cs typeface="Kalimati" panose="00000400000000000000" pitchFamily="2"/>
              </a:rPr>
              <a:t>नेपालको फौजदारी न्याय प्रशासनले समेत यसै अवधारणलाई स्वीकारेको छ।</a:t>
            </a:r>
            <a:endParaRPr lang="en-US" sz="2200" dirty="0">
              <a:cs typeface="Kalimati" panose="00000400000000000000" pitchFamily="2"/>
            </a:endParaRPr>
          </a:p>
        </p:txBody>
      </p:sp>
    </p:spTree>
    <p:extLst>
      <p:ext uri="{BB962C8B-B14F-4D97-AF65-F5344CB8AC3E}">
        <p14:creationId xmlns:p14="http://schemas.microsoft.com/office/powerpoint/2010/main" val="2019210619"/>
      </p:ext>
    </p:extLst>
  </p:cSld>
  <p:clrMapOvr>
    <a:masterClrMapping/>
  </p:clrMapOvr>
  <p:transition spd="slow">
    <p:wedg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274638"/>
            <a:ext cx="8458200" cy="639762"/>
          </a:xfrm>
        </p:spPr>
        <p:txBody>
          <a:bodyPr>
            <a:normAutofit/>
          </a:bodyPr>
          <a:lstStyle/>
          <a:p>
            <a:r>
              <a:rPr lang="ne-NP" dirty="0">
                <a:solidFill>
                  <a:srgbClr val="00B050"/>
                </a:solidFill>
                <a:cs typeface="Kalimati" panose="00000400000000000000" pitchFamily="2"/>
              </a:rPr>
              <a:t>थुनछेक गर्दा ध्यान दिनुपर्ने कुराहरू</a:t>
            </a:r>
            <a:endParaRPr lang="en-US" dirty="0">
              <a:solidFill>
                <a:srgbClr val="00B050"/>
              </a:solidFill>
              <a:cs typeface="Kalimati" panose="00000400000000000000" pitchFamily="2"/>
            </a:endParaRPr>
          </a:p>
        </p:txBody>
      </p:sp>
      <p:sp>
        <p:nvSpPr>
          <p:cNvPr id="3" name="Content Placeholder 2"/>
          <p:cNvSpPr>
            <a:spLocks noGrp="1"/>
          </p:cNvSpPr>
          <p:nvPr>
            <p:ph idx="1"/>
          </p:nvPr>
        </p:nvSpPr>
        <p:spPr>
          <a:xfrm>
            <a:off x="304800" y="1066800"/>
            <a:ext cx="8534400" cy="5486400"/>
          </a:xfrm>
        </p:spPr>
        <p:txBody>
          <a:bodyPr>
            <a:normAutofit lnSpcReduction="10000"/>
          </a:bodyPr>
          <a:lstStyle/>
          <a:p>
            <a:pPr algn="just"/>
            <a:r>
              <a:rPr lang="ne-NP" dirty="0">
                <a:cs typeface="Kalimati" panose="00000400000000000000" pitchFamily="2"/>
              </a:rPr>
              <a:t>संविधान,</a:t>
            </a:r>
            <a:r>
              <a:rPr lang="en-US" dirty="0">
                <a:cs typeface="Kalimati" panose="00000400000000000000" pitchFamily="2"/>
              </a:rPr>
              <a:t> </a:t>
            </a:r>
            <a:r>
              <a:rPr lang="ne-NP" dirty="0">
                <a:cs typeface="Kalimati" panose="00000400000000000000" pitchFamily="2"/>
              </a:rPr>
              <a:t>अन्य कानून र न्यायिक निर्णयहरु (धारा १५२(२))</a:t>
            </a:r>
            <a:endParaRPr lang="en-US" dirty="0">
              <a:cs typeface="Kalimati" panose="00000400000000000000" pitchFamily="2"/>
            </a:endParaRPr>
          </a:p>
          <a:p>
            <a:pPr algn="just"/>
            <a:r>
              <a:rPr lang="ne-NP" dirty="0">
                <a:cs typeface="Kalimati" panose="00000400000000000000" pitchFamily="2"/>
              </a:rPr>
              <a:t>अभियोगको प्रकृति र गम्भीरता तथा अभियोगको माग दावी,</a:t>
            </a:r>
            <a:endParaRPr lang="en-US" dirty="0">
              <a:cs typeface="Kalimati" panose="00000400000000000000" pitchFamily="2"/>
            </a:endParaRPr>
          </a:p>
          <a:p>
            <a:pPr algn="just"/>
            <a:r>
              <a:rPr lang="ne-NP" dirty="0">
                <a:cs typeface="Kalimati" panose="00000400000000000000" pitchFamily="2"/>
              </a:rPr>
              <a:t>भावि जोखिम,</a:t>
            </a:r>
            <a:r>
              <a:rPr lang="en-US" dirty="0">
                <a:cs typeface="Kalimati" panose="00000400000000000000" pitchFamily="2"/>
              </a:rPr>
              <a:t> </a:t>
            </a:r>
            <a:r>
              <a:rPr lang="ne-NP" dirty="0">
                <a:cs typeface="Kalimati" panose="00000400000000000000" pitchFamily="2"/>
              </a:rPr>
              <a:t>जस्तैः भाग्ने खतरा</a:t>
            </a:r>
            <a:r>
              <a:rPr lang="en-US" dirty="0">
                <a:cs typeface="Kalimati" panose="00000400000000000000" pitchFamily="2"/>
              </a:rPr>
              <a:t>, </a:t>
            </a:r>
            <a:r>
              <a:rPr lang="ne-NP" dirty="0">
                <a:cs typeface="Kalimati" panose="00000400000000000000" pitchFamily="2"/>
              </a:rPr>
              <a:t>प्रमाण लोप,</a:t>
            </a:r>
            <a:r>
              <a:rPr lang="en-US" dirty="0">
                <a:cs typeface="Kalimati" panose="00000400000000000000" pitchFamily="2"/>
              </a:rPr>
              <a:t> </a:t>
            </a:r>
            <a:r>
              <a:rPr lang="ne-NP" dirty="0">
                <a:cs typeface="Kalimati" panose="00000400000000000000" pitchFamily="2"/>
              </a:rPr>
              <a:t>समाज र पीडितलाई पुर्‍याउन सक्ने हानी आदि।</a:t>
            </a:r>
            <a:endParaRPr lang="en-US" dirty="0">
              <a:cs typeface="Kalimati" panose="00000400000000000000" pitchFamily="2"/>
            </a:endParaRPr>
          </a:p>
          <a:p>
            <a:pPr algn="just"/>
            <a:r>
              <a:rPr lang="ne-NP" dirty="0">
                <a:cs typeface="Kalimati" panose="00000400000000000000" pitchFamily="2"/>
              </a:rPr>
              <a:t>अभियोग पुष्टि हुने प्रमाण र त्यस्ता प्रमाणहरुको </a:t>
            </a:r>
            <a:r>
              <a:rPr lang="en-US" sz="3000" dirty="0">
                <a:cs typeface="Kalimati" panose="00000400000000000000" pitchFamily="2"/>
              </a:rPr>
              <a:t>Strength/Weight</a:t>
            </a:r>
            <a:r>
              <a:rPr lang="ne-NP" sz="3000" dirty="0">
                <a:cs typeface="Kalimati" panose="00000400000000000000" pitchFamily="2"/>
              </a:rPr>
              <a:t>,</a:t>
            </a:r>
            <a:endParaRPr lang="en-US" sz="3000" dirty="0">
              <a:cs typeface="Kalimati" panose="00000400000000000000" pitchFamily="2"/>
            </a:endParaRPr>
          </a:p>
          <a:p>
            <a:pPr algn="just"/>
            <a:r>
              <a:rPr lang="ne-NP" dirty="0">
                <a:cs typeface="Kalimati" panose="00000400000000000000" pitchFamily="2"/>
              </a:rPr>
              <a:t>अभियोग प्रमाणित भएमा हुन सक्ने सजाय तथा व्यहोर्नु पर्न सक्ने क्षतिपूर्ति,</a:t>
            </a:r>
            <a:endParaRPr lang="en-US" dirty="0">
              <a:cs typeface="Kalimati" panose="00000400000000000000" pitchFamily="2"/>
            </a:endParaRPr>
          </a:p>
          <a:p>
            <a:pPr algn="just"/>
            <a:r>
              <a:rPr lang="ne-NP" dirty="0">
                <a:cs typeface="Kalimati" panose="00000400000000000000" pitchFamily="2"/>
              </a:rPr>
              <a:t>अभियुक्तले प्रमाण नष्ट गर्न सक्छ वा सक्दैन र</a:t>
            </a:r>
            <a:r>
              <a:rPr lang="en-US" dirty="0">
                <a:cs typeface="Kalimati" panose="00000400000000000000" pitchFamily="2"/>
              </a:rPr>
              <a:t>,</a:t>
            </a:r>
            <a:endParaRPr lang="ne-NP" dirty="0">
              <a:cs typeface="Kalimati" panose="00000400000000000000" pitchFamily="2"/>
            </a:endParaRPr>
          </a:p>
          <a:p>
            <a:pPr algn="just"/>
            <a:r>
              <a:rPr lang="ne-NP" dirty="0">
                <a:cs typeface="Kalimati" panose="00000400000000000000" pitchFamily="2"/>
              </a:rPr>
              <a:t>थुनामा नराख्दा मुद्दाको </a:t>
            </a:r>
            <a:r>
              <a:rPr lang="en-US" sz="3000" dirty="0">
                <a:cs typeface="Kalimati" panose="00000400000000000000" pitchFamily="2"/>
              </a:rPr>
              <a:t>Settlement</a:t>
            </a:r>
            <a:r>
              <a:rPr lang="ne-NP" dirty="0">
                <a:cs typeface="Kalimati" panose="00000400000000000000" pitchFamily="2"/>
              </a:rPr>
              <a:t> मा बाधा वा अवरोध पुर्‍याउन सक्छ कि सक्दैन,</a:t>
            </a:r>
            <a:endParaRPr lang="en-US" dirty="0">
              <a:cs typeface="Kalimati" panose="00000400000000000000" pitchFamily="2"/>
            </a:endParaRPr>
          </a:p>
          <a:p>
            <a:pPr algn="just"/>
            <a:r>
              <a:rPr lang="ne-NP" dirty="0">
                <a:cs typeface="Kalimati" panose="00000400000000000000" pitchFamily="2"/>
              </a:rPr>
              <a:t>अभियुक्तको उमेर,</a:t>
            </a:r>
            <a:r>
              <a:rPr lang="en-US" dirty="0">
                <a:cs typeface="Kalimati" panose="00000400000000000000" pitchFamily="2"/>
              </a:rPr>
              <a:t> </a:t>
            </a:r>
            <a:r>
              <a:rPr lang="ne-NP" dirty="0">
                <a:cs typeface="Kalimati" panose="00000400000000000000" pitchFamily="2"/>
              </a:rPr>
              <a:t>लिङ्ग,</a:t>
            </a:r>
            <a:r>
              <a:rPr lang="en-US" dirty="0">
                <a:cs typeface="Kalimati" panose="00000400000000000000" pitchFamily="2"/>
              </a:rPr>
              <a:t> </a:t>
            </a:r>
            <a:r>
              <a:rPr lang="ne-NP" dirty="0">
                <a:cs typeface="Kalimati" panose="00000400000000000000" pitchFamily="2"/>
              </a:rPr>
              <a:t>स्वास्थ्य,</a:t>
            </a:r>
            <a:r>
              <a:rPr lang="en-US" dirty="0">
                <a:cs typeface="Kalimati" panose="00000400000000000000" pitchFamily="2"/>
              </a:rPr>
              <a:t> </a:t>
            </a:r>
            <a:r>
              <a:rPr lang="ne-NP" dirty="0">
                <a:cs typeface="Kalimati" panose="00000400000000000000" pitchFamily="2"/>
              </a:rPr>
              <a:t>पारीवारिक पृष्ठभूमी र अपराध गर्दाको परिस्थिति,</a:t>
            </a:r>
            <a:endParaRPr lang="en-US" dirty="0">
              <a:cs typeface="Kalimati" panose="00000400000000000000" pitchFamily="2"/>
            </a:endParaRPr>
          </a:p>
          <a:p>
            <a:pPr algn="just"/>
            <a:r>
              <a:rPr lang="ne-NP" dirty="0">
                <a:cs typeface="Kalimati" panose="00000400000000000000" pitchFamily="2"/>
              </a:rPr>
              <a:t>अभियुक्त तथा पीडितको आर्थिक</a:t>
            </a:r>
            <a:r>
              <a:rPr lang="en-US" dirty="0">
                <a:cs typeface="Kalimati" panose="00000400000000000000" pitchFamily="2"/>
              </a:rPr>
              <a:t> </a:t>
            </a:r>
            <a:r>
              <a:rPr lang="ne-NP" dirty="0">
                <a:cs typeface="Kalimati" panose="00000400000000000000" pitchFamily="2"/>
              </a:rPr>
              <a:t>तथा</a:t>
            </a:r>
            <a:r>
              <a:rPr lang="en-US" dirty="0">
                <a:cs typeface="Kalimati" panose="00000400000000000000" pitchFamily="2"/>
              </a:rPr>
              <a:t> </a:t>
            </a:r>
            <a:r>
              <a:rPr lang="ne-NP" dirty="0">
                <a:cs typeface="Kalimati" panose="00000400000000000000" pitchFamily="2"/>
              </a:rPr>
              <a:t>सामाजिक अबस्था,</a:t>
            </a:r>
            <a:endParaRPr lang="en-US" dirty="0">
              <a:cs typeface="Kalimati" panose="00000400000000000000" pitchFamily="2"/>
            </a:endParaRPr>
          </a:p>
          <a:p>
            <a:pPr algn="just"/>
            <a:r>
              <a:rPr lang="ne-NP" dirty="0">
                <a:cs typeface="Kalimati" panose="00000400000000000000" pitchFamily="2"/>
              </a:rPr>
              <a:t>अभियुक्तको शारीरिक तथा मानसिक स्थिति</a:t>
            </a:r>
            <a:r>
              <a:rPr lang="en-US" dirty="0">
                <a:cs typeface="Kalimati" panose="00000400000000000000" pitchFamily="2"/>
              </a:rPr>
              <a:t>, </a:t>
            </a:r>
            <a:r>
              <a:rPr lang="ne-NP" dirty="0">
                <a:cs typeface="Kalimati" panose="00000400000000000000" pitchFamily="2"/>
              </a:rPr>
              <a:t>चरित्र तथा पटके भए नभएको अबस्था</a:t>
            </a:r>
            <a:r>
              <a:rPr lang="en-US" dirty="0">
                <a:cs typeface="Kalimati" panose="00000400000000000000" pitchFamily="2"/>
              </a:rPr>
              <a:t>,</a:t>
            </a:r>
            <a:endParaRPr lang="ne-NP" dirty="0">
              <a:cs typeface="Kalimati" panose="00000400000000000000" pitchFamily="2"/>
            </a:endParaRPr>
          </a:p>
          <a:p>
            <a:pPr algn="just"/>
            <a:r>
              <a:rPr lang="ne-NP" dirty="0">
                <a:cs typeface="Kalimati" panose="00000400000000000000" pitchFamily="2"/>
              </a:rPr>
              <a:t>तत्काल प्राप्त प्रमाणको विद्यमानता। </a:t>
            </a:r>
            <a:endParaRPr lang="en-US" dirty="0">
              <a:cs typeface="Kalimati" panose="00000400000000000000" pitchFamily="2"/>
            </a:endParaRPr>
          </a:p>
        </p:txBody>
      </p:sp>
    </p:spTree>
    <p:extLst>
      <p:ext uri="{BB962C8B-B14F-4D97-AF65-F5344CB8AC3E}">
        <p14:creationId xmlns:p14="http://schemas.microsoft.com/office/powerpoint/2010/main" val="3185359254"/>
      </p:ext>
    </p:extLst>
  </p:cSld>
  <p:clrMapOvr>
    <a:masterClrMapping/>
  </p:clrMapOvr>
  <p:transition spd="slow">
    <p:wedg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AFC17B-7CF9-8ECF-CEBF-EE9755A5487B}"/>
              </a:ext>
            </a:extLst>
          </p:cNvPr>
          <p:cNvSpPr>
            <a:spLocks noGrp="1"/>
          </p:cNvSpPr>
          <p:nvPr>
            <p:ph type="title"/>
          </p:nvPr>
        </p:nvSpPr>
        <p:spPr>
          <a:xfrm>
            <a:off x="628650" y="365127"/>
            <a:ext cx="5162550" cy="396873"/>
          </a:xfrm>
        </p:spPr>
        <p:txBody>
          <a:bodyPr>
            <a:noAutofit/>
          </a:bodyPr>
          <a:lstStyle/>
          <a:p>
            <a:br>
              <a:rPr lang="ne-NP" sz="2400" b="1" dirty="0">
                <a:latin typeface="Preeti" pitchFamily="2" charset="0"/>
                <a:cs typeface="Kalimati" panose="00000400000000000000" pitchFamily="2"/>
              </a:rPr>
            </a:br>
            <a:r>
              <a:rPr lang="ne-NP" sz="2400" b="1" dirty="0">
                <a:latin typeface="Preeti" pitchFamily="2" charset="0"/>
                <a:cs typeface="Kalimati" panose="00000400000000000000" pitchFamily="2"/>
              </a:rPr>
              <a:t>तत्काल प्राप्त प्रमाण के के हुन सक्दछन्</a:t>
            </a:r>
            <a:r>
              <a:rPr lang="en-US" sz="2400" b="1" dirty="0">
                <a:latin typeface="Times New Roman" panose="02020603050405020304" pitchFamily="18" charset="0"/>
                <a:cs typeface="Times New Roman" panose="02020603050405020304" pitchFamily="18" charset="0"/>
              </a:rPr>
              <a:t> ?</a:t>
            </a:r>
            <a:br>
              <a:rPr lang="ne-NP" sz="2400" b="1" dirty="0">
                <a:latin typeface="Times New Roman" panose="02020603050405020304" pitchFamily="18" charset="0"/>
                <a:cs typeface="Times New Roman" panose="02020603050405020304" pitchFamily="18" charset="0"/>
              </a:rPr>
            </a:br>
            <a:endParaRPr lang="en-US" sz="2400" dirty="0"/>
          </a:p>
        </p:txBody>
      </p:sp>
      <p:sp>
        <p:nvSpPr>
          <p:cNvPr id="3" name="Content Placeholder 2">
            <a:extLst>
              <a:ext uri="{FF2B5EF4-FFF2-40B4-BE49-F238E27FC236}">
                <a16:creationId xmlns:a16="http://schemas.microsoft.com/office/drawing/2014/main" id="{A203BEBE-D881-DD52-D19C-D0E173232D8A}"/>
              </a:ext>
            </a:extLst>
          </p:cNvPr>
          <p:cNvSpPr>
            <a:spLocks noGrp="1"/>
          </p:cNvSpPr>
          <p:nvPr>
            <p:ph idx="1"/>
          </p:nvPr>
        </p:nvSpPr>
        <p:spPr>
          <a:xfrm>
            <a:off x="628650" y="762000"/>
            <a:ext cx="7886700" cy="5414963"/>
          </a:xfrm>
        </p:spPr>
        <p:txBody>
          <a:bodyPr>
            <a:normAutofit/>
          </a:bodyPr>
          <a:lstStyle/>
          <a:p>
            <a:pPr>
              <a:buFont typeface="Wingdings" pitchFamily="2" charset="2"/>
              <a:buChar char="§"/>
            </a:pPr>
            <a:r>
              <a:rPr lang="ne-NP" dirty="0">
                <a:latin typeface="Preeti" pitchFamily="2" charset="0"/>
                <a:cs typeface="Kalimati" panose="00000400000000000000" pitchFamily="2"/>
              </a:rPr>
              <a:t>जाहेरी दर्खास्त वा अपराधको जानकारी वा सूचना।</a:t>
            </a:r>
          </a:p>
          <a:p>
            <a:pPr>
              <a:buFont typeface="Wingdings" pitchFamily="2" charset="2"/>
              <a:buChar char="§"/>
            </a:pPr>
            <a:r>
              <a:rPr lang="ne-NP" dirty="0">
                <a:latin typeface="Preeti" pitchFamily="2" charset="0"/>
                <a:cs typeface="Kalimati" panose="00000400000000000000" pitchFamily="2"/>
              </a:rPr>
              <a:t>अनुसन्धानका क्रममा खडा भएका मुचुल्काहरू।</a:t>
            </a:r>
          </a:p>
          <a:p>
            <a:pPr>
              <a:buFont typeface="Wingdings" pitchFamily="2" charset="2"/>
              <a:buChar char="§"/>
            </a:pPr>
            <a:r>
              <a:rPr lang="ne-NP" dirty="0">
                <a:latin typeface="Preeti" pitchFamily="2" charset="0"/>
                <a:cs typeface="Kalimati" panose="00000400000000000000" pitchFamily="2"/>
              </a:rPr>
              <a:t>प्राविधिक तथा विशेषज्ञका परीक्षण प्रतिवेदनहरू ।</a:t>
            </a:r>
          </a:p>
          <a:p>
            <a:pPr>
              <a:buFont typeface="Wingdings" pitchFamily="2" charset="2"/>
              <a:buChar char="§"/>
            </a:pPr>
            <a:r>
              <a:rPr lang="ne-NP" dirty="0">
                <a:latin typeface="Preeti" pitchFamily="2" charset="0"/>
                <a:cs typeface="Kalimati" panose="00000400000000000000" pitchFamily="2"/>
              </a:rPr>
              <a:t>शव परिक्षण प्रतिवेदन।</a:t>
            </a:r>
          </a:p>
          <a:p>
            <a:pPr>
              <a:buFont typeface="Wingdings" pitchFamily="2" charset="2"/>
              <a:buChar char="§"/>
            </a:pPr>
            <a:r>
              <a:rPr lang="ne-NP" dirty="0">
                <a:latin typeface="Preeti" pitchFamily="2" charset="0"/>
                <a:cs typeface="Kalimati" panose="00000400000000000000" pitchFamily="2"/>
              </a:rPr>
              <a:t>भौतिक चीज बस्तुहरू वा दशीहरु।</a:t>
            </a:r>
          </a:p>
          <a:p>
            <a:pPr>
              <a:buFont typeface="Wingdings" pitchFamily="2" charset="2"/>
              <a:buChar char="§"/>
            </a:pPr>
            <a:r>
              <a:rPr lang="ne-NP" dirty="0">
                <a:latin typeface="Preeti" pitchFamily="2" charset="0"/>
                <a:cs typeface="Kalimati" panose="00000400000000000000" pitchFamily="2"/>
              </a:rPr>
              <a:t>कसूर देख्ने वा घटना वा वारदातको वारेमा थाहा पाउने साक्षीहरूको भनाई। </a:t>
            </a:r>
          </a:p>
          <a:p>
            <a:pPr>
              <a:buFont typeface="Wingdings" pitchFamily="2" charset="2"/>
              <a:buChar char="§"/>
            </a:pPr>
            <a:r>
              <a:rPr lang="ne-NP" dirty="0">
                <a:latin typeface="Preeti" pitchFamily="2" charset="0"/>
                <a:cs typeface="Kalimati" panose="00000400000000000000" pitchFamily="2"/>
              </a:rPr>
              <a:t>अभियुक्तको अनुसन्धान अधिकारी समक्षको बयान।</a:t>
            </a:r>
          </a:p>
          <a:p>
            <a:pPr>
              <a:buFont typeface="Wingdings" pitchFamily="2" charset="2"/>
              <a:buChar char="§"/>
            </a:pPr>
            <a:r>
              <a:rPr lang="ne-NP" dirty="0">
                <a:latin typeface="Preeti" pitchFamily="2" charset="0"/>
                <a:cs typeface="Kalimati" panose="00000400000000000000" pitchFamily="2"/>
              </a:rPr>
              <a:t>अभियुक्त र घटना बीचको सम्बन्ध स्थापित गर्ने आधारहरु। </a:t>
            </a:r>
            <a:endParaRPr lang="en-US" dirty="0">
              <a:latin typeface="Preeti" pitchFamily="2" charset="0"/>
              <a:cs typeface="Kalimati" panose="00000400000000000000" pitchFamily="2"/>
            </a:endParaRPr>
          </a:p>
          <a:p>
            <a:pPr marL="0" indent="0" algn="ctr">
              <a:buNone/>
            </a:pPr>
            <a:r>
              <a:rPr lang="en-US" i="1" dirty="0">
                <a:latin typeface="Preeti" pitchFamily="2" charset="0"/>
                <a:cs typeface="Kalimati" panose="00000400000000000000" pitchFamily="2"/>
              </a:rPr>
              <a:t>\\\</a:t>
            </a:r>
          </a:p>
          <a:p>
            <a:pPr marL="0" indent="0" algn="ctr">
              <a:buNone/>
            </a:pPr>
            <a:r>
              <a:rPr lang="ne-NP" i="1" dirty="0">
                <a:latin typeface="Preeti" pitchFamily="2" charset="0"/>
                <a:cs typeface="Kalimati" panose="00000400000000000000" pitchFamily="2"/>
              </a:rPr>
              <a:t>अदालत समक्षको अभियुक्तको वयानलाई तत्काल प्राप्त प्रमाण मानिने हो होइन्।</a:t>
            </a:r>
            <a:endParaRPr lang="en-US" b="1" i="1" dirty="0">
              <a:cs typeface="Kalimati" panose="00000400000000000000" pitchFamily="2"/>
            </a:endParaRPr>
          </a:p>
          <a:p>
            <a:endParaRPr lang="en-US" dirty="0"/>
          </a:p>
        </p:txBody>
      </p:sp>
      <p:sp>
        <p:nvSpPr>
          <p:cNvPr id="4" name="Slide Number Placeholder 3">
            <a:extLst>
              <a:ext uri="{FF2B5EF4-FFF2-40B4-BE49-F238E27FC236}">
                <a16:creationId xmlns:a16="http://schemas.microsoft.com/office/drawing/2014/main" id="{C6A38C76-F262-CCF1-FA60-0FFAC87A92CA}"/>
              </a:ext>
            </a:extLst>
          </p:cNvPr>
          <p:cNvSpPr>
            <a:spLocks noGrp="1"/>
          </p:cNvSpPr>
          <p:nvPr>
            <p:ph type="sldNum" sz="quarter" idx="12"/>
          </p:nvPr>
        </p:nvSpPr>
        <p:spPr/>
        <p:txBody>
          <a:bodyPr/>
          <a:lstStyle/>
          <a:p>
            <a:fld id="{26EA1BC9-060C-4734-A581-933889F0292E}" type="slidenum">
              <a:rPr lang="en-US" smtClean="0"/>
              <a:pPr/>
              <a:t>9</a:t>
            </a:fld>
            <a:endParaRPr lang="en-US"/>
          </a:p>
        </p:txBody>
      </p:sp>
    </p:spTree>
    <p:extLst>
      <p:ext uri="{BB962C8B-B14F-4D97-AF65-F5344CB8AC3E}">
        <p14:creationId xmlns:p14="http://schemas.microsoft.com/office/powerpoint/2010/main" val="4256753728"/>
      </p:ext>
    </p:extLst>
  </p:cSld>
  <p:clrMapOvr>
    <a:masterClrMapping/>
  </p:clrMapOvr>
  <p:transition spd="slow">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3504" y="304800"/>
            <a:ext cx="5867400" cy="792162"/>
          </a:xfrm>
        </p:spPr>
        <p:txBody>
          <a:bodyPr>
            <a:normAutofit/>
          </a:bodyPr>
          <a:lstStyle/>
          <a:p>
            <a:r>
              <a:rPr lang="ne-NP" sz="2800" b="1" dirty="0">
                <a:solidFill>
                  <a:schemeClr val="tx1"/>
                </a:solidFill>
                <a:latin typeface="Preeti" pitchFamily="2" charset="0"/>
                <a:cs typeface="Kalimati" panose="00000400000000000000" pitchFamily="2"/>
              </a:rPr>
              <a:t>तत्काल प्राप्त प्रमाण</a:t>
            </a:r>
            <a:r>
              <a:rPr lang="en-US" sz="2800" b="1" dirty="0">
                <a:solidFill>
                  <a:schemeClr val="tx1"/>
                </a:solidFill>
                <a:latin typeface="Preeti" pitchFamily="2" charset="0"/>
                <a:cs typeface="Kalimati" panose="00000400000000000000" pitchFamily="2"/>
              </a:rPr>
              <a:t> </a:t>
            </a:r>
            <a:r>
              <a:rPr lang="ne-NP" sz="2800" b="1" dirty="0">
                <a:solidFill>
                  <a:schemeClr val="tx1"/>
                </a:solidFill>
                <a:latin typeface="Preeti" pitchFamily="2" charset="0"/>
                <a:cs typeface="Kalimati" panose="00000400000000000000" pitchFamily="2"/>
              </a:rPr>
              <a:t>के हुन </a:t>
            </a:r>
            <a:r>
              <a:rPr lang="ne-NP" sz="2800" b="1" dirty="0">
                <a:latin typeface="Preeti" pitchFamily="2" charset="0"/>
                <a:cs typeface="Kalimati" panose="00000400000000000000" pitchFamily="2"/>
              </a:rPr>
              <a:t>सक्दछन्</a:t>
            </a:r>
            <a:r>
              <a:rPr lang="en-US" sz="2800" b="1" dirty="0">
                <a:solidFill>
                  <a:schemeClr val="tx1"/>
                </a:solidFill>
                <a:latin typeface="Calibri" panose="020F0502020204030204" pitchFamily="34" charset="0"/>
                <a:cs typeface="Kalimati" panose="00000400000000000000" pitchFamily="2"/>
              </a:rPr>
              <a:t>?</a:t>
            </a:r>
            <a:endParaRPr lang="en-US" sz="2800" dirty="0"/>
          </a:p>
        </p:txBody>
      </p:sp>
      <p:sp>
        <p:nvSpPr>
          <p:cNvPr id="4" name="Content Placeholder 3"/>
          <p:cNvSpPr>
            <a:spLocks noGrp="1"/>
          </p:cNvSpPr>
          <p:nvPr>
            <p:ph idx="1"/>
          </p:nvPr>
        </p:nvSpPr>
        <p:spPr>
          <a:xfrm>
            <a:off x="419608" y="1096962"/>
            <a:ext cx="7772400" cy="4572000"/>
          </a:xfrm>
        </p:spPr>
        <p:txBody>
          <a:bodyPr>
            <a:normAutofit/>
          </a:bodyPr>
          <a:lstStyle/>
          <a:p>
            <a:r>
              <a:rPr lang="ne-NP" sz="2800" dirty="0">
                <a:cs typeface="Kalimati" panose="00000400000000000000" pitchFamily="2"/>
              </a:rPr>
              <a:t>शुरु जिल्ला अदालतले थुनछेक प्रयोजनका लागि लास जाँच प्रकृति मुचुल्का</a:t>
            </a:r>
            <a:r>
              <a:rPr lang="en-US" sz="2800" dirty="0">
                <a:latin typeface="Calibri" panose="020F0502020204030204" pitchFamily="34" charset="0"/>
                <a:cs typeface="Kalimati" panose="00000400000000000000" pitchFamily="2"/>
              </a:rPr>
              <a:t>,</a:t>
            </a:r>
            <a:r>
              <a:rPr lang="ne-NP" sz="2800" dirty="0">
                <a:cs typeface="Kalimati" panose="00000400000000000000" pitchFamily="2"/>
              </a:rPr>
              <a:t> मेडिकल रिपोर्ट</a:t>
            </a:r>
            <a:r>
              <a:rPr lang="en-US" sz="2800" dirty="0">
                <a:latin typeface="Calibri" panose="020F0502020204030204" pitchFamily="34" charset="0"/>
                <a:cs typeface="Kalimati" panose="00000400000000000000" pitchFamily="2"/>
              </a:rPr>
              <a:t>,</a:t>
            </a:r>
            <a:r>
              <a:rPr lang="ne-NP" sz="2800" dirty="0">
                <a:cs typeface="Kalimati" panose="00000400000000000000" pitchFamily="2"/>
              </a:rPr>
              <a:t> मृतकको मृत्यु हुँदाका अबस्था देखाउने फोटो</a:t>
            </a:r>
            <a:r>
              <a:rPr lang="en-US" sz="2800" dirty="0">
                <a:latin typeface="Calibri" panose="020F0502020204030204" pitchFamily="34" charset="0"/>
                <a:cs typeface="Kalimati" panose="00000400000000000000" pitchFamily="2"/>
              </a:rPr>
              <a:t>,</a:t>
            </a:r>
            <a:r>
              <a:rPr lang="ne-NP" sz="2800" dirty="0">
                <a:cs typeface="Kalimati" panose="00000400000000000000" pitchFamily="2"/>
              </a:rPr>
              <a:t> अभियुक्तको वयान समेतलाई कर्तव्यवाला हो भन्न सकिने परिबन्द पुरयाउने प्रमाणका रुपमा लिई थुनामा राखेकामा मुद्दा पुर्पक्षका सिलसिलामा थुनछेक प्रयोजनका लागि प्रमाणमा लिन मिल्ने नै देखिन्छ।</a:t>
            </a:r>
          </a:p>
          <a:p>
            <a:pPr marL="0" indent="0" algn="ctr">
              <a:buNone/>
            </a:pPr>
            <a:r>
              <a:rPr lang="ne-NP" sz="2800" i="1" dirty="0">
                <a:cs typeface="Kalimati" panose="00000400000000000000" pitchFamily="2"/>
              </a:rPr>
              <a:t>नेत्र वहादुर समेत विरुद्घ पूर्वाञ्चल क्षेत्रीय अदालत </a:t>
            </a:r>
          </a:p>
          <a:p>
            <a:pPr marL="0" indent="0" algn="ctr">
              <a:buNone/>
            </a:pPr>
            <a:r>
              <a:rPr lang="en-US" sz="2800" i="1" dirty="0">
                <a:latin typeface="Calibri" panose="020F0502020204030204" pitchFamily="34" charset="0"/>
                <a:cs typeface="Kalimati" panose="00000400000000000000" pitchFamily="2"/>
              </a:rPr>
              <a:t>(</a:t>
            </a:r>
            <a:r>
              <a:rPr lang="ne-NP" sz="2800" i="1" dirty="0">
                <a:cs typeface="Kalimati" panose="00000400000000000000" pitchFamily="2"/>
              </a:rPr>
              <a:t>ने का प २०४२ नि नं २५२४ पृ</a:t>
            </a:r>
            <a:r>
              <a:rPr lang="en-US" sz="2800" i="1" dirty="0">
                <a:cs typeface="Kalimati" panose="00000400000000000000" pitchFamily="2"/>
              </a:rPr>
              <a:t>.</a:t>
            </a:r>
            <a:r>
              <a:rPr lang="ne-NP" sz="2800" i="1" dirty="0">
                <a:cs typeface="Kalimati" panose="00000400000000000000" pitchFamily="2"/>
              </a:rPr>
              <a:t> १०३०</a:t>
            </a:r>
            <a:r>
              <a:rPr lang="en-US" sz="2800" i="1" dirty="0">
                <a:latin typeface="Calibri" panose="020F0502020204030204" pitchFamily="34" charset="0"/>
                <a:cs typeface="Kalimati" panose="00000400000000000000" pitchFamily="2"/>
              </a:rPr>
              <a:t>)</a:t>
            </a:r>
            <a:endParaRPr lang="en-US" sz="2800" i="1" dirty="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10</a:t>
            </a:fld>
            <a:endParaRPr lang="en-US"/>
          </a:p>
        </p:txBody>
      </p:sp>
    </p:spTree>
    <p:extLst>
      <p:ext uri="{BB962C8B-B14F-4D97-AF65-F5344CB8AC3E}">
        <p14:creationId xmlns:p14="http://schemas.microsoft.com/office/powerpoint/2010/main" val="574958847"/>
      </p:ext>
    </p:extLst>
  </p:cSld>
  <p:clrMapOvr>
    <a:masterClrMapping/>
  </p:clrMapOvr>
  <p:transition spd="slow">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715962"/>
          </a:xfrm>
        </p:spPr>
        <p:txBody>
          <a:bodyPr>
            <a:normAutofit/>
          </a:bodyPr>
          <a:lstStyle/>
          <a:p>
            <a:r>
              <a:rPr lang="ne-NP" sz="3200" dirty="0">
                <a:solidFill>
                  <a:srgbClr val="00B050"/>
                </a:solidFill>
                <a:cs typeface="Kalimati" panose="00000400000000000000" pitchFamily="2"/>
              </a:rPr>
              <a:t>थुनछेक सम्बन्धमा मौजुदा कानूनी व्यवस्थाहरू</a:t>
            </a:r>
            <a:endParaRPr lang="en-US" sz="3200" dirty="0">
              <a:solidFill>
                <a:srgbClr val="00B050"/>
              </a:solidFill>
              <a:cs typeface="Kalimati" panose="00000400000000000000" pitchFamily="2"/>
            </a:endParaRPr>
          </a:p>
        </p:txBody>
      </p:sp>
      <p:sp>
        <p:nvSpPr>
          <p:cNvPr id="3" name="Content Placeholder 2"/>
          <p:cNvSpPr>
            <a:spLocks noGrp="1"/>
          </p:cNvSpPr>
          <p:nvPr>
            <p:ph idx="1"/>
          </p:nvPr>
        </p:nvSpPr>
        <p:spPr>
          <a:xfrm>
            <a:off x="304800" y="1143000"/>
            <a:ext cx="8534400" cy="5257800"/>
          </a:xfrm>
        </p:spPr>
        <p:txBody>
          <a:bodyPr>
            <a:normAutofit/>
          </a:bodyPr>
          <a:lstStyle/>
          <a:p>
            <a:pPr algn="just"/>
            <a:r>
              <a:rPr lang="ne-NP" dirty="0">
                <a:cs typeface="Kalimati" panose="00000400000000000000" pitchFamily="2"/>
              </a:rPr>
              <a:t>सामान्य कानूनी व्यवस्थाः</a:t>
            </a:r>
          </a:p>
          <a:p>
            <a:pPr algn="just"/>
            <a:r>
              <a:rPr lang="ne-NP" dirty="0">
                <a:cs typeface="Kalimati" panose="00000400000000000000" pitchFamily="2"/>
              </a:rPr>
              <a:t>मुलुकी फौजदारी कार्यविधि संहिता ऐन,</a:t>
            </a:r>
            <a:r>
              <a:rPr lang="en-US" dirty="0">
                <a:cs typeface="Kalimati" panose="00000400000000000000" pitchFamily="2"/>
              </a:rPr>
              <a:t> </a:t>
            </a:r>
            <a:r>
              <a:rPr lang="ne-NP" dirty="0">
                <a:cs typeface="Kalimati" panose="00000400000000000000" pitchFamily="2"/>
              </a:rPr>
              <a:t>२०७४ को परिच्छेद ७ (दफा ६७-८०)</a:t>
            </a:r>
          </a:p>
          <a:p>
            <a:pPr algn="just"/>
            <a:r>
              <a:rPr lang="ne-NP" dirty="0">
                <a:cs typeface="Kalimati" panose="00000400000000000000" pitchFamily="2"/>
              </a:rPr>
              <a:t>विशेष कानूनी व्यवस्थाः</a:t>
            </a:r>
            <a:endParaRPr lang="en-US" dirty="0">
              <a:cs typeface="Kalimati" panose="00000400000000000000" pitchFamily="2"/>
            </a:endParaRPr>
          </a:p>
          <a:p>
            <a:pPr algn="just"/>
            <a:r>
              <a:rPr lang="ne-NP" dirty="0">
                <a:cs typeface="Kalimati" panose="00000400000000000000" pitchFamily="2"/>
              </a:rPr>
              <a:t>विशेष अदालत ऐन,</a:t>
            </a:r>
            <a:r>
              <a:rPr lang="en-US" dirty="0">
                <a:cs typeface="Kalimati" panose="00000400000000000000" pitchFamily="2"/>
              </a:rPr>
              <a:t> </a:t>
            </a:r>
            <a:r>
              <a:rPr lang="ne-NP" dirty="0">
                <a:cs typeface="Kalimati" panose="00000400000000000000" pitchFamily="2"/>
              </a:rPr>
              <a:t>२०५९ (दफा ७)</a:t>
            </a:r>
          </a:p>
          <a:p>
            <a:pPr algn="just"/>
            <a:r>
              <a:rPr lang="ne-NP" dirty="0">
                <a:cs typeface="Kalimati" panose="00000400000000000000" pitchFamily="2"/>
              </a:rPr>
              <a:t>बालबालिका सम्बन्धी ऐन,</a:t>
            </a:r>
            <a:r>
              <a:rPr lang="en-US" dirty="0">
                <a:cs typeface="Kalimati" panose="00000400000000000000" pitchFamily="2"/>
              </a:rPr>
              <a:t> </a:t>
            </a:r>
            <a:r>
              <a:rPr lang="ne-NP" dirty="0">
                <a:cs typeface="Kalimati" panose="00000400000000000000" pitchFamily="2"/>
              </a:rPr>
              <a:t>२०७५ (दफा २४)</a:t>
            </a:r>
          </a:p>
          <a:p>
            <a:pPr algn="just"/>
            <a:r>
              <a:rPr lang="ne-NP" dirty="0">
                <a:cs typeface="Kalimati" panose="00000400000000000000" pitchFamily="2"/>
              </a:rPr>
              <a:t>लागु औषध (नियन्त्रण) ऐन,</a:t>
            </a:r>
            <a:r>
              <a:rPr lang="en-US" dirty="0">
                <a:cs typeface="Kalimati" panose="00000400000000000000" pitchFamily="2"/>
              </a:rPr>
              <a:t> </a:t>
            </a:r>
            <a:r>
              <a:rPr lang="ne-NP" dirty="0">
                <a:cs typeface="Kalimati" panose="00000400000000000000" pitchFamily="2"/>
              </a:rPr>
              <a:t>२०३३ को दफा २१</a:t>
            </a:r>
            <a:endParaRPr lang="en-US" dirty="0">
              <a:cs typeface="Kalimati" panose="00000400000000000000" pitchFamily="2"/>
            </a:endParaRPr>
          </a:p>
          <a:p>
            <a:pPr algn="just"/>
            <a:r>
              <a:rPr lang="ne-NP" dirty="0">
                <a:solidFill>
                  <a:srgbClr val="FF0000"/>
                </a:solidFill>
                <a:cs typeface="Kalimati" panose="00000400000000000000" pitchFamily="2"/>
              </a:rPr>
              <a:t>मानव बेचविखन तथा ओसारपसार (नियन्त्रण) ऐन,</a:t>
            </a:r>
            <a:r>
              <a:rPr lang="en-US" dirty="0">
                <a:solidFill>
                  <a:srgbClr val="FF0000"/>
                </a:solidFill>
                <a:cs typeface="Kalimati" panose="00000400000000000000" pitchFamily="2"/>
              </a:rPr>
              <a:t> </a:t>
            </a:r>
            <a:r>
              <a:rPr lang="ne-NP" dirty="0">
                <a:solidFill>
                  <a:srgbClr val="FF0000"/>
                </a:solidFill>
                <a:cs typeface="Kalimati" panose="00000400000000000000" pitchFamily="2"/>
              </a:rPr>
              <a:t>२०६४ (दफा ८)</a:t>
            </a:r>
          </a:p>
          <a:p>
            <a:pPr algn="just"/>
            <a:r>
              <a:rPr lang="ne-NP" dirty="0">
                <a:cs typeface="Kalimati" panose="00000400000000000000" pitchFamily="2"/>
              </a:rPr>
              <a:t>वन ऐन,</a:t>
            </a:r>
            <a:r>
              <a:rPr lang="en-US" dirty="0">
                <a:cs typeface="Kalimati" panose="00000400000000000000" pitchFamily="2"/>
              </a:rPr>
              <a:t> </a:t>
            </a:r>
            <a:r>
              <a:rPr lang="ne-NP" dirty="0">
                <a:cs typeface="Kalimati" panose="00000400000000000000" pitchFamily="2"/>
              </a:rPr>
              <a:t>२०४९ को (दफा ६४)</a:t>
            </a:r>
          </a:p>
          <a:p>
            <a:pPr algn="just"/>
            <a:r>
              <a:rPr lang="ne-NP" dirty="0">
                <a:cs typeface="Kalimati" panose="00000400000000000000" pitchFamily="2"/>
              </a:rPr>
              <a:t>राष्ट्रिय निकुञ्ज तथा वन्यजन्तु आरक्ष ऐन,</a:t>
            </a:r>
            <a:r>
              <a:rPr lang="en-US" dirty="0">
                <a:cs typeface="Kalimati" panose="00000400000000000000" pitchFamily="2"/>
              </a:rPr>
              <a:t> </a:t>
            </a:r>
            <a:r>
              <a:rPr lang="ne-NP" dirty="0">
                <a:cs typeface="Kalimati" panose="00000400000000000000" pitchFamily="2"/>
              </a:rPr>
              <a:t>२०२९ को (दफा ३१)</a:t>
            </a:r>
            <a:endParaRPr lang="en-US" dirty="0">
              <a:cs typeface="Kalimati" panose="00000400000000000000" pitchFamily="2"/>
            </a:endParaRPr>
          </a:p>
          <a:p>
            <a:pPr marL="0" indent="0" algn="just">
              <a:buNone/>
            </a:pPr>
            <a:endParaRPr lang="en-US" dirty="0">
              <a:solidFill>
                <a:srgbClr val="FF0000"/>
              </a:solidFill>
              <a:cs typeface="Kalimati" panose="00000400000000000000" pitchFamily="2"/>
            </a:endParaRPr>
          </a:p>
          <a:p>
            <a:endParaRPr lang="en-US" dirty="0"/>
          </a:p>
        </p:txBody>
      </p:sp>
    </p:spTree>
    <p:extLst>
      <p:ext uri="{BB962C8B-B14F-4D97-AF65-F5344CB8AC3E}">
        <p14:creationId xmlns:p14="http://schemas.microsoft.com/office/powerpoint/2010/main" val="1710342836"/>
      </p:ext>
    </p:extLst>
  </p:cSld>
  <p:clrMapOvr>
    <a:masterClrMapping/>
  </p:clrMapOvr>
  <p:transition spd="slow">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930896" cy="715962"/>
          </a:xfrm>
        </p:spPr>
        <p:txBody>
          <a:bodyPr>
            <a:noAutofit/>
          </a:bodyPr>
          <a:lstStyle/>
          <a:p>
            <a:br>
              <a:rPr lang="ne-NP" sz="2400" b="1" dirty="0">
                <a:solidFill>
                  <a:schemeClr val="tx1"/>
                </a:solidFill>
                <a:latin typeface="Preeti" pitchFamily="2" charset="0"/>
                <a:cs typeface="Kalimati" panose="00000400000000000000" pitchFamily="2"/>
              </a:rPr>
            </a:br>
            <a:br>
              <a:rPr lang="ne-NP" sz="2400" b="1" dirty="0">
                <a:solidFill>
                  <a:schemeClr val="tx1"/>
                </a:solidFill>
                <a:latin typeface="Preeti" pitchFamily="2" charset="0"/>
                <a:cs typeface="Kalimati" panose="00000400000000000000" pitchFamily="2"/>
              </a:rPr>
            </a:br>
            <a:br>
              <a:rPr lang="ne-NP" sz="2400" b="1" dirty="0">
                <a:solidFill>
                  <a:schemeClr val="tx1"/>
                </a:solidFill>
                <a:latin typeface="Preeti" pitchFamily="2" charset="0"/>
                <a:cs typeface="Kalimati" panose="00000400000000000000" pitchFamily="2"/>
              </a:rPr>
            </a:br>
            <a:br>
              <a:rPr lang="ne-NP" sz="2400" b="1" dirty="0">
                <a:solidFill>
                  <a:schemeClr val="tx1"/>
                </a:solidFill>
                <a:latin typeface="Preeti" pitchFamily="2" charset="0"/>
                <a:cs typeface="Kalimati" panose="00000400000000000000" pitchFamily="2"/>
              </a:rPr>
            </a:br>
            <a:r>
              <a:rPr lang="ne-NP" sz="2400" b="1" dirty="0">
                <a:solidFill>
                  <a:schemeClr val="tx1"/>
                </a:solidFill>
                <a:latin typeface="Preeti" pitchFamily="2" charset="0"/>
                <a:cs typeface="Kalimati" panose="00000400000000000000" pitchFamily="2"/>
              </a:rPr>
              <a:t>थुनछेक सम्बन्धी मुलुकी फौजदारी कार्यविधि संहिता, २०७४ को </a:t>
            </a:r>
            <a:r>
              <a:rPr lang="ne-NP" sz="2400" b="1" dirty="0">
                <a:latin typeface="Preeti" pitchFamily="2" charset="0"/>
                <a:cs typeface="Kalimati" panose="00000400000000000000" pitchFamily="2"/>
              </a:rPr>
              <a:t>व्यवस्था (दफा ६७</a:t>
            </a:r>
            <a:r>
              <a:rPr lang="ne-NP" sz="2400" dirty="0">
                <a:latin typeface="Preeti" pitchFamily="2" charset="0"/>
                <a:cs typeface="Kalimati" panose="00000400000000000000" pitchFamily="2"/>
              </a:rPr>
              <a:t> (१)) </a:t>
            </a:r>
            <a:br>
              <a:rPr lang="ne-NP" sz="2400" b="1" dirty="0">
                <a:solidFill>
                  <a:schemeClr val="tx1"/>
                </a:solidFill>
                <a:latin typeface="Preeti" pitchFamily="2" charset="0"/>
                <a:cs typeface="Kalimati" panose="00000400000000000000" pitchFamily="2"/>
              </a:rPr>
            </a:br>
            <a:br>
              <a:rPr lang="ne-NP" sz="2400" b="1" dirty="0">
                <a:solidFill>
                  <a:schemeClr val="tx1"/>
                </a:solidFill>
                <a:latin typeface="Preeti" pitchFamily="2" charset="0"/>
                <a:cs typeface="Kalimati" panose="00000400000000000000" pitchFamily="2"/>
              </a:rPr>
            </a:br>
            <a:br>
              <a:rPr lang="ne-NP" sz="2400" b="1" dirty="0">
                <a:solidFill>
                  <a:schemeClr val="tx1"/>
                </a:solidFill>
                <a:latin typeface="Preeti" pitchFamily="2" charset="0"/>
                <a:cs typeface="Kalimati" panose="00000400000000000000" pitchFamily="2"/>
              </a:rPr>
            </a:br>
            <a:endParaRPr lang="ne-NP" sz="2400" b="1" dirty="0">
              <a:solidFill>
                <a:schemeClr val="tx1"/>
              </a:solidFill>
              <a:latin typeface="Preeti" pitchFamily="2" charset="0"/>
              <a:cs typeface="Kalimati" panose="00000400000000000000" pitchFamily="2"/>
            </a:endParaRPr>
          </a:p>
        </p:txBody>
      </p:sp>
      <p:graphicFrame>
        <p:nvGraphicFramePr>
          <p:cNvPr id="5" name="Content Placeholder 3"/>
          <p:cNvGraphicFramePr>
            <a:graphicFrameLocks noGrp="1"/>
          </p:cNvGraphicFramePr>
          <p:nvPr>
            <p:ph idx="1"/>
            <p:extLst>
              <p:ext uri="{D42A27DB-BD31-4B8C-83A1-F6EECF244321}">
                <p14:modId xmlns:p14="http://schemas.microsoft.com/office/powerpoint/2010/main" val="3931913466"/>
              </p:ext>
            </p:extLst>
          </p:nvPr>
        </p:nvGraphicFramePr>
        <p:xfrm>
          <a:off x="34119" y="968376"/>
          <a:ext cx="8159496" cy="57531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Slide Number Placeholder 2"/>
          <p:cNvSpPr>
            <a:spLocks noGrp="1"/>
          </p:cNvSpPr>
          <p:nvPr>
            <p:ph type="sldNum" sz="quarter" idx="12"/>
          </p:nvPr>
        </p:nvSpPr>
        <p:spPr/>
        <p:txBody>
          <a:bodyPr/>
          <a:lstStyle/>
          <a:p>
            <a:fld id="{26EA1BC9-060C-4734-A581-933889F0292E}" type="slidenum">
              <a:rPr lang="en-US" smtClean="0"/>
              <a:pPr/>
              <a:t>12</a:t>
            </a:fld>
            <a:endParaRPr lang="en-US"/>
          </a:p>
        </p:txBody>
      </p:sp>
    </p:spTree>
  </p:cSld>
  <p:clrMapOvr>
    <a:masterClrMapping/>
  </p:clrMapOvr>
  <p:transition spd="slow">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924800" cy="944562"/>
          </a:xfrm>
        </p:spPr>
        <p:txBody>
          <a:bodyPr>
            <a:noAutofit/>
          </a:bodyPr>
          <a:lstStyle/>
          <a:p>
            <a:r>
              <a:rPr lang="ne-NP" sz="2800" b="1" dirty="0">
                <a:solidFill>
                  <a:schemeClr val="tx1"/>
                </a:solidFill>
                <a:latin typeface="Preeti" pitchFamily="2" charset="0"/>
                <a:cs typeface="Kalimati" panose="00000400000000000000" pitchFamily="2"/>
              </a:rPr>
              <a:t>अभियुक्तलाई थुनामा राखी मुद्दाको पुर्पक्ष गर्नेुराख्ने (दफा ६७</a:t>
            </a:r>
            <a:r>
              <a:rPr lang="ne-NP" sz="2800" dirty="0">
                <a:solidFill>
                  <a:schemeClr val="tx1"/>
                </a:solidFill>
                <a:latin typeface="Preeti" pitchFamily="2" charset="0"/>
                <a:cs typeface="Kalimati" panose="00000400000000000000" pitchFamily="2"/>
              </a:rPr>
              <a:t> (१) </a:t>
            </a:r>
            <a:r>
              <a:rPr lang="ne-NP" sz="2800" b="1" dirty="0">
                <a:solidFill>
                  <a:schemeClr val="tx1"/>
                </a:solidFill>
                <a:latin typeface="Preeti" pitchFamily="2" charset="0"/>
                <a:cs typeface="Kalimati" panose="00000400000000000000" pitchFamily="2"/>
              </a:rPr>
              <a:t> </a:t>
            </a:r>
            <a:endParaRPr lang="en-US" sz="2800" b="1" dirty="0">
              <a:solidFill>
                <a:schemeClr val="tx1"/>
              </a:solidFill>
              <a:cs typeface="Kalimati" panose="00000400000000000000" pitchFamily="2"/>
            </a:endParaRPr>
          </a:p>
        </p:txBody>
      </p:sp>
      <p:sp>
        <p:nvSpPr>
          <p:cNvPr id="4" name="Content Placeholder 3"/>
          <p:cNvSpPr>
            <a:spLocks noGrp="1"/>
          </p:cNvSpPr>
          <p:nvPr>
            <p:ph idx="1"/>
          </p:nvPr>
        </p:nvSpPr>
        <p:spPr>
          <a:xfrm>
            <a:off x="914400" y="1295400"/>
            <a:ext cx="7772400" cy="4724400"/>
          </a:xfrm>
        </p:spPr>
        <p:txBody>
          <a:bodyPr>
            <a:normAutofit fontScale="92500" lnSpcReduction="20000"/>
          </a:bodyPr>
          <a:lstStyle/>
          <a:p>
            <a:pPr>
              <a:buNone/>
            </a:pPr>
            <a:r>
              <a:rPr lang="en-US" dirty="0">
                <a:latin typeface="Preeti" pitchFamily="2" charset="0"/>
                <a:cs typeface="Kalimati" panose="00000400000000000000" pitchFamily="2"/>
              </a:rPr>
              <a:t>  </a:t>
            </a:r>
            <a:r>
              <a:rPr lang="ne-NP" dirty="0">
                <a:latin typeface="Preeti" pitchFamily="2" charset="0"/>
                <a:cs typeface="Kalimati" panose="00000400000000000000" pitchFamily="2"/>
              </a:rPr>
              <a:t>देहायको </a:t>
            </a:r>
            <a:r>
              <a:rPr lang="ne-NP" dirty="0">
                <a:solidFill>
                  <a:srgbClr val="00B0F0"/>
                </a:solidFill>
                <a:latin typeface="Preeti" pitchFamily="2" charset="0"/>
                <a:cs typeface="Kalimati" panose="00000400000000000000" pitchFamily="2"/>
              </a:rPr>
              <a:t>कुनै कसूरको अभियोग लागेको अभियुक्त तत्काल प्राप्त प्रमाणबाट कसूरदार देखिने भएमा </a:t>
            </a:r>
            <a:r>
              <a:rPr lang="ne-NP" dirty="0">
                <a:latin typeface="Preeti" pitchFamily="2" charset="0"/>
                <a:cs typeface="Kalimati" panose="00000400000000000000" pitchFamily="2"/>
              </a:rPr>
              <a:t>वा </a:t>
            </a:r>
            <a:r>
              <a:rPr lang="ne-NP" dirty="0">
                <a:solidFill>
                  <a:srgbClr val="92D050"/>
                </a:solidFill>
                <a:latin typeface="Preeti" pitchFamily="2" charset="0"/>
                <a:cs typeface="Kalimati" panose="00000400000000000000" pitchFamily="2"/>
              </a:rPr>
              <a:t>कसूरदार हो भन्ने विश्वास गर्ने कुनै मनासिब आधार भएमा </a:t>
            </a:r>
            <a:r>
              <a:rPr lang="ne-NP" dirty="0">
                <a:latin typeface="Preeti" pitchFamily="2" charset="0"/>
                <a:cs typeface="Kalimati" panose="00000400000000000000" pitchFamily="2"/>
              </a:rPr>
              <a:t>अदालतले त्यस्तो अभियुक्तलाई कारण खुलाई पुर्पक्षको लागि थुनामा राख्नु पर्नछ। </a:t>
            </a:r>
          </a:p>
          <a:p>
            <a:pPr>
              <a:buNone/>
            </a:pPr>
            <a:r>
              <a:rPr lang="ne-NP" dirty="0">
                <a:latin typeface="Preeti" pitchFamily="2" charset="0"/>
                <a:cs typeface="Kalimati" panose="00000400000000000000" pitchFamily="2"/>
              </a:rPr>
              <a:t>(</a:t>
            </a:r>
            <a:r>
              <a:rPr lang="ne-NP" b="1" dirty="0">
                <a:latin typeface="Preeti" pitchFamily="2" charset="0"/>
                <a:cs typeface="Kalimati" panose="00000400000000000000" pitchFamily="2"/>
              </a:rPr>
              <a:t>क) जन्म कैदको सजाय हुन सक्ने कसूर, </a:t>
            </a:r>
          </a:p>
          <a:p>
            <a:pPr>
              <a:buNone/>
            </a:pPr>
            <a:r>
              <a:rPr lang="ne-NP" b="1" dirty="0">
                <a:latin typeface="Preeti" pitchFamily="2" charset="0"/>
                <a:cs typeface="Kalimati" panose="00000400000000000000" pitchFamily="2"/>
              </a:rPr>
              <a:t>(ख) तीन वर्षभन्दा बढी कैदको सजाय हुन सक्ने अनुसूची–१ वा अनुसूची–२ अन्तर्गतका कसूर, वा </a:t>
            </a:r>
          </a:p>
          <a:p>
            <a:pPr>
              <a:buNone/>
            </a:pPr>
            <a:r>
              <a:rPr lang="ne-NP" b="1" dirty="0">
                <a:latin typeface="Preeti" pitchFamily="2" charset="0"/>
                <a:cs typeface="Kalimati" panose="00000400000000000000" pitchFamily="2"/>
              </a:rPr>
              <a:t>(ग) खण्ड (क) वा (ख) मा उल्लिखित कसूरको उद्योग, दुरुत्साहन वा आपराधिक षडयन्त्र गरेको वा त्यस्तो कसूरमा मतियार भएको कसूर </a:t>
            </a:r>
            <a:r>
              <a:rPr lang="en-US" b="1" dirty="0">
                <a:latin typeface="Calibri" panose="020F0502020204030204" pitchFamily="34" charset="0"/>
                <a:cs typeface="Kalimati" panose="00000400000000000000" pitchFamily="2"/>
              </a:rPr>
              <a:t>(Inchoate crimes)</a:t>
            </a:r>
            <a:r>
              <a:rPr lang="ne-NP" b="1" dirty="0">
                <a:latin typeface="Preeti" pitchFamily="2" charset="0"/>
                <a:cs typeface="Kalimati" panose="00000400000000000000" pitchFamily="2"/>
              </a:rPr>
              <a:t>।</a:t>
            </a:r>
            <a:endParaRPr lang="ne-NP" b="1" i="1" dirty="0">
              <a:latin typeface="Preeti" pitchFamily="2" charset="0"/>
              <a:cs typeface="Kalimati" panose="00000400000000000000" pitchFamily="2"/>
            </a:endParaRPr>
          </a:p>
          <a:p>
            <a:pPr>
              <a:buNone/>
            </a:pPr>
            <a:r>
              <a:rPr lang="ne-NP" b="1" i="1" u="sng" dirty="0">
                <a:latin typeface="Preeti" pitchFamily="2" charset="0"/>
                <a:cs typeface="Kalimati" panose="00000400000000000000" pitchFamily="2"/>
              </a:rPr>
              <a:t>थुनछेकका आधार</a:t>
            </a:r>
          </a:p>
          <a:p>
            <a:r>
              <a:rPr lang="ne-NP" b="1" dirty="0">
                <a:latin typeface="Preeti" pitchFamily="2" charset="0"/>
                <a:cs typeface="Kalimati" panose="00000400000000000000" pitchFamily="2"/>
              </a:rPr>
              <a:t>तत्काल प्राप्त प्रमाण भएका वा </a:t>
            </a:r>
          </a:p>
          <a:p>
            <a:r>
              <a:rPr lang="ne-NP" b="1" dirty="0">
                <a:latin typeface="Preeti" pitchFamily="2" charset="0"/>
                <a:cs typeface="Kalimati" panose="00000400000000000000" pitchFamily="2"/>
              </a:rPr>
              <a:t>कसरदार हो भन्ने विश्वास गर्ने मनासिव आधार भएमा</a:t>
            </a:r>
          </a:p>
          <a:p>
            <a:r>
              <a:rPr lang="ne-NP" b="1" dirty="0">
                <a:latin typeface="Preeti" pitchFamily="2" charset="0"/>
                <a:cs typeface="Kalimati" panose="00000400000000000000" pitchFamily="2"/>
              </a:rPr>
              <a:t>विद्यमान कानून र कसुरजन्य कार्यको गम्भीरता एवं प्रमाणको विद्यमानता</a:t>
            </a:r>
          </a:p>
          <a:p>
            <a:r>
              <a:rPr lang="ne-NP" b="1" dirty="0">
                <a:latin typeface="Preeti" pitchFamily="2" charset="0"/>
                <a:cs typeface="Kalimati" panose="00000400000000000000" pitchFamily="2"/>
              </a:rPr>
              <a:t>कसुरको गम्भीरता बढाउने वा घटाउने आधारहरु (अपराध संहिता दफा ३८ र ३९)</a:t>
            </a:r>
          </a:p>
          <a:p>
            <a:r>
              <a:rPr lang="ne-NP" b="1" dirty="0">
                <a:latin typeface="Preeti" pitchFamily="2" charset="0"/>
                <a:cs typeface="Kalimati" panose="00000400000000000000" pitchFamily="2"/>
              </a:rPr>
              <a:t>न्यायिक अभ्यास।</a:t>
            </a:r>
          </a:p>
          <a:p>
            <a:pPr marL="0" indent="0">
              <a:buNone/>
            </a:pPr>
            <a:endParaRPr lang="ne-NP" b="1" dirty="0">
              <a:latin typeface="Preeti" pitchFamily="2" charset="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13</a:t>
            </a:fld>
            <a:endParaRPr lang="en-US"/>
          </a:p>
        </p:txBody>
      </p:sp>
    </p:spTree>
  </p:cSld>
  <p:clrMapOvr>
    <a:masterClrMapping/>
  </p:clrMapOvr>
  <p:transition spd="slow">
    <p:wedg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001000" cy="1112838"/>
          </a:xfrm>
        </p:spPr>
        <p:txBody>
          <a:bodyPr>
            <a:noAutofit/>
          </a:bodyPr>
          <a:lstStyle/>
          <a:p>
            <a:br>
              <a:rPr lang="en-US" altLang="en-US" sz="2800" dirty="0">
                <a:latin typeface="Preeti" pitchFamily="2" charset="0"/>
                <a:cs typeface="Kalimati" panose="00000400000000000000" pitchFamily="2"/>
              </a:rPr>
            </a:br>
            <a:br>
              <a:rPr lang="en-US" altLang="en-US" sz="2800" dirty="0">
                <a:latin typeface="Preeti" pitchFamily="2" charset="0"/>
                <a:cs typeface="Kalimati" panose="00000400000000000000" pitchFamily="2"/>
              </a:rPr>
            </a:br>
            <a:br>
              <a:rPr lang="en-US" sz="2800" b="1" dirty="0">
                <a:cs typeface="Kalimati" panose="00000400000000000000" pitchFamily="2"/>
              </a:rPr>
            </a:br>
            <a:r>
              <a:rPr lang="ne-NP" altLang="en-US" sz="2800" b="1" dirty="0">
                <a:solidFill>
                  <a:schemeClr val="tx1"/>
                </a:solidFill>
                <a:latin typeface="Preeti" pitchFamily="2" charset="0"/>
                <a:cs typeface="Kalimati" panose="00000400000000000000" pitchFamily="2"/>
              </a:rPr>
              <a:t>कैदको सजाय हुने कसूरमा थुनामा राख्न सक्ने अवस्था  </a:t>
            </a:r>
            <a:br>
              <a:rPr lang="ne-NP" altLang="en-US" sz="2800" b="1" dirty="0">
                <a:solidFill>
                  <a:schemeClr val="tx1"/>
                </a:solidFill>
                <a:latin typeface="Preeti" pitchFamily="2" charset="0"/>
                <a:cs typeface="Kalimati" panose="00000400000000000000" pitchFamily="2"/>
              </a:rPr>
            </a:br>
            <a:r>
              <a:rPr lang="ne-NP" altLang="en-US" sz="2800" b="1" dirty="0">
                <a:solidFill>
                  <a:schemeClr val="tx1"/>
                </a:solidFill>
                <a:latin typeface="Preeti" pitchFamily="2" charset="0"/>
                <a:cs typeface="Kalimati" panose="00000400000000000000" pitchFamily="2"/>
              </a:rPr>
              <a:t>(विशेष व्यवस्था) (दफा ६७(२)</a:t>
            </a:r>
            <a:br>
              <a:rPr lang="en-US" altLang="en-US" sz="2800" dirty="0">
                <a:latin typeface="Preeti" pitchFamily="2" charset="0"/>
                <a:cs typeface="Kalimati" panose="00000400000000000000" pitchFamily="2"/>
              </a:rPr>
            </a:br>
            <a:br>
              <a:rPr lang="en-US" altLang="en-US" sz="2800" dirty="0">
                <a:latin typeface="Preeti" pitchFamily="2" charset="0"/>
                <a:cs typeface="Kalimati" panose="00000400000000000000" pitchFamily="2"/>
              </a:rPr>
            </a:br>
            <a:br>
              <a:rPr lang="en-US" altLang="en-US" sz="2800" dirty="0">
                <a:latin typeface="Preeti" pitchFamily="2" charset="0"/>
                <a:cs typeface="Kalimati" panose="00000400000000000000" pitchFamily="2"/>
              </a:rPr>
            </a:br>
            <a:endParaRPr lang="en-US" sz="2400" b="1" dirty="0">
              <a:solidFill>
                <a:schemeClr val="tx1"/>
              </a:solidFill>
              <a:cs typeface="Kalimati" panose="00000400000000000000" pitchFamily="2"/>
            </a:endParaRPr>
          </a:p>
        </p:txBody>
      </p:sp>
      <p:sp>
        <p:nvSpPr>
          <p:cNvPr id="4" name="Content Placeholder 3"/>
          <p:cNvSpPr>
            <a:spLocks noGrp="1"/>
          </p:cNvSpPr>
          <p:nvPr>
            <p:ph idx="1"/>
          </p:nvPr>
        </p:nvSpPr>
        <p:spPr>
          <a:xfrm>
            <a:off x="381000" y="1417638"/>
            <a:ext cx="8134350" cy="4754562"/>
          </a:xfrm>
        </p:spPr>
        <p:txBody>
          <a:bodyPr>
            <a:normAutofit/>
          </a:bodyPr>
          <a:lstStyle/>
          <a:p>
            <a:pPr algn="just">
              <a:buFont typeface="Wingdings" pitchFamily="2" charset="2"/>
              <a:buChar char="§"/>
            </a:pPr>
            <a:r>
              <a:rPr lang="ne-NP" altLang="en-US" sz="2400" b="1" dirty="0">
                <a:solidFill>
                  <a:srgbClr val="00B0F0"/>
                </a:solidFill>
                <a:latin typeface="Preeti" pitchFamily="2" charset="0"/>
                <a:cs typeface="Kalimati" panose="00000400000000000000" pitchFamily="2"/>
              </a:rPr>
              <a:t>अभियुक्तले आफूउपर लगाइएको अभियोग अदालत समक्ष स्वीकार गरेकोमा</a:t>
            </a:r>
            <a:r>
              <a:rPr lang="ne-NP" altLang="en-US" sz="2400" dirty="0">
                <a:solidFill>
                  <a:srgbClr val="00B0F0"/>
                </a:solidFill>
                <a:latin typeface="Preeti" pitchFamily="2" charset="0"/>
                <a:cs typeface="Kalimati" panose="00000400000000000000" pitchFamily="2"/>
              </a:rPr>
              <a:t>, </a:t>
            </a:r>
          </a:p>
          <a:p>
            <a:pPr algn="just">
              <a:buFont typeface="Wingdings" pitchFamily="2" charset="2"/>
              <a:buChar char="§"/>
            </a:pPr>
            <a:r>
              <a:rPr lang="ne-NP" altLang="en-US" sz="2400" b="1" dirty="0">
                <a:solidFill>
                  <a:srgbClr val="0070C0"/>
                </a:solidFill>
                <a:latin typeface="Preeti" pitchFamily="2" charset="0"/>
                <a:cs typeface="Kalimati" panose="00000400000000000000" pitchFamily="2"/>
              </a:rPr>
              <a:t>एक वर्ष वा सोभन्दा बढी सजाय हुन सक्ने कसूरको अभियोग लागेको अभियुक्तको नेपालमा स्थायी बसोबास नभएको </a:t>
            </a:r>
            <a:r>
              <a:rPr lang="ne-NP" altLang="en-US" sz="2400" dirty="0">
                <a:latin typeface="Preeti" pitchFamily="2" charset="0"/>
                <a:cs typeface="Kalimati" panose="00000400000000000000" pitchFamily="2"/>
              </a:rPr>
              <a:t>र निजलाई थुनामा नराखेको खण्डमा निज भाग्ने र पछि पक्राउ पर्ने सम्भावना नरहेकोमा, </a:t>
            </a:r>
          </a:p>
          <a:p>
            <a:pPr algn="just">
              <a:buFont typeface="Wingdings" pitchFamily="2" charset="2"/>
              <a:buChar char="§"/>
            </a:pPr>
            <a:r>
              <a:rPr lang="ne-NP" altLang="en-US" sz="2400" b="1" dirty="0">
                <a:solidFill>
                  <a:srgbClr val="00B0F0"/>
                </a:solidFill>
                <a:latin typeface="Preeti" pitchFamily="2" charset="0"/>
                <a:cs typeface="Kalimati" panose="00000400000000000000" pitchFamily="2"/>
              </a:rPr>
              <a:t>अदालतबाट जारी भएको पक्राउ पूर्जी बमोजिम म्यादभित्र हाजिर नभई अभियुक्त पक्राउ भई आएको </a:t>
            </a:r>
            <a:r>
              <a:rPr lang="ne-NP" altLang="en-US" sz="2400" dirty="0">
                <a:latin typeface="Preeti" pitchFamily="2" charset="0"/>
                <a:cs typeface="Kalimati" panose="00000400000000000000" pitchFamily="2"/>
              </a:rPr>
              <a:t>र निजले उजुरी साथ अदालतमा उपस्थित हुन नआएको कुनै सन्तोषजनक कारण देखाउन नसकेकोमा</a:t>
            </a:r>
            <a:r>
              <a:rPr lang="ne-NP" altLang="en-US" sz="2400" dirty="0">
                <a:solidFill>
                  <a:srgbClr val="00B0F0"/>
                </a:solidFill>
                <a:latin typeface="Preeti" pitchFamily="2" charset="0"/>
                <a:cs typeface="Kalimati" panose="00000400000000000000" pitchFamily="2"/>
              </a:rPr>
              <a:t>, </a:t>
            </a:r>
          </a:p>
          <a:p>
            <a:pPr algn="just">
              <a:buFont typeface="Wingdings" pitchFamily="2" charset="2"/>
              <a:buChar char="§"/>
            </a:pPr>
            <a:r>
              <a:rPr lang="ne-NP" altLang="en-US" sz="2400" b="1" dirty="0">
                <a:solidFill>
                  <a:srgbClr val="00B0F0"/>
                </a:solidFill>
                <a:latin typeface="Preeti" pitchFamily="2" charset="0"/>
                <a:cs typeface="Kalimati" panose="00000400000000000000" pitchFamily="2"/>
              </a:rPr>
              <a:t>अभियोग लाग्नुभन्दा तीन वर्षअघिको अवधिभित्र अन्य कुनै कसूरको अभियोगमा निजले कैद सजाय पाउने ठहर भएकोमा </a:t>
            </a:r>
            <a:r>
              <a:rPr lang="ne-NP" altLang="en-US" sz="2400" dirty="0">
                <a:latin typeface="Preeti" pitchFamily="2" charset="0"/>
                <a:cs typeface="Kalimati" panose="00000400000000000000" pitchFamily="2"/>
              </a:rPr>
              <a:t>।</a:t>
            </a:r>
            <a:endParaRPr lang="en-US" dirty="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14</a:t>
            </a:fld>
            <a:endParaRPr lang="en-US"/>
          </a:p>
        </p:txBody>
      </p:sp>
    </p:spTree>
  </p:cSld>
  <p:clrMapOvr>
    <a:masterClrMapping/>
  </p:clrMapOvr>
  <p:transition spd="slow">
    <p:wedg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2704" y="330200"/>
            <a:ext cx="3866896" cy="736600"/>
          </a:xfrm>
        </p:spPr>
        <p:txBody>
          <a:bodyPr>
            <a:noAutofit/>
          </a:bodyPr>
          <a:lstStyle/>
          <a:p>
            <a:r>
              <a:rPr lang="ne-NP" dirty="0">
                <a:solidFill>
                  <a:schemeClr val="tx1"/>
                </a:solidFill>
                <a:cs typeface="Kalimati" panose="00000400000000000000" pitchFamily="2"/>
              </a:rPr>
              <a:t>केही अपवादहरु</a:t>
            </a:r>
            <a:endParaRPr lang="en-US" dirty="0">
              <a:solidFill>
                <a:schemeClr val="tx1"/>
              </a:solidFill>
              <a:cs typeface="Kalimati" panose="00000400000000000000" pitchFamily="2"/>
            </a:endParaRPr>
          </a:p>
        </p:txBody>
      </p:sp>
      <p:sp>
        <p:nvSpPr>
          <p:cNvPr id="4" name="Content Placeholder 3"/>
          <p:cNvSpPr>
            <a:spLocks noGrp="1"/>
          </p:cNvSpPr>
          <p:nvPr>
            <p:ph idx="1"/>
          </p:nvPr>
        </p:nvSpPr>
        <p:spPr>
          <a:xfrm>
            <a:off x="616204" y="1066800"/>
            <a:ext cx="7772400" cy="4953000"/>
          </a:xfrm>
        </p:spPr>
        <p:txBody>
          <a:bodyPr/>
          <a:lstStyle/>
          <a:p>
            <a:pPr algn="just"/>
            <a:r>
              <a:rPr lang="ne-NP" dirty="0">
                <a:cs typeface="Kalimati" panose="00000400000000000000" pitchFamily="2"/>
              </a:rPr>
              <a:t> दफा ६७ को उपदफा </a:t>
            </a:r>
            <a:r>
              <a:rPr lang="en-US" dirty="0">
                <a:latin typeface="Calibri" panose="020F0502020204030204" pitchFamily="34" charset="0"/>
                <a:cs typeface="Kalimati" panose="00000400000000000000" pitchFamily="2"/>
              </a:rPr>
              <a:t>(</a:t>
            </a:r>
            <a:r>
              <a:rPr lang="ne-NP" dirty="0">
                <a:cs typeface="Kalimati" panose="00000400000000000000" pitchFamily="2"/>
              </a:rPr>
              <a:t>३</a:t>
            </a:r>
            <a:r>
              <a:rPr lang="en-US" dirty="0">
                <a:latin typeface="Calibri" panose="020F0502020204030204" pitchFamily="34" charset="0"/>
                <a:cs typeface="Kalimati" panose="00000400000000000000" pitchFamily="2"/>
              </a:rPr>
              <a:t>)</a:t>
            </a:r>
            <a:r>
              <a:rPr lang="ne-NP" dirty="0">
                <a:latin typeface="Calibri" panose="020F0502020204030204" pitchFamily="34" charset="0"/>
                <a:cs typeface="Kalimati" panose="00000400000000000000" pitchFamily="2"/>
              </a:rPr>
              <a:t> बमोजिम</a:t>
            </a:r>
            <a:r>
              <a:rPr lang="ne-NP" dirty="0">
                <a:cs typeface="Kalimati" panose="00000400000000000000" pitchFamily="2"/>
              </a:rPr>
              <a:t> उपदफा </a:t>
            </a:r>
            <a:r>
              <a:rPr lang="en-US" dirty="0">
                <a:latin typeface="Calibri" panose="020F0502020204030204" pitchFamily="34" charset="0"/>
                <a:cs typeface="Kalimati" panose="00000400000000000000" pitchFamily="2"/>
              </a:rPr>
              <a:t>(</a:t>
            </a:r>
            <a:r>
              <a:rPr lang="ne-NP" dirty="0">
                <a:cs typeface="Kalimati" panose="00000400000000000000" pitchFamily="2"/>
              </a:rPr>
              <a:t>१</a:t>
            </a:r>
            <a:r>
              <a:rPr lang="en-US" dirty="0">
                <a:latin typeface="Calibri" panose="020F0502020204030204" pitchFamily="34" charset="0"/>
                <a:cs typeface="Kalimati" panose="00000400000000000000" pitchFamily="2"/>
              </a:rPr>
              <a:t>)</a:t>
            </a:r>
            <a:r>
              <a:rPr lang="ne-NP" dirty="0">
                <a:cs typeface="Kalimati" panose="00000400000000000000" pitchFamily="2"/>
              </a:rPr>
              <a:t> वा </a:t>
            </a:r>
            <a:r>
              <a:rPr lang="en-US" dirty="0">
                <a:latin typeface="Calibri" panose="020F0502020204030204" pitchFamily="34" charset="0"/>
                <a:cs typeface="Kalimati" panose="00000400000000000000" pitchFamily="2"/>
              </a:rPr>
              <a:t>(</a:t>
            </a:r>
            <a:r>
              <a:rPr lang="ne-NP" dirty="0">
                <a:cs typeface="Kalimati" panose="00000400000000000000" pitchFamily="2"/>
              </a:rPr>
              <a:t>२</a:t>
            </a:r>
            <a:r>
              <a:rPr lang="en-US" dirty="0">
                <a:latin typeface="Calibri" panose="020F0502020204030204" pitchFamily="34" charset="0"/>
                <a:cs typeface="Kalimati" panose="00000400000000000000" pitchFamily="2"/>
              </a:rPr>
              <a:t> )</a:t>
            </a:r>
            <a:r>
              <a:rPr lang="ne-NP" dirty="0">
                <a:cs typeface="Kalimati" panose="00000400000000000000" pitchFamily="2"/>
              </a:rPr>
              <a:t> मा जुनसुकै कुरा लेखिएको भए पनि </a:t>
            </a:r>
            <a:r>
              <a:rPr lang="ne-NP" sz="2000" b="1" dirty="0">
                <a:cs typeface="Kalimati" pitchFamily="2"/>
              </a:rPr>
              <a:t>दश बर्षसम्म कैद सजाय हुन सक्ने कसुरमा निम्न अवस्थामा धरौट वा जमानत लिन सक्ने।दफा ६७(३)</a:t>
            </a:r>
          </a:p>
          <a:p>
            <a:pPr marL="854075" indent="-509588" algn="just">
              <a:lnSpc>
                <a:spcPct val="150000"/>
              </a:lnSpc>
            </a:pPr>
            <a:r>
              <a:rPr lang="ne-NP" sz="2400" dirty="0">
                <a:cs typeface="Kalimati" pitchFamily="2"/>
              </a:rPr>
              <a:t>बालबालिका</a:t>
            </a:r>
          </a:p>
          <a:p>
            <a:pPr marL="854075" indent="-509588" algn="just">
              <a:lnSpc>
                <a:spcPct val="150000"/>
              </a:lnSpc>
            </a:pPr>
            <a:r>
              <a:rPr lang="ne-NP" sz="2400" dirty="0">
                <a:cs typeface="Kalimati" pitchFamily="2"/>
              </a:rPr>
              <a:t>शारीरिक वा मानसिक रोग लागी अशक्त भएको</a:t>
            </a:r>
          </a:p>
          <a:p>
            <a:pPr marL="854075" indent="-509588" algn="just">
              <a:lnSpc>
                <a:spcPct val="150000"/>
              </a:lnSpc>
            </a:pPr>
            <a:r>
              <a:rPr lang="ne-NP" sz="2400" dirty="0">
                <a:cs typeface="Kalimati" pitchFamily="2"/>
              </a:rPr>
              <a:t>सात महिना भन्दा बढीको गर्भवती महिला</a:t>
            </a:r>
          </a:p>
          <a:p>
            <a:pPr marL="854075" indent="-509588" algn="just">
              <a:lnSpc>
                <a:spcPct val="150000"/>
              </a:lnSpc>
            </a:pPr>
            <a:r>
              <a:rPr lang="ne-NP" sz="2400" dirty="0">
                <a:cs typeface="Kalimati" pitchFamily="2"/>
              </a:rPr>
              <a:t>पचहत्तर बर्षमाथिको बृद्ध </a:t>
            </a:r>
            <a:endParaRPr lang="en-US" sz="2800" dirty="0">
              <a:cs typeface="Kalimati"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15</a:t>
            </a:fld>
            <a:endParaRPr lang="en-US"/>
          </a:p>
        </p:txBody>
      </p:sp>
    </p:spTree>
    <p:extLst>
      <p:ext uri="{BB962C8B-B14F-4D97-AF65-F5344CB8AC3E}">
        <p14:creationId xmlns:p14="http://schemas.microsoft.com/office/powerpoint/2010/main" val="1255127334"/>
      </p:ext>
    </p:extLst>
  </p:cSld>
  <p:clrMapOvr>
    <a:masterClrMapping/>
  </p:clrMapOvr>
  <p:transition spd="slow">
    <p:wedg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8610600" cy="609600"/>
          </a:xfrm>
        </p:spPr>
        <p:txBody>
          <a:bodyPr>
            <a:normAutofit fontScale="90000"/>
          </a:bodyPr>
          <a:lstStyle/>
          <a:p>
            <a:br>
              <a:rPr lang="en-US" altLang="en-US" b="1" dirty="0">
                <a:latin typeface="Preeti" pitchFamily="2" charset="0"/>
              </a:rPr>
            </a:br>
            <a:br>
              <a:rPr lang="en-US" altLang="en-US" b="1" dirty="0">
                <a:latin typeface="Preeti" pitchFamily="2" charset="0"/>
              </a:rPr>
            </a:br>
            <a:br>
              <a:rPr lang="en-US" altLang="en-US" b="1" dirty="0">
                <a:latin typeface="Preeti" pitchFamily="2" charset="0"/>
              </a:rPr>
            </a:br>
            <a:br>
              <a:rPr lang="en-US" altLang="en-US" b="1" dirty="0">
                <a:latin typeface="Preeti" pitchFamily="2" charset="0"/>
              </a:rPr>
            </a:br>
            <a:br>
              <a:rPr lang="en-US" altLang="en-US" b="1" dirty="0">
                <a:latin typeface="Preeti" pitchFamily="2" charset="0"/>
              </a:rPr>
            </a:br>
            <a:r>
              <a:rPr lang="ne-NP" altLang="en-US" b="1" dirty="0">
                <a:latin typeface="Preeti" pitchFamily="2" charset="0"/>
              </a:rPr>
              <a:t> </a:t>
            </a: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r>
              <a:rPr lang="ne-NP" altLang="en-US" sz="2700" b="1" dirty="0">
                <a:solidFill>
                  <a:schemeClr val="tx1"/>
                </a:solidFill>
                <a:latin typeface="Preeti" pitchFamily="2" charset="0"/>
                <a:cs typeface="Kalimati" panose="00000400000000000000" pitchFamily="2"/>
              </a:rPr>
              <a:t>अभियुक्तसँग धरौट वा जमानत वा बैङ्क जमानत लिने (दफा ६८)</a:t>
            </a: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br>
              <a:rPr lang="ne-NP" altLang="en-US" b="1" dirty="0">
                <a:latin typeface="Preeti" pitchFamily="2" charset="0"/>
              </a:rPr>
            </a:br>
            <a:endParaRPr lang="en-US" sz="2700" b="1" dirty="0">
              <a:solidFill>
                <a:schemeClr val="tx1"/>
              </a:solidFill>
              <a:cs typeface="Kalimati" panose="00000400000000000000" pitchFamily="2"/>
            </a:endParaRPr>
          </a:p>
        </p:txBody>
      </p:sp>
      <p:sp>
        <p:nvSpPr>
          <p:cNvPr id="4" name="Content Placeholder 3"/>
          <p:cNvSpPr>
            <a:spLocks noGrp="1"/>
          </p:cNvSpPr>
          <p:nvPr>
            <p:ph idx="1"/>
          </p:nvPr>
        </p:nvSpPr>
        <p:spPr>
          <a:xfrm>
            <a:off x="533400" y="914400"/>
            <a:ext cx="8229600" cy="4800600"/>
          </a:xfrm>
        </p:spPr>
        <p:txBody>
          <a:bodyPr>
            <a:normAutofit fontScale="92500" lnSpcReduction="10000"/>
          </a:bodyPr>
          <a:lstStyle/>
          <a:p>
            <a:pPr algn="just">
              <a:lnSpc>
                <a:spcPct val="150000"/>
              </a:lnSpc>
              <a:buFont typeface="Wingdings" pitchFamily="2" charset="2"/>
              <a:buChar char="§"/>
            </a:pPr>
            <a:r>
              <a:rPr lang="ne-NP" sz="2400" dirty="0">
                <a:cs typeface="Kalimati" pitchFamily="2"/>
              </a:rPr>
              <a:t>दफा ६७ को अवस्था हुनेमा बाहेक अभियुक्त उपरको अभियोग प्रमाणित हुने </a:t>
            </a:r>
            <a:r>
              <a:rPr lang="ne-NP" sz="2400" b="1" i="1" dirty="0">
                <a:cs typeface="Kalimati" pitchFamily="2"/>
              </a:rPr>
              <a:t>मनासिब आधार </a:t>
            </a:r>
            <a:r>
              <a:rPr lang="ne-NP" sz="2400" dirty="0">
                <a:cs typeface="Kalimati" pitchFamily="2"/>
              </a:rPr>
              <a:t>भएमा अदालतले ‍धरौट जमानत वा बैङ्क जमानत माग्न सक्ने </a:t>
            </a:r>
          </a:p>
          <a:p>
            <a:pPr algn="just">
              <a:lnSpc>
                <a:spcPct val="150000"/>
              </a:lnSpc>
              <a:buFont typeface="Wingdings" pitchFamily="2" charset="2"/>
              <a:buChar char="§"/>
            </a:pPr>
            <a:r>
              <a:rPr lang="ne-NP" sz="2400" dirty="0">
                <a:cs typeface="Kalimati" pitchFamily="2"/>
              </a:rPr>
              <a:t>बैंक जमानत </a:t>
            </a:r>
            <a:r>
              <a:rPr lang="ne-NP" sz="2400" b="1" i="1" dirty="0">
                <a:cs typeface="Kalimati" pitchFamily="2"/>
              </a:rPr>
              <a:t>बिना शर्तको</a:t>
            </a:r>
            <a:r>
              <a:rPr lang="ne-NP" sz="2400" dirty="0">
                <a:cs typeface="Kalimati" pitchFamily="2"/>
              </a:rPr>
              <a:t> र अदालतले तोकेको अवधिसम्म अद्याबधिक हुन सक्ने</a:t>
            </a:r>
          </a:p>
          <a:p>
            <a:pPr algn="just">
              <a:lnSpc>
                <a:spcPct val="150000"/>
              </a:lnSpc>
              <a:buFont typeface="Wingdings" pitchFamily="2" charset="2"/>
              <a:buChar char="§"/>
            </a:pPr>
            <a:r>
              <a:rPr lang="ne-NP" sz="2400" b="1" i="1" dirty="0">
                <a:cs typeface="Kalimati" pitchFamily="2"/>
              </a:rPr>
              <a:t>अपर्याप्त भएको देखिएमा </a:t>
            </a:r>
            <a:r>
              <a:rPr lang="ne-NP" sz="2400" dirty="0">
                <a:cs typeface="Kalimati" pitchFamily="2"/>
              </a:rPr>
              <a:t>थप धरौट</a:t>
            </a:r>
            <a:r>
              <a:rPr lang="en-US" sz="2400" dirty="0">
                <a:cs typeface="Kalimati" pitchFamily="2"/>
              </a:rPr>
              <a:t>,</a:t>
            </a:r>
            <a:r>
              <a:rPr lang="ne-NP" sz="2400" dirty="0">
                <a:cs typeface="Kalimati" pitchFamily="2"/>
              </a:rPr>
              <a:t> जमानत वा बैंक जमानत माग गर्न सक्ने (७०) </a:t>
            </a:r>
          </a:p>
          <a:p>
            <a:pPr algn="just">
              <a:lnSpc>
                <a:spcPct val="150000"/>
              </a:lnSpc>
              <a:buFont typeface="Wingdings" pitchFamily="2" charset="2"/>
              <a:buChar char="§"/>
            </a:pPr>
            <a:r>
              <a:rPr lang="ne-NP" sz="2400" dirty="0">
                <a:cs typeface="Kalimati" pitchFamily="2"/>
              </a:rPr>
              <a:t>माग बमोजिम धरौट</a:t>
            </a:r>
            <a:r>
              <a:rPr lang="en-US" sz="2400" dirty="0">
                <a:cs typeface="Kalimati" pitchFamily="2"/>
              </a:rPr>
              <a:t>,</a:t>
            </a:r>
            <a:r>
              <a:rPr lang="ne-NP" sz="2400" dirty="0">
                <a:cs typeface="Kalimati" pitchFamily="2"/>
              </a:rPr>
              <a:t> जमानत वा बैंक </a:t>
            </a:r>
            <a:r>
              <a:rPr lang="ne-NP" sz="2400" b="1" i="1" dirty="0">
                <a:cs typeface="Kalimati" pitchFamily="2"/>
              </a:rPr>
              <a:t>जमानत नदिने </a:t>
            </a:r>
            <a:r>
              <a:rPr lang="ne-NP" sz="2400" dirty="0">
                <a:cs typeface="Kalimati" pitchFamily="2"/>
              </a:rPr>
              <a:t>अभियुक्तलाई अदालतले थुनामा राख्‍ने। </a:t>
            </a:r>
          </a:p>
        </p:txBody>
      </p:sp>
      <p:sp>
        <p:nvSpPr>
          <p:cNvPr id="3" name="Slide Number Placeholder 2"/>
          <p:cNvSpPr>
            <a:spLocks noGrp="1"/>
          </p:cNvSpPr>
          <p:nvPr>
            <p:ph type="sldNum" sz="quarter" idx="12"/>
          </p:nvPr>
        </p:nvSpPr>
        <p:spPr/>
        <p:txBody>
          <a:bodyPr/>
          <a:lstStyle/>
          <a:p>
            <a:fld id="{26EA1BC9-060C-4734-A581-933889F0292E}" type="slidenum">
              <a:rPr lang="en-US" smtClean="0"/>
              <a:pPr/>
              <a:t>16</a:t>
            </a:fld>
            <a:endParaRPr lang="en-US"/>
          </a:p>
        </p:txBody>
      </p:sp>
    </p:spTree>
  </p:cSld>
  <p:clrMapOvr>
    <a:masterClrMapping/>
  </p:clrMapOvr>
  <p:transition spd="slow">
    <p:wedg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36524"/>
            <a:ext cx="8210550" cy="544513"/>
          </a:xfrm>
        </p:spPr>
        <p:txBody>
          <a:bodyPr>
            <a:normAutofit/>
          </a:bodyPr>
          <a:lstStyle/>
          <a:p>
            <a:r>
              <a:rPr lang="ne-NP" sz="2400" b="1" dirty="0">
                <a:solidFill>
                  <a:schemeClr val="tx1"/>
                </a:solidFill>
                <a:latin typeface="Preeti" pitchFamily="2" charset="0"/>
                <a:cs typeface="Kalimati" panose="00000400000000000000" pitchFamily="2"/>
              </a:rPr>
              <a:t>धरौट, जमानत वा बैङ्क जमानतको रकम तोक्ने आधार (दफा ७२)</a:t>
            </a:r>
            <a:endParaRPr lang="en-US" sz="2400" b="1" dirty="0">
              <a:solidFill>
                <a:schemeClr val="tx1"/>
              </a:solidFill>
              <a:cs typeface="Kalimati" panose="00000400000000000000" pitchFamily="2"/>
            </a:endParaRPr>
          </a:p>
        </p:txBody>
      </p:sp>
      <p:sp>
        <p:nvSpPr>
          <p:cNvPr id="4" name="Content Placeholder 3"/>
          <p:cNvSpPr>
            <a:spLocks noGrp="1"/>
          </p:cNvSpPr>
          <p:nvPr>
            <p:ph idx="1"/>
          </p:nvPr>
        </p:nvSpPr>
        <p:spPr>
          <a:xfrm>
            <a:off x="381000" y="762000"/>
            <a:ext cx="8134350" cy="5414963"/>
          </a:xfrm>
        </p:spPr>
        <p:txBody>
          <a:bodyPr>
            <a:noAutofit/>
          </a:bodyPr>
          <a:lstStyle/>
          <a:p>
            <a:pPr>
              <a:buNone/>
            </a:pPr>
            <a:r>
              <a:rPr lang="ne-NP" sz="2100" dirty="0">
                <a:latin typeface="Preeti" pitchFamily="2" charset="0"/>
                <a:cs typeface="Kalimati" panose="00000400000000000000" pitchFamily="2"/>
              </a:rPr>
              <a:t> यस परिच्छेद बमोजिम लिनु पर्ने धरौट, जमानत वा बैङ्क जमानतको रकम तोक्दा देहायको कुरा विचार गरी मनासिब किसिमले तोक्नु पर्छः– </a:t>
            </a:r>
          </a:p>
          <a:p>
            <a:pPr>
              <a:buNone/>
            </a:pPr>
            <a:r>
              <a:rPr lang="ne-NP" sz="2100" dirty="0">
                <a:latin typeface="Preeti" pitchFamily="2" charset="0"/>
                <a:cs typeface="Kalimati" panose="00000400000000000000" pitchFamily="2"/>
              </a:rPr>
              <a:t>(क) कसूरको प्रकृति र गम्भीरता, </a:t>
            </a:r>
          </a:p>
          <a:p>
            <a:pPr>
              <a:buNone/>
            </a:pPr>
            <a:r>
              <a:rPr lang="ne-NP" sz="2100" dirty="0">
                <a:latin typeface="Preeti" pitchFamily="2" charset="0"/>
                <a:cs typeface="Kalimati" panose="00000400000000000000" pitchFamily="2"/>
              </a:rPr>
              <a:t>(ख) अभियुक्त वा कसूरदारको आर्थिक अवस्था तथा पारिवारिक स्थिति, </a:t>
            </a:r>
          </a:p>
          <a:p>
            <a:pPr>
              <a:buNone/>
            </a:pPr>
            <a:r>
              <a:rPr lang="ne-NP" sz="2100" dirty="0">
                <a:latin typeface="Preeti" pitchFamily="2" charset="0"/>
                <a:cs typeface="Kalimati" panose="00000400000000000000" pitchFamily="2"/>
              </a:rPr>
              <a:t>(ग) अभियुक्त वा कसूरदारको उमेर र शारीरिक स्थिति, </a:t>
            </a:r>
          </a:p>
          <a:p>
            <a:pPr>
              <a:buNone/>
            </a:pPr>
            <a:r>
              <a:rPr lang="ne-NP" sz="2100" dirty="0">
                <a:latin typeface="Preeti" pitchFamily="2" charset="0"/>
                <a:cs typeface="Kalimati" panose="00000400000000000000" pitchFamily="2"/>
              </a:rPr>
              <a:t>(घ) निजले पहिले कुनै कसूरमा कसूरदार ठहरी सजाय पाएको वा नपाएको, </a:t>
            </a:r>
          </a:p>
          <a:p>
            <a:pPr>
              <a:buNone/>
            </a:pPr>
            <a:r>
              <a:rPr lang="ne-NP" sz="2100" dirty="0">
                <a:latin typeface="Preeti" pitchFamily="2" charset="0"/>
                <a:cs typeface="Kalimati" panose="00000400000000000000" pitchFamily="2"/>
              </a:rPr>
              <a:t>(ङ) निजले एकै वारदातमा विभिन्न कसूर गरे वा नगरेको, </a:t>
            </a:r>
          </a:p>
          <a:p>
            <a:pPr>
              <a:buNone/>
            </a:pPr>
            <a:r>
              <a:rPr lang="ne-NP" sz="2100" dirty="0">
                <a:latin typeface="Preeti" pitchFamily="2" charset="0"/>
                <a:cs typeface="Kalimati" panose="00000400000000000000" pitchFamily="2"/>
              </a:rPr>
              <a:t>(च) निजलाई भएको वा हुन सक्ने सजाय र निजले व्यहोर्नु पर्ने क्षतिपूर्ति, </a:t>
            </a:r>
          </a:p>
          <a:p>
            <a:pPr>
              <a:buNone/>
            </a:pPr>
            <a:r>
              <a:rPr lang="ne-NP" sz="2100" dirty="0">
                <a:latin typeface="Preeti" pitchFamily="2" charset="0"/>
                <a:cs typeface="Kalimati" panose="00000400000000000000" pitchFamily="2"/>
              </a:rPr>
              <a:t>(छ) कसूरबाट सृजित परिणाम, </a:t>
            </a:r>
          </a:p>
          <a:p>
            <a:pPr>
              <a:buNone/>
            </a:pPr>
            <a:r>
              <a:rPr lang="ne-NP" sz="2100" dirty="0">
                <a:latin typeface="Preeti" pitchFamily="2" charset="0"/>
                <a:cs typeface="Kalimati" panose="00000400000000000000" pitchFamily="2"/>
              </a:rPr>
              <a:t>(ज) कसूरमा साबिती भए वा नभएको, </a:t>
            </a:r>
          </a:p>
          <a:p>
            <a:pPr>
              <a:buNone/>
            </a:pPr>
            <a:r>
              <a:rPr lang="ne-NP" sz="2100" dirty="0">
                <a:latin typeface="Preeti" pitchFamily="2" charset="0"/>
                <a:cs typeface="Kalimati" panose="00000400000000000000" pitchFamily="2"/>
              </a:rPr>
              <a:t>(झ) असहाय वा अशक्त ब्यक्ति वा गर्भवती वा दुधे बालबालिका भएकी महिला अभियुक्त रहेको । </a:t>
            </a:r>
          </a:p>
          <a:p>
            <a:pPr>
              <a:buNone/>
            </a:pPr>
            <a:endParaRPr lang="ne-NP" sz="2100" dirty="0">
              <a:latin typeface="Preeti" pitchFamily="2" charset="0"/>
              <a:cs typeface="Kalimati" panose="00000400000000000000" pitchFamily="2"/>
            </a:endParaRPr>
          </a:p>
          <a:p>
            <a:pPr>
              <a:buNone/>
            </a:pPr>
            <a:endParaRPr lang="ne-NP" sz="2100" dirty="0">
              <a:latin typeface="Preeti" pitchFamily="2" charset="0"/>
              <a:cs typeface="Kalimati" panose="00000400000000000000" pitchFamily="2"/>
            </a:endParaRPr>
          </a:p>
          <a:p>
            <a:endParaRPr lang="en-US" sz="2200" dirty="0"/>
          </a:p>
        </p:txBody>
      </p:sp>
      <p:sp>
        <p:nvSpPr>
          <p:cNvPr id="3" name="Slide Number Placeholder 2"/>
          <p:cNvSpPr>
            <a:spLocks noGrp="1"/>
          </p:cNvSpPr>
          <p:nvPr>
            <p:ph type="sldNum" sz="quarter" idx="12"/>
          </p:nvPr>
        </p:nvSpPr>
        <p:spPr/>
        <p:txBody>
          <a:bodyPr/>
          <a:lstStyle/>
          <a:p>
            <a:fld id="{26EA1BC9-060C-4734-A581-933889F0292E}" type="slidenum">
              <a:rPr lang="en-US" smtClean="0"/>
              <a:pPr/>
              <a:t>17</a:t>
            </a:fld>
            <a:endParaRPr lang="en-US"/>
          </a:p>
        </p:txBody>
      </p:sp>
    </p:spTree>
    <p:extLst>
      <p:ext uri="{BB962C8B-B14F-4D97-AF65-F5344CB8AC3E}">
        <p14:creationId xmlns:p14="http://schemas.microsoft.com/office/powerpoint/2010/main" val="3020136506"/>
      </p:ext>
    </p:extLst>
  </p:cSld>
  <p:clrMapOvr>
    <a:masterClrMapping/>
  </p:clrMapOvr>
  <p:transition spd="slow">
    <p:wedg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dirty="0">
                <a:cs typeface="Kalimati" panose="00000400000000000000" pitchFamily="2"/>
              </a:rPr>
              <a:t>धरौट तथा जमानत निर्देशिका</a:t>
            </a:r>
            <a:r>
              <a:rPr lang="en-US" dirty="0">
                <a:cs typeface="Kalimati" panose="00000400000000000000" pitchFamily="2"/>
              </a:rPr>
              <a:t>,</a:t>
            </a:r>
            <a:r>
              <a:rPr lang="ne-NP" dirty="0">
                <a:cs typeface="Kalimati" panose="00000400000000000000" pitchFamily="2"/>
              </a:rPr>
              <a:t> २०७५</a:t>
            </a:r>
            <a:endParaRPr lang="en-US" dirty="0">
              <a:cs typeface="Kalimati" panose="00000400000000000000" pitchFamily="2"/>
            </a:endParaRPr>
          </a:p>
        </p:txBody>
      </p:sp>
      <p:sp>
        <p:nvSpPr>
          <p:cNvPr id="4" name="Content Placeholder 3"/>
          <p:cNvSpPr>
            <a:spLocks noGrp="1"/>
          </p:cNvSpPr>
          <p:nvPr>
            <p:ph idx="1"/>
          </p:nvPr>
        </p:nvSpPr>
        <p:spPr/>
        <p:txBody>
          <a:bodyPr/>
          <a:lstStyle/>
          <a:p>
            <a:r>
              <a:rPr lang="ne-NP" dirty="0">
                <a:cs typeface="Kalimati" panose="00000400000000000000" pitchFamily="2"/>
              </a:rPr>
              <a:t>फौजदारी कार्यविधि संहिता २०७५ को दफा १९७ ले दिएको अधिकार प्रयोग गरी सर्वोच्च अदालतले </a:t>
            </a:r>
            <a:r>
              <a:rPr lang="ne-NP" dirty="0">
                <a:cs typeface="Kalimati" panose="00000400000000000000" pitchFamily="2"/>
                <a:hlinkClick r:id="rId2" action="ppaction://hlinkfile"/>
              </a:rPr>
              <a:t>धरौट तथा जमानत निर्देशीका</a:t>
            </a:r>
            <a:r>
              <a:rPr lang="en-US" dirty="0">
                <a:cs typeface="Kalimati" panose="00000400000000000000" pitchFamily="2"/>
                <a:hlinkClick r:id="rId2" action="ppaction://hlinkfile"/>
              </a:rPr>
              <a:t>,</a:t>
            </a:r>
            <a:r>
              <a:rPr lang="ne-NP" dirty="0">
                <a:cs typeface="Kalimati" panose="00000400000000000000" pitchFamily="2"/>
                <a:hlinkClick r:id="rId2" action="ppaction://hlinkfile"/>
              </a:rPr>
              <a:t> २०७५ </a:t>
            </a:r>
            <a:r>
              <a:rPr lang="ne-NP" dirty="0">
                <a:cs typeface="Kalimati" panose="00000400000000000000" pitchFamily="2"/>
              </a:rPr>
              <a:t>तर्जुमा गरी जारी गरेको छ ।</a:t>
            </a:r>
          </a:p>
          <a:p>
            <a:r>
              <a:rPr lang="ne-NP" dirty="0">
                <a:cs typeface="Kalimati" panose="00000400000000000000" pitchFamily="2"/>
              </a:rPr>
              <a:t>उक्त निर्देशिकाले के कुन अबस्थामा अदालतले कसरी अभियुक्तबाट धरौट तथा जमानत लिन सकिने भन्ने सम्बन्धमा विविध व्यवस्था गरेको छ।</a:t>
            </a:r>
            <a:endParaRPr lang="en-US" dirty="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18</a:t>
            </a:fld>
            <a:endParaRPr lang="en-US"/>
          </a:p>
        </p:txBody>
      </p:sp>
    </p:spTree>
    <p:extLst>
      <p:ext uri="{BB962C8B-B14F-4D97-AF65-F5344CB8AC3E}">
        <p14:creationId xmlns:p14="http://schemas.microsoft.com/office/powerpoint/2010/main" val="1524096080"/>
      </p:ext>
    </p:extLst>
  </p:cSld>
  <p:clrMapOvr>
    <a:masterClrMapping/>
  </p:clrMapOvr>
  <p:transition spd="slow">
    <p:wedg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457200"/>
            <a:ext cx="6934200" cy="457200"/>
          </a:xfrm>
        </p:spPr>
        <p:txBody>
          <a:bodyPr>
            <a:noAutofit/>
          </a:bodyPr>
          <a:lstStyle/>
          <a:p>
            <a:r>
              <a:rPr lang="ne-NP" sz="3200" dirty="0">
                <a:latin typeface="Preeti" pitchFamily="2" charset="0"/>
              </a:rPr>
              <a:t> </a:t>
            </a:r>
            <a:br>
              <a:rPr lang="ne-NP" sz="3200" dirty="0">
                <a:latin typeface="Preeti" pitchFamily="2" charset="0"/>
              </a:rPr>
            </a:br>
            <a:r>
              <a:rPr lang="ne-NP" sz="2800" b="1" dirty="0">
                <a:solidFill>
                  <a:schemeClr val="tx1"/>
                </a:solidFill>
                <a:latin typeface="Preeti" pitchFamily="2" charset="0"/>
                <a:cs typeface="Kalimati" panose="00000400000000000000" pitchFamily="2"/>
              </a:rPr>
              <a:t>तारिखमा राख्नु पर्ने (दफा ६९)</a:t>
            </a:r>
            <a:endParaRPr lang="en-US" sz="2800" b="1" dirty="0">
              <a:solidFill>
                <a:schemeClr val="tx1"/>
              </a:solidFill>
              <a:cs typeface="Kalimati" panose="00000400000000000000" pitchFamily="2"/>
            </a:endParaRPr>
          </a:p>
        </p:txBody>
      </p:sp>
      <p:sp>
        <p:nvSpPr>
          <p:cNvPr id="4" name="Content Placeholder 3"/>
          <p:cNvSpPr>
            <a:spLocks noGrp="1"/>
          </p:cNvSpPr>
          <p:nvPr>
            <p:ph idx="1"/>
          </p:nvPr>
        </p:nvSpPr>
        <p:spPr>
          <a:xfrm>
            <a:off x="914400" y="1066800"/>
            <a:ext cx="7772400" cy="4953000"/>
          </a:xfrm>
        </p:spPr>
        <p:txBody>
          <a:bodyPr>
            <a:normAutofit/>
          </a:bodyPr>
          <a:lstStyle/>
          <a:p>
            <a:pPr marL="0" indent="0">
              <a:buNone/>
            </a:pPr>
            <a:r>
              <a:rPr lang="ne-NP" sz="2800" b="1" dirty="0">
                <a:solidFill>
                  <a:srgbClr val="00B0F0"/>
                </a:solidFill>
                <a:latin typeface="Preeti" pitchFamily="2" charset="0"/>
                <a:cs typeface="Kalimati" panose="00000400000000000000" pitchFamily="2"/>
              </a:rPr>
              <a:t>दफा ६७ र दफा ६८ को अवस्थामा बाहेक अन्य अवस्थामा अभियुक्त अदालतमा हाजिर भएपछि निजलाई तारिखमा राखी मुद्दाको पुर्पक्ष गर्नु पर्ने।</a:t>
            </a:r>
          </a:p>
          <a:p>
            <a:r>
              <a:rPr lang="ne-NP" sz="2800" b="1" dirty="0">
                <a:solidFill>
                  <a:srgbClr val="00B0F0"/>
                </a:solidFill>
                <a:latin typeface="Preeti" pitchFamily="2" charset="0"/>
                <a:cs typeface="Kalimati" panose="00000400000000000000" pitchFamily="2"/>
              </a:rPr>
              <a:t>मुद्दाको कारबाही जुनसुकै अवस्थामा पुगेको भए तापनि अदालतले प्रमाण बुझ्दै जाँदा अभियुक्तलाई थुनामा राख्न, वा धरौट, जमानत वा बैङ्क जमानत माग्न सक्ने</a:t>
            </a:r>
            <a:r>
              <a:rPr lang="ne-NP" sz="2800" b="1" dirty="0">
                <a:latin typeface="Preeti" pitchFamily="2" charset="0"/>
                <a:cs typeface="Kalimati" panose="00000400000000000000" pitchFamily="2"/>
              </a:rPr>
              <a:t>।(दफा ७१)</a:t>
            </a:r>
          </a:p>
          <a:p>
            <a:r>
              <a:rPr lang="ne-NP" sz="2800" dirty="0">
                <a:latin typeface="Preeti" pitchFamily="2" charset="0"/>
                <a:cs typeface="Kalimati" panose="00000400000000000000" pitchFamily="2"/>
              </a:rPr>
              <a:t>कसूरदार होइन भन्ने प्रमाणित हुन सक्ने कुनै मनासिब आधार प्राप्त हुन आएमा मुद्दाको कारबाही जुनसुकै अवस्थामा पुगेको भए पनि </a:t>
            </a:r>
            <a:r>
              <a:rPr lang="ne-NP" sz="2800" dirty="0">
                <a:solidFill>
                  <a:srgbClr val="00B0F0"/>
                </a:solidFill>
                <a:latin typeface="Preeti" pitchFamily="2" charset="0"/>
                <a:cs typeface="Kalimati" panose="00000400000000000000" pitchFamily="2"/>
              </a:rPr>
              <a:t>सुनुवाई गरी अदालतले थुनाबाट छोड्ने आदेश दिन सक्ने</a:t>
            </a:r>
            <a:r>
              <a:rPr lang="ne-NP" sz="2800" dirty="0">
                <a:latin typeface="Preeti" pitchFamily="2" charset="0"/>
                <a:cs typeface="Kalimati" panose="00000400000000000000" pitchFamily="2"/>
              </a:rPr>
              <a:t>।</a:t>
            </a:r>
            <a:r>
              <a:rPr lang="ne-NP" sz="2800" b="1" dirty="0">
                <a:latin typeface="Preeti" pitchFamily="2" charset="0"/>
                <a:cs typeface="Kalimati" panose="00000400000000000000" pitchFamily="2"/>
              </a:rPr>
              <a:t>(दफा ७१)</a:t>
            </a:r>
          </a:p>
          <a:p>
            <a:endParaRPr lang="en-US" sz="2800" dirty="0">
              <a:latin typeface="Preeti" pitchFamily="2" charset="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19</a:t>
            </a:fld>
            <a:endParaRPr lang="en-US"/>
          </a:p>
        </p:txBody>
      </p:sp>
    </p:spTree>
  </p:cSld>
  <p:clrMapOvr>
    <a:masterClrMapping/>
  </p:clrMapOvr>
  <p:transition spd="slow">
    <p:wedg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e-NP" dirty="0">
                <a:cs typeface="Kalimati" pitchFamily="2"/>
              </a:rPr>
              <a:t>थुनाबाट छाड्ने</a:t>
            </a:r>
            <a:endParaRPr lang="en-US" dirty="0"/>
          </a:p>
        </p:txBody>
      </p:sp>
      <p:sp>
        <p:nvSpPr>
          <p:cNvPr id="4" name="Content Placeholder 3"/>
          <p:cNvSpPr>
            <a:spLocks noGrp="1"/>
          </p:cNvSpPr>
          <p:nvPr>
            <p:ph idx="1"/>
          </p:nvPr>
        </p:nvSpPr>
        <p:spPr>
          <a:xfrm>
            <a:off x="457200" y="1371600"/>
            <a:ext cx="8058150" cy="4805363"/>
          </a:xfrm>
        </p:spPr>
        <p:txBody>
          <a:bodyPr/>
          <a:lstStyle/>
          <a:p>
            <a:pPr algn="just">
              <a:lnSpc>
                <a:spcPct val="150000"/>
              </a:lnSpc>
            </a:pPr>
            <a:r>
              <a:rPr lang="ne-NP" sz="2400" dirty="0">
                <a:cs typeface="Kalimati" pitchFamily="2"/>
              </a:rPr>
              <a:t>प्रमाण बुझ्न तोकेको </a:t>
            </a:r>
            <a:r>
              <a:rPr lang="ne-NP" sz="2400" b="1" dirty="0">
                <a:cs typeface="Kalimati" pitchFamily="2"/>
              </a:rPr>
              <a:t>पहिलो पेशीको १ वर्षभित्र</a:t>
            </a:r>
            <a:r>
              <a:rPr lang="ne-NP" sz="2400" b="1" i="1" dirty="0">
                <a:cs typeface="Kalimati" pitchFamily="2"/>
              </a:rPr>
              <a:t> </a:t>
            </a:r>
            <a:r>
              <a:rPr lang="ne-NP" sz="2400" dirty="0">
                <a:cs typeface="Kalimati" pitchFamily="2"/>
              </a:rPr>
              <a:t>मुद्दा फैसला नभएमा थुनामा रहेको भए </a:t>
            </a:r>
            <a:r>
              <a:rPr lang="ne-NP" sz="2400" b="1" dirty="0">
                <a:cs typeface="Kalimati" pitchFamily="2"/>
              </a:rPr>
              <a:t>धरौटी वा जमानत</a:t>
            </a:r>
            <a:r>
              <a:rPr lang="ne-NP" sz="2400" dirty="0">
                <a:cs typeface="Kalimati" pitchFamily="2"/>
              </a:rPr>
              <a:t> लिई छाड्न सक्ने। तर </a:t>
            </a:r>
            <a:r>
              <a:rPr lang="ne-NP" sz="2400" b="1" dirty="0">
                <a:cs typeface="Kalimati" pitchFamily="2"/>
              </a:rPr>
              <a:t>जन्म कैद</a:t>
            </a:r>
            <a:r>
              <a:rPr lang="ne-NP" sz="2400" dirty="0">
                <a:cs typeface="Kalimati" pitchFamily="2"/>
              </a:rPr>
              <a:t> वा </a:t>
            </a:r>
            <a:r>
              <a:rPr lang="ne-NP" sz="2400" b="1" dirty="0">
                <a:cs typeface="Kalimati" pitchFamily="2"/>
              </a:rPr>
              <a:t>१० वर्ष वा सो भन्दा वढी</a:t>
            </a:r>
            <a:r>
              <a:rPr lang="ne-NP" sz="2400" dirty="0">
                <a:cs typeface="Kalimati" pitchFamily="2"/>
              </a:rPr>
              <a:t> सजाय हुने कसूरको अभियुक्त र </a:t>
            </a:r>
            <a:r>
              <a:rPr lang="ne-NP" sz="2400" b="1" dirty="0">
                <a:cs typeface="Kalimati" pitchFamily="2"/>
              </a:rPr>
              <a:t>पटके </a:t>
            </a:r>
            <a:r>
              <a:rPr lang="ne-NP" sz="2400" dirty="0">
                <a:cs typeface="Kalimati" pitchFamily="2"/>
              </a:rPr>
              <a:t>अभियुक्तको हकमा यो व्यवस्था लागु नहुने। (७७)</a:t>
            </a:r>
            <a:endParaRPr lang="en-US" sz="2400" dirty="0">
              <a:cs typeface="Kalimati" pitchFamily="2"/>
            </a:endParaRPr>
          </a:p>
          <a:p>
            <a:endParaRPr lang="en-US" dirty="0"/>
          </a:p>
        </p:txBody>
      </p:sp>
      <p:sp>
        <p:nvSpPr>
          <p:cNvPr id="3" name="Slide Number Placeholder 2"/>
          <p:cNvSpPr>
            <a:spLocks noGrp="1"/>
          </p:cNvSpPr>
          <p:nvPr>
            <p:ph type="sldNum" sz="quarter" idx="12"/>
          </p:nvPr>
        </p:nvSpPr>
        <p:spPr/>
        <p:txBody>
          <a:bodyPr/>
          <a:lstStyle/>
          <a:p>
            <a:fld id="{26EA1BC9-060C-4734-A581-933889F0292E}" type="slidenum">
              <a:rPr lang="en-US" smtClean="0"/>
              <a:pPr/>
              <a:t>20</a:t>
            </a:fld>
            <a:endParaRPr lang="en-US"/>
          </a:p>
        </p:txBody>
      </p:sp>
    </p:spTree>
    <p:extLst>
      <p:ext uri="{BB962C8B-B14F-4D97-AF65-F5344CB8AC3E}">
        <p14:creationId xmlns:p14="http://schemas.microsoft.com/office/powerpoint/2010/main" val="2334816378"/>
      </p:ext>
    </p:extLst>
  </p:cSld>
  <p:clrMapOvr>
    <a:masterClrMapping/>
  </p:clrMapOvr>
  <p:transition spd="slow">
    <p:wedg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4904" y="304800"/>
            <a:ext cx="8001000" cy="685800"/>
          </a:xfrm>
        </p:spPr>
        <p:txBody>
          <a:bodyPr>
            <a:noAutofit/>
          </a:bodyPr>
          <a:lstStyle/>
          <a:p>
            <a:r>
              <a:rPr lang="ne-NP" sz="2400" b="1" dirty="0">
                <a:solidFill>
                  <a:schemeClr val="tx1"/>
                </a:solidFill>
                <a:cs typeface="Kalimati" panose="00000400000000000000" pitchFamily="2"/>
              </a:rPr>
              <a:t>पुनरावेदन सुन्ने अदालतमा निवेदन गर्न सकिने (दफा ७३)</a:t>
            </a:r>
            <a:endParaRPr lang="en-US" sz="2400" b="1" dirty="0">
              <a:solidFill>
                <a:schemeClr val="tx1"/>
              </a:solidFill>
              <a:cs typeface="Kalimati" panose="00000400000000000000" pitchFamily="2"/>
            </a:endParaRPr>
          </a:p>
        </p:txBody>
      </p:sp>
      <p:sp>
        <p:nvSpPr>
          <p:cNvPr id="4" name="Content Placeholder 3"/>
          <p:cNvSpPr>
            <a:spLocks noGrp="1"/>
          </p:cNvSpPr>
          <p:nvPr>
            <p:ph idx="1"/>
          </p:nvPr>
        </p:nvSpPr>
        <p:spPr>
          <a:xfrm>
            <a:off x="374904" y="990600"/>
            <a:ext cx="8007096" cy="5029200"/>
          </a:xfrm>
        </p:spPr>
        <p:txBody>
          <a:bodyPr>
            <a:normAutofit/>
          </a:bodyPr>
          <a:lstStyle/>
          <a:p>
            <a:r>
              <a:rPr lang="ne-NP" b="1" dirty="0">
                <a:latin typeface="Preeti" pitchFamily="2" charset="0"/>
                <a:cs typeface="Kalimati" panose="00000400000000000000" pitchFamily="2"/>
              </a:rPr>
              <a:t>यस परिच्छेद बमोजिम भएको थुनछेक वा तोकिएको धरौट, जमानत वा बैङ्क जमानतमा चित्त नबुझ्ने ब्यक्तिले</a:t>
            </a:r>
          </a:p>
          <a:p>
            <a:r>
              <a:rPr lang="ne-NP" b="1" dirty="0">
                <a:latin typeface="Preeti" pitchFamily="2" charset="0"/>
                <a:cs typeface="Kalimati" panose="00000400000000000000" pitchFamily="2"/>
              </a:rPr>
              <a:t>एक तहसम्म पुनरावेदन सुन्ने अदालतमा निवेदन दिन सक्ने। </a:t>
            </a:r>
          </a:p>
          <a:p>
            <a:r>
              <a:rPr lang="ne-NP" dirty="0">
                <a:solidFill>
                  <a:srgbClr val="00B0F0"/>
                </a:solidFill>
                <a:latin typeface="Preeti" pitchFamily="2" charset="0"/>
                <a:cs typeface="Kalimati" panose="00000400000000000000" pitchFamily="2"/>
              </a:rPr>
              <a:t>तर जन्मकैद वा दश वर्ष वा सोभन्दा बढी कैद सजाय हुन सक्ने कसूरमा भएको थुनछेकको आदेश वेरीत भएको प्रश्नमा </a:t>
            </a:r>
          </a:p>
          <a:p>
            <a:r>
              <a:rPr lang="ne-NP" dirty="0">
                <a:solidFill>
                  <a:srgbClr val="00B0F0"/>
                </a:solidFill>
                <a:latin typeface="Preeti" pitchFamily="2" charset="0"/>
                <a:cs typeface="Kalimati" panose="00000400000000000000" pitchFamily="2"/>
              </a:rPr>
              <a:t>एक तहभन्दा माथिको पुनरावेदन सुन्ने अदालतमा पनि निवेदन दिन सकिने।</a:t>
            </a:r>
            <a:endParaRPr lang="en-US" dirty="0">
              <a:solidFill>
                <a:srgbClr val="00B0F0"/>
              </a:solidFill>
              <a:latin typeface="Preeti" pitchFamily="2" charset="0"/>
              <a:cs typeface="Kalimati" panose="00000400000000000000" pitchFamily="2"/>
            </a:endParaRPr>
          </a:p>
          <a:p>
            <a:pPr marL="0" indent="0">
              <a:buNone/>
            </a:pPr>
            <a:r>
              <a:rPr lang="ne-NP" dirty="0">
                <a:solidFill>
                  <a:srgbClr val="00B0F0"/>
                </a:solidFill>
                <a:latin typeface="Preeti" pitchFamily="2" charset="0"/>
                <a:cs typeface="Kalimati" panose="00000400000000000000" pitchFamily="2"/>
              </a:rPr>
              <a:t> न्याय प्रशासन </a:t>
            </a:r>
            <a:r>
              <a:rPr lang="ne-NP" dirty="0">
                <a:solidFill>
                  <a:srgbClr val="00B0F0"/>
                </a:solidFill>
                <a:cs typeface="Kalimati" panose="00000400000000000000" pitchFamily="2"/>
              </a:rPr>
              <a:t>ऐन,</a:t>
            </a:r>
            <a:r>
              <a:rPr lang="en-US" dirty="0">
                <a:solidFill>
                  <a:srgbClr val="00B0F0"/>
                </a:solidFill>
                <a:cs typeface="Kalimati" panose="00000400000000000000" pitchFamily="2"/>
              </a:rPr>
              <a:t> </a:t>
            </a:r>
            <a:r>
              <a:rPr lang="ne-NP" dirty="0">
                <a:solidFill>
                  <a:srgbClr val="00B0F0"/>
                </a:solidFill>
                <a:cs typeface="Kalimati" panose="00000400000000000000" pitchFamily="2"/>
              </a:rPr>
              <a:t>२०७३ को दफा १५ को उपदफा २</a:t>
            </a:r>
            <a:r>
              <a:rPr lang="en-US" dirty="0">
                <a:solidFill>
                  <a:srgbClr val="00B0F0"/>
                </a:solidFill>
                <a:cs typeface="Kalimati" panose="00000400000000000000" pitchFamily="2"/>
              </a:rPr>
              <a:t>-</a:t>
            </a:r>
            <a:r>
              <a:rPr lang="ne-NP" dirty="0">
                <a:solidFill>
                  <a:srgbClr val="00B0F0"/>
                </a:solidFill>
                <a:cs typeface="Kalimati" panose="00000400000000000000" pitchFamily="2"/>
              </a:rPr>
              <a:t> </a:t>
            </a:r>
          </a:p>
          <a:p>
            <a:r>
              <a:rPr lang="ne-NP" dirty="0">
                <a:solidFill>
                  <a:srgbClr val="00B0F0"/>
                </a:solidFill>
                <a:cs typeface="Kalimati" panose="00000400000000000000" pitchFamily="2"/>
              </a:rPr>
              <a:t>माथि जुनसुकै कुरा लेखिएको भएतापनि दश वर्ष वा सो भन्दा बढी कैदको सजाय हुन सक्ने मुद्दामा </a:t>
            </a:r>
          </a:p>
          <a:p>
            <a:r>
              <a:rPr lang="ne-NP" dirty="0">
                <a:solidFill>
                  <a:srgbClr val="00B0F0"/>
                </a:solidFill>
                <a:cs typeface="Kalimati" panose="00000400000000000000" pitchFamily="2"/>
              </a:rPr>
              <a:t>प्रतिवादीलाई पुर्पक्षको लागि तारिख</a:t>
            </a:r>
            <a:r>
              <a:rPr lang="en-US" dirty="0">
                <a:solidFill>
                  <a:srgbClr val="00B0F0"/>
                </a:solidFill>
                <a:cs typeface="Kalimati" panose="00000400000000000000" pitchFamily="2"/>
              </a:rPr>
              <a:t>,</a:t>
            </a:r>
            <a:r>
              <a:rPr lang="ne-NP" dirty="0">
                <a:solidFill>
                  <a:srgbClr val="00B0F0"/>
                </a:solidFill>
                <a:cs typeface="Kalimati" panose="00000400000000000000" pitchFamily="2"/>
              </a:rPr>
              <a:t> जमानत वा थुनामा राख्ने गरी भएको आदेश उपर </a:t>
            </a:r>
          </a:p>
          <a:p>
            <a:r>
              <a:rPr lang="ne-NP" dirty="0">
                <a:solidFill>
                  <a:srgbClr val="00B050"/>
                </a:solidFill>
                <a:cs typeface="Kalimati" panose="00000400000000000000" pitchFamily="2"/>
              </a:rPr>
              <a:t>कानूनी त्रुटी वा कार्यविधि सम्बन्धी अनियमितताको प्रश्नमा सर्वोच्च अदालतमा निवेदन दिन बाधा पुरयाएको मानिने छैन।</a:t>
            </a:r>
            <a:endParaRPr lang="en-US" dirty="0">
              <a:solidFill>
                <a:srgbClr val="00B050"/>
              </a:solidFill>
              <a:latin typeface="Preeti" pitchFamily="2" charset="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21</a:t>
            </a:fld>
            <a:endParaRPr lang="en-US"/>
          </a:p>
        </p:txBody>
      </p:sp>
    </p:spTree>
  </p:cSld>
  <p:clrMapOvr>
    <a:masterClrMapping/>
  </p:clrMapOvr>
  <p:transition spd="slow">
    <p:wedg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404" y="457200"/>
            <a:ext cx="8375396" cy="971550"/>
          </a:xfrm>
        </p:spPr>
        <p:txBody>
          <a:bodyPr>
            <a:normAutofit fontScale="90000"/>
          </a:bodyPr>
          <a:lstStyle/>
          <a:p>
            <a:br>
              <a:rPr lang="ne-NP" sz="2800" b="1" dirty="0">
                <a:latin typeface="Preeti" pitchFamily="2" charset="0"/>
                <a:cs typeface="Kalimati" panose="00000400000000000000" pitchFamily="2"/>
              </a:rPr>
            </a:br>
            <a:br>
              <a:rPr lang="ne-NP" sz="2800" b="1" dirty="0">
                <a:latin typeface="Preeti" pitchFamily="2" charset="0"/>
                <a:cs typeface="Kalimati" panose="00000400000000000000" pitchFamily="2"/>
              </a:rPr>
            </a:br>
            <a:r>
              <a:rPr lang="ne-NP" sz="2800" b="1" dirty="0">
                <a:solidFill>
                  <a:schemeClr val="tx1"/>
                </a:solidFill>
                <a:latin typeface="Preeti" pitchFamily="2" charset="0"/>
                <a:cs typeface="Kalimati" panose="00000400000000000000" pitchFamily="2"/>
              </a:rPr>
              <a:t>धरौट, जमानत वा बैङ्क जमानत लिँदा कागज गराउनु पर्ने (दफा ७४)</a:t>
            </a:r>
            <a:br>
              <a:rPr lang="ne-NP" sz="2800" b="1" dirty="0">
                <a:latin typeface="Preeti" pitchFamily="2" charset="0"/>
                <a:cs typeface="Kalimati" panose="00000400000000000000" pitchFamily="2"/>
              </a:rPr>
            </a:br>
            <a:endParaRPr lang="en-US" sz="2800" b="1" dirty="0">
              <a:solidFill>
                <a:schemeClr val="tx1"/>
              </a:solidFill>
              <a:cs typeface="Kalimati" panose="00000400000000000000" pitchFamily="2"/>
            </a:endParaRPr>
          </a:p>
        </p:txBody>
      </p:sp>
      <p:sp>
        <p:nvSpPr>
          <p:cNvPr id="4" name="Content Placeholder 3"/>
          <p:cNvSpPr>
            <a:spLocks noGrp="1"/>
          </p:cNvSpPr>
          <p:nvPr>
            <p:ph idx="1"/>
          </p:nvPr>
        </p:nvSpPr>
        <p:spPr>
          <a:xfrm>
            <a:off x="457200" y="1600200"/>
            <a:ext cx="8382000" cy="5410200"/>
          </a:xfrm>
        </p:spPr>
        <p:txBody>
          <a:bodyPr>
            <a:normAutofit/>
          </a:bodyPr>
          <a:lstStyle/>
          <a:p>
            <a:r>
              <a:rPr lang="ne-NP" sz="2400" dirty="0">
                <a:latin typeface="Preeti" pitchFamily="2" charset="0"/>
                <a:cs typeface="Kalimati" panose="00000400000000000000" pitchFamily="2"/>
              </a:rPr>
              <a:t>यस परिच्छेद बमोजिम कुनै ब्यक्तिबाट धरौट लिँदा</a:t>
            </a:r>
          </a:p>
          <a:p>
            <a:pPr marL="0" indent="0">
              <a:buNone/>
            </a:pPr>
            <a:r>
              <a:rPr lang="ne-NP" sz="2400" b="1" dirty="0">
                <a:latin typeface="Preeti" pitchFamily="2" charset="0"/>
                <a:cs typeface="Kalimati" panose="00000400000000000000" pitchFamily="2"/>
              </a:rPr>
              <a:t> अदालतबाट तोकिएको समय र स्थानमा त्यस्तो ब्यक्ति उपस्थित    नभएमा धरौट जफत हुने शर्त उल्लेख गरी कागज गराउनु पर्ने</a:t>
            </a:r>
            <a:r>
              <a:rPr lang="ne-NP" sz="2400" dirty="0">
                <a:latin typeface="Preeti" pitchFamily="2" charset="0"/>
                <a:cs typeface="Kalimati" panose="00000400000000000000" pitchFamily="2"/>
              </a:rPr>
              <a:t>।</a:t>
            </a:r>
          </a:p>
          <a:p>
            <a:r>
              <a:rPr lang="ne-NP" sz="2400" dirty="0">
                <a:latin typeface="Preeti" pitchFamily="2" charset="0"/>
                <a:cs typeface="Kalimati" panose="00000400000000000000" pitchFamily="2"/>
              </a:rPr>
              <a:t>तोकिएको समयमा उपस्थित नहुने अभियुक्तले राखेको </a:t>
            </a:r>
            <a:br>
              <a:rPr lang="ne-NP" sz="2400" dirty="0">
                <a:latin typeface="Preeti" pitchFamily="2" charset="0"/>
                <a:cs typeface="Kalimati" panose="00000400000000000000" pitchFamily="2"/>
              </a:rPr>
            </a:br>
            <a:r>
              <a:rPr lang="ne-NP" sz="2400" dirty="0">
                <a:latin typeface="Preeti" pitchFamily="2" charset="0"/>
                <a:cs typeface="Kalimati" panose="00000400000000000000" pitchFamily="2"/>
              </a:rPr>
              <a:t>धरौट वा जमानत हुने।</a:t>
            </a:r>
          </a:p>
        </p:txBody>
      </p:sp>
      <p:sp>
        <p:nvSpPr>
          <p:cNvPr id="3" name="Slide Number Placeholder 2"/>
          <p:cNvSpPr>
            <a:spLocks noGrp="1"/>
          </p:cNvSpPr>
          <p:nvPr>
            <p:ph type="sldNum" sz="quarter" idx="12"/>
          </p:nvPr>
        </p:nvSpPr>
        <p:spPr/>
        <p:txBody>
          <a:bodyPr/>
          <a:lstStyle/>
          <a:p>
            <a:fld id="{26EA1BC9-060C-4734-A581-933889F0292E}" type="slidenum">
              <a:rPr lang="en-US" smtClean="0"/>
              <a:pPr/>
              <a:t>22</a:t>
            </a:fld>
            <a:endParaRPr lang="en-US"/>
          </a:p>
        </p:txBody>
      </p:sp>
    </p:spTree>
  </p:cSld>
  <p:clrMapOvr>
    <a:masterClrMapping/>
  </p:clrMapOvr>
  <p:transition spd="slow">
    <p:wedg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1"/>
            <a:ext cx="5181600" cy="533400"/>
          </a:xfrm>
        </p:spPr>
        <p:txBody>
          <a:bodyPr>
            <a:normAutofit fontScale="90000"/>
          </a:bodyPr>
          <a:lstStyle/>
          <a:p>
            <a:br>
              <a:rPr lang="ne-NP" dirty="0"/>
            </a:br>
            <a:r>
              <a:rPr lang="ne-NP" sz="3100" b="1" dirty="0">
                <a:latin typeface="+mn-lt"/>
                <a:ea typeface="+mn-ea"/>
                <a:cs typeface="Kalimati" pitchFamily="2"/>
              </a:rPr>
              <a:t>आदेश पर्चा खडा गर्नु पर्ने (७९)</a:t>
            </a:r>
            <a:br>
              <a:rPr lang="ne-NP" sz="3100" b="1" dirty="0">
                <a:latin typeface="+mn-lt"/>
                <a:ea typeface="+mn-ea"/>
                <a:cs typeface="Kalimati" pitchFamily="2"/>
              </a:rPr>
            </a:br>
            <a:endParaRPr lang="en-US" sz="3100" b="1" dirty="0">
              <a:latin typeface="+mn-lt"/>
              <a:ea typeface="+mn-ea"/>
              <a:cs typeface="Kalimati" pitchFamily="2"/>
            </a:endParaRPr>
          </a:p>
        </p:txBody>
      </p:sp>
      <p:sp>
        <p:nvSpPr>
          <p:cNvPr id="3" name="Content Placeholder 2"/>
          <p:cNvSpPr>
            <a:spLocks noGrp="1"/>
          </p:cNvSpPr>
          <p:nvPr>
            <p:ph idx="1"/>
          </p:nvPr>
        </p:nvSpPr>
        <p:spPr>
          <a:xfrm>
            <a:off x="457200" y="990600"/>
            <a:ext cx="8058150" cy="5186363"/>
          </a:xfrm>
        </p:spPr>
        <p:txBody>
          <a:bodyPr/>
          <a:lstStyle/>
          <a:p>
            <a:r>
              <a:rPr lang="ne-NP" dirty="0">
                <a:cs typeface="Kalimati" pitchFamily="2"/>
              </a:rPr>
              <a:t>कुनै अभियुक्तलाई </a:t>
            </a:r>
            <a:r>
              <a:rPr lang="ne-NP" dirty="0">
                <a:solidFill>
                  <a:srgbClr val="00B0F0"/>
                </a:solidFill>
                <a:cs typeface="Kalimati" pitchFamily="2"/>
              </a:rPr>
              <a:t>थुनामा राख्दा थुनामा राखिएको</a:t>
            </a:r>
            <a:r>
              <a:rPr lang="en-US" dirty="0">
                <a:solidFill>
                  <a:srgbClr val="00B0F0"/>
                </a:solidFill>
                <a:cs typeface="Kalimati" pitchFamily="2"/>
              </a:rPr>
              <a:t>,</a:t>
            </a:r>
            <a:r>
              <a:rPr lang="ne-NP" dirty="0">
                <a:solidFill>
                  <a:srgbClr val="00B0F0"/>
                </a:solidFill>
                <a:cs typeface="Kalimati" pitchFamily="2"/>
              </a:rPr>
              <a:t> अभियुक्तलाई छोड्दा वा कुनै अभियुक्तसँग धरौट वा जमानत लिँदा वा थपघट वा परिवर्तन गर्दा </a:t>
            </a:r>
            <a:r>
              <a:rPr lang="ne-NP" dirty="0">
                <a:cs typeface="Kalimati" pitchFamily="2"/>
              </a:rPr>
              <a:t>अदालतले कारण सहितको पर्चा खडा गर्नु पर्दछ। </a:t>
            </a:r>
          </a:p>
          <a:p>
            <a:r>
              <a:rPr lang="ne-NP" dirty="0">
                <a:cs typeface="Kalimati" pitchFamily="2"/>
              </a:rPr>
              <a:t>कुनै अभियुक्तलाई थुनामा राख्दा त्यसको </a:t>
            </a:r>
            <a:r>
              <a:rPr lang="ne-NP" dirty="0">
                <a:solidFill>
                  <a:srgbClr val="00B0F0"/>
                </a:solidFill>
                <a:cs typeface="Kalimati" pitchFamily="2"/>
              </a:rPr>
              <a:t>कानूनी आधार र कारण खुलाई </a:t>
            </a:r>
            <a:r>
              <a:rPr lang="ne-NP" dirty="0">
                <a:cs typeface="Kalimati" pitchFamily="2"/>
              </a:rPr>
              <a:t>अधिकार प्राप्त अधिकारीले अनुसूची ३२ बमोजिमको ढाँचामा </a:t>
            </a:r>
            <a:r>
              <a:rPr lang="ne-NP" dirty="0">
                <a:solidFill>
                  <a:srgbClr val="00B0F0"/>
                </a:solidFill>
                <a:cs typeface="Kalimati" pitchFamily="2"/>
              </a:rPr>
              <a:t>थुनुवा पूर्जी </a:t>
            </a:r>
            <a:r>
              <a:rPr lang="ne-NP" dirty="0">
                <a:cs typeface="Kalimati" pitchFamily="2"/>
              </a:rPr>
              <a:t>दिई थुनामा राख्नु पर्नेछ। (दफा ८०)</a:t>
            </a:r>
          </a:p>
          <a:p>
            <a:endParaRPr lang="en-US" dirty="0"/>
          </a:p>
        </p:txBody>
      </p:sp>
      <p:sp>
        <p:nvSpPr>
          <p:cNvPr id="4" name="Slide Number Placeholder 3"/>
          <p:cNvSpPr>
            <a:spLocks noGrp="1"/>
          </p:cNvSpPr>
          <p:nvPr>
            <p:ph type="sldNum" sz="quarter" idx="12"/>
          </p:nvPr>
        </p:nvSpPr>
        <p:spPr/>
        <p:txBody>
          <a:bodyPr/>
          <a:lstStyle/>
          <a:p>
            <a:fld id="{26EA1BC9-060C-4734-A581-933889F0292E}" type="slidenum">
              <a:rPr lang="en-US" smtClean="0"/>
              <a:pPr/>
              <a:t>23</a:t>
            </a:fld>
            <a:endParaRPr lang="en-US"/>
          </a:p>
        </p:txBody>
      </p:sp>
    </p:spTree>
    <p:extLst>
      <p:ext uri="{BB962C8B-B14F-4D97-AF65-F5344CB8AC3E}">
        <p14:creationId xmlns:p14="http://schemas.microsoft.com/office/powerpoint/2010/main" val="2612389982"/>
      </p:ext>
    </p:extLst>
  </p:cSld>
  <p:clrMapOvr>
    <a:masterClrMapping/>
  </p:clrMapOvr>
  <p:transition spd="slow">
    <p:wedg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6381750" cy="396873"/>
          </a:xfrm>
        </p:spPr>
        <p:txBody>
          <a:bodyPr>
            <a:normAutofit fontScale="90000"/>
          </a:bodyPr>
          <a:lstStyle/>
          <a:p>
            <a:r>
              <a:rPr lang="ne-NP" b="1" dirty="0">
                <a:cs typeface="Kalimati" pitchFamily="2"/>
              </a:rPr>
              <a:t>विशेष अदालत ऐन</a:t>
            </a:r>
            <a:r>
              <a:rPr lang="en-US" b="1" dirty="0">
                <a:cs typeface="Kalimati" pitchFamily="2"/>
              </a:rPr>
              <a:t>,</a:t>
            </a:r>
            <a:r>
              <a:rPr lang="ne-NP" b="1" dirty="0">
                <a:cs typeface="Kalimati" pitchFamily="2"/>
              </a:rPr>
              <a:t> २०५९ को व्यबस्था</a:t>
            </a:r>
            <a:endParaRPr lang="en-US" dirty="0"/>
          </a:p>
        </p:txBody>
      </p:sp>
      <p:sp>
        <p:nvSpPr>
          <p:cNvPr id="4" name="Content Placeholder 3"/>
          <p:cNvSpPr>
            <a:spLocks noGrp="1"/>
          </p:cNvSpPr>
          <p:nvPr>
            <p:ph idx="1"/>
          </p:nvPr>
        </p:nvSpPr>
        <p:spPr>
          <a:xfrm>
            <a:off x="228600" y="914400"/>
            <a:ext cx="8286750" cy="5262563"/>
          </a:xfrm>
        </p:spPr>
        <p:txBody>
          <a:bodyPr>
            <a:normAutofit/>
          </a:bodyPr>
          <a:lstStyle/>
          <a:p>
            <a:pPr algn="just">
              <a:lnSpc>
                <a:spcPct val="170000"/>
              </a:lnSpc>
            </a:pPr>
            <a:r>
              <a:rPr lang="ne-NP" b="1" dirty="0">
                <a:cs typeface="Kalimati" pitchFamily="2"/>
              </a:rPr>
              <a:t>धरौटी वा जमानत माग्नेः</a:t>
            </a:r>
            <a:r>
              <a:rPr lang="ne-NP" dirty="0">
                <a:cs typeface="Kalimati" pitchFamily="2"/>
              </a:rPr>
              <a:t> </a:t>
            </a:r>
            <a:r>
              <a:rPr lang="ne-NP" dirty="0">
                <a:solidFill>
                  <a:srgbClr val="0070C0"/>
                </a:solidFill>
                <a:cs typeface="Kalimati" pitchFamily="2"/>
              </a:rPr>
              <a:t>तत्काल प्राप्त प्रमाणबाट कुनै अभियुक्तलाई थुनामा राखी पुर्पक्ष गर्नु पर्ने नदेखिएमा निजसंग निजले हानि नोक्सानी गरेको बिगो वा गैरकानुनी रूपमा लिएको रकम र निजलाई हुन सक्ने कैद वा जरिबाना समेतलाई दृष्टिगत गरी धरौटी वा जमानत माग्ने (</a:t>
            </a:r>
            <a:r>
              <a:rPr lang="ne-NP" i="1" dirty="0">
                <a:cs typeface="Kalimati" pitchFamily="2"/>
              </a:rPr>
              <a:t>दफा ७(घ)</a:t>
            </a:r>
            <a:r>
              <a:rPr lang="ne-NP" i="1" dirty="0">
                <a:solidFill>
                  <a:srgbClr val="0070C0"/>
                </a:solidFill>
                <a:cs typeface="Kalimati" pitchFamily="2"/>
              </a:rPr>
              <a:t>)</a:t>
            </a:r>
            <a:r>
              <a:rPr lang="ne-NP" dirty="0">
                <a:solidFill>
                  <a:srgbClr val="0070C0"/>
                </a:solidFill>
                <a:cs typeface="Kalimati" pitchFamily="2"/>
              </a:rPr>
              <a:t> </a:t>
            </a:r>
          </a:p>
          <a:p>
            <a:pPr algn="just">
              <a:lnSpc>
                <a:spcPct val="170000"/>
              </a:lnSpc>
            </a:pPr>
            <a:r>
              <a:rPr lang="ne-NP" b="1" dirty="0">
                <a:cs typeface="Kalimati" pitchFamily="2"/>
              </a:rPr>
              <a:t>थुनामा राखी पुर्पक्ष गर्नेः</a:t>
            </a:r>
            <a:r>
              <a:rPr lang="ne-NP" dirty="0">
                <a:cs typeface="Kalimati" pitchFamily="2"/>
              </a:rPr>
              <a:t> </a:t>
            </a:r>
            <a:r>
              <a:rPr lang="ne-NP" dirty="0">
                <a:solidFill>
                  <a:srgbClr val="00B0F0"/>
                </a:solidFill>
                <a:cs typeface="Kalimati" pitchFamily="2"/>
              </a:rPr>
              <a:t>तत्काल प्राप्त प्रमाणका आधारमा अभियुक्तलाई थुनामा राखी पुर्पक्ष गर्नु पर्ने पर्याप्त र मनासिब कारण भएमा</a:t>
            </a:r>
            <a:r>
              <a:rPr lang="ne-NP" dirty="0">
                <a:cs typeface="Kalimati" pitchFamily="2"/>
              </a:rPr>
              <a:t> प्रचलित कानुनमा जुनसुकै कुरा लेखिएको भए तापनि निजलाई </a:t>
            </a:r>
            <a:r>
              <a:rPr lang="ne-NP" dirty="0">
                <a:solidFill>
                  <a:srgbClr val="00B0F0"/>
                </a:solidFill>
                <a:cs typeface="Kalimati" pitchFamily="2"/>
              </a:rPr>
              <a:t>थुनामा राखी पुर्पक्ष गर्ने</a:t>
            </a:r>
            <a:r>
              <a:rPr lang="ne-NP" i="1" dirty="0">
                <a:cs typeface="Kalimati" pitchFamily="2"/>
              </a:rPr>
              <a:t> (दफा ७(ङ))</a:t>
            </a:r>
          </a:p>
          <a:p>
            <a:pPr marL="0" indent="0" algn="just">
              <a:lnSpc>
                <a:spcPct val="170000"/>
              </a:lnSpc>
              <a:buNone/>
            </a:pPr>
            <a:r>
              <a:rPr lang="ne-NP" dirty="0">
                <a:solidFill>
                  <a:srgbClr val="00B0F0"/>
                </a:solidFill>
                <a:cs typeface="Kalimati" pitchFamily="2"/>
              </a:rPr>
              <a:t>, </a:t>
            </a:r>
            <a:endParaRPr lang="en-US" dirty="0"/>
          </a:p>
        </p:txBody>
      </p:sp>
      <p:sp>
        <p:nvSpPr>
          <p:cNvPr id="3" name="Slide Number Placeholder 2"/>
          <p:cNvSpPr>
            <a:spLocks noGrp="1"/>
          </p:cNvSpPr>
          <p:nvPr>
            <p:ph type="sldNum" sz="quarter" idx="12"/>
          </p:nvPr>
        </p:nvSpPr>
        <p:spPr/>
        <p:txBody>
          <a:bodyPr/>
          <a:lstStyle/>
          <a:p>
            <a:fld id="{26EA1BC9-060C-4734-A581-933889F0292E}" type="slidenum">
              <a:rPr lang="en-US" smtClean="0"/>
              <a:pPr/>
              <a:t>24</a:t>
            </a:fld>
            <a:endParaRPr lang="en-US"/>
          </a:p>
        </p:txBody>
      </p:sp>
    </p:spTree>
    <p:extLst>
      <p:ext uri="{BB962C8B-B14F-4D97-AF65-F5344CB8AC3E}">
        <p14:creationId xmlns:p14="http://schemas.microsoft.com/office/powerpoint/2010/main" val="2017049596"/>
      </p:ext>
    </p:extLst>
  </p:cSld>
  <p:clrMapOvr>
    <a:masterClrMapping/>
  </p:clrMapOvr>
  <p:transition spd="slow">
    <p:wedg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5036" y="228600"/>
            <a:ext cx="3494964" cy="472767"/>
          </a:xfrm>
        </p:spPr>
        <p:txBody>
          <a:bodyPr>
            <a:noAutofit/>
          </a:bodyPr>
          <a:lstStyle/>
          <a:p>
            <a:r>
              <a:rPr lang="ne-NP" sz="1800" b="1" dirty="0">
                <a:latin typeface="+mn-lt"/>
                <a:ea typeface="+mn-ea"/>
                <a:cs typeface="Kalimati" pitchFamily="2"/>
              </a:rPr>
              <a:t>विशेष कार्यविधि लागु हुने मुद्दाहरु</a:t>
            </a:r>
            <a:endParaRPr lang="en-US" sz="1800" b="1" dirty="0">
              <a:latin typeface="+mn-lt"/>
              <a:ea typeface="+mn-ea"/>
              <a:cs typeface="Kalimati" pitchFamily="2"/>
            </a:endParaRPr>
          </a:p>
        </p:txBody>
      </p:sp>
      <p:sp>
        <p:nvSpPr>
          <p:cNvPr id="4" name="Content Placeholder 3"/>
          <p:cNvSpPr>
            <a:spLocks noGrp="1"/>
          </p:cNvSpPr>
          <p:nvPr>
            <p:ph idx="1"/>
          </p:nvPr>
        </p:nvSpPr>
        <p:spPr>
          <a:xfrm>
            <a:off x="315036" y="838200"/>
            <a:ext cx="8828964" cy="5518151"/>
          </a:xfrm>
        </p:spPr>
        <p:txBody>
          <a:bodyPr>
            <a:normAutofit/>
          </a:bodyPr>
          <a:lstStyle/>
          <a:p>
            <a:pPr marL="0" indent="0">
              <a:buNone/>
            </a:pPr>
            <a:r>
              <a:rPr lang="ne-NP" sz="1900" b="1" dirty="0">
                <a:cs typeface="Kalimati" pitchFamily="2"/>
              </a:rPr>
              <a:t>वन ऐन</a:t>
            </a:r>
            <a:r>
              <a:rPr lang="en-US" sz="1900" b="1" dirty="0">
                <a:cs typeface="Kalimati" pitchFamily="2"/>
              </a:rPr>
              <a:t>,</a:t>
            </a:r>
            <a:r>
              <a:rPr lang="ne-NP" sz="1900" b="1" dirty="0">
                <a:cs typeface="Kalimati" pitchFamily="2"/>
              </a:rPr>
              <a:t> २०७६ (दफा ६६)</a:t>
            </a:r>
          </a:p>
          <a:p>
            <a:pPr marL="0" indent="0">
              <a:buNone/>
            </a:pPr>
            <a:r>
              <a:rPr lang="ne-NP" sz="1900" dirty="0">
                <a:cs typeface="Kalimati" pitchFamily="2"/>
              </a:rPr>
              <a:t>पूर्पक्ष सम्बन्धी व्यवस्था:</a:t>
            </a:r>
          </a:p>
          <a:p>
            <a:r>
              <a:rPr lang="ne-NP" sz="1900" dirty="0">
                <a:solidFill>
                  <a:srgbClr val="00B0F0"/>
                </a:solidFill>
                <a:cs typeface="Kalimati" pitchFamily="2"/>
              </a:rPr>
              <a:t>एक वर्ष वा सोभन्दा बढी कैदको सजाय हुन सक्ने मुद्दाको अभियोग लागेको व्यक्ति तत्काल प्राप्त प्रमाणबाट कसुरदार देखिएमा वा </a:t>
            </a:r>
          </a:p>
          <a:p>
            <a:r>
              <a:rPr lang="ne-NP" sz="1900" dirty="0">
                <a:solidFill>
                  <a:srgbClr val="00B0F0"/>
                </a:solidFill>
                <a:cs typeface="Kalimati" pitchFamily="2"/>
              </a:rPr>
              <a:t>त्यस्तो प्रमाणबाट कसुरदार देखिन मनासिब माफिकको आधार देखिएमा </a:t>
            </a:r>
          </a:p>
          <a:p>
            <a:r>
              <a:rPr lang="ne-NP" sz="1900" dirty="0">
                <a:solidFill>
                  <a:srgbClr val="00B0F0"/>
                </a:solidFill>
                <a:cs typeface="Kalimati" pitchFamily="2"/>
              </a:rPr>
              <a:t>त्यस्तो व्यक्तिलाई पूर्पक्षका लागि थुनामा राखी कारबाही गर्नु पर्ने।</a:t>
            </a:r>
          </a:p>
          <a:p>
            <a:pPr marL="0" indent="0">
              <a:buNone/>
            </a:pPr>
            <a:endParaRPr lang="ne-NP" sz="1900" b="1" dirty="0">
              <a:cs typeface="Kalimati" pitchFamily="2"/>
            </a:endParaRPr>
          </a:p>
          <a:p>
            <a:pPr marL="0" indent="0">
              <a:buNone/>
            </a:pPr>
            <a:r>
              <a:rPr lang="ne-NP" sz="1900" b="1" dirty="0">
                <a:cs typeface="Kalimati" pitchFamily="2"/>
              </a:rPr>
              <a:t>राष्ट्रिय निकुञ्च तथा वन्यजन्य आरक्ष </a:t>
            </a:r>
            <a:r>
              <a:rPr lang="ne-NP" sz="1800" b="1" dirty="0">
                <a:cs typeface="Kalimati" pitchFamily="2"/>
              </a:rPr>
              <a:t>ऐन</a:t>
            </a:r>
            <a:r>
              <a:rPr lang="en-US" sz="1800" b="1" dirty="0">
                <a:cs typeface="Kalimati" pitchFamily="2"/>
              </a:rPr>
              <a:t>,</a:t>
            </a:r>
            <a:r>
              <a:rPr lang="ne-NP" sz="1800" b="1" dirty="0">
                <a:cs typeface="Kalimati" pitchFamily="2"/>
              </a:rPr>
              <a:t> २०२९</a:t>
            </a:r>
            <a:r>
              <a:rPr lang="ne-NP" sz="1900" b="1" dirty="0">
                <a:cs typeface="Kalimati" pitchFamily="2"/>
              </a:rPr>
              <a:t> (दफा ३१)</a:t>
            </a:r>
          </a:p>
          <a:p>
            <a:r>
              <a:rPr lang="ne-NP" sz="1900" dirty="0">
                <a:solidFill>
                  <a:srgbClr val="0070C0"/>
                </a:solidFill>
                <a:cs typeface="Kalimati" pitchFamily="2"/>
              </a:rPr>
              <a:t>(१) यस ऐनको दफा २६ को उपदफा (१), (१क) र (२) अन्तर्गत कसूर हुने मुद्दाको शुरु कारबाही र किनारा गर्ने अधिकार जिल्ला अदालतलाई हुने।</a:t>
            </a:r>
          </a:p>
          <a:p>
            <a:r>
              <a:rPr lang="ne-NP" sz="1900" dirty="0">
                <a:solidFill>
                  <a:srgbClr val="0070C0"/>
                </a:solidFill>
                <a:cs typeface="Kalimati" pitchFamily="2"/>
              </a:rPr>
              <a:t>(३) उपदफा (१) र (२) बमोजिम जिल्ला अदालत र तोकिएको अधिकारीले </a:t>
            </a:r>
            <a:endParaRPr lang="en-US" sz="1900" dirty="0">
              <a:solidFill>
                <a:srgbClr val="0070C0"/>
              </a:solidFill>
              <a:cs typeface="Kalimati" pitchFamily="2"/>
            </a:endParaRPr>
          </a:p>
          <a:p>
            <a:pPr marL="0" indent="0">
              <a:buNone/>
            </a:pPr>
            <a:r>
              <a:rPr lang="ne-NP" sz="1900" dirty="0">
                <a:solidFill>
                  <a:srgbClr val="0070C0"/>
                </a:solidFill>
                <a:cs typeface="Kalimati" pitchFamily="2"/>
              </a:rPr>
              <a:t> यस ऐन अन्तर्गतका मुद्दाको कारबाही र किनारा गर्दा विशेष अदालत ऐन, २०५९    बमोजिमको कार्यविधि अपनाउनु पर्ने।</a:t>
            </a:r>
          </a:p>
        </p:txBody>
      </p:sp>
      <p:sp>
        <p:nvSpPr>
          <p:cNvPr id="3" name="Slide Number Placeholder 2"/>
          <p:cNvSpPr>
            <a:spLocks noGrp="1"/>
          </p:cNvSpPr>
          <p:nvPr>
            <p:ph type="sldNum" sz="quarter" idx="12"/>
          </p:nvPr>
        </p:nvSpPr>
        <p:spPr/>
        <p:txBody>
          <a:bodyPr/>
          <a:lstStyle/>
          <a:p>
            <a:fld id="{26EA1BC9-060C-4734-A581-933889F0292E}" type="slidenum">
              <a:rPr lang="en-US" smtClean="0"/>
              <a:pPr/>
              <a:t>25</a:t>
            </a:fld>
            <a:endParaRPr lang="en-US"/>
          </a:p>
        </p:txBody>
      </p:sp>
    </p:spTree>
    <p:extLst>
      <p:ext uri="{BB962C8B-B14F-4D97-AF65-F5344CB8AC3E}">
        <p14:creationId xmlns:p14="http://schemas.microsoft.com/office/powerpoint/2010/main" val="739338931"/>
      </p:ext>
    </p:extLst>
  </p:cSld>
  <p:clrMapOvr>
    <a:masterClrMapping/>
  </p:clrMapOvr>
  <p:transition spd="slow">
    <p:wedg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5543550" cy="625474"/>
          </a:xfrm>
        </p:spPr>
        <p:txBody>
          <a:bodyPr>
            <a:normAutofit/>
          </a:bodyPr>
          <a:lstStyle/>
          <a:p>
            <a:r>
              <a:rPr lang="ne-NP" sz="2000" b="1" dirty="0">
                <a:cs typeface="Kalimati" panose="00000400000000000000" pitchFamily="2"/>
              </a:rPr>
              <a:t>लागु औषध (नियन्त्रण) </a:t>
            </a:r>
            <a:r>
              <a:rPr lang="ne-NP" sz="2000" b="1" dirty="0">
                <a:latin typeface="Preeti" pitchFamily="2" charset="0"/>
                <a:cs typeface="Kalimati" panose="00000400000000000000" pitchFamily="2"/>
              </a:rPr>
              <a:t>ऐन</a:t>
            </a:r>
            <a:r>
              <a:rPr lang="en-US" sz="2000" b="1" dirty="0">
                <a:latin typeface="Preeti" pitchFamily="2" charset="0"/>
                <a:cs typeface="Kalimati" panose="00000400000000000000" pitchFamily="2"/>
              </a:rPr>
              <a:t>,</a:t>
            </a:r>
            <a:r>
              <a:rPr lang="ne-NP" sz="2000" b="1" dirty="0">
                <a:latin typeface="Preeti" pitchFamily="2" charset="0"/>
                <a:cs typeface="Kalimati" panose="00000400000000000000" pitchFamily="2"/>
              </a:rPr>
              <a:t> २०३३ अन्तर्गतको मुद्दा </a:t>
            </a:r>
            <a:endParaRPr lang="ne-NP" sz="2000" b="1" dirty="0">
              <a:cs typeface="Kalimati" panose="00000400000000000000" pitchFamily="2"/>
            </a:endParaRPr>
          </a:p>
        </p:txBody>
      </p:sp>
      <p:sp>
        <p:nvSpPr>
          <p:cNvPr id="4" name="Content Placeholder 3"/>
          <p:cNvSpPr>
            <a:spLocks noGrp="1"/>
          </p:cNvSpPr>
          <p:nvPr>
            <p:ph idx="1"/>
          </p:nvPr>
        </p:nvSpPr>
        <p:spPr>
          <a:xfrm>
            <a:off x="628650" y="990601"/>
            <a:ext cx="7886700" cy="5186362"/>
          </a:xfrm>
        </p:spPr>
        <p:txBody>
          <a:bodyPr>
            <a:normAutofit/>
          </a:bodyPr>
          <a:lstStyle/>
          <a:p>
            <a:r>
              <a:rPr lang="ne-NP" dirty="0">
                <a:solidFill>
                  <a:srgbClr val="0070C0"/>
                </a:solidFill>
                <a:cs typeface="Kalimati" panose="00000400000000000000" pitchFamily="2"/>
              </a:rPr>
              <a:t>गाँजा वाहेक लागु ‌औषध सम्बन्धी मुद्दामा विशेष कार्यविधि अपनाउनु पर्ने</a:t>
            </a:r>
            <a:r>
              <a:rPr lang="en-US" dirty="0">
                <a:solidFill>
                  <a:srgbClr val="0070C0"/>
                </a:solidFill>
                <a:cs typeface="Kalimati" panose="00000400000000000000" pitchFamily="2"/>
              </a:rPr>
              <a:t> </a:t>
            </a:r>
            <a:r>
              <a:rPr lang="en-US" dirty="0">
                <a:solidFill>
                  <a:srgbClr val="0070C0"/>
                </a:solidFill>
                <a:latin typeface="Times New Roman" panose="02020603050405020304" pitchFamily="18" charset="0"/>
                <a:cs typeface="Times New Roman" panose="02020603050405020304" pitchFamily="18" charset="0"/>
              </a:rPr>
              <a:t>( </a:t>
            </a:r>
            <a:r>
              <a:rPr lang="ne-NP" dirty="0">
                <a:solidFill>
                  <a:srgbClr val="0070C0"/>
                </a:solidFill>
                <a:cs typeface="Kalimati" panose="00000400000000000000" pitchFamily="2"/>
              </a:rPr>
              <a:t>लागु औषध (नियन्त्रण) </a:t>
            </a:r>
            <a:r>
              <a:rPr lang="ne-NP" dirty="0">
                <a:solidFill>
                  <a:srgbClr val="0070C0"/>
                </a:solidFill>
                <a:latin typeface="Preeti" pitchFamily="2" charset="0"/>
                <a:cs typeface="Kalimati" panose="00000400000000000000" pitchFamily="2"/>
              </a:rPr>
              <a:t>ऐन २०३३ को दफा </a:t>
            </a:r>
            <a:r>
              <a:rPr lang="ne-NP" dirty="0">
                <a:solidFill>
                  <a:srgbClr val="0070C0"/>
                </a:solidFill>
                <a:cs typeface="Kalimati" panose="00000400000000000000" pitchFamily="2"/>
              </a:rPr>
              <a:t>२१क </a:t>
            </a:r>
            <a:r>
              <a:rPr lang="en-US" dirty="0">
                <a:solidFill>
                  <a:srgbClr val="0070C0"/>
                </a:solidFill>
                <a:latin typeface="Times New Roman" panose="02020603050405020304" pitchFamily="18" charset="0"/>
                <a:cs typeface="Times New Roman" panose="02020603050405020304" pitchFamily="18" charset="0"/>
              </a:rPr>
              <a:t>(</a:t>
            </a:r>
            <a:r>
              <a:rPr lang="ne-NP" dirty="0">
                <a:solidFill>
                  <a:srgbClr val="0070C0"/>
                </a:solidFill>
                <a:cs typeface="Kalimati" panose="00000400000000000000" pitchFamily="2"/>
              </a:rPr>
              <a:t>२</a:t>
            </a:r>
            <a:r>
              <a:rPr lang="en-US" dirty="0">
                <a:solidFill>
                  <a:srgbClr val="0070C0"/>
                </a:solidFill>
                <a:latin typeface="Times New Roman" panose="02020603050405020304" pitchFamily="18" charset="0"/>
                <a:cs typeface="Times New Roman" panose="02020603050405020304" pitchFamily="18" charset="0"/>
              </a:rPr>
              <a:t>) )</a:t>
            </a:r>
            <a:r>
              <a:rPr lang="ne-NP" dirty="0">
                <a:solidFill>
                  <a:srgbClr val="0070C0"/>
                </a:solidFill>
                <a:latin typeface="Times New Roman" panose="02020603050405020304" pitchFamily="18" charset="0"/>
                <a:cs typeface="Times New Roman" panose="02020603050405020304" pitchFamily="18" charset="0"/>
              </a:rPr>
              <a:t> </a:t>
            </a:r>
          </a:p>
          <a:p>
            <a:pPr marL="0" indent="0">
              <a:buNone/>
            </a:pPr>
            <a:r>
              <a:rPr lang="ne-NP" sz="2800" dirty="0">
                <a:solidFill>
                  <a:srgbClr val="92D050"/>
                </a:solidFill>
                <a:latin typeface="Times New Roman" panose="02020603050405020304" pitchFamily="18" charset="0"/>
                <a:cs typeface="Times New Roman" panose="02020603050405020304" pitchFamily="18" charset="0"/>
              </a:rPr>
              <a:t>तर सर्वोच्च अदालतबाट जिल्ला अदालतले लागु औषध मुद्दामा सामान्य कार्यविधि अपनाई मुद्दामा थुनछेक गर्नु पर्ने रुलिङ्ग भएको छ।</a:t>
            </a:r>
          </a:p>
          <a:p>
            <a:r>
              <a:rPr lang="ne-NP" dirty="0">
                <a:cs typeface="Kalimati" panose="00000400000000000000" pitchFamily="2"/>
              </a:rPr>
              <a:t>मानव बेचबिखन तथा ओसारपसार (नियन्त्रण) ऐन</a:t>
            </a:r>
            <a:r>
              <a:rPr lang="en-US" dirty="0">
                <a:cs typeface="Kalimati" panose="00000400000000000000" pitchFamily="2"/>
              </a:rPr>
              <a:t>,</a:t>
            </a:r>
            <a:r>
              <a:rPr lang="ne-NP" dirty="0">
                <a:cs typeface="Kalimati" panose="00000400000000000000" pitchFamily="2"/>
              </a:rPr>
              <a:t> २०६४ को दफा ८ बमोजिम अभियुक्तलाई थुनामा राखी कारबाही गर्नु पर्ने : </a:t>
            </a:r>
          </a:p>
          <a:p>
            <a:pPr marL="0" indent="0">
              <a:buNone/>
            </a:pPr>
            <a:r>
              <a:rPr lang="ne-NP" dirty="0">
                <a:solidFill>
                  <a:srgbClr val="00B0F0"/>
                </a:solidFill>
                <a:cs typeface="Kalimati" panose="00000400000000000000" pitchFamily="2"/>
              </a:rPr>
              <a:t>प्रचलित कानूनमा जुनसुकै कुरा लेखिएको भए तापनिे </a:t>
            </a:r>
            <a:endParaRPr lang="en-US" dirty="0">
              <a:solidFill>
                <a:srgbClr val="00B0F0"/>
              </a:solidFill>
              <a:cs typeface="Kalimati" panose="00000400000000000000" pitchFamily="2"/>
            </a:endParaRPr>
          </a:p>
          <a:p>
            <a:pPr marL="0" indent="0">
              <a:buNone/>
            </a:pPr>
            <a:r>
              <a:rPr lang="ne-NP" dirty="0">
                <a:solidFill>
                  <a:srgbClr val="00B0F0"/>
                </a:solidFill>
                <a:cs typeface="Kalimati" panose="00000400000000000000" pitchFamily="2"/>
              </a:rPr>
              <a:t>दफा ४ को उपदफा (१) को खण्ड (घ) को कसूरमा बाहेक </a:t>
            </a:r>
            <a:endParaRPr lang="en-US" dirty="0">
              <a:solidFill>
                <a:srgbClr val="00B0F0"/>
              </a:solidFill>
              <a:cs typeface="Kalimati" panose="00000400000000000000" pitchFamily="2"/>
            </a:endParaRPr>
          </a:p>
          <a:p>
            <a:pPr marL="0" indent="0">
              <a:buNone/>
            </a:pPr>
            <a:r>
              <a:rPr lang="ne-NP" dirty="0">
                <a:solidFill>
                  <a:srgbClr val="00B0F0"/>
                </a:solidFill>
                <a:cs typeface="Kalimati" panose="00000400000000000000" pitchFamily="2"/>
              </a:rPr>
              <a:t>यस ऐन अन्तर्गत अन्य कसूर सम्बन्धी मुद्दामा कारबाही गर्दा</a:t>
            </a:r>
            <a:endParaRPr lang="en-US" dirty="0">
              <a:solidFill>
                <a:srgbClr val="00B0F0"/>
              </a:solidFill>
              <a:cs typeface="Kalimati" panose="00000400000000000000" pitchFamily="2"/>
            </a:endParaRPr>
          </a:p>
          <a:p>
            <a:pPr marL="0" indent="0">
              <a:buNone/>
            </a:pPr>
            <a:r>
              <a:rPr lang="ne-NP" dirty="0">
                <a:solidFill>
                  <a:srgbClr val="00B0F0"/>
                </a:solidFill>
                <a:cs typeface="Kalimati" panose="00000400000000000000" pitchFamily="2"/>
              </a:rPr>
              <a:t>तत्काल प्राप्त प्रमाणबाट अभियुक्तले कसूर गरेको हो भन्ने विश्वास गर्ने मनासिव आधार भएमा</a:t>
            </a:r>
            <a:r>
              <a:rPr lang="en-US" dirty="0">
                <a:solidFill>
                  <a:srgbClr val="00B0F0"/>
                </a:solidFill>
                <a:cs typeface="Kalimati" panose="00000400000000000000" pitchFamily="2"/>
              </a:rPr>
              <a:t> </a:t>
            </a:r>
            <a:r>
              <a:rPr lang="ne-NP" dirty="0">
                <a:solidFill>
                  <a:srgbClr val="00B0F0"/>
                </a:solidFill>
                <a:cs typeface="Kalimati" panose="00000400000000000000" pitchFamily="2"/>
              </a:rPr>
              <a:t>अदालतले अभियुक्तलाई थुनामा राखी कारबाही गर्नु पर्ने।</a:t>
            </a:r>
          </a:p>
          <a:p>
            <a:pPr marL="0" indent="0">
              <a:buNone/>
            </a:pPr>
            <a:endParaRPr lang="ne-NP" dirty="0">
              <a:cs typeface="Kalimati" panose="00000400000000000000" pitchFamily="2"/>
            </a:endParaRPr>
          </a:p>
          <a:p>
            <a:endParaRPr lang="ne-NP" dirty="0">
              <a:cs typeface="Kalimati" panose="00000400000000000000" pitchFamily="2"/>
            </a:endParaRPr>
          </a:p>
          <a:p>
            <a:pPr marL="0" indent="0">
              <a:buNone/>
            </a:pPr>
            <a:endParaRPr lang="en-US" dirty="0"/>
          </a:p>
        </p:txBody>
      </p:sp>
      <p:sp>
        <p:nvSpPr>
          <p:cNvPr id="3" name="Slide Number Placeholder 2"/>
          <p:cNvSpPr>
            <a:spLocks noGrp="1"/>
          </p:cNvSpPr>
          <p:nvPr>
            <p:ph type="sldNum" sz="quarter" idx="12"/>
          </p:nvPr>
        </p:nvSpPr>
        <p:spPr/>
        <p:txBody>
          <a:bodyPr/>
          <a:lstStyle/>
          <a:p>
            <a:fld id="{26EA1BC9-060C-4734-A581-933889F0292E}" type="slidenum">
              <a:rPr lang="en-US" smtClean="0"/>
              <a:pPr/>
              <a:t>26</a:t>
            </a:fld>
            <a:endParaRPr lang="en-US"/>
          </a:p>
        </p:txBody>
      </p:sp>
    </p:spTree>
    <p:extLst>
      <p:ext uri="{BB962C8B-B14F-4D97-AF65-F5344CB8AC3E}">
        <p14:creationId xmlns:p14="http://schemas.microsoft.com/office/powerpoint/2010/main" val="3533785685"/>
      </p:ext>
    </p:extLst>
  </p:cSld>
  <p:clrMapOvr>
    <a:masterClrMapping/>
  </p:clrMapOvr>
  <p:transition spd="slow">
    <p:wedg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229600" cy="1066800"/>
          </a:xfrm>
        </p:spPr>
        <p:txBody>
          <a:bodyPr>
            <a:normAutofit/>
          </a:bodyPr>
          <a:lstStyle/>
          <a:p>
            <a:r>
              <a:rPr lang="ne-NP" sz="2800" b="1" dirty="0">
                <a:solidFill>
                  <a:schemeClr val="tx1"/>
                </a:solidFill>
                <a:cs typeface="Kalimati" panose="00000400000000000000" pitchFamily="2"/>
              </a:rPr>
              <a:t>बालबालिका सम्बन्धी ऐन</a:t>
            </a:r>
            <a:r>
              <a:rPr lang="en-US" sz="2800" b="1" dirty="0">
                <a:solidFill>
                  <a:schemeClr val="tx1"/>
                </a:solidFill>
                <a:latin typeface="Calibri" panose="020F0502020204030204" pitchFamily="34" charset="0"/>
                <a:cs typeface="Kalimati" panose="00000400000000000000" pitchFamily="2"/>
              </a:rPr>
              <a:t>, </a:t>
            </a:r>
            <a:r>
              <a:rPr lang="ne-NP" sz="2800" b="1" dirty="0">
                <a:solidFill>
                  <a:schemeClr val="tx1"/>
                </a:solidFill>
                <a:latin typeface="Calibri" panose="020F0502020204030204" pitchFamily="34" charset="0"/>
                <a:cs typeface="Kalimati" panose="00000400000000000000" pitchFamily="2"/>
              </a:rPr>
              <a:t>२०७५ ले व्यवस्था गरेको थुनछेक सम्बन्धी व्यवस्था (धारा २४)</a:t>
            </a:r>
            <a:endParaRPr lang="en-US" sz="2800" b="1" dirty="0">
              <a:solidFill>
                <a:schemeClr val="tx1"/>
              </a:solidFill>
            </a:endParaRPr>
          </a:p>
        </p:txBody>
      </p:sp>
      <p:sp>
        <p:nvSpPr>
          <p:cNvPr id="4" name="Content Placeholder 3"/>
          <p:cNvSpPr>
            <a:spLocks noGrp="1"/>
          </p:cNvSpPr>
          <p:nvPr>
            <p:ph idx="1"/>
          </p:nvPr>
        </p:nvSpPr>
        <p:spPr>
          <a:xfrm>
            <a:off x="603504" y="1219200"/>
            <a:ext cx="8159496" cy="5334000"/>
          </a:xfrm>
        </p:spPr>
        <p:txBody>
          <a:bodyPr>
            <a:normAutofit/>
          </a:bodyPr>
          <a:lstStyle/>
          <a:p>
            <a:pPr marL="0" indent="0">
              <a:buNone/>
            </a:pPr>
            <a:r>
              <a:rPr lang="ne-NP" b="1" dirty="0">
                <a:solidFill>
                  <a:srgbClr val="0070C0"/>
                </a:solidFill>
                <a:cs typeface="Kalimati" panose="00000400000000000000" pitchFamily="2"/>
              </a:rPr>
              <a:t>कुनै पनि बालबालिकालाई मुद्दाको पुर्पक्षको सिलसिलामा थुनामा राखिने छैन र निजसँग धरौटी वा जमानत मागिने छैन।</a:t>
            </a:r>
          </a:p>
          <a:p>
            <a:pPr marL="0" indent="0">
              <a:buNone/>
            </a:pPr>
            <a:r>
              <a:rPr lang="ne-NP" dirty="0">
                <a:cs typeface="Kalimati" panose="00000400000000000000" pitchFamily="2"/>
              </a:rPr>
              <a:t>निम्न अबस्थामा कारण खुलाई निजलाई बाल सुधार गृहमा राख्न सकिने छः</a:t>
            </a:r>
          </a:p>
          <a:p>
            <a:pPr marL="0" indent="0">
              <a:buNone/>
            </a:pPr>
            <a:r>
              <a:rPr lang="ne-NP" dirty="0">
                <a:cs typeface="Kalimati" panose="00000400000000000000" pitchFamily="2"/>
              </a:rPr>
              <a:t>क</a:t>
            </a:r>
            <a:r>
              <a:rPr lang="en-US" dirty="0">
                <a:latin typeface="Calibri" panose="020F0502020204030204" pitchFamily="34" charset="0"/>
                <a:cs typeface="Kalimati" panose="00000400000000000000" pitchFamily="2"/>
              </a:rPr>
              <a:t>)</a:t>
            </a:r>
            <a:r>
              <a:rPr lang="ne-NP" dirty="0">
                <a:cs typeface="Kalimati" panose="00000400000000000000" pitchFamily="2"/>
              </a:rPr>
              <a:t> बालबालिकाको जीउ</a:t>
            </a:r>
            <a:r>
              <a:rPr lang="en-US" dirty="0">
                <a:cs typeface="Kalimati" panose="00000400000000000000" pitchFamily="2"/>
              </a:rPr>
              <a:t>,</a:t>
            </a:r>
            <a:r>
              <a:rPr lang="ne-NP" dirty="0">
                <a:cs typeface="Kalimati" panose="00000400000000000000" pitchFamily="2"/>
              </a:rPr>
              <a:t> ज्यान जोखिममा पर्ने वा निजबाट कुनै हानी नोक्सानी हुने वा निज भागी जाने अबस्था भएमा</a:t>
            </a:r>
            <a:r>
              <a:rPr lang="en-US" dirty="0">
                <a:latin typeface="Calibri" panose="020F0502020204030204" pitchFamily="34" charset="0"/>
                <a:cs typeface="Kalimati" panose="00000400000000000000" pitchFamily="2"/>
              </a:rPr>
              <a:t>,</a:t>
            </a:r>
            <a:endParaRPr lang="ne-NP" dirty="0">
              <a:cs typeface="Kalimati" panose="00000400000000000000" pitchFamily="2"/>
            </a:endParaRPr>
          </a:p>
          <a:p>
            <a:pPr marL="0" indent="0">
              <a:buNone/>
            </a:pPr>
            <a:r>
              <a:rPr lang="ne-NP" b="1" dirty="0">
                <a:cs typeface="Kalimati" panose="00000400000000000000" pitchFamily="2"/>
              </a:rPr>
              <a:t>ख</a:t>
            </a:r>
            <a:r>
              <a:rPr lang="en-US" b="1" dirty="0">
                <a:latin typeface="Calibri" panose="020F0502020204030204" pitchFamily="34" charset="0"/>
                <a:cs typeface="Kalimati" panose="00000400000000000000" pitchFamily="2"/>
              </a:rPr>
              <a:t>)</a:t>
            </a:r>
            <a:r>
              <a:rPr lang="ne-NP" b="1" dirty="0">
                <a:cs typeface="Kalimati" panose="00000400000000000000" pitchFamily="2"/>
              </a:rPr>
              <a:t> तीन वर्ष वा सो भन्दा बढी कैद सजाय हुने मुद्दामा निज कसुरदार देखिएको वा कसुरदार हो भन्ने मनासिव आधार भएमा</a:t>
            </a:r>
            <a:r>
              <a:rPr lang="en-US" b="1" dirty="0">
                <a:latin typeface="Calibri" panose="020F0502020204030204" pitchFamily="34" charset="0"/>
                <a:cs typeface="Kalimati" panose="00000400000000000000" pitchFamily="2"/>
              </a:rPr>
              <a:t>,</a:t>
            </a:r>
            <a:endParaRPr lang="ne-NP" b="1" dirty="0">
              <a:cs typeface="Kalimati" panose="00000400000000000000" pitchFamily="2"/>
            </a:endParaRPr>
          </a:p>
          <a:p>
            <a:pPr marL="0" indent="0">
              <a:buNone/>
            </a:pPr>
            <a:r>
              <a:rPr lang="ne-NP" b="1" dirty="0">
                <a:cs typeface="Kalimati" panose="00000400000000000000" pitchFamily="2"/>
              </a:rPr>
              <a:t>ग</a:t>
            </a:r>
            <a:r>
              <a:rPr lang="en-US" b="1" dirty="0">
                <a:latin typeface="Calibri" panose="020F0502020204030204" pitchFamily="34" charset="0"/>
                <a:cs typeface="Kalimati" panose="00000400000000000000" pitchFamily="2"/>
              </a:rPr>
              <a:t>)</a:t>
            </a:r>
            <a:r>
              <a:rPr lang="ne-NP" b="1" dirty="0">
                <a:cs typeface="Kalimati" panose="00000400000000000000" pitchFamily="2"/>
              </a:rPr>
              <a:t> माथिका अबस्था वाहेक अन्य अबस्थामा बालबालिकालाई चाहिएको अबस्थामा उपस्थित गराउने गरी निजको आमा</a:t>
            </a:r>
            <a:r>
              <a:rPr lang="en-US" b="1" dirty="0">
                <a:latin typeface="Calibri" panose="020F0502020204030204" pitchFamily="34" charset="0"/>
                <a:cs typeface="Kalimati" panose="00000400000000000000" pitchFamily="2"/>
              </a:rPr>
              <a:t>,</a:t>
            </a:r>
            <a:r>
              <a:rPr lang="ne-NP" b="1" dirty="0">
                <a:latin typeface="Calibri" panose="020F0502020204030204" pitchFamily="34" charset="0"/>
                <a:cs typeface="Kalimati" panose="00000400000000000000" pitchFamily="2"/>
              </a:rPr>
              <a:t> </a:t>
            </a:r>
            <a:r>
              <a:rPr lang="ne-NP" b="1" dirty="0">
                <a:cs typeface="Kalimati" panose="00000400000000000000" pitchFamily="2"/>
              </a:rPr>
              <a:t>बाबु वा संरक्षक वा निजको हक हित संरक्षण गर्ने संस्थाको जिम्मा लगाउन बाधा पर्ने छैन् ।</a:t>
            </a:r>
            <a:endParaRPr lang="en-US" b="1" dirty="0">
              <a:cs typeface="Kalimati" panose="00000400000000000000" pitchFamily="2"/>
            </a:endParaRPr>
          </a:p>
          <a:p>
            <a:pPr marL="0" indent="0">
              <a:buNone/>
            </a:pPr>
            <a:r>
              <a:rPr lang="ne-NP" dirty="0">
                <a:cs typeface="Kalimati" panose="00000400000000000000" pitchFamily="2"/>
              </a:rPr>
              <a:t>घ</a:t>
            </a:r>
            <a:r>
              <a:rPr lang="en-US" dirty="0">
                <a:latin typeface="Calibri" panose="020F0502020204030204" pitchFamily="34" charset="0"/>
                <a:cs typeface="Kalimati" panose="00000400000000000000" pitchFamily="2"/>
              </a:rPr>
              <a:t>) </a:t>
            </a:r>
            <a:r>
              <a:rPr lang="ne-NP" dirty="0">
                <a:cs typeface="Kalimati" panose="00000400000000000000" pitchFamily="2"/>
              </a:rPr>
              <a:t>बालबालिकालाई आमा</a:t>
            </a:r>
            <a:r>
              <a:rPr lang="en-US" dirty="0">
                <a:latin typeface="Calibri" panose="020F0502020204030204" pitchFamily="34" charset="0"/>
                <a:cs typeface="Kalimati" panose="00000400000000000000" pitchFamily="2"/>
              </a:rPr>
              <a:t>, </a:t>
            </a:r>
            <a:r>
              <a:rPr lang="ne-NP" dirty="0">
                <a:cs typeface="Kalimati" panose="00000400000000000000" pitchFamily="2"/>
              </a:rPr>
              <a:t>बाबु वा संरक्षक वा निजको हक हित संरक्षण गर्ने संस्थाको जिम्मा लगाउँदा तोकेको शर्तको पालना नभएमा निजलाई बालसुधार गृहमा राख्न सकिनेछ ।</a:t>
            </a:r>
          </a:p>
        </p:txBody>
      </p:sp>
      <p:sp>
        <p:nvSpPr>
          <p:cNvPr id="3" name="Slide Number Placeholder 2"/>
          <p:cNvSpPr>
            <a:spLocks noGrp="1"/>
          </p:cNvSpPr>
          <p:nvPr>
            <p:ph type="sldNum" sz="quarter" idx="12"/>
          </p:nvPr>
        </p:nvSpPr>
        <p:spPr/>
        <p:txBody>
          <a:bodyPr/>
          <a:lstStyle/>
          <a:p>
            <a:fld id="{26EA1BC9-060C-4734-A581-933889F0292E}" type="slidenum">
              <a:rPr lang="en-US" smtClean="0"/>
              <a:pPr/>
              <a:t>27</a:t>
            </a:fld>
            <a:endParaRPr lang="en-US"/>
          </a:p>
        </p:txBody>
      </p:sp>
    </p:spTree>
    <p:extLst>
      <p:ext uri="{BB962C8B-B14F-4D97-AF65-F5344CB8AC3E}">
        <p14:creationId xmlns:p14="http://schemas.microsoft.com/office/powerpoint/2010/main" val="951471244"/>
      </p:ext>
    </p:extLst>
  </p:cSld>
  <p:clrMapOvr>
    <a:masterClrMapping/>
  </p:clrMapOvr>
  <p:transition spd="slow">
    <p:wedg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59843" y="296839"/>
            <a:ext cx="7924800" cy="609600"/>
          </a:xfrm>
        </p:spPr>
        <p:txBody>
          <a:bodyPr>
            <a:normAutofit/>
          </a:bodyPr>
          <a:lstStyle/>
          <a:p>
            <a:r>
              <a:rPr lang="ne-NP" sz="2800" b="1" dirty="0">
                <a:solidFill>
                  <a:schemeClr val="tx1"/>
                </a:solidFill>
                <a:cs typeface="Kalimati" panose="00000400000000000000" pitchFamily="2"/>
              </a:rPr>
              <a:t>थुनछेक सम्बन्धी न्यायिक दृष्टिकोण</a:t>
            </a:r>
            <a:endParaRPr lang="en-US" sz="2800" b="1" dirty="0">
              <a:solidFill>
                <a:schemeClr val="tx1"/>
              </a:solidFill>
              <a:cs typeface="Kalimati" panose="00000400000000000000" pitchFamily="2"/>
            </a:endParaRPr>
          </a:p>
        </p:txBody>
      </p:sp>
      <p:sp>
        <p:nvSpPr>
          <p:cNvPr id="3" name="Content Placeholder 2"/>
          <p:cNvSpPr>
            <a:spLocks noGrp="1"/>
          </p:cNvSpPr>
          <p:nvPr>
            <p:ph idx="1"/>
          </p:nvPr>
        </p:nvSpPr>
        <p:spPr>
          <a:xfrm>
            <a:off x="457200" y="914400"/>
            <a:ext cx="8229600" cy="5410200"/>
          </a:xfrm>
        </p:spPr>
        <p:txBody>
          <a:bodyPr>
            <a:noAutofit/>
          </a:bodyPr>
          <a:lstStyle/>
          <a:p>
            <a:pPr marL="0" indent="0">
              <a:buNone/>
            </a:pPr>
            <a:r>
              <a:rPr lang="ne-NP" dirty="0"/>
              <a:t> </a:t>
            </a:r>
            <a:r>
              <a:rPr lang="ne-NP" sz="2400" b="1" i="1" dirty="0">
                <a:cs typeface="Kalimati" pitchFamily="2"/>
              </a:rPr>
              <a:t>देवनन्दन महतो कोइरीको हकमा सेवक दास तत्मा</a:t>
            </a:r>
            <a:r>
              <a:rPr lang="en-US" sz="2400" b="1" i="1" dirty="0">
                <a:cs typeface="Kalimati" pitchFamily="2"/>
              </a:rPr>
              <a:t> </a:t>
            </a:r>
            <a:r>
              <a:rPr lang="ne-NP" sz="2400" b="1" i="1" dirty="0">
                <a:cs typeface="Kalimati" panose="00000400000000000000" pitchFamily="2"/>
              </a:rPr>
              <a:t>विरुद्ध बारा जिल्ला अदालत समेत</a:t>
            </a:r>
            <a:r>
              <a:rPr lang="en-GB" sz="2400" b="1" dirty="0">
                <a:cs typeface="Kalimati" panose="00000400000000000000" pitchFamily="2"/>
              </a:rPr>
              <a:t>  </a:t>
            </a:r>
            <a:r>
              <a:rPr lang="ne-NP" sz="2400" b="1" dirty="0">
                <a:latin typeface="Calibri" panose="020F0502020204030204" pitchFamily="34" charset="0"/>
                <a:cs typeface="Kalimati" panose="00000400000000000000" pitchFamily="2"/>
              </a:rPr>
              <a:t>‌</a:t>
            </a:r>
            <a:r>
              <a:rPr lang="en-US" sz="2400" b="1" dirty="0">
                <a:latin typeface="Calibri" panose="020F0502020204030204" pitchFamily="34" charset="0"/>
                <a:cs typeface="Kalimati" panose="00000400000000000000" pitchFamily="2"/>
              </a:rPr>
              <a:t>(</a:t>
            </a:r>
            <a:r>
              <a:rPr lang="ne-NP" sz="2400" b="1" dirty="0">
                <a:latin typeface="Calibri" panose="020F0502020204030204" pitchFamily="34" charset="0"/>
                <a:cs typeface="Kalimati" panose="00000400000000000000" pitchFamily="2"/>
              </a:rPr>
              <a:t>ने</a:t>
            </a:r>
            <a:r>
              <a:rPr lang="ne-NP" sz="2400" b="1" dirty="0">
                <a:cs typeface="Kalimati" panose="00000400000000000000" pitchFamily="2"/>
              </a:rPr>
              <a:t>. का. प २०४९ निर्णय नं</a:t>
            </a:r>
            <a:r>
              <a:rPr lang="en-US" sz="2400" b="1" dirty="0">
                <a:cs typeface="Kalimati" pitchFamily="2"/>
              </a:rPr>
              <a:t>. </a:t>
            </a:r>
            <a:r>
              <a:rPr lang="ne-NP" sz="2400" b="1" dirty="0">
                <a:cs typeface="Kalimati" pitchFamily="2"/>
              </a:rPr>
              <a:t>४५९२</a:t>
            </a:r>
            <a:r>
              <a:rPr lang="en-US" sz="2400" b="1" dirty="0">
                <a:cs typeface="Kalimati" pitchFamily="2"/>
              </a:rPr>
              <a:t> </a:t>
            </a:r>
            <a:r>
              <a:rPr lang="ne-NP" sz="2400" b="1" dirty="0">
                <a:cs typeface="Kalimati" panose="00000400000000000000" pitchFamily="2"/>
              </a:rPr>
              <a:t>पृ ६९२०</a:t>
            </a:r>
            <a:r>
              <a:rPr lang="en-US" sz="2400" b="1" dirty="0">
                <a:latin typeface="Calibri" panose="020F0502020204030204" pitchFamily="34" charset="0"/>
                <a:cs typeface="Kalimati" panose="00000400000000000000" pitchFamily="2"/>
              </a:rPr>
              <a:t>) </a:t>
            </a:r>
            <a:endParaRPr lang="ne-NP" sz="2400" b="1" dirty="0">
              <a:latin typeface="Calibri" panose="020F0502020204030204" pitchFamily="34" charset="0"/>
              <a:cs typeface="Kalimati" panose="00000400000000000000" pitchFamily="2"/>
            </a:endParaRPr>
          </a:p>
          <a:p>
            <a:pPr algn="just"/>
            <a:r>
              <a:rPr lang="ne-NP" sz="2000" dirty="0">
                <a:cs typeface="Kalimati" panose="00000400000000000000" pitchFamily="2"/>
              </a:rPr>
              <a:t>निवेदक उपर ज्यान सम्बन्धी महलको १७</a:t>
            </a:r>
            <a:r>
              <a:rPr lang="en-US" sz="2000" dirty="0">
                <a:cs typeface="Kalimati" pitchFamily="2"/>
              </a:rPr>
              <a:t>(</a:t>
            </a:r>
            <a:r>
              <a:rPr lang="ne-NP" sz="2000" dirty="0">
                <a:cs typeface="Kalimati" pitchFamily="2"/>
              </a:rPr>
              <a:t>२</a:t>
            </a:r>
            <a:r>
              <a:rPr lang="en-US" sz="2000" dirty="0">
                <a:cs typeface="Kalimati" pitchFamily="2"/>
              </a:rPr>
              <a:t>) </a:t>
            </a:r>
            <a:r>
              <a:rPr lang="ne-NP" sz="2000" dirty="0">
                <a:cs typeface="Kalimati" pitchFamily="2"/>
              </a:rPr>
              <a:t>नं अन्तर्गत ज्यान मार्न संयोग पारी दिएको भन्ने अभियोग लगाई मुद्दा चलाएको देखिएको तर सो संयोग पारिदिने यो यस्तो कार्य निवेदकले गरेको यो त्यस्तो तत्काल प्राप्त प्रमाणबाट देखिएको भन्ने शुरुको आदेशमा उल्लेख भएको नदेखिंदा उक्त आदेश कानून अनुरुपको भन्न नमिल्ने।</a:t>
            </a:r>
            <a:r>
              <a:rPr lang="en-US" sz="2000" dirty="0">
                <a:cs typeface="Kalimati" pitchFamily="2"/>
              </a:rPr>
              <a:t> </a:t>
            </a:r>
          </a:p>
          <a:p>
            <a:r>
              <a:rPr lang="ne-NP" sz="2000" dirty="0">
                <a:solidFill>
                  <a:srgbClr val="0070C0"/>
                </a:solidFill>
                <a:cs typeface="Kalimati" panose="00000400000000000000" pitchFamily="2"/>
              </a:rPr>
              <a:t>निवेदक समेतका प्रतिवादीहरुका सम्बन्धमा केवल गोश्वारा रुपमा कसूरदार हो भन्ने मनासिव प्रमाण भएको हुँदा थुनामा राखी पूर्पक्ष गर्नु भन्ने आदेश भएको अ वं ११८ को मनसाय अनुकुल देखिंदैन भनी थुनामा राख्ने गरेको गैरकानूनी भन्दै बन्दी प्रत्यक्षीकरणको जारी भएको छ</a:t>
            </a:r>
            <a:r>
              <a:rPr lang="ne-NP" sz="2000" dirty="0">
                <a:cs typeface="Kalimati" panose="00000400000000000000" pitchFamily="2"/>
              </a:rPr>
              <a:t>।</a:t>
            </a:r>
            <a:r>
              <a:rPr lang="en-US" sz="2000" dirty="0">
                <a:cs typeface="Kalimati" panose="00000400000000000000" pitchFamily="2"/>
              </a:rPr>
              <a:t> </a:t>
            </a:r>
            <a:endParaRPr lang="ne-NP" sz="2000" dirty="0">
              <a:cs typeface="Kalimati" panose="00000400000000000000" pitchFamily="2"/>
            </a:endParaRPr>
          </a:p>
          <a:p>
            <a:r>
              <a:rPr lang="ne-NP" sz="2000" dirty="0">
                <a:solidFill>
                  <a:srgbClr val="00B050"/>
                </a:solidFill>
                <a:cs typeface="Kalimati" panose="00000400000000000000" pitchFamily="2"/>
              </a:rPr>
              <a:t>त्यस्तै समान संलग्नता भएका प्रतिवादीहरुलाई समानरुपमा तारेखमा राख्नु पर्नेमा निवेदकलाई थुनामा राख्ने गरेको आदेश कानून संगत देखिंदैन भनी थुनाबाट मुक्त गरिएको देखिन्छ</a:t>
            </a:r>
            <a:r>
              <a:rPr lang="ne-NP" sz="2000" dirty="0">
                <a:cs typeface="Kalimati" panose="00000400000000000000" pitchFamily="2"/>
              </a:rPr>
              <a:t>।</a:t>
            </a:r>
            <a:endParaRPr lang="en-US" sz="2000" dirty="0">
              <a:cs typeface="Kalimati" panose="00000400000000000000" pitchFamily="2"/>
            </a:endParaRPr>
          </a:p>
          <a:p>
            <a:pPr marL="0" indent="0" algn="ctr">
              <a:buNone/>
            </a:pPr>
            <a:r>
              <a:rPr lang="ne-NP" sz="2000" b="1" dirty="0">
                <a:latin typeface="Calibri" panose="020F0502020204030204" pitchFamily="34" charset="0"/>
                <a:cs typeface="Kalimati" panose="00000400000000000000" pitchFamily="2"/>
              </a:rPr>
              <a:t>      </a:t>
            </a:r>
            <a:r>
              <a:rPr lang="en-US" sz="2000" b="1" dirty="0">
                <a:latin typeface="Calibri" panose="020F0502020204030204" pitchFamily="34" charset="0"/>
                <a:cs typeface="Kalimati" panose="00000400000000000000" pitchFamily="2"/>
              </a:rPr>
              <a:t>(</a:t>
            </a:r>
            <a:r>
              <a:rPr lang="ne-NP" sz="2000" b="1" dirty="0">
                <a:cs typeface="Kalimati" panose="00000400000000000000" pitchFamily="2"/>
              </a:rPr>
              <a:t>थुनछेकको आदेश गर्दा प्रति व्यक्ति आधार खुलाउनु पर्ने </a:t>
            </a:r>
            <a:r>
              <a:rPr lang="en-US" sz="2000" b="1" dirty="0">
                <a:latin typeface="Calibri" panose="020F0502020204030204" pitchFamily="34" charset="0"/>
                <a:cs typeface="Kalimati" panose="00000400000000000000" pitchFamily="2"/>
              </a:rPr>
              <a:t>)</a:t>
            </a:r>
            <a:endParaRPr lang="en-US" sz="2000" dirty="0"/>
          </a:p>
        </p:txBody>
      </p:sp>
      <p:sp>
        <p:nvSpPr>
          <p:cNvPr id="4" name="Slide Number Placeholder 3"/>
          <p:cNvSpPr>
            <a:spLocks noGrp="1"/>
          </p:cNvSpPr>
          <p:nvPr>
            <p:ph type="sldNum" sz="quarter" idx="12"/>
          </p:nvPr>
        </p:nvSpPr>
        <p:spPr/>
        <p:txBody>
          <a:bodyPr/>
          <a:lstStyle/>
          <a:p>
            <a:fld id="{26EA1BC9-060C-4734-A581-933889F0292E}" type="slidenum">
              <a:rPr lang="en-US" smtClean="0"/>
              <a:pPr/>
              <a:t>28</a:t>
            </a:fld>
            <a:endParaRPr lang="en-US"/>
          </a:p>
        </p:txBody>
      </p:sp>
    </p:spTree>
    <p:extLst>
      <p:ext uri="{BB962C8B-B14F-4D97-AF65-F5344CB8AC3E}">
        <p14:creationId xmlns:p14="http://schemas.microsoft.com/office/powerpoint/2010/main" val="3485489419"/>
      </p:ext>
    </p:extLst>
  </p:cSld>
  <p:clrMapOvr>
    <a:masterClrMapping/>
  </p:clrMapOvr>
  <p:transition spd="slow">
    <p:wedg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143750" cy="777873"/>
          </a:xfrm>
        </p:spPr>
        <p:txBody>
          <a:bodyPr>
            <a:normAutofit fontScale="90000"/>
          </a:bodyPr>
          <a:lstStyle/>
          <a:p>
            <a:br>
              <a:rPr lang="ne-NP" b="1" dirty="0"/>
            </a:br>
            <a:r>
              <a:rPr lang="ne-NP" sz="2700" b="1" dirty="0">
                <a:latin typeface="+mn-lt"/>
                <a:ea typeface="+mn-ea"/>
                <a:cs typeface="Kalimati" panose="00000400000000000000" pitchFamily="2"/>
              </a:rPr>
              <a:t>मान बहादुर तामाङ विरुद्ध का.जि.अ.समेत</a:t>
            </a:r>
            <a:r>
              <a:rPr lang="en-US" sz="2700" b="1" dirty="0">
                <a:latin typeface="+mn-lt"/>
                <a:ea typeface="+mn-ea"/>
                <a:cs typeface="Kalimati" panose="00000400000000000000" pitchFamily="2"/>
              </a:rPr>
              <a:t>,</a:t>
            </a:r>
            <a:r>
              <a:rPr lang="ne-NP" sz="2700" b="1" dirty="0">
                <a:latin typeface="+mn-lt"/>
                <a:ea typeface="+mn-ea"/>
                <a:cs typeface="Kalimati" panose="00000400000000000000" pitchFamily="2"/>
              </a:rPr>
              <a:t> (ने.का.प. २०५२</a:t>
            </a:r>
            <a:r>
              <a:rPr lang="en-US" sz="2700" b="1" dirty="0">
                <a:latin typeface="+mn-lt"/>
                <a:ea typeface="+mn-ea"/>
                <a:cs typeface="Kalimati" panose="00000400000000000000" pitchFamily="2"/>
              </a:rPr>
              <a:t>, </a:t>
            </a:r>
            <a:r>
              <a:rPr lang="ne-NP" sz="2700" b="1" dirty="0">
                <a:latin typeface="+mn-lt"/>
                <a:ea typeface="+mn-ea"/>
                <a:cs typeface="Kalimati" panose="00000400000000000000" pitchFamily="2"/>
              </a:rPr>
              <a:t>अङ्क ६</a:t>
            </a:r>
            <a:r>
              <a:rPr lang="en-US" sz="2700" b="1" dirty="0">
                <a:latin typeface="+mn-lt"/>
                <a:ea typeface="+mn-ea"/>
                <a:cs typeface="Kalimati" panose="00000400000000000000" pitchFamily="2"/>
              </a:rPr>
              <a:t>, </a:t>
            </a:r>
            <a:r>
              <a:rPr lang="ne-NP" sz="2700" b="1" dirty="0">
                <a:latin typeface="+mn-lt"/>
                <a:ea typeface="+mn-ea"/>
                <a:cs typeface="Kalimati" panose="00000400000000000000" pitchFamily="2"/>
              </a:rPr>
              <a:t>नि.नं. ६०१६)</a:t>
            </a:r>
            <a:br>
              <a:rPr lang="en-US" sz="2700" b="1" dirty="0">
                <a:latin typeface="+mn-lt"/>
                <a:ea typeface="+mn-ea"/>
                <a:cs typeface="Kalimati" panose="00000400000000000000" pitchFamily="2"/>
              </a:rPr>
            </a:br>
            <a:endParaRPr lang="en-US" sz="2700" b="1" dirty="0">
              <a:latin typeface="+mn-lt"/>
              <a:ea typeface="+mn-ea"/>
              <a:cs typeface="Kalimati" panose="00000400000000000000" pitchFamily="2"/>
            </a:endParaRPr>
          </a:p>
        </p:txBody>
      </p:sp>
      <p:sp>
        <p:nvSpPr>
          <p:cNvPr id="3" name="Content Placeholder 2"/>
          <p:cNvSpPr>
            <a:spLocks noGrp="1"/>
          </p:cNvSpPr>
          <p:nvPr>
            <p:ph idx="1"/>
          </p:nvPr>
        </p:nvSpPr>
        <p:spPr>
          <a:xfrm>
            <a:off x="628650" y="1295400"/>
            <a:ext cx="7886700" cy="4881563"/>
          </a:xfrm>
        </p:spPr>
        <p:txBody>
          <a:bodyPr/>
          <a:lstStyle/>
          <a:p>
            <a:r>
              <a:rPr lang="ne-NP" sz="3200" dirty="0">
                <a:cs typeface="Kalimati" panose="00000400000000000000" pitchFamily="2"/>
              </a:rPr>
              <a:t>वारदातमा समान तथ्य र परिस्थिति भएको तथा समान संलग्नता भएका अन्य प्रतिवादीहरूलाई तारिखमा राख्‍ने गरी आदेश भएको</a:t>
            </a:r>
            <a:r>
              <a:rPr lang="en-US" sz="3200" dirty="0">
                <a:cs typeface="Kalimati" panose="00000400000000000000" pitchFamily="2"/>
              </a:rPr>
              <a:t>, </a:t>
            </a:r>
            <a:endParaRPr lang="ne-NP" sz="3200" dirty="0">
              <a:cs typeface="Kalimati" panose="00000400000000000000" pitchFamily="2"/>
            </a:endParaRPr>
          </a:p>
          <a:p>
            <a:r>
              <a:rPr lang="ne-NP" sz="3200" dirty="0">
                <a:cs typeface="Kalimati" panose="00000400000000000000" pitchFamily="2"/>
              </a:rPr>
              <a:t>तर निवेदकको हकमा थुनामा राख्ने गरी भएको आदेश कानून संगत नदेखिने।</a:t>
            </a:r>
            <a:endParaRPr lang="en-US" sz="3200" dirty="0">
              <a:cs typeface="Kalimati" panose="00000400000000000000" pitchFamily="2"/>
            </a:endParaRPr>
          </a:p>
          <a:p>
            <a:pPr marL="0" indent="0">
              <a:buNone/>
            </a:pPr>
            <a:endParaRPr lang="en-US" dirty="0"/>
          </a:p>
          <a:p>
            <a:endParaRPr lang="en-US" dirty="0"/>
          </a:p>
        </p:txBody>
      </p:sp>
      <p:sp>
        <p:nvSpPr>
          <p:cNvPr id="4" name="Slide Number Placeholder 3"/>
          <p:cNvSpPr>
            <a:spLocks noGrp="1"/>
          </p:cNvSpPr>
          <p:nvPr>
            <p:ph type="sldNum" sz="quarter" idx="12"/>
          </p:nvPr>
        </p:nvSpPr>
        <p:spPr/>
        <p:txBody>
          <a:bodyPr/>
          <a:lstStyle/>
          <a:p>
            <a:fld id="{26EA1BC9-060C-4734-A581-933889F0292E}" type="slidenum">
              <a:rPr lang="en-US" smtClean="0"/>
              <a:pPr/>
              <a:t>29</a:t>
            </a:fld>
            <a:endParaRPr lang="en-US"/>
          </a:p>
        </p:txBody>
      </p:sp>
    </p:spTree>
    <p:extLst>
      <p:ext uri="{BB962C8B-B14F-4D97-AF65-F5344CB8AC3E}">
        <p14:creationId xmlns:p14="http://schemas.microsoft.com/office/powerpoint/2010/main" val="2915981531"/>
      </p:ext>
    </p:extLst>
  </p:cSld>
  <p:clrMapOvr>
    <a:masterClrMapping/>
  </p:clrMapOvr>
  <p:transition spd="slow">
    <p:wedg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ne-NP" sz="2800" dirty="0">
                <a:cs typeface="Kalimati" pitchFamily="2"/>
              </a:rPr>
            </a:br>
            <a:br>
              <a:rPr lang="ne-NP" sz="2800" dirty="0">
                <a:cs typeface="Kalimati" pitchFamily="2"/>
              </a:rPr>
            </a:br>
            <a:r>
              <a:rPr lang="ne-NP" sz="2800" dirty="0">
                <a:cs typeface="Kalimati" pitchFamily="2"/>
              </a:rPr>
              <a:t>आस्ना पराजुली विरूद्ध जिल्ला न्यायाधीश श्रीकृष्ण भट्टराई</a:t>
            </a:r>
            <a:r>
              <a:rPr lang="en-US" sz="2800" dirty="0">
                <a:cs typeface="Kalimati" pitchFamily="2"/>
              </a:rPr>
              <a:t>, </a:t>
            </a:r>
            <a:r>
              <a:rPr lang="ne-NP" sz="2800" dirty="0">
                <a:cs typeface="Kalimati" pitchFamily="2"/>
              </a:rPr>
              <a:t>भक्तपुर जिल्ला अदालतसमेत </a:t>
            </a:r>
            <a:br>
              <a:rPr lang="en-US" sz="2800" dirty="0">
                <a:cs typeface="Kalimati" pitchFamily="2"/>
              </a:rPr>
            </a:br>
            <a:r>
              <a:rPr lang="ne-NP" sz="2800" dirty="0">
                <a:cs typeface="Kalimati" pitchFamily="2"/>
              </a:rPr>
              <a:t>(नेकाप २०७४ अङ्क ५ निर्णय नं</a:t>
            </a:r>
            <a:r>
              <a:rPr lang="en-US" sz="2800" dirty="0">
                <a:cs typeface="Kalimati" pitchFamily="2"/>
              </a:rPr>
              <a:t>. </a:t>
            </a:r>
            <a:r>
              <a:rPr lang="ne-NP" sz="2800" dirty="0">
                <a:cs typeface="Kalimati" pitchFamily="2"/>
              </a:rPr>
              <a:t>९८०५)</a:t>
            </a:r>
            <a:br>
              <a:rPr lang="en-US" sz="2800" dirty="0">
                <a:cs typeface="Kalimati" pitchFamily="2"/>
              </a:rPr>
            </a:br>
            <a:br>
              <a:rPr lang="en-US" sz="2800" dirty="0">
                <a:cs typeface="Kalimati" pitchFamily="2"/>
              </a:rPr>
            </a:br>
            <a:endParaRPr lang="en-US" sz="2800" dirty="0">
              <a:cs typeface="Kalimati" pitchFamily="2"/>
            </a:endParaRPr>
          </a:p>
        </p:txBody>
      </p:sp>
      <p:sp>
        <p:nvSpPr>
          <p:cNvPr id="3" name="Content Placeholder 2"/>
          <p:cNvSpPr>
            <a:spLocks noGrp="1"/>
          </p:cNvSpPr>
          <p:nvPr>
            <p:ph idx="1"/>
          </p:nvPr>
        </p:nvSpPr>
        <p:spPr/>
        <p:txBody>
          <a:bodyPr>
            <a:normAutofit/>
          </a:bodyPr>
          <a:lstStyle/>
          <a:p>
            <a:pPr marL="0" indent="0" algn="just">
              <a:buNone/>
            </a:pPr>
            <a:r>
              <a:rPr lang="ne-NP" dirty="0">
                <a:cs typeface="Kalimati" pitchFamily="2"/>
              </a:rPr>
              <a:t>मुद्दा</a:t>
            </a:r>
            <a:r>
              <a:rPr lang="en-US" dirty="0">
                <a:cs typeface="Kalimati" pitchFamily="2"/>
              </a:rPr>
              <a:t>- </a:t>
            </a:r>
            <a:r>
              <a:rPr lang="ne-NP" b="1" dirty="0">
                <a:cs typeface="Kalimati" pitchFamily="2"/>
              </a:rPr>
              <a:t>बन्दीप्रत्यक्षीकरण</a:t>
            </a:r>
            <a:endParaRPr lang="en-US" b="1" dirty="0">
              <a:cs typeface="Kalimati" pitchFamily="2"/>
            </a:endParaRPr>
          </a:p>
          <a:p>
            <a:pPr algn="just"/>
            <a:r>
              <a:rPr lang="ne-NP" b="1" dirty="0">
                <a:cs typeface="Kalimati" pitchFamily="2"/>
              </a:rPr>
              <a:t>अदालतमा अभियोगपत्र दायर भई थुनछेकको प्रयोजनको लागि भएको आदेशमा चित्त नबुझेको अवस्थामा वैकल्पिक उपचारको रूपमा रहेको मुलुकी ऐन अ</a:t>
            </a:r>
            <a:r>
              <a:rPr lang="en-US" b="1" dirty="0">
                <a:cs typeface="Kalimati" pitchFamily="2"/>
              </a:rPr>
              <a:t>.</a:t>
            </a:r>
            <a:r>
              <a:rPr lang="ne-NP" b="1" dirty="0">
                <a:cs typeface="Kalimati" pitchFamily="2"/>
              </a:rPr>
              <a:t>बं</a:t>
            </a:r>
            <a:r>
              <a:rPr lang="en-US" b="1" dirty="0">
                <a:cs typeface="Kalimati" pitchFamily="2"/>
              </a:rPr>
              <a:t>. </a:t>
            </a:r>
            <a:r>
              <a:rPr lang="ne-NP" b="1" dirty="0">
                <a:cs typeface="Kalimati" pitchFamily="2"/>
              </a:rPr>
              <a:t>१७ नं</a:t>
            </a:r>
            <a:r>
              <a:rPr lang="en-US" b="1" dirty="0">
                <a:cs typeface="Kalimati" pitchFamily="2"/>
              </a:rPr>
              <a:t>. </a:t>
            </a:r>
            <a:r>
              <a:rPr lang="ne-NP" b="1" dirty="0">
                <a:cs typeface="Kalimati" pitchFamily="2"/>
              </a:rPr>
              <a:t>को कानूनी मार्ग अवलम्बन गरी माथिल्लो अदालतमा निवेदन दिनसक्ने।</a:t>
            </a:r>
          </a:p>
          <a:p>
            <a:pPr algn="just"/>
            <a:r>
              <a:rPr lang="ne-NP" b="1" dirty="0">
                <a:cs typeface="Kalimati" pitchFamily="2"/>
              </a:rPr>
              <a:t>सो अवलम्बन नगरी आदेश गर्ने न्यायाधीश एवं अदालतसमेतलाई विपक्षी बनाई यस अदालतको असाधारण अधिकार क्षेत्रअन्तर्गत अदालत प्रवेश गर्नु रिट विधिशास्त्रीय मान्यता</a:t>
            </a:r>
            <a:r>
              <a:rPr lang="en-US" b="1" dirty="0">
                <a:cs typeface="Kalimati" pitchFamily="2"/>
              </a:rPr>
              <a:t>, </a:t>
            </a:r>
            <a:r>
              <a:rPr lang="ne-NP" b="1" dirty="0">
                <a:cs typeface="Kalimati" pitchFamily="2"/>
              </a:rPr>
              <a:t>स्वतन्त्र न्यायपालिकाको मर्म एवं नेपालको संविधानको धारा १३३</a:t>
            </a:r>
            <a:r>
              <a:rPr lang="en-US" b="1" dirty="0">
                <a:cs typeface="Kalimati" pitchFamily="2"/>
              </a:rPr>
              <a:t>(</a:t>
            </a:r>
            <a:r>
              <a:rPr lang="ne-NP" b="1" dirty="0">
                <a:cs typeface="Kalimati" pitchFamily="2"/>
              </a:rPr>
              <a:t>२</a:t>
            </a:r>
            <a:r>
              <a:rPr lang="en-US" b="1" dirty="0">
                <a:cs typeface="Kalimati" pitchFamily="2"/>
              </a:rPr>
              <a:t>) </a:t>
            </a:r>
            <a:r>
              <a:rPr lang="ne-NP" b="1" dirty="0">
                <a:cs typeface="Kalimati" pitchFamily="2"/>
              </a:rPr>
              <a:t>एवं मुलुकी ऐन अ</a:t>
            </a:r>
            <a:r>
              <a:rPr lang="en-US" b="1" dirty="0">
                <a:cs typeface="Kalimati" pitchFamily="2"/>
              </a:rPr>
              <a:t>.</a:t>
            </a:r>
            <a:r>
              <a:rPr lang="ne-NP" b="1" dirty="0">
                <a:cs typeface="Kalimati" pitchFamily="2"/>
              </a:rPr>
              <a:t>बं</a:t>
            </a:r>
            <a:r>
              <a:rPr lang="en-US" b="1" dirty="0">
                <a:cs typeface="Kalimati" pitchFamily="2"/>
              </a:rPr>
              <a:t>. </a:t>
            </a:r>
            <a:r>
              <a:rPr lang="ne-NP" b="1" dirty="0">
                <a:cs typeface="Kalimati" pitchFamily="2"/>
              </a:rPr>
              <a:t>१७ नं</a:t>
            </a:r>
            <a:r>
              <a:rPr lang="en-US" b="1" dirty="0">
                <a:cs typeface="Kalimati" pitchFamily="2"/>
              </a:rPr>
              <a:t>.</a:t>
            </a:r>
            <a:r>
              <a:rPr lang="ne-NP" b="1" dirty="0">
                <a:cs typeface="Kalimati" pitchFamily="2"/>
              </a:rPr>
              <a:t>समेतको प्रतिकूल रहेको देखिने।</a:t>
            </a:r>
            <a:endParaRPr lang="en-US" b="1" dirty="0">
              <a:cs typeface="Kalimati" pitchFamily="2"/>
            </a:endParaRPr>
          </a:p>
          <a:p>
            <a:pPr algn="just"/>
            <a:endParaRPr lang="en-US" dirty="0">
              <a:cs typeface="Kalimati" pitchFamily="2"/>
            </a:endParaRPr>
          </a:p>
          <a:p>
            <a:pPr algn="just"/>
            <a:endParaRPr lang="en-US" dirty="0">
              <a:cs typeface="Kalimati" pitchFamily="2"/>
            </a:endParaRPr>
          </a:p>
        </p:txBody>
      </p:sp>
    </p:spTree>
    <p:extLst>
      <p:ext uri="{BB962C8B-B14F-4D97-AF65-F5344CB8AC3E}">
        <p14:creationId xmlns:p14="http://schemas.microsoft.com/office/powerpoint/2010/main" val="3381372856"/>
      </p:ext>
    </p:extLst>
  </p:cSld>
  <p:clrMapOvr>
    <a:masterClrMapping/>
  </p:clrMapOvr>
  <p:transition spd="slow">
    <p:wedg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7943" y="381000"/>
            <a:ext cx="7886700" cy="1325563"/>
          </a:xfrm>
        </p:spPr>
        <p:txBody>
          <a:bodyPr>
            <a:normAutofit/>
          </a:bodyPr>
          <a:lstStyle/>
          <a:p>
            <a:r>
              <a:rPr lang="ne-NP" sz="2800" dirty="0">
                <a:cs typeface="Kalimati" pitchFamily="2"/>
              </a:rPr>
              <a:t>अधिवक्ता राजीव बास्तोला समेत विरुद्ध  जिल्ला वन अधिकृत समेत</a:t>
            </a:r>
            <a:r>
              <a:rPr lang="en-US" sz="2800" dirty="0">
                <a:cs typeface="Kalimati" pitchFamily="2"/>
              </a:rPr>
              <a:t> </a:t>
            </a:r>
            <a:r>
              <a:rPr lang="ne-NP" sz="2800" dirty="0">
                <a:cs typeface="Kalimati" pitchFamily="2"/>
              </a:rPr>
              <a:t>(</a:t>
            </a:r>
            <a:r>
              <a:rPr lang="ne-NP" sz="2400" dirty="0">
                <a:cs typeface="Kalimati" pitchFamily="2"/>
              </a:rPr>
              <a:t>नेकाप </a:t>
            </a:r>
            <a:r>
              <a:rPr lang="en-US" sz="2400" dirty="0">
                <a:cs typeface="Kalimati" pitchFamily="2"/>
              </a:rPr>
              <a:t> </a:t>
            </a:r>
            <a:r>
              <a:rPr lang="ne-NP" sz="2400" dirty="0">
                <a:cs typeface="Kalimati" pitchFamily="2"/>
              </a:rPr>
              <a:t>२०६६</a:t>
            </a:r>
            <a:r>
              <a:rPr lang="en-US" sz="2400" dirty="0">
                <a:cs typeface="Kalimati" pitchFamily="2"/>
              </a:rPr>
              <a:t>,</a:t>
            </a:r>
            <a:r>
              <a:rPr lang="ne-NP" sz="2400" dirty="0">
                <a:cs typeface="Kalimati" pitchFamily="2"/>
              </a:rPr>
              <a:t> निर्णय नं</a:t>
            </a:r>
            <a:r>
              <a:rPr lang="en-US" sz="2400" dirty="0">
                <a:cs typeface="Kalimati" pitchFamily="2"/>
              </a:rPr>
              <a:t>. </a:t>
            </a:r>
            <a:r>
              <a:rPr lang="ne-NP" sz="2400" dirty="0">
                <a:cs typeface="Kalimati" pitchFamily="2"/>
              </a:rPr>
              <a:t>८२०२</a:t>
            </a:r>
            <a:r>
              <a:rPr lang="ne-NP" sz="3200" dirty="0">
                <a:cs typeface="Kalimati" pitchFamily="2"/>
              </a:rPr>
              <a:t>)</a:t>
            </a:r>
            <a:endParaRPr lang="en-US" sz="3200" dirty="0">
              <a:cs typeface="Kalimati" pitchFamily="2"/>
            </a:endParaRPr>
          </a:p>
        </p:txBody>
      </p:sp>
      <p:sp>
        <p:nvSpPr>
          <p:cNvPr id="3" name="Content Placeholder 2"/>
          <p:cNvSpPr>
            <a:spLocks noGrp="1"/>
          </p:cNvSpPr>
          <p:nvPr>
            <p:ph idx="1"/>
          </p:nvPr>
        </p:nvSpPr>
        <p:spPr>
          <a:xfrm>
            <a:off x="597943" y="1524000"/>
            <a:ext cx="7917407" cy="4652963"/>
          </a:xfrm>
        </p:spPr>
        <p:txBody>
          <a:bodyPr>
            <a:normAutofit/>
          </a:bodyPr>
          <a:lstStyle/>
          <a:p>
            <a:pPr marL="0" indent="0">
              <a:buNone/>
            </a:pPr>
            <a:r>
              <a:rPr lang="ne-NP" dirty="0">
                <a:cs typeface="Kalimati" pitchFamily="2"/>
              </a:rPr>
              <a:t>विषयः</a:t>
            </a:r>
            <a:r>
              <a:rPr lang="en-US" dirty="0">
                <a:cs typeface="Kalimati" pitchFamily="2"/>
              </a:rPr>
              <a:t>– </a:t>
            </a:r>
            <a:r>
              <a:rPr lang="ne-NP" dirty="0">
                <a:cs typeface="Kalimati" pitchFamily="2"/>
              </a:rPr>
              <a:t>उत्प्रेषण।</a:t>
            </a:r>
            <a:endParaRPr lang="en-US" dirty="0">
              <a:cs typeface="Kalimati" pitchFamily="2"/>
            </a:endParaRPr>
          </a:p>
          <a:p>
            <a:pPr algn="just"/>
            <a:r>
              <a:rPr lang="ne-NP" dirty="0">
                <a:cs typeface="Kalimati" pitchFamily="2"/>
              </a:rPr>
              <a:t>थुनछेकलाई निषेध गर्ने हो भने कुनै पनि फौजदारी मुद्दाको अनुसन्धान प्रक्रिया नै सञ्चालन गर्न सकिँदैन। त्यसरी नै शंकित आरोपित समाजमा खुल्ला रुपमा हिड्न सक्ने भै </a:t>
            </a:r>
            <a:r>
              <a:rPr lang="ne-NP" b="1" dirty="0">
                <a:cs typeface="Kalimati" pitchFamily="2"/>
              </a:rPr>
              <a:t>समाजले नै असुरक्षित महसूस</a:t>
            </a:r>
            <a:r>
              <a:rPr lang="ne-NP" dirty="0">
                <a:cs typeface="Kalimati" pitchFamily="2"/>
              </a:rPr>
              <a:t> गर्नुपर्ने तथा प्रमाण नष्ट गर्न सक्ने उच्च सम्भावना रहन जानुका साथै कतिपय अवस्थामा त्यस्ता अभियुक्तहरूको जीउ ज्यान नै खतरामा पर्न सक्ने।</a:t>
            </a:r>
            <a:endParaRPr lang="en-US" dirty="0">
              <a:cs typeface="Kalimati" pitchFamily="2"/>
            </a:endParaRPr>
          </a:p>
          <a:p>
            <a:pPr algn="just"/>
            <a:r>
              <a:rPr lang="ne-NP" b="1" dirty="0">
                <a:cs typeface="Kalimati" pitchFamily="2"/>
              </a:rPr>
              <a:t>समाज र राष्ट्रलाई गम्भीर असर पार्ने फौजदारी</a:t>
            </a:r>
            <a:r>
              <a:rPr lang="ne-NP" dirty="0">
                <a:cs typeface="Kalimati" pitchFamily="2"/>
              </a:rPr>
              <a:t> कसुर गरेको आरोप लागी अदालतसमक्ष पेश गरिएका र तत्काल प्राप्त प्रमाणबाट सो अवस्था पुष्टि भएका अभियुक्तहरूलाई निर्दोषिताको अनुमानको आडमा छाड्दै जाने हो भने फौजदारी न्याय प्रशासनले कार्य गर्न नसक्ने।</a:t>
            </a:r>
            <a:endParaRPr lang="en-US" dirty="0">
              <a:cs typeface="Kalimati" pitchFamily="2"/>
            </a:endParaRPr>
          </a:p>
          <a:p>
            <a:pPr marL="0" indent="0">
              <a:buNone/>
            </a:pPr>
            <a:r>
              <a:rPr lang="en-US" dirty="0">
                <a:cs typeface="Kalimati" pitchFamily="2"/>
              </a:rPr>
              <a:t> </a:t>
            </a:r>
          </a:p>
          <a:p>
            <a:endParaRPr lang="en-US" dirty="0">
              <a:cs typeface="Kalimati" pitchFamily="2"/>
            </a:endParaRPr>
          </a:p>
        </p:txBody>
      </p:sp>
    </p:spTree>
    <p:extLst>
      <p:ext uri="{BB962C8B-B14F-4D97-AF65-F5344CB8AC3E}">
        <p14:creationId xmlns:p14="http://schemas.microsoft.com/office/powerpoint/2010/main" val="3210562458"/>
      </p:ext>
    </p:extLst>
  </p:cSld>
  <p:clrMapOvr>
    <a:masterClrMapping/>
  </p:clrMapOvr>
  <p:transition spd="slow">
    <p:wedg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1"/>
            <a:ext cx="7848600" cy="609600"/>
          </a:xfrm>
        </p:spPr>
        <p:txBody>
          <a:bodyPr>
            <a:normAutofit/>
          </a:bodyPr>
          <a:lstStyle/>
          <a:p>
            <a:r>
              <a:rPr lang="ne-NP" sz="3200" dirty="0">
                <a:cs typeface="Kalimati" panose="00000400000000000000" pitchFamily="2"/>
              </a:rPr>
              <a:t>थुनछेक आदेशको सन्दर्भमा आउने द्विविधाहरु</a:t>
            </a:r>
            <a:endParaRPr lang="en-US" sz="3200" dirty="0">
              <a:cs typeface="Kalimati" panose="00000400000000000000" pitchFamily="2"/>
            </a:endParaRPr>
          </a:p>
        </p:txBody>
      </p:sp>
      <p:sp>
        <p:nvSpPr>
          <p:cNvPr id="4" name="Content Placeholder 3"/>
          <p:cNvSpPr>
            <a:spLocks noGrp="1"/>
          </p:cNvSpPr>
          <p:nvPr>
            <p:ph idx="1"/>
          </p:nvPr>
        </p:nvSpPr>
        <p:spPr>
          <a:xfrm>
            <a:off x="457200" y="838201"/>
            <a:ext cx="8229600" cy="5518150"/>
          </a:xfrm>
        </p:spPr>
        <p:txBody>
          <a:bodyPr>
            <a:noAutofit/>
          </a:bodyPr>
          <a:lstStyle/>
          <a:p>
            <a:r>
              <a:rPr lang="ne-NP" sz="1600" dirty="0">
                <a:solidFill>
                  <a:srgbClr val="00B0F0"/>
                </a:solidFill>
                <a:cs typeface="Kalimati" panose="00000400000000000000" pitchFamily="2"/>
              </a:rPr>
              <a:t>अभियोग मागदावी गोश्वरा भएकोमा थुनछेक आदेश कस्तो हुने।</a:t>
            </a:r>
          </a:p>
          <a:p>
            <a:r>
              <a:rPr lang="ne-NP" sz="1600" dirty="0">
                <a:cs typeface="Kalimati" panose="00000400000000000000" pitchFamily="2"/>
              </a:rPr>
              <a:t>संगठित अपराध निवारण ऐन</a:t>
            </a:r>
            <a:r>
              <a:rPr lang="en-US" sz="1600" dirty="0">
                <a:cs typeface="Kalimati" panose="00000400000000000000" pitchFamily="2"/>
              </a:rPr>
              <a:t>,</a:t>
            </a:r>
            <a:r>
              <a:rPr lang="ne-NP" sz="1600" dirty="0">
                <a:cs typeface="Kalimati" panose="00000400000000000000" pitchFamily="2"/>
              </a:rPr>
              <a:t> २०७० को समेत मागदावी लिइएको अबस्थामा के गर्ने</a:t>
            </a:r>
            <a:r>
              <a:rPr lang="en-US" sz="1600" dirty="0">
                <a:cs typeface="Kalimati" panose="00000400000000000000" pitchFamily="2"/>
              </a:rPr>
              <a:t> ?</a:t>
            </a:r>
            <a:endParaRPr lang="ne-NP" sz="1600" dirty="0">
              <a:cs typeface="Kalimati" panose="00000400000000000000" pitchFamily="2"/>
            </a:endParaRPr>
          </a:p>
          <a:p>
            <a:r>
              <a:rPr lang="ne-NP" sz="1600" dirty="0">
                <a:cs typeface="Kalimati" panose="00000400000000000000" pitchFamily="2"/>
              </a:rPr>
              <a:t>कानूनले सुबिधा प्रदान गरेका दश वर्ष वा सो भन्दा बढी कैद सजाय हुन सक्ने कसुरमा वाहेक अभियुक्त नावालक वा शारीरिक वा मानसिक रोग लागी अशक्त भएको वा सात महिना भन्दा बढीकी गर्भवती महिला वा पचहत्तर वर्ष माथिको बृद्ध भएमा के गर्ने</a:t>
            </a:r>
            <a:r>
              <a:rPr lang="en-US" sz="1600" dirty="0">
                <a:cs typeface="Kalimati" panose="00000400000000000000" pitchFamily="2"/>
              </a:rPr>
              <a:t>?</a:t>
            </a:r>
            <a:endParaRPr lang="ne-NP" sz="1600" dirty="0">
              <a:cs typeface="Kalimati" panose="00000400000000000000" pitchFamily="2"/>
            </a:endParaRPr>
          </a:p>
          <a:p>
            <a:r>
              <a:rPr lang="ne-NP" sz="1600" dirty="0">
                <a:solidFill>
                  <a:srgbClr val="92D050"/>
                </a:solidFill>
                <a:cs typeface="Kalimati" panose="00000400000000000000" pitchFamily="2"/>
              </a:rPr>
              <a:t>३ वर्ष भन्दा बढी सजाय हुने सामान्य कार्यविधि अन्तर्गतको मुद्दा छ</a:t>
            </a:r>
            <a:r>
              <a:rPr lang="en-US" sz="1600" dirty="0">
                <a:solidFill>
                  <a:srgbClr val="92D050"/>
                </a:solidFill>
                <a:cs typeface="Kalimati" panose="00000400000000000000" pitchFamily="2"/>
              </a:rPr>
              <a:t>,</a:t>
            </a:r>
            <a:r>
              <a:rPr lang="ne-NP" sz="1600" dirty="0">
                <a:solidFill>
                  <a:srgbClr val="92D050"/>
                </a:solidFill>
                <a:cs typeface="Kalimati" panose="00000400000000000000" pitchFamily="2"/>
              </a:rPr>
              <a:t> तर तत्काल प्राप्त मूल्याङ्कन गर्दा थुनामा राख्नु पर्ने अबस्था नदेखिएको।</a:t>
            </a:r>
          </a:p>
          <a:p>
            <a:r>
              <a:rPr lang="ne-NP" sz="1600" dirty="0">
                <a:cs typeface="Kalimati" panose="00000400000000000000" pitchFamily="2"/>
              </a:rPr>
              <a:t>आर्थिक अपराध</a:t>
            </a:r>
            <a:r>
              <a:rPr lang="en-US" sz="1600" dirty="0">
                <a:cs typeface="Kalimati" panose="00000400000000000000" pitchFamily="2"/>
              </a:rPr>
              <a:t>,</a:t>
            </a:r>
            <a:r>
              <a:rPr lang="ne-NP" sz="1600" dirty="0">
                <a:cs typeface="Kalimati" panose="00000400000000000000" pitchFamily="2"/>
              </a:rPr>
              <a:t> ठगी</a:t>
            </a:r>
            <a:r>
              <a:rPr lang="en-US" sz="1600" dirty="0">
                <a:cs typeface="Kalimati" panose="00000400000000000000" pitchFamily="2"/>
              </a:rPr>
              <a:t>,</a:t>
            </a:r>
            <a:r>
              <a:rPr lang="ne-NP" sz="1600" dirty="0">
                <a:cs typeface="Kalimati" panose="00000400000000000000" pitchFamily="2"/>
              </a:rPr>
              <a:t> बैदेशिक रोजगार वा कम्पनी वा करारको आलोकमा कुनै अपराध भए घटेको छ भने के गर्ने</a:t>
            </a:r>
            <a:r>
              <a:rPr lang="en-US" sz="1600" dirty="0">
                <a:cs typeface="Kalimati" panose="00000400000000000000" pitchFamily="2"/>
              </a:rPr>
              <a:t> ?</a:t>
            </a:r>
            <a:endParaRPr lang="ne-NP" sz="1600" dirty="0">
              <a:cs typeface="Kalimati" panose="00000400000000000000" pitchFamily="2"/>
            </a:endParaRPr>
          </a:p>
          <a:p>
            <a:r>
              <a:rPr lang="ne-NP" sz="1600" dirty="0">
                <a:cs typeface="Kalimati" panose="00000400000000000000" pitchFamily="2"/>
              </a:rPr>
              <a:t>३ वर्ष भन्दा कम</a:t>
            </a:r>
            <a:r>
              <a:rPr lang="en-US" sz="1600" dirty="0">
                <a:cs typeface="Kalimati" panose="00000400000000000000" pitchFamily="2"/>
              </a:rPr>
              <a:t> </a:t>
            </a:r>
            <a:r>
              <a:rPr lang="ne-NP" sz="1600" dirty="0">
                <a:cs typeface="Kalimati" panose="00000400000000000000" pitchFamily="2"/>
              </a:rPr>
              <a:t>अवधिदेखि माथि कैद हुने अपराधमा के गर्ने।जस्तैः लिखत सम्बन्धी कसुर</a:t>
            </a:r>
            <a:r>
              <a:rPr lang="en-US" sz="1600" dirty="0">
                <a:cs typeface="Kalimati" panose="00000400000000000000" pitchFamily="2"/>
              </a:rPr>
              <a:t>,</a:t>
            </a:r>
            <a:r>
              <a:rPr lang="ne-NP" sz="1600" dirty="0">
                <a:cs typeface="Kalimati" panose="00000400000000000000" pitchFamily="2"/>
              </a:rPr>
              <a:t> ठगी वा आपराधिक विश्वासधात वा ज्यान मार्ने उद्योग वा अन्यमा के गर्ने</a:t>
            </a:r>
            <a:r>
              <a:rPr lang="en-US" sz="1600" dirty="0">
                <a:cs typeface="Kalimati" panose="00000400000000000000" pitchFamily="2"/>
              </a:rPr>
              <a:t>?</a:t>
            </a:r>
            <a:endParaRPr lang="ne-NP" sz="1600" dirty="0">
              <a:cs typeface="Kalimati" panose="00000400000000000000" pitchFamily="2"/>
            </a:endParaRPr>
          </a:p>
          <a:p>
            <a:r>
              <a:rPr lang="ne-NP" sz="1600" dirty="0">
                <a:cs typeface="Kalimati" panose="00000400000000000000" pitchFamily="2"/>
              </a:rPr>
              <a:t>अपराधको गम्भीरता बढाउने वा घटाउने आधारहरुलाई के कुन रुपमा लिने।</a:t>
            </a:r>
            <a:endParaRPr lang="en-US" sz="1600" dirty="0">
              <a:cs typeface="Kalimati" panose="00000400000000000000" pitchFamily="2"/>
            </a:endParaRPr>
          </a:p>
          <a:p>
            <a:r>
              <a:rPr lang="ne-NP" sz="1600" dirty="0">
                <a:cs typeface="Kalimati" panose="00000400000000000000" pitchFamily="2"/>
              </a:rPr>
              <a:t>भावनात्मक हुने वा बस्तुगत हुने।केही भावना र संवेग न्यायिक मनको अंश भए पनि सोको प्रयोग के कति हुने।</a:t>
            </a:r>
          </a:p>
          <a:p>
            <a:r>
              <a:rPr lang="en-US" sz="1600" dirty="0"/>
              <a:t>Media Trial</a:t>
            </a:r>
          </a:p>
          <a:p>
            <a:r>
              <a:rPr lang="en-US" sz="1600" dirty="0"/>
              <a:t>High Profile Case</a:t>
            </a:r>
          </a:p>
          <a:p>
            <a:r>
              <a:rPr lang="en-US" sz="1600" dirty="0"/>
              <a:t>Rapa and other sexual offense (Minor and Adult)</a:t>
            </a:r>
            <a:endParaRPr lang="ne-NP" sz="1600" dirty="0"/>
          </a:p>
          <a:p>
            <a:r>
              <a:rPr lang="ne-NP" sz="1600" dirty="0">
                <a:cs typeface="Kalimati" panose="00000400000000000000" pitchFamily="2"/>
              </a:rPr>
              <a:t>तत्काल प्रमाण र मनासिव आधारलाई कुन रुपमा लिने।</a:t>
            </a:r>
            <a:endParaRPr lang="en-US" sz="1600" dirty="0">
              <a:cs typeface="Kalimati" panose="00000400000000000000" pitchFamily="2"/>
            </a:endParaRPr>
          </a:p>
          <a:p>
            <a:pPr marL="0" indent="0">
              <a:buNone/>
            </a:pPr>
            <a:endParaRPr lang="en-US" sz="1600" dirty="0"/>
          </a:p>
        </p:txBody>
      </p:sp>
      <p:sp>
        <p:nvSpPr>
          <p:cNvPr id="3" name="Slide Number Placeholder 2"/>
          <p:cNvSpPr>
            <a:spLocks noGrp="1"/>
          </p:cNvSpPr>
          <p:nvPr>
            <p:ph type="sldNum" sz="quarter" idx="12"/>
          </p:nvPr>
        </p:nvSpPr>
        <p:spPr/>
        <p:txBody>
          <a:bodyPr/>
          <a:lstStyle/>
          <a:p>
            <a:fld id="{26EA1BC9-060C-4734-A581-933889F0292E}" type="slidenum">
              <a:rPr lang="en-US" smtClean="0"/>
              <a:pPr/>
              <a:t>32</a:t>
            </a:fld>
            <a:endParaRPr lang="en-US"/>
          </a:p>
        </p:txBody>
      </p:sp>
    </p:spTree>
    <p:extLst>
      <p:ext uri="{BB962C8B-B14F-4D97-AF65-F5344CB8AC3E}">
        <p14:creationId xmlns:p14="http://schemas.microsoft.com/office/powerpoint/2010/main" val="1177963211"/>
      </p:ext>
    </p:extLst>
  </p:cSld>
  <p:clrMapOvr>
    <a:masterClrMapping/>
  </p:clrMapOvr>
  <p:transition spd="slow">
    <p:wedg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620000" cy="563562"/>
          </a:xfrm>
        </p:spPr>
        <p:txBody>
          <a:bodyPr>
            <a:noAutofit/>
          </a:bodyPr>
          <a:lstStyle/>
          <a:p>
            <a:r>
              <a:rPr lang="ne-NP" sz="2800" b="1" dirty="0">
                <a:solidFill>
                  <a:schemeClr val="tx1"/>
                </a:solidFill>
                <a:cs typeface="Kalimati" panose="00000400000000000000" pitchFamily="2"/>
              </a:rPr>
              <a:t>समस्या र चुनौतीहरु</a:t>
            </a:r>
            <a:endParaRPr lang="en-US" sz="2800" b="1" dirty="0">
              <a:solidFill>
                <a:schemeClr val="tx1"/>
              </a:solidFill>
              <a:cs typeface="Kalimati" panose="00000400000000000000" pitchFamily="2"/>
            </a:endParaRPr>
          </a:p>
        </p:txBody>
      </p:sp>
      <p:sp>
        <p:nvSpPr>
          <p:cNvPr id="4" name="Content Placeholder 3"/>
          <p:cNvSpPr>
            <a:spLocks noGrp="1"/>
          </p:cNvSpPr>
          <p:nvPr>
            <p:ph idx="1"/>
          </p:nvPr>
        </p:nvSpPr>
        <p:spPr>
          <a:xfrm>
            <a:off x="914400" y="762000"/>
            <a:ext cx="7772400" cy="5791200"/>
          </a:xfrm>
        </p:spPr>
        <p:txBody>
          <a:bodyPr>
            <a:normAutofit/>
          </a:bodyPr>
          <a:lstStyle/>
          <a:p>
            <a:r>
              <a:rPr lang="ne-NP" sz="2000" dirty="0">
                <a:cs typeface="Kalimati" panose="00000400000000000000" pitchFamily="2"/>
              </a:rPr>
              <a:t>थुनछेक आदेशका क्रममा कानूनी प्रक्रियागत त्रुटि हुने गरेको।</a:t>
            </a:r>
          </a:p>
          <a:p>
            <a:r>
              <a:rPr lang="ne-NP" sz="2000" dirty="0">
                <a:cs typeface="Kalimati" panose="00000400000000000000" pitchFamily="2"/>
              </a:rPr>
              <a:t>प्रतिवादीको वयानमा आवश्यक र पर्याप्त प्रश्नहरु</a:t>
            </a:r>
            <a:r>
              <a:rPr lang="en-US" sz="2000" dirty="0">
                <a:cs typeface="Kalimati" panose="00000400000000000000" pitchFamily="2"/>
              </a:rPr>
              <a:t>  </a:t>
            </a:r>
            <a:r>
              <a:rPr lang="ne-NP" sz="2000" dirty="0">
                <a:cs typeface="Kalimati" panose="00000400000000000000" pitchFamily="2"/>
              </a:rPr>
              <a:t>नसोधिने गरिएको।</a:t>
            </a:r>
          </a:p>
          <a:p>
            <a:r>
              <a:rPr lang="ne-NP" sz="2000" b="1" dirty="0">
                <a:cs typeface="Kalimati" panose="00000400000000000000" pitchFamily="2"/>
              </a:rPr>
              <a:t>थुनछेक आदेशहरुमा एकरुपताको अभाव।</a:t>
            </a:r>
          </a:p>
          <a:p>
            <a:r>
              <a:rPr lang="ne-NP" sz="2000" b="1" dirty="0">
                <a:cs typeface="Kalimati" panose="00000400000000000000" pitchFamily="2"/>
              </a:rPr>
              <a:t>कानून व्यवसायीहरुको उपस्थिती वा अस्वभाविक उपस्थिती।</a:t>
            </a:r>
          </a:p>
          <a:p>
            <a:r>
              <a:rPr lang="ne-NP" sz="2000" dirty="0">
                <a:latin typeface="Preeti" pitchFamily="2" charset="0"/>
                <a:cs typeface="Kalimati" panose="00000400000000000000" pitchFamily="2"/>
              </a:rPr>
              <a:t>गोश्वरा थुनछेक आदेश हुने गरेको।</a:t>
            </a:r>
          </a:p>
          <a:p>
            <a:r>
              <a:rPr lang="ne-NP" sz="2000" dirty="0">
                <a:latin typeface="Preeti" pitchFamily="2" charset="0"/>
                <a:cs typeface="Kalimati" panose="00000400000000000000" pitchFamily="2"/>
              </a:rPr>
              <a:t>थुनछेक आदेश उपरको निवेदन दायर गरिसक्नु पर्ने समय यकिन नभएको अबस्था।</a:t>
            </a:r>
          </a:p>
          <a:p>
            <a:r>
              <a:rPr lang="ne-NP" sz="2000" dirty="0">
                <a:latin typeface="Preeti" pitchFamily="2" charset="0"/>
                <a:cs typeface="Kalimati" panose="00000400000000000000" pitchFamily="2"/>
              </a:rPr>
              <a:t>मुलुकी अपराध कार्यविधि संहिताको व्यवस्था केही हदसम्म स्पष्ट </a:t>
            </a:r>
          </a:p>
          <a:p>
            <a:r>
              <a:rPr lang="ne-NP" sz="2000" dirty="0">
                <a:latin typeface="Preeti" pitchFamily="2" charset="0"/>
                <a:cs typeface="Kalimati" panose="00000400000000000000" pitchFamily="2"/>
              </a:rPr>
              <a:t>धरौट तथा जमानत निर्देशीकाको व्यवस्थालाई समेत हेर्नु सान्दर्भिक हुन आउँछ।</a:t>
            </a:r>
          </a:p>
          <a:p>
            <a:r>
              <a:rPr lang="en-US" sz="2000" dirty="0">
                <a:cs typeface="Kalimati" panose="00000400000000000000" pitchFamily="2"/>
              </a:rPr>
              <a:t>Media Trial </a:t>
            </a:r>
            <a:r>
              <a:rPr lang="ne-NP" sz="2000" dirty="0">
                <a:cs typeface="Kalimati" panose="00000400000000000000" pitchFamily="2"/>
              </a:rPr>
              <a:t>को अबस्थाबाट थुनछेक आदेशमा आई पर्ने चुनौती।</a:t>
            </a:r>
            <a:endParaRPr lang="en-US" sz="2000" dirty="0">
              <a:cs typeface="Kalimati" panose="00000400000000000000" pitchFamily="2"/>
            </a:endParaRPr>
          </a:p>
          <a:p>
            <a:r>
              <a:rPr lang="ne-NP" sz="2000" dirty="0">
                <a:cs typeface="Kalimati" panose="00000400000000000000" pitchFamily="2"/>
              </a:rPr>
              <a:t>चोरी मुद्दामा तीन जना प्रतिवादी भएको अबस्थामा डाँका हुने भनी परिभाषित गरिएकाले थुनामा राखी मुद्दाको पुर्पक्ष गर्नु पर्ने अबस्थालाई न्यायको कसीमा कसरी हेर्ने </a:t>
            </a:r>
            <a:r>
              <a:rPr lang="en-US" sz="2000" dirty="0">
                <a:cs typeface="Kalimati" panose="00000400000000000000" pitchFamily="2"/>
              </a:rPr>
              <a:t>?</a:t>
            </a:r>
            <a:endParaRPr lang="ne-NP" sz="2000" dirty="0">
              <a:cs typeface="Kalimati" panose="00000400000000000000" pitchFamily="2"/>
            </a:endParaRPr>
          </a:p>
        </p:txBody>
      </p:sp>
      <p:sp>
        <p:nvSpPr>
          <p:cNvPr id="3" name="Slide Number Placeholder 2"/>
          <p:cNvSpPr>
            <a:spLocks noGrp="1"/>
          </p:cNvSpPr>
          <p:nvPr>
            <p:ph type="sldNum" sz="quarter" idx="12"/>
          </p:nvPr>
        </p:nvSpPr>
        <p:spPr/>
        <p:txBody>
          <a:bodyPr/>
          <a:lstStyle/>
          <a:p>
            <a:fld id="{26EA1BC9-060C-4734-A581-933889F0292E}" type="slidenum">
              <a:rPr lang="en-US" smtClean="0"/>
              <a:pPr/>
              <a:t>33</a:t>
            </a:fld>
            <a:endParaRPr lang="en-US"/>
          </a:p>
        </p:txBody>
      </p:sp>
    </p:spTree>
  </p:cSld>
  <p:clrMapOvr>
    <a:masterClrMapping/>
  </p:clrMapOvr>
  <p:transition spd="slow">
    <p:wedg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1981200" cy="715962"/>
          </a:xfrm>
        </p:spPr>
        <p:txBody>
          <a:bodyPr>
            <a:normAutofit/>
          </a:bodyPr>
          <a:lstStyle/>
          <a:p>
            <a:r>
              <a:rPr lang="ne-NP" sz="2800" b="1" dirty="0">
                <a:solidFill>
                  <a:schemeClr val="tx1"/>
                </a:solidFill>
                <a:latin typeface="Preeti" pitchFamily="2" charset="0"/>
                <a:cs typeface="Kalimati" panose="00000400000000000000" pitchFamily="2"/>
              </a:rPr>
              <a:t>निष्कर्ष</a:t>
            </a:r>
            <a:endParaRPr lang="en-US" sz="2800" b="1" dirty="0">
              <a:solidFill>
                <a:schemeClr val="tx1"/>
              </a:solidFill>
              <a:latin typeface="Preeti" pitchFamily="2" charset="0"/>
              <a:cs typeface="Kalimati" panose="00000400000000000000" pitchFamily="2"/>
            </a:endParaRPr>
          </a:p>
        </p:txBody>
      </p:sp>
      <p:sp>
        <p:nvSpPr>
          <p:cNvPr id="4" name="Content Placeholder 3"/>
          <p:cNvSpPr>
            <a:spLocks noGrp="1"/>
          </p:cNvSpPr>
          <p:nvPr>
            <p:ph idx="1"/>
          </p:nvPr>
        </p:nvSpPr>
        <p:spPr>
          <a:xfrm>
            <a:off x="838200" y="990600"/>
            <a:ext cx="7772400" cy="5410200"/>
          </a:xfrm>
        </p:spPr>
        <p:txBody>
          <a:bodyPr>
            <a:normAutofit/>
          </a:bodyPr>
          <a:lstStyle/>
          <a:p>
            <a:r>
              <a:rPr lang="ne-NP" sz="2800" dirty="0">
                <a:latin typeface="Preeti" pitchFamily="2" charset="0"/>
                <a:cs typeface="Kalimati" panose="00000400000000000000" pitchFamily="2"/>
              </a:rPr>
              <a:t>थुनछेक न्यायिक काम कारवाहीको महत्वप</a:t>
            </a:r>
            <a:r>
              <a:rPr lang="en-US" sz="2800" dirty="0">
                <a:latin typeface="Preeti" pitchFamily="2" charset="0"/>
                <a:cs typeface="Kalimati" panose="00000400000000000000" pitchFamily="2"/>
              </a:rPr>
              <a:t>"</a:t>
            </a:r>
            <a:r>
              <a:rPr lang="ne-NP" sz="2800" dirty="0">
                <a:latin typeface="Preeti" pitchFamily="2" charset="0"/>
                <a:cs typeface="Kalimati" panose="00000400000000000000" pitchFamily="2"/>
              </a:rPr>
              <a:t>र्ण चरण।</a:t>
            </a:r>
          </a:p>
          <a:p>
            <a:r>
              <a:rPr lang="ne-NP" sz="2800" dirty="0">
                <a:latin typeface="Preeti" pitchFamily="2" charset="0"/>
                <a:cs typeface="Kalimati" panose="00000400000000000000" pitchFamily="2"/>
              </a:rPr>
              <a:t>यसले समग्र न्यायिक काम कारवाहीमा दुरगामी प्रभाव पार्ने भएकोले यसमा उचित ध्यान दिनु पर्ने ।</a:t>
            </a:r>
          </a:p>
          <a:p>
            <a:r>
              <a:rPr lang="ne-NP" sz="2800" dirty="0">
                <a:latin typeface="Preeti" pitchFamily="2" charset="0"/>
                <a:cs typeface="Kalimati" panose="00000400000000000000" pitchFamily="2"/>
              </a:rPr>
              <a:t>थुनछेकका क्रममा हुने आदेशको विविधताका कारणले पनि न्यायिक प्रकृया अनुमानयोग्य हुन नसकेको अबस्था।</a:t>
            </a:r>
          </a:p>
          <a:p>
            <a:r>
              <a:rPr lang="ne-NP" sz="2800" dirty="0">
                <a:latin typeface="Preeti" pitchFamily="2" charset="0"/>
                <a:cs typeface="Kalimati" panose="00000400000000000000" pitchFamily="2"/>
              </a:rPr>
              <a:t>मुद्दाको नामाकरणका कारणले मात्रै पनि थुनछेक आदेश यथोचित रुपमा हुन नसकेको।</a:t>
            </a:r>
            <a:endParaRPr lang="en-US" sz="2800" dirty="0">
              <a:latin typeface="Preeti" pitchFamily="2" charset="0"/>
              <a:cs typeface="Kalimati" panose="00000400000000000000" pitchFamily="2"/>
            </a:endParaRPr>
          </a:p>
          <a:p>
            <a:r>
              <a:rPr lang="ne-NP" sz="2800" dirty="0">
                <a:solidFill>
                  <a:srgbClr val="00B050"/>
                </a:solidFill>
                <a:cs typeface="Kalimati" panose="00000400000000000000" pitchFamily="2"/>
              </a:rPr>
              <a:t>अन्तमा</a:t>
            </a:r>
            <a:r>
              <a:rPr lang="en-US" sz="2800" dirty="0">
                <a:solidFill>
                  <a:srgbClr val="00B050"/>
                </a:solidFill>
                <a:cs typeface="Kalimati" panose="00000400000000000000" pitchFamily="2"/>
              </a:rPr>
              <a:t>, </a:t>
            </a:r>
            <a:r>
              <a:rPr lang="ne-NP" sz="2800" dirty="0">
                <a:solidFill>
                  <a:srgbClr val="00B050"/>
                </a:solidFill>
                <a:cs typeface="Kalimati" panose="00000400000000000000" pitchFamily="2"/>
              </a:rPr>
              <a:t>न्यायिक काम कारवाहीलाई त्रुटिरहित, बस्तुनिष्ठ, न्यायोचित, विवेकपरक र </a:t>
            </a:r>
            <a:r>
              <a:rPr lang="en-US" sz="2800" dirty="0">
                <a:solidFill>
                  <a:srgbClr val="00B050"/>
                </a:solidFill>
                <a:cs typeface="Kalimati" panose="00000400000000000000" pitchFamily="2"/>
              </a:rPr>
              <a:t>  </a:t>
            </a:r>
            <a:r>
              <a:rPr lang="ne-NP" sz="2800" dirty="0">
                <a:solidFill>
                  <a:srgbClr val="00B050"/>
                </a:solidFill>
                <a:cs typeface="Kalimati" panose="00000400000000000000" pitchFamily="2"/>
              </a:rPr>
              <a:t>विश्वसनीय बनाउने क्रममा न्यायकर्मीको ध्यान जानु जरुरी छ।</a:t>
            </a:r>
            <a:endParaRPr lang="ne-NP" sz="2800" dirty="0">
              <a:solidFill>
                <a:srgbClr val="00B050"/>
              </a:solidFill>
              <a:latin typeface="Preeti" pitchFamily="2" charset="0"/>
              <a:cs typeface="Kalimati" panose="00000400000000000000" pitchFamily="2"/>
            </a:endParaRPr>
          </a:p>
        </p:txBody>
      </p:sp>
      <p:sp>
        <p:nvSpPr>
          <p:cNvPr id="3" name="Slide Number Placeholder 2"/>
          <p:cNvSpPr>
            <a:spLocks noGrp="1"/>
          </p:cNvSpPr>
          <p:nvPr>
            <p:ph type="sldNum" sz="quarter" idx="12"/>
          </p:nvPr>
        </p:nvSpPr>
        <p:spPr>
          <a:xfrm>
            <a:off x="304800" y="6172200"/>
            <a:ext cx="457200" cy="457200"/>
          </a:xfrm>
        </p:spPr>
        <p:txBody>
          <a:bodyPr/>
          <a:lstStyle/>
          <a:p>
            <a:fld id="{26EA1BC9-060C-4734-A581-933889F0292E}" type="slidenum">
              <a:rPr lang="en-US" smtClean="0"/>
              <a:pPr/>
              <a:t>34</a:t>
            </a:fld>
            <a:endParaRPr lang="en-US" dirty="0"/>
          </a:p>
        </p:txBody>
      </p:sp>
    </p:spTree>
  </p:cSld>
  <p:clrMapOvr>
    <a:masterClrMapping/>
  </p:clrMapOvr>
  <p:transition spd="slow">
    <p:wedg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D2C74F-DD6B-ED79-B550-3D59EEF15F06}"/>
              </a:ext>
            </a:extLst>
          </p:cNvPr>
          <p:cNvSpPr>
            <a:spLocks noGrp="1"/>
          </p:cNvSpPr>
          <p:nvPr>
            <p:ph idx="1"/>
          </p:nvPr>
        </p:nvSpPr>
        <p:spPr>
          <a:xfrm>
            <a:off x="609600" y="533400"/>
            <a:ext cx="7905750" cy="5643563"/>
          </a:xfrm>
        </p:spPr>
        <p:txBody>
          <a:bodyPr/>
          <a:lstStyle/>
          <a:p>
            <a:pPr marL="0" indent="0">
              <a:buNone/>
            </a:pPr>
            <a:endParaRPr lang="ne-NP" dirty="0">
              <a:solidFill>
                <a:srgbClr val="FFC000"/>
              </a:solidFill>
            </a:endParaRPr>
          </a:p>
          <a:p>
            <a:pPr marL="0" indent="0">
              <a:buNone/>
            </a:pPr>
            <a:endParaRPr lang="ne-NP" dirty="0">
              <a:solidFill>
                <a:srgbClr val="FFC000"/>
              </a:solidFill>
            </a:endParaRPr>
          </a:p>
          <a:p>
            <a:pPr marL="0" indent="0" algn="ctr">
              <a:buNone/>
            </a:pPr>
            <a:endParaRPr lang="ne-NP" i="1" dirty="0">
              <a:solidFill>
                <a:srgbClr val="FFC000"/>
              </a:solidFill>
            </a:endParaRPr>
          </a:p>
          <a:p>
            <a:pPr marL="0" indent="0" algn="ctr">
              <a:buNone/>
            </a:pPr>
            <a:endParaRPr lang="ne-NP" i="1" dirty="0">
              <a:solidFill>
                <a:srgbClr val="FFC000"/>
              </a:solidFill>
            </a:endParaRPr>
          </a:p>
          <a:p>
            <a:pPr marL="0" indent="0" algn="ctr">
              <a:buNone/>
            </a:pPr>
            <a:endParaRPr lang="ne-NP" sz="2800" i="1" dirty="0">
              <a:solidFill>
                <a:srgbClr val="FFC000"/>
              </a:solidFill>
            </a:endParaRPr>
          </a:p>
          <a:p>
            <a:pPr marL="0" indent="0" algn="ctr">
              <a:buNone/>
            </a:pPr>
            <a:r>
              <a:rPr lang="ne-NP" sz="2800" i="1" dirty="0">
                <a:solidFill>
                  <a:srgbClr val="FFC000"/>
                </a:solidFill>
              </a:rPr>
              <a:t>प्रश्न</a:t>
            </a:r>
          </a:p>
          <a:p>
            <a:pPr marL="0" indent="0" algn="ctr">
              <a:buNone/>
            </a:pPr>
            <a:r>
              <a:rPr lang="ne-NP" sz="2800" i="1" dirty="0">
                <a:solidFill>
                  <a:srgbClr val="FFC000"/>
                </a:solidFill>
              </a:rPr>
              <a:t>जिज्ञासा</a:t>
            </a:r>
          </a:p>
          <a:p>
            <a:pPr marL="0" indent="0" algn="ctr">
              <a:buNone/>
            </a:pPr>
            <a:r>
              <a:rPr lang="ne-NP" sz="2800" i="1" dirty="0">
                <a:solidFill>
                  <a:srgbClr val="FFC000"/>
                </a:solidFill>
              </a:rPr>
              <a:t>छलफल</a:t>
            </a:r>
            <a:endParaRPr lang="en-US" sz="2800" i="1" dirty="0">
              <a:solidFill>
                <a:srgbClr val="FFC000"/>
              </a:solidFill>
            </a:endParaRPr>
          </a:p>
        </p:txBody>
      </p:sp>
      <p:sp>
        <p:nvSpPr>
          <p:cNvPr id="4" name="Slide Number Placeholder 3">
            <a:extLst>
              <a:ext uri="{FF2B5EF4-FFF2-40B4-BE49-F238E27FC236}">
                <a16:creationId xmlns:a16="http://schemas.microsoft.com/office/drawing/2014/main" id="{744FF9D9-084E-625B-E7EB-4C12A59DB1DA}"/>
              </a:ext>
            </a:extLst>
          </p:cNvPr>
          <p:cNvSpPr>
            <a:spLocks noGrp="1"/>
          </p:cNvSpPr>
          <p:nvPr>
            <p:ph type="sldNum" sz="quarter" idx="12"/>
          </p:nvPr>
        </p:nvSpPr>
        <p:spPr/>
        <p:txBody>
          <a:bodyPr/>
          <a:lstStyle/>
          <a:p>
            <a:fld id="{26EA1BC9-060C-4734-A581-933889F0292E}" type="slidenum">
              <a:rPr lang="en-US" smtClean="0"/>
              <a:pPr/>
              <a:t>35</a:t>
            </a:fld>
            <a:endParaRPr lang="en-US"/>
          </a:p>
        </p:txBody>
      </p:sp>
    </p:spTree>
    <p:extLst>
      <p:ext uri="{BB962C8B-B14F-4D97-AF65-F5344CB8AC3E}">
        <p14:creationId xmlns:p14="http://schemas.microsoft.com/office/powerpoint/2010/main" val="3134374119"/>
      </p:ext>
    </p:extLst>
  </p:cSld>
  <p:clrMapOvr>
    <a:masterClrMapping/>
  </p:clrMapOvr>
  <p:transition spd="slow">
    <p:wedg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5800" y="914400"/>
            <a:ext cx="7829550" cy="5262563"/>
          </a:xfrm>
        </p:spPr>
        <p:txBody>
          <a:bodyPr/>
          <a:lstStyle/>
          <a:p>
            <a:pPr marL="0" indent="0">
              <a:buNone/>
            </a:pPr>
            <a:endParaRPr lang="ne-NP" dirty="0"/>
          </a:p>
          <a:p>
            <a:pPr marL="0" indent="0">
              <a:buNone/>
            </a:pPr>
            <a:endParaRPr lang="ne-NP" dirty="0"/>
          </a:p>
          <a:p>
            <a:pPr marL="0" indent="0" algn="ctr">
              <a:buNone/>
            </a:pPr>
            <a:endParaRPr lang="ne-NP" dirty="0"/>
          </a:p>
          <a:p>
            <a:pPr marL="0" indent="0" algn="ctr">
              <a:buNone/>
            </a:pPr>
            <a:endParaRPr lang="ne-NP" b="1" i="1" dirty="0"/>
          </a:p>
          <a:p>
            <a:pPr marL="0" indent="0" algn="ctr">
              <a:buNone/>
            </a:pPr>
            <a:endParaRPr lang="ne-NP" b="1" i="1" dirty="0"/>
          </a:p>
          <a:p>
            <a:pPr marL="0" indent="0" algn="ctr">
              <a:buNone/>
            </a:pPr>
            <a:r>
              <a:rPr lang="ne-NP" sz="2800" b="1" i="1" dirty="0">
                <a:latin typeface="Preeti" pitchFamily="2" charset="0"/>
                <a:cs typeface="Kalimati" panose="00000400000000000000" pitchFamily="2"/>
              </a:rPr>
              <a:t>सहभागिता र धैर्यताका लागि धन्यवाद।।।</a:t>
            </a:r>
            <a:endParaRPr lang="en-US" sz="2800" b="1" i="1" dirty="0">
              <a:latin typeface="Preeti" pitchFamily="2" charset="0"/>
              <a:cs typeface="Kalimati" panose="00000400000000000000" pitchFamily="2"/>
            </a:endParaRPr>
          </a:p>
        </p:txBody>
      </p:sp>
      <p:sp>
        <p:nvSpPr>
          <p:cNvPr id="4" name="Slide Number Placeholder 3"/>
          <p:cNvSpPr>
            <a:spLocks noGrp="1"/>
          </p:cNvSpPr>
          <p:nvPr>
            <p:ph type="sldNum" sz="quarter" idx="12"/>
          </p:nvPr>
        </p:nvSpPr>
        <p:spPr/>
        <p:txBody>
          <a:bodyPr/>
          <a:lstStyle/>
          <a:p>
            <a:fld id="{26EA1BC9-060C-4734-A581-933889F0292E}" type="slidenum">
              <a:rPr lang="en-US" smtClean="0"/>
              <a:pPr/>
              <a:t>36</a:t>
            </a:fld>
            <a:endParaRPr lang="en-US"/>
          </a:p>
        </p:txBody>
      </p:sp>
    </p:spTree>
    <p:extLst>
      <p:ext uri="{BB962C8B-B14F-4D97-AF65-F5344CB8AC3E}">
        <p14:creationId xmlns:p14="http://schemas.microsoft.com/office/powerpoint/2010/main" val="185236763"/>
      </p:ext>
    </p:extLst>
  </p:cSld>
  <p:clrMapOvr>
    <a:masterClrMapping/>
  </p:clrMapOvr>
  <p:transition spd="slow">
    <p:wedg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6381</TotalTime>
  <Words>3403</Words>
  <Application>Microsoft Office PowerPoint</Application>
  <PresentationFormat>On-screen Show (4:3)</PresentationFormat>
  <Paragraphs>297</Paragraphs>
  <Slides>36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Calibri</vt:lpstr>
      <vt:lpstr>Calibri Light</vt:lpstr>
      <vt:lpstr>Courier New</vt:lpstr>
      <vt:lpstr>Kalimati</vt:lpstr>
      <vt:lpstr>Preeti</vt:lpstr>
      <vt:lpstr>Times New Roman</vt:lpstr>
      <vt:lpstr>Wingdings</vt:lpstr>
      <vt:lpstr>Office Theme</vt:lpstr>
      <vt:lpstr>PowerPoint Presentation</vt:lpstr>
      <vt:lpstr>प्रस्तुतीकरणको खाका</vt:lpstr>
      <vt:lpstr>  थुनछेकको अर्थ  </vt:lpstr>
      <vt:lpstr>थुनछेकको उद्देश्य</vt:lpstr>
      <vt:lpstr>थुनछेक पूर्वका केही प्रकृयाहरु</vt:lpstr>
      <vt:lpstr>      </vt:lpstr>
      <vt:lpstr>थुनछेक सम्बन्धी फौजदारी न्यायका मापदण्डहरू</vt:lpstr>
      <vt:lpstr>थुनछेक गर्दा ध्यान दिनुपर्ने कुराहरू</vt:lpstr>
      <vt:lpstr> तत्काल प्राप्त प्रमाण के के हुन सक्दछन् ? </vt:lpstr>
      <vt:lpstr>तत्काल प्राप्त प्रमाण के हुन सक्दछन्?</vt:lpstr>
      <vt:lpstr>थुनछेक सम्बन्धमा मौजुदा कानूनी व्यवस्थाहरू</vt:lpstr>
      <vt:lpstr>    थुनछेक सम्बन्धी मुलुकी फौजदारी कार्यविधि संहिता, २०७४ को व्यवस्था (दफा ६७ (१))    </vt:lpstr>
      <vt:lpstr>अभियुक्तलाई थुनामा राखी मुद्दाको पुर्पक्ष गर्नेुराख्ने (दफा ६७ (१)  </vt:lpstr>
      <vt:lpstr>   कैदको सजाय हुने कसूरमा थुनामा राख्न सक्ने अवस्था   (विशेष व्यवस्था) (दफा ६७(२)   </vt:lpstr>
      <vt:lpstr>केही अपवादहरु</vt:lpstr>
      <vt:lpstr>                अभियुक्तसँग धरौट वा जमानत वा बैङ्क जमानत लिने (दफा ६८)               </vt:lpstr>
      <vt:lpstr>धरौट, जमानत वा बैङ्क जमानतको रकम तोक्ने आधार (दफा ७२)</vt:lpstr>
      <vt:lpstr>धरौट तथा जमानत निर्देशिका, २०७५</vt:lpstr>
      <vt:lpstr>  तारिखमा राख्नु पर्ने (दफा ६९)</vt:lpstr>
      <vt:lpstr>थुनाबाट छाड्ने</vt:lpstr>
      <vt:lpstr>पुनरावेदन सुन्ने अदालतमा निवेदन गर्न सकिने (दफा ७३)</vt:lpstr>
      <vt:lpstr>  धरौट, जमानत वा बैङ्क जमानत लिँदा कागज गराउनु पर्ने (दफा ७४) </vt:lpstr>
      <vt:lpstr> आदेश पर्चा खडा गर्नु पर्ने (७९) </vt:lpstr>
      <vt:lpstr>विशेष अदालत ऐन, २०५९ को व्यबस्था</vt:lpstr>
      <vt:lpstr>विशेष कार्यविधि लागु हुने मुद्दाहरु</vt:lpstr>
      <vt:lpstr>लागु औषध (नियन्त्रण) ऐन, २०३३ अन्तर्गतको मुद्दा </vt:lpstr>
      <vt:lpstr>बालबालिका सम्बन्धी ऐन, २०७५ ले व्यवस्था गरेको थुनछेक सम्बन्धी व्यवस्था (धारा २४)</vt:lpstr>
      <vt:lpstr>थुनछेक सम्बन्धी न्यायिक दृष्टिकोण</vt:lpstr>
      <vt:lpstr> मान बहादुर तामाङ विरुद्ध का.जि.अ.समेत, (ने.का.प. २०५२, अङ्क ६, नि.नं. ६०१६) </vt:lpstr>
      <vt:lpstr>  आस्ना पराजुली विरूद्ध जिल्ला न्यायाधीश श्रीकृष्ण भट्टराई, भक्तपुर जिल्ला अदालतसमेत  (नेकाप २०७४ अङ्क ५ निर्णय नं. ९८०५)  </vt:lpstr>
      <vt:lpstr>अधिवक्ता राजीव बास्तोला समेत विरुद्ध  जिल्ला वन अधिकृत समेत (नेकाप  २०६६, निर्णय नं. ८२०२)</vt:lpstr>
      <vt:lpstr>थुनछेक आदेशको सन्दर्भमा आउने द्विविधाहरु</vt:lpstr>
      <vt:lpstr>समस्या र चुनौतीहरु</vt:lpstr>
      <vt:lpstr>निष्कर्ष</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Diwakar Bhatt</dc:creator>
  <cp:lastModifiedBy>Diwakar Bhatta</cp:lastModifiedBy>
  <cp:revision>505</cp:revision>
  <dcterms:created xsi:type="dcterms:W3CDTF">2016-12-18T12:10:20Z</dcterms:created>
  <dcterms:modified xsi:type="dcterms:W3CDTF">2026-01-15T13:45:38Z</dcterms:modified>
</cp:coreProperties>
</file>