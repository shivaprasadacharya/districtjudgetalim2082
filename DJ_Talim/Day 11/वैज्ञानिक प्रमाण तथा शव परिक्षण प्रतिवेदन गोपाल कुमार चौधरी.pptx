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80" r:id="rId11"/>
    <p:sldId id="278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9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0509" autoAdjust="0"/>
  </p:normalViewPr>
  <p:slideViewPr>
    <p:cSldViewPr snapToGrid="0">
      <p:cViewPr varScale="1">
        <p:scale>
          <a:sx n="60" d="100"/>
          <a:sy n="60" d="100"/>
        </p:scale>
        <p:origin x="152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E65E95-EF61-431E-BFF9-FB5D1264CEA0}" type="datetimeFigureOut">
              <a:rPr lang="en-US" smtClean="0"/>
              <a:t>2026-01-25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35A166-8466-40C4-A2FF-1391B32384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439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e-N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माननीय न्यायाधीशज्यूहरू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ne-N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शुभप्रभात।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ne-N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यस गरिमामय अवसरमा तपाईंहरूसँग फरेन्सिक चिकित्सा र न्यायको सम्बन्धबारे छलफल गर्न पाउनु मेरो लागि सम्मानको विषय हो। यस सत्रको उद्देश्य न्यायिक विवेकलाई वैज्ञानिक आधारबाट सुदृढ गर्नु हो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ne-N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विज्ञानलाई न्यायको स्थानमा राख्नु होइन।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35A166-8466-40C4-A2FF-1391B323845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6257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e-N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यो प्रस्तुतीकरण चार भागमा विभाजन गरिएको छ।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ne-N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यसले शव भेटिएको क्षणदेखि अदालतको फैसलासम्म प्रमाण कसरी अघि बढ्छ भन्ने यात्रा देखाउँछ।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ne-N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प्रत्येक भाग न्यायिक व्यवहारसँग प्रत्यक्ष रूपमा जोडिएको छ।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35A166-8466-40C4-A2FF-1391B323845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1511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e-N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दफा १६६ ले शव परीक्षणलाई राज्यको कानुनी दायित्व बनाएको छ।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ne-N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शव परीक्षण चिकित्सकीय मात्र नभई कानुनी कार्य हो।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ne-N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प्रमाण ऐनअनुसार चिकित्सक विशेषज्ञ साक्षी हुन्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ne-N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तर अन्तिम निष्कर्ष निकाल्ने अधिकार माननीय अदालतकै हो।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35A166-8466-40C4-A2FF-1391B323845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8613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ne-NP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शव परीक्षण प्रतिवेदन प्रायः एक्लै निर्णायक हुँदैन।</a:t>
            </a:r>
            <a:br>
              <a:rPr lang="en-US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</a:br>
            <a:r>
              <a:rPr lang="ne-NP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यदि चिकित्सकीय प्रमाणले अभियोजनको कथालाई असम्भव बनाउँछ भने अदालतले त्यसलाई गम्भीरतापूर्वक लिनुपर्छ।</a:t>
            </a:r>
            <a:br>
              <a:rPr lang="en-US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</a:br>
            <a:r>
              <a:rPr lang="en-US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Chain of custody </a:t>
            </a:r>
            <a:r>
              <a:rPr lang="ne-NP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मा कमजोरी भए प्रमाणको विश्वसनीयता घट्छ।</a:t>
            </a: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35A166-8466-40C4-A2FF-1391B323845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7542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e-N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सन्दिग्ध वा अप्राकृतिक मृत्युमा मेडिको–लिगल शव परीक्षण अनिवार्य हुन्छ।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ne-N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परिवारको असहमति भए पनि राज्यले शव परीक्षण गर्न सक्छ।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ne-N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यस्तो अवस्थामा शव परीक्षण नगरिएको पाइएमा अदालत सतर्क हुनुपर्छ।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35A166-8466-40C4-A2FF-1391B323845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747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e-N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शव परीक्षण प्रतिवेदनलाई सम्पूर्ण रूपमा पढ्नुपर्छ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ne-N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केवल 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Opinion” </a:t>
            </a:r>
            <a:r>
              <a:rPr lang="ne-N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भाग मात्र होइन।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ne-N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प्रत्येक खण्डले अन्तिम रायलाई समर्थन गरेको छ कि छैन भन्ने कुरा हेर्नु आवश्यक छ।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35A166-8466-40C4-A2FF-1391B323845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0121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e-N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चिकित्सकलाई दिइएको इतिहास गलत भए निष्कर्ष पनि गलत हुन सक्छ।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ne-N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सर्वोच्च अदालतले अनुसन्धान अधिकृतले अधुरो इतिहास दिएको अवस्थामा चिकित्सकीय राय कमजोर हुने ठहर गरेको छ।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35A166-8466-40C4-A2FF-1391B323845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0064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e-N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पोस्टमार्टम परिवर्तनहरू अनुमानात्मक हुन्छन्।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ne-N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तराईमा शव छिटो बिग्रन्छ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ne-N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पहाडी क्षेत्रमा चिसोले प्रक्रिया ढिलो हुन सक्छ।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ne-N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मृत्युको समय ठ्याक्कै भनेर दाबी गरिएको भए सावधानी अपनाउनुपर्छ।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35A166-8466-40C4-A2FF-1391B323845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4847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e-N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चोटको प्रकारले हतियार र घटनाको प्रकृति देखाउँछ।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ne-N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अस्पष्ट विवरणले अदालतलाई सही निष्कर्ष निकाल्न कठिन बनाउँछ।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35A166-8466-40C4-A2FF-1391B323845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8609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35A166-8466-40C4-A2FF-1391B323845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4634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35A166-8466-40C4-A2FF-1391B323845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4525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35A166-8466-40C4-A2FF-1391B323845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3436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35A166-8466-40C4-A2FF-1391B323845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4206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e-N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चोटको ढाँचाले आत्महत्या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ne-N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हत्या वा दुर्घटनाको संकेत दिन सक्छ।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ne-N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अदालतले चोट र आरोपित घटनाबीच तार्किक सम्बन्ध खोज्नुपर्छ।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35A166-8466-40C4-A2FF-1391B323845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9706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e-N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धेरै हिरासत मृत्युका मुद्दामा बाह्य चोट नभए पनि आन्तरिक चोटबाट मृत्यु भएको पाइएको छ।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ne-N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यस विषयमा सर्वोच्च अदालतको दृष्टिकोण स्पष्ट छ।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35A166-8466-40C4-A2FF-1391B323845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1235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e-N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मृत्युको प्रकार (हत्यात्मक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ne-N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आत्महत्या आदि) चिकित्सकीय राय हो।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ne-N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अन्तिम कानुनी निर्णय माननीय अदालतले गर्छ—यो कुरा सर्वोच्च अदालतले स्पष्ट गरेको छ।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35A166-8466-40C4-A2FF-1391B323845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3823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e-N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विष परीक्षण नगरेको अवस्थामा अभियोजन कमजोर हुन सक्छ।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ne-N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नेपालका अदालतहरूले विष परीक्षण नगरेको विषयमा आलोचना गरेका छन्।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35A166-8466-40C4-A2FF-1391B323845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0075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e-N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फरेन्सिक विज्ञान न्यायको सहयोगी हो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ne-N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प्रतिस्थापक होइन।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ne-NP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वैज्ञानिक प्रमाणलाई अन्य प्रमाणसँग मिलाएर मूल्याङ्कन गर्नुपर्छ।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35A166-8466-40C4-A2FF-1391B323845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99500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e-NP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धन्यवाद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ne-NP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माननीय न्यायाधीशज्यूहरू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ne-NP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प्रश्नोत्तर तथा छलफल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35A166-8466-40C4-A2FF-1391B323845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3397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8AB7C-27D9-DE9C-73C7-F796238E7E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5DAA4D-F814-16DF-5F8A-A87FDA76FC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D7EBD-F031-5B63-1DC0-6287AF1BB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10171-BCD7-4650-96EF-05504389F2ED}" type="datetimeFigureOut">
              <a:rPr lang="en-US" smtClean="0"/>
              <a:t>2026-01-25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BC12A-B13B-8F75-D23D-4DC4CD627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168B0A-9A19-E85F-8835-C0C89B2E4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25315-9640-46F8-9729-FCD8A28E8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068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5A8CF-4F2A-A0E8-2C89-AE5F427D0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8A8E4-2C70-FA12-196A-52AF936B8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D91258-429B-B577-9105-33BB3A4D2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10171-BCD7-4650-96EF-05504389F2ED}" type="datetimeFigureOut">
              <a:rPr lang="en-US" smtClean="0"/>
              <a:t>2026-01-25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47DB5D-610F-42F3-0DA3-EB56E46CD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21147-0C0E-BB83-ABE4-5EFBDAE25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25315-9640-46F8-9729-FCD8A28E8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945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430F7-76A8-D084-51DA-456CE6B2F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50F741-15AA-21EF-1CE8-B44AC7621D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0D28D5-C609-7018-F4DF-5788C092E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10171-BCD7-4650-96EF-05504389F2ED}" type="datetimeFigureOut">
              <a:rPr lang="en-US" smtClean="0"/>
              <a:t>2026-01-25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EF2947-A2CB-F0FE-BBC8-9C7BBE22B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AD7642-CAFE-C8DB-76EB-A65AD33DF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25315-9640-46F8-9729-FCD8A28E8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303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E4B3D-CB6D-B889-C911-D15BFFEF0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695C98-F6CB-DD7D-76A3-F3ACADA80B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66DDA7-084E-754A-0EF7-064D0DD9C3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D4107C-51D9-FFBA-F5B0-B25B7FEF0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10171-BCD7-4650-96EF-05504389F2ED}" type="datetimeFigureOut">
              <a:rPr lang="en-US" smtClean="0"/>
              <a:t>2026-01-25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396299-2F4D-6EDF-AC7B-7DC77745C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79ACE4-196D-890B-D8CA-07E14AB69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25315-9640-46F8-9729-FCD8A28E8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972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1AB12-D2E8-024A-96C0-C14B8F675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76EB6A-EBB2-2F5C-D03A-176CB98AD8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8514CF-D28D-70B1-CC2A-05ADDE4601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4045A8-C78B-6E15-B93B-8E0E2D3039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6944DB-AAFF-3C81-7B38-799EB03569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EDF3D0-4AFF-5A78-719D-1C5F31B38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10171-BCD7-4650-96EF-05504389F2ED}" type="datetimeFigureOut">
              <a:rPr lang="en-US" smtClean="0"/>
              <a:t>2026-01-25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E3AFD4-FC76-E6CA-E511-F8C705CAD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766388-0519-233D-F56A-03AB32735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25315-9640-46F8-9729-FCD8A28E8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371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AD75A-CB0F-E86E-0B1D-27BA1F52C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47D2F5-93A8-DD88-AF14-D6774DA35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10171-BCD7-4650-96EF-05504389F2ED}" type="datetimeFigureOut">
              <a:rPr lang="en-US" smtClean="0"/>
              <a:t>2026-01-25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974011-B821-66C2-BF77-286B766F2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5C73E9-976F-A754-E88B-1FB1CC6A5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25315-9640-46F8-9729-FCD8A28E8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908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3E8474-5A09-F9D0-B26E-893BAD35D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10171-BCD7-4650-96EF-05504389F2ED}" type="datetimeFigureOut">
              <a:rPr lang="en-US" smtClean="0"/>
              <a:t>2026-01-25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D4D6DA-4FE4-4998-5007-91D029FD0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122E2D-5236-EAD1-BED9-434F1292B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25315-9640-46F8-9729-FCD8A28E8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04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70D58-FEBB-0BF4-C22B-3A010FA7A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00DD75-CD40-A1D7-AB42-40D50E86CD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4F358A-CA5E-A625-6099-5E017B526F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CCD75D-96B1-4848-EA30-268C41803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10171-BCD7-4650-96EF-05504389F2ED}" type="datetimeFigureOut">
              <a:rPr lang="en-US" smtClean="0"/>
              <a:t>2026-01-25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0F0C5F-7FE7-7D56-9311-CD4C8C726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AE4183-6276-01EC-BF37-242402A44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25315-9640-46F8-9729-FCD8A28E8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630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E2D38-E24E-9C7D-DE7E-A3D1FD15D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5BC65B-16C2-63BD-799F-9C2718C922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5BD178-CAB1-294B-5A3C-362D01365E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719386-4E20-ACF4-8245-17E9345AC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10171-BCD7-4650-96EF-05504389F2ED}" type="datetimeFigureOut">
              <a:rPr lang="en-US" smtClean="0"/>
              <a:t>2026-01-25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26DE86-1148-3C3A-48C6-668C2510C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C06730-F39D-C543-6DEF-AE78877BF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25315-9640-46F8-9729-FCD8A28E8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835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852FA-36D6-D382-9B19-1E99FC3C2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536223-AEF2-284E-806B-C9F1E8B60F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0DB6C-664B-6A66-AA3D-BC6C3ACDC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10171-BCD7-4650-96EF-05504389F2ED}" type="datetimeFigureOut">
              <a:rPr lang="en-US" smtClean="0"/>
              <a:t>2026-01-25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66480B-B336-74D6-67AE-3315AEF72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C3DAE8-C11A-8A5B-0A99-D85B621FE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25315-9640-46F8-9729-FCD8A28E8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014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F5F15C-B5C4-2610-B873-E0D5B463D0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3CA8EC-B976-110D-EAE8-BBD9E5A33C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828D30-9E03-A3F5-B86C-22F0644C9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10171-BCD7-4650-96EF-05504389F2ED}" type="datetimeFigureOut">
              <a:rPr lang="en-US" smtClean="0"/>
              <a:t>2026-01-25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BC593F-78F5-36BC-61E2-F355E834E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00E70A-07B5-8BFD-6FC4-442AE2C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25315-9640-46F8-9729-FCD8A28E8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694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9C61D9-68EF-9AB2-2471-688425C2E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A64B33-A275-1352-8A04-0B9920E137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37BC22-332C-BF97-9168-6E99A0899D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E10171-BCD7-4650-96EF-05504389F2ED}" type="datetimeFigureOut">
              <a:rPr lang="en-US" smtClean="0"/>
              <a:t>2026-01-25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1692F1-9FC6-A64C-B761-00A8F58EB4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A747F1-3624-0B46-CDEC-0F259C0B19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F25315-9640-46F8-9729-FCD8A28E8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435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45B21-6B5D-DDE2-786F-CAA50DF4AE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solidFill>
                  <a:schemeClr val="accent1"/>
                </a:solidFill>
              </a:rPr>
            </a:br>
            <a:r>
              <a:rPr lang="en-US" b="1" i="1" dirty="0">
                <a:solidFill>
                  <a:schemeClr val="accent1"/>
                </a:solidFill>
              </a:rPr>
              <a:t>A Judge’s Guide to Autopsy Reports and Scientific Evidence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92240D-A978-476B-F73E-5BF6D87103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956743"/>
            <a:ext cx="9906000" cy="3020195"/>
          </a:xfrm>
        </p:spPr>
        <p:txBody>
          <a:bodyPr>
            <a:normAutofit/>
          </a:bodyPr>
          <a:lstStyle/>
          <a:p>
            <a:br>
              <a:rPr lang="en-US" dirty="0">
                <a:solidFill>
                  <a:schemeClr val="accent1"/>
                </a:solidFill>
              </a:rPr>
            </a:br>
            <a:endParaRPr lang="en-US" dirty="0">
              <a:solidFill>
                <a:schemeClr val="accent1"/>
              </a:solidFill>
            </a:endParaRPr>
          </a:p>
          <a:p>
            <a:r>
              <a:rPr lang="ne-NP" b="1" i="1" dirty="0">
                <a:solidFill>
                  <a:schemeClr val="accent1"/>
                </a:solidFill>
              </a:rPr>
              <a:t>शव परीक्षण प्रतिवेदन र वैज्ञानिक प्रमाणबारे न्यायाधीशका लागि मार्गदर्शन</a:t>
            </a:r>
            <a:endParaRPr lang="en-US" b="1" dirty="0">
              <a:solidFill>
                <a:schemeClr val="accent1"/>
              </a:solidFill>
            </a:endParaRPr>
          </a:p>
          <a:p>
            <a:r>
              <a:rPr lang="en-US" b="1" dirty="0">
                <a:solidFill>
                  <a:schemeClr val="accent1"/>
                </a:solidFill>
              </a:rPr>
              <a:t>Presenter: Dr. Gopal Kumara Chaudhary, MBBS, MD (Forensic Medicine), LLB</a:t>
            </a:r>
          </a:p>
          <a:p>
            <a:r>
              <a:rPr lang="en-US" b="1" dirty="0">
                <a:solidFill>
                  <a:schemeClr val="accent1"/>
                </a:solidFill>
              </a:rPr>
              <a:t>Institute of Medicine, Maharajgunj, TU</a:t>
            </a:r>
            <a:br>
              <a:rPr lang="en-US" b="1" dirty="0"/>
            </a:b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420971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9FE9B-5403-F3A0-F299-EBFCAD257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ROLE OF JUDGES IN SCIENTIFIC EVIDENCE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6E3703-00DA-82F1-468D-4110252E35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1"/>
                </a:solidFill>
              </a:rPr>
              <a:t>Judges are the ultimate evaluators of expert evidence,</a:t>
            </a:r>
            <a:br>
              <a:rPr lang="en-US" sz="3600" dirty="0">
                <a:solidFill>
                  <a:schemeClr val="accent1"/>
                </a:solidFill>
              </a:rPr>
            </a:br>
            <a:r>
              <a:rPr lang="en-US" sz="3600" b="1" dirty="0">
                <a:solidFill>
                  <a:schemeClr val="accent1"/>
                </a:solidFill>
              </a:rPr>
              <a:t>Expert opinion is advisory, not binding</a:t>
            </a:r>
            <a:endParaRPr lang="en-US" sz="3600" dirty="0">
              <a:solidFill>
                <a:schemeClr val="accent1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615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A698D-4327-BE55-8D0F-F4828F792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PRESENTATION ROADMAP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CD6B8-98DB-A1DC-2DCC-24F592A31E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accent1"/>
                </a:solidFill>
              </a:rPr>
              <a:t>Part 1:</a:t>
            </a:r>
            <a:r>
              <a:rPr lang="en-US" sz="3200" dirty="0">
                <a:solidFill>
                  <a:schemeClr val="accent1"/>
                </a:solidFill>
              </a:rPr>
              <a:t> Foundations of Forensic Evidence</a:t>
            </a:r>
            <a:br>
              <a:rPr lang="en-US" sz="3200" dirty="0">
                <a:solidFill>
                  <a:schemeClr val="accent1"/>
                </a:solidFill>
              </a:rPr>
            </a:br>
            <a:r>
              <a:rPr lang="en-US" sz="3200" b="1" dirty="0">
                <a:solidFill>
                  <a:schemeClr val="accent1"/>
                </a:solidFill>
              </a:rPr>
              <a:t>Part 2:</a:t>
            </a:r>
            <a:r>
              <a:rPr lang="en-US" sz="3200" dirty="0">
                <a:solidFill>
                  <a:schemeClr val="accent1"/>
                </a:solidFill>
              </a:rPr>
              <a:t> Autopsy Report Decoded</a:t>
            </a:r>
            <a:br>
              <a:rPr lang="en-US" sz="3200" dirty="0">
                <a:solidFill>
                  <a:schemeClr val="accent1"/>
                </a:solidFill>
              </a:rPr>
            </a:br>
            <a:r>
              <a:rPr lang="en-US" sz="3200" b="1" dirty="0">
                <a:solidFill>
                  <a:schemeClr val="accent1"/>
                </a:solidFill>
              </a:rPr>
              <a:t>Part 3:</a:t>
            </a:r>
            <a:r>
              <a:rPr lang="en-US" sz="3200" dirty="0">
                <a:solidFill>
                  <a:schemeClr val="accent1"/>
                </a:solidFill>
              </a:rPr>
              <a:t> Special Investigations &amp; Pitfalls</a:t>
            </a:r>
            <a:br>
              <a:rPr lang="en-US" sz="3200" dirty="0">
                <a:solidFill>
                  <a:schemeClr val="accent1"/>
                </a:solidFill>
              </a:rPr>
            </a:br>
            <a:r>
              <a:rPr lang="en-US" sz="3200" b="1" dirty="0">
                <a:solidFill>
                  <a:schemeClr val="accent1"/>
                </a:solidFill>
              </a:rPr>
              <a:t>Part 4:</a:t>
            </a:r>
            <a:r>
              <a:rPr lang="en-US" sz="3200" dirty="0">
                <a:solidFill>
                  <a:schemeClr val="accent1"/>
                </a:solidFill>
              </a:rPr>
              <a:t> Courtroom Evaluation</a:t>
            </a:r>
          </a:p>
          <a:p>
            <a:pPr marL="0" indent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   Part 5: </a:t>
            </a:r>
            <a:r>
              <a:rPr lang="en-US" sz="3200" dirty="0">
                <a:solidFill>
                  <a:schemeClr val="accent1"/>
                </a:solidFill>
              </a:rPr>
              <a:t>Question and answer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116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4B31F-97A6-FFF8-40A1-75BB00112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MEDICINE &amp; LAW IN NEPAL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C1CF5-5562-8369-EDEB-2F4D0B91F5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e-NP" b="1" dirty="0">
                <a:solidFill>
                  <a:schemeClr val="accent1"/>
                </a:solidFill>
              </a:rPr>
              <a:t>राष्ट्रिय फौजदारी कार्यविधि संहिता</a:t>
            </a:r>
            <a:r>
              <a:rPr lang="en-US" b="1" dirty="0">
                <a:solidFill>
                  <a:schemeClr val="accent1"/>
                </a:solidFill>
              </a:rPr>
              <a:t>, </a:t>
            </a:r>
            <a:r>
              <a:rPr lang="ne-NP" b="1" dirty="0">
                <a:solidFill>
                  <a:schemeClr val="accent1"/>
                </a:solidFill>
              </a:rPr>
              <a:t>२०७४ – दफा १६६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ne-NP" b="1" dirty="0">
                <a:solidFill>
                  <a:schemeClr val="accent1"/>
                </a:solidFill>
              </a:rPr>
              <a:t>प्रमाण ऐन अन्तर्गत विशेषज्ञ साक्ष्य</a:t>
            </a:r>
            <a:endParaRPr lang="en-US" b="1" dirty="0">
              <a:solidFill>
                <a:schemeClr val="accent1"/>
              </a:solidFill>
            </a:endParaRPr>
          </a:p>
          <a:p>
            <a:r>
              <a:rPr lang="ne-NP" b="1" dirty="0">
                <a:solidFill>
                  <a:schemeClr val="accent1"/>
                </a:solidFill>
              </a:rPr>
              <a:t>अदालत चिकित्सकीय रायमा बाध्य हुँदैन</a:t>
            </a:r>
            <a:endParaRPr lang="en-US" dirty="0">
              <a:solidFill>
                <a:schemeClr val="accent1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6511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CE853-E58D-C2A7-8E91-D36E69DAD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PLACE OF AUTOPSY EVIDENCE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BCD58-A737-7DC0-9B21-3719E9D1B9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accent1"/>
                </a:solidFill>
              </a:rPr>
              <a:t>Usually corroborative, not standalone</a:t>
            </a:r>
            <a:br>
              <a:rPr lang="en-US" sz="3200" dirty="0">
                <a:solidFill>
                  <a:schemeClr val="accent1"/>
                </a:solidFill>
              </a:rPr>
            </a:br>
            <a:r>
              <a:rPr lang="en-US" sz="3200" b="1" dirty="0">
                <a:solidFill>
                  <a:schemeClr val="accent1"/>
                </a:solidFill>
              </a:rPr>
              <a:t>Must align with scene, weapon &amp; testimony</a:t>
            </a:r>
            <a:br>
              <a:rPr lang="en-US" sz="3200" dirty="0">
                <a:solidFill>
                  <a:schemeClr val="accent1"/>
                </a:solidFill>
              </a:rPr>
            </a:br>
            <a:r>
              <a:rPr lang="en-US" sz="3200" b="1" dirty="0">
                <a:solidFill>
                  <a:schemeClr val="accent1"/>
                </a:solidFill>
              </a:rPr>
              <a:t>Chain of custody is critical</a:t>
            </a:r>
            <a:endParaRPr lang="en-US" sz="3200" dirty="0">
              <a:solidFill>
                <a:schemeClr val="accent1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9063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645E8-E291-E7CE-2DE2-591ED0790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E9C4-3662-522C-B305-92F4680A4C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accent1"/>
                </a:solidFill>
              </a:rPr>
              <a:t>Medico-legal autopsy – mandatory</a:t>
            </a:r>
            <a:br>
              <a:rPr lang="en-US" sz="3200" dirty="0">
                <a:solidFill>
                  <a:schemeClr val="accent1"/>
                </a:solidFill>
              </a:rPr>
            </a:br>
            <a:r>
              <a:rPr lang="en-US" sz="3200" b="1" dirty="0">
                <a:solidFill>
                  <a:schemeClr val="accent1"/>
                </a:solidFill>
              </a:rPr>
              <a:t>Clinical autopsy – consent based</a:t>
            </a:r>
            <a:br>
              <a:rPr lang="en-US" sz="3200" dirty="0">
                <a:solidFill>
                  <a:schemeClr val="accent1"/>
                </a:solidFill>
              </a:rPr>
            </a:br>
            <a:r>
              <a:rPr lang="en-US" sz="3200" b="1" dirty="0">
                <a:solidFill>
                  <a:schemeClr val="accent1"/>
                </a:solidFill>
              </a:rPr>
              <a:t>Family consent not required in MLC cases</a:t>
            </a:r>
            <a:endParaRPr lang="en-US" sz="3200" dirty="0">
              <a:solidFill>
                <a:schemeClr val="accent1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59743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E3AA9-84BD-31F3-54A4-4553565D1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STRUCTURE OF AUTOPSY REPORT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4A4D9-0C3C-90BC-2907-C6D991EFEA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schemeClr val="accent1"/>
                </a:solidFill>
              </a:rPr>
              <a:t>Identification</a:t>
            </a:r>
          </a:p>
          <a:p>
            <a:pPr lvl="0"/>
            <a:r>
              <a:rPr lang="en-US" dirty="0">
                <a:solidFill>
                  <a:schemeClr val="accent1"/>
                </a:solidFill>
              </a:rPr>
              <a:t>History</a:t>
            </a:r>
          </a:p>
          <a:p>
            <a:pPr lvl="0"/>
            <a:r>
              <a:rPr lang="en-US" dirty="0">
                <a:solidFill>
                  <a:schemeClr val="accent1"/>
                </a:solidFill>
              </a:rPr>
              <a:t>External examination</a:t>
            </a:r>
          </a:p>
          <a:p>
            <a:pPr lvl="0"/>
            <a:r>
              <a:rPr lang="en-US" dirty="0">
                <a:solidFill>
                  <a:schemeClr val="accent1"/>
                </a:solidFill>
              </a:rPr>
              <a:t>Internal examination</a:t>
            </a:r>
          </a:p>
          <a:p>
            <a:pPr lvl="0"/>
            <a:r>
              <a:rPr lang="en-US" dirty="0">
                <a:solidFill>
                  <a:schemeClr val="accent1"/>
                </a:solidFill>
              </a:rPr>
              <a:t>Lab reports</a:t>
            </a:r>
          </a:p>
          <a:p>
            <a:pPr lvl="0"/>
            <a:r>
              <a:rPr lang="en-US" dirty="0">
                <a:solidFill>
                  <a:schemeClr val="accent1"/>
                </a:solidFill>
              </a:rPr>
              <a:t>Opinion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5550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C1871-48C4-2776-BC37-686C59AFE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PREAMBLE &amp; HISTORY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FBF76-A1B5-82B6-F736-9B0EA385D3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Incorrect history = incorrect opinion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b="1" dirty="0">
                <a:solidFill>
                  <a:schemeClr val="accent1"/>
                </a:solidFill>
              </a:rPr>
              <a:t>Check consistency with case facts</a:t>
            </a:r>
            <a:endParaRPr lang="en-US" dirty="0">
              <a:solidFill>
                <a:schemeClr val="accent1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58227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88360-790C-B2E0-3BC3-C63817179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EXTERNAL EXAMINATION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6AD7B-BB5D-7B28-15D4-CB58B09806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Rigor, livor, algor mortis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b="1" dirty="0">
                <a:solidFill>
                  <a:schemeClr val="accent1"/>
                </a:solidFill>
              </a:rPr>
              <a:t>Injury type, size &amp; location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b="1" dirty="0">
                <a:solidFill>
                  <a:schemeClr val="accent1"/>
                </a:solidFill>
              </a:rPr>
              <a:t>Climate affects postmortem changes</a:t>
            </a:r>
            <a:endParaRPr lang="en-US" dirty="0">
              <a:solidFill>
                <a:schemeClr val="accent1"/>
              </a:solidFill>
            </a:endParaRPr>
          </a:p>
          <a:p>
            <a:r>
              <a:rPr lang="en-US" b="1" dirty="0">
                <a:solidFill>
                  <a:schemeClr val="accent1"/>
                </a:solidFill>
              </a:rPr>
              <a:t>Rigor, Livor, Algor Mortis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1380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8F133-21C5-7614-9F35-1AD1D32B4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TIME SINCE DEATH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9D0B7-A601-2A52-1081-5D81FEA838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Changes after death</a:t>
            </a:r>
          </a:p>
          <a:p>
            <a:pPr lvl="1"/>
            <a:r>
              <a:rPr lang="en-US" dirty="0" err="1">
                <a:solidFill>
                  <a:schemeClr val="accent1"/>
                </a:solidFill>
              </a:rPr>
              <a:t>Rigormortis</a:t>
            </a:r>
            <a:endParaRPr lang="en-US" dirty="0">
              <a:solidFill>
                <a:schemeClr val="accent1"/>
              </a:solidFill>
            </a:endParaRPr>
          </a:p>
          <a:p>
            <a:pPr lvl="1"/>
            <a:r>
              <a:rPr lang="en-US" dirty="0">
                <a:solidFill>
                  <a:schemeClr val="accent1"/>
                </a:solidFill>
              </a:rPr>
              <a:t>Postmortem hypostasis or Algor mortis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Decomposition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Food in the stomach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66506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ED902-2007-9C17-A511-85731B2BE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Rigor mortis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9383C21-98FD-7FB6-2390-3FF388DF1B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92980" y="1825625"/>
            <a:ext cx="460604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8949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64E9B-E7C0-12AF-D8BB-70ABAD502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TYPES OF INJURIES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BE0D6-5B23-74BC-6944-79B2B402E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Abrasion – Contusion – Laceration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b="1" dirty="0">
                <a:solidFill>
                  <a:schemeClr val="accent1"/>
                </a:solidFill>
              </a:rPr>
              <a:t>Incised wound – Stab wound</a:t>
            </a:r>
            <a:endParaRPr lang="en-US" dirty="0">
              <a:solidFill>
                <a:schemeClr val="accent1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74855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71AAC-C6A4-60C2-332B-C9C01096C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Abrasion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48CEE60-FFB6-02FE-9BF3-AD08E63414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34510" y="1825625"/>
            <a:ext cx="592298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5843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9F411-32D2-3E48-C5EB-A56997EE2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Contusion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A89DD5C-C934-6F5E-D7BF-9EFE35971B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0586" y="1549075"/>
            <a:ext cx="3487606" cy="46988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0474DF-3DAA-16F5-EF82-E93A0B547B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6766" y="1507105"/>
            <a:ext cx="3100620" cy="4740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9491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1C159-ED15-3BF7-B929-17CAAFE8C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Laceration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9AB1D05-D0CD-D1E2-4796-1DC5054805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258724" y="1825625"/>
            <a:ext cx="567455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2833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36379-C420-549A-B468-F3E07A657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Incised wound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B7584C4-86B9-71F7-B2B7-3BB7FC5072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151207" y="2312555"/>
            <a:ext cx="3889585" cy="337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8020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7729C-7A91-FEAD-C620-004E4DB4A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Defense wound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263485E-B473-378B-E3CD-A3D8FC89DE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626906" y="2458872"/>
            <a:ext cx="4938188" cy="3084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1366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58D89-17D3-A21D-E9CE-C8158F1A0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Gun shot wound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A890B68-374F-B226-EDBA-19226A8F79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645782" y="1825625"/>
            <a:ext cx="490043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0546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AA185-9E54-A675-DD36-EE9DFE2EF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Hesitation cut wound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AF2ECB3-A687-BB0B-2842-7C7D4AA4F0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462337" y="2029619"/>
            <a:ext cx="5267325" cy="394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6298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B68FF-5367-631A-D158-C00275ED3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INTERNAL EXAMINATION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B990F-9087-0445-EBDE-C7E5897355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Fatal injuries may be internal only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b="1" dirty="0">
                <a:solidFill>
                  <a:schemeClr val="accent1"/>
                </a:solidFill>
              </a:rPr>
              <a:t>No external injury ≠ no violence</a:t>
            </a:r>
            <a:endParaRPr lang="en-US" dirty="0">
              <a:solidFill>
                <a:schemeClr val="accent1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19350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5CA79-80AF-4176-833B-05C474AD9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CAUSE, MECHANISM &amp; MANNER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17F3FC-FD9A-DA16-BCDF-1A870A5F63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Cause of Death – Medical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b="1" dirty="0">
                <a:solidFill>
                  <a:schemeClr val="accent1"/>
                </a:solidFill>
              </a:rPr>
              <a:t>Mechanism – Physiological failure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b="1" dirty="0">
                <a:solidFill>
                  <a:schemeClr val="accent1"/>
                </a:solidFill>
              </a:rPr>
              <a:t>Manner – Medical opinion only</a:t>
            </a:r>
            <a:endParaRPr lang="en-US" dirty="0">
              <a:solidFill>
                <a:schemeClr val="accent1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52596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3827A-3E86-B8F9-6D71-35DCADE3A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ANCILLARY INVESTIGATIONS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BEEEF-5505-9476-C134-96EDC7DAB1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Toxicology is essential in suspicion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b="1" dirty="0">
                <a:solidFill>
                  <a:schemeClr val="accent1"/>
                </a:solidFill>
              </a:rPr>
              <a:t>Histopathology supports timing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b="1" dirty="0">
                <a:solidFill>
                  <a:schemeClr val="accent1"/>
                </a:solidFill>
              </a:rPr>
              <a:t>DNA strengthens identity</a:t>
            </a:r>
            <a:endParaRPr lang="en-US" dirty="0">
              <a:solidFill>
                <a:schemeClr val="accent1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03680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ED176-5533-18AB-2CDD-76AAA110F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KEY TAKEAWAYS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35BF6-C5DC-6C4B-6374-CEA631E3BD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Scientific reports and Autopsy reports are not the final truth</a:t>
            </a:r>
          </a:p>
          <a:p>
            <a:r>
              <a:rPr lang="en-US" b="1" dirty="0">
                <a:solidFill>
                  <a:schemeClr val="accent1"/>
                </a:solidFill>
              </a:rPr>
              <a:t>Judicial reasoning is supreme</a:t>
            </a:r>
          </a:p>
          <a:p>
            <a:r>
              <a:rPr lang="en-US" b="1" dirty="0">
                <a:solidFill>
                  <a:schemeClr val="accent1"/>
                </a:solidFill>
              </a:rPr>
              <a:t>Corroboration is essential</a:t>
            </a:r>
            <a:endParaRPr lang="en-US" dirty="0">
              <a:solidFill>
                <a:schemeClr val="accent1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98842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AA07C-58CF-DDBD-405F-344C5196A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1"/>
                </a:solidFill>
              </a:rPr>
              <a:t>THANK YOU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A20CB-D167-5F4E-2BB3-A9D26B0436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7406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47D8B-2C28-DC9C-A52F-701766ECB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1"/>
                </a:solidFill>
              </a:rPr>
              <a:t>QUESTION AND ANSWER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33A7D-40CB-CC01-A372-8DB4D3D731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0796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771</Words>
  <Application>Microsoft Office PowerPoint</Application>
  <PresentationFormat>Widescreen</PresentationFormat>
  <Paragraphs>90</Paragraphs>
  <Slides>25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Calibri Light</vt:lpstr>
      <vt:lpstr>Times New Roman</vt:lpstr>
      <vt:lpstr>Office Theme</vt:lpstr>
      <vt:lpstr> A Judge’s Guide to Autopsy Reports and Scientific Evidence </vt:lpstr>
      <vt:lpstr>ROLE OF JUDGES IN SCIENTIFIC EVIDENCE</vt:lpstr>
      <vt:lpstr>PRESENTATION ROADMAP </vt:lpstr>
      <vt:lpstr>MEDICINE &amp; LAW IN NEPAL</vt:lpstr>
      <vt:lpstr>PLACE OF AUTOPSY EVIDENCE</vt:lpstr>
      <vt:lpstr>PowerPoint Presentation</vt:lpstr>
      <vt:lpstr>STRUCTURE OF AUTOPSY REPORT</vt:lpstr>
      <vt:lpstr>PREAMBLE &amp; HISTORY</vt:lpstr>
      <vt:lpstr>EXTERNAL EXAMINATION</vt:lpstr>
      <vt:lpstr>TIME SINCE DEATH</vt:lpstr>
      <vt:lpstr>Rigor mortis</vt:lpstr>
      <vt:lpstr>TYPES OF INJURIES</vt:lpstr>
      <vt:lpstr>Abrasion</vt:lpstr>
      <vt:lpstr>Contusion</vt:lpstr>
      <vt:lpstr>Laceration</vt:lpstr>
      <vt:lpstr>Incised wound</vt:lpstr>
      <vt:lpstr>Defense wound</vt:lpstr>
      <vt:lpstr>Gun shot wound</vt:lpstr>
      <vt:lpstr>Hesitation cut wound</vt:lpstr>
      <vt:lpstr>INTERNAL EXAMINATION</vt:lpstr>
      <vt:lpstr>CAUSE, MECHANISM &amp; MANNER</vt:lpstr>
      <vt:lpstr>ANCILLARY INVESTIGATIONS</vt:lpstr>
      <vt:lpstr>KEY TAKEAWAYS</vt:lpstr>
      <vt:lpstr>THANK YOU</vt:lpstr>
      <vt:lpstr>QUESTION AND ANSWER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Gopal Chaudhary</dc:creator>
  <cp:lastModifiedBy>Gopal Chaudhary</cp:lastModifiedBy>
  <cp:revision>13</cp:revision>
  <dcterms:created xsi:type="dcterms:W3CDTF">2026-01-25T02:43:33Z</dcterms:created>
  <dcterms:modified xsi:type="dcterms:W3CDTF">2026-01-25T04:07:09Z</dcterms:modified>
</cp:coreProperties>
</file>