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sldIdLst>
    <p:sldId id="258" r:id="rId2"/>
    <p:sldId id="301" r:id="rId3"/>
    <p:sldId id="261" r:id="rId4"/>
    <p:sldId id="310" r:id="rId5"/>
    <p:sldId id="311" r:id="rId6"/>
    <p:sldId id="312" r:id="rId7"/>
    <p:sldId id="313" r:id="rId8"/>
    <p:sldId id="273" r:id="rId9"/>
    <p:sldId id="308" r:id="rId10"/>
    <p:sldId id="279" r:id="rId11"/>
    <p:sldId id="283" r:id="rId12"/>
    <p:sldId id="314" r:id="rId13"/>
    <p:sldId id="309" r:id="rId14"/>
    <p:sldId id="317" r:id="rId15"/>
    <p:sldId id="315" r:id="rId16"/>
    <p:sldId id="318" r:id="rId17"/>
    <p:sldId id="316" r:id="rId18"/>
    <p:sldId id="319" r:id="rId19"/>
    <p:sldId id="320" r:id="rId20"/>
    <p:sldId id="285" r:id="rId21"/>
    <p:sldId id="325" r:id="rId22"/>
    <p:sldId id="324" r:id="rId23"/>
    <p:sldId id="321" r:id="rId24"/>
    <p:sldId id="326" r:id="rId25"/>
    <p:sldId id="322" r:id="rId26"/>
    <p:sldId id="327" r:id="rId27"/>
    <p:sldId id="323"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60" d="100"/>
          <a:sy n="60" d="100"/>
        </p:scale>
        <p:origin x="-1456" y="-16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09746CDC-C2CB-4B70-8E24-3A5B73A52043}" type="datetimeFigureOut">
              <a:rPr lang="en-US" smtClean="0"/>
              <a:pPr/>
              <a:t>1/25/2026</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8505DEA3-BC10-4FAE-AF72-0BD159D9D297}" type="slidenum">
              <a:rPr lang="en-US" smtClean="0"/>
              <a:pPr/>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transition>
    <p:wedg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09746CDC-C2CB-4B70-8E24-3A5B73A52043}"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361688" y="1026372"/>
            <a:ext cx="457200" cy="441325"/>
          </a:xfrm>
        </p:spPr>
        <p:txBody>
          <a:bodyPr/>
          <a:lstStyle/>
          <a:p>
            <a:fld id="{8505DEA3-BC10-4FAE-AF72-0BD159D9D297}" type="slidenum">
              <a:rPr lang="en-US" smtClean="0"/>
              <a:pPr/>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transition>
    <p:wedg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09746CDC-C2CB-4B70-8E24-3A5B73A52043}" type="datetimeFigureOut">
              <a:rPr lang="en-US" smtClean="0"/>
              <a:pPr/>
              <a:t>1/25/2026</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8505DEA3-BC10-4FAE-AF72-0BD159D9D297}" type="slidenum">
              <a:rPr lang="en-US" smtClean="0"/>
              <a:pPr/>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transition>
    <p:wedg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09746CDC-C2CB-4B70-8E24-3A5B73A52043}" type="datetimeFigureOut">
              <a:rPr lang="en-US" smtClean="0"/>
              <a:pPr/>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05DEA3-BC10-4FAE-AF72-0BD159D9D297}" type="slidenum">
              <a:rPr lang="en-US" smtClean="0"/>
              <a:pPr/>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transition>
    <p:wedg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09746CDC-C2CB-4B70-8E24-3A5B73A52043}" type="datetimeFigureOut">
              <a:rPr lang="en-US" smtClean="0"/>
              <a:pPr/>
              <a:t>1/25/2026</a:t>
            </a:fld>
            <a:endParaRPr lang="en-US"/>
          </a:p>
        </p:txBody>
      </p:sp>
      <p:sp>
        <p:nvSpPr>
          <p:cNvPr id="8" name="Footer Placeholder 7"/>
          <p:cNvSpPr>
            <a:spLocks noGrp="1"/>
          </p:cNvSpPr>
          <p:nvPr>
            <p:ph type="ftr" sz="quarter" idx="11"/>
          </p:nvPr>
        </p:nvSpPr>
        <p:spPr>
          <a:xfrm>
            <a:off x="304800" y="6409944"/>
            <a:ext cx="3581400" cy="365760"/>
          </a:xfrm>
        </p:spPr>
        <p:txBody>
          <a:bodyPr/>
          <a:lstStyle/>
          <a:p>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8505DEA3-BC10-4FAE-AF72-0BD159D9D297}" type="slidenum">
              <a:rPr lang="en-US" smtClean="0"/>
              <a:pPr/>
              <a:t>‹#›</a:t>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transition>
    <p:wedg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09746CDC-C2CB-4B70-8E24-3A5B73A52043}" type="datetimeFigureOut">
              <a:rPr lang="en-US" smtClean="0"/>
              <a:pPr/>
              <a:t>1/25/2026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343400" y="1036020"/>
            <a:ext cx="457200" cy="441325"/>
          </a:xfrm>
        </p:spPr>
        <p:txBody>
          <a:bodyPr/>
          <a:lstStyle/>
          <a:p>
            <a:fld id="{8505DEA3-BC10-4FAE-AF72-0BD159D9D297}" type="slidenum">
              <a:rPr lang="en-US" smtClean="0"/>
              <a:pPr/>
              <a:t>‹#›</a:t>
            </a:fld>
            <a:endParaRPr lang="en-US"/>
          </a:p>
        </p:txBody>
      </p:sp>
    </p:spTree>
  </p:cSld>
  <p:clrMapOvr>
    <a:masterClrMapping/>
  </p:clrMapOvr>
  <p:transition>
    <p:wedg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09746CDC-C2CB-4B70-8E24-3A5B73A52043}" type="datetimeFigureOut">
              <a:rPr lang="en-US" smtClean="0"/>
              <a:pPr/>
              <a:t>1/25/2026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8505DEA3-BC10-4FAE-AF72-0BD159D9D297}" type="slidenum">
              <a:rPr lang="en-US" smtClean="0"/>
              <a:pPr/>
              <a:t>‹#›</a:t>
            </a:fld>
            <a:endParaRPr lang="en-US"/>
          </a:p>
        </p:txBody>
      </p:sp>
    </p:spTree>
  </p:cSld>
  <p:clrMapOvr>
    <a:masterClrMapping/>
  </p:clrMapOvr>
  <p:transition>
    <p:wedg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8505DEA3-BC10-4FAE-AF72-0BD159D9D297}" type="slidenum">
              <a:rPr lang="en-US" smtClean="0"/>
              <a:pPr/>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09746CDC-C2CB-4B70-8E24-3A5B73A52043}" type="datetimeFigureOut">
              <a:rPr lang="en-US" smtClean="0"/>
              <a:pPr/>
              <a:t>1/25/2026</a:t>
            </a:fld>
            <a:endParaRPr lang="en-US"/>
          </a:p>
        </p:txBody>
      </p:sp>
      <p:sp>
        <p:nvSpPr>
          <p:cNvPr id="6" name="Footer Placeholder 5"/>
          <p:cNvSpPr>
            <a:spLocks noGrp="1"/>
          </p:cNvSpPr>
          <p:nvPr>
            <p:ph type="ftr" sz="quarter" idx="11"/>
          </p:nvPr>
        </p:nvSpPr>
        <p:spPr>
          <a:xfrm>
            <a:off x="301752" y="6410848"/>
            <a:ext cx="338328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transition>
    <p:wedg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8505DEA3-BC10-4FAE-AF72-0BD159D9D297}" type="slidenum">
              <a:rPr lang="en-US" smtClean="0"/>
              <a:pPr/>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09746CDC-C2CB-4B70-8E24-3A5B73A52043}" type="datetimeFigureOut">
              <a:rPr lang="en-US" smtClean="0"/>
              <a:pPr/>
              <a:t>1/25/2026</a:t>
            </a:fld>
            <a:endParaRPr lang="en-US"/>
          </a:p>
        </p:txBody>
      </p:sp>
      <p:sp>
        <p:nvSpPr>
          <p:cNvPr id="6" name="Footer Placeholder 5"/>
          <p:cNvSpPr>
            <a:spLocks noGrp="1"/>
          </p:cNvSpPr>
          <p:nvPr>
            <p:ph type="ftr" sz="quarter" idx="11"/>
          </p:nvPr>
        </p:nvSpPr>
        <p:spPr>
          <a:xfrm>
            <a:off x="301752" y="6410848"/>
            <a:ext cx="3584448" cy="365760"/>
          </a:xfrm>
        </p:spPr>
        <p:txBody>
          <a:bodyPr/>
          <a:lstStyle/>
          <a:p>
            <a:endParaRPr lang="en-US"/>
          </a:p>
        </p:txBody>
      </p:sp>
    </p:spTree>
  </p:cSld>
  <p:clrMapOvr>
    <a:masterClrMapping/>
  </p:clrMapOvr>
  <p:transition>
    <p:wedg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9746CDC-C2CB-4B70-8E24-3A5B73A52043}"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05DEA3-BC10-4FAE-AF72-0BD159D9D297}"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transition>
    <p:wedg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8505DEA3-BC10-4FAE-AF72-0BD159D9D297}" type="slidenum">
              <a:rPr lang="en-US" smtClean="0"/>
              <a:pPr/>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9746CDC-C2CB-4B70-8E24-3A5B73A52043}"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transition>
    <p:wedg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09746CDC-C2CB-4B70-8E24-3A5B73A52043}" type="datetimeFigureOut">
              <a:rPr lang="en-US" smtClean="0"/>
              <a:pPr/>
              <a:t>1/25/2026</a:t>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8505DEA3-BC10-4FAE-AF72-0BD159D9D297}" type="slidenum">
              <a:rPr lang="en-US" smtClean="0"/>
              <a:pPr/>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ransition>
    <p:wedge/>
  </p:transition>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858962"/>
          </a:xfrm>
        </p:spPr>
        <p:txBody>
          <a:bodyPr>
            <a:normAutofit/>
          </a:bodyPr>
          <a:lstStyle/>
          <a:p>
            <a:r>
              <a:rPr lang="ne-NP" sz="5400" b="1" dirty="0" smtClean="0">
                <a:solidFill>
                  <a:schemeClr val="tx2">
                    <a:lumMod val="75000"/>
                  </a:schemeClr>
                </a:solidFill>
                <a:effectLst>
                  <a:outerShdw blurRad="38100" dist="38100" dir="2700000" algn="tl">
                    <a:srgbClr val="000000">
                      <a:alpha val="43137"/>
                    </a:srgbClr>
                  </a:outerShdw>
                </a:effectLst>
              </a:rPr>
              <a:t>फौजदारी मुद्दाको फैसला लेखन अभ्यास</a:t>
            </a:r>
            <a:endParaRPr lang="en-US" sz="5400" b="1" dirty="0">
              <a:solidFill>
                <a:schemeClr val="tx2">
                  <a:lumMod val="75000"/>
                </a:schemeClr>
              </a:solidFill>
              <a:effectLst>
                <a:outerShdw blurRad="38100" dist="38100" dir="2700000" algn="tl">
                  <a:srgbClr val="000000">
                    <a:alpha val="43137"/>
                  </a:srgbClr>
                </a:outerShdw>
              </a:effectLst>
            </a:endParaRPr>
          </a:p>
        </p:txBody>
      </p:sp>
      <p:sp>
        <p:nvSpPr>
          <p:cNvPr id="5" name="Content Placeholder 4"/>
          <p:cNvSpPr>
            <a:spLocks noGrp="1"/>
          </p:cNvSpPr>
          <p:nvPr>
            <p:ph sz="quarter" idx="1"/>
          </p:nvPr>
        </p:nvSpPr>
        <p:spPr>
          <a:xfrm>
            <a:off x="457200" y="4648200"/>
            <a:ext cx="8229600" cy="1477963"/>
          </a:xfrm>
        </p:spPr>
        <p:txBody>
          <a:bodyPr>
            <a:normAutofit/>
          </a:bodyPr>
          <a:lstStyle/>
          <a:p>
            <a:pPr algn="ctr">
              <a:lnSpc>
                <a:spcPct val="80000"/>
              </a:lnSpc>
              <a:buNone/>
            </a:pPr>
            <a:r>
              <a:rPr lang="ne-NP" altLang="en-US" dirty="0" smtClean="0">
                <a:effectLst>
                  <a:outerShdw blurRad="38100" dist="38100" dir="2700000" algn="tl">
                    <a:srgbClr val="000000">
                      <a:alpha val="43137"/>
                    </a:srgbClr>
                  </a:outerShdw>
                </a:effectLst>
                <a:latin typeface="+mj-lt"/>
                <a:ea typeface="+mj-ea"/>
                <a:cs typeface="+mj-cs"/>
              </a:rPr>
              <a:t>ईश्वर पराजुली</a:t>
            </a:r>
            <a:endParaRPr lang="en-US" altLang="en-US" dirty="0" smtClean="0">
              <a:effectLst>
                <a:outerShdw blurRad="38100" dist="38100" dir="2700000" algn="tl">
                  <a:srgbClr val="000000">
                    <a:alpha val="43137"/>
                  </a:srgbClr>
                </a:outerShdw>
              </a:effectLst>
              <a:latin typeface="+mj-lt"/>
              <a:ea typeface="+mj-ea"/>
              <a:cs typeface="+mj-cs"/>
            </a:endParaRPr>
          </a:p>
          <a:p>
            <a:pPr algn="ctr">
              <a:lnSpc>
                <a:spcPct val="80000"/>
              </a:lnSpc>
              <a:buNone/>
            </a:pPr>
            <a:r>
              <a:rPr lang="ne-NP" altLang="en-US" dirty="0" smtClean="0">
                <a:effectLst>
                  <a:outerShdw blurRad="38100" dist="38100" dir="2700000" algn="tl">
                    <a:srgbClr val="000000">
                      <a:alpha val="43137"/>
                    </a:srgbClr>
                  </a:outerShdw>
                </a:effectLst>
                <a:latin typeface="+mj-lt"/>
                <a:ea typeface="+mj-ea"/>
                <a:cs typeface="+mj-cs"/>
              </a:rPr>
              <a:t>जिल्ला न्यायाधीश</a:t>
            </a:r>
          </a:p>
          <a:p>
            <a:pPr algn="ctr">
              <a:lnSpc>
                <a:spcPct val="80000"/>
              </a:lnSpc>
              <a:buNone/>
            </a:pPr>
            <a:r>
              <a:rPr lang="ne-NP" altLang="en-US" dirty="0" smtClean="0">
                <a:effectLst>
                  <a:outerShdw blurRad="38100" dist="38100" dir="2700000" algn="tl">
                    <a:srgbClr val="000000">
                      <a:alpha val="43137"/>
                    </a:srgbClr>
                  </a:outerShdw>
                </a:effectLst>
                <a:latin typeface="+mj-lt"/>
                <a:ea typeface="+mj-ea"/>
                <a:cs typeface="+mj-cs"/>
              </a:rPr>
              <a:t>काठमाण्डौं जिल्ला अदालत</a:t>
            </a:r>
            <a:endParaRPr lang="en-US" altLang="en-US" dirty="0" smtClean="0">
              <a:effectLst>
                <a:outerShdw blurRad="38100" dist="38100" dir="2700000" algn="tl">
                  <a:srgbClr val="000000">
                    <a:alpha val="43137"/>
                  </a:srgbClr>
                </a:outerShdw>
              </a:effectLst>
              <a:latin typeface="+mj-lt"/>
              <a:ea typeface="+mj-ea"/>
              <a:cs typeface="+mj-cs"/>
            </a:endParaRPr>
          </a:p>
          <a:p>
            <a:pPr algn="ctr"/>
            <a:endParaRPr lang="en-US" dirty="0" smtClean="0">
              <a:effectLst>
                <a:outerShdw blurRad="38100" dist="38100" dir="2700000" algn="tl">
                  <a:srgbClr val="000000">
                    <a:alpha val="43137"/>
                  </a:srgbClr>
                </a:outerShdw>
              </a:effectLst>
              <a:latin typeface="+mj-lt"/>
              <a:ea typeface="+mj-ea"/>
              <a:cs typeface="+mj-cs"/>
            </a:endParaRPr>
          </a:p>
        </p:txBody>
      </p:sp>
    </p:spTree>
  </p:cSld>
  <p:clrMapOvr>
    <a:masterClrMapping/>
  </p:clrMapOvr>
  <p:transition>
    <p:wedg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b="1" dirty="0" smtClean="0"/>
              <a:t>छलफलको विषय</a:t>
            </a:r>
            <a:endParaRPr lang="en-US" b="1" dirty="0"/>
          </a:p>
        </p:txBody>
      </p:sp>
      <p:sp>
        <p:nvSpPr>
          <p:cNvPr id="3" name="Content Placeholder 2"/>
          <p:cNvSpPr>
            <a:spLocks noGrp="1"/>
          </p:cNvSpPr>
          <p:nvPr>
            <p:ph sz="quarter" idx="1"/>
          </p:nvPr>
        </p:nvSpPr>
        <p:spPr/>
        <p:txBody>
          <a:bodyPr>
            <a:normAutofit lnSpcReduction="10000"/>
          </a:bodyPr>
          <a:lstStyle/>
          <a:p>
            <a:r>
              <a:rPr lang="ne-NP" dirty="0" smtClean="0"/>
              <a:t>फैसला के हो </a:t>
            </a:r>
            <a:r>
              <a:rPr lang="en-US" dirty="0" smtClean="0"/>
              <a:t>?</a:t>
            </a:r>
            <a:endParaRPr lang="ne-NP" dirty="0" smtClean="0"/>
          </a:p>
          <a:p>
            <a:r>
              <a:rPr lang="ne-NP" dirty="0" smtClean="0"/>
              <a:t>कसरी गरिन्छ </a:t>
            </a:r>
            <a:r>
              <a:rPr lang="en-US" dirty="0" smtClean="0"/>
              <a:t>?</a:t>
            </a:r>
          </a:p>
          <a:p>
            <a:r>
              <a:rPr lang="ne-NP" dirty="0" smtClean="0"/>
              <a:t>कहिले गरिन्छ</a:t>
            </a:r>
            <a:r>
              <a:rPr lang="en-US" dirty="0" smtClean="0"/>
              <a:t> ?</a:t>
            </a:r>
          </a:p>
          <a:p>
            <a:r>
              <a:rPr lang="ne-NP" dirty="0" smtClean="0"/>
              <a:t>फैसलामा के के कुरा समेटिन्छ </a:t>
            </a:r>
            <a:r>
              <a:rPr lang="en-US" dirty="0" smtClean="0"/>
              <a:t>?</a:t>
            </a:r>
            <a:endParaRPr lang="ne-NP" dirty="0" smtClean="0"/>
          </a:p>
          <a:p>
            <a:r>
              <a:rPr lang="ne-NP" dirty="0" smtClean="0"/>
              <a:t>मुद्दाको संक्षिप्त तथ्य</a:t>
            </a:r>
          </a:p>
          <a:p>
            <a:r>
              <a:rPr lang="ne-NP" dirty="0" smtClean="0"/>
              <a:t>समुहगत छलफल</a:t>
            </a:r>
          </a:p>
          <a:p>
            <a:r>
              <a:rPr lang="ne-NP" dirty="0" smtClean="0"/>
              <a:t>फैसला लेखन अभ्यास</a:t>
            </a:r>
          </a:p>
          <a:p>
            <a:r>
              <a:rPr lang="ne-NP" dirty="0" smtClean="0"/>
              <a:t>प्रस्तुती</a:t>
            </a:r>
          </a:p>
          <a:p>
            <a:r>
              <a:rPr lang="ne-NP" dirty="0" smtClean="0"/>
              <a:t>स्वमुल्याङ्कन</a:t>
            </a:r>
          </a:p>
          <a:p>
            <a:r>
              <a:rPr lang="ne-NP" dirty="0" smtClean="0"/>
              <a:t>पृष्टपोषण</a:t>
            </a:r>
          </a:p>
          <a:p>
            <a:endParaRPr lang="ne-NP" dirty="0" smtClean="0"/>
          </a:p>
          <a:p>
            <a:endParaRPr lang="en-US" dirty="0" smtClean="0"/>
          </a:p>
          <a:p>
            <a:endParaRPr lang="en-US" dirty="0"/>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e-NP" b="1" dirty="0" smtClean="0"/>
              <a:t>क्रमश</a:t>
            </a:r>
            <a:endParaRPr lang="en-US" dirty="0"/>
          </a:p>
        </p:txBody>
      </p:sp>
      <p:sp>
        <p:nvSpPr>
          <p:cNvPr id="3" name="Content Placeholder 2"/>
          <p:cNvSpPr>
            <a:spLocks noGrp="1"/>
          </p:cNvSpPr>
          <p:nvPr>
            <p:ph sz="quarter" idx="1"/>
          </p:nvPr>
        </p:nvSpPr>
        <p:spPr/>
        <p:txBody>
          <a:bodyPr/>
          <a:lstStyle/>
          <a:p>
            <a:pPr lvl="0"/>
            <a:r>
              <a:rPr lang="ne-NP" b="1" dirty="0" smtClean="0"/>
              <a:t>फैसलाका </a:t>
            </a:r>
            <a:r>
              <a:rPr lang="ne-NP" b="1" dirty="0"/>
              <a:t>चरणहरु</a:t>
            </a:r>
            <a:endParaRPr lang="en-US" dirty="0"/>
          </a:p>
          <a:p>
            <a:pPr lvl="0"/>
            <a:r>
              <a:rPr lang="ne-NP" b="1" dirty="0" smtClean="0"/>
              <a:t>फैसलामा </a:t>
            </a:r>
            <a:r>
              <a:rPr lang="ne-NP" b="1" dirty="0"/>
              <a:t>समावेश गरिनु पर्ने </a:t>
            </a:r>
            <a:r>
              <a:rPr lang="ne-NP" b="1" dirty="0" smtClean="0"/>
              <a:t>मुख्य विषयहरु </a:t>
            </a:r>
            <a:endParaRPr lang="en-US" dirty="0"/>
          </a:p>
          <a:p>
            <a:pPr lvl="0"/>
            <a:r>
              <a:rPr lang="ne-NP" b="1" dirty="0" smtClean="0"/>
              <a:t>फैसला लेखनमा देखिएका </a:t>
            </a:r>
            <a:r>
              <a:rPr lang="ne-NP" b="1" dirty="0"/>
              <a:t>समस्याहरु</a:t>
            </a:r>
            <a:r>
              <a:rPr lang="en-US" b="1" dirty="0"/>
              <a:t>, </a:t>
            </a:r>
            <a:endParaRPr lang="ne-NP" b="1" dirty="0" smtClean="0"/>
          </a:p>
          <a:p>
            <a:pPr lvl="0"/>
            <a:r>
              <a:rPr lang="ne-NP" b="1" dirty="0" smtClean="0"/>
              <a:t>समाधानका </a:t>
            </a:r>
            <a:r>
              <a:rPr lang="ne-NP" b="1" dirty="0"/>
              <a:t>उपायहरु र </a:t>
            </a:r>
            <a:r>
              <a:rPr lang="ne-NP" b="1" dirty="0" smtClean="0"/>
              <a:t>निष्कर्ष</a:t>
            </a:r>
          </a:p>
          <a:p>
            <a:pPr lvl="0">
              <a:buNone/>
            </a:pPr>
            <a:endParaRPr lang="en-US" dirty="0"/>
          </a:p>
          <a:p>
            <a:endParaRPr lang="en-US" dirty="0"/>
          </a:p>
        </p:txBody>
      </p:sp>
    </p:spTree>
  </p:cSld>
  <p:clrMapOvr>
    <a:masterClrMapping/>
  </p:clrMapOvr>
  <p:transition>
    <p:wedg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फैसला लेखनको उद्देश्य</a:t>
            </a:r>
            <a:endParaRPr lang="en-US" dirty="0"/>
          </a:p>
        </p:txBody>
      </p:sp>
      <p:sp>
        <p:nvSpPr>
          <p:cNvPr id="3" name="Content Placeholder 2"/>
          <p:cNvSpPr>
            <a:spLocks noGrp="1"/>
          </p:cNvSpPr>
          <p:nvPr>
            <p:ph sz="quarter" idx="1"/>
          </p:nvPr>
        </p:nvSpPr>
        <p:spPr>
          <a:xfrm>
            <a:off x="301752" y="1527048"/>
            <a:ext cx="8503920" cy="5026152"/>
          </a:xfrm>
        </p:spPr>
        <p:txBody>
          <a:bodyPr>
            <a:normAutofit fontScale="47500" lnSpcReduction="20000"/>
          </a:bodyPr>
          <a:lstStyle/>
          <a:p>
            <a:r>
              <a:rPr lang="ne-NP" sz="5100" dirty="0" smtClean="0"/>
              <a:t>विवादित विषयमा कानुन र प्रमाणका आधारमा सही र निष्पक्ष न्याय प्रदान गर्नु।</a:t>
            </a:r>
          </a:p>
          <a:p>
            <a:r>
              <a:rPr lang="ne-NP" sz="5100" dirty="0" smtClean="0"/>
              <a:t>किन र कसरी यस्तो फैसला गरिएको हो भन्ने कुराको आधार र कारणसहित पक्षलाई स्पष्ट पार्नु।</a:t>
            </a:r>
          </a:p>
          <a:p>
            <a:r>
              <a:rPr lang="ne-NP" sz="5100" dirty="0" smtClean="0"/>
              <a:t>मुद्दामा एउटा पक्षको हार र एउटाको जित त हुन्छ नैं तरपनि फैसला पढेर आफुले जितेको वा हारेको कारण बुझ्न सकून्।</a:t>
            </a:r>
          </a:p>
          <a:p>
            <a:r>
              <a:rPr lang="ne-NP" sz="5100" dirty="0" smtClean="0"/>
              <a:t>अदालतको काम कारबाही खुला, जिम्मेवार र विश्वासयोग्य बनाइ न्यायिक पारदर्शिता कायम गर्नु।</a:t>
            </a:r>
          </a:p>
          <a:p>
            <a:r>
              <a:rPr lang="ne-NP" sz="5100" dirty="0" smtClean="0"/>
              <a:t>न्यायाधीशले तथ्य, प्रमाण र कानुनको सीमाभित्र रहेर निर्णय गरेको देखाउन तथा न्यायिक अनुशासन कायम गर्नु।</a:t>
            </a:r>
          </a:p>
          <a:p>
            <a:r>
              <a:rPr lang="ne-NP" sz="5100" dirty="0" smtClean="0"/>
              <a:t>फैसला कार्यान्वयनमा मार्ग निर्देश गर्नु </a:t>
            </a:r>
          </a:p>
          <a:p>
            <a:r>
              <a:rPr lang="ne-NP" sz="5100" dirty="0" smtClean="0"/>
              <a:t>कानुनी सिद्धान्तको विकास </a:t>
            </a:r>
          </a:p>
          <a:p>
            <a:pPr>
              <a:buNone/>
            </a:pPr>
            <a:endParaRPr lang="en-US" dirty="0"/>
          </a:p>
        </p:txBody>
      </p:sp>
    </p:spTree>
  </p:cSld>
  <p:clrMapOvr>
    <a:masterClrMapping/>
  </p:clrMapOvr>
  <p:transition>
    <p:wedg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फैसला कहिले गरिन्छ</a:t>
            </a:r>
            <a:endParaRPr lang="en-US" dirty="0"/>
          </a:p>
        </p:txBody>
      </p:sp>
      <p:sp>
        <p:nvSpPr>
          <p:cNvPr id="3" name="Content Placeholder 2"/>
          <p:cNvSpPr>
            <a:spLocks noGrp="1"/>
          </p:cNvSpPr>
          <p:nvPr>
            <p:ph sz="quarter" idx="1"/>
          </p:nvPr>
        </p:nvSpPr>
        <p:spPr/>
        <p:txBody>
          <a:bodyPr>
            <a:normAutofit fontScale="85000" lnSpcReduction="20000"/>
          </a:bodyPr>
          <a:lstStyle/>
          <a:p>
            <a:r>
              <a:rPr lang="ne-NP" dirty="0" smtClean="0"/>
              <a:t>समान्यतया फौजदारी मुद्दामा अभियोग दर्ता भएपछि पक्षको बयान, साक्षी तथा विशेषज्ञको वकपत्र र प्रमाणको परीक्षणको काम सम्पन्न भएपछि </a:t>
            </a:r>
          </a:p>
          <a:p>
            <a:r>
              <a:rPr lang="ne-NP" dirty="0" smtClean="0"/>
              <a:t>दुवै तर्फका कानून व्यवसायीको वहस सुनेपछि फैसला गरिन्छ।</a:t>
            </a:r>
          </a:p>
          <a:p>
            <a:r>
              <a:rPr lang="ne-NP" dirty="0" smtClean="0"/>
              <a:t>मुद्दामा के–के तथ्य स्वीकारिएका छन् र के–के विवादित छन् भन्ने अर्थात </a:t>
            </a:r>
            <a:r>
              <a:rPr lang="ne-NP" b="1" dirty="0" smtClean="0"/>
              <a:t>तथ्यको पहिचान (</a:t>
            </a:r>
            <a:r>
              <a:rPr lang="en-US" b="1" dirty="0" smtClean="0"/>
              <a:t>Facts Identification) </a:t>
            </a:r>
            <a:r>
              <a:rPr lang="ne-NP" dirty="0" smtClean="0"/>
              <a:t>गरिन्छ।</a:t>
            </a:r>
          </a:p>
          <a:p>
            <a:r>
              <a:rPr lang="ne-NP" dirty="0" smtClean="0"/>
              <a:t>अदालतले निर्णय गर्नुपर्ने मुख्य कानुनी र तथ्यगत प्रश्न अर्थात् </a:t>
            </a:r>
            <a:r>
              <a:rPr lang="ne-NP" b="1" dirty="0" smtClean="0"/>
              <a:t>विवादका प्रश्न निर्धारण (</a:t>
            </a:r>
            <a:r>
              <a:rPr lang="en-US" b="1" dirty="0" smtClean="0"/>
              <a:t>Issues Framing) </a:t>
            </a:r>
            <a:r>
              <a:rPr lang="ne-NP" b="1" dirty="0" smtClean="0"/>
              <a:t> गरिन्छ</a:t>
            </a:r>
            <a:r>
              <a:rPr lang="ne-NP" dirty="0" smtClean="0"/>
              <a:t>।</a:t>
            </a:r>
          </a:p>
          <a:p>
            <a:r>
              <a:rPr lang="ne-NP" dirty="0" smtClean="0"/>
              <a:t>कागजात, साक्षी, बयान, विशेषज्ञ राय आदि प्रमाणको विश्वसनीयताको जाँच अर्थात </a:t>
            </a:r>
            <a:r>
              <a:rPr lang="ne-NP" b="1" dirty="0" smtClean="0"/>
              <a:t>प्रमाणको मूल्याङ्कन गर्ने।</a:t>
            </a:r>
            <a:endParaRPr lang="ne-NP" dirty="0" smtClean="0"/>
          </a:p>
          <a:p>
            <a:r>
              <a:rPr lang="ne-NP" dirty="0" smtClean="0"/>
              <a:t>लागू हुने ऐन, नियम, नजिर (</a:t>
            </a:r>
            <a:r>
              <a:rPr lang="en-US" dirty="0" smtClean="0"/>
              <a:t>precedent) </a:t>
            </a:r>
            <a:r>
              <a:rPr lang="ne-NP" dirty="0" smtClean="0"/>
              <a:t>र कानुनी सिद्धान्त प्रयोग गर्ने।</a:t>
            </a:r>
          </a:p>
          <a:p>
            <a:r>
              <a:rPr lang="ne-NP" b="1" dirty="0" smtClean="0"/>
              <a:t>तथ्य र कानुनको विश्लेषण गर्दै </a:t>
            </a:r>
            <a:r>
              <a:rPr lang="ne-NP" dirty="0" smtClean="0"/>
              <a:t>प्रमाणबाट स्थापित तथ्यलाई कानुनसँग जोडेर तर्कसहित विश्लेषण गरेर </a:t>
            </a:r>
            <a:r>
              <a:rPr lang="ne-NP" b="1" dirty="0" smtClean="0"/>
              <a:t>निष्कर्षमा पुग्नुपर्ने हुन्छ।</a:t>
            </a:r>
          </a:p>
          <a:p>
            <a:endParaRPr lang="en-US" dirty="0"/>
          </a:p>
        </p:txBody>
      </p:sp>
    </p:spTree>
  </p:cSld>
  <p:clrMapOvr>
    <a:masterClrMapping/>
  </p:clrMapOvr>
  <p:transition>
    <p:wedg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e-NP" b="1" dirty="0" smtClean="0"/>
              <a:t>फैसला लेखनमा खासगरी </a:t>
            </a:r>
            <a:endParaRPr lang="en-US" dirty="0"/>
          </a:p>
        </p:txBody>
      </p:sp>
      <p:sp>
        <p:nvSpPr>
          <p:cNvPr id="3" name="Content Placeholder 2"/>
          <p:cNvSpPr>
            <a:spLocks noGrp="1"/>
          </p:cNvSpPr>
          <p:nvPr>
            <p:ph sz="quarter" idx="1"/>
          </p:nvPr>
        </p:nvSpPr>
        <p:spPr/>
        <p:txBody>
          <a:bodyPr/>
          <a:lstStyle/>
          <a:p>
            <a:r>
              <a:rPr lang="ne-NP" dirty="0" smtClean="0"/>
              <a:t>पृष्ठभूमि</a:t>
            </a:r>
          </a:p>
          <a:p>
            <a:r>
              <a:rPr lang="ne-NP" dirty="0" smtClean="0"/>
              <a:t>मुद्दाका प्रश्न</a:t>
            </a:r>
          </a:p>
          <a:p>
            <a:r>
              <a:rPr lang="ne-NP" dirty="0" smtClean="0"/>
              <a:t>प्रमाण र विश्लेषण</a:t>
            </a:r>
          </a:p>
          <a:p>
            <a:r>
              <a:rPr lang="ne-NP" dirty="0" smtClean="0"/>
              <a:t>कारणसहितको निर्णय</a:t>
            </a:r>
          </a:p>
          <a:p>
            <a:r>
              <a:rPr lang="ne-NP" dirty="0" smtClean="0"/>
              <a:t>आदेश (जस्तै: दाबी स्वीकृत/अस्वीकृत, सजाय, विगो भराउने</a:t>
            </a:r>
            <a:r>
              <a:rPr lang="en-US" dirty="0" smtClean="0"/>
              <a:t>, </a:t>
            </a:r>
            <a:r>
              <a:rPr lang="ne-NP" dirty="0" smtClean="0"/>
              <a:t>क्षतिपूर्ति)</a:t>
            </a:r>
          </a:p>
          <a:p>
            <a:r>
              <a:rPr lang="ne-NP" b="1" dirty="0" smtClean="0"/>
              <a:t>फैसला सुनाउने</a:t>
            </a:r>
            <a:endParaRPr lang="ne-NP" dirty="0" smtClean="0"/>
          </a:p>
          <a:p>
            <a:endParaRPr lang="en-US" dirty="0"/>
          </a:p>
        </p:txBody>
      </p:sp>
    </p:spTree>
  </p:cSld>
  <p:clrMapOvr>
    <a:masterClrMapping/>
  </p:clrMapOvr>
  <p:transition>
    <p:wedg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e-NP" dirty="0" smtClean="0"/>
              <a:t>फैसलामा रहने खण्ड</a:t>
            </a:r>
            <a:endParaRPr lang="en-US" dirty="0"/>
          </a:p>
        </p:txBody>
      </p:sp>
      <p:sp>
        <p:nvSpPr>
          <p:cNvPr id="3" name="Content Placeholder 2"/>
          <p:cNvSpPr>
            <a:spLocks noGrp="1"/>
          </p:cNvSpPr>
          <p:nvPr>
            <p:ph sz="quarter" idx="1"/>
          </p:nvPr>
        </p:nvSpPr>
        <p:spPr/>
        <p:txBody>
          <a:bodyPr>
            <a:normAutofit/>
          </a:bodyPr>
          <a:lstStyle/>
          <a:p>
            <a:r>
              <a:rPr lang="ne-NP" sz="3600" dirty="0" smtClean="0"/>
              <a:t>शिरखण्डमा </a:t>
            </a:r>
          </a:p>
          <a:p>
            <a:r>
              <a:rPr lang="ne-NP" sz="3600" dirty="0" smtClean="0"/>
              <a:t>तथ्य खण्ड </a:t>
            </a:r>
          </a:p>
          <a:p>
            <a:r>
              <a:rPr lang="ne-NP" sz="3600" dirty="0" smtClean="0"/>
              <a:t>ठहर खण्ड</a:t>
            </a:r>
          </a:p>
          <a:p>
            <a:r>
              <a:rPr lang="ne-NP" sz="3600" dirty="0" smtClean="0"/>
              <a:t>तपसिल खण्ड </a:t>
            </a:r>
          </a:p>
          <a:p>
            <a:r>
              <a:rPr lang="ne-NP" sz="3600" dirty="0" smtClean="0"/>
              <a:t>पुछार खण्ड</a:t>
            </a:r>
            <a:endParaRPr lang="en-US" sz="3600" dirty="0"/>
          </a:p>
        </p:txBody>
      </p:sp>
    </p:spTree>
  </p:cSld>
  <p:clrMapOvr>
    <a:masterClrMapping/>
  </p:clrMapOvr>
  <p:transition>
    <p:wedg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ne-NP" sz="3600" b="1" dirty="0" smtClean="0"/>
              <a:t>फैसला टिपोट गर्दा ध्यान दिनु पर्ने कुराहरु</a:t>
            </a:r>
            <a:endParaRPr lang="en-US" sz="3600" b="1" dirty="0"/>
          </a:p>
        </p:txBody>
      </p:sp>
      <p:sp>
        <p:nvSpPr>
          <p:cNvPr id="3" name="Content Placeholder 2"/>
          <p:cNvSpPr>
            <a:spLocks noGrp="1"/>
          </p:cNvSpPr>
          <p:nvPr>
            <p:ph sz="quarter" idx="1"/>
          </p:nvPr>
        </p:nvSpPr>
        <p:spPr>
          <a:xfrm>
            <a:off x="457200" y="1295400"/>
            <a:ext cx="8229600" cy="5334000"/>
          </a:xfrm>
        </p:spPr>
        <p:txBody>
          <a:bodyPr>
            <a:normAutofit/>
          </a:bodyPr>
          <a:lstStyle/>
          <a:p>
            <a:pPr algn="just"/>
            <a:r>
              <a:rPr lang="ne-NP" dirty="0" smtClean="0"/>
              <a:t>जुनसुकै मुद्दाको कारवाहीको कममा अदालतमा दर्ता हुन आएका वा अदालतबाट सिर्जना भई मिसिल संलग्न रहेका मुख्य लिखत र महत्वपूर्ण कागजातको क्रमवद्ध रुपमा टिपोटमा आवद्ध गरी राखु पर्ने हुन्छ।</a:t>
            </a:r>
          </a:p>
          <a:p>
            <a:pPr algn="just"/>
            <a:r>
              <a:rPr lang="ne-NP" dirty="0" smtClean="0"/>
              <a:t>अनुसूची वमोजिमको ढाँचामा तयार गर्नुपर्ने</a:t>
            </a:r>
            <a:r>
              <a:rPr lang="en-US" dirty="0" smtClean="0"/>
              <a:t>, </a:t>
            </a:r>
            <a:endParaRPr lang="ne-NP" dirty="0" smtClean="0"/>
          </a:p>
          <a:p>
            <a:pPr algn="just"/>
            <a:r>
              <a:rPr lang="ne-NP" dirty="0" smtClean="0"/>
              <a:t>लिखत तथा भनाईको मुल आसयलाई अन्यथा नहुने गरी स्पष्ट बुझिने भाषामा टिपोट गर्नु पर्ने</a:t>
            </a:r>
            <a:r>
              <a:rPr lang="en-US" dirty="0" smtClean="0"/>
              <a:t>,</a:t>
            </a:r>
            <a:endParaRPr lang="ne-NP" dirty="0" smtClean="0"/>
          </a:p>
          <a:p>
            <a:pPr algn="just"/>
            <a:r>
              <a:rPr lang="ne-NP" dirty="0" smtClean="0"/>
              <a:t>मुद्दा टिपोटमा प्रकरण छुट्याई हरेक प्रकरणको सिलसिला नम्बर र शीर्षक समेत दिनुपर्ने</a:t>
            </a:r>
            <a:r>
              <a:rPr lang="en-US" dirty="0" smtClean="0"/>
              <a:t>, </a:t>
            </a:r>
            <a:endParaRPr lang="ne-NP" dirty="0" smtClean="0"/>
          </a:p>
          <a:p>
            <a:pPr algn="just"/>
            <a:endParaRPr lang="en-US" dirty="0"/>
          </a:p>
        </p:txBody>
      </p:sp>
    </p:spTree>
  </p:cSld>
  <p:clrMapOvr>
    <a:masterClrMapping/>
  </p:clrMapOvr>
  <p:transition>
    <p:wedg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b="1" dirty="0" smtClean="0"/>
              <a:t>क्रमश</a:t>
            </a:r>
            <a:r>
              <a:rPr lang="en-US" b="1" dirty="0" smtClean="0"/>
              <a:t>…</a:t>
            </a:r>
            <a:endParaRPr lang="en-US" dirty="0"/>
          </a:p>
        </p:txBody>
      </p:sp>
      <p:sp>
        <p:nvSpPr>
          <p:cNvPr id="3" name="Content Placeholder 2"/>
          <p:cNvSpPr>
            <a:spLocks noGrp="1"/>
          </p:cNvSpPr>
          <p:nvPr>
            <p:ph sz="quarter" idx="1"/>
          </p:nvPr>
        </p:nvSpPr>
        <p:spPr>
          <a:xfrm>
            <a:off x="301752" y="1527048"/>
            <a:ext cx="8503920" cy="4949952"/>
          </a:xfrm>
        </p:spPr>
        <p:txBody>
          <a:bodyPr>
            <a:normAutofit/>
          </a:bodyPr>
          <a:lstStyle/>
          <a:p>
            <a:pPr algn="just">
              <a:buFont typeface="Wingdings" pitchFamily="2" charset="2"/>
              <a:buChar char="§"/>
            </a:pPr>
            <a:r>
              <a:rPr lang="ne-NP" dirty="0" smtClean="0"/>
              <a:t>लिखतको मिति </a:t>
            </a:r>
            <a:r>
              <a:rPr lang="en-US" dirty="0" smtClean="0"/>
              <a:t>/</a:t>
            </a:r>
            <a:r>
              <a:rPr lang="ne-NP" dirty="0" smtClean="0"/>
              <a:t> कसको भनाई </a:t>
            </a:r>
            <a:r>
              <a:rPr lang="en-US" dirty="0" smtClean="0"/>
              <a:t>/</a:t>
            </a:r>
            <a:r>
              <a:rPr lang="ne-NP" dirty="0" smtClean="0"/>
              <a:t> कुन अड्डाको पत्र हो सो कुरा उल्लेख हुनुपर्ने</a:t>
            </a:r>
            <a:r>
              <a:rPr lang="en-US" dirty="0" smtClean="0"/>
              <a:t>, </a:t>
            </a:r>
            <a:endParaRPr lang="ne-NP" dirty="0" smtClean="0"/>
          </a:p>
          <a:p>
            <a:pPr algn="just">
              <a:buFont typeface="Wingdings" pitchFamily="2" charset="2"/>
              <a:buChar char="§"/>
            </a:pPr>
            <a:r>
              <a:rPr lang="ne-NP" dirty="0" smtClean="0"/>
              <a:t>एउटा लिखतको व्यहोराको टिपोटलाई सकेसम्म एउटै अनुच्छेदमा अटाउने गरी टिपोट गर्नुपर्ने</a:t>
            </a:r>
            <a:r>
              <a:rPr lang="en-US" dirty="0" smtClean="0"/>
              <a:t>,</a:t>
            </a:r>
            <a:endParaRPr lang="ne-NP" dirty="0" smtClean="0"/>
          </a:p>
          <a:p>
            <a:pPr algn="just">
              <a:buFont typeface="Wingdings" pitchFamily="2" charset="2"/>
              <a:buChar char="§"/>
            </a:pPr>
            <a:r>
              <a:rPr lang="ne-NP" dirty="0" smtClean="0"/>
              <a:t>मुद्दाको मिसिलमा रहेका लिखतको मिति क्रम अनुसार अघिल्लो मितिको लिखतको व्यहोरा अगाडि र त्यसपछिका लिखतको व्यहोरा पछि उल्लेख गर्नुपर्ने</a:t>
            </a:r>
            <a:r>
              <a:rPr lang="en-US" dirty="0" smtClean="0"/>
              <a:t>, </a:t>
            </a:r>
            <a:endParaRPr lang="ne-NP" dirty="0" smtClean="0"/>
          </a:p>
        </p:txBody>
      </p:sp>
    </p:spTree>
  </p:cSld>
  <p:clrMapOvr>
    <a:masterClrMapping/>
  </p:clrMapOvr>
  <p:transition>
    <p:wedg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e-NP" b="1" dirty="0" smtClean="0"/>
              <a:t>फैसला लेखन सम्बन्धी बिद्धमान समस्याहरु</a:t>
            </a:r>
            <a:endParaRPr lang="en-US" dirty="0"/>
          </a:p>
        </p:txBody>
      </p:sp>
      <p:sp>
        <p:nvSpPr>
          <p:cNvPr id="3" name="Content Placeholder 2"/>
          <p:cNvSpPr>
            <a:spLocks noGrp="1"/>
          </p:cNvSpPr>
          <p:nvPr>
            <p:ph sz="quarter" idx="1"/>
          </p:nvPr>
        </p:nvSpPr>
        <p:spPr/>
        <p:txBody>
          <a:bodyPr>
            <a:normAutofit fontScale="92500"/>
          </a:bodyPr>
          <a:lstStyle/>
          <a:p>
            <a:pPr lvl="0" algn="just"/>
            <a:r>
              <a:rPr lang="ne-NP" dirty="0" smtClean="0"/>
              <a:t>पर्याप्त जनशक्ति र स्थानको अभाव</a:t>
            </a:r>
            <a:endParaRPr lang="en-US" dirty="0" smtClean="0"/>
          </a:p>
          <a:p>
            <a:pPr lvl="0" algn="just"/>
            <a:r>
              <a:rPr lang="ne-NP" dirty="0" smtClean="0"/>
              <a:t>स्पष्ट जिम्मेवारी नतोकिनु</a:t>
            </a:r>
            <a:r>
              <a:rPr lang="en-US" dirty="0" smtClean="0"/>
              <a:t>, </a:t>
            </a:r>
            <a:r>
              <a:rPr lang="ne-NP" dirty="0" smtClean="0"/>
              <a:t> तोकिएपनि जिम्मेवारपूर्ण नहुनु </a:t>
            </a:r>
            <a:endParaRPr lang="en-US" dirty="0" smtClean="0"/>
          </a:p>
          <a:p>
            <a:pPr lvl="0" algn="just"/>
            <a:r>
              <a:rPr lang="ne-NP" dirty="0" smtClean="0"/>
              <a:t>अदालत नियमावली  तथा निर्देशिकाले प्रष्ट भनेपनि अदालतमा पेश हुने प्रत्येक लिखतको सफ्टकपी नलिनु  लिएको पनि सफ्टवेअरमा अपलोड नगरिनु</a:t>
            </a:r>
            <a:endParaRPr lang="en-US" dirty="0" smtClean="0"/>
          </a:p>
          <a:p>
            <a:pPr lvl="0" algn="just"/>
            <a:r>
              <a:rPr lang="ne-NP" dirty="0" smtClean="0"/>
              <a:t>मुद्दाको टिपोट नगरिनु</a:t>
            </a:r>
          </a:p>
          <a:p>
            <a:pPr lvl="0" algn="just"/>
            <a:r>
              <a:rPr lang="ne-NP" dirty="0" smtClean="0"/>
              <a:t>एकाध भएका टिपोट पनि फैसला लेखनमा प्रयोग गर्ने स्तरको नहुनु</a:t>
            </a:r>
            <a:endParaRPr lang="en-US" dirty="0" smtClean="0"/>
          </a:p>
          <a:p>
            <a:pPr lvl="0" algn="just"/>
            <a:r>
              <a:rPr lang="ne-NP" dirty="0" smtClean="0"/>
              <a:t>भाषा एवं शैली आआफ्नो हुने हुँदा त्यसको प्रयोगमा समेत समस्या हुनु</a:t>
            </a:r>
            <a:endParaRPr lang="en-US" dirty="0" smtClean="0"/>
          </a:p>
        </p:txBody>
      </p:sp>
    </p:spTree>
  </p:cSld>
  <p:clrMapOvr>
    <a:masterClrMapping/>
  </p:clrMapOvr>
  <p:transition>
    <p:wedg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ne-NP" sz="3200" b="1" dirty="0" smtClean="0"/>
              <a:t>क्रमश</a:t>
            </a:r>
            <a:r>
              <a:rPr lang="en-US" b="1" dirty="0" smtClean="0"/>
              <a:t>…</a:t>
            </a:r>
            <a:endParaRPr lang="en-US" dirty="0"/>
          </a:p>
        </p:txBody>
      </p:sp>
      <p:sp>
        <p:nvSpPr>
          <p:cNvPr id="3" name="Content Placeholder 2"/>
          <p:cNvSpPr>
            <a:spLocks noGrp="1"/>
          </p:cNvSpPr>
          <p:nvPr>
            <p:ph sz="quarter" idx="1"/>
          </p:nvPr>
        </p:nvSpPr>
        <p:spPr/>
        <p:txBody>
          <a:bodyPr>
            <a:normAutofit/>
          </a:bodyPr>
          <a:lstStyle/>
          <a:p>
            <a:pPr lvl="0" algn="just"/>
            <a:r>
              <a:rPr lang="ne-NP" dirty="0" smtClean="0"/>
              <a:t>बुझाइको अन्तरमा विविधता रहेको</a:t>
            </a:r>
            <a:r>
              <a:rPr lang="en-US" dirty="0" smtClean="0"/>
              <a:t>,</a:t>
            </a:r>
            <a:r>
              <a:rPr lang="ne-NP" dirty="0" smtClean="0"/>
              <a:t> दक्षता एवं क्षमतामा विविधता </a:t>
            </a:r>
            <a:endParaRPr lang="en-US" dirty="0" smtClean="0"/>
          </a:p>
          <a:p>
            <a:pPr lvl="0" algn="just"/>
            <a:r>
              <a:rPr lang="ne-NP" dirty="0" smtClean="0"/>
              <a:t>कानून</a:t>
            </a:r>
            <a:r>
              <a:rPr lang="en-US" dirty="0" smtClean="0"/>
              <a:t>, </a:t>
            </a:r>
            <a:r>
              <a:rPr lang="ne-NP" dirty="0" smtClean="0"/>
              <a:t>नजीर र अन्य सामग्रीको उल्लेखन गर्न तत्काल श्रोतको अभाव रहने</a:t>
            </a:r>
            <a:r>
              <a:rPr lang="en-US" dirty="0" smtClean="0"/>
              <a:t>,</a:t>
            </a:r>
            <a:r>
              <a:rPr lang="ne-NP" dirty="0" smtClean="0"/>
              <a:t> झन्झट हुने ।</a:t>
            </a:r>
            <a:endParaRPr lang="en-US" dirty="0" smtClean="0"/>
          </a:p>
          <a:p>
            <a:pPr lvl="0" algn="just"/>
            <a:r>
              <a:rPr lang="ne-NP" dirty="0" smtClean="0"/>
              <a:t>मुद्दाको चाप बढदो छ फैसला लेखनमा समय कम छ। </a:t>
            </a:r>
          </a:p>
          <a:p>
            <a:pPr lvl="0" algn="just"/>
            <a:r>
              <a:rPr lang="ne-NP" dirty="0" smtClean="0"/>
              <a:t>कर्मचारी तथा न्यायाधीशलाई उत्प्रेरणा जागृत हुने वातावरण छैन</a:t>
            </a:r>
            <a:endParaRPr lang="en-US" dirty="0" smtClean="0"/>
          </a:p>
          <a:p>
            <a:pPr lvl="0" algn="just"/>
            <a:r>
              <a:rPr lang="ne-NP" dirty="0" smtClean="0"/>
              <a:t>अन्य </a:t>
            </a:r>
            <a:r>
              <a:rPr lang="en-US" dirty="0" smtClean="0"/>
              <a:t>&gt;……</a:t>
            </a:r>
            <a:r>
              <a:rPr lang="ne-NP" dirty="0" smtClean="0"/>
              <a:t> के के छन</a:t>
            </a:r>
            <a:r>
              <a:rPr lang="en-US" dirty="0" smtClean="0"/>
              <a:t> ? ………..</a:t>
            </a:r>
            <a:r>
              <a:rPr lang="ne-NP" dirty="0" smtClean="0"/>
              <a:t>छलफल ।</a:t>
            </a:r>
            <a:endParaRPr lang="en-US" dirty="0" smtClean="0"/>
          </a:p>
          <a:p>
            <a:pPr algn="just"/>
            <a:endParaRPr lang="en-US" dirty="0"/>
          </a:p>
        </p:txBody>
      </p:sp>
    </p:spTree>
  </p:cSld>
  <p:clrMapOvr>
    <a:masterClrMapping/>
  </p:clrMapOvr>
  <p:transition>
    <p:wedg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फैसलाको सम्बन्धमा आम गुनासो</a:t>
            </a:r>
            <a:endParaRPr lang="en-US" dirty="0"/>
          </a:p>
        </p:txBody>
      </p:sp>
      <p:sp>
        <p:nvSpPr>
          <p:cNvPr id="3" name="Content Placeholder 2"/>
          <p:cNvSpPr>
            <a:spLocks noGrp="1"/>
          </p:cNvSpPr>
          <p:nvPr>
            <p:ph sz="quarter" idx="1"/>
          </p:nvPr>
        </p:nvSpPr>
        <p:spPr>
          <a:xfrm>
            <a:off x="228600" y="1527048"/>
            <a:ext cx="8686800" cy="5102352"/>
          </a:xfrm>
        </p:spPr>
        <p:txBody>
          <a:bodyPr>
            <a:noAutofit/>
          </a:bodyPr>
          <a:lstStyle/>
          <a:p>
            <a:r>
              <a:rPr lang="ne-NP" sz="2000" dirty="0" smtClean="0"/>
              <a:t>भाषा जटिल, लामो वाक्य र अस्पष्ट तर्कका कारण फैसला बुझ्न गाह्रो हुने।</a:t>
            </a:r>
          </a:p>
          <a:p>
            <a:r>
              <a:rPr lang="ne-NP" sz="2000" dirty="0" smtClean="0"/>
              <a:t>निर्णय त दिइने तर किन यस्तो निर्णय गरियो भन्ने कारण प्रष्ट</a:t>
            </a:r>
            <a:r>
              <a:rPr lang="en-US" sz="2000" dirty="0" smtClean="0"/>
              <a:t> </a:t>
            </a:r>
            <a:r>
              <a:rPr lang="ne-NP" sz="2000" dirty="0" smtClean="0"/>
              <a:t>नखुल्ने।</a:t>
            </a:r>
          </a:p>
          <a:p>
            <a:r>
              <a:rPr lang="ne-NP" sz="2000" dirty="0" smtClean="0"/>
              <a:t>पेश भएका सबै प्रमाणको चर्चा नगर्नु वा प्रमाण र निष्कर्षबीच सामञ्जस्य नहुने।</a:t>
            </a:r>
          </a:p>
          <a:p>
            <a:r>
              <a:rPr lang="ne-NP" sz="2000" dirty="0" smtClean="0"/>
              <a:t>विवादका प्रश्न स्पष्ट नहुँदा फैसला अव्यवस्थित र अपूरो देखिने।</a:t>
            </a:r>
          </a:p>
          <a:p>
            <a:r>
              <a:rPr lang="ne-NP" sz="2000" dirty="0" smtClean="0"/>
              <a:t>सम्बन्धित कानून उल्लेख नगर्नु, गलत व्याख्या गर्नु, वा महत्त्वपूर्ण नजिर छुटाउनु।</a:t>
            </a:r>
          </a:p>
          <a:p>
            <a:r>
              <a:rPr lang="ne-NP" sz="2000" dirty="0" smtClean="0"/>
              <a:t>कुनै अनावश्यक लामो वा कुनै अत्यन्त छोटो फैसला हुने।</a:t>
            </a:r>
          </a:p>
          <a:p>
            <a:r>
              <a:rPr lang="ne-NP" sz="2000" dirty="0" smtClean="0"/>
              <a:t>फैसला लेखनको मानक ढाँचा नअपनाइनु, विषयहरू क्रमबद्ध नहुने।</a:t>
            </a:r>
          </a:p>
          <a:p>
            <a:r>
              <a:rPr lang="ne-NP" sz="2000" dirty="0" smtClean="0"/>
              <a:t>व्याकरण, कानुनी शब्दावली र वाक्य संरचनामा गल्ती हुने।</a:t>
            </a:r>
          </a:p>
          <a:p>
            <a:r>
              <a:rPr lang="ne-NP" sz="2000" dirty="0" smtClean="0"/>
              <a:t>तपसिलमा अस्पष्ट हुँदा फैसला कार्यान्वयन गर्न समस्या आउने</a:t>
            </a:r>
          </a:p>
          <a:p>
            <a:r>
              <a:rPr lang="ne-NP" sz="2000" dirty="0" smtClean="0"/>
              <a:t>मुद्दाको चाप बढी हुँदा गहिरो विश्लेषण बिना हतारमा फैसला लेखिने।</a:t>
            </a:r>
          </a:p>
          <a:p>
            <a:r>
              <a:rPr lang="ne-NP" sz="2000" dirty="0" smtClean="0"/>
              <a:t>समान प्रकृतिका मुद्दामा फरक–फरक शैली र तर्क प्रयोग हुने।</a:t>
            </a:r>
          </a:p>
          <a:p>
            <a:r>
              <a:rPr lang="ne-NP" sz="2000" dirty="0" smtClean="0"/>
              <a:t>सामान्य व्यक्तिले बुझ्नै नसक्ने गरी फैसला लेखिने। आदि</a:t>
            </a:r>
          </a:p>
          <a:p>
            <a:endParaRPr lang="en-US" sz="2200" dirty="0"/>
          </a:p>
        </p:txBody>
      </p:sp>
    </p:spTree>
  </p:cSld>
  <p:clrMapOvr>
    <a:masterClrMapping/>
  </p:clrMapOvr>
  <p:transition>
    <p:wedg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फैसला लेखन अभ्यास</a:t>
            </a:r>
            <a:endParaRPr lang="en-US" dirty="0"/>
          </a:p>
        </p:txBody>
      </p:sp>
      <p:sp>
        <p:nvSpPr>
          <p:cNvPr id="3" name="Content Placeholder 2"/>
          <p:cNvSpPr>
            <a:spLocks noGrp="1"/>
          </p:cNvSpPr>
          <p:nvPr>
            <p:ph sz="quarter" idx="1"/>
          </p:nvPr>
        </p:nvSpPr>
        <p:spPr/>
        <p:txBody>
          <a:bodyPr/>
          <a:lstStyle/>
          <a:p>
            <a:pPr>
              <a:buNone/>
            </a:pPr>
            <a:endParaRPr lang="en-US" dirty="0"/>
          </a:p>
        </p:txBody>
      </p:sp>
    </p:spTree>
  </p:cSld>
  <p:clrMapOvr>
    <a:masterClrMapping/>
  </p:clrMapOvr>
  <p:transition>
    <p:wedg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e-NP" dirty="0" smtClean="0"/>
              <a:t>सामग्री वितरण</a:t>
            </a:r>
            <a:endParaRPr lang="en-US" dirty="0"/>
          </a:p>
        </p:txBody>
      </p:sp>
      <p:sp>
        <p:nvSpPr>
          <p:cNvPr id="3" name="Content Placeholder 2"/>
          <p:cNvSpPr>
            <a:spLocks noGrp="1"/>
          </p:cNvSpPr>
          <p:nvPr>
            <p:ph sz="quarter" idx="1"/>
          </p:nvPr>
        </p:nvSpPr>
        <p:spPr/>
        <p:txBody>
          <a:bodyPr/>
          <a:lstStyle/>
          <a:p>
            <a:r>
              <a:rPr lang="ne-NP" dirty="0" smtClean="0"/>
              <a:t>उजुरी</a:t>
            </a:r>
            <a:r>
              <a:rPr lang="en-US" dirty="0" smtClean="0"/>
              <a:t>/</a:t>
            </a:r>
            <a:r>
              <a:rPr lang="ne-NP" dirty="0" smtClean="0"/>
              <a:t> जाहेरी</a:t>
            </a:r>
          </a:p>
          <a:p>
            <a:r>
              <a:rPr lang="ne-NP" dirty="0" smtClean="0"/>
              <a:t>प्रमाणको संकलन </a:t>
            </a:r>
            <a:r>
              <a:rPr lang="en-US" dirty="0" smtClean="0"/>
              <a:t>/</a:t>
            </a:r>
            <a:r>
              <a:rPr lang="ne-NP" dirty="0" smtClean="0"/>
              <a:t>तथ्य</a:t>
            </a:r>
          </a:p>
          <a:p>
            <a:r>
              <a:rPr lang="ne-NP" dirty="0" smtClean="0"/>
              <a:t>अभियोग तथा सम्बद्ध कानून</a:t>
            </a:r>
          </a:p>
          <a:p>
            <a:r>
              <a:rPr lang="ne-NP" dirty="0" smtClean="0"/>
              <a:t>वयान</a:t>
            </a:r>
          </a:p>
          <a:p>
            <a:r>
              <a:rPr lang="ne-NP" dirty="0" smtClean="0"/>
              <a:t>परीक्षण प्रतिवेदन</a:t>
            </a:r>
          </a:p>
          <a:p>
            <a:r>
              <a:rPr lang="ne-NP" dirty="0" smtClean="0"/>
              <a:t>प्रमाण परीक्षण </a:t>
            </a:r>
            <a:r>
              <a:rPr lang="en-US" dirty="0" smtClean="0"/>
              <a:t>/ </a:t>
            </a:r>
            <a:r>
              <a:rPr lang="ne-NP" dirty="0" smtClean="0"/>
              <a:t>साक्षी वकपत्र </a:t>
            </a:r>
            <a:r>
              <a:rPr lang="en-US" dirty="0" smtClean="0"/>
              <a:t>/</a:t>
            </a:r>
            <a:r>
              <a:rPr lang="ne-NP" dirty="0" smtClean="0"/>
              <a:t> विशेषज्ञको वकपत्र</a:t>
            </a:r>
          </a:p>
          <a:p>
            <a:r>
              <a:rPr lang="ne-NP" dirty="0" smtClean="0"/>
              <a:t>अन्य बुझिएका कुरा</a:t>
            </a:r>
          </a:p>
          <a:p>
            <a:pPr>
              <a:buNone/>
            </a:pPr>
            <a:endParaRPr lang="en-US" dirty="0"/>
          </a:p>
        </p:txBody>
      </p:sp>
    </p:spTree>
  </p:cSld>
  <p:clrMapOvr>
    <a:masterClrMapping/>
  </p:clrMapOvr>
  <p:transition>
    <p:wedg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समुहगत छलफल</a:t>
            </a:r>
            <a:endParaRPr lang="en-US" dirty="0"/>
          </a:p>
        </p:txBody>
      </p:sp>
      <p:sp>
        <p:nvSpPr>
          <p:cNvPr id="3" name="Content Placeholder 2"/>
          <p:cNvSpPr>
            <a:spLocks noGrp="1"/>
          </p:cNvSpPr>
          <p:nvPr>
            <p:ph sz="quarter" idx="1"/>
          </p:nvPr>
        </p:nvSpPr>
        <p:spPr/>
        <p:txBody>
          <a:bodyPr/>
          <a:lstStyle/>
          <a:p>
            <a:r>
              <a:rPr lang="ne-NP" dirty="0" smtClean="0"/>
              <a:t>मुख्य तथ्य के थियो</a:t>
            </a:r>
          </a:p>
          <a:p>
            <a:r>
              <a:rPr lang="ne-NP" dirty="0" smtClean="0"/>
              <a:t>निर्णय गर्नुपर्ने प्रश्न के के हुन</a:t>
            </a:r>
          </a:p>
          <a:p>
            <a:r>
              <a:rPr lang="ne-NP" dirty="0" smtClean="0"/>
              <a:t>कुन कुन कानून आकर्षित हुन्छ</a:t>
            </a:r>
          </a:p>
          <a:p>
            <a:r>
              <a:rPr lang="ne-NP" dirty="0" smtClean="0"/>
              <a:t>अभियोग दावी पुष्टि हुने आधार</a:t>
            </a:r>
          </a:p>
          <a:p>
            <a:r>
              <a:rPr lang="ne-NP" dirty="0" smtClean="0"/>
              <a:t>अभियोग दावी परिवर्तन हुने आधार</a:t>
            </a:r>
          </a:p>
          <a:p>
            <a:r>
              <a:rPr lang="ne-NP" dirty="0" smtClean="0"/>
              <a:t>अभियोग दावी नपुग्ने</a:t>
            </a:r>
            <a:r>
              <a:rPr lang="en-US" dirty="0" smtClean="0"/>
              <a:t>/</a:t>
            </a:r>
            <a:r>
              <a:rPr lang="ne-NP" dirty="0" smtClean="0"/>
              <a:t> सफाईको आधार</a:t>
            </a:r>
          </a:p>
        </p:txBody>
      </p:sp>
    </p:spTree>
  </p:cSld>
  <p:clrMapOvr>
    <a:masterClrMapping/>
  </p:clrMapOvr>
  <p:transition>
    <p:wedg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ब्यक्तिगत फैसला लेखन अभ्यास</a:t>
            </a:r>
            <a:endParaRPr lang="en-US" dirty="0"/>
          </a:p>
        </p:txBody>
      </p:sp>
      <p:sp>
        <p:nvSpPr>
          <p:cNvPr id="3" name="Content Placeholder 2"/>
          <p:cNvSpPr>
            <a:spLocks noGrp="1"/>
          </p:cNvSpPr>
          <p:nvPr>
            <p:ph sz="quarter" idx="1"/>
          </p:nvPr>
        </p:nvSpPr>
        <p:spPr/>
        <p:txBody>
          <a:bodyPr/>
          <a:lstStyle/>
          <a:p>
            <a:endParaRPr lang="en-US"/>
          </a:p>
        </p:txBody>
      </p:sp>
    </p:spTree>
  </p:cSld>
  <p:clrMapOvr>
    <a:masterClrMapping/>
  </p:clrMapOvr>
  <p:transition>
    <p:wedg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प्रस्तुती</a:t>
            </a:r>
            <a:endParaRPr lang="en-US" dirty="0"/>
          </a:p>
        </p:txBody>
      </p:sp>
      <p:sp>
        <p:nvSpPr>
          <p:cNvPr id="3" name="Content Placeholder 2"/>
          <p:cNvSpPr>
            <a:spLocks noGrp="1"/>
          </p:cNvSpPr>
          <p:nvPr>
            <p:ph sz="quarter" idx="1"/>
          </p:nvPr>
        </p:nvSpPr>
        <p:spPr/>
        <p:txBody>
          <a:bodyPr/>
          <a:lstStyle/>
          <a:p>
            <a:endParaRPr lang="en-US"/>
          </a:p>
        </p:txBody>
      </p:sp>
    </p:spTree>
  </p:cSld>
  <p:clrMapOvr>
    <a:masterClrMapping/>
  </p:clrMapOvr>
  <p:transition>
    <p:wedg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स्वमुल्यांकन</a:t>
            </a:r>
            <a:endParaRPr lang="en-US" dirty="0"/>
          </a:p>
        </p:txBody>
      </p:sp>
      <p:sp>
        <p:nvSpPr>
          <p:cNvPr id="3" name="Content Placeholder 2"/>
          <p:cNvSpPr>
            <a:spLocks noGrp="1"/>
          </p:cNvSpPr>
          <p:nvPr>
            <p:ph sz="quarter" idx="1"/>
          </p:nvPr>
        </p:nvSpPr>
        <p:spPr/>
        <p:txBody>
          <a:bodyPr/>
          <a:lstStyle/>
          <a:p>
            <a:r>
              <a:rPr lang="ne-NP" dirty="0" smtClean="0"/>
              <a:t>कस्तो अनुभव भयो</a:t>
            </a:r>
          </a:p>
          <a:p>
            <a:r>
              <a:rPr lang="ne-NP" dirty="0" smtClean="0"/>
              <a:t>कहाँ कहाँ गारो भयो</a:t>
            </a:r>
          </a:p>
          <a:p>
            <a:r>
              <a:rPr lang="ne-NP" dirty="0" smtClean="0"/>
              <a:t>के के कुरा छुटे जस्तो भयो</a:t>
            </a:r>
          </a:p>
          <a:p>
            <a:r>
              <a:rPr lang="ne-NP" dirty="0" smtClean="0"/>
              <a:t>अझ के के सुधार गर्नुपर्ला</a:t>
            </a:r>
            <a:endParaRPr lang="en-US" dirty="0"/>
          </a:p>
        </p:txBody>
      </p:sp>
    </p:spTree>
  </p:cSld>
  <p:clrMapOvr>
    <a:masterClrMapping/>
  </p:clrMapOvr>
  <p:transition>
    <p:wedg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पृष्टपोषण</a:t>
            </a:r>
            <a:endParaRPr lang="en-US" dirty="0"/>
          </a:p>
        </p:txBody>
      </p:sp>
      <p:sp>
        <p:nvSpPr>
          <p:cNvPr id="3" name="Content Placeholder 2"/>
          <p:cNvSpPr>
            <a:spLocks noGrp="1"/>
          </p:cNvSpPr>
          <p:nvPr>
            <p:ph sz="quarter" idx="1"/>
          </p:nvPr>
        </p:nvSpPr>
        <p:spPr/>
        <p:txBody>
          <a:bodyPr/>
          <a:lstStyle/>
          <a:p>
            <a:r>
              <a:rPr lang="ne-NP" dirty="0" smtClean="0"/>
              <a:t>भाषा</a:t>
            </a:r>
          </a:p>
          <a:p>
            <a:r>
              <a:rPr lang="ne-NP" dirty="0" smtClean="0"/>
              <a:t>ढाँचा</a:t>
            </a:r>
          </a:p>
          <a:p>
            <a:r>
              <a:rPr lang="ne-NP" dirty="0" smtClean="0"/>
              <a:t>तथ्यको संक्षेपीकरण</a:t>
            </a:r>
          </a:p>
          <a:p>
            <a:r>
              <a:rPr lang="ne-NP" dirty="0" smtClean="0"/>
              <a:t>निर्णय खण्ड</a:t>
            </a:r>
          </a:p>
          <a:p>
            <a:r>
              <a:rPr lang="ne-NP" dirty="0" smtClean="0"/>
              <a:t>तर्क र कानून संगत छ छैन</a:t>
            </a:r>
          </a:p>
          <a:p>
            <a:r>
              <a:rPr lang="ne-NP" dirty="0" smtClean="0"/>
              <a:t>नजिरको उल्लेखन</a:t>
            </a:r>
          </a:p>
          <a:p>
            <a:r>
              <a:rPr lang="ne-NP" dirty="0" smtClean="0"/>
              <a:t>अन्य</a:t>
            </a:r>
            <a:endParaRPr lang="en-US" dirty="0"/>
          </a:p>
        </p:txBody>
      </p:sp>
    </p:spTree>
  </p:cSld>
  <p:clrMapOvr>
    <a:masterClrMapping/>
  </p:clrMapOvr>
  <p:transition>
    <p:wedg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257800"/>
            <a:ext cx="8229600" cy="1143000"/>
          </a:xfrm>
        </p:spPr>
        <p:txBody>
          <a:bodyPr>
            <a:normAutofit/>
          </a:bodyPr>
          <a:lstStyle/>
          <a:p>
            <a:r>
              <a:rPr lang="ne-NP" b="1" dirty="0" smtClean="0">
                <a:solidFill>
                  <a:srgbClr val="FF0000"/>
                </a:solidFill>
              </a:rPr>
              <a:t>धैर्यताको लागी धेरै धेरै धन्यवाद</a:t>
            </a:r>
            <a:r>
              <a:rPr lang="en-US" b="1" dirty="0" smtClean="0">
                <a:solidFill>
                  <a:srgbClr val="FF0000"/>
                </a:solidFill>
              </a:rPr>
              <a:t>!!</a:t>
            </a:r>
            <a:endParaRPr lang="en-US" b="1" dirty="0">
              <a:solidFill>
                <a:srgbClr val="FF0000"/>
              </a:solidFill>
            </a:endParaRPr>
          </a:p>
        </p:txBody>
      </p:sp>
      <p:pic>
        <p:nvPicPr>
          <p:cNvPr id="3074" name="Picture 2" descr="49,400 Thank You Stock Photos - Free &amp; Royalty-Free Stock ..."/>
          <p:cNvPicPr>
            <a:picLocks noChangeAspect="1" noChangeArrowheads="1"/>
          </p:cNvPicPr>
          <p:nvPr/>
        </p:nvPicPr>
        <p:blipFill>
          <a:blip r:embed="rId2"/>
          <a:srcRect/>
          <a:stretch>
            <a:fillRect/>
          </a:stretch>
        </p:blipFill>
        <p:spPr bwMode="auto">
          <a:xfrm>
            <a:off x="914400" y="533400"/>
            <a:ext cx="7620000" cy="5086350"/>
          </a:xfrm>
          <a:prstGeom prst="rect">
            <a:avLst/>
          </a:prstGeom>
          <a:noFill/>
        </p:spPr>
      </p:pic>
    </p:spTree>
  </p:cSld>
  <p:clrMapOvr>
    <a:masterClrMapping/>
  </p:clrMapOvr>
  <p:transition>
    <p:wedg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कुन आकर्षित हुन्छ</a:t>
            </a:r>
            <a:r>
              <a:rPr lang="en-US" dirty="0" smtClean="0"/>
              <a:t>?</a:t>
            </a:r>
            <a:endParaRPr lang="en-US" dirty="0"/>
          </a:p>
        </p:txBody>
      </p:sp>
      <p:sp>
        <p:nvSpPr>
          <p:cNvPr id="3" name="Content Placeholder 2"/>
          <p:cNvSpPr>
            <a:spLocks noGrp="1"/>
          </p:cNvSpPr>
          <p:nvPr>
            <p:ph sz="quarter" idx="1"/>
          </p:nvPr>
        </p:nvSpPr>
        <p:spPr/>
        <p:txBody>
          <a:bodyPr/>
          <a:lstStyle/>
          <a:p>
            <a:r>
              <a:rPr lang="ne-NP" dirty="0" smtClean="0"/>
              <a:t>दफा १७७</a:t>
            </a:r>
            <a:r>
              <a:rPr lang="en-US" dirty="0" smtClean="0"/>
              <a:t>(</a:t>
            </a:r>
            <a:r>
              <a:rPr lang="ne-NP" dirty="0" smtClean="0"/>
              <a:t>१</a:t>
            </a:r>
            <a:r>
              <a:rPr lang="en-US" dirty="0" smtClean="0"/>
              <a:t>)</a:t>
            </a:r>
            <a:r>
              <a:rPr lang="ne-NP" dirty="0" smtClean="0"/>
              <a:t> कर्तव्य ज्यान हो</a:t>
            </a:r>
            <a:r>
              <a:rPr lang="en-US" dirty="0" smtClean="0"/>
              <a:t>?</a:t>
            </a:r>
          </a:p>
          <a:p>
            <a:r>
              <a:rPr lang="ne-NP" dirty="0" smtClean="0"/>
              <a:t>दफा १७९</a:t>
            </a:r>
            <a:r>
              <a:rPr lang="en-US" dirty="0" smtClean="0"/>
              <a:t>(</a:t>
            </a:r>
            <a:r>
              <a:rPr lang="ne-NP" dirty="0" smtClean="0"/>
              <a:t>१</a:t>
            </a:r>
            <a:r>
              <a:rPr lang="en-US" dirty="0" smtClean="0"/>
              <a:t>)</a:t>
            </a:r>
            <a:r>
              <a:rPr lang="ne-NP" dirty="0" smtClean="0"/>
              <a:t> गम्भिर उत्तेजना वा रिसको आवेगबाट लिएको ज्यान</a:t>
            </a:r>
            <a:r>
              <a:rPr lang="en-US" dirty="0" smtClean="0"/>
              <a:t>? </a:t>
            </a:r>
          </a:p>
          <a:p>
            <a:r>
              <a:rPr lang="en-US" dirty="0" smtClean="0"/>
              <a:t>(</a:t>
            </a:r>
            <a:r>
              <a:rPr lang="ne-NP" dirty="0" smtClean="0"/>
              <a:t>क</a:t>
            </a:r>
            <a:r>
              <a:rPr lang="en-US" dirty="0" smtClean="0"/>
              <a:t>)</a:t>
            </a:r>
            <a:r>
              <a:rPr lang="ne-NP" dirty="0" smtClean="0"/>
              <a:t> गम्भिर उत्तेजना दिलाएको </a:t>
            </a:r>
            <a:endParaRPr lang="en-US" dirty="0" smtClean="0"/>
          </a:p>
          <a:p>
            <a:r>
              <a:rPr lang="en-US" dirty="0" smtClean="0"/>
              <a:t>(</a:t>
            </a:r>
            <a:r>
              <a:rPr lang="ne-NP" dirty="0" smtClean="0"/>
              <a:t>ख</a:t>
            </a:r>
            <a:r>
              <a:rPr lang="en-US" dirty="0" smtClean="0"/>
              <a:t>)</a:t>
            </a:r>
            <a:r>
              <a:rPr lang="ne-NP" dirty="0" smtClean="0"/>
              <a:t> निजी रक्षा गर्ने क्रममा </a:t>
            </a:r>
            <a:endParaRPr lang="en-US" dirty="0" smtClean="0"/>
          </a:p>
          <a:p>
            <a:r>
              <a:rPr lang="en-US" dirty="0" smtClean="0"/>
              <a:t>(</a:t>
            </a:r>
            <a:r>
              <a:rPr lang="ne-NP" dirty="0" smtClean="0"/>
              <a:t>ग</a:t>
            </a:r>
            <a:r>
              <a:rPr lang="en-US" dirty="0" smtClean="0"/>
              <a:t>)</a:t>
            </a:r>
            <a:r>
              <a:rPr lang="ne-NP" dirty="0" smtClean="0"/>
              <a:t>एकाएक भएको झगडामा उठेको रिसको आवेगमा</a:t>
            </a:r>
            <a:r>
              <a:rPr lang="en-US" dirty="0" smtClean="0"/>
              <a:t>…….?</a:t>
            </a:r>
          </a:p>
          <a:p>
            <a:r>
              <a:rPr lang="ne-NP" dirty="0" smtClean="0"/>
              <a:t>दफा १८१ लापरवाहीबाट भएको ज्यान सम्बन्धी कसूर हो</a:t>
            </a:r>
            <a:r>
              <a:rPr lang="en-US" dirty="0" smtClean="0"/>
              <a:t>?</a:t>
            </a:r>
          </a:p>
          <a:p>
            <a:r>
              <a:rPr lang="ne-NP" dirty="0" smtClean="0"/>
              <a:t>दफा १८२</a:t>
            </a:r>
            <a:r>
              <a:rPr lang="en-US" dirty="0" smtClean="0"/>
              <a:t>(</a:t>
            </a:r>
            <a:r>
              <a:rPr lang="ne-NP" dirty="0" smtClean="0"/>
              <a:t>३</a:t>
            </a:r>
            <a:r>
              <a:rPr lang="en-US" dirty="0" smtClean="0"/>
              <a:t>)</a:t>
            </a:r>
            <a:r>
              <a:rPr lang="ne-NP" dirty="0" smtClean="0"/>
              <a:t> भवितव्य हो</a:t>
            </a:r>
            <a:r>
              <a:rPr lang="en-US" dirty="0" smtClean="0"/>
              <a:t>?</a:t>
            </a:r>
          </a:p>
          <a:p>
            <a:r>
              <a:rPr lang="ne-NP" dirty="0" smtClean="0"/>
              <a:t>कसूर होईन</a:t>
            </a:r>
            <a:r>
              <a:rPr lang="en-US" smtClean="0"/>
              <a:t>?</a:t>
            </a:r>
            <a:endParaRPr lang="en-US" dirty="0"/>
          </a:p>
        </p:txBody>
      </p:sp>
    </p:spTree>
  </p:cSld>
  <p:clrMapOvr>
    <a:masterClrMapping/>
  </p:clrMapOvr>
  <p:transition>
    <p:wedg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नजिर</a:t>
            </a:r>
            <a:endParaRPr lang="en-US" dirty="0"/>
          </a:p>
        </p:txBody>
      </p:sp>
      <p:sp>
        <p:nvSpPr>
          <p:cNvPr id="3" name="Content Placeholder 2"/>
          <p:cNvSpPr>
            <a:spLocks noGrp="1"/>
          </p:cNvSpPr>
          <p:nvPr>
            <p:ph sz="quarter" idx="1"/>
          </p:nvPr>
        </p:nvSpPr>
        <p:spPr/>
        <p:txBody>
          <a:bodyPr>
            <a:normAutofit lnSpcReduction="10000"/>
          </a:bodyPr>
          <a:lstStyle/>
          <a:p>
            <a:r>
              <a:rPr lang="ne-NP" b="1" dirty="0" smtClean="0"/>
              <a:t>ने</a:t>
            </a:r>
            <a:r>
              <a:rPr lang="en-US" b="1" dirty="0" smtClean="0"/>
              <a:t>.</a:t>
            </a:r>
            <a:r>
              <a:rPr lang="ne-NP" b="1" dirty="0" smtClean="0"/>
              <a:t>का</a:t>
            </a:r>
            <a:r>
              <a:rPr lang="en-US" b="1" dirty="0" smtClean="0"/>
              <a:t>.</a:t>
            </a:r>
            <a:r>
              <a:rPr lang="ne-NP" b="1" dirty="0" smtClean="0"/>
              <a:t>प</a:t>
            </a:r>
            <a:r>
              <a:rPr lang="en-US" b="1" dirty="0" smtClean="0"/>
              <a:t>. </a:t>
            </a:r>
            <a:r>
              <a:rPr lang="ne-NP" b="1" dirty="0" smtClean="0"/>
              <a:t>२०७८</a:t>
            </a:r>
            <a:r>
              <a:rPr lang="ne-NP" dirty="0" smtClean="0"/>
              <a:t> </a:t>
            </a:r>
            <a:r>
              <a:rPr lang="ne-NP" b="1" dirty="0" smtClean="0"/>
              <a:t>अंक:</a:t>
            </a:r>
            <a:r>
              <a:rPr lang="ne-NP" dirty="0" smtClean="0"/>
              <a:t> </a:t>
            </a:r>
            <a:r>
              <a:rPr lang="ne-NP" b="1" dirty="0" smtClean="0"/>
              <a:t>२ निर्णय नं १०६४९ बलबहादुर </a:t>
            </a:r>
            <a:r>
              <a:rPr lang="ne-NP" b="1" dirty="0" smtClean="0"/>
              <a:t>बुढाथोकीको जाहेरीले नेपाल </a:t>
            </a:r>
            <a:r>
              <a:rPr lang="ne-NP" b="1" dirty="0" smtClean="0"/>
              <a:t>सरकार विरूद्ध </a:t>
            </a:r>
            <a:r>
              <a:rPr lang="ne-NP" b="1" dirty="0" smtClean="0"/>
              <a:t>परिवर्तित नाम ०६ जि.प्र.का. </a:t>
            </a:r>
            <a:r>
              <a:rPr lang="en-US" b="1" dirty="0" smtClean="0"/>
              <a:t>CMA </a:t>
            </a:r>
            <a:r>
              <a:rPr lang="ne-NP" dirty="0" smtClean="0"/>
              <a:t>भएको कर्तव्य ज्यान मुद्दामा </a:t>
            </a:r>
            <a:endParaRPr lang="en-US" dirty="0" smtClean="0"/>
          </a:p>
          <a:p>
            <a:r>
              <a:rPr lang="en-US" i="1" dirty="0" smtClean="0"/>
              <a:t>“</a:t>
            </a:r>
            <a:r>
              <a:rPr lang="ne-NP" i="1" dirty="0" smtClean="0"/>
              <a:t>वारदातमा मनसाय, योजना तयारी, पूर्वरिसइवी र कार्यको परिणामको पूर्वानुमान नभएको अवस्थामा कसैले कुनै कार्य सावधानीपूर्वक गर्दा र सो कार्यको प्रकृति, अवस्था र परिणाम थाहा हुन नसक्ने अवस्थामा भवितव्यको वारदात र कसुर हुने । भवितव्यको निर्धारण वारदातको पृष्ठभूमि, कार्यको प्रकृति, अवस्था, परिस्थिति, मृतक र प्रतिवादीबिचको पूर्वसम्बन्ध, रिसइवी, योजना तयारी, मनसाय इत्यादिको आधारबाट हुने</a:t>
            </a:r>
            <a:r>
              <a:rPr lang="en-US" i="1" dirty="0" smtClean="0"/>
              <a:t>” </a:t>
            </a:r>
            <a:r>
              <a:rPr lang="ne-NP" dirty="0" smtClean="0"/>
              <a:t>भनी ब्याख्या भएको।</a:t>
            </a:r>
            <a:endParaRPr lang="en-US" dirty="0"/>
          </a:p>
        </p:txBody>
      </p:sp>
    </p:spTree>
  </p:cSld>
  <p:clrMapOvr>
    <a:masterClrMapping/>
  </p:clrMapOvr>
  <p:transition>
    <p:wedg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ne-NP" dirty="0" smtClean="0"/>
              <a:t>क्रमश</a:t>
            </a:r>
            <a:r>
              <a:rPr lang="en-US" dirty="0" smtClean="0"/>
              <a:t>…</a:t>
            </a:r>
            <a:endParaRPr lang="en-US" dirty="0"/>
          </a:p>
        </p:txBody>
      </p:sp>
      <p:sp>
        <p:nvSpPr>
          <p:cNvPr id="3" name="Content Placeholder 2"/>
          <p:cNvSpPr>
            <a:spLocks noGrp="1"/>
          </p:cNvSpPr>
          <p:nvPr>
            <p:ph sz="quarter" idx="1"/>
          </p:nvPr>
        </p:nvSpPr>
        <p:spPr/>
        <p:txBody>
          <a:bodyPr>
            <a:normAutofit fontScale="70000" lnSpcReduction="20000"/>
          </a:bodyPr>
          <a:lstStyle/>
          <a:p>
            <a:r>
              <a:rPr lang="ne-NP" dirty="0" smtClean="0"/>
              <a:t>प्रतिवादीको मृतकप्रति ज्यानै मार्नेसम्मको पूर्वरिसइवी पनि नदेखिएको, ज्यानै मार्ने गरी चोट छाडेको अवस्था पनि नदेखिनुका साथै जोखिमी हतियारसमेत प्रयोग भएको देखिँदैन भने प्रतिवादीको ज्यान मार्ने नियत र ज्यान मार्नेसम्मको कार्यसमेत भएको देखिँदैन । प्रतिवादीको मृतकलाई ज्यानै मार्नेसम्मको मनसाय </a:t>
            </a:r>
            <a:r>
              <a:rPr lang="en-US" dirty="0" err="1" smtClean="0"/>
              <a:t>Mens</a:t>
            </a:r>
            <a:r>
              <a:rPr lang="en-US" dirty="0" smtClean="0"/>
              <a:t> </a:t>
            </a:r>
            <a:r>
              <a:rPr lang="en-US" dirty="0" err="1" smtClean="0"/>
              <a:t>rea</a:t>
            </a:r>
            <a:r>
              <a:rPr lang="en-US" dirty="0" smtClean="0"/>
              <a:t> </a:t>
            </a:r>
            <a:r>
              <a:rPr lang="ne-NP" dirty="0" smtClean="0"/>
              <a:t>रहेभएको भन्‍ने देखिन आउँदैन । </a:t>
            </a:r>
            <a:endParaRPr lang="ne-NP" dirty="0" smtClean="0"/>
          </a:p>
          <a:p>
            <a:r>
              <a:rPr lang="ne-NP" dirty="0" smtClean="0"/>
              <a:t>मार्ने </a:t>
            </a:r>
            <a:r>
              <a:rPr lang="ne-NP" dirty="0" smtClean="0"/>
              <a:t>मनसाय तत्त्वको अभावमा पूर्वरिसइवी वा इविलाग नै नभई कुनै साधनको प्रयोग नगरी मौकैमा केही कार्य हुन जाँदा त्यसैको कारणबाट मानिस मर्न गएको </a:t>
            </a:r>
            <a:r>
              <a:rPr lang="ne-NP" dirty="0" smtClean="0"/>
              <a:t>देखिन्छ </a:t>
            </a:r>
            <a:r>
              <a:rPr lang="ne-NP" dirty="0" smtClean="0"/>
              <a:t>। </a:t>
            </a:r>
            <a:endParaRPr lang="ne-NP" dirty="0" smtClean="0"/>
          </a:p>
          <a:p>
            <a:r>
              <a:rPr lang="ne-NP" dirty="0" smtClean="0"/>
              <a:t>प्रतिवादीले </a:t>
            </a:r>
            <a:r>
              <a:rPr lang="ne-NP" dirty="0" smtClean="0"/>
              <a:t>मृतकलाई ज्यानै मार्ने नियतले जोखिमी हतियारले प्रहार गरेको अवस्था नभई प्रतिवादी र मृतकबिच सामान्य कुरामा विवाद भई मृतकको क्रियाबाट जोगिन प्रतिवादीले मृतकलाई धकेली दिएको देखिन्छ </a:t>
            </a:r>
            <a:r>
              <a:rPr lang="ne-NP" dirty="0" smtClean="0"/>
              <a:t>।</a:t>
            </a:r>
          </a:p>
          <a:p>
            <a:r>
              <a:rPr lang="ne-NP" dirty="0" smtClean="0"/>
              <a:t>मृतकले </a:t>
            </a:r>
            <a:r>
              <a:rPr lang="ne-NP" dirty="0" smtClean="0"/>
              <a:t>प्रतिवादीलाई नाम्लो चोरको आरोप लगाएको कुराबाट भएको झै-झगडाको क्रियाबाट आफू उन्मुक्त हुन मृतकलाई धकेलेको र सोही कारणबाट मृतकलाई पर्न गएको सोही चोटको कारणबाट मृत्यु भएको नभई मृतकको पोष्टमार्टम प्रतिवेदनबाट मृत्युको कारण निमोनिया रहेको भन्‍ने देखिएबाट निमोनियाको रोगबाट कमजोर भएको शरीरमा चोट लागेपछि मृतकको मृत्यु भएको भन्‍ने देखिन आउँछ । </a:t>
            </a:r>
            <a:endParaRPr lang="ne-NP" dirty="0" smtClean="0"/>
          </a:p>
          <a:p>
            <a:endParaRPr lang="en-US" dirty="0"/>
          </a:p>
        </p:txBody>
      </p:sp>
    </p:spTree>
  </p:cSld>
  <p:clrMapOvr>
    <a:masterClrMapping/>
  </p:clrMapOvr>
  <p:transition>
    <p:wedg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क्रमश</a:t>
            </a:r>
            <a:r>
              <a:rPr lang="en-US" dirty="0" smtClean="0"/>
              <a:t>…</a:t>
            </a:r>
            <a:endParaRPr lang="en-US" dirty="0"/>
          </a:p>
        </p:txBody>
      </p:sp>
      <p:sp>
        <p:nvSpPr>
          <p:cNvPr id="3" name="Content Placeholder 2"/>
          <p:cNvSpPr>
            <a:spLocks noGrp="1"/>
          </p:cNvSpPr>
          <p:nvPr>
            <p:ph sz="quarter" idx="1"/>
          </p:nvPr>
        </p:nvSpPr>
        <p:spPr/>
        <p:txBody>
          <a:bodyPr>
            <a:normAutofit fontScale="77500" lnSpcReduction="20000"/>
          </a:bodyPr>
          <a:lstStyle/>
          <a:p>
            <a:r>
              <a:rPr lang="ne-NP" dirty="0" smtClean="0"/>
              <a:t>निमोनियाको रोगबाट बिरामी भएका मृतकलाई धकेलेर निजको टाउकोमा लाग्न गएको चोट भने मृतकको मृत्युको बहाना बन्‍न गएको छ । यस्तो अनिच्छित वा अन्जानमा भएको कार्यलाई घटनाको प्रकृतिअनुसार नै विश्लेषण गरी हेर्नुपर्ने हुन्छ । यस स्थितिमा प्रतिवादीले गरेको उल्लिखित कार्यको वारदातको पृष्ठभूमि र परिस्थितिअनुसार प्रस्तुत वारदात मुलुकी ऐन, ज्यानसम्बन्धीको महलको ५ र  ६ नं. को भवितव्यको वारदातको दायराभित्र नै पर्ने देखिन आउँछ ।</a:t>
            </a:r>
            <a:endParaRPr lang="en-US" dirty="0" smtClean="0"/>
          </a:p>
          <a:p>
            <a:r>
              <a:rPr lang="ne-NP" dirty="0" smtClean="0"/>
              <a:t>मुलुकी ऐन, ज्यानसम्बन्धीको महलको ५ नं. को कसुरमा ऐ. ६(२) नं. बमोजिम २(दुर्इ) वर्ष कैद सजाय हुनेमा निज प्रतिवादी वारदात हुँदाका बखत १६ वर्ष पूरा नभएको नाबालक हुँदा बालबालिकासम्बन्धी ऐन, २०४८ को दफा ११ (३) अनुसार आधा सजायको अभियोग दाबी लिएको हुँदा निजलार्इ सो कैद सजायको आधा १(एक) वर्ष कैद सजाय हुने ठहर्‍याई उच्च अदालत विराटनगर, धनकुटा इजलासबाट मिति २०७५।०३।०५ गते भएको फैसला मिलेकै देखिँदा सदर हुने ठहर्छ ।</a:t>
            </a:r>
          </a:p>
          <a:p>
            <a:endParaRPr lang="en-US" dirty="0"/>
          </a:p>
        </p:txBody>
      </p:sp>
    </p:spTree>
  </p:cSld>
  <p:clrMapOvr>
    <a:masterClrMapping/>
  </p:clrMapOvr>
  <p:transition>
    <p:wedg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ne-NP" dirty="0" smtClean="0"/>
              <a:t>ने.का.प. २०७६, अङ्क ४, नि. नं. १०२४८, अंकित ढकाल विरूद्ध नेपाल सरकार भएको कर्तव्य ज्यान मुद्दामा “प्रतिवादीको योजना, मनसाय र परिकल्पनाभन्दा बाहिरको अकल्पनीय अकस्मात घटना घट्न गएको अनिच्छित कार्यबाट भएको कसुरलाई गम्भीर कसुर मानी ठुलो दण्ड गरिनु न्यायसम्मत नहुने” भनी सिद्धान्तसमेत प्रतिपादन </a:t>
            </a:r>
            <a:r>
              <a:rPr lang="ne-NP" dirty="0" smtClean="0"/>
              <a:t>भएको।</a:t>
            </a:r>
            <a:endParaRPr lang="en-US" dirty="0"/>
          </a:p>
        </p:txBody>
      </p:sp>
    </p:spTree>
  </p:cSld>
  <p:clrMapOvr>
    <a:masterClrMapping/>
  </p:clrMapOvr>
  <p:transition>
    <p:wedg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क्रमश</a:t>
            </a:r>
            <a:r>
              <a:rPr lang="en-US" dirty="0" smtClean="0"/>
              <a:t>…</a:t>
            </a:r>
            <a:endParaRPr lang="en-US" dirty="0"/>
          </a:p>
        </p:txBody>
      </p:sp>
      <p:sp>
        <p:nvSpPr>
          <p:cNvPr id="3" name="Content Placeholder 2"/>
          <p:cNvSpPr>
            <a:spLocks noGrp="1"/>
          </p:cNvSpPr>
          <p:nvPr>
            <p:ph sz="quarter" idx="1"/>
          </p:nvPr>
        </p:nvSpPr>
        <p:spPr/>
        <p:txBody>
          <a:bodyPr>
            <a:normAutofit fontScale="85000" lnSpcReduction="10000"/>
          </a:bodyPr>
          <a:lstStyle/>
          <a:p>
            <a:r>
              <a:rPr lang="ne-NP" dirty="0" smtClean="0"/>
              <a:t>प्रस्तुत वारदातमा प्रतिवादी र मृतक मिल्ने साथी भएको वारदातको दिनमा मृतक प्रतिवादीको घरमा आई सँगै चिया खान भनी घरबाट गएको भन्‍ने तथ्य रहेको छ । चिया खाने होटल न्यू हेभेन रेस्टुरेन्टमा चिया खाँदै गर्दा परीक्षासम्बन्धी विषयमा वादविवाद भएको भई सामान्य कुटपिट हुँदा प्रतिवादीले मृतकलाई धकेलिदिएको र टाउको भित्तामा ठोक्‍किएको भन्‍ने प्रतिवादीको बयानबाट देखिन्छ । भित्तामा रगतजस्तो चिज रहेको भन्‍ने घटनास्थल मुचुल्काबाट देखिएको छ । मृत्युको कारण </a:t>
            </a:r>
            <a:r>
              <a:rPr lang="en-US" dirty="0" smtClean="0"/>
              <a:t>Blunt Force Injury to the Head </a:t>
            </a:r>
            <a:r>
              <a:rPr lang="ne-NP" dirty="0" smtClean="0"/>
              <a:t>भन्ने छ । मृतक र प्रतिवादीको ज्यान लिनुपर्ने कारण रिसइवी देखिँदैन । मार्ने नियतबाट कुटपिट गरेको भन्‍ने पनि देखिँदैन । वादविवाद हुँदा मृतकलाई धकेल्दा टाउको भित्तामा ठोक्किन पुगी मृत्यु भएको देखिन्छ । मृतकलाई कुनै वस्तुले टाउकोमा प्रहार गरेको भन्‍ने मिसिल संलग्न प्रमाणबाट देखिन आउँदैन । </a:t>
            </a:r>
            <a:endParaRPr lang="en-US" dirty="0"/>
          </a:p>
        </p:txBody>
      </p:sp>
    </p:spTree>
  </p:cSld>
  <p:clrMapOvr>
    <a:masterClrMapping/>
  </p:clrMapOvr>
  <p:transition>
    <p:wedg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प्रस्तुत मुद्दामा</a:t>
            </a:r>
            <a:endParaRPr lang="en-US" dirty="0"/>
          </a:p>
        </p:txBody>
      </p:sp>
      <p:sp>
        <p:nvSpPr>
          <p:cNvPr id="3" name="Content Placeholder 2"/>
          <p:cNvSpPr>
            <a:spLocks noGrp="1"/>
          </p:cNvSpPr>
          <p:nvPr>
            <p:ph sz="quarter" idx="1"/>
          </p:nvPr>
        </p:nvSpPr>
        <p:spPr/>
        <p:txBody>
          <a:bodyPr>
            <a:normAutofit fontScale="92500" lnSpcReduction="10000"/>
          </a:bodyPr>
          <a:lstStyle/>
          <a:p>
            <a:r>
              <a:rPr lang="ne-NP" dirty="0" smtClean="0"/>
              <a:t>प्रस्तुत वारदातमा </a:t>
            </a:r>
            <a:r>
              <a:rPr lang="ne-NP" dirty="0" smtClean="0"/>
              <a:t>मृतकलाई </a:t>
            </a:r>
            <a:r>
              <a:rPr lang="ne-NP" dirty="0" smtClean="0"/>
              <a:t>मार्न यी प्रतिवादीको कुनै पूर्वयोजना, मनसाय, पूर्वतयारी र पूर्वरिसइवी आदि केही नभएर </a:t>
            </a:r>
            <a:r>
              <a:rPr lang="ne-NP" dirty="0" smtClean="0"/>
              <a:t>स्वयं मृतक नैं यी कानूनको विवादमा परेका वालकको डेरामा आइ कुटपीट गरेको कारण प्रतिरक्षा गर्ने क्रममा हात मुक्का र पर्दाको पाईपले हानेको सम्म देखिएको। </a:t>
            </a:r>
          </a:p>
          <a:p>
            <a:r>
              <a:rPr lang="ne-NP" dirty="0" smtClean="0"/>
              <a:t>सोही चोटको कारण मृत्यु भएको नभै निमोनिया र ड्रग एव्युजको कारण शरीरमा संक्रमण भएको परीक्षण प्रतिवेदनबाट </a:t>
            </a:r>
            <a:r>
              <a:rPr lang="ne-NP" dirty="0" smtClean="0"/>
              <a:t>देखिएको </a:t>
            </a:r>
            <a:r>
              <a:rPr lang="ne-NP" dirty="0" smtClean="0"/>
              <a:t>अवस्था। </a:t>
            </a:r>
          </a:p>
          <a:p>
            <a:r>
              <a:rPr lang="ne-NP" dirty="0" smtClean="0"/>
              <a:t>त्यस </a:t>
            </a:r>
            <a:r>
              <a:rPr lang="ne-NP" dirty="0" smtClean="0"/>
              <a:t>किसिमको अनिच्छित कार्यबाट घट्न गएको वारदातलाई गम्भीर कसुर मानी निज प्रतिवादीलाई गम्भीर कसुरमा बढी सजाय गरिनु न्यायसम्मत हुने </a:t>
            </a:r>
            <a:r>
              <a:rPr lang="ne-NP" dirty="0" smtClean="0"/>
              <a:t>नदेखिने।</a:t>
            </a:r>
          </a:p>
          <a:p>
            <a:r>
              <a:rPr lang="ne-NP" dirty="0" smtClean="0"/>
              <a:t> </a:t>
            </a:r>
            <a:endParaRPr lang="en-US" dirty="0"/>
          </a:p>
        </p:txBody>
      </p:sp>
    </p:spTree>
  </p:cSld>
  <p:clrMapOvr>
    <a:masterClrMapping/>
  </p:clrMapOvr>
  <p:transition>
    <p:wedge/>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Aspect</Template>
  <TotalTime>1207</TotalTime>
  <Words>1220</Words>
  <Application>Microsoft Office PowerPoint</Application>
  <PresentationFormat>On-screen Show (4:3)</PresentationFormat>
  <Paragraphs>145</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Civic</vt:lpstr>
      <vt:lpstr>फौजदारी मुद्दाको फैसला लेखन अभ्यास</vt:lpstr>
      <vt:lpstr>छलफलको विषय</vt:lpstr>
      <vt:lpstr>क्रमश</vt:lpstr>
      <vt:lpstr>फैसला लेखनको उद्देश्य</vt:lpstr>
      <vt:lpstr>फैसला कहिले गरिन्छ</vt:lpstr>
      <vt:lpstr>फैसला लेखनमा खासगरी </vt:lpstr>
      <vt:lpstr>फैसलामा रहने खण्ड</vt:lpstr>
      <vt:lpstr>फैसला टिपोट गर्दा ध्यान दिनु पर्ने कुराहरु</vt:lpstr>
      <vt:lpstr>क्रमश…</vt:lpstr>
      <vt:lpstr>फैसला लेखन सम्बन्धी बिद्धमान समस्याहरु</vt:lpstr>
      <vt:lpstr>क्रमश…</vt:lpstr>
      <vt:lpstr>फैसलाको सम्बन्धमा आम गुनासो</vt:lpstr>
      <vt:lpstr>फैसला लेखन अभ्यास</vt:lpstr>
      <vt:lpstr>सामग्री वितरण</vt:lpstr>
      <vt:lpstr>समुहगत छलफल</vt:lpstr>
      <vt:lpstr>ब्यक्तिगत फैसला लेखन अभ्यास</vt:lpstr>
      <vt:lpstr>प्रस्तुती</vt:lpstr>
      <vt:lpstr>स्वमुल्यांकन</vt:lpstr>
      <vt:lpstr>पृष्टपोषण</vt:lpstr>
      <vt:lpstr>धैर्यताको लागी धेरै धेरै धन्यवाद!!</vt:lpstr>
      <vt:lpstr>कुन आकर्षित हुन्छ?</vt:lpstr>
      <vt:lpstr>नजिर</vt:lpstr>
      <vt:lpstr> क्रमश…</vt:lpstr>
      <vt:lpstr>क्रमश…</vt:lpstr>
      <vt:lpstr>Slide 25</vt:lpstr>
      <vt:lpstr>क्रमश…</vt:lpstr>
      <vt:lpstr>प्रस्तुत मुद्दामा</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टिपोट लेखन र यसको अभ्यास</dc:title>
  <dc:creator>Iswor Parajuli</dc:creator>
  <cp:lastModifiedBy>Iswor Parajuli</cp:lastModifiedBy>
  <cp:revision>115</cp:revision>
  <dcterms:created xsi:type="dcterms:W3CDTF">2025-12-03T14:56:54Z</dcterms:created>
  <dcterms:modified xsi:type="dcterms:W3CDTF">2026-01-25T02:17:57Z</dcterms:modified>
</cp:coreProperties>
</file>