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0" r:id="rId3"/>
    <p:sldId id="341" r:id="rId4"/>
    <p:sldId id="342" r:id="rId5"/>
    <p:sldId id="274" r:id="rId6"/>
    <p:sldId id="343" r:id="rId7"/>
    <p:sldId id="315" r:id="rId8"/>
    <p:sldId id="344" r:id="rId9"/>
    <p:sldId id="345" r:id="rId10"/>
    <p:sldId id="346" r:id="rId11"/>
    <p:sldId id="317" r:id="rId12"/>
    <p:sldId id="318" r:id="rId13"/>
    <p:sldId id="292" r:id="rId14"/>
    <p:sldId id="347" r:id="rId15"/>
    <p:sldId id="320" r:id="rId16"/>
    <p:sldId id="322" r:id="rId17"/>
    <p:sldId id="294" r:id="rId18"/>
    <p:sldId id="323" r:id="rId19"/>
    <p:sldId id="348" r:id="rId20"/>
    <p:sldId id="361" r:id="rId21"/>
    <p:sldId id="349" r:id="rId22"/>
    <p:sldId id="350" r:id="rId23"/>
    <p:sldId id="351" r:id="rId24"/>
    <p:sldId id="352" r:id="rId25"/>
    <p:sldId id="353" r:id="rId26"/>
    <p:sldId id="295" r:id="rId27"/>
    <p:sldId id="324" r:id="rId28"/>
    <p:sldId id="331" r:id="rId29"/>
    <p:sldId id="333" r:id="rId30"/>
    <p:sldId id="332" r:id="rId31"/>
    <p:sldId id="357" r:id="rId32"/>
    <p:sldId id="358" r:id="rId33"/>
    <p:sldId id="360" r:id="rId34"/>
    <p:sldId id="328" r:id="rId35"/>
    <p:sldId id="327" r:id="rId36"/>
    <p:sldId id="329" r:id="rId37"/>
    <p:sldId id="303" r:id="rId38"/>
    <p:sldId id="334" r:id="rId39"/>
    <p:sldId id="261" r:id="rId40"/>
    <p:sldId id="279" r:id="rId41"/>
    <p:sldId id="308" r:id="rId42"/>
    <p:sldId id="335" r:id="rId43"/>
    <p:sldId id="336" r:id="rId44"/>
    <p:sldId id="337" r:id="rId45"/>
    <p:sldId id="338" r:id="rId46"/>
    <p:sldId id="339" r:id="rId47"/>
    <p:sldId id="28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176" autoAdjust="0"/>
    <p:restoredTop sz="94660"/>
  </p:normalViewPr>
  <p:slideViewPr>
    <p:cSldViewPr snapToGrid="0">
      <p:cViewPr varScale="1">
        <p:scale>
          <a:sx n="66" d="100"/>
          <a:sy n="66" d="100"/>
        </p:scale>
        <p:origin x="13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10EE-D5B4-4E7A-ADE5-773EAC40DFA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EBA7-B8BC-4306-8FFE-FAA01F02F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0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10EE-D5B4-4E7A-ADE5-773EAC40DFA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EBA7-B8BC-4306-8FFE-FAA01F02F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2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10EE-D5B4-4E7A-ADE5-773EAC40DFA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EBA7-B8BC-4306-8FFE-FAA01F02F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56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10EE-D5B4-4E7A-ADE5-773EAC40DFA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EBA7-B8BC-4306-8FFE-FAA01F02F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63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10EE-D5B4-4E7A-ADE5-773EAC40DFA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EBA7-B8BC-4306-8FFE-FAA01F02F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9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10EE-D5B4-4E7A-ADE5-773EAC40DFA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EBA7-B8BC-4306-8FFE-FAA01F02F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39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10EE-D5B4-4E7A-ADE5-773EAC40DFA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EBA7-B8BC-4306-8FFE-FAA01F02F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84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10EE-D5B4-4E7A-ADE5-773EAC40DFA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EBA7-B8BC-4306-8FFE-FAA01F02F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56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10EE-D5B4-4E7A-ADE5-773EAC40DFA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EBA7-B8BC-4306-8FFE-FAA01F02F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7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10EE-D5B4-4E7A-ADE5-773EAC40DFA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EBA7-B8BC-4306-8FFE-FAA01F02F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12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10EE-D5B4-4E7A-ADE5-773EAC40DFA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2EBA7-B8BC-4306-8FFE-FAA01F02F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26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A10EE-D5B4-4E7A-ADE5-773EAC40DFAA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2EBA7-B8BC-4306-8FFE-FAA01F02FA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&#2332;&#2367;&#2354;&#2381;&#2354;&#2366;%20&#2309;&#2342;&#2366;&#2354;&#2340;&#2325;&#2379;%20&#2347;&#2376;&#2360;&#2354;&#2366;%20&#2360;&#2306;&#2327;&#2381;&#2352;&#2361;%20NJA%202080.pdf" TargetMode="External"/><Relationship Id="rId2" Type="http://schemas.openxmlformats.org/officeDocument/2006/relationships/hyperlink" Target="&#2332;&#2367;&#2354;&#2381;&#2354;&#2366;%20&#2309;&#2342;&#2366;&#2354;&#2340;&#2325;&#2379;%20&#2347;&#2376;&#2360;&#2354;&#2366;.do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4000" dirty="0" smtClean="0">
                <a:cs typeface="Kalimati" panose="00000400000000000000" pitchFamily="2"/>
              </a:rPr>
              <a:t>फैसला लेखनका आधारभूत पक्षहरू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2800" dirty="0" smtClean="0">
                <a:cs typeface="Kalimati" panose="00000400000000000000" pitchFamily="2"/>
              </a:rPr>
              <a:t>सूर्यप्रसाद पराजुली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7810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ne-NP" sz="3200" dirty="0" smtClean="0">
                <a:cs typeface="Kalimati" panose="00000400000000000000" pitchFamily="2"/>
              </a:rPr>
              <a:t>प्रस्तुतिका विषयहरू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ne-NP" dirty="0" smtClean="0">
                <a:cs typeface="Kalimati" panose="00000400000000000000" pitchFamily="2"/>
                <a:hlinkClick r:id="rId2" action="ppaction://hlinkfile"/>
              </a:rPr>
              <a:t>ड्राफ्ट फैसला</a:t>
            </a:r>
            <a:endParaRPr lang="en-US" dirty="0" smtClean="0">
              <a:cs typeface="Kalimati" panose="00000400000000000000" pitchFamily="2"/>
            </a:endParaRPr>
          </a:p>
          <a:p>
            <a:pPr>
              <a:lnSpc>
                <a:spcPct val="150000"/>
              </a:lnSpc>
            </a:pPr>
            <a:r>
              <a:rPr lang="ne-NP" dirty="0" smtClean="0">
                <a:cs typeface="Kalimati" panose="00000400000000000000" pitchFamily="2"/>
                <a:hlinkClick r:id="rId3" action="ppaction://hlinkfile"/>
              </a:rPr>
              <a:t>जिल्ला अदालतका फैसला</a:t>
            </a:r>
            <a:endParaRPr lang="ne-NP" dirty="0" smtClean="0">
              <a:cs typeface="Kalimati" panose="00000400000000000000" pitchFamily="2"/>
            </a:endParaRPr>
          </a:p>
          <a:p>
            <a:pPr>
              <a:lnSpc>
                <a:spcPct val="150000"/>
              </a:lnSpc>
            </a:pPr>
            <a:r>
              <a:rPr lang="ne-NP" dirty="0" smtClean="0">
                <a:cs typeface="Kalimati" panose="00000400000000000000" pitchFamily="2"/>
              </a:rPr>
              <a:t>फैसलाको </a:t>
            </a:r>
            <a:r>
              <a:rPr lang="ne-NP" dirty="0" smtClean="0">
                <a:cs typeface="Kalimati" panose="00000400000000000000" pitchFamily="2"/>
              </a:rPr>
              <a:t>परिचय</a:t>
            </a:r>
          </a:p>
          <a:p>
            <a:pPr>
              <a:lnSpc>
                <a:spcPct val="150000"/>
              </a:lnSpc>
            </a:pPr>
            <a:r>
              <a:rPr lang="ne-NP" dirty="0" smtClean="0">
                <a:cs typeface="Kalimati" panose="00000400000000000000" pitchFamily="2"/>
              </a:rPr>
              <a:t>फैसलाका ढाँचा र खण्डहरू</a:t>
            </a:r>
          </a:p>
          <a:p>
            <a:pPr>
              <a:lnSpc>
                <a:spcPct val="150000"/>
              </a:lnSpc>
            </a:pPr>
            <a:r>
              <a:rPr lang="ne-NP" dirty="0" smtClean="0">
                <a:cs typeface="Kalimati" panose="00000400000000000000" pitchFamily="2"/>
              </a:rPr>
              <a:t>फैसला लेखनमा ध्यान दिनुपर्ने विषयहरू</a:t>
            </a:r>
            <a:endParaRPr lang="ne-NP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5852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dirty="0" smtClean="0">
                <a:cs typeface="Kalimati" panose="00000400000000000000" pitchFamily="2"/>
              </a:rPr>
              <a:t>फैसलाः परिचय</a:t>
            </a:r>
            <a:endParaRPr lang="en-US" sz="3200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ne-NP" sz="1600" b="1" dirty="0">
                <a:solidFill>
                  <a:schemeClr val="accent1"/>
                </a:solidFill>
                <a:cs typeface="Kalimati" panose="00000400000000000000" pitchFamily="2"/>
              </a:rPr>
              <a:t>विवादग्रस्त कुरामा </a:t>
            </a:r>
            <a:r>
              <a:rPr lang="ne-NP" sz="1600" dirty="0">
                <a:cs typeface="Kalimati" panose="00000400000000000000" pitchFamily="2"/>
              </a:rPr>
              <a:t>पक्ष विपक्षले दिएको सवुत प्रमाणको मूल्याङ्कन गरी </a:t>
            </a:r>
            <a:r>
              <a:rPr lang="ne-NP" sz="1600" dirty="0" smtClean="0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न्यायिक </a:t>
            </a:r>
            <a:r>
              <a:rPr lang="ne-NP" sz="1600" dirty="0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मन </a:t>
            </a:r>
            <a:r>
              <a:rPr lang="ne-NP" sz="1600" dirty="0">
                <a:cs typeface="Kalimati" panose="00000400000000000000" pitchFamily="2"/>
              </a:rPr>
              <a:t>लगाई </a:t>
            </a:r>
            <a:r>
              <a:rPr lang="ne-NP" sz="1600" b="1" dirty="0">
                <a:solidFill>
                  <a:schemeClr val="accent1"/>
                </a:solidFill>
                <a:cs typeface="Kalimati" panose="00000400000000000000" pitchFamily="2"/>
              </a:rPr>
              <a:t>विवादको टुंगो लाग्ने </a:t>
            </a:r>
            <a:r>
              <a:rPr lang="ne-NP" sz="1600" dirty="0">
                <a:cs typeface="Kalimati" panose="00000400000000000000" pitchFamily="2"/>
              </a:rPr>
              <a:t>किसिमको पक्ष विपक्षको </a:t>
            </a:r>
            <a:r>
              <a:rPr lang="ne-NP" sz="1600" b="1" dirty="0">
                <a:solidFill>
                  <a:schemeClr val="accent1"/>
                </a:solidFill>
                <a:cs typeface="Kalimati" panose="00000400000000000000" pitchFamily="2"/>
              </a:rPr>
              <a:t>हार जित हुने निर्णय </a:t>
            </a:r>
            <a:r>
              <a:rPr lang="ne-NP" sz="1600" dirty="0">
                <a:cs typeface="Kalimati" panose="00000400000000000000" pitchFamily="2"/>
              </a:rPr>
              <a:t>भई गरेकोलाई फैसला मान्‍नु </a:t>
            </a:r>
            <a:r>
              <a:rPr lang="ne-NP" sz="1600" dirty="0" smtClean="0">
                <a:cs typeface="Kalimati" panose="00000400000000000000" pitchFamily="2"/>
              </a:rPr>
              <a:t>पर्दछ। </a:t>
            </a:r>
            <a:r>
              <a:rPr lang="ne-NP" sz="1600" i="1" dirty="0" smtClean="0">
                <a:cs typeface="Kalimati" panose="00000400000000000000" pitchFamily="2"/>
              </a:rPr>
              <a:t>लालविर </a:t>
            </a:r>
            <a:r>
              <a:rPr lang="ne-NP" sz="1600" i="1" dirty="0">
                <a:cs typeface="Kalimati" panose="00000400000000000000" pitchFamily="2"/>
              </a:rPr>
              <a:t>वि टेकबहादुर </a:t>
            </a:r>
            <a:r>
              <a:rPr lang="ne-NP" sz="1600" i="1" dirty="0" smtClean="0">
                <a:cs typeface="Kalimati" panose="00000400000000000000" pitchFamily="2"/>
              </a:rPr>
              <a:t>समेत</a:t>
            </a:r>
            <a:r>
              <a:rPr lang="en-US" sz="1600" dirty="0" smtClean="0">
                <a:cs typeface="Kalimati" panose="00000400000000000000" pitchFamily="2"/>
              </a:rPr>
              <a:t>, </a:t>
            </a:r>
            <a:r>
              <a:rPr lang="ne-NP" sz="1600" dirty="0" smtClean="0">
                <a:cs typeface="Kalimati" panose="00000400000000000000" pitchFamily="2"/>
              </a:rPr>
              <a:t>नेकाप २०२८</a:t>
            </a:r>
            <a:r>
              <a:rPr lang="en-US" sz="1600" dirty="0" smtClean="0">
                <a:cs typeface="Kalimati" panose="00000400000000000000" pitchFamily="2"/>
              </a:rPr>
              <a:t>,</a:t>
            </a:r>
            <a:r>
              <a:rPr lang="ne-NP" sz="1600" dirty="0" smtClean="0">
                <a:cs typeface="Kalimati" panose="00000400000000000000" pitchFamily="2"/>
              </a:rPr>
              <a:t> नि</a:t>
            </a:r>
            <a:r>
              <a:rPr lang="en-US" sz="1600" dirty="0" smtClean="0">
                <a:cs typeface="Kalimati" panose="00000400000000000000" pitchFamily="2"/>
              </a:rPr>
              <a:t>.</a:t>
            </a:r>
            <a:r>
              <a:rPr lang="ne-NP" sz="1600" dirty="0" smtClean="0">
                <a:cs typeface="Kalimati" panose="00000400000000000000" pitchFamily="2"/>
              </a:rPr>
              <a:t> नं ६१९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ne-NP" sz="1600" dirty="0" smtClean="0">
                <a:cs typeface="Kalimati" panose="00000400000000000000" pitchFamily="2"/>
              </a:rPr>
              <a:t>साविक मुलुकी ऐन २०२० को अदालती बन्दोवस्तको महल १८५ नं</a:t>
            </a:r>
            <a:r>
              <a:rPr lang="en-US" sz="1600" dirty="0" smtClean="0">
                <a:cs typeface="Kalimati" panose="00000400000000000000" pitchFamily="2"/>
              </a:rPr>
              <a:t>,</a:t>
            </a:r>
            <a:r>
              <a:rPr lang="ne-NP" sz="1600" dirty="0" smtClean="0">
                <a:cs typeface="Kalimati" panose="00000400000000000000" pitchFamily="2"/>
              </a:rPr>
              <a:t> १८९ नं</a:t>
            </a:r>
            <a:r>
              <a:rPr lang="en-US" sz="1600" dirty="0" smtClean="0">
                <a:cs typeface="Kalimati" panose="00000400000000000000" pitchFamily="2"/>
              </a:rPr>
              <a:t>.</a:t>
            </a:r>
            <a:r>
              <a:rPr lang="ne-NP" sz="1600" dirty="0" smtClean="0">
                <a:cs typeface="Kalimati" panose="00000400000000000000" pitchFamily="2"/>
              </a:rPr>
              <a:t> (ढाँचा)</a:t>
            </a:r>
            <a:endParaRPr lang="en-US" sz="1600" dirty="0" smtClean="0">
              <a:cs typeface="Kalimati" panose="00000400000000000000" pitchFamily="2"/>
            </a:endParaRP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ne-NP" sz="1600" dirty="0">
                <a:cs typeface="Kalimati" panose="00000400000000000000" pitchFamily="2"/>
              </a:rPr>
              <a:t>फैसला लेख्दा अड्डाले मुद्दाको </a:t>
            </a:r>
            <a:r>
              <a:rPr lang="ne-NP" sz="1600" dirty="0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संक्षिप्त </a:t>
            </a:r>
            <a:r>
              <a:rPr lang="ne-NP" sz="1600" dirty="0" smtClean="0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व्यहोरा</a:t>
            </a:r>
            <a:r>
              <a:rPr lang="en-US" sz="1600" dirty="0" smtClean="0">
                <a:cs typeface="Kalimati" panose="00000400000000000000" pitchFamily="2"/>
              </a:rPr>
              <a:t>,</a:t>
            </a:r>
            <a:r>
              <a:rPr lang="ne-NP" sz="1600" dirty="0" smtClean="0">
                <a:cs typeface="Kalimati" panose="00000400000000000000" pitchFamily="2"/>
              </a:rPr>
              <a:t> </a:t>
            </a:r>
            <a:r>
              <a:rPr lang="ne-NP" sz="1600" dirty="0">
                <a:cs typeface="Kalimati" panose="00000400000000000000" pitchFamily="2"/>
              </a:rPr>
              <a:t>झगडियाहरूका कुरा </a:t>
            </a:r>
            <a:r>
              <a:rPr lang="ne-NP" sz="1600" b="1" dirty="0">
                <a:solidFill>
                  <a:schemeClr val="accent1"/>
                </a:solidFill>
                <a:cs typeface="Kalimati" panose="00000400000000000000" pitchFamily="2"/>
              </a:rPr>
              <a:t>नमिली इन्साफ गरी ठहराउनुपर्ने </a:t>
            </a:r>
            <a:r>
              <a:rPr lang="ne-NP" sz="1600" dirty="0" smtClean="0">
                <a:cs typeface="Kalimati" panose="00000400000000000000" pitchFamily="2"/>
              </a:rPr>
              <a:t>कुरा</a:t>
            </a:r>
            <a:r>
              <a:rPr lang="en-US" sz="1600" dirty="0" smtClean="0">
                <a:cs typeface="Kalimati" panose="00000400000000000000" pitchFamily="2"/>
              </a:rPr>
              <a:t>,</a:t>
            </a:r>
            <a:r>
              <a:rPr lang="ne-NP" sz="1600" dirty="0" smtClean="0">
                <a:cs typeface="Kalimati" panose="00000400000000000000" pitchFamily="2"/>
              </a:rPr>
              <a:t> </a:t>
            </a:r>
            <a:r>
              <a:rPr lang="ne-NP" sz="1600" dirty="0">
                <a:cs typeface="Kalimati" panose="00000400000000000000" pitchFamily="2"/>
              </a:rPr>
              <a:t>त्यस सम्बन्धमा कुनै झगडिया वा </a:t>
            </a:r>
            <a:r>
              <a:rPr lang="ne-NP" sz="1600" dirty="0" smtClean="0">
                <a:cs typeface="Kalimati" panose="00000400000000000000" pitchFamily="2"/>
              </a:rPr>
              <a:t>कानून </a:t>
            </a:r>
            <a:r>
              <a:rPr lang="ne-NP" sz="1600" dirty="0">
                <a:cs typeface="Kalimati" panose="00000400000000000000" pitchFamily="2"/>
              </a:rPr>
              <a:t>व्यवसायीले </a:t>
            </a:r>
            <a:r>
              <a:rPr lang="ne-NP" sz="1600" dirty="0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बहस</a:t>
            </a:r>
            <a:r>
              <a:rPr lang="ne-NP" sz="1600" dirty="0">
                <a:cs typeface="Kalimati" panose="00000400000000000000" pitchFamily="2"/>
              </a:rPr>
              <a:t> गरेको भए सो बहसको मुख्य मुख्य बुँदाहरु र त्यस सम्बन्धमा </a:t>
            </a:r>
            <a:r>
              <a:rPr lang="ne-NP" sz="1600" dirty="0" smtClean="0">
                <a:cs typeface="Kalimati" panose="00000400000000000000" pitchFamily="2"/>
              </a:rPr>
              <a:t>अड्डाले </a:t>
            </a:r>
            <a:r>
              <a:rPr lang="ne-NP" sz="1600" dirty="0" smtClean="0">
                <a:cs typeface="Kalimati" panose="00000400000000000000" pitchFamily="2"/>
              </a:rPr>
              <a:t>गरेको </a:t>
            </a:r>
            <a:r>
              <a:rPr lang="ne-NP" sz="1600" dirty="0" smtClean="0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निर्णय </a:t>
            </a:r>
            <a:r>
              <a:rPr lang="ne-NP" sz="1600" dirty="0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र त्यसको आधार </a:t>
            </a:r>
            <a:r>
              <a:rPr lang="ne-NP" sz="1600" dirty="0">
                <a:cs typeface="Kalimati" panose="00000400000000000000" pitchFamily="2"/>
              </a:rPr>
              <a:t>तथा </a:t>
            </a:r>
            <a:r>
              <a:rPr lang="ne-NP" sz="1600" dirty="0" smtClean="0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सम्बन्धित </a:t>
            </a:r>
            <a:r>
              <a:rPr lang="ne-NP" sz="1600" dirty="0" smtClean="0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कानूनहरू </a:t>
            </a:r>
            <a:r>
              <a:rPr lang="ne-NP" sz="1600" dirty="0">
                <a:cs typeface="Kalimati" panose="00000400000000000000" pitchFamily="2"/>
              </a:rPr>
              <a:t>समेत प्रत्येक कुराहरू </a:t>
            </a:r>
            <a:r>
              <a:rPr lang="ne-NP" sz="1600" dirty="0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प्रकरण छुट्याई </a:t>
            </a:r>
            <a:r>
              <a:rPr lang="ne-NP" sz="1600" dirty="0">
                <a:cs typeface="Kalimati" panose="00000400000000000000" pitchFamily="2"/>
              </a:rPr>
              <a:t>छुट्टाछुट्टै उल्लेख </a:t>
            </a:r>
            <a:r>
              <a:rPr lang="ne-NP" sz="1600" dirty="0" smtClean="0">
                <a:cs typeface="Kalimati" panose="00000400000000000000" pitchFamily="2"/>
              </a:rPr>
              <a:t>गर्नुपर्छ।</a:t>
            </a:r>
          </a:p>
          <a:p>
            <a:pPr>
              <a:lnSpc>
                <a:spcPct val="150000"/>
              </a:lnSpc>
              <a:spcBef>
                <a:spcPts val="2400"/>
              </a:spcBef>
            </a:pPr>
            <a:r>
              <a:rPr lang="ne-NP" sz="1600" dirty="0">
                <a:cs typeface="Kalimati" panose="00000400000000000000" pitchFamily="2"/>
              </a:rPr>
              <a:t>फैसला गर्दा एउटै मिसिलबाट गर्नुपर्ने काम मध्ये </a:t>
            </a:r>
            <a:r>
              <a:rPr lang="ne-NP" sz="1600" dirty="0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केही बाँकी राखी पछि बुझी छिन्ने</a:t>
            </a:r>
            <a:r>
              <a:rPr lang="ne-NP" sz="1600" dirty="0">
                <a:cs typeface="Kalimati" panose="00000400000000000000" pitchFamily="2"/>
              </a:rPr>
              <a:t> भन्ने व्यहोरासँग फैसला गर्नु </a:t>
            </a:r>
            <a:r>
              <a:rPr lang="ne-NP" sz="1600" dirty="0" smtClean="0">
                <a:cs typeface="Kalimati" panose="00000400000000000000" pitchFamily="2"/>
              </a:rPr>
              <a:t>हुँदैन। मु</a:t>
            </a:r>
            <a:r>
              <a:rPr lang="en-US" sz="1600" dirty="0" smtClean="0">
                <a:cs typeface="Kalimati" panose="00000400000000000000" pitchFamily="2"/>
              </a:rPr>
              <a:t> </a:t>
            </a:r>
            <a:r>
              <a:rPr lang="ne-NP" sz="1600" dirty="0" smtClean="0">
                <a:cs typeface="Kalimati" panose="00000400000000000000" pitchFamily="2"/>
              </a:rPr>
              <a:t>ऐ अ</a:t>
            </a:r>
            <a:r>
              <a:rPr lang="en-US" sz="1600" dirty="0" smtClean="0">
                <a:cs typeface="Kalimati" panose="00000400000000000000" pitchFamily="2"/>
              </a:rPr>
              <a:t>.</a:t>
            </a:r>
            <a:r>
              <a:rPr lang="ne-NP" sz="1600" dirty="0" smtClean="0">
                <a:cs typeface="Kalimati" panose="00000400000000000000" pitchFamily="2"/>
              </a:rPr>
              <a:t>बं </a:t>
            </a:r>
            <a:r>
              <a:rPr lang="ne-NP" sz="1600" dirty="0">
                <a:cs typeface="Kalimati" panose="00000400000000000000" pitchFamily="2"/>
              </a:rPr>
              <a:t>१९२</a:t>
            </a:r>
            <a:r>
              <a:rPr lang="en-US" sz="1600" dirty="0"/>
              <a:t>,</a:t>
            </a:r>
            <a:r>
              <a:rPr lang="ne-NP" sz="1600" dirty="0">
                <a:cs typeface="Kalimati" panose="00000400000000000000" pitchFamily="2"/>
              </a:rPr>
              <a:t> मुलुकी देवानी कार्यविधि नियमावली २०७५</a:t>
            </a:r>
            <a:r>
              <a:rPr lang="en-US" sz="1600" dirty="0"/>
              <a:t>,</a:t>
            </a:r>
            <a:r>
              <a:rPr lang="ne-NP" sz="1600" dirty="0">
                <a:cs typeface="Kalimati" panose="00000400000000000000" pitchFamily="2"/>
              </a:rPr>
              <a:t> नियम </a:t>
            </a:r>
            <a:r>
              <a:rPr lang="ne-NP" sz="1600" dirty="0" smtClean="0">
                <a:cs typeface="Kalimati" panose="00000400000000000000" pitchFamily="2"/>
              </a:rPr>
              <a:t>३७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2911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ne-NP" dirty="0" smtClean="0">
                <a:cs typeface="Kalimati" panose="00000400000000000000" pitchFamily="2"/>
              </a:rPr>
              <a:t>परिभाषा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600" dirty="0"/>
              <a:t>A</a:t>
            </a:r>
            <a:r>
              <a:rPr lang="en-US" sz="3600" dirty="0" smtClean="0"/>
              <a:t> </a:t>
            </a:r>
            <a:r>
              <a:rPr lang="en-US" sz="3600" dirty="0"/>
              <a:t>judgment of a court is the official, final determination or sentence of the law pronounced by a competent judge or court in a legal action or proceeding</a:t>
            </a:r>
            <a:r>
              <a:rPr lang="en-US" sz="3600" dirty="0" smtClean="0"/>
              <a:t>.  -</a:t>
            </a:r>
            <a:r>
              <a:rPr lang="ne-NP" sz="3600" dirty="0" smtClean="0">
                <a:cs typeface="Kalimati" panose="00000400000000000000" pitchFamily="2"/>
              </a:rPr>
              <a:t> </a:t>
            </a:r>
            <a:r>
              <a:rPr lang="en-US" sz="3600" dirty="0" smtClean="0"/>
              <a:t>Black’s Law Dictionary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51356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mtClean="0"/>
              <a:t>Judgment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dirty="0" smtClean="0"/>
              <a:t>A judge should be clear in his mind as to what he is going to decide and be ready to do so, there is always a danger that hurried judgment will omit something of importance and lead either to an</a:t>
            </a:r>
            <a:r>
              <a:rPr lang="ne-NP" sz="3200" dirty="0" smtClean="0">
                <a:cs typeface="Kalimati" panose="00000400000000000000" pitchFamily="2"/>
              </a:rPr>
              <a:t> </a:t>
            </a:r>
            <a:r>
              <a:rPr lang="en-US" sz="3200" dirty="0" smtClean="0"/>
              <a:t>appeal or at least impart a feeling of real injustice in the losing party. – Andrew Goodman.</a:t>
            </a: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03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 smtClean="0"/>
              <a:t>A good Judgment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Precise</a:t>
            </a:r>
          </a:p>
          <a:p>
            <a:pPr>
              <a:lnSpc>
                <a:spcPct val="150000"/>
              </a:lnSpc>
            </a:pPr>
            <a:r>
              <a:rPr lang="en-US" sz="3200" b="1" dirty="0" smtClean="0"/>
              <a:t>Clear and simple language</a:t>
            </a:r>
          </a:p>
          <a:p>
            <a:pPr>
              <a:lnSpc>
                <a:spcPct val="150000"/>
              </a:lnSpc>
            </a:pPr>
            <a:r>
              <a:rPr lang="en-US" sz="3200" b="1" dirty="0" smtClean="0"/>
              <a:t>Logical flow</a:t>
            </a:r>
          </a:p>
          <a:p>
            <a:pPr>
              <a:lnSpc>
                <a:spcPct val="150000"/>
              </a:lnSpc>
            </a:pPr>
            <a:r>
              <a:rPr lang="en-US" sz="3200" b="1" dirty="0" smtClean="0"/>
              <a:t>Well- Reasoned and Analyzed</a:t>
            </a:r>
          </a:p>
          <a:p>
            <a:pPr>
              <a:lnSpc>
                <a:spcPct val="150000"/>
              </a:lnSpc>
            </a:pPr>
            <a:r>
              <a:rPr lang="en-US" sz="3200" b="1" dirty="0" smtClean="0"/>
              <a:t>Legal competence</a:t>
            </a:r>
          </a:p>
          <a:p>
            <a:pPr>
              <a:lnSpc>
                <a:spcPct val="150000"/>
              </a:lnSpc>
            </a:pPr>
            <a:r>
              <a:rPr lang="en-US" sz="3200" b="1" dirty="0" smtClean="0"/>
              <a:t>Fair and impartial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320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dirty="0" smtClean="0">
                <a:cs typeface="Kalimati" panose="00000400000000000000" pitchFamily="2"/>
              </a:rPr>
              <a:t>फैसलाका पाठक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</a:pPr>
            <a:r>
              <a:rPr lang="ne-NP">
                <a:cs typeface="Kalimati" panose="00000400000000000000" pitchFamily="2"/>
              </a:rPr>
              <a:t>पक्ष </a:t>
            </a:r>
          </a:p>
          <a:p>
            <a:pPr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</a:pPr>
            <a:r>
              <a:rPr lang="ne-NP">
                <a:cs typeface="Kalimati" panose="00000400000000000000" pitchFamily="2"/>
              </a:rPr>
              <a:t>माथिल्ला अदालत</a:t>
            </a:r>
          </a:p>
          <a:p>
            <a:pPr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</a:pPr>
            <a:r>
              <a:rPr lang="ne-NP">
                <a:cs typeface="Kalimati" panose="00000400000000000000" pitchFamily="2"/>
              </a:rPr>
              <a:t>न्याय परिषद्</a:t>
            </a:r>
          </a:p>
          <a:p>
            <a:pPr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</a:pPr>
            <a:r>
              <a:rPr lang="ne-NP">
                <a:cs typeface="Kalimati" panose="00000400000000000000" pitchFamily="2"/>
              </a:rPr>
              <a:t>कानून व्यवसायी</a:t>
            </a:r>
          </a:p>
          <a:p>
            <a:pPr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</a:pPr>
            <a:r>
              <a:rPr lang="ne-NP">
                <a:cs typeface="Kalimati" panose="00000400000000000000" pitchFamily="2"/>
              </a:rPr>
              <a:t>प्राज्ञिक क्षेत्र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</a:pPr>
            <a:r>
              <a:rPr lang="ne-NP" sz="2600">
                <a:cs typeface="Kalimati" panose="00000400000000000000" pitchFamily="2"/>
              </a:rPr>
              <a:t>अन्य न्यायाधीश</a:t>
            </a:r>
          </a:p>
          <a:p>
            <a:pPr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</a:pPr>
            <a:r>
              <a:rPr lang="ne-NP" sz="2600">
                <a:cs typeface="Kalimati" panose="00000400000000000000" pitchFamily="2"/>
              </a:rPr>
              <a:t>सरकार</a:t>
            </a:r>
          </a:p>
          <a:p>
            <a:pPr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</a:pPr>
            <a:r>
              <a:rPr lang="ne-NP" sz="2600">
                <a:cs typeface="Kalimati" panose="00000400000000000000" pitchFamily="2"/>
              </a:rPr>
              <a:t>आफू</a:t>
            </a:r>
          </a:p>
          <a:p>
            <a:pPr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</a:pPr>
            <a:r>
              <a:rPr lang="ne-NP" sz="2600">
                <a:cs typeface="Kalimati" panose="00000400000000000000" pitchFamily="2"/>
              </a:rPr>
              <a:t>संचार क्षेत्र</a:t>
            </a:r>
          </a:p>
          <a:p>
            <a:pPr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</a:pPr>
            <a:r>
              <a:rPr lang="ne-NP" sz="2600">
                <a:cs typeface="Kalimati" panose="00000400000000000000" pitchFamily="2"/>
              </a:rPr>
              <a:t>विदेशी</a:t>
            </a:r>
            <a:endParaRPr lang="en-US" sz="2600">
              <a:cs typeface="Kalimati" panose="00000400000000000000" pitchFamily="2"/>
            </a:endParaRPr>
          </a:p>
          <a:p>
            <a:pPr>
              <a:lnSpc>
                <a:spcPct val="150000"/>
              </a:lnSpc>
              <a:spcBef>
                <a:spcPts val="1800"/>
              </a:spcBef>
              <a:spcAft>
                <a:spcPts val="1200"/>
              </a:spcAft>
            </a:pPr>
            <a:endParaRPr lang="en-US" sz="260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50394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dirty="0" smtClean="0">
                <a:cs typeface="Kalimati" panose="00000400000000000000" pitchFamily="2"/>
              </a:rPr>
              <a:t>फौजदारी मुद्दाको फैसलाको प्रकार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457200" indent="-457200"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हारजित फैसलाः मुफौकासं दफा १३१</a:t>
            </a:r>
          </a:p>
          <a:p>
            <a:pPr marL="457200" indent="-457200"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खारेजी फैसलाः मुफौकासं </a:t>
            </a:r>
            <a:r>
              <a:rPr lang="ne-NP" dirty="0">
                <a:cs typeface="Kalimati" panose="00000400000000000000" pitchFamily="2"/>
              </a:rPr>
              <a:t>दफा </a:t>
            </a:r>
            <a:r>
              <a:rPr lang="ne-NP" dirty="0" smtClean="0">
                <a:cs typeface="Kalimati" panose="00000400000000000000" pitchFamily="2"/>
              </a:rPr>
              <a:t>५१</a:t>
            </a:r>
            <a:r>
              <a:rPr lang="en-US" dirty="0" smtClean="0">
                <a:cs typeface="Kalimati" panose="00000400000000000000" pitchFamily="2"/>
              </a:rPr>
              <a:t>, </a:t>
            </a:r>
            <a:r>
              <a:rPr lang="ne-NP" dirty="0" smtClean="0">
                <a:cs typeface="Kalimati" panose="00000400000000000000" pitchFamily="2"/>
              </a:rPr>
              <a:t>८६(३</a:t>
            </a:r>
            <a:r>
              <a:rPr lang="ne-NP" dirty="0">
                <a:cs typeface="Kalimati" panose="00000400000000000000" pitchFamily="2"/>
              </a:rPr>
              <a:t>) </a:t>
            </a:r>
            <a:endParaRPr lang="ne-NP" dirty="0" smtClean="0">
              <a:cs typeface="Kalimati" panose="00000400000000000000" pitchFamily="2"/>
            </a:endParaRPr>
          </a:p>
          <a:p>
            <a:pPr marL="457200" indent="-457200"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सरकारवादी मुद्दा फिर्ता</a:t>
            </a:r>
            <a:r>
              <a:rPr lang="en-US" dirty="0" smtClean="0">
                <a:cs typeface="Kalimati" panose="00000400000000000000" pitchFamily="2"/>
              </a:rPr>
              <a:t>- </a:t>
            </a:r>
            <a:r>
              <a:rPr lang="ne-NP" dirty="0">
                <a:cs typeface="Kalimati" panose="00000400000000000000" pitchFamily="2"/>
              </a:rPr>
              <a:t>मुफौकासं दफा </a:t>
            </a:r>
            <a:r>
              <a:rPr lang="ne-NP" dirty="0" smtClean="0">
                <a:cs typeface="Kalimati" panose="00000400000000000000" pitchFamily="2"/>
              </a:rPr>
              <a:t>११६</a:t>
            </a:r>
          </a:p>
        </p:txBody>
      </p:sp>
    </p:spTree>
    <p:extLst>
      <p:ext uri="{BB962C8B-B14F-4D97-AF65-F5344CB8AC3E}">
        <p14:creationId xmlns:p14="http://schemas.microsoft.com/office/powerpoint/2010/main" val="1598453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dirty="0" smtClean="0">
                <a:cs typeface="Kalimati" panose="00000400000000000000" pitchFamily="2"/>
              </a:rPr>
              <a:t>फौजदारी </a:t>
            </a:r>
            <a:r>
              <a:rPr lang="en-US" sz="3200" dirty="0" smtClean="0">
                <a:cs typeface="Kalimati" panose="00000400000000000000" pitchFamily="2"/>
              </a:rPr>
              <a:t>…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दुनियावादी मुद्दा </a:t>
            </a:r>
            <a:r>
              <a:rPr lang="ne-NP" dirty="0" smtClean="0">
                <a:cs typeface="Kalimati" panose="00000400000000000000" pitchFamily="2"/>
              </a:rPr>
              <a:t>फिर्ताः </a:t>
            </a:r>
            <a:r>
              <a:rPr lang="ne-NP" dirty="0">
                <a:cs typeface="Kalimati" panose="00000400000000000000" pitchFamily="2"/>
              </a:rPr>
              <a:t>मुफौकासं दफा</a:t>
            </a:r>
            <a:r>
              <a:rPr lang="ne-NP" dirty="0" smtClean="0">
                <a:cs typeface="Kalimati" panose="00000400000000000000" pitchFamily="2"/>
              </a:rPr>
              <a:t> </a:t>
            </a:r>
            <a:r>
              <a:rPr lang="ne-NP" dirty="0">
                <a:cs typeface="Kalimati" panose="00000400000000000000" pitchFamily="2"/>
              </a:rPr>
              <a:t>११६क</a:t>
            </a:r>
          </a:p>
          <a:p>
            <a:pPr marL="457200" indent="-457200"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मिलापत्रः </a:t>
            </a:r>
            <a:r>
              <a:rPr lang="ne-NP" dirty="0">
                <a:cs typeface="Kalimati" panose="00000400000000000000" pitchFamily="2"/>
              </a:rPr>
              <a:t>मुफौकासं दफा</a:t>
            </a:r>
            <a:r>
              <a:rPr lang="ne-NP" dirty="0" smtClean="0">
                <a:cs typeface="Kalimati" panose="00000400000000000000" pitchFamily="2"/>
              </a:rPr>
              <a:t> </a:t>
            </a:r>
            <a:r>
              <a:rPr lang="ne-NP" dirty="0">
                <a:cs typeface="Kalimati" panose="00000400000000000000" pitchFamily="2"/>
              </a:rPr>
              <a:t>११७ र ११८ (सरकारवादी</a:t>
            </a:r>
            <a:r>
              <a:rPr lang="en-US" dirty="0"/>
              <a:t>-</a:t>
            </a:r>
            <a:r>
              <a:rPr lang="ne-NP" dirty="0">
                <a:cs typeface="Kalimati" panose="00000400000000000000" pitchFamily="2"/>
              </a:rPr>
              <a:t> सर्वसाधारणको ठगी</a:t>
            </a:r>
            <a:r>
              <a:rPr lang="en-US" dirty="0"/>
              <a:t>,</a:t>
            </a:r>
            <a:r>
              <a:rPr lang="ne-NP" dirty="0">
                <a:cs typeface="Kalimati" panose="00000400000000000000" pitchFamily="2"/>
              </a:rPr>
              <a:t> अनुचित लेनदेन</a:t>
            </a:r>
            <a:r>
              <a:rPr lang="en-US" dirty="0"/>
              <a:t>,</a:t>
            </a:r>
            <a:r>
              <a:rPr lang="ne-NP" dirty="0">
                <a:cs typeface="Kalimati" panose="00000400000000000000" pitchFamily="2"/>
              </a:rPr>
              <a:t> सर्वसाधारणको सम्पत्ति हानी नोक्सानी</a:t>
            </a:r>
            <a:r>
              <a:rPr lang="en-US" dirty="0"/>
              <a:t>,</a:t>
            </a:r>
            <a:r>
              <a:rPr lang="ne-NP" dirty="0">
                <a:cs typeface="Kalimati" panose="00000400000000000000" pitchFamily="2"/>
              </a:rPr>
              <a:t> वैदेशिक रोजगार समेत) </a:t>
            </a:r>
            <a:endParaRPr lang="ne-NP" dirty="0" smtClean="0">
              <a:cs typeface="Kalimati" panose="00000400000000000000" pitchFamily="2"/>
            </a:endParaRPr>
          </a:p>
          <a:p>
            <a:pPr marL="457200" indent="-457200"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सरकारवादी मुद्दा फिर्ताः </a:t>
            </a:r>
            <a:r>
              <a:rPr lang="ne-NP" dirty="0">
                <a:cs typeface="Kalimati" panose="00000400000000000000" pitchFamily="2"/>
              </a:rPr>
              <a:t>मुफौकासं दफा </a:t>
            </a:r>
            <a:r>
              <a:rPr lang="ne-NP" dirty="0" smtClean="0">
                <a:cs typeface="Kalimati" panose="00000400000000000000" pitchFamily="2"/>
              </a:rPr>
              <a:t>११६</a:t>
            </a:r>
            <a:endParaRPr lang="ne-NP" dirty="0">
              <a:cs typeface="Kalimati" panose="00000400000000000000" pitchFamily="2"/>
            </a:endParaRPr>
          </a:p>
          <a:p>
            <a:pPr marL="457200" indent="-457200"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मुलतबीः </a:t>
            </a:r>
            <a:r>
              <a:rPr lang="ne-NP" dirty="0">
                <a:cs typeface="Kalimati" panose="00000400000000000000" pitchFamily="2"/>
              </a:rPr>
              <a:t>मुफौकासं दफा</a:t>
            </a:r>
            <a:r>
              <a:rPr lang="ne-NP" dirty="0" smtClean="0">
                <a:cs typeface="Kalimati" panose="00000400000000000000" pitchFamily="2"/>
              </a:rPr>
              <a:t> </a:t>
            </a:r>
            <a:r>
              <a:rPr lang="ne-NP" dirty="0">
                <a:cs typeface="Kalimati" panose="00000400000000000000" pitchFamily="2"/>
              </a:rPr>
              <a:t>९७</a:t>
            </a:r>
            <a:r>
              <a:rPr lang="en-US" dirty="0"/>
              <a:t>, </a:t>
            </a:r>
            <a:r>
              <a:rPr lang="ne-NP" dirty="0">
                <a:cs typeface="Kalimati" panose="00000400000000000000" pitchFamily="2"/>
              </a:rPr>
              <a:t>९८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20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dirty="0" smtClean="0">
                <a:cs typeface="Kalimati" panose="00000400000000000000" pitchFamily="2"/>
              </a:rPr>
              <a:t>देवानी मुद्दाको फैसलाको प्रकार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178" y="1816747"/>
            <a:ext cx="10515600" cy="435133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457200" indent="-457200"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हारजित फैसलाः मुदेकासं दफा १९७</a:t>
            </a:r>
          </a:p>
          <a:p>
            <a:pPr marL="457200" indent="-457200"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खारेजी फैसलाः मुदेकासं </a:t>
            </a:r>
            <a:r>
              <a:rPr lang="ne-NP" dirty="0">
                <a:cs typeface="Kalimati" panose="00000400000000000000" pitchFamily="2"/>
              </a:rPr>
              <a:t>दफा </a:t>
            </a:r>
            <a:r>
              <a:rPr lang="ne-NP" dirty="0" smtClean="0">
                <a:cs typeface="Kalimati" panose="00000400000000000000" pitchFamily="2"/>
              </a:rPr>
              <a:t>१३३ </a:t>
            </a:r>
          </a:p>
          <a:p>
            <a:pPr marL="457200" indent="-457200"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फिर्ता</a:t>
            </a:r>
            <a:r>
              <a:rPr lang="en-US" dirty="0" smtClean="0">
                <a:cs typeface="Kalimati" panose="00000400000000000000" pitchFamily="2"/>
              </a:rPr>
              <a:t>- </a:t>
            </a:r>
            <a:r>
              <a:rPr lang="ne-NP" dirty="0" smtClean="0">
                <a:cs typeface="Kalimati" panose="00000400000000000000" pitchFamily="2"/>
              </a:rPr>
              <a:t>मुदेकासं </a:t>
            </a:r>
            <a:r>
              <a:rPr lang="ne-NP" dirty="0">
                <a:cs typeface="Kalimati" panose="00000400000000000000" pitchFamily="2"/>
              </a:rPr>
              <a:t>दफा </a:t>
            </a:r>
            <a:r>
              <a:rPr lang="ne-NP" dirty="0" smtClean="0">
                <a:cs typeface="Kalimati" panose="00000400000000000000" pitchFamily="2"/>
              </a:rPr>
              <a:t>१९६</a:t>
            </a:r>
          </a:p>
        </p:txBody>
      </p:sp>
    </p:spTree>
    <p:extLst>
      <p:ext uri="{BB962C8B-B14F-4D97-AF65-F5344CB8AC3E}">
        <p14:creationId xmlns:p14="http://schemas.microsoft.com/office/powerpoint/2010/main" val="368686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फैसला लेखनसम्बन्धी ज्ञान र सीप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200000"/>
              </a:lnSpc>
            </a:pPr>
            <a:r>
              <a:rPr lang="ne-NP" smtClean="0">
                <a:cs typeface="Kalimati" panose="00000400000000000000" pitchFamily="2"/>
              </a:rPr>
              <a:t>तथ्यको ज्ञान</a:t>
            </a:r>
          </a:p>
          <a:p>
            <a:pPr marL="457200" indent="-457200">
              <a:lnSpc>
                <a:spcPct val="200000"/>
              </a:lnSpc>
            </a:pPr>
            <a:r>
              <a:rPr lang="ne-NP" smtClean="0">
                <a:cs typeface="Kalimati" panose="00000400000000000000" pitchFamily="2"/>
              </a:rPr>
              <a:t>कानूनको ज्ञान</a:t>
            </a:r>
          </a:p>
          <a:p>
            <a:pPr marL="457200" indent="-457200">
              <a:lnSpc>
                <a:spcPct val="200000"/>
              </a:lnSpc>
            </a:pPr>
            <a:r>
              <a:rPr lang="ne-NP" smtClean="0">
                <a:cs typeface="Kalimati" panose="00000400000000000000" pitchFamily="2"/>
              </a:rPr>
              <a:t>ढाँचाको ज्ञान</a:t>
            </a:r>
          </a:p>
          <a:p>
            <a:pPr marL="457200" indent="-457200">
              <a:lnSpc>
                <a:spcPct val="200000"/>
              </a:lnSpc>
            </a:pPr>
            <a:r>
              <a:rPr lang="ne-NP" smtClean="0">
                <a:cs typeface="Kalimati" panose="00000400000000000000" pitchFamily="2"/>
              </a:rPr>
              <a:t>वाक्य संयोजन क्षमता</a:t>
            </a:r>
          </a:p>
          <a:p>
            <a:pPr marL="457200" indent="-457200">
              <a:lnSpc>
                <a:spcPct val="200000"/>
              </a:lnSpc>
            </a:pPr>
            <a:r>
              <a:rPr lang="ne-NP" smtClean="0">
                <a:cs typeface="Kalimati" panose="00000400000000000000" pitchFamily="2"/>
              </a:rPr>
              <a:t>शब्दहरूको प्रयोगमा छनौट</a:t>
            </a:r>
          </a:p>
        </p:txBody>
      </p:sp>
    </p:spTree>
    <p:extLst>
      <p:ext uri="{BB962C8B-B14F-4D97-AF65-F5344CB8AC3E}">
        <p14:creationId xmlns:p14="http://schemas.microsoft.com/office/powerpoint/2010/main" val="2693850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ne-NP" smtClean="0">
                <a:cs typeface="Kalimati" panose="00000400000000000000" pitchFamily="2"/>
              </a:rPr>
              <a:t> </a:t>
            </a:r>
            <a:r>
              <a:rPr lang="ne-NP" sz="3200" smtClean="0">
                <a:cs typeface="Kalimati" panose="00000400000000000000" pitchFamily="2"/>
              </a:rPr>
              <a:t>ज्ञान र सीप</a:t>
            </a:r>
            <a:r>
              <a:rPr lang="en-US" sz="3200" smtClean="0">
                <a:cs typeface="Kalimati" panose="00000400000000000000" pitchFamily="2"/>
              </a:rPr>
              <a:t>…</a:t>
            </a:r>
            <a:endParaRPr lang="en-US" sz="320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सिर्जनशीलता</a:t>
            </a:r>
          </a:p>
          <a:p>
            <a:pPr marL="457200" indent="-457200"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अनुभव</a:t>
            </a:r>
            <a:endParaRPr lang="en-US"/>
          </a:p>
          <a:p>
            <a:pPr marL="457200" indent="-457200"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रुची</a:t>
            </a:r>
          </a:p>
          <a:p>
            <a:pPr marL="457200" indent="-457200"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विश्लेषण क्षमता</a:t>
            </a:r>
          </a:p>
          <a:p>
            <a:pPr marL="457200" indent="-457200"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व्यक्तिको प्राकृतिक स्वभाव</a:t>
            </a:r>
            <a:r>
              <a:rPr lang="en-US"/>
              <a:t>……</a:t>
            </a:r>
            <a:endParaRPr lang="ne-NP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8214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553" y="381000"/>
            <a:ext cx="9708775" cy="868362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फौजदारी मुद्दामा फैसलाको </a:t>
            </a:r>
            <a:r>
              <a:rPr lang="ne-NP" sz="3200" dirty="0">
                <a:cs typeface="Kalimati" panose="00000400000000000000" pitchFamily="2"/>
              </a:rPr>
              <a:t>ढाँचा</a:t>
            </a:r>
            <a:br>
              <a:rPr lang="ne-NP" sz="3200" dirty="0">
                <a:cs typeface="Kalimati" panose="00000400000000000000" pitchFamily="2"/>
              </a:rPr>
            </a:br>
            <a:r>
              <a:rPr lang="ne-NP" sz="1400" dirty="0">
                <a:cs typeface="Kalimati" panose="00000400000000000000" pitchFamily="2"/>
              </a:rPr>
              <a:t>                                      </a:t>
            </a:r>
            <a:endParaRPr lang="en-GB" sz="1400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553" y="1676401"/>
            <a:ext cx="9708775" cy="4449763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ne-NP" sz="2400">
                <a:cs typeface="Kalimati" panose="00000400000000000000" pitchFamily="2"/>
              </a:rPr>
              <a:t>जिल्ला अदालत नियमावली</a:t>
            </a:r>
            <a:r>
              <a:rPr lang="en-GB" sz="2400">
                <a:cs typeface="Kalimati" panose="00000400000000000000" pitchFamily="2"/>
              </a:rPr>
              <a:t>,</a:t>
            </a:r>
            <a:r>
              <a:rPr lang="ne-NP" sz="2400">
                <a:cs typeface="Kalimati" panose="00000400000000000000" pitchFamily="2"/>
              </a:rPr>
              <a:t> २०७५ को नियम ६७/ अनूसूची ५</a:t>
            </a:r>
          </a:p>
          <a:p>
            <a:pPr marL="457200" indent="-4572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ne-NP" sz="2400" smtClean="0">
                <a:cs typeface="Kalimati" panose="00000400000000000000" pitchFamily="2"/>
              </a:rPr>
              <a:t>मुफौकासं, </a:t>
            </a:r>
            <a:r>
              <a:rPr lang="ne-NP" sz="2400" dirty="0">
                <a:cs typeface="Kalimati" panose="00000400000000000000" pitchFamily="2"/>
              </a:rPr>
              <a:t>२०७४ को दफा १३१/अनुसूची ४३–  शुरु फैसला</a:t>
            </a:r>
          </a:p>
          <a:p>
            <a:pPr marL="457200" indent="-4572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ne-NP" sz="2400">
                <a:cs typeface="Kalimati" panose="00000400000000000000" pitchFamily="2"/>
              </a:rPr>
              <a:t>मुफौकासं, २०७४ </a:t>
            </a:r>
            <a:r>
              <a:rPr lang="ne-NP" sz="2400" dirty="0">
                <a:cs typeface="Kalimati" panose="00000400000000000000" pitchFamily="2"/>
              </a:rPr>
              <a:t>को दफा १५०/अनुसूची ४७/४८- पुनरावेदन  </a:t>
            </a:r>
          </a:p>
          <a:p>
            <a:pPr marL="457200" indent="-4572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ne-NP" sz="2400" smtClean="0">
                <a:cs typeface="Kalimati" panose="00000400000000000000" pitchFamily="2"/>
              </a:rPr>
              <a:t>बाल </a:t>
            </a:r>
            <a:r>
              <a:rPr lang="ne-NP" sz="2400" dirty="0">
                <a:cs typeface="Kalimati" panose="00000400000000000000" pitchFamily="2"/>
              </a:rPr>
              <a:t>न्याय सम्पादन (कार्यविधि) नियमावली</a:t>
            </a:r>
            <a:r>
              <a:rPr lang="en-GB" sz="2400" dirty="0">
                <a:cs typeface="Kalimati" panose="00000400000000000000" pitchFamily="2"/>
              </a:rPr>
              <a:t>,</a:t>
            </a:r>
            <a:r>
              <a:rPr lang="ne-NP" sz="2400" dirty="0">
                <a:cs typeface="Kalimati" panose="00000400000000000000" pitchFamily="2"/>
              </a:rPr>
              <a:t> २०७६ को अनुसूची -८</a:t>
            </a:r>
          </a:p>
          <a:p>
            <a:pPr marL="457200" indent="-4572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ne-NP" sz="2400" smtClean="0">
                <a:cs typeface="Kalimati" panose="00000400000000000000" pitchFamily="2"/>
              </a:rPr>
              <a:t>अन्य </a:t>
            </a:r>
            <a:r>
              <a:rPr lang="ne-NP" sz="2400" dirty="0">
                <a:cs typeface="Kalimati" panose="00000400000000000000" pitchFamily="2"/>
              </a:rPr>
              <a:t>अदालत र न्यायाधिकरणको नियमावलीमा </a:t>
            </a:r>
            <a:r>
              <a:rPr lang="ne-NP" sz="2400">
                <a:cs typeface="Kalimati" panose="00000400000000000000" pitchFamily="2"/>
              </a:rPr>
              <a:t>तोकिएको </a:t>
            </a:r>
            <a:r>
              <a:rPr lang="ne-NP" sz="2400" smtClean="0">
                <a:cs typeface="Kalimati" panose="00000400000000000000" pitchFamily="2"/>
              </a:rPr>
              <a:t>ढाँचा (जस्तै विशेष अदालत नियमावली २०८०</a:t>
            </a:r>
            <a:r>
              <a:rPr lang="en-US" sz="2400" smtClean="0">
                <a:cs typeface="Kalimati" panose="00000400000000000000" pitchFamily="2"/>
              </a:rPr>
              <a:t>,</a:t>
            </a:r>
            <a:r>
              <a:rPr lang="ne-NP" sz="2400" smtClean="0">
                <a:cs typeface="Kalimati" panose="00000400000000000000" pitchFamily="2"/>
              </a:rPr>
              <a:t> वैदेशिक रोजगार नियमावली २०६८)</a:t>
            </a:r>
            <a:endParaRPr lang="ne-NP" sz="2400" dirty="0">
              <a:cs typeface="Kalimati" panose="00000400000000000000" pitchFamily="2"/>
            </a:endParaRPr>
          </a:p>
          <a:p>
            <a:pPr>
              <a:buFont typeface="Wingdings" pitchFamily="2" charset="2"/>
              <a:buChar char="v"/>
            </a:pPr>
            <a:endParaRPr lang="ne-NP" sz="2000" dirty="0">
              <a:cs typeface="Kalimati" panose="00000400000000000000" pitchFamily="2"/>
            </a:endParaRPr>
          </a:p>
          <a:p>
            <a:pPr algn="ctr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624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ne-NP" sz="3600" dirty="0" smtClean="0">
                <a:cs typeface="Kalimati" panose="00000400000000000000" pitchFamily="2"/>
              </a:rPr>
              <a:t>देवानी फैसलाको ढाँचा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मुलुकी देवानी कार्यविधि संहिता २०७४ को अनुसूची </a:t>
            </a:r>
            <a:r>
              <a:rPr lang="ne-NP" dirty="0" smtClean="0">
                <a:cs typeface="Kalimati" panose="00000400000000000000" pitchFamily="2"/>
              </a:rPr>
              <a:t>१९ </a:t>
            </a:r>
          </a:p>
          <a:p>
            <a:pPr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मुलुकी देवानी कार्यविधि संहिता २०७४ को अनुसूची २३ </a:t>
            </a:r>
          </a:p>
          <a:p>
            <a:pPr>
              <a:lnSpc>
                <a:spcPct val="200000"/>
              </a:lnSpc>
            </a:pPr>
            <a:endParaRPr lang="ne-NP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021088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फैसलाका मुख्य खण्डहरू</a:t>
            </a:r>
            <a:endParaRPr lang="en-US" sz="320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शीर खण्ड</a:t>
            </a:r>
          </a:p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तथ्य </a:t>
            </a:r>
            <a:r>
              <a:rPr lang="ne-NP">
                <a:cs typeface="Kalimati" panose="00000400000000000000" pitchFamily="2"/>
              </a:rPr>
              <a:t>खण्ड</a:t>
            </a:r>
            <a:endParaRPr lang="ne-NP" smtClean="0">
              <a:cs typeface="Kalimati" panose="00000400000000000000" pitchFamily="2"/>
            </a:endParaRPr>
          </a:p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ठहर</a:t>
            </a:r>
            <a:r>
              <a:rPr lang="ne-NP">
                <a:cs typeface="Kalimati" panose="00000400000000000000" pitchFamily="2"/>
              </a:rPr>
              <a:t> खण्ड</a:t>
            </a:r>
            <a:endParaRPr lang="ne-NP" smtClean="0">
              <a:cs typeface="Kalimati" panose="00000400000000000000" pitchFamily="2"/>
            </a:endParaRPr>
          </a:p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तपसिल </a:t>
            </a:r>
            <a:r>
              <a:rPr lang="ne-NP">
                <a:cs typeface="Kalimati" panose="00000400000000000000" pitchFamily="2"/>
              </a:rPr>
              <a:t>खण्ड</a:t>
            </a:r>
            <a:endParaRPr lang="ne-NP" smtClean="0">
              <a:cs typeface="Kalimati" panose="00000400000000000000" pitchFamily="2"/>
            </a:endParaRPr>
          </a:p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हस्ताक्षर</a:t>
            </a:r>
            <a:r>
              <a:rPr lang="ne-NP">
                <a:cs typeface="Kalimati" panose="00000400000000000000" pitchFamily="2"/>
              </a:rPr>
              <a:t> खण्ड</a:t>
            </a:r>
            <a:endParaRPr lang="en-US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011019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>
                <a:cs typeface="Kalimati" panose="00000400000000000000" pitchFamily="2"/>
              </a:rPr>
              <a:t>शीर खण्ड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ne-NP" dirty="0">
                <a:cs typeface="Kalimati" panose="00000400000000000000" pitchFamily="2"/>
              </a:rPr>
              <a:t>अदालतको नाम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ne-NP" dirty="0">
                <a:cs typeface="Kalimati" panose="00000400000000000000" pitchFamily="2"/>
              </a:rPr>
              <a:t>इजलास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ne-NP" dirty="0">
                <a:cs typeface="Kalimati" panose="00000400000000000000" pitchFamily="2"/>
              </a:rPr>
              <a:t>न्यायाधीशको नाम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ne-NP" dirty="0">
                <a:cs typeface="Kalimati" panose="00000400000000000000" pitchFamily="2"/>
              </a:rPr>
              <a:t>मुद्दाको नम्बर र रजिष्ट्रेशन </a:t>
            </a:r>
            <a:r>
              <a:rPr lang="ne-NP" dirty="0" smtClean="0">
                <a:cs typeface="Kalimati" panose="00000400000000000000" pitchFamily="2"/>
              </a:rPr>
              <a:t>नम्बर</a:t>
            </a:r>
            <a:endParaRPr lang="ne-NP" dirty="0">
              <a:cs typeface="Kalimati" panose="00000400000000000000" pitchFamily="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ne-NP" dirty="0">
                <a:cs typeface="Kalimati" panose="00000400000000000000" pitchFamily="2"/>
              </a:rPr>
              <a:t>निर्णय </a:t>
            </a:r>
            <a:r>
              <a:rPr lang="ne-NP" dirty="0" smtClean="0">
                <a:cs typeface="Kalimati" panose="00000400000000000000" pitchFamily="2"/>
              </a:rPr>
              <a:t>नम्बर</a:t>
            </a:r>
            <a:endParaRPr lang="ne-NP" dirty="0">
              <a:cs typeface="Kalimati" panose="00000400000000000000" pitchFamily="2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ne-NP">
                <a:cs typeface="Kalimati" panose="00000400000000000000" pitchFamily="2"/>
              </a:rPr>
              <a:t>वादी प्रतिवादीको नाम </a:t>
            </a:r>
          </a:p>
          <a:p>
            <a:pPr marL="457200" indent="-457200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ne-NP">
                <a:cs typeface="Kalimati" panose="00000400000000000000" pitchFamily="2"/>
              </a:rPr>
              <a:t>मुद्दाको नाम</a:t>
            </a:r>
          </a:p>
          <a:p>
            <a:pPr marL="457200" indent="-457200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ne-NP">
                <a:cs typeface="Kalimati" panose="00000400000000000000" pitchFamily="2"/>
              </a:rPr>
              <a:t>वादी प्रतिवादीका प्रमाण (साक्षी र लिखत प्रमाण)</a:t>
            </a:r>
          </a:p>
          <a:p>
            <a:pPr marL="457200" indent="-457200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ne-NP">
                <a:cs typeface="Kalimati" panose="00000400000000000000" pitchFamily="2"/>
              </a:rPr>
              <a:t>अदालतबाट बुझिएका प्रमाण </a:t>
            </a:r>
          </a:p>
          <a:p>
            <a:pPr marL="457200" indent="-457200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ne-NP">
                <a:cs typeface="Kalimati" panose="00000400000000000000" pitchFamily="2"/>
              </a:rPr>
              <a:t>क्षेत्राधिकार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64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765" y="274638"/>
            <a:ext cx="9843247" cy="715962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2800" smtClean="0">
                <a:cs typeface="Kalimati" panose="00000400000000000000" pitchFamily="2"/>
              </a:rPr>
              <a:t>सरकारवादी फौजदारी</a:t>
            </a:r>
            <a:r>
              <a:rPr lang="ne-NP" sz="2800">
                <a:cs typeface="Kalimati" panose="00000400000000000000" pitchFamily="2"/>
              </a:rPr>
              <a:t> </a:t>
            </a:r>
            <a:r>
              <a:rPr lang="ne-NP" sz="2800" smtClean="0">
                <a:cs typeface="Kalimati" panose="00000400000000000000" pitchFamily="2"/>
              </a:rPr>
              <a:t>मुद्दाको तथ्य खण्ड</a:t>
            </a:r>
            <a:endParaRPr lang="en-GB" sz="2800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765" y="1524001"/>
            <a:ext cx="9843247" cy="4602163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जाहेरी</a:t>
            </a:r>
            <a:r>
              <a:rPr lang="en-US" smtClean="0">
                <a:cs typeface="Kalimati" panose="00000400000000000000" pitchFamily="2"/>
              </a:rPr>
              <a:t>, </a:t>
            </a:r>
            <a:r>
              <a:rPr lang="ne-NP" smtClean="0">
                <a:cs typeface="Kalimati" panose="00000400000000000000" pitchFamily="2"/>
              </a:rPr>
              <a:t>पत्र</a:t>
            </a:r>
            <a:r>
              <a:rPr lang="en-US" smtClean="0">
                <a:cs typeface="Kalimati" panose="00000400000000000000" pitchFamily="2"/>
              </a:rPr>
              <a:t>, </a:t>
            </a:r>
            <a:r>
              <a:rPr lang="ne-NP" smtClean="0">
                <a:cs typeface="Kalimati" panose="00000400000000000000" pitchFamily="2"/>
              </a:rPr>
              <a:t>प्रतिवेदन </a:t>
            </a:r>
            <a:endParaRPr lang="ne-NP">
              <a:cs typeface="Kalimati" panose="00000400000000000000" pitchFamily="2"/>
            </a:endParaRPr>
          </a:p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मुचुल्काहरूः घटनास्थल</a:t>
            </a:r>
            <a:r>
              <a:rPr lang="en-US" smtClean="0">
                <a:cs typeface="Kalimati" panose="00000400000000000000" pitchFamily="2"/>
              </a:rPr>
              <a:t>, </a:t>
            </a:r>
            <a:r>
              <a:rPr lang="ne-NP" smtClean="0">
                <a:cs typeface="Kalimati" panose="00000400000000000000" pitchFamily="2"/>
              </a:rPr>
              <a:t>खानतलासी</a:t>
            </a:r>
            <a:r>
              <a:rPr lang="en-GB">
                <a:cs typeface="Kalimati" panose="00000400000000000000" pitchFamily="2"/>
              </a:rPr>
              <a:t>,</a:t>
            </a:r>
            <a:r>
              <a:rPr lang="ne-NP">
                <a:cs typeface="Kalimati" panose="00000400000000000000" pitchFamily="2"/>
              </a:rPr>
              <a:t> </a:t>
            </a:r>
            <a:r>
              <a:rPr lang="ne-NP" smtClean="0">
                <a:cs typeface="Kalimati" panose="00000400000000000000" pitchFamily="2"/>
              </a:rPr>
              <a:t>वरामदी</a:t>
            </a:r>
            <a:endParaRPr lang="ne-NP" dirty="0">
              <a:cs typeface="Kalimati" panose="00000400000000000000" pitchFamily="2"/>
            </a:endParaRPr>
          </a:p>
          <a:p>
            <a:pPr marL="457200" indent="-457200">
              <a:lnSpc>
                <a:spcPct val="150000"/>
              </a:lnSpc>
            </a:pPr>
            <a:r>
              <a:rPr lang="ne-NP">
                <a:cs typeface="Kalimati" panose="00000400000000000000" pitchFamily="2"/>
              </a:rPr>
              <a:t>सनाखत </a:t>
            </a:r>
            <a:r>
              <a:rPr lang="ne-NP" smtClean="0">
                <a:cs typeface="Kalimati" panose="00000400000000000000" pitchFamily="2"/>
              </a:rPr>
              <a:t>कागज </a:t>
            </a:r>
          </a:p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अनुसन्धानका </a:t>
            </a:r>
            <a:r>
              <a:rPr lang="ne-NP" dirty="0">
                <a:cs typeface="Kalimati" panose="00000400000000000000" pitchFamily="2"/>
              </a:rPr>
              <a:t>क्रममा भएको प्रतिवादीको बयान</a:t>
            </a:r>
          </a:p>
          <a:p>
            <a:pPr marL="457200" indent="-457200">
              <a:lnSpc>
                <a:spcPct val="150000"/>
              </a:lnSpc>
            </a:pPr>
            <a:r>
              <a:rPr lang="ne-NP" dirty="0">
                <a:cs typeface="Kalimati" panose="00000400000000000000" pitchFamily="2"/>
              </a:rPr>
              <a:t>कुनै चिज वस्तु वा </a:t>
            </a:r>
            <a:r>
              <a:rPr lang="ne-NP">
                <a:cs typeface="Kalimati" panose="00000400000000000000" pitchFamily="2"/>
              </a:rPr>
              <a:t>शारिरीक </a:t>
            </a:r>
            <a:r>
              <a:rPr lang="ne-NP" smtClean="0">
                <a:cs typeface="Kalimati" panose="00000400000000000000" pitchFamily="2"/>
              </a:rPr>
              <a:t>परीक्षण </a:t>
            </a:r>
            <a:r>
              <a:rPr lang="ne-NP" dirty="0">
                <a:cs typeface="Kalimati" panose="00000400000000000000" pitchFamily="2"/>
              </a:rPr>
              <a:t>गरिएको भए </a:t>
            </a:r>
            <a:r>
              <a:rPr lang="ne-NP">
                <a:cs typeface="Kalimati" panose="00000400000000000000" pitchFamily="2"/>
              </a:rPr>
              <a:t>सो </a:t>
            </a:r>
            <a:r>
              <a:rPr lang="ne-NP" smtClean="0">
                <a:cs typeface="Kalimati" panose="00000400000000000000" pitchFamily="2"/>
              </a:rPr>
              <a:t>को प्रतिवेदन</a:t>
            </a:r>
            <a:endParaRPr lang="ne-NP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625736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>
                <a:cs typeface="Kalimati" panose="00000400000000000000" pitchFamily="2"/>
              </a:rPr>
              <a:t>तथ्य खण्ड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50000"/>
              </a:lnSpc>
            </a:pPr>
            <a:r>
              <a:rPr lang="ne-NP">
                <a:cs typeface="Kalimati" panose="00000400000000000000" pitchFamily="2"/>
              </a:rPr>
              <a:t>प्रमाण स्वरुप संकलित कागज विवरण</a:t>
            </a:r>
          </a:p>
          <a:p>
            <a:pPr marL="457200" indent="-457200">
              <a:lnSpc>
                <a:spcPct val="150000"/>
              </a:lnSpc>
            </a:pPr>
            <a:r>
              <a:rPr lang="ne-NP">
                <a:cs typeface="Kalimati" panose="00000400000000000000" pitchFamily="2"/>
              </a:rPr>
              <a:t>अभियोग माग दावी</a:t>
            </a:r>
          </a:p>
          <a:p>
            <a:pPr marL="457200" indent="-457200">
              <a:lnSpc>
                <a:spcPct val="150000"/>
              </a:lnSpc>
            </a:pPr>
            <a:r>
              <a:rPr lang="ne-NP">
                <a:cs typeface="Kalimati" panose="00000400000000000000" pitchFamily="2"/>
              </a:rPr>
              <a:t>अदालतमा भएको प्रतिवादीको वयान</a:t>
            </a:r>
          </a:p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अदालतका आदेशहरू</a:t>
            </a:r>
            <a:endParaRPr lang="en-US">
              <a:cs typeface="Kalimati" panose="00000400000000000000" pitchFamily="2"/>
            </a:endParaRPr>
          </a:p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बकपत्र</a:t>
            </a:r>
            <a:r>
              <a:rPr lang="en-US" smtClean="0">
                <a:cs typeface="Kalimati" panose="00000400000000000000" pitchFamily="2"/>
              </a:rPr>
              <a:t>, </a:t>
            </a:r>
            <a:r>
              <a:rPr lang="ne-NP" smtClean="0">
                <a:cs typeface="Kalimati" panose="00000400000000000000" pitchFamily="2"/>
              </a:rPr>
              <a:t>दशी प्रमाण</a:t>
            </a:r>
            <a:r>
              <a:rPr lang="en-US" smtClean="0">
                <a:cs typeface="Kalimati" panose="00000400000000000000" pitchFamily="2"/>
              </a:rPr>
              <a:t>,</a:t>
            </a:r>
            <a:r>
              <a:rPr lang="ne-NP" smtClean="0">
                <a:cs typeface="Kalimati" panose="00000400000000000000" pitchFamily="2"/>
              </a:rPr>
              <a:t> </a:t>
            </a:r>
            <a:r>
              <a:rPr lang="ne-NP">
                <a:cs typeface="Kalimati" panose="00000400000000000000" pitchFamily="2"/>
              </a:rPr>
              <a:t>अन्य संकलित </a:t>
            </a:r>
            <a:r>
              <a:rPr lang="ne-NP" smtClean="0">
                <a:cs typeface="Kalimati" panose="00000400000000000000" pitchFamily="2"/>
              </a:rPr>
              <a:t>प्रमाण</a:t>
            </a:r>
            <a:r>
              <a:rPr lang="en-US" smtClean="0">
                <a:cs typeface="Kalimati" panose="00000400000000000000" pitchFamily="2"/>
              </a:rPr>
              <a:t>, </a:t>
            </a:r>
            <a:r>
              <a:rPr lang="ne-NP" smtClean="0">
                <a:cs typeface="Kalimati" panose="00000400000000000000" pitchFamily="2"/>
              </a:rPr>
              <a:t>प्रमाण मिसिल</a:t>
            </a:r>
            <a:r>
              <a:rPr lang="en-US" smtClean="0">
                <a:cs typeface="Kalimati" panose="00000400000000000000" pitchFamily="2"/>
              </a:rPr>
              <a:t>,</a:t>
            </a:r>
            <a:r>
              <a:rPr lang="ne-NP" smtClean="0">
                <a:cs typeface="Kalimati" panose="00000400000000000000" pitchFamily="2"/>
              </a:rPr>
              <a:t> लगाउ मुद्दा</a:t>
            </a:r>
            <a:r>
              <a:rPr lang="en-US" smtClean="0">
                <a:cs typeface="Kalimati" panose="00000400000000000000" pitchFamily="2"/>
              </a:rPr>
              <a:t>,</a:t>
            </a:r>
            <a:r>
              <a:rPr lang="ne-NP" smtClean="0">
                <a:cs typeface="Kalimati" panose="00000400000000000000" pitchFamily="2"/>
              </a:rPr>
              <a:t> प्रमाण लाग्ने पत्राचार</a:t>
            </a:r>
            <a:endParaRPr lang="ne-NP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70868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dirty="0" smtClean="0">
                <a:cs typeface="Kalimati" panose="00000400000000000000" pitchFamily="2"/>
              </a:rPr>
              <a:t>देवानी मुद्दाको </a:t>
            </a:r>
            <a:r>
              <a:rPr lang="ne-NP" sz="3200" dirty="0">
                <a:cs typeface="Kalimati" panose="00000400000000000000" pitchFamily="2"/>
              </a:rPr>
              <a:t>तथ्य खण्ड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ne-NP" sz="2400" dirty="0" smtClean="0">
                <a:cs typeface="Kalimati" panose="00000400000000000000" pitchFamily="2"/>
              </a:rPr>
              <a:t>फिराद</a:t>
            </a:r>
            <a:r>
              <a:rPr lang="en-US" sz="2400" dirty="0" smtClean="0">
                <a:cs typeface="Kalimati" panose="00000400000000000000" pitchFamily="2"/>
              </a:rPr>
              <a:t>/</a:t>
            </a:r>
            <a:r>
              <a:rPr lang="ne-NP" sz="2400" dirty="0" smtClean="0">
                <a:cs typeface="Kalimati" panose="00000400000000000000" pitchFamily="2"/>
              </a:rPr>
              <a:t> उजुरीको बेहोरा</a:t>
            </a:r>
          </a:p>
          <a:p>
            <a:pPr>
              <a:lnSpc>
                <a:spcPct val="150000"/>
              </a:lnSpc>
            </a:pPr>
            <a:r>
              <a:rPr lang="ne-NP" sz="2400" dirty="0" smtClean="0">
                <a:cs typeface="Kalimati" panose="00000400000000000000" pitchFamily="2"/>
              </a:rPr>
              <a:t>प्रतिउत्तरपत्रको बेहोरा</a:t>
            </a:r>
            <a:r>
              <a:rPr lang="en-US" sz="2400" dirty="0" smtClean="0">
                <a:cs typeface="Kalimati" panose="00000400000000000000" pitchFamily="2"/>
              </a:rPr>
              <a:t>/</a:t>
            </a:r>
            <a:r>
              <a:rPr lang="ne-NP" sz="2400" dirty="0" smtClean="0">
                <a:cs typeface="Kalimati" panose="00000400000000000000" pitchFamily="2"/>
              </a:rPr>
              <a:t> प्रतिदावी भए सोको बेहोरा</a:t>
            </a:r>
          </a:p>
          <a:p>
            <a:pPr>
              <a:lnSpc>
                <a:spcPct val="150000"/>
              </a:lnSpc>
            </a:pPr>
            <a:r>
              <a:rPr lang="ne-NP" sz="2400" dirty="0" smtClean="0">
                <a:cs typeface="Kalimati" panose="00000400000000000000" pitchFamily="2"/>
              </a:rPr>
              <a:t>अदालतका आदेशहरू</a:t>
            </a:r>
            <a:r>
              <a:rPr lang="en-US" sz="2400" dirty="0" smtClean="0">
                <a:cs typeface="Kalimati" panose="00000400000000000000" pitchFamily="2"/>
              </a:rPr>
              <a:t>/</a:t>
            </a:r>
            <a:r>
              <a:rPr lang="ne-NP" sz="2400" dirty="0" smtClean="0">
                <a:cs typeface="Kalimati" panose="00000400000000000000" pitchFamily="2"/>
              </a:rPr>
              <a:t> पत्राचारहरू</a:t>
            </a:r>
          </a:p>
          <a:p>
            <a:pPr>
              <a:lnSpc>
                <a:spcPct val="150000"/>
              </a:lnSpc>
            </a:pPr>
            <a:r>
              <a:rPr lang="ne-NP" sz="2400" dirty="0" smtClean="0">
                <a:cs typeface="Kalimati" panose="00000400000000000000" pitchFamily="2"/>
              </a:rPr>
              <a:t>लिखत प्रमाण</a:t>
            </a:r>
            <a:r>
              <a:rPr lang="en-US" sz="2400" dirty="0" smtClean="0">
                <a:cs typeface="Kalimati" panose="00000400000000000000" pitchFamily="2"/>
              </a:rPr>
              <a:t> / </a:t>
            </a:r>
            <a:r>
              <a:rPr lang="ne-NP" sz="2400" dirty="0" smtClean="0">
                <a:cs typeface="Kalimati" panose="00000400000000000000" pitchFamily="2"/>
              </a:rPr>
              <a:t>प्रमाण मिसिल</a:t>
            </a:r>
          </a:p>
          <a:p>
            <a:pPr>
              <a:lnSpc>
                <a:spcPct val="150000"/>
              </a:lnSpc>
            </a:pPr>
            <a:r>
              <a:rPr lang="ne-NP" sz="2400" dirty="0" smtClean="0">
                <a:cs typeface="Kalimati" panose="00000400000000000000" pitchFamily="2"/>
              </a:rPr>
              <a:t>नाप नक्सा मुचुल्का</a:t>
            </a:r>
            <a:r>
              <a:rPr lang="en-US" sz="2400" dirty="0" smtClean="0">
                <a:cs typeface="Kalimati" panose="00000400000000000000" pitchFamily="2"/>
              </a:rPr>
              <a:t>/</a:t>
            </a:r>
            <a:r>
              <a:rPr lang="ne-NP" sz="2400" dirty="0" smtClean="0">
                <a:cs typeface="Kalimati" panose="00000400000000000000" pitchFamily="2"/>
              </a:rPr>
              <a:t> सरजमिन</a:t>
            </a:r>
          </a:p>
          <a:p>
            <a:pPr>
              <a:lnSpc>
                <a:spcPct val="150000"/>
              </a:lnSpc>
            </a:pPr>
            <a:r>
              <a:rPr lang="ne-NP" sz="2400" dirty="0" smtClean="0">
                <a:cs typeface="Kalimati" panose="00000400000000000000" pitchFamily="2"/>
              </a:rPr>
              <a:t>बकपत्र</a:t>
            </a:r>
          </a:p>
          <a:p>
            <a:pPr>
              <a:lnSpc>
                <a:spcPct val="150000"/>
              </a:lnSpc>
            </a:pPr>
            <a:r>
              <a:rPr lang="ne-NP" sz="2400" dirty="0" smtClean="0">
                <a:cs typeface="Kalimati" panose="00000400000000000000" pitchFamily="2"/>
              </a:rPr>
              <a:t>लगाउका मुद्दा</a:t>
            </a:r>
          </a:p>
          <a:p>
            <a:endParaRPr lang="ne-NP" dirty="0" smtClean="0">
              <a:cs typeface="Kalimati" panose="00000400000000000000" pitchFamily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95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dirty="0" smtClean="0">
                <a:cs typeface="Kalimati" panose="00000400000000000000" pitchFamily="2"/>
              </a:rPr>
              <a:t>फैसला लेखनको तयारी</a:t>
            </a:r>
            <a:endParaRPr lang="en-US" sz="3200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2500" lnSpcReduction="10000"/>
          </a:bodyPr>
          <a:lstStyle/>
          <a:p>
            <a:pPr lvl="1"/>
            <a:endParaRPr lang="ne-NP" dirty="0" smtClean="0"/>
          </a:p>
          <a:p>
            <a:r>
              <a:rPr lang="ne-NP" dirty="0" smtClean="0">
                <a:cs typeface="Kalimati" panose="00000400000000000000" pitchFamily="2"/>
              </a:rPr>
              <a:t>टिपोट कितावको व्यवस्थापन</a:t>
            </a:r>
          </a:p>
          <a:p>
            <a:pPr lvl="1"/>
            <a:r>
              <a:rPr lang="ne-NP" dirty="0">
                <a:cs typeface="Kalimati" panose="00000400000000000000" pitchFamily="2"/>
              </a:rPr>
              <a:t>मुद्दा र पक्षको </a:t>
            </a:r>
            <a:r>
              <a:rPr lang="ne-NP" dirty="0" smtClean="0">
                <a:cs typeface="Kalimati" panose="00000400000000000000" pitchFamily="2"/>
              </a:rPr>
              <a:t>विवरण</a:t>
            </a:r>
            <a:endParaRPr lang="ne-NP" dirty="0">
              <a:cs typeface="Kalimati" panose="00000400000000000000" pitchFamily="2"/>
            </a:endParaRPr>
          </a:p>
          <a:p>
            <a:pPr lvl="1"/>
            <a:r>
              <a:rPr lang="ne-NP" dirty="0">
                <a:cs typeface="Kalimati" panose="00000400000000000000" pitchFamily="2"/>
              </a:rPr>
              <a:t>कानून व्यवसायीको नाम</a:t>
            </a:r>
          </a:p>
          <a:p>
            <a:pPr lvl="1"/>
            <a:r>
              <a:rPr lang="ne-NP" dirty="0">
                <a:cs typeface="Kalimati" panose="00000400000000000000" pitchFamily="2"/>
              </a:rPr>
              <a:t>दुई पक्षको माग वा जिकिर</a:t>
            </a:r>
          </a:p>
          <a:p>
            <a:pPr lvl="1"/>
            <a:r>
              <a:rPr lang="ne-NP" dirty="0">
                <a:cs typeface="Kalimati" panose="00000400000000000000" pitchFamily="2"/>
              </a:rPr>
              <a:t>सम्बद्ध कानून</a:t>
            </a:r>
          </a:p>
          <a:p>
            <a:pPr lvl="1"/>
            <a:r>
              <a:rPr lang="ne-NP" dirty="0">
                <a:cs typeface="Kalimati" panose="00000400000000000000" pitchFamily="2"/>
              </a:rPr>
              <a:t>मुख्य प्रमाण</a:t>
            </a:r>
          </a:p>
          <a:p>
            <a:pPr lvl="1"/>
            <a:r>
              <a:rPr lang="ne-NP" dirty="0">
                <a:cs typeface="Kalimati" panose="00000400000000000000" pitchFamily="2"/>
              </a:rPr>
              <a:t>ठहरका </a:t>
            </a:r>
            <a:r>
              <a:rPr lang="ne-NP" dirty="0" smtClean="0">
                <a:cs typeface="Kalimati" panose="00000400000000000000" pitchFamily="2"/>
              </a:rPr>
              <a:t>आधारहरू</a:t>
            </a:r>
            <a:r>
              <a:rPr lang="en-US" dirty="0" smtClean="0">
                <a:cs typeface="Kalimati" panose="00000400000000000000" pitchFamily="2"/>
              </a:rPr>
              <a:t> </a:t>
            </a:r>
            <a:r>
              <a:rPr lang="ne-NP" dirty="0" smtClean="0">
                <a:cs typeface="Kalimati" panose="00000400000000000000" pitchFamily="2"/>
              </a:rPr>
              <a:t>कि पूर्ण </a:t>
            </a:r>
            <a:r>
              <a:rPr lang="ne-NP" dirty="0">
                <a:cs typeface="Kalimati" panose="00000400000000000000" pitchFamily="2"/>
              </a:rPr>
              <a:t>पाठ</a:t>
            </a:r>
            <a:r>
              <a:rPr lang="en-US" dirty="0" smtClean="0">
                <a:cs typeface="Kalimati" panose="00000400000000000000" pitchFamily="2"/>
              </a:rPr>
              <a:t>?</a:t>
            </a:r>
          </a:p>
          <a:p>
            <a:r>
              <a:rPr lang="ne-NP" dirty="0" smtClean="0">
                <a:cs typeface="Kalimati" panose="00000400000000000000" pitchFamily="2"/>
              </a:rPr>
              <a:t>राय किताब</a:t>
            </a:r>
          </a:p>
          <a:p>
            <a:pPr lvl="1"/>
            <a:r>
              <a:rPr lang="ne-NP" dirty="0" smtClean="0">
                <a:cs typeface="Kalimati" panose="00000400000000000000" pitchFamily="2"/>
              </a:rPr>
              <a:t>कति लेख्ने </a:t>
            </a:r>
          </a:p>
          <a:p>
            <a:pPr lvl="1"/>
            <a:r>
              <a:rPr lang="ne-NP" dirty="0" smtClean="0">
                <a:cs typeface="Kalimati" panose="00000400000000000000" pitchFamily="2"/>
              </a:rPr>
              <a:t>छोटो लेख्दा पनि अनिवार्य कुराहरू नछुटाउने</a:t>
            </a:r>
          </a:p>
          <a:p>
            <a:pPr lvl="1"/>
            <a:r>
              <a:rPr lang="ne-NP" dirty="0" smtClean="0">
                <a:cs typeface="Kalimati" panose="00000400000000000000" pitchFamily="2"/>
              </a:rPr>
              <a:t>पूर्ण पाठ</a:t>
            </a:r>
            <a:r>
              <a:rPr lang="en-US" dirty="0" smtClean="0">
                <a:cs typeface="Kalimati" panose="00000400000000000000" pitchFamily="2"/>
              </a:rPr>
              <a:t>?</a:t>
            </a:r>
            <a:endParaRPr lang="ne-NP" dirty="0" smtClean="0">
              <a:cs typeface="Kalimati" panose="00000400000000000000" pitchFamily="2"/>
            </a:endParaRPr>
          </a:p>
          <a:p>
            <a:endParaRPr lang="ne-NP" dirty="0" smtClean="0"/>
          </a:p>
          <a:p>
            <a:pPr lvl="1"/>
            <a:endParaRPr lang="ne-NP" dirty="0" smtClean="0"/>
          </a:p>
        </p:txBody>
      </p:sp>
    </p:spTree>
    <p:extLst>
      <p:ext uri="{BB962C8B-B14F-4D97-AF65-F5344CB8AC3E}">
        <p14:creationId xmlns:p14="http://schemas.microsoft.com/office/powerpoint/2010/main" val="3093322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ne-NP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टिपोट </a:t>
            </a:r>
            <a:r>
              <a:rPr lang="ne-NP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खण्डः </a:t>
            </a:r>
            <a:r>
              <a:rPr lang="ne-NP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ध्यान दिनुपर्ने कुराहरू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32000"/>
              </a:lnSpc>
              <a:spcBef>
                <a:spcPts val="600"/>
              </a:spcBef>
            </a:pPr>
            <a:r>
              <a:rPr lang="ne-NP" sz="2400" b="1" dirty="0" smtClean="0">
                <a:cs typeface="Kalimati" panose="00000400000000000000" pitchFamily="2"/>
              </a:rPr>
              <a:t>ढाँचाः मुख्य कुराहरू नछुटाउने</a:t>
            </a:r>
            <a:r>
              <a:rPr lang="ne-NP" sz="2400" b="1" dirty="0">
                <a:cs typeface="Kalimati" panose="00000400000000000000" pitchFamily="2"/>
              </a:rPr>
              <a:t>।</a:t>
            </a:r>
            <a:endParaRPr lang="ne-NP" sz="2400" b="1" dirty="0" smtClean="0">
              <a:cs typeface="Kalimati" panose="00000400000000000000" pitchFamily="2"/>
            </a:endParaRPr>
          </a:p>
          <a:p>
            <a:pPr>
              <a:lnSpc>
                <a:spcPct val="132000"/>
              </a:lnSpc>
              <a:spcBef>
                <a:spcPts val="600"/>
              </a:spcBef>
            </a:pPr>
            <a:r>
              <a:rPr lang="ne-NP" sz="2400" b="1" dirty="0" smtClean="0">
                <a:cs typeface="Kalimati" panose="00000400000000000000" pitchFamily="2"/>
              </a:rPr>
              <a:t>मुख्य तथ्यहरूः लामो हुनु आवश्यक छैन। खासगरी ठहर खण्डसँग सम्बद्ध विषय छुट्नु हुँदैन र तथ्यबाट मुद्दाको घटना </a:t>
            </a:r>
            <a:r>
              <a:rPr lang="ne-NP" sz="2400" b="1" dirty="0" smtClean="0">
                <a:cs typeface="Kalimati" panose="00000400000000000000" pitchFamily="2"/>
              </a:rPr>
              <a:t>र प्रमाण बुझिनु </a:t>
            </a:r>
            <a:r>
              <a:rPr lang="ne-NP" sz="2400" b="1" dirty="0" smtClean="0">
                <a:cs typeface="Kalimati" panose="00000400000000000000" pitchFamily="2"/>
              </a:rPr>
              <a:t>पर्छ</a:t>
            </a:r>
            <a:r>
              <a:rPr lang="ne-NP" sz="2400" b="1" dirty="0">
                <a:cs typeface="Kalimati" panose="00000400000000000000" pitchFamily="2"/>
              </a:rPr>
              <a:t>।</a:t>
            </a:r>
          </a:p>
          <a:p>
            <a:pPr>
              <a:lnSpc>
                <a:spcPct val="132000"/>
              </a:lnSpc>
              <a:spcBef>
                <a:spcPts val="600"/>
              </a:spcBef>
            </a:pPr>
            <a:r>
              <a:rPr lang="ne-NP" sz="2400" b="1" dirty="0" smtClean="0">
                <a:cs typeface="Kalimati" panose="00000400000000000000" pitchFamily="2"/>
              </a:rPr>
              <a:t>तथ्यको विषयलाई सानो शीर्षक बनाएर गाढा अक्षरमा लेख्न सकिन्छ।</a:t>
            </a:r>
          </a:p>
          <a:p>
            <a:pPr>
              <a:lnSpc>
                <a:spcPct val="132000"/>
              </a:lnSpc>
              <a:spcBef>
                <a:spcPts val="600"/>
              </a:spcBef>
            </a:pPr>
            <a:r>
              <a:rPr lang="ne-NP" sz="2400" b="1" dirty="0" smtClean="0">
                <a:cs typeface="Kalimati" panose="00000400000000000000" pitchFamily="2"/>
              </a:rPr>
              <a:t>कागजको मिति</a:t>
            </a:r>
            <a:r>
              <a:rPr lang="en-US" sz="2400" b="1" dirty="0" smtClean="0"/>
              <a:t>,</a:t>
            </a:r>
            <a:r>
              <a:rPr lang="ne-NP" sz="2400" b="1" dirty="0" smtClean="0">
                <a:cs typeface="Kalimati" panose="00000400000000000000" pitchFamily="2"/>
              </a:rPr>
              <a:t> कार्यालयको नाम आदि खुलाउनु राम्रो हुन्छ।</a:t>
            </a:r>
          </a:p>
          <a:p>
            <a:pPr>
              <a:lnSpc>
                <a:spcPct val="132000"/>
              </a:lnSpc>
              <a:spcBef>
                <a:spcPts val="600"/>
              </a:spcBef>
            </a:pPr>
            <a:r>
              <a:rPr lang="ne-NP" sz="2400" b="1" dirty="0" smtClean="0">
                <a:cs typeface="Kalimati" panose="00000400000000000000" pitchFamily="2"/>
              </a:rPr>
              <a:t>लगाउका मुद्दाको नं</a:t>
            </a:r>
            <a:r>
              <a:rPr lang="en-US" sz="2400" b="1" dirty="0" smtClean="0">
                <a:cs typeface="Kalimati" panose="00000400000000000000" pitchFamily="2"/>
              </a:rPr>
              <a:t>.</a:t>
            </a:r>
            <a:r>
              <a:rPr lang="ne-NP" sz="2400" b="1" dirty="0" smtClean="0">
                <a:cs typeface="Kalimati" panose="00000400000000000000" pitchFamily="2"/>
              </a:rPr>
              <a:t> तथा बुझिएका प्रमाण मिसिलको उल्लेख गर्नुपर्छ।</a:t>
            </a:r>
          </a:p>
          <a:p>
            <a:pPr>
              <a:lnSpc>
                <a:spcPct val="132000"/>
              </a:lnSpc>
              <a:spcBef>
                <a:spcPts val="600"/>
              </a:spcBef>
            </a:pPr>
            <a:r>
              <a:rPr lang="ne-NP" sz="2400" b="1" dirty="0" smtClean="0">
                <a:cs typeface="Kalimati" panose="00000400000000000000" pitchFamily="2"/>
              </a:rPr>
              <a:t>पुनरावेदन तहबाट प्रमाण बुझिएको भए सो कुरा लेख्‍ने।</a:t>
            </a:r>
          </a:p>
        </p:txBody>
      </p:sp>
    </p:spTree>
    <p:extLst>
      <p:ext uri="{BB962C8B-B14F-4D97-AF65-F5344CB8AC3E}">
        <p14:creationId xmlns:p14="http://schemas.microsoft.com/office/powerpoint/2010/main" val="625592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ne-NP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टिपोट खण्डः ध्यान दिनुपर्ने कुराहरू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b="1" dirty="0">
                <a:cs typeface="Kalimati" panose="00000400000000000000" pitchFamily="2"/>
              </a:rPr>
              <a:t>टिपोट गर्दा समग्र लिखत पढेर त्यसको संक्षेपीकरण प्रस्तुत गर्ने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b="1" dirty="0">
                <a:cs typeface="Kalimati" panose="00000400000000000000" pitchFamily="2"/>
              </a:rPr>
              <a:t>टिपोट गर्दा मुख्य तिथि मिति</a:t>
            </a:r>
            <a:r>
              <a:rPr lang="en-US" b="1" dirty="0">
                <a:cs typeface="Kalimati" panose="00000400000000000000" pitchFamily="2"/>
              </a:rPr>
              <a:t>, </a:t>
            </a:r>
            <a:r>
              <a:rPr lang="ne-NP" b="1" dirty="0">
                <a:cs typeface="Kalimati" panose="00000400000000000000" pitchFamily="2"/>
              </a:rPr>
              <a:t>विवरण</a:t>
            </a:r>
            <a:r>
              <a:rPr lang="en-US" b="1" dirty="0">
                <a:cs typeface="Kalimati" panose="00000400000000000000" pitchFamily="2"/>
              </a:rPr>
              <a:t>, </a:t>
            </a:r>
            <a:r>
              <a:rPr lang="ne-NP" b="1" dirty="0">
                <a:cs typeface="Kalimati" panose="00000400000000000000" pitchFamily="2"/>
              </a:rPr>
              <a:t>कित्ता नम्बर</a:t>
            </a:r>
            <a:r>
              <a:rPr lang="en-US" b="1" dirty="0">
                <a:cs typeface="Kalimati" panose="00000400000000000000" pitchFamily="2"/>
              </a:rPr>
              <a:t>, </a:t>
            </a:r>
            <a:r>
              <a:rPr lang="ne-NP" b="1" dirty="0">
                <a:cs typeface="Kalimati" panose="00000400000000000000" pitchFamily="2"/>
              </a:rPr>
              <a:t>रजिष्ट्रेशन नम्बर तथा कानूनको दफा आदि उल्लेख गर्न नछुटाउँने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b="1" dirty="0">
                <a:solidFill>
                  <a:srgbClr val="00B050"/>
                </a:solidFill>
                <a:cs typeface="Kalimati" panose="00000400000000000000" pitchFamily="2"/>
              </a:rPr>
              <a:t>भन्ने समेत ब्यहोराको </a:t>
            </a:r>
            <a:r>
              <a:rPr lang="ne-NP" b="1" dirty="0">
                <a:cs typeface="Kalimati" panose="00000400000000000000" pitchFamily="2"/>
              </a:rPr>
              <a:t>भन्ने शब्दहरुको प्रयोग गर्ने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b="1" dirty="0">
                <a:cs typeface="Kalimati" panose="00000400000000000000" pitchFamily="2"/>
              </a:rPr>
              <a:t>टिपोट बनाउँदा प्रयोजनपरक रुपमा </a:t>
            </a:r>
            <a:r>
              <a:rPr lang="ne-NP" b="1" dirty="0" smtClean="0">
                <a:cs typeface="Kalimati" panose="00000400000000000000" pitchFamily="2"/>
              </a:rPr>
              <a:t>बनाउँने</a:t>
            </a:r>
          </a:p>
          <a:p>
            <a:pPr>
              <a:lnSpc>
                <a:spcPct val="17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b="1" dirty="0" smtClean="0">
                <a:cs typeface="Kalimati" panose="00000400000000000000" pitchFamily="2"/>
              </a:rPr>
              <a:t>लगाउमा फैसला भएका मुद्दाको उल्लेख</a:t>
            </a:r>
            <a:endParaRPr lang="ne-NP" b="1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48953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ne-NP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टिपोट खण्डः ध्यान दिनुपर्ने कुराहरू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b="1" dirty="0">
                <a:cs typeface="Kalimati" panose="00000400000000000000" pitchFamily="2"/>
              </a:rPr>
              <a:t>टिपोट सारै लामो र छोटो </a:t>
            </a:r>
            <a:r>
              <a:rPr lang="ne-NP" b="1" dirty="0" smtClean="0">
                <a:cs typeface="Kalimati" panose="00000400000000000000" pitchFamily="2"/>
              </a:rPr>
              <a:t>नबनाउने</a:t>
            </a:r>
            <a:endParaRPr lang="ne-NP" b="1" dirty="0">
              <a:cs typeface="Kalimati" panose="00000400000000000000" pitchFamily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b="1" dirty="0" smtClean="0">
                <a:cs typeface="Kalimati" panose="00000400000000000000" pitchFamily="2"/>
              </a:rPr>
              <a:t>एउटा </a:t>
            </a:r>
            <a:r>
              <a:rPr lang="ne-NP" b="1" dirty="0">
                <a:cs typeface="Kalimati" panose="00000400000000000000" pitchFamily="2"/>
              </a:rPr>
              <a:t>विषय एउटा </a:t>
            </a:r>
            <a:r>
              <a:rPr lang="en-US" b="1" dirty="0">
                <a:cs typeface="Kalimati" panose="00000400000000000000" pitchFamily="2"/>
              </a:rPr>
              <a:t>BULLET </a:t>
            </a:r>
            <a:r>
              <a:rPr lang="ne-NP" b="1" dirty="0">
                <a:cs typeface="Kalimati" panose="00000400000000000000" pitchFamily="2"/>
              </a:rPr>
              <a:t>वा अनुच्छेदमा </a:t>
            </a:r>
            <a:r>
              <a:rPr lang="ne-NP" b="1" dirty="0" smtClean="0">
                <a:cs typeface="Kalimati" panose="00000400000000000000" pitchFamily="2"/>
              </a:rPr>
              <a:t>लेख्‍ने</a:t>
            </a:r>
            <a:endParaRPr lang="ne-NP" b="1" dirty="0">
              <a:cs typeface="Kalimati" panose="00000400000000000000" pitchFamily="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b="1" dirty="0" smtClean="0">
                <a:cs typeface="Kalimati" panose="00000400000000000000" pitchFamily="2"/>
              </a:rPr>
              <a:t>धेरै व्यक्तिको भनाइ एउटै भए नाममात्र लेखेर समेतको भन्न हुन्छ।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b="1" dirty="0" smtClean="0">
                <a:cs typeface="Kalimati" panose="00000400000000000000" pitchFamily="2"/>
              </a:rPr>
              <a:t>ठहरसँग सम्बद्ध कुराहरू नछुटाउने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ne-NP" b="1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6097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r>
              <a:rPr lang="ne-NP" sz="2800">
                <a:cs typeface="Kalimati" panose="00000400000000000000" pitchFamily="2"/>
              </a:rPr>
              <a:t>फैसलामा उल्लेख हुनुपर्ने </a:t>
            </a:r>
            <a:r>
              <a:rPr lang="ne-NP" sz="2800" smtClean="0">
                <a:cs typeface="Kalimati" panose="00000400000000000000" pitchFamily="2"/>
              </a:rPr>
              <a:t>कुराहरु</a:t>
            </a:r>
            <a:r>
              <a:rPr lang="ne-NP" sz="2800">
                <a:cs typeface="Kalimati" panose="00000400000000000000" pitchFamily="2"/>
              </a:rPr>
              <a:t>ः</a:t>
            </a:r>
            <a:r>
              <a:rPr lang="ne-NP" sz="2800" smtClean="0">
                <a:cs typeface="Kalimati" panose="00000400000000000000" pitchFamily="2"/>
              </a:rPr>
              <a:t> </a:t>
            </a:r>
            <a:r>
              <a:rPr lang="ne-NP" sz="2800">
                <a:cs typeface="Kalimati" panose="00000400000000000000" pitchFamily="2"/>
              </a:rPr>
              <a:t>जिअनि</a:t>
            </a:r>
            <a:r>
              <a:rPr lang="en-US" sz="2800" smtClean="0">
                <a:cs typeface="Kalimati" panose="00000400000000000000" pitchFamily="2"/>
              </a:rPr>
              <a:t>, </a:t>
            </a:r>
            <a:r>
              <a:rPr lang="ne-NP" sz="2800" smtClean="0">
                <a:cs typeface="Kalimati" panose="00000400000000000000" pitchFamily="2"/>
              </a:rPr>
              <a:t>२०७५</a:t>
            </a:r>
            <a:r>
              <a:rPr lang="en-US" sz="2800" smtClean="0">
                <a:cs typeface="Kalimati" panose="00000400000000000000" pitchFamily="2"/>
              </a:rPr>
              <a:t>, </a:t>
            </a:r>
            <a:r>
              <a:rPr lang="ne-NP" sz="2800" smtClean="0">
                <a:cs typeface="Kalimati" panose="00000400000000000000" pitchFamily="2"/>
              </a:rPr>
              <a:t>नियम ६७</a:t>
            </a:r>
            <a:endParaRPr lang="en-GB" sz="2400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ne-NP" dirty="0">
                <a:cs typeface="Kalimati" panose="00000400000000000000" pitchFamily="2"/>
              </a:rPr>
              <a:t>पक्ष विपक्षको दावी तथा जिकीर </a:t>
            </a:r>
          </a:p>
          <a:p>
            <a:pPr marL="457200" indent="-457200">
              <a:lnSpc>
                <a:spcPct val="150000"/>
              </a:lnSpc>
            </a:pPr>
            <a:r>
              <a:rPr lang="ne-NP" dirty="0">
                <a:cs typeface="Kalimati" panose="00000400000000000000" pitchFamily="2"/>
              </a:rPr>
              <a:t>निर्णय गर्नुपर्ने विषय</a:t>
            </a:r>
          </a:p>
          <a:p>
            <a:pPr marL="457200" indent="-457200">
              <a:lnSpc>
                <a:spcPct val="150000"/>
              </a:lnSpc>
            </a:pPr>
            <a:r>
              <a:rPr lang="ne-NP" dirty="0">
                <a:cs typeface="Kalimati" panose="00000400000000000000" pitchFamily="2"/>
              </a:rPr>
              <a:t>दुवै पक्षका प्रमाणका कुरा</a:t>
            </a:r>
          </a:p>
          <a:p>
            <a:pPr marL="457200" indent="-457200">
              <a:lnSpc>
                <a:spcPct val="150000"/>
              </a:lnSpc>
            </a:pPr>
            <a:r>
              <a:rPr lang="ne-NP" dirty="0">
                <a:cs typeface="Kalimati" panose="00000400000000000000" pitchFamily="2"/>
              </a:rPr>
              <a:t>कानूनी प्रश्न भएकोमा त्यसको व्याख्या</a:t>
            </a:r>
          </a:p>
          <a:p>
            <a:pPr marL="457200" indent="-457200">
              <a:lnSpc>
                <a:spcPct val="150000"/>
              </a:lnSpc>
            </a:pPr>
            <a:r>
              <a:rPr lang="ne-NP" dirty="0">
                <a:cs typeface="Kalimati" panose="00000400000000000000" pitchFamily="2"/>
              </a:rPr>
              <a:t>साक्षी वा सरजमिनको बकपत्रको </a:t>
            </a:r>
            <a:r>
              <a:rPr lang="ne-NP" dirty="0" smtClean="0">
                <a:cs typeface="Kalimati" panose="00000400000000000000" pitchFamily="2"/>
              </a:rPr>
              <a:t>सारांश</a:t>
            </a:r>
            <a:endParaRPr lang="ne-NP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40010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>
                <a:cs typeface="Kalimati" panose="00000400000000000000" pitchFamily="2"/>
              </a:rPr>
              <a:t>फैसलामा उल्लेख हुनुपर्ने कुराहरुः जिअनि</a:t>
            </a:r>
            <a:r>
              <a:rPr lang="en-US" sz="3200">
                <a:cs typeface="Kalimati" panose="00000400000000000000" pitchFamily="2"/>
              </a:rPr>
              <a:t>, </a:t>
            </a:r>
            <a:r>
              <a:rPr lang="ne-NP" sz="3200">
                <a:cs typeface="Kalimati" panose="00000400000000000000" pitchFamily="2"/>
              </a:rPr>
              <a:t>२०७५</a:t>
            </a:r>
            <a:r>
              <a:rPr lang="en-US" sz="3200">
                <a:cs typeface="Kalimati" panose="00000400000000000000" pitchFamily="2"/>
              </a:rPr>
              <a:t>, </a:t>
            </a:r>
            <a:r>
              <a:rPr lang="ne-NP" sz="3200">
                <a:cs typeface="Kalimati" panose="00000400000000000000" pitchFamily="2"/>
              </a:rPr>
              <a:t>नियम ६७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457200" indent="-457200">
              <a:lnSpc>
                <a:spcPct val="150000"/>
              </a:lnSpc>
              <a:spcBef>
                <a:spcPts val="1200"/>
              </a:spcBef>
            </a:pPr>
            <a:r>
              <a:rPr lang="ne-NP" smtClean="0">
                <a:cs typeface="Kalimati" panose="00000400000000000000" pitchFamily="2"/>
              </a:rPr>
              <a:t>पक्षहरूले </a:t>
            </a:r>
            <a:r>
              <a:rPr lang="ne-NP">
                <a:cs typeface="Kalimati" panose="00000400000000000000" pitchFamily="2"/>
              </a:rPr>
              <a:t>तथ्य र कानूनका सम्वन्धमा उठाएका प्रश्नहरु</a:t>
            </a:r>
          </a:p>
          <a:p>
            <a:pPr marL="457200" indent="-457200">
              <a:lnSpc>
                <a:spcPct val="150000"/>
              </a:lnSpc>
              <a:spcBef>
                <a:spcPts val="1200"/>
              </a:spcBef>
            </a:pPr>
            <a:r>
              <a:rPr lang="ne-NP">
                <a:cs typeface="Kalimati" panose="00000400000000000000" pitchFamily="2"/>
              </a:rPr>
              <a:t>कानून व्यवसायीका बहसका मुख्य </a:t>
            </a:r>
            <a:r>
              <a:rPr lang="ne-NP" smtClean="0">
                <a:cs typeface="Kalimati" panose="00000400000000000000" pitchFamily="2"/>
              </a:rPr>
              <a:t>बुँदाहरू</a:t>
            </a:r>
            <a:endParaRPr lang="ne-NP">
              <a:cs typeface="Kalimati" panose="00000400000000000000" pitchFamily="2"/>
            </a:endParaRPr>
          </a:p>
          <a:p>
            <a:pPr marL="457200" indent="-457200">
              <a:lnSpc>
                <a:spcPct val="150000"/>
              </a:lnSpc>
              <a:spcBef>
                <a:spcPts val="1200"/>
              </a:spcBef>
            </a:pPr>
            <a:r>
              <a:rPr lang="ne-NP">
                <a:cs typeface="Kalimati" panose="00000400000000000000" pitchFamily="2"/>
              </a:rPr>
              <a:t>फिराद पत्र प्रतिउत्तर पत्र वा कानून व्यवसायीको बहसको क्रममा उल्लिखित </a:t>
            </a:r>
            <a:r>
              <a:rPr lang="ne-NP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नजिर वा कानूनी </a:t>
            </a:r>
            <a:r>
              <a:rPr lang="ne-NP" smtClean="0">
                <a:solidFill>
                  <a:schemeClr val="accent1">
                    <a:lumMod val="75000"/>
                  </a:schemeClr>
                </a:solidFill>
                <a:cs typeface="Kalimati" panose="00000400000000000000" pitchFamily="2"/>
              </a:rPr>
              <a:t>सिद्धान्त </a:t>
            </a:r>
            <a:r>
              <a:rPr lang="ne-NP">
                <a:cs typeface="Kalimati" panose="00000400000000000000" pitchFamily="2"/>
              </a:rPr>
              <a:t>प्रस्तुत मुद्दामा लागु हुने वा नहुने भन्ने सम्वन्धमा स्पष्ट विश्‍लेषण</a:t>
            </a:r>
          </a:p>
          <a:p>
            <a:pPr marL="457200" indent="-457200">
              <a:lnSpc>
                <a:spcPct val="150000"/>
              </a:lnSpc>
              <a:spcBef>
                <a:spcPts val="1200"/>
              </a:spcBef>
            </a:pPr>
            <a:r>
              <a:rPr lang="ne-NP">
                <a:cs typeface="Kalimati" panose="00000400000000000000" pitchFamily="2"/>
              </a:rPr>
              <a:t>कारण सहितको निर्णय र त्यसको आधार तथा तत्सम्बन्धी कानूनहरु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67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01706"/>
            <a:ext cx="8991600" cy="1143000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dirty="0">
                <a:cs typeface="Kalimati" panose="00000400000000000000" pitchFamily="2"/>
              </a:rPr>
              <a:t>ठहर </a:t>
            </a:r>
            <a:r>
              <a:rPr lang="ne-NP" sz="3200" dirty="0" smtClean="0">
                <a:cs typeface="Kalimati" panose="00000400000000000000" pitchFamily="2"/>
              </a:rPr>
              <a:t>खण्डको संरचना </a:t>
            </a:r>
            <a:endParaRPr lang="en-GB" sz="3200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447801"/>
            <a:ext cx="8991600" cy="4678363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457200" indent="-457200"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इजलास समक्ष पेश भएको ब्यहोरा</a:t>
            </a:r>
          </a:p>
          <a:p>
            <a:pPr marL="457200" indent="-457200"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कानून </a:t>
            </a:r>
            <a:r>
              <a:rPr lang="ne-NP">
                <a:cs typeface="Kalimati" panose="00000400000000000000" pitchFamily="2"/>
              </a:rPr>
              <a:t>व्यवसायीको </a:t>
            </a:r>
            <a:r>
              <a:rPr lang="ne-NP" smtClean="0">
                <a:cs typeface="Kalimati" panose="00000400000000000000" pitchFamily="2"/>
              </a:rPr>
              <a:t>वहस</a:t>
            </a:r>
            <a:r>
              <a:rPr lang="en-US" smtClean="0">
                <a:cs typeface="Kalimati" panose="00000400000000000000" pitchFamily="2"/>
              </a:rPr>
              <a:t>/</a:t>
            </a:r>
            <a:r>
              <a:rPr lang="ne-NP" smtClean="0">
                <a:cs typeface="Kalimati" panose="00000400000000000000" pitchFamily="2"/>
              </a:rPr>
              <a:t>वहसनोटको मुख्य बुँदा</a:t>
            </a:r>
            <a:endParaRPr lang="ne-NP" dirty="0">
              <a:cs typeface="Kalimati" panose="00000400000000000000" pitchFamily="2"/>
            </a:endParaRPr>
          </a:p>
          <a:p>
            <a:pPr marL="457200" indent="-457200">
              <a:lnSpc>
                <a:spcPct val="200000"/>
              </a:lnSpc>
            </a:pPr>
            <a:r>
              <a:rPr lang="ne-NP" smtClean="0">
                <a:cs typeface="Kalimati" panose="00000400000000000000" pitchFamily="2"/>
              </a:rPr>
              <a:t>पक्षहरूको मुख्य दावी</a:t>
            </a:r>
            <a:r>
              <a:rPr lang="en-US" smtClean="0">
                <a:cs typeface="Kalimati" panose="00000400000000000000" pitchFamily="2"/>
              </a:rPr>
              <a:t>,</a:t>
            </a:r>
            <a:r>
              <a:rPr lang="ne-NP" smtClean="0">
                <a:cs typeface="Kalimati" panose="00000400000000000000" pitchFamily="2"/>
              </a:rPr>
              <a:t> जिकीर वा पुनरावेदन माग</a:t>
            </a:r>
            <a:endParaRPr lang="en-US" smtClean="0">
              <a:cs typeface="Kalimati" panose="00000400000000000000" pitchFamily="2"/>
            </a:endParaRPr>
          </a:p>
          <a:p>
            <a:pPr marL="457200" indent="-457200">
              <a:lnSpc>
                <a:spcPct val="200000"/>
              </a:lnSpc>
            </a:pPr>
            <a:r>
              <a:rPr lang="ne-NP" smtClean="0">
                <a:cs typeface="Kalimati" panose="00000400000000000000" pitchFamily="2"/>
              </a:rPr>
              <a:t>ठहर </a:t>
            </a:r>
            <a:r>
              <a:rPr lang="ne-NP" dirty="0">
                <a:cs typeface="Kalimati" panose="00000400000000000000" pitchFamily="2"/>
              </a:rPr>
              <a:t>गर्नु पर्ने </a:t>
            </a:r>
            <a:r>
              <a:rPr lang="ne-NP">
                <a:cs typeface="Kalimati" panose="00000400000000000000" pitchFamily="2"/>
              </a:rPr>
              <a:t>विषय </a:t>
            </a:r>
            <a:r>
              <a:rPr lang="ne-NP" smtClean="0">
                <a:cs typeface="Kalimati" panose="00000400000000000000" pitchFamily="2"/>
              </a:rPr>
              <a:t>वा प्रश्नहरू</a:t>
            </a:r>
          </a:p>
          <a:p>
            <a:pPr marL="457200" indent="-457200"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पुनरावेदन फैसलामा शुरु फैसलाको संक्षिप्त ब्यहोरा </a:t>
            </a:r>
          </a:p>
          <a:p>
            <a:pPr marL="457200" indent="-457200">
              <a:lnSpc>
                <a:spcPct val="200000"/>
              </a:lnSpc>
            </a:pPr>
            <a:endParaRPr lang="ne-NP" smtClean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73905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ठहर</a:t>
            </a:r>
            <a:endParaRPr lang="en-US" sz="400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सम्बद्ध प्रमाणहरुको </a:t>
            </a:r>
            <a:r>
              <a:rPr lang="ne-NP" dirty="0">
                <a:cs typeface="Kalimati" panose="00000400000000000000" pitchFamily="2"/>
              </a:rPr>
              <a:t>विश्‍लेषण</a:t>
            </a:r>
          </a:p>
          <a:p>
            <a:pPr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सम्बद्ध कानून</a:t>
            </a:r>
            <a:r>
              <a:rPr lang="en-GB" dirty="0">
                <a:cs typeface="Kalimati" panose="00000400000000000000" pitchFamily="2"/>
              </a:rPr>
              <a:t>,</a:t>
            </a:r>
            <a:r>
              <a:rPr lang="ne-NP" dirty="0">
                <a:cs typeface="Kalimati" panose="00000400000000000000" pitchFamily="2"/>
              </a:rPr>
              <a:t> नजिर र </a:t>
            </a:r>
            <a:r>
              <a:rPr lang="ne-NP" dirty="0" smtClean="0">
                <a:cs typeface="Kalimati" panose="00000400000000000000" pitchFamily="2"/>
              </a:rPr>
              <a:t>तथ्य बिचको सम्बन्ध</a:t>
            </a:r>
          </a:p>
          <a:p>
            <a:pPr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दावी</a:t>
            </a:r>
            <a:r>
              <a:rPr lang="en-US" dirty="0" smtClean="0">
                <a:cs typeface="Kalimati" panose="00000400000000000000" pitchFamily="2"/>
              </a:rPr>
              <a:t>,</a:t>
            </a:r>
            <a:r>
              <a:rPr lang="ne-NP" dirty="0" smtClean="0">
                <a:cs typeface="Kalimati" panose="00000400000000000000" pitchFamily="2"/>
              </a:rPr>
              <a:t> जिकिरको समर्थन वा खण्डन</a:t>
            </a:r>
          </a:p>
          <a:p>
            <a:pPr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शुरु </a:t>
            </a:r>
            <a:r>
              <a:rPr lang="ne-NP" dirty="0">
                <a:cs typeface="Kalimati" panose="00000400000000000000" pitchFamily="2"/>
              </a:rPr>
              <a:t>फैसला </a:t>
            </a:r>
            <a:r>
              <a:rPr lang="ne-NP" dirty="0" smtClean="0">
                <a:cs typeface="Kalimati" panose="00000400000000000000" pitchFamily="2"/>
              </a:rPr>
              <a:t>मिले </a:t>
            </a:r>
            <a:r>
              <a:rPr lang="ne-NP" dirty="0">
                <a:cs typeface="Kalimati" panose="00000400000000000000" pitchFamily="2"/>
              </a:rPr>
              <a:t>नमिलेको कुरा (पुनरावेदनमा)</a:t>
            </a:r>
          </a:p>
          <a:p>
            <a:pPr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आधार कारण सहितको निश्कर्ष/ ठहर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30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ठहर</a:t>
            </a:r>
            <a:endParaRPr lang="en-GB" sz="3200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ne-NP" sz="2400" dirty="0" smtClean="0">
                <a:cs typeface="Kalimati" panose="00000400000000000000" pitchFamily="2"/>
              </a:rPr>
              <a:t>कसूर </a:t>
            </a:r>
            <a:r>
              <a:rPr lang="ne-NP" sz="2400" dirty="0">
                <a:cs typeface="Kalimati" panose="00000400000000000000" pitchFamily="2"/>
              </a:rPr>
              <a:t>ठहर </a:t>
            </a:r>
            <a:r>
              <a:rPr lang="ne-NP" sz="2400" dirty="0" smtClean="0">
                <a:cs typeface="Kalimati" panose="00000400000000000000" pitchFamily="2"/>
              </a:rPr>
              <a:t>गरेको वा सफाई दिएको वा शुरु </a:t>
            </a:r>
            <a:r>
              <a:rPr lang="ne-NP" sz="2400" dirty="0">
                <a:cs typeface="Kalimati" panose="00000400000000000000" pitchFamily="2"/>
              </a:rPr>
              <a:t>फैसला सदर वा उल्टी गरेको</a:t>
            </a:r>
          </a:p>
          <a:p>
            <a:pPr>
              <a:lnSpc>
                <a:spcPct val="200000"/>
              </a:lnSpc>
            </a:pPr>
            <a:r>
              <a:rPr lang="ne-NP" sz="2400" dirty="0" smtClean="0">
                <a:cs typeface="Kalimati" panose="00000400000000000000" pitchFamily="2"/>
              </a:rPr>
              <a:t>सजाय निर्धारणको लागि पेश हुने भए सोको आदेश </a:t>
            </a:r>
            <a:endParaRPr lang="ne-NP" sz="2400" dirty="0" smtClean="0">
              <a:cs typeface="Kalimati" panose="00000400000000000000" pitchFamily="2"/>
            </a:endParaRPr>
          </a:p>
          <a:p>
            <a:pPr>
              <a:lnSpc>
                <a:spcPct val="200000"/>
              </a:lnSpc>
            </a:pPr>
            <a:r>
              <a:rPr lang="ne-NP" sz="2400" dirty="0" smtClean="0">
                <a:cs typeface="Kalimati" panose="00000400000000000000" pitchFamily="2"/>
              </a:rPr>
              <a:t>भराउनु पर्ने विगो</a:t>
            </a:r>
            <a:endParaRPr lang="ne-NP" sz="2400" dirty="0" smtClean="0">
              <a:cs typeface="Kalimati" panose="00000400000000000000" pitchFamily="2"/>
            </a:endParaRPr>
          </a:p>
          <a:p>
            <a:pPr>
              <a:lnSpc>
                <a:spcPct val="200000"/>
              </a:lnSpc>
            </a:pPr>
            <a:r>
              <a:rPr lang="ne-NP" sz="2400" dirty="0" smtClean="0">
                <a:cs typeface="Kalimati" panose="00000400000000000000" pitchFamily="2"/>
              </a:rPr>
              <a:t>क्षतिपूर्ति </a:t>
            </a:r>
            <a:r>
              <a:rPr lang="ne-NP" sz="2400" dirty="0" smtClean="0">
                <a:cs typeface="Kalimati" panose="00000400000000000000" pitchFamily="2"/>
              </a:rPr>
              <a:t>शुल्क </a:t>
            </a:r>
          </a:p>
        </p:txBody>
      </p:sp>
    </p:spTree>
    <p:extLst>
      <p:ext uri="{BB962C8B-B14F-4D97-AF65-F5344CB8AC3E}">
        <p14:creationId xmlns:p14="http://schemas.microsoft.com/office/powerpoint/2010/main" val="226504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ठहर</a:t>
            </a:r>
            <a:endParaRPr lang="en-US" sz="320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थप </a:t>
            </a:r>
            <a:r>
              <a:rPr lang="ne-NP" smtClean="0">
                <a:cs typeface="Kalimati" panose="00000400000000000000" pitchFamily="2"/>
              </a:rPr>
              <a:t>सजाय वा </a:t>
            </a:r>
            <a:r>
              <a:rPr lang="ne-NP">
                <a:cs typeface="Kalimati" panose="00000400000000000000" pitchFamily="2"/>
              </a:rPr>
              <a:t>पटक कायम </a:t>
            </a:r>
          </a:p>
          <a:p>
            <a:pPr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धनमाल फिर्ता आदि </a:t>
            </a:r>
          </a:p>
          <a:p>
            <a:pPr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फौजदारी कसूर (सजाय निर्धारण तथा कार्यान्वयन) ऐन, २०७४ को दफा १७क. बमोजिम जन्मकैदको सजायमा रायको प्रयोग</a:t>
            </a:r>
          </a:p>
          <a:p>
            <a:pPr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बालबालिका सम्बान्धी ऐन २०७५ को दफा ३६ बमोझिम सजाय स्थगन वा सजाय भुक्तानको शर्त </a:t>
            </a:r>
            <a:endParaRPr lang="ne-NP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5304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2800" smtClean="0">
                <a:cs typeface="Kalimati" panose="00000400000000000000" pitchFamily="2"/>
              </a:rPr>
              <a:t>सजाय निर्धारण सुनुवाइ</a:t>
            </a:r>
            <a:endParaRPr lang="en-GB" sz="2000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1"/>
            <a:ext cx="10515600" cy="4598893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ne-NP" sz="2400" dirty="0" smtClean="0">
                <a:cs typeface="Kalimati" panose="00000400000000000000" pitchFamily="2"/>
              </a:rPr>
              <a:t>सजाय </a:t>
            </a:r>
            <a:r>
              <a:rPr lang="ne-NP" sz="2400" dirty="0">
                <a:cs typeface="Kalimati" panose="00000400000000000000" pitchFamily="2"/>
              </a:rPr>
              <a:t>निर्धारणको </a:t>
            </a:r>
            <a:r>
              <a:rPr lang="ne-NP" sz="2400" dirty="0" smtClean="0">
                <a:cs typeface="Kalimati" panose="00000400000000000000" pitchFamily="2"/>
              </a:rPr>
              <a:t>लागि अर्को </a:t>
            </a:r>
            <a:r>
              <a:rPr lang="ne-NP" sz="2400" dirty="0">
                <a:cs typeface="Kalimati" panose="00000400000000000000" pitchFamily="2"/>
              </a:rPr>
              <a:t>पेशी तोक्‍ने</a:t>
            </a:r>
          </a:p>
          <a:p>
            <a:pPr>
              <a:lnSpc>
                <a:spcPct val="150000"/>
              </a:lnSpc>
            </a:pPr>
            <a:r>
              <a:rPr lang="ne-NP" sz="2400" dirty="0">
                <a:cs typeface="Kalimati" panose="00000400000000000000" pitchFamily="2"/>
              </a:rPr>
              <a:t>कसूर ठहरको संक्षिप्त </a:t>
            </a:r>
            <a:r>
              <a:rPr lang="ne-NP" sz="2400" dirty="0" smtClean="0">
                <a:cs typeface="Kalimati" panose="00000400000000000000" pitchFamily="2"/>
              </a:rPr>
              <a:t>आदेश</a:t>
            </a:r>
            <a:endParaRPr lang="ne-NP" sz="2400" dirty="0">
              <a:cs typeface="Kalimati" panose="00000400000000000000" pitchFamily="2"/>
            </a:endParaRPr>
          </a:p>
          <a:p>
            <a:pPr>
              <a:lnSpc>
                <a:spcPct val="150000"/>
              </a:lnSpc>
            </a:pPr>
            <a:r>
              <a:rPr lang="ne-NP" sz="2400" dirty="0">
                <a:cs typeface="Kalimati" panose="00000400000000000000" pitchFamily="2"/>
              </a:rPr>
              <a:t>सजाय पूर्वको प्रतिवेदन </a:t>
            </a:r>
            <a:r>
              <a:rPr lang="ne-NP" sz="2400" dirty="0" smtClean="0">
                <a:cs typeface="Kalimati" panose="00000400000000000000" pitchFamily="2"/>
              </a:rPr>
              <a:t>माग</a:t>
            </a:r>
            <a:endParaRPr lang="ne-NP" sz="2400" dirty="0">
              <a:cs typeface="Kalimati" panose="00000400000000000000" pitchFamily="2"/>
            </a:endParaRPr>
          </a:p>
          <a:p>
            <a:pPr>
              <a:lnSpc>
                <a:spcPct val="150000"/>
              </a:lnSpc>
            </a:pPr>
            <a:r>
              <a:rPr lang="ne-NP" sz="2400" dirty="0" smtClean="0">
                <a:cs typeface="Kalimati" panose="00000400000000000000" pitchFamily="2"/>
              </a:rPr>
              <a:t>सजाय निर्धारण गर्दा सोको आधार कारणको </a:t>
            </a:r>
            <a:r>
              <a:rPr lang="ne-NP" sz="2400" dirty="0" smtClean="0">
                <a:cs typeface="Kalimati" panose="00000400000000000000" pitchFamily="2"/>
              </a:rPr>
              <a:t>विवेचना </a:t>
            </a:r>
            <a:endParaRPr lang="ne-NP" sz="2400" dirty="0">
              <a:cs typeface="Kalimati" panose="00000400000000000000" pitchFamily="2"/>
            </a:endParaRPr>
          </a:p>
          <a:p>
            <a:pPr>
              <a:lnSpc>
                <a:spcPct val="150000"/>
              </a:lnSpc>
            </a:pPr>
            <a:r>
              <a:rPr lang="ne-NP" sz="2400" dirty="0" smtClean="0">
                <a:cs typeface="Kalimati" panose="00000400000000000000" pitchFamily="2"/>
              </a:rPr>
              <a:t>सजायको उद्देश्य</a:t>
            </a:r>
            <a:r>
              <a:rPr lang="en-US" sz="2400" dirty="0" smtClean="0">
                <a:cs typeface="Kalimati" panose="00000400000000000000" pitchFamily="2"/>
              </a:rPr>
              <a:t>,</a:t>
            </a:r>
            <a:r>
              <a:rPr lang="ne-NP" sz="2400" dirty="0" smtClean="0">
                <a:cs typeface="Kalimati" panose="00000400000000000000" pitchFamily="2"/>
              </a:rPr>
              <a:t> मार्गदर्शन</a:t>
            </a:r>
            <a:r>
              <a:rPr lang="en-US" sz="2400" dirty="0" smtClean="0">
                <a:cs typeface="Kalimati" panose="00000400000000000000" pitchFamily="2"/>
              </a:rPr>
              <a:t>,</a:t>
            </a:r>
            <a:r>
              <a:rPr lang="ne-NP" sz="2400" dirty="0" smtClean="0">
                <a:cs typeface="Kalimati" panose="00000400000000000000" pitchFamily="2"/>
              </a:rPr>
              <a:t> कसूरको गम्भीरता वढाउने र घटाउने अवस्थाको विवेचना</a:t>
            </a:r>
          </a:p>
          <a:p>
            <a:pPr>
              <a:lnSpc>
                <a:spcPct val="150000"/>
              </a:lnSpc>
            </a:pPr>
            <a:r>
              <a:rPr lang="ne-NP" sz="2400" dirty="0" smtClean="0">
                <a:cs typeface="Kalimati" panose="00000400000000000000" pitchFamily="2"/>
              </a:rPr>
              <a:t>कैद जरिवाना</a:t>
            </a:r>
            <a:r>
              <a:rPr lang="en-US" sz="2400" dirty="0" smtClean="0">
                <a:cs typeface="Kalimati" panose="00000400000000000000" pitchFamily="2"/>
              </a:rPr>
              <a:t>,</a:t>
            </a:r>
            <a:r>
              <a:rPr lang="ne-NP" sz="2400" dirty="0" smtClean="0">
                <a:cs typeface="Kalimati" panose="00000400000000000000" pitchFamily="2"/>
              </a:rPr>
              <a:t> </a:t>
            </a:r>
            <a:r>
              <a:rPr lang="ne-NP" sz="2400" dirty="0">
                <a:cs typeface="Kalimati" panose="00000400000000000000" pitchFamily="2"/>
              </a:rPr>
              <a:t>क्षतिपूर्ति र बिगो </a:t>
            </a:r>
            <a:r>
              <a:rPr lang="ne-NP" sz="2400" dirty="0" smtClean="0">
                <a:cs typeface="Kalimati" panose="00000400000000000000" pitchFamily="2"/>
              </a:rPr>
              <a:t>भराउने कुरा</a:t>
            </a:r>
            <a:endParaRPr lang="ne-NP" sz="2400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9389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ne-NP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ठहर खण्ड लेखनः ध्यान दिनुपर्ने कुराहरू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कानून </a:t>
            </a:r>
            <a:r>
              <a:rPr lang="ne-NP" dirty="0">
                <a:cs typeface="Kalimati" panose="00000400000000000000" pitchFamily="2"/>
              </a:rPr>
              <a:t>व्यवसायीको भनाइको संक्षिप्‍त </a:t>
            </a:r>
            <a:r>
              <a:rPr lang="ne-NP" dirty="0" smtClean="0">
                <a:cs typeface="Kalimati" panose="00000400000000000000" pitchFamily="2"/>
              </a:rPr>
              <a:t>व्यहोरा लेख्‍ने।</a:t>
            </a:r>
            <a:endParaRPr lang="ne-NP" dirty="0">
              <a:cs typeface="Kalimati" panose="00000400000000000000" pitchFamily="2"/>
            </a:endParaRPr>
          </a:p>
          <a:p>
            <a:pPr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ठहर गर्नुपर्ने </a:t>
            </a:r>
            <a:r>
              <a:rPr lang="ne-NP" dirty="0" smtClean="0">
                <a:cs typeface="Kalimati" panose="00000400000000000000" pitchFamily="2"/>
              </a:rPr>
              <a:t>प्रश्नहरू उल्लेख गर्ने।</a:t>
            </a:r>
            <a:endParaRPr lang="ne-NP" dirty="0">
              <a:cs typeface="Kalimati" panose="00000400000000000000" pitchFamily="2"/>
            </a:endParaRPr>
          </a:p>
          <a:p>
            <a:pPr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आधार</a:t>
            </a:r>
            <a:r>
              <a:rPr lang="en-US" dirty="0"/>
              <a:t>,</a:t>
            </a:r>
            <a:r>
              <a:rPr lang="ne-NP" dirty="0">
                <a:cs typeface="Kalimati" panose="00000400000000000000" pitchFamily="2"/>
              </a:rPr>
              <a:t> कारण</a:t>
            </a:r>
            <a:r>
              <a:rPr lang="en-US" dirty="0"/>
              <a:t>,</a:t>
            </a:r>
            <a:r>
              <a:rPr lang="ne-NP" dirty="0">
                <a:cs typeface="Kalimati" panose="00000400000000000000" pitchFamily="2"/>
              </a:rPr>
              <a:t> कानून</a:t>
            </a:r>
            <a:r>
              <a:rPr lang="en-US" dirty="0"/>
              <a:t>, </a:t>
            </a:r>
            <a:r>
              <a:rPr lang="ne-NP" dirty="0">
                <a:cs typeface="Kalimati" panose="00000400000000000000" pitchFamily="2"/>
              </a:rPr>
              <a:t>नजिर सहितको </a:t>
            </a:r>
            <a:r>
              <a:rPr lang="ne-NP" dirty="0" smtClean="0">
                <a:cs typeface="Kalimati" panose="00000400000000000000" pitchFamily="2"/>
              </a:rPr>
              <a:t>विश्लेषण गर्ने।</a:t>
            </a:r>
            <a:endParaRPr lang="ne-NP" dirty="0">
              <a:cs typeface="Kalimati" panose="00000400000000000000" pitchFamily="2"/>
            </a:endParaRPr>
          </a:p>
          <a:p>
            <a:pPr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अन्तिम नतिजा स्पष्ट हुने गरी </a:t>
            </a:r>
            <a:r>
              <a:rPr lang="ne-NP" dirty="0" smtClean="0">
                <a:cs typeface="Kalimati" panose="00000400000000000000" pitchFamily="2"/>
              </a:rPr>
              <a:t>ठहर लेख्ने।</a:t>
            </a:r>
          </a:p>
          <a:p>
            <a:pPr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ठहरका आधारमा तपसिल तयार गर्ने।</a:t>
            </a:r>
            <a:endParaRPr lang="ne-NP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54991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8285" y="274638"/>
            <a:ext cx="9865895" cy="94456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ne-NP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ठहर खण्ड लेखनः </a:t>
            </a:r>
            <a:r>
              <a:rPr lang="ne-NP" sz="3600" b="1" dirty="0">
                <a:cs typeface="Kalimati" panose="00000400000000000000" pitchFamily="2"/>
              </a:rPr>
              <a:t>ध्यान दिनुपर्ने कुराहरू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8286" y="1295400"/>
            <a:ext cx="9538636" cy="518160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ne-NP" b="1" dirty="0" smtClean="0">
                <a:cs typeface="Kalimati" panose="00000400000000000000" pitchFamily="2"/>
              </a:rPr>
              <a:t>कानून व्यवसायीको नाम र पदवी सही रुपमा उल्लेखन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ne-NP" b="1" dirty="0" smtClean="0">
                <a:cs typeface="Kalimati" panose="00000400000000000000" pitchFamily="2"/>
              </a:rPr>
              <a:t>मुद्दाको मुख्य अभियोग</a:t>
            </a:r>
            <a:r>
              <a:rPr lang="en-US" b="1" dirty="0" smtClean="0">
                <a:cs typeface="Kalimati" panose="00000400000000000000" pitchFamily="2"/>
              </a:rPr>
              <a:t>/</a:t>
            </a:r>
            <a:r>
              <a:rPr lang="ne-NP" b="1" dirty="0" smtClean="0">
                <a:cs typeface="Kalimati" panose="00000400000000000000" pitchFamily="2"/>
              </a:rPr>
              <a:t>वादी दावी</a:t>
            </a:r>
            <a:r>
              <a:rPr lang="en-US" b="1" dirty="0" smtClean="0">
                <a:cs typeface="Kalimati" panose="00000400000000000000" pitchFamily="2"/>
              </a:rPr>
              <a:t>, </a:t>
            </a:r>
            <a:r>
              <a:rPr lang="ne-NP" b="1" dirty="0" smtClean="0">
                <a:cs typeface="Kalimati" panose="00000400000000000000" pitchFamily="2"/>
              </a:rPr>
              <a:t>प्रतिउत्तर र सुरु अदालतको फैसलाको संक्षिप्त टिपोट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ne-NP" b="1" dirty="0">
                <a:cs typeface="Kalimati" panose="00000400000000000000" pitchFamily="2"/>
              </a:rPr>
              <a:t>फैसला लेख्दा माग दावी तथा ठहर उल्लेख गर्दा सम्बद्ध कानूनको व्यवस्था उल्लेख </a:t>
            </a:r>
            <a:r>
              <a:rPr lang="ne-NP" b="1" dirty="0" smtClean="0">
                <a:cs typeface="Kalimati" panose="00000400000000000000" pitchFamily="2"/>
              </a:rPr>
              <a:t>गर्ने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ne-NP" b="1" dirty="0">
                <a:cs typeface="Kalimati" panose="00000400000000000000" pitchFamily="2"/>
              </a:rPr>
              <a:t>नजीर राख्दा मिल्ने खालको हो भन्ने सुनिश्चित हुने</a:t>
            </a: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ne-NP" b="1" dirty="0">
              <a:cs typeface="Kalimati" panose="00000400000000000000" pitchFamily="2"/>
            </a:endParaRPr>
          </a:p>
          <a:p>
            <a:pPr marL="457200" indent="-4572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ne-NP" b="1" dirty="0" smtClean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0226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ne-NP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ठहर खण्ड लेखनः ध्यान दिनुपर्ने कुराहरू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sz="2600" b="1" dirty="0" smtClean="0">
                <a:cs typeface="Kalimati" panose="00000400000000000000" pitchFamily="2"/>
              </a:rPr>
              <a:t>रीट </a:t>
            </a:r>
            <a:r>
              <a:rPr lang="ne-NP" sz="2600" b="1" dirty="0">
                <a:cs typeface="Kalimati" panose="00000400000000000000" pitchFamily="2"/>
              </a:rPr>
              <a:t>खारेज </a:t>
            </a:r>
            <a:r>
              <a:rPr lang="ne-NP" sz="2600" b="1" dirty="0" smtClean="0">
                <a:cs typeface="Kalimati" panose="00000400000000000000" pitchFamily="2"/>
              </a:rPr>
              <a:t>भएकोमा अन्तरिम </a:t>
            </a:r>
            <a:r>
              <a:rPr lang="ne-NP" sz="2600" b="1" dirty="0">
                <a:cs typeface="Kalimati" panose="00000400000000000000" pitchFamily="2"/>
              </a:rPr>
              <a:t>आदेश स्वतः खारेज भएको भन्ने ब्यहोरा उल्लेख </a:t>
            </a:r>
            <a:r>
              <a:rPr lang="ne-NP" sz="2600" b="1" dirty="0" smtClean="0">
                <a:cs typeface="Kalimati" panose="00000400000000000000" pitchFamily="2"/>
              </a:rPr>
              <a:t>गर्ने</a:t>
            </a:r>
            <a:endParaRPr lang="ne-NP" sz="2600" b="1" dirty="0">
              <a:cs typeface="Kalimati" panose="00000400000000000000" pitchFamily="2"/>
            </a:endParaRP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sz="2600" b="1" dirty="0">
                <a:cs typeface="Kalimati" panose="00000400000000000000" pitchFamily="2"/>
              </a:rPr>
              <a:t>कैद जरिवाना क्षतिपूर्ति जफत विगो भराउँदा अंक तोकेर ठहरमा </a:t>
            </a:r>
            <a:r>
              <a:rPr lang="ne-NP" sz="2600" b="1" dirty="0" smtClean="0">
                <a:cs typeface="Kalimati" panose="00000400000000000000" pitchFamily="2"/>
              </a:rPr>
              <a:t>नै लेख्ने</a:t>
            </a:r>
          </a:p>
          <a:p>
            <a:pPr marL="457200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b="1" dirty="0">
                <a:cs typeface="Kalimati" panose="00000400000000000000" pitchFamily="2"/>
              </a:rPr>
              <a:t>धेरै प्रतिवादी भएको अवस्थामा सम्बन्धित पुनरावेदकको हकमा मात्र सीमित भई फैसलामा ठहर लेख्ने</a:t>
            </a:r>
          </a:p>
          <a:p>
            <a:pPr marL="457200" indent="-4572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ne-NP" b="1" dirty="0">
                <a:cs typeface="Kalimati" panose="00000400000000000000" pitchFamily="2"/>
              </a:rPr>
              <a:t>राय किताबमा उल्लेख भएको नतिजा भन्दा फरक नहुने गरी फैसला लेख्‍ने।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ne-NP" b="1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60366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ne-NP" sz="3200">
                <a:cs typeface="Kalimati" panose="00000400000000000000" pitchFamily="2"/>
              </a:rPr>
              <a:t>तपसिल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457200" indent="-457200"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कैद</a:t>
            </a:r>
            <a:r>
              <a:rPr lang="en-US" dirty="0"/>
              <a:t>,</a:t>
            </a:r>
            <a:r>
              <a:rPr lang="ne-NP" dirty="0">
                <a:cs typeface="Kalimati" panose="00000400000000000000" pitchFamily="2"/>
              </a:rPr>
              <a:t> जरिवाना र </a:t>
            </a:r>
            <a:r>
              <a:rPr lang="ne-NP" dirty="0" smtClean="0">
                <a:cs typeface="Kalimati" panose="00000400000000000000" pitchFamily="2"/>
              </a:rPr>
              <a:t>क्षतिपूर्तिको लगत र कार्यान्वयन</a:t>
            </a:r>
          </a:p>
          <a:p>
            <a:pPr marL="457200" indent="-457200"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दशी सामानको व्यवस्थापन</a:t>
            </a:r>
            <a:r>
              <a:rPr lang="en-US" dirty="0" smtClean="0">
                <a:cs typeface="Kalimati" panose="00000400000000000000" pitchFamily="2"/>
              </a:rPr>
              <a:t>-</a:t>
            </a:r>
            <a:r>
              <a:rPr lang="ne-NP" dirty="0" smtClean="0">
                <a:cs typeface="Kalimati" panose="00000400000000000000" pitchFamily="2"/>
              </a:rPr>
              <a:t> फिर्ता वा जफत</a:t>
            </a:r>
          </a:p>
          <a:p>
            <a:pPr marL="457200" indent="-457200">
              <a:lnSpc>
                <a:spcPct val="200000"/>
              </a:lnSpc>
            </a:pPr>
            <a:r>
              <a:rPr lang="ne-NP" dirty="0" smtClean="0">
                <a:cs typeface="Kalimati" panose="00000400000000000000" pitchFamily="2"/>
              </a:rPr>
              <a:t>धरौटि वा जमानत फिर्ता वा जफत</a:t>
            </a:r>
            <a:endParaRPr lang="ne-NP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0867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ne-NP" sz="3600" smtClean="0">
                <a:cs typeface="Kalimati" panose="00000400000000000000" pitchFamily="2"/>
              </a:rPr>
              <a:t>तपसिल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क्षतिपूर्ति शुल्क</a:t>
            </a:r>
          </a:p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पुनरावेदनको म्याद</a:t>
            </a:r>
          </a:p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नक्कल</a:t>
            </a:r>
          </a:p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लगत कट्टा</a:t>
            </a:r>
          </a:p>
          <a:p>
            <a:pPr marL="457200" indent="-457200">
              <a:lnSpc>
                <a:spcPct val="150000"/>
              </a:lnSpc>
            </a:pPr>
            <a:r>
              <a:rPr lang="ne-NP" smtClean="0">
                <a:cs typeface="Kalimati" panose="00000400000000000000" pitchFamily="2"/>
              </a:rPr>
              <a:t>विद्युतीय अभिलेख</a:t>
            </a:r>
            <a:r>
              <a:rPr lang="ne-NP">
                <a:cs typeface="Kalimati" panose="00000400000000000000" pitchFamily="2"/>
              </a:rPr>
              <a:t> </a:t>
            </a:r>
            <a:r>
              <a:rPr lang="ne-NP" smtClean="0">
                <a:cs typeface="Kalimati" panose="00000400000000000000" pitchFamily="2"/>
              </a:rPr>
              <a:t>र अपलोड</a:t>
            </a:r>
          </a:p>
        </p:txBody>
      </p:sp>
    </p:spTree>
    <p:extLst>
      <p:ext uri="{BB962C8B-B14F-4D97-AF65-F5344CB8AC3E}">
        <p14:creationId xmlns:p14="http://schemas.microsoft.com/office/powerpoint/2010/main" val="197739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हस्ताक्षर खण्ड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ne-NP" dirty="0">
                <a:cs typeface="Kalimati" panose="00000400000000000000" pitchFamily="2"/>
              </a:rPr>
              <a:t>न्यायाधीशको </a:t>
            </a:r>
            <a:r>
              <a:rPr lang="ne-NP" dirty="0" smtClean="0">
                <a:cs typeface="Kalimati" panose="00000400000000000000" pitchFamily="2"/>
              </a:rPr>
              <a:t>नाम</a:t>
            </a:r>
            <a:endParaRPr lang="ne-NP" dirty="0" smtClean="0"/>
          </a:p>
          <a:p>
            <a:pPr>
              <a:lnSpc>
                <a:spcPct val="150000"/>
              </a:lnSpc>
            </a:pPr>
            <a:r>
              <a:rPr lang="ne-NP" dirty="0" smtClean="0">
                <a:cs typeface="Kalimati" panose="00000400000000000000" pitchFamily="2"/>
              </a:rPr>
              <a:t>फैसला मितिः कसूर ठहर र सजाय निर्धारण</a:t>
            </a:r>
            <a:endParaRPr lang="ne-NP" dirty="0">
              <a:cs typeface="Kalimati" panose="00000400000000000000" pitchFamily="2"/>
            </a:endParaRPr>
          </a:p>
          <a:p>
            <a:pPr>
              <a:lnSpc>
                <a:spcPct val="150000"/>
              </a:lnSpc>
            </a:pPr>
            <a:r>
              <a:rPr lang="ne-NP" dirty="0" smtClean="0">
                <a:cs typeface="Kalimati" panose="00000400000000000000" pitchFamily="2"/>
              </a:rPr>
              <a:t>प्रमाणीकरण मिति</a:t>
            </a:r>
            <a:endParaRPr lang="ne-NP" dirty="0" smtClean="0">
              <a:cs typeface="Kalimati" panose="00000400000000000000" pitchFamily="2"/>
            </a:endParaRPr>
          </a:p>
          <a:p>
            <a:pPr>
              <a:lnSpc>
                <a:spcPct val="150000"/>
              </a:lnSpc>
            </a:pPr>
            <a:r>
              <a:rPr lang="ne-NP" dirty="0" smtClean="0">
                <a:cs typeface="Kalimati" panose="00000400000000000000" pitchFamily="2"/>
              </a:rPr>
              <a:t>सहयोगी कर्मचारी</a:t>
            </a:r>
          </a:p>
          <a:p>
            <a:pPr>
              <a:lnSpc>
                <a:spcPct val="150000"/>
              </a:lnSpc>
            </a:pPr>
            <a:r>
              <a:rPr lang="ne-NP" dirty="0" smtClean="0">
                <a:cs typeface="Kalimati" panose="00000400000000000000" pitchFamily="2"/>
              </a:rPr>
              <a:t>फाँट</a:t>
            </a:r>
          </a:p>
        </p:txBody>
      </p:sp>
    </p:spTree>
    <p:extLst>
      <p:ext uri="{BB962C8B-B14F-4D97-AF65-F5344CB8AC3E}">
        <p14:creationId xmlns:p14="http://schemas.microsoft.com/office/powerpoint/2010/main" val="855151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फैसला लेखनमा हालको प्रचलन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5018" y="1880558"/>
            <a:ext cx="10418781" cy="4471512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ne-NP" smtClean="0">
                <a:cs typeface="Kalimati" panose="00000400000000000000" pitchFamily="2"/>
              </a:rPr>
              <a:t>खण्डहरू छुट्याउने</a:t>
            </a: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ne-NP" smtClean="0">
                <a:cs typeface="Kalimati" panose="00000400000000000000" pitchFamily="2"/>
              </a:rPr>
              <a:t>तथ्यको शीर्षक दिने </a:t>
            </a: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ne-NP" smtClean="0">
                <a:cs typeface="Kalimati" panose="00000400000000000000" pitchFamily="2"/>
              </a:rPr>
              <a:t>प्रकरण </a:t>
            </a:r>
            <a:r>
              <a:rPr lang="ne-NP">
                <a:cs typeface="Kalimati" panose="00000400000000000000" pitchFamily="2"/>
              </a:rPr>
              <a:t>नम्बर </a:t>
            </a:r>
            <a:r>
              <a:rPr lang="ne-NP" smtClean="0">
                <a:cs typeface="Kalimati" panose="00000400000000000000" pitchFamily="2"/>
              </a:rPr>
              <a:t>राख्‍ने</a:t>
            </a:r>
            <a:r>
              <a:rPr lang="en-US" smtClean="0">
                <a:cs typeface="Kalimati" panose="00000400000000000000" pitchFamily="2"/>
              </a:rPr>
              <a:t>, </a:t>
            </a:r>
            <a:r>
              <a:rPr lang="ne-NP" smtClean="0">
                <a:cs typeface="Kalimati" panose="00000400000000000000" pitchFamily="2"/>
              </a:rPr>
              <a:t>उप</a:t>
            </a:r>
            <a:r>
              <a:rPr lang="en-US" smtClean="0">
                <a:cs typeface="Kalimati" panose="00000400000000000000" pitchFamily="2"/>
              </a:rPr>
              <a:t>-</a:t>
            </a:r>
            <a:r>
              <a:rPr lang="ne-NP" smtClean="0">
                <a:cs typeface="Kalimati" panose="00000400000000000000" pitchFamily="2"/>
              </a:rPr>
              <a:t>शीर्षक </a:t>
            </a:r>
            <a:r>
              <a:rPr lang="ne-NP" dirty="0">
                <a:cs typeface="Kalimati" panose="00000400000000000000" pitchFamily="2"/>
              </a:rPr>
              <a:t>दिने</a:t>
            </a: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ne-NP" smtClean="0">
                <a:cs typeface="Kalimati" panose="00000400000000000000" pitchFamily="2"/>
              </a:rPr>
              <a:t>महत्वपूर्ण कुरालाई बोल्ड</a:t>
            </a:r>
            <a:r>
              <a:rPr lang="en-US" smtClean="0">
                <a:cs typeface="Kalimati" panose="00000400000000000000" pitchFamily="2"/>
              </a:rPr>
              <a:t>, </a:t>
            </a:r>
            <a:r>
              <a:rPr lang="ne-NP" smtClean="0">
                <a:cs typeface="Kalimati" panose="00000400000000000000" pitchFamily="2"/>
              </a:rPr>
              <a:t>इटालिक</a:t>
            </a:r>
            <a:r>
              <a:rPr lang="en-US" smtClean="0">
                <a:cs typeface="Kalimati" panose="00000400000000000000" pitchFamily="2"/>
              </a:rPr>
              <a:t>, </a:t>
            </a:r>
            <a:r>
              <a:rPr lang="ne-NP" smtClean="0">
                <a:cs typeface="Kalimati" panose="00000400000000000000" pitchFamily="2"/>
              </a:rPr>
              <a:t>अण्डरलाइन </a:t>
            </a:r>
            <a:r>
              <a:rPr lang="ne-NP" dirty="0">
                <a:cs typeface="Kalimati" panose="00000400000000000000" pitchFamily="2"/>
              </a:rPr>
              <a:t>दिने</a:t>
            </a:r>
          </a:p>
          <a:p>
            <a:pPr>
              <a:buFont typeface="Wingdings" pitchFamily="2" charset="2"/>
              <a:buChar char="§"/>
            </a:pPr>
            <a:endParaRPr lang="ne-NP" dirty="0">
              <a:cs typeface="Kalimati" panose="00000400000000000000" pitchFamily="2"/>
            </a:endParaRPr>
          </a:p>
          <a:p>
            <a:pPr>
              <a:buFont typeface="Wingdings" pitchFamily="2" charset="2"/>
              <a:buChar char="§"/>
            </a:pPr>
            <a:endParaRPr lang="ne-NP" dirty="0">
              <a:cs typeface="Kalimati" panose="00000400000000000000" pitchFamily="2"/>
            </a:endParaRPr>
          </a:p>
          <a:p>
            <a:pPr>
              <a:buFont typeface="Wingdings" pitchFamily="2" charset="2"/>
              <a:buChar char="§"/>
            </a:pPr>
            <a:endParaRPr lang="ne-NP" dirty="0">
              <a:cs typeface="Kalimati" panose="00000400000000000000" pitchFamily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85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600" smtClean="0">
                <a:cs typeface="Kalimati" panose="00000400000000000000" pitchFamily="2"/>
              </a:rPr>
              <a:t>प्रचलन</a:t>
            </a:r>
            <a:endParaRPr lang="en-US" sz="360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20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साभार गर्दा इन्भर्टेड कमा </a:t>
            </a:r>
            <a:r>
              <a:rPr lang="ne-NP" smtClean="0">
                <a:cs typeface="Kalimati" panose="00000400000000000000" pitchFamily="2"/>
              </a:rPr>
              <a:t>दिने वा दुवै साइडमा भित्र पारेर लेख्‍ने</a:t>
            </a:r>
            <a:endParaRPr lang="ne-NP">
              <a:cs typeface="Kalimati" panose="00000400000000000000" pitchFamily="2"/>
            </a:endParaRPr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फुटनोट </a:t>
            </a:r>
            <a:r>
              <a:rPr lang="ne-NP" smtClean="0">
                <a:cs typeface="Kalimati" panose="00000400000000000000" pitchFamily="2"/>
              </a:rPr>
              <a:t>दिने वा कोष्ठमा लेख्‍ने</a:t>
            </a:r>
            <a:endParaRPr lang="ne-NP">
              <a:cs typeface="Kalimati" panose="00000400000000000000" pitchFamily="2"/>
            </a:endParaRPr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वढी विवेचना र लामो फैसला</a:t>
            </a:r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कपी पेष्ट</a:t>
            </a:r>
          </a:p>
          <a:p>
            <a:pPr marL="457200" indent="-457200">
              <a:lnSpc>
                <a:spcPct val="20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शुद्धतामा सजगता</a:t>
            </a:r>
            <a:endParaRPr lang="ne-NP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02351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600" smtClean="0">
                <a:cs typeface="Kalimati" panose="00000400000000000000" pitchFamily="2"/>
              </a:rPr>
              <a:t>द्विविधा पर्ने विषय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457200" indent="-457200">
              <a:lnSpc>
                <a:spcPct val="200000"/>
              </a:lnSpc>
            </a:pPr>
            <a:r>
              <a:rPr lang="ne-NP" smtClean="0">
                <a:cs typeface="Kalimati" panose="00000400000000000000" pitchFamily="2"/>
              </a:rPr>
              <a:t>राय कितावमा कति लेख्‍ने</a:t>
            </a:r>
            <a:r>
              <a:rPr lang="en-US" smtClean="0"/>
              <a:t>?</a:t>
            </a:r>
            <a:endParaRPr lang="ne-NP" smtClean="0">
              <a:cs typeface="Kalimati" panose="00000400000000000000" pitchFamily="2"/>
            </a:endParaRPr>
          </a:p>
          <a:p>
            <a:pPr marL="457200" indent="-457200">
              <a:lnSpc>
                <a:spcPct val="200000"/>
              </a:lnSpc>
            </a:pPr>
            <a:r>
              <a:rPr lang="ne-NP" smtClean="0">
                <a:cs typeface="Kalimati" panose="00000400000000000000" pitchFamily="2"/>
              </a:rPr>
              <a:t>के के लेख्‍ने</a:t>
            </a:r>
            <a:r>
              <a:rPr lang="en-US" smtClean="0"/>
              <a:t>?</a:t>
            </a:r>
          </a:p>
          <a:p>
            <a:pPr marL="457200" indent="-457200">
              <a:lnSpc>
                <a:spcPct val="200000"/>
              </a:lnSpc>
            </a:pPr>
            <a:r>
              <a:rPr lang="ne-NP" smtClean="0">
                <a:cs typeface="Kalimati" panose="00000400000000000000" pitchFamily="2"/>
              </a:rPr>
              <a:t>सजाय निर्धारणको लागि राख्‍नुपर्ने अवस्था</a:t>
            </a:r>
          </a:p>
          <a:p>
            <a:pPr marL="457200" indent="-457200">
              <a:lnSpc>
                <a:spcPct val="200000"/>
              </a:lnSpc>
            </a:pPr>
            <a:r>
              <a:rPr lang="ne-NP" smtClean="0">
                <a:cs typeface="Kalimati" panose="00000400000000000000" pitchFamily="2"/>
              </a:rPr>
              <a:t>सजाय निर्धारणमा कति कुरा लेख्‍ने</a:t>
            </a:r>
            <a:r>
              <a:rPr lang="en-US" smtClean="0"/>
              <a:t>?</a:t>
            </a:r>
            <a:endParaRPr lang="ne-NP" smtClean="0">
              <a:cs typeface="Kalimati" panose="00000400000000000000" pitchFamily="2"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15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द्विविधा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marL="457200" indent="-457200"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सजाय निर्धारण सम्बन्धी मार्गदर्शनको प्रयोग</a:t>
            </a:r>
          </a:p>
          <a:p>
            <a:pPr marL="457200" indent="-457200"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फैसलामा व्याख्या कति गर्ने</a:t>
            </a:r>
            <a:r>
              <a:rPr lang="en-US"/>
              <a:t>?</a:t>
            </a:r>
            <a:endParaRPr lang="ne-NP">
              <a:cs typeface="Kalimati" panose="00000400000000000000" pitchFamily="2"/>
            </a:endParaRPr>
          </a:p>
          <a:p>
            <a:pPr marL="457200" indent="-457200"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नजीर उल्लेखनको आवश्यकता</a:t>
            </a:r>
          </a:p>
          <a:p>
            <a:pPr marL="457200" indent="-457200"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प्रमाणीकरण मिति</a:t>
            </a:r>
          </a:p>
        </p:txBody>
      </p:sp>
    </p:spTree>
    <p:extLst>
      <p:ext uri="{BB962C8B-B14F-4D97-AF65-F5344CB8AC3E}">
        <p14:creationId xmlns:p14="http://schemas.microsoft.com/office/powerpoint/2010/main" val="202149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2800">
                <a:cs typeface="Kalimati" panose="00000400000000000000" pitchFamily="2"/>
              </a:rPr>
              <a:t>फैसला </a:t>
            </a:r>
            <a:r>
              <a:rPr lang="ne-NP" sz="2800" smtClean="0">
                <a:cs typeface="Kalimati" panose="00000400000000000000" pitchFamily="2"/>
              </a:rPr>
              <a:t>लेखनका केही कमजोरीहरू</a:t>
            </a:r>
            <a:endParaRPr lang="en-GB" sz="2800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457200" indent="-457200">
              <a:lnSpc>
                <a:spcPct val="200000"/>
              </a:lnSpc>
            </a:pPr>
            <a:r>
              <a:rPr lang="ne-NP" sz="2400" smtClean="0">
                <a:cs typeface="Kalimati" panose="00000400000000000000" pitchFamily="2"/>
              </a:rPr>
              <a:t>ढाँचा</a:t>
            </a:r>
            <a:r>
              <a:rPr lang="ne-NP" sz="2400">
                <a:cs typeface="Kalimati" panose="00000400000000000000" pitchFamily="2"/>
              </a:rPr>
              <a:t> </a:t>
            </a:r>
            <a:r>
              <a:rPr lang="ne-NP" sz="2400" smtClean="0">
                <a:cs typeface="Kalimati" panose="00000400000000000000" pitchFamily="2"/>
              </a:rPr>
              <a:t>र संरचनामा विविध अभ्यास</a:t>
            </a:r>
          </a:p>
          <a:p>
            <a:pPr marL="457200" indent="-457200">
              <a:lnSpc>
                <a:spcPct val="200000"/>
              </a:lnSpc>
            </a:pPr>
            <a:r>
              <a:rPr lang="ne-NP" sz="2400" smtClean="0">
                <a:cs typeface="Kalimati" panose="00000400000000000000" pitchFamily="2"/>
              </a:rPr>
              <a:t>टिपोट अति लामो वा अति छोटो</a:t>
            </a:r>
          </a:p>
          <a:p>
            <a:pPr marL="457200" indent="-457200">
              <a:lnSpc>
                <a:spcPct val="200000"/>
              </a:lnSpc>
            </a:pPr>
            <a:r>
              <a:rPr lang="ne-NP" sz="2400" smtClean="0">
                <a:cs typeface="Kalimati" panose="00000400000000000000" pitchFamily="2"/>
              </a:rPr>
              <a:t>ठहर खण्ड र तथ्यहरूको वेमेल</a:t>
            </a:r>
          </a:p>
          <a:p>
            <a:pPr marL="457200" indent="-457200">
              <a:lnSpc>
                <a:spcPct val="200000"/>
              </a:lnSpc>
            </a:pPr>
            <a:r>
              <a:rPr lang="ne-NP" sz="2400" smtClean="0">
                <a:cs typeface="Kalimati" panose="00000400000000000000" pitchFamily="2"/>
              </a:rPr>
              <a:t>शीर्षक उप</a:t>
            </a:r>
            <a:r>
              <a:rPr lang="en-US" sz="2400" smtClean="0">
                <a:cs typeface="Kalimati" panose="00000400000000000000" pitchFamily="2"/>
              </a:rPr>
              <a:t>-</a:t>
            </a:r>
            <a:r>
              <a:rPr lang="ne-NP" sz="2400" smtClean="0">
                <a:cs typeface="Kalimati" panose="00000400000000000000" pitchFamily="2"/>
              </a:rPr>
              <a:t>शीर्षक विभाजनमा अन्योल र विवधता</a:t>
            </a:r>
          </a:p>
          <a:p>
            <a:pPr marL="457200" indent="-457200">
              <a:lnSpc>
                <a:spcPct val="200000"/>
              </a:lnSpc>
            </a:pPr>
            <a:r>
              <a:rPr lang="ne-NP" sz="2400" smtClean="0">
                <a:cs typeface="Kalimati" panose="00000400000000000000" pitchFamily="2"/>
              </a:rPr>
              <a:t>शब्द </a:t>
            </a:r>
            <a:r>
              <a:rPr lang="ne-NP" sz="2400">
                <a:cs typeface="Kalimati" panose="00000400000000000000" pitchFamily="2"/>
              </a:rPr>
              <a:t>र वाक्य संरचनामा </a:t>
            </a:r>
            <a:r>
              <a:rPr lang="ne-NP" sz="2400" smtClean="0">
                <a:cs typeface="Kalimati" panose="00000400000000000000" pitchFamily="2"/>
              </a:rPr>
              <a:t>अशुद्धता</a:t>
            </a:r>
          </a:p>
        </p:txBody>
      </p:sp>
    </p:spTree>
    <p:extLst>
      <p:ext uri="{BB962C8B-B14F-4D97-AF65-F5344CB8AC3E}">
        <p14:creationId xmlns:p14="http://schemas.microsoft.com/office/powerpoint/2010/main" val="168469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कमजोरी</a:t>
            </a:r>
            <a:endParaRPr lang="en-US" sz="320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जटिल र अस्पष्ट वाक्य संरचना</a:t>
            </a:r>
          </a:p>
          <a:p>
            <a:pPr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प्रस्तुतीकरणमा पुनरावृत्ति </a:t>
            </a:r>
          </a:p>
          <a:p>
            <a:pPr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सिलसिला नमिल्ने</a:t>
            </a:r>
          </a:p>
          <a:p>
            <a:pPr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ठूला अनुच्छेदहरू </a:t>
            </a:r>
          </a:p>
          <a:p>
            <a:pPr>
              <a:lnSpc>
                <a:spcPct val="200000"/>
              </a:lnSpc>
            </a:pPr>
            <a:r>
              <a:rPr lang="ne-NP" dirty="0">
                <a:cs typeface="Kalimati" panose="00000400000000000000" pitchFamily="2"/>
              </a:rPr>
              <a:t>माग दावी </a:t>
            </a:r>
            <a:r>
              <a:rPr lang="ne-NP" dirty="0" smtClean="0">
                <a:cs typeface="Kalimati" panose="00000400000000000000" pitchFamily="2"/>
              </a:rPr>
              <a:t>र </a:t>
            </a:r>
            <a:r>
              <a:rPr lang="ne-NP" dirty="0">
                <a:cs typeface="Kalimati" panose="00000400000000000000" pitchFamily="2"/>
              </a:rPr>
              <a:t>स्पष्ट उल्लेख </a:t>
            </a:r>
            <a:r>
              <a:rPr lang="ne-NP" dirty="0" smtClean="0">
                <a:cs typeface="Kalimati" panose="00000400000000000000" pitchFamily="2"/>
              </a:rPr>
              <a:t>नहुने</a:t>
            </a:r>
            <a:endParaRPr lang="ne-NP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178135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कानून व्यवसायीको भनाइको कम उल्लेख</a:t>
            </a:r>
          </a:p>
          <a:p>
            <a:pPr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सम्बद्ध प्रमाण</a:t>
            </a:r>
            <a:r>
              <a:rPr lang="en-US">
                <a:cs typeface="Kalimati" panose="00000400000000000000" pitchFamily="2"/>
              </a:rPr>
              <a:t>, </a:t>
            </a:r>
            <a:r>
              <a:rPr lang="ne-NP">
                <a:cs typeface="Kalimati" panose="00000400000000000000" pitchFamily="2"/>
              </a:rPr>
              <a:t>कानूनी व्यवस्था र तथ्यको विवेचना कम हुने</a:t>
            </a:r>
            <a:endParaRPr lang="en-US">
              <a:cs typeface="Kalimati" panose="00000400000000000000" pitchFamily="2"/>
            </a:endParaRPr>
          </a:p>
          <a:p>
            <a:pPr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ठहर गर्नु पर्ने कुरा यकिन नगरी </a:t>
            </a:r>
            <a:r>
              <a:rPr lang="ne-NP" smtClean="0">
                <a:cs typeface="Kalimati" panose="00000400000000000000" pitchFamily="2"/>
              </a:rPr>
              <a:t>लेख्‍ने</a:t>
            </a:r>
          </a:p>
          <a:p>
            <a:pPr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सजाय निर्धारणको पर्याप्‍त विवेचना नहुने</a:t>
            </a:r>
          </a:p>
          <a:p>
            <a:endParaRPr lang="ne-NP" dirty="0">
              <a:cs typeface="Kalimati" panose="00000400000000000000" pitchFamily="2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कमजोरी</a:t>
            </a:r>
            <a:endParaRPr lang="en-US" sz="320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0342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>
              <a:lnSpc>
                <a:spcPct val="200000"/>
              </a:lnSpc>
            </a:pPr>
            <a:r>
              <a:rPr lang="ne-NP">
                <a:cs typeface="Kalimati" panose="00000400000000000000" pitchFamily="2"/>
              </a:rPr>
              <a:t>तपसिल खण्डलाई वेवास्ता</a:t>
            </a: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मिति तथ्याङ्कहरु रुजु नगर्ने</a:t>
            </a: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कपि पेष्ट गर्दा सजगता नराख्‍ने</a:t>
            </a: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धेरै संशोधन </a:t>
            </a:r>
            <a:r>
              <a:rPr lang="ne-NP" smtClean="0">
                <a:cs typeface="Kalimati" panose="00000400000000000000" pitchFamily="2"/>
              </a:rPr>
              <a:t>गर्नुपर्ने अवस्था</a:t>
            </a:r>
            <a:endParaRPr lang="ne-NP">
              <a:cs typeface="Kalimati" panose="00000400000000000000" pitchFamily="2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कमजोरी</a:t>
            </a:r>
            <a:endParaRPr lang="en-US" sz="320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92859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457200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ne-NP" dirty="0">
                <a:cs typeface="Kalimati" panose="00000400000000000000" pitchFamily="2"/>
              </a:rPr>
              <a:t>कर्मचारीको मात्र भरमा </a:t>
            </a:r>
            <a:r>
              <a:rPr lang="ne-NP" dirty="0" smtClean="0">
                <a:cs typeface="Kalimati" panose="00000400000000000000" pitchFamily="2"/>
              </a:rPr>
              <a:t>नपर्ने।</a:t>
            </a:r>
            <a:endParaRPr lang="ne-NP" dirty="0">
              <a:cs typeface="Kalimati" panose="00000400000000000000" pitchFamily="2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ne-NP" dirty="0" smtClean="0">
                <a:cs typeface="Kalimati" panose="00000400000000000000" pitchFamily="2"/>
              </a:rPr>
              <a:t>आफ्नो लागि ढाँचा बनाउने र कर्मचारीलाई त्यसको वारेमा सिकाउने</a:t>
            </a:r>
            <a:endParaRPr lang="ne-NP" dirty="0">
              <a:cs typeface="Kalimati" panose="00000400000000000000" pitchFamily="2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ne-NP" dirty="0" smtClean="0">
                <a:cs typeface="Kalimati" panose="00000400000000000000" pitchFamily="2"/>
              </a:rPr>
              <a:t>सकेसम्म मुद्दाका </a:t>
            </a:r>
            <a:r>
              <a:rPr lang="ne-NP" dirty="0">
                <a:cs typeface="Kalimati" panose="00000400000000000000" pitchFamily="2"/>
              </a:rPr>
              <a:t>पक्षहरूले पनि </a:t>
            </a:r>
            <a:r>
              <a:rPr lang="ne-NP" dirty="0" smtClean="0">
                <a:cs typeface="Kalimati" panose="00000400000000000000" pitchFamily="2"/>
              </a:rPr>
              <a:t>वुझ्न </a:t>
            </a:r>
            <a:r>
              <a:rPr lang="ne-NP" dirty="0">
                <a:cs typeface="Kalimati" panose="00000400000000000000" pitchFamily="2"/>
              </a:rPr>
              <a:t>सक्ने </a:t>
            </a:r>
            <a:r>
              <a:rPr lang="ne-NP" dirty="0" smtClean="0">
                <a:cs typeface="Kalimati" panose="00000400000000000000" pitchFamily="2"/>
              </a:rPr>
              <a:t>भाषाको प्रयोग गर्ने। </a:t>
            </a:r>
            <a:endParaRPr lang="ne-NP" dirty="0">
              <a:cs typeface="Kalimati" panose="00000400000000000000" pitchFamily="2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ne-NP" dirty="0">
                <a:cs typeface="Kalimati" panose="00000400000000000000" pitchFamily="2"/>
              </a:rPr>
              <a:t>तथ्य खण्ड, ठहर खण्ड र तपसिल खण्डवीच </a:t>
            </a:r>
            <a:r>
              <a:rPr lang="ne-NP" dirty="0" smtClean="0">
                <a:cs typeface="Kalimati" panose="00000400000000000000" pitchFamily="2"/>
              </a:rPr>
              <a:t>सामञ्जस्यता राख्‍न ध्यान दिने।</a:t>
            </a:r>
            <a:endParaRPr lang="ne-NP" dirty="0">
              <a:cs typeface="Kalimati" panose="00000400000000000000" pitchFamily="2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ne-NP" dirty="0" smtClean="0">
                <a:cs typeface="Kalimati" panose="00000400000000000000" pitchFamily="2"/>
              </a:rPr>
              <a:t>ठहर गर्नुपर्ने प्रश्‍नको सिलसिलेवार विश्‍लेषण र उत्तर दिने।</a:t>
            </a:r>
            <a:endParaRPr lang="ne-NP" dirty="0">
              <a:cs typeface="Kalimati" panose="00000400000000000000" pitchFamily="2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विशेष सजगताका विषय</a:t>
            </a:r>
            <a:endParaRPr lang="en-US" sz="320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9774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457200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प्रमुख दावीका विषयमा लेख्‍न </a:t>
            </a:r>
            <a:r>
              <a:rPr lang="ne-NP" smtClean="0">
                <a:cs typeface="Kalimati" panose="00000400000000000000" pitchFamily="2"/>
              </a:rPr>
              <a:t>नछुटाउने</a:t>
            </a:r>
            <a:endParaRPr lang="ne-NP">
              <a:cs typeface="Kalimati" panose="00000400000000000000" pitchFamily="2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भाषा </a:t>
            </a:r>
            <a:r>
              <a:rPr lang="ne-NP" smtClean="0">
                <a:cs typeface="Kalimati" panose="00000400000000000000" pitchFamily="2"/>
              </a:rPr>
              <a:t>परिमार्जनका लागि निरन्तर प्रयास गर्ने।</a:t>
            </a:r>
            <a:endParaRPr lang="ne-NP">
              <a:cs typeface="Kalimati" panose="00000400000000000000" pitchFamily="2"/>
            </a:endParaRP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ऐन कानून र नजिरको पालनामा सतर्कता अपनाउने 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फैसला अनावश्यक लामो नवनाउने।</a:t>
            </a:r>
          </a:p>
          <a:p>
            <a:pPr marL="457200" indent="-457200" algn="just">
              <a:lnSpc>
                <a:spcPct val="150000"/>
              </a:lnSpc>
              <a:buFont typeface="Wingdings" pitchFamily="2" charset="2"/>
              <a:buChar char="§"/>
            </a:pPr>
            <a:r>
              <a:rPr lang="ne-NP">
                <a:cs typeface="Kalimati" panose="00000400000000000000" pitchFamily="2"/>
              </a:rPr>
              <a:t>अंग्रेजी शब्दावलीको प्रयोग गर्दा नेपाली भाषामा पछि कोष्टकमा अंग्रेजीमा लेख्ने</a:t>
            </a: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ne-NP" sz="3200" smtClean="0">
                <a:cs typeface="Kalimati" panose="00000400000000000000" pitchFamily="2"/>
              </a:rPr>
              <a:t>विशेष सजगताका विषय</a:t>
            </a:r>
            <a:endParaRPr lang="en-US" sz="320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21159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endParaRPr lang="ne-NP" sz="3600" dirty="0" smtClean="0">
              <a:cs typeface="Kalimati" panose="00000400000000000000" pitchFamily="2"/>
            </a:endParaRPr>
          </a:p>
          <a:p>
            <a:pPr algn="ctr"/>
            <a:endParaRPr lang="ne-NP" sz="3600" dirty="0">
              <a:cs typeface="Kalimati" panose="00000400000000000000" pitchFamily="2"/>
            </a:endParaRPr>
          </a:p>
          <a:p>
            <a:pPr marL="0" indent="0" algn="ctr">
              <a:buNone/>
            </a:pPr>
            <a:r>
              <a:rPr lang="ne-NP" sz="3600" dirty="0" smtClean="0">
                <a:cs typeface="Kalimati" panose="00000400000000000000" pitchFamily="2"/>
              </a:rPr>
              <a:t>धन्यवाद</a:t>
            </a:r>
            <a:endParaRPr lang="en-US" sz="3600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69739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1584</Words>
  <Application>Microsoft Office PowerPoint</Application>
  <PresentationFormat>Widescreen</PresentationFormat>
  <Paragraphs>269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Arial</vt:lpstr>
      <vt:lpstr>Calibri</vt:lpstr>
      <vt:lpstr>Calibri Light</vt:lpstr>
      <vt:lpstr>Kalimati</vt:lpstr>
      <vt:lpstr>Mangal</vt:lpstr>
      <vt:lpstr>Wingdings</vt:lpstr>
      <vt:lpstr>Office Theme</vt:lpstr>
      <vt:lpstr>फैसला लेखनका आधारभूत पक्षहरू</vt:lpstr>
      <vt:lpstr>प्रस्तुतिका विषयहरू</vt:lpstr>
      <vt:lpstr>फैसलाः परिचय</vt:lpstr>
      <vt:lpstr>परिभाषा</vt:lpstr>
      <vt:lpstr>Judgment</vt:lpstr>
      <vt:lpstr>A good Judgment</vt:lpstr>
      <vt:lpstr>फैसलाका पाठक</vt:lpstr>
      <vt:lpstr>फौजदारी मुद्दाको फैसलाको प्रकार</vt:lpstr>
      <vt:lpstr>फौजदारी … </vt:lpstr>
      <vt:lpstr>देवानी मुद्दाको फैसलाको प्रकार</vt:lpstr>
      <vt:lpstr>फैसला लेखनसम्बन्धी ज्ञान र सीप</vt:lpstr>
      <vt:lpstr> ज्ञान र सीप…</vt:lpstr>
      <vt:lpstr>फौजदारी मुद्दामा फैसलाको ढाँचा                                       </vt:lpstr>
      <vt:lpstr>देवानी फैसलाको ढाँचा</vt:lpstr>
      <vt:lpstr>फैसलाका मुख्य खण्डहरू</vt:lpstr>
      <vt:lpstr>शीर खण्ड</vt:lpstr>
      <vt:lpstr>सरकारवादी फौजदारी मुद्दाको तथ्य खण्ड</vt:lpstr>
      <vt:lpstr>तथ्य खण्ड</vt:lpstr>
      <vt:lpstr>देवानी मुद्दाको तथ्य खण्ड</vt:lpstr>
      <vt:lpstr>फैसला लेखनको तयारी</vt:lpstr>
      <vt:lpstr>टिपोट खण्डः ध्यान दिनुपर्ने कुराहरू</vt:lpstr>
      <vt:lpstr>टिपोट खण्डः ध्यान दिनुपर्ने कुराहरू</vt:lpstr>
      <vt:lpstr>टिपोट खण्डः ध्यान दिनुपर्ने कुराहरू</vt:lpstr>
      <vt:lpstr>फैसलामा उल्लेख हुनुपर्ने कुराहरुः जिअनि, २०७५, नियम ६७</vt:lpstr>
      <vt:lpstr>फैसलामा उल्लेख हुनुपर्ने कुराहरुः जिअनि, २०७५, नियम ६७</vt:lpstr>
      <vt:lpstr>ठहर खण्डको संरचना </vt:lpstr>
      <vt:lpstr>ठहर</vt:lpstr>
      <vt:lpstr>ठहर</vt:lpstr>
      <vt:lpstr>ठहर</vt:lpstr>
      <vt:lpstr>सजाय निर्धारण सुनुवाइ</vt:lpstr>
      <vt:lpstr>ठहर खण्ड लेखनः ध्यान दिनुपर्ने कुराहरू</vt:lpstr>
      <vt:lpstr>ठहर खण्ड लेखनः ध्यान दिनुपर्ने कुराहरू</vt:lpstr>
      <vt:lpstr>ठहर खण्ड लेखनः ध्यान दिनुपर्ने कुराहरू</vt:lpstr>
      <vt:lpstr>तपसिल</vt:lpstr>
      <vt:lpstr>तपसिल</vt:lpstr>
      <vt:lpstr>हस्ताक्षर खण्ड</vt:lpstr>
      <vt:lpstr>फैसला लेखनमा हालको प्रचलन</vt:lpstr>
      <vt:lpstr>प्रचलन</vt:lpstr>
      <vt:lpstr>द्विविधा पर्ने विषय</vt:lpstr>
      <vt:lpstr>द्विविधा</vt:lpstr>
      <vt:lpstr>फैसला लेखनका केही कमजोरीहरू</vt:lpstr>
      <vt:lpstr>कमजोरी</vt:lpstr>
      <vt:lpstr>कमजोरी</vt:lpstr>
      <vt:lpstr>कमजोरी</vt:lpstr>
      <vt:lpstr>विशेष सजगताका विषय</vt:lpstr>
      <vt:lpstr>विशेष सजगताका विषय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Microsoft account</cp:lastModifiedBy>
  <cp:revision>69</cp:revision>
  <dcterms:created xsi:type="dcterms:W3CDTF">2024-01-02T16:47:38Z</dcterms:created>
  <dcterms:modified xsi:type="dcterms:W3CDTF">2026-01-24T08:12:55Z</dcterms:modified>
</cp:coreProperties>
</file>