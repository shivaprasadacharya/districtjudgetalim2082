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308" r:id="rId2"/>
    <p:sldId id="362" r:id="rId3"/>
    <p:sldId id="363" r:id="rId4"/>
    <p:sldId id="364" r:id="rId5"/>
    <p:sldId id="415" r:id="rId6"/>
    <p:sldId id="366" r:id="rId7"/>
    <p:sldId id="367" r:id="rId8"/>
    <p:sldId id="368" r:id="rId9"/>
    <p:sldId id="369" r:id="rId10"/>
    <p:sldId id="382" r:id="rId11"/>
    <p:sldId id="381" r:id="rId12"/>
    <p:sldId id="365" r:id="rId13"/>
    <p:sldId id="371" r:id="rId14"/>
    <p:sldId id="372" r:id="rId15"/>
    <p:sldId id="373" r:id="rId16"/>
    <p:sldId id="385" r:id="rId17"/>
    <p:sldId id="383" r:id="rId18"/>
    <p:sldId id="384" r:id="rId19"/>
    <p:sldId id="403" r:id="rId20"/>
    <p:sldId id="389" r:id="rId21"/>
    <p:sldId id="408" r:id="rId22"/>
    <p:sldId id="409" r:id="rId23"/>
    <p:sldId id="416" r:id="rId24"/>
    <p:sldId id="417" r:id="rId25"/>
    <p:sldId id="390" r:id="rId26"/>
    <p:sldId id="391" r:id="rId27"/>
    <p:sldId id="406" r:id="rId28"/>
    <p:sldId id="414" r:id="rId29"/>
    <p:sldId id="413" r:id="rId30"/>
    <p:sldId id="412" r:id="rId31"/>
    <p:sldId id="396" r:id="rId32"/>
    <p:sldId id="397" r:id="rId33"/>
    <p:sldId id="398" r:id="rId34"/>
    <p:sldId id="399" r:id="rId35"/>
    <p:sldId id="400" r:id="rId36"/>
    <p:sldId id="401" r:id="rId37"/>
    <p:sldId id="407" r:id="rId38"/>
    <p:sldId id="305"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04" autoAdjust="0"/>
    <p:restoredTop sz="94660"/>
  </p:normalViewPr>
  <p:slideViewPr>
    <p:cSldViewPr>
      <p:cViewPr varScale="1">
        <p:scale>
          <a:sx n="55" d="100"/>
          <a:sy n="55" d="100"/>
        </p:scale>
        <p:origin x="1528"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34C621-7B4E-4093-82ED-377F2BB10C35}" type="datetimeFigureOut">
              <a:rPr lang="en-US" smtClean="0"/>
              <a:pPr/>
              <a:t>1/18/2026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DC3D70-BF0D-419D-8873-2DE0A3284B00}" type="slidenum">
              <a:rPr lang="en-US" smtClean="0"/>
              <a:pPr/>
              <a:t>‹#›</a:t>
            </a:fld>
            <a:endParaRPr lang="en-US"/>
          </a:p>
        </p:txBody>
      </p:sp>
    </p:spTree>
    <p:extLst>
      <p:ext uri="{BB962C8B-B14F-4D97-AF65-F5344CB8AC3E}">
        <p14:creationId xmlns:p14="http://schemas.microsoft.com/office/powerpoint/2010/main" val="4174975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3EF495E-475F-4D8D-B4EC-E5E3A36E405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9BA7F-CDE9-425E-BCD1-A0CE52BFC6C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EF495E-475F-4D8D-B4EC-E5E3A36E405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9BA7F-CDE9-425E-BCD1-A0CE52BFC6C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EF495E-475F-4D8D-B4EC-E5E3A36E405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9BA7F-CDE9-425E-BCD1-A0CE52BFC6C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3EF495E-475F-4D8D-B4EC-E5E3A36E405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89BA7F-CDE9-425E-BCD1-A0CE52BFC6C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3EF495E-475F-4D8D-B4EC-E5E3A36E4059}" type="datetimeFigureOut">
              <a:rPr lang="en-US" smtClean="0"/>
              <a:pPr/>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89BA7F-CDE9-425E-BCD1-A0CE52BFC6C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3EF495E-475F-4D8D-B4EC-E5E3A36E4059}" type="datetimeFigureOut">
              <a:rPr lang="en-US" smtClean="0"/>
              <a:pPr/>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89BA7F-CDE9-425E-BCD1-A0CE52BFC6C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EF495E-475F-4D8D-B4EC-E5E3A36E4059}"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89BA7F-CDE9-425E-BCD1-A0CE52BFC6C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EF495E-475F-4D8D-B4EC-E5E3A36E405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89BA7F-CDE9-425E-BCD1-A0CE52BFC6C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EF495E-475F-4D8D-B4EC-E5E3A36E4059}" type="datetimeFigureOut">
              <a:rPr lang="en-US" smtClean="0"/>
              <a:pPr/>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89BA7F-CDE9-425E-BCD1-A0CE52BFC6C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EF495E-475F-4D8D-B4EC-E5E3A36E405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9BA7F-CDE9-425E-BCD1-A0CE52BFC6C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EF495E-475F-4D8D-B4EC-E5E3A36E4059}"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9BA7F-CDE9-425E-BCD1-A0CE52BFC6C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EF495E-475F-4D8D-B4EC-E5E3A36E4059}" type="datetimeFigureOut">
              <a:rPr lang="en-US" smtClean="0"/>
              <a:pPr/>
              <a:t>1/18/2026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89BA7F-CDE9-425E-BCD1-A0CE52BFC6C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839200" cy="6172200"/>
          </a:xfrm>
        </p:spPr>
        <p:txBody>
          <a:bodyPr>
            <a:normAutofit/>
          </a:bodyPr>
          <a:lstStyle/>
          <a:p>
            <a:r>
              <a:rPr lang="ne-NP" sz="3200" dirty="0">
                <a:solidFill>
                  <a:srgbClr val="0070C0"/>
                </a:solidFill>
                <a:cs typeface="Kalimati" panose="00000400000000000000" pitchFamily="2"/>
              </a:rPr>
              <a:t>गुठी सम्बन्धी कानूनी व्यवस्था </a:t>
            </a:r>
            <a:br>
              <a:rPr lang="ne-NP" sz="4000" dirty="0">
                <a:solidFill>
                  <a:srgbClr val="0070C0"/>
                </a:solidFill>
                <a:cs typeface="Kalimati" panose="00000400000000000000" pitchFamily="2"/>
              </a:rPr>
            </a:br>
            <a:r>
              <a:rPr lang="ne-NP" sz="4000" dirty="0">
                <a:solidFill>
                  <a:srgbClr val="0070C0"/>
                </a:solidFill>
                <a:cs typeface="Kalimati" panose="00000400000000000000" pitchFamily="2"/>
              </a:rPr>
              <a:t> </a:t>
            </a:r>
            <a:br>
              <a:rPr lang="ne-NP" sz="4000" dirty="0">
                <a:solidFill>
                  <a:srgbClr val="0070C0"/>
                </a:solidFill>
                <a:cs typeface="Kalimati" panose="00000400000000000000" pitchFamily="2"/>
              </a:rPr>
            </a:br>
            <a:br>
              <a:rPr lang="ne-NP" sz="4000" dirty="0"/>
            </a:br>
            <a:br>
              <a:rPr lang="ne-NP" sz="4000" dirty="0"/>
            </a:br>
            <a:br>
              <a:rPr lang="ne-NP" sz="4000" dirty="0"/>
            </a:br>
            <a:r>
              <a:rPr lang="ne-NP" sz="4000" dirty="0">
                <a:cs typeface="+mn-cs"/>
              </a:rPr>
              <a:t>                   </a:t>
            </a:r>
            <a:br>
              <a:rPr lang="ne-NP" sz="4000" dirty="0">
                <a:cs typeface="+mn-cs"/>
              </a:rPr>
            </a:br>
            <a:br>
              <a:rPr lang="ne-NP" sz="4000" dirty="0">
                <a:cs typeface="+mn-cs"/>
              </a:rPr>
            </a:br>
            <a:r>
              <a:rPr lang="ne-NP" sz="4000" dirty="0">
                <a:cs typeface="+mn-cs"/>
              </a:rPr>
              <a:t>              </a:t>
            </a:r>
            <a:r>
              <a:rPr lang="ne-NP" sz="2000" dirty="0">
                <a:solidFill>
                  <a:srgbClr val="00B050"/>
                </a:solidFill>
                <a:cs typeface="Kalimati" panose="00000400000000000000" pitchFamily="2"/>
              </a:rPr>
              <a:t>राजु खतिवडा</a:t>
            </a:r>
            <a:br>
              <a:rPr lang="ne-NP" sz="2000" dirty="0">
                <a:solidFill>
                  <a:srgbClr val="00B050"/>
                </a:solidFill>
                <a:cs typeface="Kalimati" panose="00000400000000000000" pitchFamily="2"/>
              </a:rPr>
            </a:br>
            <a:br>
              <a:rPr lang="en-US" sz="2000" dirty="0">
                <a:solidFill>
                  <a:srgbClr val="00B050"/>
                </a:solidFill>
                <a:cs typeface="Kalimati" panose="00000400000000000000" pitchFamily="2"/>
              </a:rPr>
            </a:br>
            <a:r>
              <a:rPr lang="ne-NP" sz="2000" dirty="0">
                <a:solidFill>
                  <a:srgbClr val="00B050"/>
                </a:solidFill>
                <a:cs typeface="Kalimati" panose="00000400000000000000" pitchFamily="2"/>
              </a:rPr>
              <a:t>(</a:t>
            </a:r>
            <a:endParaRPr lang="en-US" sz="2000" dirty="0">
              <a:solidFill>
                <a:srgbClr val="00B050"/>
              </a:solidFill>
              <a:cs typeface="Kalimati" panose="00000400000000000000" pitchFamily="2"/>
            </a:endParaRPr>
          </a:p>
        </p:txBody>
      </p:sp>
      <p:pic>
        <p:nvPicPr>
          <p:cNvPr id="3" name="Picture 2">
            <a:extLst>
              <a:ext uri="{FF2B5EF4-FFF2-40B4-BE49-F238E27FC236}">
                <a16:creationId xmlns:a16="http://schemas.microsoft.com/office/drawing/2014/main" id="{2C49ACA1-D5D4-4E8C-590D-0A7261B79739}"/>
              </a:ext>
            </a:extLst>
          </p:cNvPr>
          <p:cNvPicPr>
            <a:picLocks noChangeAspect="1"/>
          </p:cNvPicPr>
          <p:nvPr/>
        </p:nvPicPr>
        <p:blipFill>
          <a:blip r:embed="rId2"/>
          <a:stretch>
            <a:fillRect/>
          </a:stretch>
        </p:blipFill>
        <p:spPr>
          <a:xfrm>
            <a:off x="1219200" y="1600200"/>
            <a:ext cx="6553200" cy="3200400"/>
          </a:xfrm>
          <a:prstGeom prst="rect">
            <a:avLst/>
          </a:prstGeom>
        </p:spPr>
      </p:pic>
    </p:spTree>
    <p:extLst>
      <p:ext uri="{BB962C8B-B14F-4D97-AF65-F5344CB8AC3E}">
        <p14:creationId xmlns:p14="http://schemas.microsoft.com/office/powerpoint/2010/main" val="44292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a:bodyPr>
          <a:lstStyle/>
          <a:p>
            <a:r>
              <a:rPr lang="ne-NP" sz="2800" dirty="0">
                <a:cs typeface="Kalimati" panose="00000400000000000000" pitchFamily="2"/>
              </a:rPr>
              <a:t>परिचय</a:t>
            </a:r>
            <a:endParaRPr lang="en-US" sz="2800" dirty="0">
              <a:cs typeface="Kalimati" panose="00000400000000000000" pitchFamily="2"/>
            </a:endParaRPr>
          </a:p>
        </p:txBody>
      </p:sp>
      <p:sp>
        <p:nvSpPr>
          <p:cNvPr id="3" name="Content Placeholder 2"/>
          <p:cNvSpPr>
            <a:spLocks noGrp="1"/>
          </p:cNvSpPr>
          <p:nvPr>
            <p:ph idx="1"/>
          </p:nvPr>
        </p:nvSpPr>
        <p:spPr>
          <a:xfrm>
            <a:off x="457200" y="1371600"/>
            <a:ext cx="8229600" cy="4953000"/>
          </a:xfrm>
        </p:spPr>
        <p:txBody>
          <a:bodyPr>
            <a:normAutofit lnSpcReduction="10000"/>
          </a:bodyPr>
          <a:lstStyle/>
          <a:p>
            <a:pPr algn="just"/>
            <a:r>
              <a:rPr lang="ne-NP" sz="2400" dirty="0">
                <a:latin typeface="Mangai"/>
                <a:cs typeface="Kalimati" panose="00000400000000000000" pitchFamily="2"/>
              </a:rPr>
              <a:t>संस्कृत शब्द गोष्ठीबाट गुठी शब्दको प्रादुर्भाव</a:t>
            </a:r>
          </a:p>
          <a:p>
            <a:pPr algn="just">
              <a:buNone/>
            </a:pPr>
            <a:endParaRPr lang="ne-NP" sz="2400" dirty="0">
              <a:latin typeface="Mangai"/>
              <a:cs typeface="Kalimati" panose="00000400000000000000" pitchFamily="2"/>
            </a:endParaRPr>
          </a:p>
          <a:p>
            <a:pPr algn="just"/>
            <a:r>
              <a:rPr lang="ne-NP" sz="2400" dirty="0">
                <a:latin typeface="Mangai"/>
                <a:cs typeface="Kalimati" panose="00000400000000000000" pitchFamily="2"/>
              </a:rPr>
              <a:t>सामूहिक भावना एवं सामाजिक र धार्मिक कार्यको उपज</a:t>
            </a:r>
          </a:p>
          <a:p>
            <a:pPr algn="just">
              <a:buNone/>
            </a:pPr>
            <a:endParaRPr lang="ne-NP" sz="2400" dirty="0">
              <a:latin typeface="Mangai"/>
              <a:cs typeface="Kalimati" panose="00000400000000000000" pitchFamily="2"/>
            </a:endParaRPr>
          </a:p>
          <a:p>
            <a:pPr algn="just"/>
            <a:r>
              <a:rPr lang="ne-NP" sz="2400" dirty="0">
                <a:latin typeface="Mangai"/>
                <a:cs typeface="Kalimati" panose="00000400000000000000" pitchFamily="2"/>
              </a:rPr>
              <a:t>कुनै निश्‍चित कार्यको लागि सम्पत्ति प्रदान गर्ने (दाता) त्यस्तो सम्पत्तिको प्रयोगबाट हुने कार्यबाट लाभ प्राप्त गर्ने व्यक्ति (हितग्राही) र त्यस्तो सम्पत्तिको परिचालन गरी तोकिएको कार्यको बन्दोवस्त र सञ्‍चालन गर्ने व्यक्ति(गुठीयार) समेतको एकिकृत रुप</a:t>
            </a:r>
            <a:endParaRPr lang="en-US" sz="2400" dirty="0">
              <a:latin typeface="Mangai"/>
              <a:cs typeface="Kalimati" panose="00000400000000000000" pitchFamily="2"/>
            </a:endParaRPr>
          </a:p>
          <a:p>
            <a:pPr algn="just"/>
            <a:r>
              <a:rPr lang="ne-NP" sz="2400" dirty="0">
                <a:latin typeface="Mangai"/>
                <a:cs typeface="Kalimati" panose="00000400000000000000" pitchFamily="2"/>
              </a:rPr>
              <a:t> अर्काको सम्पत्ति माथि निहित रहने एक प्रकारको अधिकार</a:t>
            </a:r>
          </a:p>
          <a:p>
            <a:pPr algn="just">
              <a:buNone/>
            </a:pPr>
            <a:endParaRPr lang="ne-NP" sz="2400" dirty="0">
              <a:latin typeface="Mangai"/>
              <a:cs typeface="Kalimati" panose="00000400000000000000" pitchFamily="2"/>
            </a:endParaRPr>
          </a:p>
          <a:p>
            <a:pPr algn="just"/>
            <a:r>
              <a:rPr lang="ne-NP" sz="2400" dirty="0">
                <a:latin typeface="Mangai"/>
                <a:cs typeface="Kalimati" panose="00000400000000000000" pitchFamily="2"/>
              </a:rPr>
              <a:t>वास्तविक स्वामी र लाभान्वित स्वामी</a:t>
            </a:r>
            <a:endParaRPr lang="en-US" sz="2400" dirty="0">
              <a:latin typeface="Mangai"/>
              <a:cs typeface="Kalimati" panose="00000400000000000000" pitchFamily="2"/>
            </a:endParaRPr>
          </a:p>
          <a:p>
            <a:pPr algn="just"/>
            <a:endParaRPr lang="ne-NP" sz="2400" dirty="0">
              <a:cs typeface="Kalimati" pitchFamily="2"/>
            </a:endParaRPr>
          </a:p>
          <a:p>
            <a:pPr algn="just"/>
            <a:endParaRPr lang="ne-NP" sz="2400" dirty="0">
              <a:cs typeface="Kalimati" pitchFamily="2"/>
            </a:endParaRPr>
          </a:p>
        </p:txBody>
      </p:sp>
    </p:spTree>
    <p:extLst>
      <p:ext uri="{BB962C8B-B14F-4D97-AF65-F5344CB8AC3E}">
        <p14:creationId xmlns:p14="http://schemas.microsoft.com/office/powerpoint/2010/main" val="3423923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a:bodyPr>
          <a:lstStyle/>
          <a:p>
            <a:r>
              <a:rPr lang="ne-NP" sz="1400">
                <a:cs typeface="Kalimati" pitchFamily="2"/>
              </a:rPr>
              <a:t>                                                                              क्रमश...                     </a:t>
            </a:r>
            <a:endParaRPr lang="en-US" sz="1400">
              <a:cs typeface="Kalimati" pitchFamily="2"/>
            </a:endParaRPr>
          </a:p>
        </p:txBody>
      </p:sp>
      <p:sp>
        <p:nvSpPr>
          <p:cNvPr id="3" name="Content Placeholder 2"/>
          <p:cNvSpPr>
            <a:spLocks noGrp="1"/>
          </p:cNvSpPr>
          <p:nvPr>
            <p:ph idx="1"/>
          </p:nvPr>
        </p:nvSpPr>
        <p:spPr>
          <a:xfrm>
            <a:off x="414338" y="1295400"/>
            <a:ext cx="8348662" cy="5181600"/>
          </a:xfrm>
        </p:spPr>
        <p:txBody>
          <a:bodyPr>
            <a:normAutofit/>
          </a:bodyPr>
          <a:lstStyle/>
          <a:p>
            <a:pPr algn="just">
              <a:buFont typeface="Wingdings" pitchFamily="2" charset="2"/>
              <a:buChar char="§"/>
            </a:pPr>
            <a:r>
              <a:rPr lang="ne-NP" sz="2400" dirty="0">
                <a:cs typeface="Kalimati" panose="00000400000000000000" pitchFamily="2"/>
              </a:rPr>
              <a:t>गुठी भन्‍नाले कुनै मठ वा कुनै देवी देवताको पर्व</a:t>
            </a:r>
            <a:r>
              <a:rPr lang="en-US" sz="2400" dirty="0">
                <a:cs typeface="Kalimati" panose="00000400000000000000" pitchFamily="2"/>
              </a:rPr>
              <a:t>,</a:t>
            </a:r>
            <a:r>
              <a:rPr lang="ne-NP" sz="2400" dirty="0">
                <a:cs typeface="Kalimati" panose="00000400000000000000" pitchFamily="2"/>
              </a:rPr>
              <a:t> पुजा वा जात्रा चलाउन वा कुनै धार्मिक वा परोपकारी कामको लागि कुनै मन्दिर</a:t>
            </a:r>
            <a:r>
              <a:rPr lang="en-US" sz="2400" dirty="0">
                <a:cs typeface="Kalimati" panose="00000400000000000000" pitchFamily="2"/>
              </a:rPr>
              <a:t>,</a:t>
            </a:r>
            <a:r>
              <a:rPr lang="ne-NP" sz="2400" dirty="0">
                <a:cs typeface="Kalimati" panose="00000400000000000000" pitchFamily="2"/>
              </a:rPr>
              <a:t> देवस्थल</a:t>
            </a:r>
            <a:r>
              <a:rPr lang="en-US" sz="2400" dirty="0">
                <a:cs typeface="Kalimati" panose="00000400000000000000" pitchFamily="2"/>
              </a:rPr>
              <a:t>,</a:t>
            </a:r>
            <a:r>
              <a:rPr lang="ne-NP" sz="2400" dirty="0">
                <a:cs typeface="Kalimati" panose="00000400000000000000" pitchFamily="2"/>
              </a:rPr>
              <a:t> धर्मशाला</a:t>
            </a:r>
            <a:r>
              <a:rPr lang="en-US" sz="2400" dirty="0">
                <a:cs typeface="Kalimati" panose="00000400000000000000" pitchFamily="2"/>
              </a:rPr>
              <a:t>,</a:t>
            </a:r>
            <a:r>
              <a:rPr lang="ne-NP" sz="2400" dirty="0">
                <a:cs typeface="Kalimati" panose="00000400000000000000" pitchFamily="2"/>
              </a:rPr>
              <a:t> पाटी</a:t>
            </a:r>
            <a:r>
              <a:rPr lang="en-US" sz="2400" dirty="0">
                <a:cs typeface="Kalimati" panose="00000400000000000000" pitchFamily="2"/>
              </a:rPr>
              <a:t>,</a:t>
            </a:r>
            <a:r>
              <a:rPr lang="ne-NP" sz="2400" dirty="0">
                <a:cs typeface="Kalimati" panose="00000400000000000000" pitchFamily="2"/>
              </a:rPr>
              <a:t> पौवा</a:t>
            </a:r>
            <a:r>
              <a:rPr lang="en-US" sz="2400" dirty="0">
                <a:cs typeface="Kalimati" panose="00000400000000000000" pitchFamily="2"/>
              </a:rPr>
              <a:t>,</a:t>
            </a:r>
            <a:r>
              <a:rPr lang="ne-NP" sz="2400" dirty="0">
                <a:cs typeface="Kalimati" panose="00000400000000000000" pitchFamily="2"/>
              </a:rPr>
              <a:t> ईनार</a:t>
            </a:r>
            <a:r>
              <a:rPr lang="en-US" sz="2400" dirty="0">
                <a:cs typeface="Kalimati" panose="00000400000000000000" pitchFamily="2"/>
              </a:rPr>
              <a:t>,</a:t>
            </a:r>
            <a:r>
              <a:rPr lang="ne-NP" sz="2400" dirty="0">
                <a:cs typeface="Kalimati" panose="00000400000000000000" pitchFamily="2"/>
              </a:rPr>
              <a:t> पोखरी</a:t>
            </a:r>
            <a:r>
              <a:rPr lang="en-US" sz="2400" dirty="0">
                <a:cs typeface="Kalimati" panose="00000400000000000000" pitchFamily="2"/>
              </a:rPr>
              <a:t>,</a:t>
            </a:r>
            <a:r>
              <a:rPr lang="ne-NP" sz="2400" dirty="0">
                <a:cs typeface="Kalimati" panose="00000400000000000000" pitchFamily="2"/>
              </a:rPr>
              <a:t> तलाउ</a:t>
            </a:r>
            <a:r>
              <a:rPr lang="en-US" sz="2400" dirty="0">
                <a:cs typeface="Kalimati" panose="00000400000000000000" pitchFamily="2"/>
              </a:rPr>
              <a:t>,</a:t>
            </a:r>
            <a:r>
              <a:rPr lang="ne-NP" sz="2400" dirty="0">
                <a:cs typeface="Kalimati" panose="00000400000000000000" pitchFamily="2"/>
              </a:rPr>
              <a:t> धारा</a:t>
            </a:r>
            <a:r>
              <a:rPr lang="en-US" sz="2400" dirty="0">
                <a:cs typeface="Kalimati" panose="00000400000000000000" pitchFamily="2"/>
              </a:rPr>
              <a:t>,</a:t>
            </a:r>
            <a:r>
              <a:rPr lang="ne-NP" sz="2400" dirty="0">
                <a:cs typeface="Kalimati" panose="00000400000000000000" pitchFamily="2"/>
              </a:rPr>
              <a:t> पियाउ</a:t>
            </a:r>
            <a:r>
              <a:rPr lang="en-US" sz="2400" dirty="0">
                <a:cs typeface="Kalimati" panose="00000400000000000000" pitchFamily="2"/>
              </a:rPr>
              <a:t>,</a:t>
            </a:r>
            <a:r>
              <a:rPr lang="ne-NP" sz="2400" dirty="0">
                <a:cs typeface="Kalimati" panose="00000400000000000000" pitchFamily="2"/>
              </a:rPr>
              <a:t> बाटो</a:t>
            </a:r>
            <a:r>
              <a:rPr lang="en-US" sz="2400" dirty="0">
                <a:cs typeface="Kalimati" panose="00000400000000000000" pitchFamily="2"/>
              </a:rPr>
              <a:t>,</a:t>
            </a:r>
            <a:r>
              <a:rPr lang="ne-NP" sz="2400" dirty="0">
                <a:cs typeface="Kalimati" panose="00000400000000000000" pitchFamily="2"/>
              </a:rPr>
              <a:t> घाट</a:t>
            </a:r>
            <a:r>
              <a:rPr lang="en-US" sz="2400" dirty="0">
                <a:cs typeface="Kalimati" panose="00000400000000000000" pitchFamily="2"/>
              </a:rPr>
              <a:t>,</a:t>
            </a:r>
            <a:r>
              <a:rPr lang="ne-NP" sz="2400" dirty="0">
                <a:cs typeface="Kalimati" panose="00000400000000000000" pitchFamily="2"/>
              </a:rPr>
              <a:t> पुल</a:t>
            </a:r>
            <a:r>
              <a:rPr lang="en-US" sz="2400" dirty="0">
                <a:cs typeface="Kalimati" panose="00000400000000000000" pitchFamily="2"/>
              </a:rPr>
              <a:t>,</a:t>
            </a:r>
            <a:r>
              <a:rPr lang="ne-NP" sz="2400" dirty="0">
                <a:cs typeface="Kalimati" panose="00000400000000000000" pitchFamily="2"/>
              </a:rPr>
              <a:t> चौतारा</a:t>
            </a:r>
            <a:r>
              <a:rPr lang="en-US" sz="2400" dirty="0">
                <a:cs typeface="Kalimati" panose="00000400000000000000" pitchFamily="2"/>
              </a:rPr>
              <a:t>,</a:t>
            </a:r>
            <a:r>
              <a:rPr lang="ne-NP" sz="2400" dirty="0">
                <a:cs typeface="Kalimati" panose="00000400000000000000" pitchFamily="2"/>
              </a:rPr>
              <a:t> गौचरण</a:t>
            </a:r>
            <a:r>
              <a:rPr lang="en-US" sz="2400" dirty="0">
                <a:cs typeface="Kalimati" panose="00000400000000000000" pitchFamily="2"/>
              </a:rPr>
              <a:t>,</a:t>
            </a:r>
            <a:r>
              <a:rPr lang="ne-NP" sz="2400" dirty="0">
                <a:cs typeface="Kalimati" panose="00000400000000000000" pitchFamily="2"/>
              </a:rPr>
              <a:t> बाग</a:t>
            </a:r>
            <a:r>
              <a:rPr lang="en-US" sz="2400" dirty="0">
                <a:cs typeface="Kalimati" panose="00000400000000000000" pitchFamily="2"/>
              </a:rPr>
              <a:t>,</a:t>
            </a:r>
            <a:r>
              <a:rPr lang="ne-NP" sz="2400" dirty="0">
                <a:cs typeface="Kalimati" panose="00000400000000000000" pitchFamily="2"/>
              </a:rPr>
              <a:t> बगैचा</a:t>
            </a:r>
            <a:r>
              <a:rPr lang="en-US" sz="2400" dirty="0">
                <a:cs typeface="Kalimati" panose="00000400000000000000" pitchFamily="2"/>
              </a:rPr>
              <a:t>,</a:t>
            </a:r>
            <a:r>
              <a:rPr lang="ne-NP" sz="2400" dirty="0">
                <a:cs typeface="Kalimati" panose="00000400000000000000" pitchFamily="2"/>
              </a:rPr>
              <a:t> जङ्‍गल</a:t>
            </a:r>
            <a:r>
              <a:rPr lang="en-US" sz="2400" dirty="0">
                <a:cs typeface="Kalimati" panose="00000400000000000000" pitchFamily="2"/>
              </a:rPr>
              <a:t>,</a:t>
            </a:r>
            <a:r>
              <a:rPr lang="ne-NP" sz="2400" dirty="0">
                <a:cs typeface="Kalimati" panose="00000400000000000000" pitchFamily="2"/>
              </a:rPr>
              <a:t> पुस्तकालय</a:t>
            </a:r>
            <a:r>
              <a:rPr lang="en-US" sz="2400" dirty="0">
                <a:cs typeface="Kalimati" panose="00000400000000000000" pitchFamily="2"/>
              </a:rPr>
              <a:t>,</a:t>
            </a:r>
            <a:r>
              <a:rPr lang="ne-NP" sz="2400" dirty="0">
                <a:cs typeface="Kalimati" panose="00000400000000000000" pitchFamily="2"/>
              </a:rPr>
              <a:t> पाठशाला</a:t>
            </a:r>
            <a:r>
              <a:rPr lang="en-US" sz="2400" dirty="0">
                <a:cs typeface="Kalimati" panose="00000400000000000000" pitchFamily="2"/>
              </a:rPr>
              <a:t>,</a:t>
            </a:r>
            <a:r>
              <a:rPr lang="ne-NP" sz="2400" dirty="0">
                <a:cs typeface="Kalimati" panose="00000400000000000000" pitchFamily="2"/>
              </a:rPr>
              <a:t> औषधालय</a:t>
            </a:r>
            <a:r>
              <a:rPr lang="en-US" sz="2400" dirty="0">
                <a:cs typeface="Kalimati" panose="00000400000000000000" pitchFamily="2"/>
              </a:rPr>
              <a:t>,</a:t>
            </a:r>
            <a:r>
              <a:rPr lang="ne-NP" sz="2400" dirty="0">
                <a:cs typeface="Kalimati" panose="00000400000000000000" pitchFamily="2"/>
              </a:rPr>
              <a:t> चिकित्सालय</a:t>
            </a:r>
            <a:r>
              <a:rPr lang="en-US" sz="2400" dirty="0">
                <a:cs typeface="Kalimati" panose="00000400000000000000" pitchFamily="2"/>
              </a:rPr>
              <a:t>,</a:t>
            </a:r>
            <a:r>
              <a:rPr lang="ne-NP" sz="2400" dirty="0">
                <a:cs typeface="Kalimati" panose="00000400000000000000" pitchFamily="2"/>
              </a:rPr>
              <a:t> घर</a:t>
            </a:r>
            <a:r>
              <a:rPr lang="en-US" sz="2400" dirty="0">
                <a:cs typeface="Kalimati" panose="00000400000000000000" pitchFamily="2"/>
              </a:rPr>
              <a:t>,</a:t>
            </a:r>
            <a:r>
              <a:rPr lang="ne-NP" sz="2400" dirty="0">
                <a:cs typeface="Kalimati" panose="00000400000000000000" pitchFamily="2"/>
              </a:rPr>
              <a:t> ईमारत वा संस्था बनाउन</a:t>
            </a:r>
            <a:r>
              <a:rPr lang="en-US" sz="2400" dirty="0">
                <a:cs typeface="Kalimati" panose="00000400000000000000" pitchFamily="2"/>
              </a:rPr>
              <a:t>,</a:t>
            </a:r>
            <a:r>
              <a:rPr lang="ne-NP" sz="2400" dirty="0">
                <a:cs typeface="Kalimati" panose="00000400000000000000" pitchFamily="2"/>
              </a:rPr>
              <a:t> चलाउन वा त्यसको संरक्षण गर्न कुनै दाताले आफ्नो चल</a:t>
            </a:r>
            <a:r>
              <a:rPr lang="en-US" sz="2400" dirty="0">
                <a:cs typeface="Kalimati" panose="00000400000000000000" pitchFamily="2"/>
              </a:rPr>
              <a:t>,</a:t>
            </a:r>
            <a:r>
              <a:rPr lang="ne-NP" sz="2400" dirty="0">
                <a:cs typeface="Kalimati" panose="00000400000000000000" pitchFamily="2"/>
              </a:rPr>
              <a:t> अचल सम्पत्ति वा आयस्ता आउने अरु कुनै सम्पत्ति वा रकममा आफ्नो हक छाडी राखेको गुठी समेतलाई जनाउछ। </a:t>
            </a:r>
          </a:p>
          <a:p>
            <a:pPr algn="just">
              <a:buNone/>
            </a:pPr>
            <a:r>
              <a:rPr lang="ne-NP" sz="2400" dirty="0">
                <a:cs typeface="Kalimati" panose="00000400000000000000" pitchFamily="2"/>
              </a:rPr>
              <a:t>          </a:t>
            </a:r>
            <a:r>
              <a:rPr lang="ne-NP" sz="2400" i="1" dirty="0">
                <a:cs typeface="Kalimati" panose="00000400000000000000" pitchFamily="2"/>
              </a:rPr>
              <a:t>{गुठी संस्थान ऐन</a:t>
            </a:r>
            <a:r>
              <a:rPr lang="en-US" sz="2400" i="1" dirty="0">
                <a:cs typeface="Kalimati" panose="00000400000000000000" pitchFamily="2"/>
              </a:rPr>
              <a:t>,</a:t>
            </a:r>
            <a:r>
              <a:rPr lang="ne-NP" sz="2400" i="1" dirty="0">
                <a:cs typeface="Kalimati" panose="00000400000000000000" pitchFamily="2"/>
              </a:rPr>
              <a:t> २०३३ को दफा २(ग)}</a:t>
            </a:r>
          </a:p>
        </p:txBody>
      </p:sp>
    </p:spTree>
    <p:extLst>
      <p:ext uri="{BB962C8B-B14F-4D97-AF65-F5344CB8AC3E}">
        <p14:creationId xmlns:p14="http://schemas.microsoft.com/office/powerpoint/2010/main" val="3791335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normAutofit/>
          </a:bodyPr>
          <a:lstStyle/>
          <a:p>
            <a:r>
              <a:rPr lang="ne-NP" sz="2800" dirty="0">
                <a:cs typeface="Kalimati" panose="00000400000000000000" pitchFamily="2"/>
              </a:rPr>
              <a:t>ऐतिहासिक पृष्ठभूमी</a:t>
            </a:r>
            <a:endParaRPr lang="en-US" sz="2800" dirty="0">
              <a:cs typeface="Kalimati" panose="00000400000000000000" pitchFamily="2"/>
            </a:endParaRPr>
          </a:p>
        </p:txBody>
      </p:sp>
      <p:sp>
        <p:nvSpPr>
          <p:cNvPr id="3" name="Content Placeholder 2"/>
          <p:cNvSpPr>
            <a:spLocks noGrp="1"/>
          </p:cNvSpPr>
          <p:nvPr>
            <p:ph idx="1"/>
          </p:nvPr>
        </p:nvSpPr>
        <p:spPr>
          <a:xfrm>
            <a:off x="457200" y="1676400"/>
            <a:ext cx="8229600" cy="4343400"/>
          </a:xfrm>
        </p:spPr>
        <p:txBody>
          <a:bodyPr>
            <a:normAutofit/>
          </a:bodyPr>
          <a:lstStyle/>
          <a:p>
            <a:r>
              <a:rPr lang="en-US" sz="2800" dirty="0">
                <a:cs typeface="Kalimati" panose="00000400000000000000" pitchFamily="2"/>
              </a:rPr>
              <a:t> </a:t>
            </a:r>
            <a:r>
              <a:rPr lang="ne-NP" sz="2800" dirty="0">
                <a:cs typeface="Kalimati" panose="00000400000000000000" pitchFamily="2"/>
              </a:rPr>
              <a:t>लिच्छवि काल – </a:t>
            </a:r>
            <a:r>
              <a:rPr lang="ne-NP" sz="2400" dirty="0">
                <a:cs typeface="Kalimati" panose="00000400000000000000" pitchFamily="2"/>
              </a:rPr>
              <a:t>मानदेवको चागु नारायणको अभिलेख</a:t>
            </a:r>
          </a:p>
          <a:p>
            <a:pPr>
              <a:buNone/>
            </a:pPr>
            <a:r>
              <a:rPr lang="ne-NP" sz="2400" dirty="0">
                <a:cs typeface="Kalimati" panose="00000400000000000000" pitchFamily="2"/>
              </a:rPr>
              <a:t>   सम्बत ३६८(ई.स.४६४)</a:t>
            </a:r>
            <a:endParaRPr lang="en-US" sz="2400" dirty="0">
              <a:cs typeface="Kalimati" panose="00000400000000000000" pitchFamily="2"/>
            </a:endParaRPr>
          </a:p>
          <a:p>
            <a:pPr marL="0" indent="0">
              <a:buNone/>
            </a:pPr>
            <a:r>
              <a:rPr lang="ne-NP" sz="2000" dirty="0">
                <a:cs typeface="Kalimati" panose="00000400000000000000" pitchFamily="2"/>
              </a:rPr>
              <a:t>(पानीय गोष्ठी</a:t>
            </a:r>
            <a:r>
              <a:rPr lang="en-US" sz="2000" dirty="0">
                <a:cs typeface="Kalimati" panose="00000400000000000000" pitchFamily="2"/>
              </a:rPr>
              <a:t>,</a:t>
            </a:r>
            <a:r>
              <a:rPr lang="ne-NP" sz="2000" dirty="0">
                <a:cs typeface="Kalimati" panose="00000400000000000000" pitchFamily="2"/>
              </a:rPr>
              <a:t> पौलम पानीय गोष्ठी</a:t>
            </a:r>
            <a:r>
              <a:rPr lang="en-US" sz="2000" dirty="0">
                <a:cs typeface="Kalimati" panose="00000400000000000000" pitchFamily="2"/>
              </a:rPr>
              <a:t>,</a:t>
            </a:r>
            <a:r>
              <a:rPr lang="ne-NP" sz="2000" dirty="0">
                <a:cs typeface="Kalimati" panose="00000400000000000000" pitchFamily="2"/>
              </a:rPr>
              <a:t> प्रवहण गोष्ठी</a:t>
            </a:r>
            <a:r>
              <a:rPr lang="en-US" sz="2000" dirty="0">
                <a:cs typeface="Kalimati" panose="00000400000000000000" pitchFamily="2"/>
              </a:rPr>
              <a:t>,</a:t>
            </a:r>
            <a:r>
              <a:rPr lang="ne-NP" sz="2000" dirty="0">
                <a:cs typeface="Kalimati" panose="00000400000000000000" pitchFamily="2"/>
              </a:rPr>
              <a:t> मल्लयुद्ध गोष्ठी</a:t>
            </a:r>
            <a:r>
              <a:rPr lang="en-US" sz="2000" dirty="0">
                <a:cs typeface="Kalimati" panose="00000400000000000000" pitchFamily="2"/>
              </a:rPr>
              <a:t>,</a:t>
            </a:r>
            <a:r>
              <a:rPr lang="ne-NP" sz="2000" dirty="0">
                <a:cs typeface="Kalimati" panose="00000400000000000000" pitchFamily="2"/>
              </a:rPr>
              <a:t> वादित्त्र गोष्ठी</a:t>
            </a:r>
            <a:r>
              <a:rPr lang="en-US" sz="2000" dirty="0">
                <a:cs typeface="Kalimati" panose="00000400000000000000" pitchFamily="2"/>
              </a:rPr>
              <a:t>,</a:t>
            </a:r>
            <a:r>
              <a:rPr lang="ne-NP" sz="2000" dirty="0">
                <a:cs typeface="Kalimati" panose="00000400000000000000" pitchFamily="2"/>
              </a:rPr>
              <a:t> ध्वज गोष्ठी</a:t>
            </a:r>
            <a:r>
              <a:rPr lang="en-US" sz="2000" dirty="0">
                <a:cs typeface="Kalimati" panose="00000400000000000000" pitchFamily="2"/>
              </a:rPr>
              <a:t>,</a:t>
            </a:r>
            <a:r>
              <a:rPr lang="ne-NP" sz="2000" dirty="0">
                <a:cs typeface="Kalimati" panose="00000400000000000000" pitchFamily="2"/>
              </a:rPr>
              <a:t> प्रदीप गोष्ठी</a:t>
            </a:r>
            <a:r>
              <a:rPr lang="en-US" sz="2000" dirty="0">
                <a:cs typeface="Kalimati" panose="00000400000000000000" pitchFamily="2"/>
              </a:rPr>
              <a:t>, </a:t>
            </a:r>
            <a:r>
              <a:rPr lang="ne-NP" sz="2000" dirty="0">
                <a:cs typeface="Kalimati" panose="00000400000000000000" pitchFamily="2"/>
              </a:rPr>
              <a:t>धुप गोष्ठी</a:t>
            </a:r>
            <a:r>
              <a:rPr lang="en-US" sz="2000" dirty="0">
                <a:cs typeface="Kalimati" panose="00000400000000000000" pitchFamily="2"/>
              </a:rPr>
              <a:t>,</a:t>
            </a:r>
            <a:r>
              <a:rPr lang="ne-NP" sz="2000" dirty="0">
                <a:cs typeface="Kalimati" panose="00000400000000000000" pitchFamily="2"/>
              </a:rPr>
              <a:t> इन्द्रगोष्ठी</a:t>
            </a:r>
            <a:r>
              <a:rPr lang="en-US" sz="2000" dirty="0">
                <a:cs typeface="Kalimati" panose="00000400000000000000" pitchFamily="2"/>
              </a:rPr>
              <a:t>,</a:t>
            </a:r>
            <a:r>
              <a:rPr lang="ne-NP" sz="2000" dirty="0">
                <a:cs typeface="Kalimati" panose="00000400000000000000" pitchFamily="2"/>
              </a:rPr>
              <a:t> भागवदवासुदेव ब्राम्हण गोष्ठी</a:t>
            </a:r>
            <a:r>
              <a:rPr lang="en-US" sz="2000" dirty="0">
                <a:cs typeface="Kalimati" panose="00000400000000000000" pitchFamily="2"/>
              </a:rPr>
              <a:t>,</a:t>
            </a:r>
            <a:r>
              <a:rPr lang="ne-NP" sz="2000" dirty="0">
                <a:cs typeface="Kalimati" panose="00000400000000000000" pitchFamily="2"/>
              </a:rPr>
              <a:t> ब्राम्हण गोष्ठी</a:t>
            </a:r>
            <a:r>
              <a:rPr lang="en-US" sz="2000" dirty="0">
                <a:cs typeface="Kalimati" panose="00000400000000000000" pitchFamily="2"/>
              </a:rPr>
              <a:t>,</a:t>
            </a:r>
            <a:r>
              <a:rPr lang="ne-NP" sz="2000" dirty="0">
                <a:cs typeface="Kalimati" panose="00000400000000000000" pitchFamily="2"/>
              </a:rPr>
              <a:t> अर्चा र अर्चनीय गोष्ठी</a:t>
            </a:r>
            <a:r>
              <a:rPr lang="en-US" sz="2000" dirty="0">
                <a:cs typeface="Kalimati" panose="00000400000000000000" pitchFamily="2"/>
              </a:rPr>
              <a:t>,</a:t>
            </a:r>
            <a:r>
              <a:rPr lang="ne-NP" sz="2000" dirty="0">
                <a:cs typeface="Kalimati" panose="00000400000000000000" pitchFamily="2"/>
              </a:rPr>
              <a:t> प्रणाली गोष्ठी)</a:t>
            </a:r>
          </a:p>
          <a:p>
            <a:r>
              <a:rPr lang="ne-NP" sz="2800" dirty="0">
                <a:cs typeface="Kalimati" panose="00000400000000000000" pitchFamily="2"/>
              </a:rPr>
              <a:t>मल्ल काल</a:t>
            </a:r>
          </a:p>
          <a:p>
            <a:r>
              <a:rPr lang="ne-NP" sz="2800" dirty="0">
                <a:cs typeface="Kalimati" panose="00000400000000000000" pitchFamily="2"/>
              </a:rPr>
              <a:t>शाह काल</a:t>
            </a:r>
          </a:p>
          <a:p>
            <a:r>
              <a:rPr lang="ne-NP" sz="2800" dirty="0">
                <a:cs typeface="Kalimati" panose="00000400000000000000" pitchFamily="2"/>
              </a:rPr>
              <a:t>आधुनिक काल</a:t>
            </a:r>
          </a:p>
        </p:txBody>
      </p:sp>
    </p:spTree>
    <p:extLst>
      <p:ext uri="{BB962C8B-B14F-4D97-AF65-F5344CB8AC3E}">
        <p14:creationId xmlns:p14="http://schemas.microsoft.com/office/powerpoint/2010/main" val="3492020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284CD-2012-4F74-BC3A-04EF7C48AB61}"/>
              </a:ext>
            </a:extLst>
          </p:cNvPr>
          <p:cNvSpPr>
            <a:spLocks noGrp="1"/>
          </p:cNvSpPr>
          <p:nvPr>
            <p:ph type="title"/>
          </p:nvPr>
        </p:nvSpPr>
        <p:spPr>
          <a:xfrm>
            <a:off x="457200" y="274638"/>
            <a:ext cx="8229600" cy="639762"/>
          </a:xfrm>
        </p:spPr>
        <p:txBody>
          <a:bodyPr>
            <a:normAutofit/>
          </a:bodyPr>
          <a:lstStyle/>
          <a:p>
            <a:r>
              <a:rPr lang="ne-NP" sz="2800" dirty="0">
                <a:cs typeface="Kalimati" panose="00000400000000000000" pitchFamily="2"/>
              </a:rPr>
              <a:t>गुठी सम्बन्धी कानूनी व्यवस्था</a:t>
            </a:r>
            <a:endParaRPr lang="en-US" sz="2800" dirty="0">
              <a:cs typeface="Kalimati" panose="00000400000000000000" pitchFamily="2"/>
            </a:endParaRPr>
          </a:p>
        </p:txBody>
      </p:sp>
      <p:sp>
        <p:nvSpPr>
          <p:cNvPr id="3" name="Content Placeholder 2">
            <a:extLst>
              <a:ext uri="{FF2B5EF4-FFF2-40B4-BE49-F238E27FC236}">
                <a16:creationId xmlns:a16="http://schemas.microsoft.com/office/drawing/2014/main" id="{A6CE1A21-9644-F91F-4354-044A93E18CD1}"/>
              </a:ext>
            </a:extLst>
          </p:cNvPr>
          <p:cNvSpPr>
            <a:spLocks noGrp="1"/>
          </p:cNvSpPr>
          <p:nvPr>
            <p:ph idx="1"/>
          </p:nvPr>
        </p:nvSpPr>
        <p:spPr>
          <a:xfrm>
            <a:off x="457200" y="1447800"/>
            <a:ext cx="8229600" cy="4678363"/>
          </a:xfrm>
        </p:spPr>
        <p:txBody>
          <a:bodyPr>
            <a:normAutofit/>
          </a:bodyPr>
          <a:lstStyle/>
          <a:p>
            <a:r>
              <a:rPr lang="ne-NP" sz="2400" dirty="0">
                <a:cs typeface="Kalimati" panose="00000400000000000000" pitchFamily="2"/>
              </a:rPr>
              <a:t>शिलालेखबाट शुरुवात</a:t>
            </a:r>
            <a:endParaRPr lang="en-US" sz="2400" dirty="0">
              <a:cs typeface="Kalimati" panose="00000400000000000000" pitchFamily="2"/>
            </a:endParaRPr>
          </a:p>
          <a:p>
            <a:r>
              <a:rPr lang="ne-NP" sz="2400" dirty="0">
                <a:cs typeface="Kalimati" panose="00000400000000000000" pitchFamily="2"/>
              </a:rPr>
              <a:t>ताम्रपत्र</a:t>
            </a:r>
            <a:r>
              <a:rPr lang="en-US" sz="2400" dirty="0">
                <a:cs typeface="Kalimati" panose="00000400000000000000" pitchFamily="2"/>
              </a:rPr>
              <a:t>,</a:t>
            </a:r>
            <a:r>
              <a:rPr lang="ne-NP" sz="2400" dirty="0">
                <a:cs typeface="Kalimati" panose="00000400000000000000" pitchFamily="2"/>
              </a:rPr>
              <a:t> सिलापत्र</a:t>
            </a:r>
            <a:r>
              <a:rPr lang="en-US" sz="2400" dirty="0">
                <a:cs typeface="Kalimati" panose="00000400000000000000" pitchFamily="2"/>
              </a:rPr>
              <a:t>,</a:t>
            </a:r>
            <a:r>
              <a:rPr lang="ne-NP" sz="2400" dirty="0">
                <a:cs typeface="Kalimati" panose="00000400000000000000" pitchFamily="2"/>
              </a:rPr>
              <a:t> दानपत्र</a:t>
            </a:r>
            <a:r>
              <a:rPr lang="en-US" sz="2400" dirty="0">
                <a:cs typeface="Kalimati" panose="00000400000000000000" pitchFamily="2"/>
              </a:rPr>
              <a:t>,</a:t>
            </a:r>
            <a:r>
              <a:rPr lang="ne-NP" sz="2400" dirty="0">
                <a:cs typeface="Kalimati" panose="00000400000000000000" pitchFamily="2"/>
              </a:rPr>
              <a:t> लालमोहर</a:t>
            </a:r>
            <a:r>
              <a:rPr lang="en-US" sz="2400" dirty="0">
                <a:cs typeface="Kalimati" panose="00000400000000000000" pitchFamily="2"/>
              </a:rPr>
              <a:t>,</a:t>
            </a:r>
            <a:r>
              <a:rPr lang="ne-NP" sz="2400" dirty="0">
                <a:cs typeface="Kalimati" panose="00000400000000000000" pitchFamily="2"/>
              </a:rPr>
              <a:t>खड्‍ग निशाना आदि</a:t>
            </a:r>
          </a:p>
          <a:p>
            <a:r>
              <a:rPr lang="ne-NP" sz="2400" dirty="0">
                <a:cs typeface="Kalimati" panose="00000400000000000000" pitchFamily="2"/>
              </a:rPr>
              <a:t>सनद / सवाल/ रुक्‍का </a:t>
            </a:r>
          </a:p>
          <a:p>
            <a:r>
              <a:rPr lang="ne-NP" sz="2400" dirty="0">
                <a:cs typeface="Kalimati" panose="00000400000000000000" pitchFamily="2"/>
              </a:rPr>
              <a:t>मुलुकी ऐन, १९१० </a:t>
            </a:r>
            <a:r>
              <a:rPr lang="ne-NP" sz="2000" dirty="0">
                <a:cs typeface="Kalimati" panose="00000400000000000000" pitchFamily="2"/>
              </a:rPr>
              <a:t>– दत्त गुठीको महल (१-२७ नं.)</a:t>
            </a:r>
          </a:p>
          <a:p>
            <a:r>
              <a:rPr lang="ne-NP" sz="2400" dirty="0">
                <a:cs typeface="Kalimati" panose="00000400000000000000" pitchFamily="2"/>
              </a:rPr>
              <a:t>मुलुकी सवाल, २०१०</a:t>
            </a:r>
          </a:p>
          <a:p>
            <a:r>
              <a:rPr lang="ne-NP" sz="2400" dirty="0">
                <a:cs typeface="Kalimati" panose="00000400000000000000" pitchFamily="2"/>
              </a:rPr>
              <a:t>मुलुकी ऐन</a:t>
            </a:r>
            <a:r>
              <a:rPr lang="en-US" sz="2400" dirty="0">
                <a:cs typeface="Kalimati" panose="00000400000000000000" pitchFamily="2"/>
              </a:rPr>
              <a:t>,</a:t>
            </a:r>
            <a:r>
              <a:rPr lang="ne-NP" sz="2400" dirty="0">
                <a:cs typeface="Kalimati" panose="00000400000000000000" pitchFamily="2"/>
              </a:rPr>
              <a:t> २०२०</a:t>
            </a:r>
          </a:p>
          <a:p>
            <a:r>
              <a:rPr lang="ne-NP" sz="2400" dirty="0">
                <a:cs typeface="Kalimati" panose="00000400000000000000" pitchFamily="2"/>
              </a:rPr>
              <a:t>गुठी संस्थान ऐन</a:t>
            </a:r>
            <a:r>
              <a:rPr lang="en-US" sz="2400" dirty="0">
                <a:cs typeface="Kalimati" panose="00000400000000000000" pitchFamily="2"/>
              </a:rPr>
              <a:t>,</a:t>
            </a:r>
            <a:r>
              <a:rPr lang="ne-NP" sz="2400" dirty="0">
                <a:cs typeface="Kalimati" panose="00000400000000000000" pitchFamily="2"/>
              </a:rPr>
              <a:t> २०२१</a:t>
            </a:r>
          </a:p>
          <a:p>
            <a:r>
              <a:rPr lang="ne-NP" sz="2400" dirty="0">
                <a:cs typeface="Kalimati" panose="00000400000000000000" pitchFamily="2"/>
              </a:rPr>
              <a:t>गुठी संस्थान ऐन</a:t>
            </a:r>
            <a:r>
              <a:rPr lang="en-US" sz="2400" dirty="0">
                <a:cs typeface="Kalimati" panose="00000400000000000000" pitchFamily="2"/>
              </a:rPr>
              <a:t>,</a:t>
            </a:r>
            <a:r>
              <a:rPr lang="ne-NP" sz="2400" dirty="0">
                <a:cs typeface="Kalimati" panose="00000400000000000000" pitchFamily="2"/>
              </a:rPr>
              <a:t> २०२९</a:t>
            </a:r>
          </a:p>
          <a:p>
            <a:r>
              <a:rPr lang="ne-NP" sz="2400" dirty="0">
                <a:cs typeface="Kalimati" panose="00000400000000000000" pitchFamily="2"/>
              </a:rPr>
              <a:t>गुठी संस्थान ऐन</a:t>
            </a:r>
            <a:r>
              <a:rPr lang="en-US" sz="2400" dirty="0">
                <a:cs typeface="Kalimati" panose="00000400000000000000" pitchFamily="2"/>
              </a:rPr>
              <a:t>,</a:t>
            </a:r>
            <a:r>
              <a:rPr lang="ne-NP" sz="2400" dirty="0">
                <a:cs typeface="Kalimati" panose="00000400000000000000" pitchFamily="2"/>
              </a:rPr>
              <a:t> २०३३</a:t>
            </a:r>
          </a:p>
          <a:p>
            <a:r>
              <a:rPr lang="ne-NP" sz="2400" dirty="0">
                <a:cs typeface="Kalimati" panose="00000400000000000000" pitchFamily="2"/>
              </a:rPr>
              <a:t>मुलुकी देवानी संहिता</a:t>
            </a:r>
            <a:r>
              <a:rPr lang="en-US" sz="2400" dirty="0">
                <a:cs typeface="Kalimati" panose="00000400000000000000" pitchFamily="2"/>
              </a:rPr>
              <a:t>,</a:t>
            </a:r>
            <a:r>
              <a:rPr lang="ne-NP" sz="2400" dirty="0">
                <a:cs typeface="Kalimati" panose="00000400000000000000" pitchFamily="2"/>
              </a:rPr>
              <a:t> २०७४</a:t>
            </a:r>
          </a:p>
          <a:p>
            <a:endParaRPr lang="ne-NP" sz="2400" dirty="0">
              <a:cs typeface="Kalimati" panose="00000400000000000000" pitchFamily="2"/>
            </a:endParaRPr>
          </a:p>
          <a:p>
            <a:endParaRPr lang="ne-NP" sz="2400" dirty="0">
              <a:cs typeface="Kalimati" panose="00000400000000000000" pitchFamily="2"/>
            </a:endParaRPr>
          </a:p>
          <a:p>
            <a:endParaRPr lang="ne-NP" sz="2400" dirty="0">
              <a:cs typeface="Kalimati" panose="00000400000000000000" pitchFamily="2"/>
            </a:endParaRPr>
          </a:p>
          <a:p>
            <a:endParaRPr lang="en-US" dirty="0"/>
          </a:p>
        </p:txBody>
      </p:sp>
    </p:spTree>
    <p:extLst>
      <p:ext uri="{BB962C8B-B14F-4D97-AF65-F5344CB8AC3E}">
        <p14:creationId xmlns:p14="http://schemas.microsoft.com/office/powerpoint/2010/main" val="1060542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rmAutofit/>
          </a:bodyPr>
          <a:lstStyle/>
          <a:p>
            <a:r>
              <a:rPr lang="ne-NP" sz="2400" b="1" dirty="0">
                <a:cs typeface="Kalimati" panose="00000400000000000000" pitchFamily="2"/>
              </a:rPr>
              <a:t>मुलुकी ऐन, १९१० – दत्त गुठीको महल (१-२७ नं.)</a:t>
            </a:r>
          </a:p>
        </p:txBody>
      </p:sp>
      <p:sp>
        <p:nvSpPr>
          <p:cNvPr id="3" name="Content Placeholder 2"/>
          <p:cNvSpPr>
            <a:spLocks noGrp="1"/>
          </p:cNvSpPr>
          <p:nvPr>
            <p:ph idx="1"/>
          </p:nvPr>
        </p:nvSpPr>
        <p:spPr>
          <a:xfrm>
            <a:off x="457200" y="1828800"/>
            <a:ext cx="8229600" cy="4419600"/>
          </a:xfrm>
        </p:spPr>
        <p:txBody>
          <a:bodyPr>
            <a:normAutofit/>
          </a:bodyPr>
          <a:lstStyle/>
          <a:p>
            <a:pPr algn="just"/>
            <a:r>
              <a:rPr lang="ne-NP" sz="2400" dirty="0">
                <a:cs typeface="Kalimati" panose="00000400000000000000" pitchFamily="2"/>
              </a:rPr>
              <a:t>धार्मिक र सामाजिक कार्य</a:t>
            </a:r>
          </a:p>
          <a:p>
            <a:pPr algn="just"/>
            <a:r>
              <a:rPr lang="ne-NP" sz="2400" dirty="0">
                <a:cs typeface="Kalimati" panose="00000400000000000000" pitchFamily="2"/>
              </a:rPr>
              <a:t>विदेशमा गुठी राख्‍न बन्देज</a:t>
            </a:r>
          </a:p>
          <a:p>
            <a:pPr algn="just"/>
            <a:r>
              <a:rPr lang="ne-NP" sz="2400" dirty="0">
                <a:cs typeface="Kalimati" panose="00000400000000000000" pitchFamily="2"/>
              </a:rPr>
              <a:t>राजगुठी / निजी गुठीको व्यवस्था</a:t>
            </a:r>
          </a:p>
          <a:p>
            <a:pPr algn="just"/>
            <a:r>
              <a:rPr lang="ne-NP" sz="2400" dirty="0">
                <a:cs typeface="Kalimati" panose="00000400000000000000" pitchFamily="2"/>
              </a:rPr>
              <a:t>निजी गुठीको सम्पत्ति सट्टा पट्टा गर्न सकिने</a:t>
            </a:r>
          </a:p>
          <a:p>
            <a:pPr algn="just"/>
            <a:r>
              <a:rPr lang="ne-NP" sz="2400" dirty="0">
                <a:cs typeface="Kalimati" panose="00000400000000000000" pitchFamily="2"/>
              </a:rPr>
              <a:t>गुठीमा राखेको जग्गा गुठियारका सन्तानले बिक्री गरेमा बदर हुने</a:t>
            </a:r>
          </a:p>
          <a:p>
            <a:pPr algn="just"/>
            <a:r>
              <a:rPr lang="ne-NP" sz="2400" dirty="0">
                <a:cs typeface="Kalimati" panose="00000400000000000000" pitchFamily="2"/>
              </a:rPr>
              <a:t>गुठी जग्गा भन्‍ने जानी जानी किनेकोमा किन्‍नेको थैली भुस हुने</a:t>
            </a:r>
          </a:p>
          <a:p>
            <a:pPr algn="just"/>
            <a:endParaRPr lang="ne-NP" sz="2400" dirty="0">
              <a:cs typeface="Kalimati" panose="00000400000000000000" pitchFamily="2"/>
            </a:endParaRPr>
          </a:p>
          <a:p>
            <a:pPr algn="just"/>
            <a:endParaRPr lang="ne-NP" sz="2400" dirty="0">
              <a:cs typeface="Kalimati" panose="00000400000000000000" pitchFamily="2"/>
            </a:endParaRPr>
          </a:p>
          <a:p>
            <a:pPr algn="just"/>
            <a:endParaRPr lang="ne-NP" sz="2400" dirty="0">
              <a:cs typeface="Kalimati" panose="00000400000000000000" pitchFamily="2"/>
            </a:endParaRPr>
          </a:p>
          <a:p>
            <a:pPr marL="0" indent="0" algn="just">
              <a:buNone/>
            </a:pPr>
            <a:endParaRPr lang="ne-NP" sz="2400" dirty="0">
              <a:cs typeface="Kalimati" panose="00000400000000000000" pitchFamily="2"/>
            </a:endParaRPr>
          </a:p>
          <a:p>
            <a:pPr algn="just">
              <a:buNone/>
            </a:pPr>
            <a:endParaRPr lang="en-US" sz="2400" dirty="0">
              <a:cs typeface="Kalimati" panose="00000400000000000000" pitchFamily="2"/>
            </a:endParaRPr>
          </a:p>
        </p:txBody>
      </p:sp>
    </p:spTree>
    <p:extLst>
      <p:ext uri="{BB962C8B-B14F-4D97-AF65-F5344CB8AC3E}">
        <p14:creationId xmlns:p14="http://schemas.microsoft.com/office/powerpoint/2010/main" val="1286012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rmAutofit/>
          </a:bodyPr>
          <a:lstStyle/>
          <a:p>
            <a:r>
              <a:rPr lang="ne-NP" sz="1400">
                <a:cs typeface="Kalimati" pitchFamily="2"/>
              </a:rPr>
              <a:t>                                                                         क्रमश...</a:t>
            </a:r>
            <a:endParaRPr lang="en-US" sz="1400">
              <a:cs typeface="Kalimati" pitchFamily="2"/>
            </a:endParaRPr>
          </a:p>
        </p:txBody>
      </p:sp>
      <p:sp>
        <p:nvSpPr>
          <p:cNvPr id="3" name="Content Placeholder 2"/>
          <p:cNvSpPr>
            <a:spLocks noGrp="1"/>
          </p:cNvSpPr>
          <p:nvPr>
            <p:ph idx="1"/>
          </p:nvPr>
        </p:nvSpPr>
        <p:spPr>
          <a:xfrm>
            <a:off x="457200" y="1143000"/>
            <a:ext cx="8305800" cy="4724400"/>
          </a:xfrm>
        </p:spPr>
        <p:txBody>
          <a:bodyPr>
            <a:normAutofit fontScale="25000" lnSpcReduction="20000"/>
          </a:bodyPr>
          <a:lstStyle/>
          <a:p>
            <a:r>
              <a:rPr lang="ne-NP" sz="9600" b="1" dirty="0">
                <a:cs typeface="Kalimati" panose="00000400000000000000" pitchFamily="2"/>
              </a:rPr>
              <a:t>मुलुकी ऐन</a:t>
            </a:r>
            <a:r>
              <a:rPr lang="en-US" sz="9600" b="1" dirty="0">
                <a:cs typeface="Kalimati" panose="00000400000000000000" pitchFamily="2"/>
              </a:rPr>
              <a:t>,</a:t>
            </a:r>
            <a:r>
              <a:rPr lang="ne-NP" sz="9600" b="1" dirty="0">
                <a:cs typeface="Kalimati" panose="00000400000000000000" pitchFamily="2"/>
              </a:rPr>
              <a:t> २०२०</a:t>
            </a:r>
          </a:p>
          <a:p>
            <a:pPr>
              <a:buNone/>
            </a:pPr>
            <a:endParaRPr lang="ne-NP" sz="2600" b="1" dirty="0">
              <a:cs typeface="Kalimati" panose="00000400000000000000" pitchFamily="2"/>
            </a:endParaRPr>
          </a:p>
          <a:p>
            <a:pPr>
              <a:buNone/>
            </a:pPr>
            <a:r>
              <a:rPr lang="ne-NP" sz="5000" dirty="0">
                <a:cs typeface="Kalimati" panose="00000400000000000000" pitchFamily="2"/>
              </a:rPr>
              <a:t>* </a:t>
            </a:r>
            <a:r>
              <a:rPr lang="ne-NP" sz="8000" dirty="0">
                <a:cs typeface="Kalimati" panose="00000400000000000000" pitchFamily="2"/>
              </a:rPr>
              <a:t>धार्मिक र सामाजिक हित</a:t>
            </a:r>
          </a:p>
          <a:p>
            <a:pPr>
              <a:buNone/>
            </a:pPr>
            <a:r>
              <a:rPr lang="ne-NP" sz="8000" dirty="0">
                <a:cs typeface="Kalimati" panose="00000400000000000000" pitchFamily="2"/>
              </a:rPr>
              <a:t>* सरकारी जग्गा गुठीको लागि उपलब्ध गराउने</a:t>
            </a:r>
          </a:p>
          <a:p>
            <a:pPr algn="just">
              <a:buNone/>
            </a:pPr>
            <a:r>
              <a:rPr lang="en-US" sz="8000" dirty="0">
                <a:cs typeface="Kalimati" panose="00000400000000000000" pitchFamily="2"/>
              </a:rPr>
              <a:t>* </a:t>
            </a:r>
            <a:r>
              <a:rPr lang="ne-NP" sz="8000" dirty="0">
                <a:cs typeface="Kalimati" panose="00000400000000000000" pitchFamily="2"/>
              </a:rPr>
              <a:t>गुठी राखिएको सम्पत्ति बेचविखन वा धितो वन्धक राखेमा वा दानपत्र शिलापत्रबमोजिमको कार्य नगरेमा धर्मलोप मानिने</a:t>
            </a:r>
            <a:endParaRPr lang="en-US" sz="8000" dirty="0">
              <a:cs typeface="Kalimati" panose="00000400000000000000" pitchFamily="2"/>
            </a:endParaRPr>
          </a:p>
          <a:p>
            <a:pPr algn="just">
              <a:buFont typeface="Arial" charset="0"/>
              <a:buChar char="•"/>
            </a:pPr>
            <a:r>
              <a:rPr lang="ne-NP" sz="8000" dirty="0">
                <a:cs typeface="Kalimati" panose="00000400000000000000" pitchFamily="2"/>
              </a:rPr>
              <a:t>गुठी धर्मलोपमा हदम्याद नलाग्ने</a:t>
            </a:r>
            <a:endParaRPr lang="en-US" sz="8000" dirty="0">
              <a:cs typeface="Kalimati" panose="00000400000000000000" pitchFamily="2"/>
            </a:endParaRPr>
          </a:p>
          <a:p>
            <a:pPr algn="just">
              <a:buFont typeface="Arial" charset="0"/>
              <a:buChar char="•"/>
            </a:pPr>
            <a:endParaRPr lang="ne-NP" sz="9600" dirty="0">
              <a:cs typeface="Kalimati" panose="00000400000000000000" pitchFamily="2"/>
            </a:endParaRPr>
          </a:p>
          <a:p>
            <a:r>
              <a:rPr lang="ne-NP" sz="9600" b="1" dirty="0">
                <a:cs typeface="Kalimati" panose="00000400000000000000" pitchFamily="2"/>
              </a:rPr>
              <a:t>गुठी संस्थान ऐन</a:t>
            </a:r>
            <a:r>
              <a:rPr lang="en-US" sz="9600" b="1" dirty="0">
                <a:cs typeface="Kalimati" panose="00000400000000000000" pitchFamily="2"/>
              </a:rPr>
              <a:t>,</a:t>
            </a:r>
            <a:r>
              <a:rPr lang="ne-NP" sz="9600" b="1" dirty="0">
                <a:cs typeface="Kalimati" panose="00000400000000000000" pitchFamily="2"/>
              </a:rPr>
              <a:t> २०२१ </a:t>
            </a:r>
          </a:p>
          <a:p>
            <a:pPr>
              <a:buNone/>
            </a:pPr>
            <a:endParaRPr lang="ne-NP" sz="2400" b="1" dirty="0">
              <a:cs typeface="Kalimati" panose="00000400000000000000" pitchFamily="2"/>
            </a:endParaRPr>
          </a:p>
          <a:p>
            <a:pPr>
              <a:buNone/>
            </a:pPr>
            <a:r>
              <a:rPr lang="ne-NP" sz="2000" dirty="0">
                <a:cs typeface="Kalimati" panose="00000400000000000000" pitchFamily="2"/>
              </a:rPr>
              <a:t>* </a:t>
            </a:r>
            <a:r>
              <a:rPr lang="ne-NP" sz="8000" dirty="0">
                <a:cs typeface="Kalimati" pitchFamily="2"/>
              </a:rPr>
              <a:t>गुठी सम्बन्धी छुट्टै कानून</a:t>
            </a:r>
          </a:p>
          <a:p>
            <a:pPr>
              <a:buNone/>
            </a:pPr>
            <a:r>
              <a:rPr lang="ne-NP" sz="8000" dirty="0">
                <a:cs typeface="Kalimati" pitchFamily="2"/>
              </a:rPr>
              <a:t>* राजगुठीलाई सरकारको अधिनबाट झिकी एक संस्थाको जिम्मा सुम्पी राजगुठीलाई सुव्यवस्थित रुपले सञ्‍चालन र व्यवस्था गर्न </a:t>
            </a:r>
          </a:p>
          <a:p>
            <a:pPr>
              <a:buNone/>
            </a:pPr>
            <a:r>
              <a:rPr lang="ne-NP" sz="8000" dirty="0">
                <a:cs typeface="Kalimati" pitchFamily="2"/>
              </a:rPr>
              <a:t>* गुठी संस्थानको स्थापना</a:t>
            </a:r>
          </a:p>
          <a:p>
            <a:pPr>
              <a:buNone/>
            </a:pPr>
            <a:r>
              <a:rPr lang="ne-NP" sz="8000" dirty="0">
                <a:cs typeface="Kalimati" pitchFamily="2"/>
              </a:rPr>
              <a:t>* राजगुठीमा कसैको हक नभई राजगुठीकै मात्र हक कायम हुने</a:t>
            </a:r>
          </a:p>
          <a:p>
            <a:pPr>
              <a:buNone/>
            </a:pPr>
            <a:r>
              <a:rPr lang="ne-NP" sz="8000" dirty="0">
                <a:cs typeface="Kalimati" pitchFamily="2"/>
              </a:rPr>
              <a:t> </a:t>
            </a:r>
          </a:p>
          <a:p>
            <a:pPr>
              <a:buNone/>
            </a:pPr>
            <a:endParaRPr lang="ne-NP" sz="8000" dirty="0">
              <a:cs typeface="Kalimati" pitchFamily="2"/>
            </a:endParaRPr>
          </a:p>
          <a:p>
            <a:pPr>
              <a:buNone/>
            </a:pPr>
            <a:r>
              <a:rPr lang="ne-NP" sz="8000" dirty="0">
                <a:cs typeface="Kalimati" pitchFamily="2"/>
              </a:rPr>
              <a:t>   </a:t>
            </a:r>
          </a:p>
        </p:txBody>
      </p:sp>
    </p:spTree>
    <p:extLst>
      <p:ext uri="{BB962C8B-B14F-4D97-AF65-F5344CB8AC3E}">
        <p14:creationId xmlns:p14="http://schemas.microsoft.com/office/powerpoint/2010/main" val="3245715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447800"/>
          </a:xfrm>
        </p:spPr>
        <p:txBody>
          <a:bodyPr>
            <a:normAutofit/>
          </a:bodyPr>
          <a:lstStyle/>
          <a:p>
            <a:r>
              <a:rPr lang="ne-NP" sz="2800" dirty="0">
                <a:cs typeface="Kalimati" panose="00000400000000000000" pitchFamily="2"/>
              </a:rPr>
              <a:t>गुठी संस्थान ऐन, २०२९</a:t>
            </a:r>
            <a:br>
              <a:rPr lang="ne-NP" sz="3100" dirty="0">
                <a:cs typeface="Kalimati" panose="00000400000000000000" pitchFamily="2"/>
              </a:rPr>
            </a:br>
            <a:r>
              <a:rPr lang="ne-NP" sz="2000" dirty="0"/>
              <a:t>                              </a:t>
            </a:r>
            <a:endParaRPr lang="en-US" sz="2000" dirty="0"/>
          </a:p>
        </p:txBody>
      </p:sp>
      <p:sp>
        <p:nvSpPr>
          <p:cNvPr id="3" name="Content Placeholder 2"/>
          <p:cNvSpPr>
            <a:spLocks noGrp="1"/>
          </p:cNvSpPr>
          <p:nvPr>
            <p:ph idx="1"/>
          </p:nvPr>
        </p:nvSpPr>
        <p:spPr>
          <a:xfrm>
            <a:off x="457200" y="1981200"/>
            <a:ext cx="8229600" cy="4419600"/>
          </a:xfrm>
        </p:spPr>
        <p:txBody>
          <a:bodyPr>
            <a:normAutofit/>
          </a:bodyPr>
          <a:lstStyle/>
          <a:p>
            <a:pPr algn="just">
              <a:buNone/>
            </a:pPr>
            <a:endParaRPr lang="ne-NP" sz="2400" dirty="0">
              <a:cs typeface="Kalimati" pitchFamily="2"/>
            </a:endParaRPr>
          </a:p>
          <a:p>
            <a:pPr algn="just"/>
            <a:r>
              <a:rPr lang="ne-NP" sz="2400" dirty="0">
                <a:latin typeface="Mangai"/>
                <a:cs typeface="Kalimati" panose="00000400000000000000" pitchFamily="2"/>
              </a:rPr>
              <a:t>विभिन्‍न वर्गका जनताका बीच सुसम्बन्ध कायम राख्‍ने र सर्बसाधारण जनताको आर्थिक हित नैतिकता कायम राख्‍ने</a:t>
            </a:r>
          </a:p>
          <a:p>
            <a:pPr algn="just">
              <a:buFont typeface="Arial" charset="0"/>
              <a:buChar char="•"/>
            </a:pPr>
            <a:r>
              <a:rPr lang="ne-NP" sz="2400" dirty="0">
                <a:latin typeface="Mangai"/>
                <a:cs typeface="Kalimati" panose="00000400000000000000" pitchFamily="2"/>
              </a:rPr>
              <a:t>राजगुठीमा मोहीयानी हकको व्यवस्था</a:t>
            </a:r>
          </a:p>
          <a:p>
            <a:pPr algn="just">
              <a:buFont typeface="Arial" charset="0"/>
              <a:buChar char="•"/>
            </a:pPr>
            <a:r>
              <a:rPr lang="ne-NP" sz="2400" dirty="0">
                <a:latin typeface="Mangai"/>
                <a:cs typeface="Kalimati" panose="00000400000000000000" pitchFamily="2"/>
              </a:rPr>
              <a:t>गुठी मौजाको जिमिदारीसित सम्बन्धित पटवारीको सबै हक स्वतः समाप्त हुने</a:t>
            </a:r>
          </a:p>
          <a:p>
            <a:pPr algn="just">
              <a:buFont typeface="Arial" charset="0"/>
              <a:buChar char="•"/>
            </a:pPr>
            <a:r>
              <a:rPr lang="ne-NP" sz="2400" dirty="0">
                <a:latin typeface="Mangai"/>
                <a:cs typeface="Kalimati" panose="00000400000000000000" pitchFamily="2"/>
              </a:rPr>
              <a:t>छुट गुठीको दायित्व संस्थानमा सर्ने</a:t>
            </a:r>
          </a:p>
          <a:p>
            <a:pPr algn="just">
              <a:buFont typeface="Arial" charset="0"/>
              <a:buChar char="•"/>
            </a:pPr>
            <a:endParaRPr lang="ne-NP" sz="2400" dirty="0">
              <a:latin typeface="Mangai"/>
            </a:endParaRPr>
          </a:p>
        </p:txBody>
      </p:sp>
    </p:spTree>
    <p:extLst>
      <p:ext uri="{BB962C8B-B14F-4D97-AF65-F5344CB8AC3E}">
        <p14:creationId xmlns:p14="http://schemas.microsoft.com/office/powerpoint/2010/main" val="3156959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295400"/>
          </a:xfrm>
        </p:spPr>
        <p:txBody>
          <a:bodyPr>
            <a:normAutofit/>
          </a:bodyPr>
          <a:lstStyle/>
          <a:p>
            <a:r>
              <a:rPr lang="ne-NP" sz="2400" b="1" dirty="0">
                <a:cs typeface="Kalimati" pitchFamily="2"/>
              </a:rPr>
              <a:t> </a:t>
            </a:r>
            <a:r>
              <a:rPr lang="ne-NP" sz="2800" b="1" dirty="0">
                <a:cs typeface="Kalimati" panose="00000400000000000000" pitchFamily="2"/>
              </a:rPr>
              <a:t>गुठी संस्थान ऐन</a:t>
            </a:r>
            <a:r>
              <a:rPr lang="en-US" sz="2800" b="1" dirty="0">
                <a:cs typeface="Kalimati" panose="00000400000000000000" pitchFamily="2"/>
              </a:rPr>
              <a:t>,</a:t>
            </a:r>
            <a:r>
              <a:rPr lang="ne-NP" sz="2800" b="1" dirty="0">
                <a:cs typeface="Kalimati" panose="00000400000000000000" pitchFamily="2"/>
              </a:rPr>
              <a:t> २०३३</a:t>
            </a:r>
            <a:endParaRPr lang="en-US" sz="2800" b="1" dirty="0">
              <a:cs typeface="Kalimati" panose="00000400000000000000" pitchFamily="2"/>
            </a:endParaRPr>
          </a:p>
        </p:txBody>
      </p:sp>
      <p:sp>
        <p:nvSpPr>
          <p:cNvPr id="3" name="Content Placeholder 2"/>
          <p:cNvSpPr>
            <a:spLocks noGrp="1"/>
          </p:cNvSpPr>
          <p:nvPr>
            <p:ph idx="1"/>
          </p:nvPr>
        </p:nvSpPr>
        <p:spPr>
          <a:xfrm>
            <a:off x="609600" y="2438400"/>
            <a:ext cx="8077200" cy="4038600"/>
          </a:xfrm>
        </p:spPr>
        <p:txBody>
          <a:bodyPr>
            <a:normAutofit lnSpcReduction="10000"/>
          </a:bodyPr>
          <a:lstStyle/>
          <a:p>
            <a:pPr algn="just"/>
            <a:r>
              <a:rPr lang="ne-NP" sz="2400" dirty="0">
                <a:cs typeface="Kalimati" panose="00000400000000000000" pitchFamily="2"/>
              </a:rPr>
              <a:t>राजगुठीको बन्दोवस्त र सञ्‍चालनको सम्बन्धमा विस्तृतिकरण</a:t>
            </a:r>
          </a:p>
          <a:p>
            <a:pPr algn="just"/>
            <a:r>
              <a:rPr lang="ne-NP" sz="2400" dirty="0">
                <a:cs typeface="Kalimati" panose="00000400000000000000" pitchFamily="2"/>
              </a:rPr>
              <a:t>गुठी तैनाथी</a:t>
            </a:r>
            <a:r>
              <a:rPr lang="en-US" sz="2400" dirty="0">
                <a:cs typeface="Kalimati" panose="00000400000000000000" pitchFamily="2"/>
              </a:rPr>
              <a:t>,</a:t>
            </a:r>
            <a:r>
              <a:rPr lang="ne-NP" sz="2400" dirty="0">
                <a:cs typeface="Kalimati" panose="00000400000000000000" pitchFamily="2"/>
              </a:rPr>
              <a:t> गुठी अधिनस्त</a:t>
            </a:r>
            <a:r>
              <a:rPr lang="en-US" sz="2400" dirty="0">
                <a:cs typeface="Kalimati" panose="00000400000000000000" pitchFamily="2"/>
              </a:rPr>
              <a:t>,</a:t>
            </a:r>
            <a:r>
              <a:rPr lang="ne-NP" sz="2400" dirty="0">
                <a:cs typeface="Kalimati" panose="00000400000000000000" pitchFamily="2"/>
              </a:rPr>
              <a:t> गुठी रैतान नम्वरी जग्गाको बन्दोबस्त एवं त्यसमा गुठी संस्थानको दायित्व</a:t>
            </a:r>
          </a:p>
          <a:p>
            <a:pPr algn="just"/>
            <a:r>
              <a:rPr lang="ne-NP" sz="2400" dirty="0">
                <a:cs typeface="Kalimati" panose="00000400000000000000" pitchFamily="2"/>
              </a:rPr>
              <a:t>छुट गुठीको दायित्व संस्थानमा सर्ने</a:t>
            </a:r>
          </a:p>
          <a:p>
            <a:pPr algn="just"/>
            <a:r>
              <a:rPr lang="ne-NP" sz="2400" dirty="0">
                <a:cs typeface="Kalimati" panose="00000400000000000000" pitchFamily="2"/>
              </a:rPr>
              <a:t>गुठी जिमिन्दारी उन्मुलन</a:t>
            </a:r>
          </a:p>
          <a:p>
            <a:pPr algn="just"/>
            <a:r>
              <a:rPr lang="ne-NP" sz="2400" dirty="0">
                <a:cs typeface="Kalimati" panose="00000400000000000000" pitchFamily="2"/>
              </a:rPr>
              <a:t>मालपोत र कूत असुली सम्बन्धी कार्यबिधि</a:t>
            </a:r>
          </a:p>
          <a:p>
            <a:pPr algn="just"/>
            <a:r>
              <a:rPr lang="ne-NP" sz="2400" dirty="0">
                <a:cs typeface="Kalimati" panose="00000400000000000000" pitchFamily="2"/>
              </a:rPr>
              <a:t>मोहियानी हकको व्यवस्थापन</a:t>
            </a:r>
          </a:p>
          <a:p>
            <a:pPr algn="just"/>
            <a:r>
              <a:rPr lang="ne-NP" sz="2400" dirty="0">
                <a:cs typeface="Kalimati" panose="00000400000000000000" pitchFamily="2"/>
              </a:rPr>
              <a:t>खाञ्गी जग्गाको हदवन्दी सम्बन्धी व्यवस्था</a:t>
            </a:r>
          </a:p>
          <a:p>
            <a:pPr algn="just">
              <a:buNone/>
            </a:pPr>
            <a:r>
              <a:rPr lang="ne-NP" sz="2400" dirty="0">
                <a:cs typeface="Kalimati" panose="00000400000000000000" pitchFamily="2"/>
              </a:rPr>
              <a:t> </a:t>
            </a:r>
          </a:p>
          <a:p>
            <a:pPr algn="just">
              <a:buNone/>
            </a:pPr>
            <a:r>
              <a:rPr lang="ne-NP" sz="2400" dirty="0"/>
              <a:t>    </a:t>
            </a:r>
            <a:endParaRPr lang="en-US" sz="2400" dirty="0"/>
          </a:p>
        </p:txBody>
      </p:sp>
    </p:spTree>
    <p:extLst>
      <p:ext uri="{BB962C8B-B14F-4D97-AF65-F5344CB8AC3E}">
        <p14:creationId xmlns:p14="http://schemas.microsoft.com/office/powerpoint/2010/main" val="522261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09600"/>
          </a:xfrm>
        </p:spPr>
        <p:txBody>
          <a:bodyPr>
            <a:normAutofit/>
          </a:bodyPr>
          <a:lstStyle/>
          <a:p>
            <a:r>
              <a:rPr lang="ne-NP" sz="2800" b="1" dirty="0">
                <a:cs typeface="Kalimati" panose="00000400000000000000" pitchFamily="2"/>
              </a:rPr>
              <a:t>संवैधानिक व्यवस्था</a:t>
            </a:r>
            <a:endParaRPr lang="en-US" sz="2800" dirty="0">
              <a:cs typeface="Kalimati" pitchFamily="2"/>
            </a:endParaRPr>
          </a:p>
        </p:txBody>
      </p:sp>
      <p:sp>
        <p:nvSpPr>
          <p:cNvPr id="3" name="Content Placeholder 2"/>
          <p:cNvSpPr>
            <a:spLocks noGrp="1"/>
          </p:cNvSpPr>
          <p:nvPr>
            <p:ph idx="1"/>
          </p:nvPr>
        </p:nvSpPr>
        <p:spPr>
          <a:xfrm>
            <a:off x="457200" y="1295400"/>
            <a:ext cx="8229600" cy="4830763"/>
          </a:xfrm>
        </p:spPr>
        <p:txBody>
          <a:bodyPr>
            <a:normAutofit/>
          </a:bodyPr>
          <a:lstStyle/>
          <a:p>
            <a:pPr algn="just">
              <a:buFont typeface="Wingdings" pitchFamily="2" charset="2"/>
              <a:buChar char="§"/>
            </a:pPr>
            <a:r>
              <a:rPr lang="ne-NP" sz="2400" dirty="0">
                <a:cs typeface="Kalimati" panose="00000400000000000000" pitchFamily="2"/>
              </a:rPr>
              <a:t>नेपाल सरकार वैधानिक कानून</a:t>
            </a:r>
            <a:r>
              <a:rPr lang="en-US" sz="2400" dirty="0">
                <a:cs typeface="Kalimati" panose="00000400000000000000" pitchFamily="2"/>
              </a:rPr>
              <a:t>,</a:t>
            </a:r>
            <a:r>
              <a:rPr lang="ne-NP" sz="2400" dirty="0">
                <a:cs typeface="Kalimati" panose="00000400000000000000" pitchFamily="2"/>
              </a:rPr>
              <a:t> २००४</a:t>
            </a:r>
          </a:p>
          <a:p>
            <a:pPr algn="just">
              <a:buFont typeface="Wingdings" pitchFamily="2" charset="2"/>
              <a:buChar char="§"/>
            </a:pPr>
            <a:r>
              <a:rPr lang="ne-NP" sz="2400" dirty="0">
                <a:cs typeface="Kalimati" panose="00000400000000000000" pitchFamily="2"/>
              </a:rPr>
              <a:t>नेपालको अन्तरिम शासन विधान</a:t>
            </a:r>
            <a:r>
              <a:rPr lang="en-US" sz="2400" dirty="0">
                <a:cs typeface="Kalimati" panose="00000400000000000000" pitchFamily="2"/>
              </a:rPr>
              <a:t>,</a:t>
            </a:r>
            <a:r>
              <a:rPr lang="ne-NP" sz="2400" dirty="0">
                <a:cs typeface="Kalimati" panose="00000400000000000000" pitchFamily="2"/>
              </a:rPr>
              <a:t> २००७</a:t>
            </a:r>
          </a:p>
          <a:p>
            <a:pPr algn="just">
              <a:buFont typeface="Wingdings" pitchFamily="2" charset="2"/>
              <a:buChar char="§"/>
            </a:pPr>
            <a:r>
              <a:rPr lang="ne-NP" sz="2400" dirty="0">
                <a:cs typeface="Kalimati" panose="00000400000000000000" pitchFamily="2"/>
              </a:rPr>
              <a:t>नेपाल अधिराज्यको संविधान</a:t>
            </a:r>
            <a:r>
              <a:rPr lang="en-US" sz="2400" dirty="0">
                <a:cs typeface="Kalimati" panose="00000400000000000000" pitchFamily="2"/>
              </a:rPr>
              <a:t>,</a:t>
            </a:r>
            <a:r>
              <a:rPr lang="ne-NP" sz="2400" dirty="0">
                <a:cs typeface="Kalimati" panose="00000400000000000000" pitchFamily="2"/>
              </a:rPr>
              <a:t> २०१५</a:t>
            </a:r>
          </a:p>
          <a:p>
            <a:pPr algn="just">
              <a:buFont typeface="Wingdings" pitchFamily="2" charset="2"/>
              <a:buChar char="§"/>
            </a:pPr>
            <a:r>
              <a:rPr lang="ne-NP" sz="2400" dirty="0">
                <a:cs typeface="Kalimati" panose="00000400000000000000" pitchFamily="2"/>
              </a:rPr>
              <a:t>नेपालको संविधान</a:t>
            </a:r>
            <a:r>
              <a:rPr lang="en-US" sz="2400" dirty="0">
                <a:cs typeface="Kalimati" panose="00000400000000000000" pitchFamily="2"/>
              </a:rPr>
              <a:t>,</a:t>
            </a:r>
            <a:r>
              <a:rPr lang="ne-NP" sz="2400" dirty="0">
                <a:cs typeface="Kalimati" panose="00000400000000000000" pitchFamily="2"/>
              </a:rPr>
              <a:t> २०१९</a:t>
            </a:r>
          </a:p>
          <a:p>
            <a:pPr algn="just">
              <a:buFont typeface="Wingdings" pitchFamily="2" charset="2"/>
              <a:buChar char="§"/>
            </a:pPr>
            <a:r>
              <a:rPr lang="ne-NP" sz="2400" dirty="0">
                <a:cs typeface="Kalimati" panose="00000400000000000000" pitchFamily="2"/>
              </a:rPr>
              <a:t>नेपाल अधिराज्यको संविधान</a:t>
            </a:r>
            <a:r>
              <a:rPr lang="en-US" sz="2400" dirty="0">
                <a:cs typeface="Kalimati" panose="00000400000000000000" pitchFamily="2"/>
              </a:rPr>
              <a:t>,</a:t>
            </a:r>
            <a:r>
              <a:rPr lang="ne-NP" sz="2400" dirty="0">
                <a:cs typeface="Kalimati" panose="00000400000000000000" pitchFamily="2"/>
              </a:rPr>
              <a:t> २०४७</a:t>
            </a:r>
          </a:p>
          <a:p>
            <a:pPr algn="just">
              <a:buFont typeface="Wingdings" pitchFamily="2" charset="2"/>
              <a:buChar char="§"/>
            </a:pPr>
            <a:r>
              <a:rPr lang="ne-NP" sz="2400" dirty="0">
                <a:cs typeface="Kalimati" panose="00000400000000000000" pitchFamily="2"/>
              </a:rPr>
              <a:t>नेपालको अन्तरिम संविधान</a:t>
            </a:r>
            <a:r>
              <a:rPr lang="en-US" sz="2400" dirty="0">
                <a:cs typeface="Kalimati" panose="00000400000000000000" pitchFamily="2"/>
              </a:rPr>
              <a:t>,</a:t>
            </a:r>
            <a:r>
              <a:rPr lang="ne-NP" sz="2400" dirty="0">
                <a:cs typeface="Kalimati" panose="00000400000000000000" pitchFamily="2"/>
              </a:rPr>
              <a:t> २०६३</a:t>
            </a:r>
          </a:p>
          <a:p>
            <a:pPr algn="just">
              <a:buFont typeface="Wingdings" pitchFamily="2" charset="2"/>
              <a:buChar char="§"/>
            </a:pPr>
            <a:r>
              <a:rPr lang="ne-NP" sz="2400" dirty="0">
                <a:cs typeface="Kalimati" panose="00000400000000000000" pitchFamily="2"/>
              </a:rPr>
              <a:t>नेपालको संविधान</a:t>
            </a:r>
            <a:r>
              <a:rPr lang="en-US" sz="2400" dirty="0">
                <a:cs typeface="Kalimati" panose="00000400000000000000" pitchFamily="2"/>
              </a:rPr>
              <a:t>,</a:t>
            </a:r>
            <a:r>
              <a:rPr lang="ne-NP" sz="2400" dirty="0">
                <a:cs typeface="Kalimati" panose="00000400000000000000" pitchFamily="2"/>
              </a:rPr>
              <a:t> २०७२</a:t>
            </a:r>
            <a:r>
              <a:rPr lang="en-US" sz="2400" dirty="0">
                <a:cs typeface="Kalimati" panose="00000400000000000000" pitchFamily="2"/>
              </a:rPr>
              <a:t> </a:t>
            </a:r>
          </a:p>
          <a:p>
            <a:pPr algn="just">
              <a:buFontTx/>
              <a:buChar char="-"/>
            </a:pPr>
            <a:r>
              <a:rPr lang="ne-NP" sz="2000" dirty="0">
                <a:cs typeface="Kalimati" panose="00000400000000000000" pitchFamily="2"/>
              </a:rPr>
              <a:t>गुठी रकमलाई सञ्‍चित कोषबाट बाहेक गरिएको</a:t>
            </a:r>
          </a:p>
          <a:p>
            <a:pPr algn="just">
              <a:buFontTx/>
              <a:buChar char="-"/>
            </a:pPr>
            <a:r>
              <a:rPr lang="ne-NP" sz="2000" dirty="0">
                <a:cs typeface="Kalimati" panose="00000400000000000000" pitchFamily="2"/>
              </a:rPr>
              <a:t>गुठीको मुलभूत मान्यतामा प्रतिकूल असर नपर्ने गरी गुठी जग्गामा भोगाधिकार भईरहेका किसान एवं गुठीको अधिकारका संम्बन्धमा संघीय संसदले आवश्यक कानून बनाउने</a:t>
            </a:r>
          </a:p>
          <a:p>
            <a:pPr algn="just">
              <a:buNone/>
            </a:pPr>
            <a:r>
              <a:rPr lang="ne-NP" sz="2000" dirty="0">
                <a:cs typeface="Kalimati" panose="00000400000000000000" pitchFamily="2"/>
              </a:rPr>
              <a:t>-  गुठी सम्बन्धी अन्य व्यवस्था संघीय कानून बमोजिम हुने</a:t>
            </a:r>
          </a:p>
          <a:p>
            <a:pPr algn="just">
              <a:buFont typeface="Wingdings" pitchFamily="2" charset="2"/>
              <a:buChar char="§"/>
            </a:pPr>
            <a:endParaRPr lang="ne-NP" sz="2400" dirty="0"/>
          </a:p>
          <a:p>
            <a:pPr algn="just">
              <a:buFont typeface="Wingdings" pitchFamily="2" charset="2"/>
              <a:buChar char="§"/>
            </a:pPr>
            <a:endParaRPr lang="en-US" sz="2400" dirty="0">
              <a:cs typeface="Kalimati" pitchFamily="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762000"/>
          </a:xfrm>
        </p:spPr>
        <p:txBody>
          <a:bodyPr>
            <a:normAutofit/>
          </a:bodyPr>
          <a:lstStyle/>
          <a:p>
            <a:r>
              <a:rPr lang="ne-NP" sz="2800" b="1" dirty="0">
                <a:solidFill>
                  <a:srgbClr val="7030A0"/>
                </a:solidFill>
                <a:cs typeface="Kalimati" panose="00000400000000000000" pitchFamily="2"/>
              </a:rPr>
              <a:t>गुठीका प्रकार</a:t>
            </a:r>
            <a:endParaRPr lang="en-US" sz="2800" dirty="0">
              <a:solidFill>
                <a:srgbClr val="7030A0"/>
              </a:solidFill>
              <a:cs typeface="Kalimati" pitchFamily="2"/>
            </a:endParaRPr>
          </a:p>
        </p:txBody>
      </p:sp>
      <p:sp>
        <p:nvSpPr>
          <p:cNvPr id="3" name="Content Placeholder 2"/>
          <p:cNvSpPr>
            <a:spLocks noGrp="1"/>
          </p:cNvSpPr>
          <p:nvPr>
            <p:ph idx="1"/>
          </p:nvPr>
        </p:nvSpPr>
        <p:spPr>
          <a:xfrm>
            <a:off x="457200" y="1905000"/>
            <a:ext cx="8229600" cy="4038600"/>
          </a:xfrm>
        </p:spPr>
        <p:txBody>
          <a:bodyPr>
            <a:normAutofit/>
          </a:bodyPr>
          <a:lstStyle/>
          <a:p>
            <a:r>
              <a:rPr lang="ne-NP" sz="2400" dirty="0">
                <a:cs typeface="Kalimati" panose="00000400000000000000" pitchFamily="2"/>
              </a:rPr>
              <a:t>निजी गुठी</a:t>
            </a:r>
          </a:p>
          <a:p>
            <a:r>
              <a:rPr lang="ne-NP" sz="2400" dirty="0">
                <a:cs typeface="Kalimati" panose="00000400000000000000" pitchFamily="2"/>
              </a:rPr>
              <a:t>सार्वजनिक गुठी</a:t>
            </a:r>
          </a:p>
          <a:p>
            <a:r>
              <a:rPr lang="ne-NP" sz="2400" dirty="0">
                <a:cs typeface="Kalimati" panose="00000400000000000000" pitchFamily="2"/>
              </a:rPr>
              <a:t>राजगुठी</a:t>
            </a:r>
          </a:p>
          <a:p>
            <a:r>
              <a:rPr lang="ne-NP" sz="2400" dirty="0">
                <a:cs typeface="Kalimati" panose="00000400000000000000" pitchFamily="2"/>
              </a:rPr>
              <a:t>छुट गुठी</a:t>
            </a:r>
          </a:p>
          <a:p>
            <a:pPr>
              <a:buNone/>
            </a:pPr>
            <a:endParaRPr lang="ne-NP" sz="2400" dirty="0"/>
          </a:p>
          <a:p>
            <a:pPr>
              <a:buNone/>
            </a:pPr>
            <a:endParaRPr lang="ne-NP" sz="2400" i="1" dirty="0"/>
          </a:p>
          <a:p>
            <a:endParaRPr lang="en-US" sz="2400" dirty="0">
              <a:cs typeface="Kalimati" pitchFamily="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a:bodyPr>
          <a:lstStyle/>
          <a:p>
            <a:r>
              <a:rPr lang="ne-NP" sz="2800" b="1" dirty="0">
                <a:cs typeface="Kalimati" panose="00000400000000000000" pitchFamily="2"/>
              </a:rPr>
              <a:t>राजगुठी</a:t>
            </a:r>
            <a:endParaRPr lang="en-US" sz="2800" dirty="0">
              <a:cs typeface="Kalimati" pitchFamily="2"/>
            </a:endParaRPr>
          </a:p>
        </p:txBody>
      </p:sp>
      <p:sp>
        <p:nvSpPr>
          <p:cNvPr id="3" name="Content Placeholder 2"/>
          <p:cNvSpPr>
            <a:spLocks noGrp="1"/>
          </p:cNvSpPr>
          <p:nvPr>
            <p:ph idx="1"/>
          </p:nvPr>
        </p:nvSpPr>
        <p:spPr>
          <a:xfrm>
            <a:off x="457200" y="1600200"/>
            <a:ext cx="8229600" cy="4800600"/>
          </a:xfrm>
        </p:spPr>
        <p:txBody>
          <a:bodyPr>
            <a:noAutofit/>
          </a:bodyPr>
          <a:lstStyle/>
          <a:p>
            <a:pPr algn="just">
              <a:buFont typeface="Wingdings" pitchFamily="2" charset="2"/>
              <a:buChar char="q"/>
            </a:pPr>
            <a:r>
              <a:rPr lang="ne-NP" sz="2400" dirty="0">
                <a:cs typeface="Kalimati" panose="00000400000000000000" pitchFamily="2"/>
              </a:rPr>
              <a:t>प्राचिन समयमा राजाद्धारा देवी देवता वा धार्मिक कार्यको लागि छुट्याईएको वा राखिएको गुठी / सरकारद्धारा चलाएको गुठी / दुनियाले राखेको तर गुठी राख्‍ने परिवारका सदस्य आफै वा अरुलाई गुठीयार/महन्त बनाई राजगुठीमा दर्ता गरी वा गराई राखेको गुठीलाई पनि राजगुठी मानिन्थ्यो /</a:t>
            </a:r>
          </a:p>
          <a:p>
            <a:pPr algn="just">
              <a:buFont typeface="Wingdings" pitchFamily="2" charset="2"/>
              <a:buChar char="q"/>
            </a:pPr>
            <a:r>
              <a:rPr lang="ne-NP" sz="2400" dirty="0">
                <a:cs typeface="Kalimati" panose="00000400000000000000" pitchFamily="2"/>
              </a:rPr>
              <a:t>राजगुठी भन्नाले श्री ५ को सरकार अधिनस्त वा श्री ५ को सरकारबाट व्यवस्था भएको गुठी सम्झनु पर्दछ ।{गुठी संस्थान ऐन</a:t>
            </a:r>
            <a:r>
              <a:rPr lang="en-US" sz="2400" dirty="0">
                <a:cs typeface="Kalimati" panose="00000400000000000000" pitchFamily="2"/>
              </a:rPr>
              <a:t>,</a:t>
            </a:r>
            <a:r>
              <a:rPr lang="ne-NP" sz="2400" dirty="0">
                <a:cs typeface="Kalimati" panose="00000400000000000000" pitchFamily="2"/>
              </a:rPr>
              <a:t> २०२१ दफा २(छ)}</a:t>
            </a:r>
          </a:p>
          <a:p>
            <a:pPr algn="just">
              <a:buFont typeface="Wingdings" pitchFamily="2" charset="2"/>
              <a:buChar char="q"/>
            </a:pPr>
            <a:r>
              <a:rPr lang="ne-NP" sz="2400" dirty="0">
                <a:cs typeface="Kalimati" panose="00000400000000000000" pitchFamily="2"/>
              </a:rPr>
              <a:t>राजगुठी भन्‍नाले गुठी सस्थानको हक दायित्व भई गुठी संस्थानले बन्दोबस्त र सञ्‍चालन गरी आएको राजगुठी सम्झनु पर्छ।{गुठी संस्थान ऐन</a:t>
            </a:r>
            <a:r>
              <a:rPr lang="en-US" sz="2400" dirty="0">
                <a:cs typeface="Kalimati" panose="00000400000000000000" pitchFamily="2"/>
              </a:rPr>
              <a:t>,</a:t>
            </a:r>
            <a:r>
              <a:rPr lang="ne-NP" sz="2400" dirty="0">
                <a:cs typeface="Kalimati" panose="00000400000000000000" pitchFamily="2"/>
              </a:rPr>
              <a:t> २०३३ दफा २(घ)}</a:t>
            </a:r>
          </a:p>
          <a:p>
            <a:pPr algn="just">
              <a:buFont typeface="Wingdings" pitchFamily="2" charset="2"/>
              <a:buChar char="q"/>
            </a:pPr>
            <a:endParaRPr lang="ne-NP" sz="2400" dirty="0">
              <a:cs typeface="Kalimati" panose="00000400000000000000" pitchFamily="2"/>
            </a:endParaRPr>
          </a:p>
          <a:p>
            <a:pPr algn="just">
              <a:buFont typeface="Wingdings" pitchFamily="2" charset="2"/>
              <a:buChar char="q"/>
            </a:pPr>
            <a:endParaRPr lang="ne-NP" sz="2400" dirty="0"/>
          </a:p>
          <a:p>
            <a:pPr algn="just">
              <a:buFont typeface="Wingdings" pitchFamily="2" charset="2"/>
              <a:buChar char="q"/>
            </a:pPr>
            <a:endParaRPr lang="ne-NP" sz="2400" dirty="0"/>
          </a:p>
          <a:p>
            <a:pPr algn="just">
              <a:buNone/>
            </a:pPr>
            <a:endParaRPr lang="en-US" sz="2000" dirty="0">
              <a:cs typeface="Kalimati" pitchFamily="2"/>
            </a:endParaRPr>
          </a:p>
        </p:txBody>
      </p:sp>
    </p:spTree>
    <p:extLst>
      <p:ext uri="{BB962C8B-B14F-4D97-AF65-F5344CB8AC3E}">
        <p14:creationId xmlns:p14="http://schemas.microsoft.com/office/powerpoint/2010/main" val="1635956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Autofit/>
          </a:bodyPr>
          <a:lstStyle/>
          <a:p>
            <a:r>
              <a:rPr lang="ne-NP" sz="2800" b="1" dirty="0">
                <a:cs typeface="Kalimati" panose="00000400000000000000" pitchFamily="2"/>
              </a:rPr>
              <a:t>राजगुठी जग्गाका प्रकार</a:t>
            </a:r>
            <a:endParaRPr lang="en-US" sz="2800" dirty="0">
              <a:cs typeface="Kalimati" pitchFamily="2"/>
            </a:endParaRPr>
          </a:p>
        </p:txBody>
      </p:sp>
      <p:sp>
        <p:nvSpPr>
          <p:cNvPr id="3" name="Content Placeholder 2"/>
          <p:cNvSpPr>
            <a:spLocks noGrp="1"/>
          </p:cNvSpPr>
          <p:nvPr>
            <p:ph idx="1"/>
          </p:nvPr>
        </p:nvSpPr>
        <p:spPr>
          <a:xfrm>
            <a:off x="457200" y="1295400"/>
            <a:ext cx="8229600" cy="4572000"/>
          </a:xfrm>
        </p:spPr>
        <p:txBody>
          <a:bodyPr>
            <a:normAutofit/>
          </a:bodyPr>
          <a:lstStyle/>
          <a:p>
            <a:pPr algn="just">
              <a:buNone/>
            </a:pPr>
            <a:endParaRPr lang="ne-NP" sz="2000" dirty="0">
              <a:cs typeface="Kalimati" pitchFamily="2"/>
            </a:endParaRPr>
          </a:p>
          <a:p>
            <a:pPr algn="just">
              <a:buFont typeface="Wingdings" pitchFamily="2" charset="2"/>
              <a:buChar char="v"/>
            </a:pPr>
            <a:r>
              <a:rPr lang="ne-NP" sz="2800" dirty="0">
                <a:cs typeface="Kalimati" pitchFamily="2"/>
              </a:rPr>
              <a:t>गुठी तैनाथी जग्गा</a:t>
            </a:r>
          </a:p>
          <a:p>
            <a:pPr algn="just">
              <a:buNone/>
            </a:pPr>
            <a:r>
              <a:rPr lang="ne-NP" sz="2800" dirty="0">
                <a:cs typeface="Kalimati" pitchFamily="2"/>
              </a:rPr>
              <a:t> </a:t>
            </a:r>
          </a:p>
          <a:p>
            <a:pPr algn="just">
              <a:buFont typeface="Wingdings" pitchFamily="2" charset="2"/>
              <a:buChar char="v"/>
            </a:pPr>
            <a:r>
              <a:rPr lang="ne-NP" sz="2800" dirty="0">
                <a:cs typeface="Kalimati" pitchFamily="2"/>
              </a:rPr>
              <a:t>गुठी अधिनस्त जग्गा </a:t>
            </a:r>
          </a:p>
          <a:p>
            <a:pPr algn="just">
              <a:buNone/>
            </a:pPr>
            <a:endParaRPr lang="ne-NP" sz="2800" dirty="0">
              <a:cs typeface="Kalimati" pitchFamily="2"/>
            </a:endParaRPr>
          </a:p>
          <a:p>
            <a:pPr algn="just">
              <a:buFont typeface="Wingdings" pitchFamily="2" charset="2"/>
              <a:buChar char="v"/>
            </a:pPr>
            <a:r>
              <a:rPr lang="ne-NP" sz="2800" dirty="0">
                <a:cs typeface="Kalimati" pitchFamily="2"/>
              </a:rPr>
              <a:t>गुठी रैतान नम्वरी जग्गा</a:t>
            </a:r>
          </a:p>
          <a:p>
            <a:pPr algn="just">
              <a:buNone/>
            </a:pPr>
            <a:endParaRPr lang="ne-NP" sz="2800" dirty="0">
              <a:cs typeface="Kalimati" pitchFamily="2"/>
            </a:endParaRPr>
          </a:p>
          <a:p>
            <a:pPr algn="just">
              <a:buFont typeface="Wingdings" pitchFamily="2" charset="2"/>
              <a:buChar char="v"/>
            </a:pPr>
            <a:r>
              <a:rPr lang="ne-NP" sz="2800" dirty="0">
                <a:cs typeface="Kalimati" pitchFamily="2"/>
              </a:rPr>
              <a:t>गुठी नम्बरी जग्गा</a:t>
            </a:r>
          </a:p>
          <a:p>
            <a:pPr algn="just">
              <a:buFont typeface="Wingdings" pitchFamily="2" charset="2"/>
              <a:buChar char="v"/>
            </a:pPr>
            <a:endParaRPr lang="ne-NP" sz="2800" dirty="0"/>
          </a:p>
          <a:p>
            <a:pPr algn="just">
              <a:buNone/>
            </a:pPr>
            <a:endParaRPr lang="en-US" sz="2800" dirty="0">
              <a:cs typeface="Kalimati" pitchFamily="2"/>
            </a:endParaRPr>
          </a:p>
        </p:txBody>
      </p:sp>
    </p:spTree>
    <p:extLst>
      <p:ext uri="{BB962C8B-B14F-4D97-AF65-F5344CB8AC3E}">
        <p14:creationId xmlns:p14="http://schemas.microsoft.com/office/powerpoint/2010/main" val="1846091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noAutofit/>
          </a:bodyPr>
          <a:lstStyle/>
          <a:p>
            <a:r>
              <a:rPr lang="ne-NP" sz="2800" dirty="0"/>
              <a:t> </a:t>
            </a:r>
            <a:r>
              <a:rPr lang="ne-NP" sz="2800" dirty="0">
                <a:cs typeface="Kalimati" panose="00000400000000000000" pitchFamily="2"/>
              </a:rPr>
              <a:t>गुठी तैनाथी जग्गा</a:t>
            </a:r>
            <a:endParaRPr lang="en-US" sz="1800" dirty="0">
              <a:cs typeface="Kalimati" panose="00000400000000000000" pitchFamily="2"/>
            </a:endParaRPr>
          </a:p>
        </p:txBody>
      </p:sp>
      <p:sp>
        <p:nvSpPr>
          <p:cNvPr id="3" name="Content Placeholder 2"/>
          <p:cNvSpPr>
            <a:spLocks noGrp="1"/>
          </p:cNvSpPr>
          <p:nvPr>
            <p:ph idx="1"/>
          </p:nvPr>
        </p:nvSpPr>
        <p:spPr>
          <a:xfrm>
            <a:off x="381000" y="1295400"/>
            <a:ext cx="8305800" cy="5181600"/>
          </a:xfrm>
        </p:spPr>
        <p:txBody>
          <a:bodyPr>
            <a:normAutofit/>
          </a:bodyPr>
          <a:lstStyle/>
          <a:p>
            <a:pPr algn="just">
              <a:buNone/>
            </a:pPr>
            <a:r>
              <a:rPr lang="ne-NP" sz="2400" dirty="0"/>
              <a:t>                    </a:t>
            </a:r>
            <a:endParaRPr lang="ne-NP" sz="2400" dirty="0">
              <a:cs typeface="Kalimati" pitchFamily="2"/>
            </a:endParaRPr>
          </a:p>
          <a:p>
            <a:pPr algn="just">
              <a:buFont typeface="Wingdings" pitchFamily="2" charset="2"/>
              <a:buChar char="ü"/>
            </a:pPr>
            <a:endParaRPr lang="ne-NP" sz="2400" dirty="0"/>
          </a:p>
          <a:p>
            <a:pPr algn="just">
              <a:buFont typeface="Wingdings" pitchFamily="2" charset="2"/>
              <a:buChar char="ü"/>
            </a:pPr>
            <a:r>
              <a:rPr lang="ne-NP" sz="2400" dirty="0">
                <a:cs typeface="Kalimati" panose="00000400000000000000" pitchFamily="2"/>
              </a:rPr>
              <a:t>गुठी संस्थानको प्रत्यक्ष नियन्त्रणमा रही संस्थानले नै खेती लगाउनुको साथै आवश्यक व्यवस्थापन गर्ने जग्गा </a:t>
            </a:r>
          </a:p>
          <a:p>
            <a:pPr algn="just">
              <a:buNone/>
            </a:pPr>
            <a:endParaRPr lang="ne-NP" sz="2400" dirty="0">
              <a:cs typeface="Kalimati" panose="00000400000000000000" pitchFamily="2"/>
            </a:endParaRPr>
          </a:p>
          <a:p>
            <a:pPr algn="just">
              <a:buFont typeface="Wingdings" pitchFamily="2" charset="2"/>
              <a:buChar char="ü"/>
            </a:pPr>
            <a:r>
              <a:rPr lang="ne-NP" sz="2400" dirty="0">
                <a:cs typeface="Kalimati" panose="00000400000000000000" pitchFamily="2"/>
              </a:rPr>
              <a:t>कसैको नाममा दर्ता नभएको गुठी संस्थानको सम्पूर्ण अधिकार रहेको जग्गा </a:t>
            </a:r>
            <a:r>
              <a:rPr lang="ne-NP" sz="2000" i="1" dirty="0">
                <a:cs typeface="Kalimati" panose="00000400000000000000" pitchFamily="2"/>
              </a:rPr>
              <a:t>{गुठी संस्थान ऐन</a:t>
            </a:r>
            <a:r>
              <a:rPr lang="en-US" sz="2000" i="1" dirty="0">
                <a:cs typeface="Kalimati" panose="00000400000000000000" pitchFamily="2"/>
              </a:rPr>
              <a:t>,</a:t>
            </a:r>
            <a:r>
              <a:rPr lang="ne-NP" sz="2000" i="1" dirty="0">
                <a:cs typeface="Kalimati" panose="00000400000000000000" pitchFamily="2"/>
              </a:rPr>
              <a:t> २०३३ को दफा २(ट)}</a:t>
            </a:r>
          </a:p>
          <a:p>
            <a:pPr algn="just">
              <a:buNone/>
            </a:pPr>
            <a:endParaRPr lang="ne-NP" sz="2000" i="1" dirty="0">
              <a:cs typeface="Kalimati" panose="00000400000000000000" pitchFamily="2"/>
            </a:endParaRPr>
          </a:p>
          <a:p>
            <a:pPr algn="just">
              <a:buFont typeface="Wingdings" pitchFamily="2" charset="2"/>
              <a:buChar char="ü"/>
            </a:pPr>
            <a:r>
              <a:rPr lang="ne-NP" sz="2400" dirty="0">
                <a:cs typeface="Kalimati" panose="00000400000000000000" pitchFamily="2"/>
              </a:rPr>
              <a:t>गुठी</a:t>
            </a:r>
            <a:r>
              <a:rPr lang="ne-NP" sz="2400" i="1" dirty="0">
                <a:cs typeface="Kalimati" panose="00000400000000000000" pitchFamily="2"/>
              </a:rPr>
              <a:t> </a:t>
            </a:r>
            <a:r>
              <a:rPr lang="ne-NP" sz="2400" dirty="0">
                <a:cs typeface="Kalimati" panose="00000400000000000000" pitchFamily="2"/>
              </a:rPr>
              <a:t>तैनाथी</a:t>
            </a:r>
            <a:r>
              <a:rPr lang="ne-NP" sz="2400" i="1" dirty="0">
                <a:cs typeface="Kalimati" panose="00000400000000000000" pitchFamily="2"/>
              </a:rPr>
              <a:t> </a:t>
            </a:r>
            <a:r>
              <a:rPr lang="ne-NP" sz="2400" dirty="0">
                <a:cs typeface="Kalimati" panose="00000400000000000000" pitchFamily="2"/>
              </a:rPr>
              <a:t>जग्गा किनबेच हुन सक्तैन र मोही समेत लाग्दैन</a:t>
            </a:r>
          </a:p>
          <a:p>
            <a:pPr algn="just">
              <a:buNone/>
            </a:pPr>
            <a:r>
              <a:rPr lang="ne-NP" sz="2400" dirty="0">
                <a:cs typeface="Kalimati" panose="00000400000000000000" pitchFamily="2"/>
              </a:rPr>
              <a:t> </a:t>
            </a:r>
            <a:endParaRPr lang="ne-NP" sz="2400" i="1" dirty="0">
              <a:cs typeface="Kalimati" panose="00000400000000000000" pitchFamily="2"/>
            </a:endParaRPr>
          </a:p>
        </p:txBody>
      </p:sp>
    </p:spTree>
    <p:extLst>
      <p:ext uri="{BB962C8B-B14F-4D97-AF65-F5344CB8AC3E}">
        <p14:creationId xmlns:p14="http://schemas.microsoft.com/office/powerpoint/2010/main" val="428181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ne-NP" sz="1800"/>
              <a:t>                                                         क्रमश</a:t>
            </a:r>
            <a:r>
              <a:rPr lang="ne-NP" sz="1800">
                <a:cs typeface="Kalimati" pitchFamily="2"/>
              </a:rPr>
              <a:t>...</a:t>
            </a:r>
            <a:endParaRPr lang="en-US" sz="1800">
              <a:cs typeface="Kalimati" pitchFamily="2"/>
            </a:endParaRPr>
          </a:p>
        </p:txBody>
      </p:sp>
      <p:sp>
        <p:nvSpPr>
          <p:cNvPr id="3" name="Content Placeholder 2"/>
          <p:cNvSpPr>
            <a:spLocks noGrp="1"/>
          </p:cNvSpPr>
          <p:nvPr>
            <p:ph idx="1"/>
          </p:nvPr>
        </p:nvSpPr>
        <p:spPr>
          <a:xfrm>
            <a:off x="457200" y="990600"/>
            <a:ext cx="8229600" cy="5135563"/>
          </a:xfrm>
        </p:spPr>
        <p:txBody>
          <a:bodyPr>
            <a:normAutofit fontScale="92500"/>
          </a:bodyPr>
          <a:lstStyle/>
          <a:p>
            <a:pPr algn="just">
              <a:buFont typeface="Wingdings" pitchFamily="2" charset="2"/>
              <a:buChar char="ü"/>
            </a:pPr>
            <a:r>
              <a:rPr lang="ne-NP" sz="2400" dirty="0">
                <a:cs typeface="Kalimati" panose="00000400000000000000" pitchFamily="2"/>
              </a:rPr>
              <a:t>हाल प्रचलनमा रहेका गुठी तैनाथी जग्गालाई यसरी उल्लेख गर्न सकिन्छ</a:t>
            </a:r>
          </a:p>
          <a:p>
            <a:pPr algn="just">
              <a:buNone/>
            </a:pPr>
            <a:r>
              <a:rPr lang="ne-NP" sz="2400" i="1" dirty="0">
                <a:cs typeface="Kalimati" pitchFamily="2"/>
              </a:rPr>
              <a:t>   (क) गुठी संस्थान आफैले खेति गर्न छुट्याएको जग्गा</a:t>
            </a:r>
          </a:p>
          <a:p>
            <a:pPr algn="just">
              <a:buNone/>
            </a:pPr>
            <a:r>
              <a:rPr lang="ne-NP" sz="2400" i="1" dirty="0">
                <a:cs typeface="Kalimati" pitchFamily="2"/>
              </a:rPr>
              <a:t>   (ख) गुठीको बाग</a:t>
            </a:r>
            <a:r>
              <a:rPr lang="en-US" sz="2400" i="1" dirty="0">
                <a:cs typeface="Kalimati" panose="00000400000000000000" pitchFamily="2"/>
              </a:rPr>
              <a:t>,</a:t>
            </a:r>
            <a:r>
              <a:rPr lang="ne-NP" sz="2400" i="1" dirty="0">
                <a:cs typeface="Kalimati" panose="00000400000000000000" pitchFamily="2"/>
              </a:rPr>
              <a:t>बगैचा</a:t>
            </a:r>
            <a:r>
              <a:rPr lang="en-US" sz="2400" i="1" dirty="0">
                <a:cs typeface="Kalimati" panose="00000400000000000000" pitchFamily="2"/>
              </a:rPr>
              <a:t>,</a:t>
            </a:r>
            <a:r>
              <a:rPr lang="ne-NP" sz="2400" i="1" dirty="0">
                <a:cs typeface="Kalimati" panose="00000400000000000000" pitchFamily="2"/>
              </a:rPr>
              <a:t> पोखरी एवं ऐलानी बाझो जग्गा</a:t>
            </a:r>
          </a:p>
          <a:p>
            <a:pPr algn="just">
              <a:buNone/>
            </a:pPr>
            <a:r>
              <a:rPr lang="ne-NP" sz="2400" i="1" dirty="0">
                <a:cs typeface="Kalimati" panose="00000400000000000000" pitchFamily="2"/>
              </a:rPr>
              <a:t>   (ग) गुठीको मठ</a:t>
            </a:r>
            <a:r>
              <a:rPr lang="en-US" sz="2400" i="1" dirty="0">
                <a:cs typeface="Kalimati" panose="00000400000000000000" pitchFamily="2"/>
              </a:rPr>
              <a:t>,</a:t>
            </a:r>
            <a:r>
              <a:rPr lang="ne-NP" sz="2400" i="1" dirty="0">
                <a:cs typeface="Kalimati" panose="00000400000000000000" pitchFamily="2"/>
              </a:rPr>
              <a:t> मन्दिर</a:t>
            </a:r>
            <a:r>
              <a:rPr lang="en-US" sz="2400" i="1" dirty="0">
                <a:cs typeface="Kalimati" panose="00000400000000000000" pitchFamily="2"/>
              </a:rPr>
              <a:t>,</a:t>
            </a:r>
            <a:r>
              <a:rPr lang="ne-NP" sz="2400" i="1" dirty="0">
                <a:cs typeface="Kalimati" panose="00000400000000000000" pitchFamily="2"/>
              </a:rPr>
              <a:t> देवस्थल</a:t>
            </a:r>
            <a:r>
              <a:rPr lang="en-US" sz="2400" i="1" dirty="0">
                <a:cs typeface="Kalimati" panose="00000400000000000000" pitchFamily="2"/>
              </a:rPr>
              <a:t>,</a:t>
            </a:r>
            <a:r>
              <a:rPr lang="ne-NP" sz="2400" i="1" dirty="0">
                <a:cs typeface="Kalimati" panose="00000400000000000000" pitchFamily="2"/>
              </a:rPr>
              <a:t> पाटी वा सत्तल रहेको जग्गा </a:t>
            </a:r>
          </a:p>
          <a:p>
            <a:pPr algn="just">
              <a:buNone/>
            </a:pPr>
            <a:r>
              <a:rPr lang="ne-NP" sz="2400" i="1" dirty="0">
                <a:cs typeface="Kalimati" panose="00000400000000000000" pitchFamily="2"/>
              </a:rPr>
              <a:t>   (घ) देव देवताका देवस्थल</a:t>
            </a:r>
            <a:r>
              <a:rPr lang="en-US" sz="2400" i="1" dirty="0">
                <a:cs typeface="Kalimati" panose="00000400000000000000" pitchFamily="2"/>
              </a:rPr>
              <a:t>,</a:t>
            </a:r>
            <a:r>
              <a:rPr lang="ne-NP" sz="2400" i="1" dirty="0">
                <a:cs typeface="Kalimati" panose="00000400000000000000" pitchFamily="2"/>
              </a:rPr>
              <a:t> पर्व</a:t>
            </a:r>
            <a:r>
              <a:rPr lang="en-US" sz="2400" i="1" dirty="0">
                <a:cs typeface="Kalimati" panose="00000400000000000000" pitchFamily="2"/>
              </a:rPr>
              <a:t>,</a:t>
            </a:r>
            <a:r>
              <a:rPr lang="ne-NP" sz="2400" i="1" dirty="0">
                <a:cs typeface="Kalimati" panose="00000400000000000000" pitchFamily="2"/>
              </a:rPr>
              <a:t> पूजा</a:t>
            </a:r>
            <a:r>
              <a:rPr lang="en-US" sz="2400" i="1" dirty="0">
                <a:cs typeface="Kalimati" panose="00000400000000000000" pitchFamily="2"/>
              </a:rPr>
              <a:t>,</a:t>
            </a:r>
            <a:r>
              <a:rPr lang="ne-NP" sz="2400" i="1" dirty="0">
                <a:cs typeface="Kalimati" panose="00000400000000000000" pitchFamily="2"/>
              </a:rPr>
              <a:t> जात्रासँग सम्बन्धित धार्मिक जग्गा</a:t>
            </a:r>
          </a:p>
          <a:p>
            <a:pPr algn="just">
              <a:buNone/>
            </a:pPr>
            <a:r>
              <a:rPr lang="ne-NP" sz="2400" i="1" dirty="0">
                <a:cs typeface="Kalimati" panose="00000400000000000000" pitchFamily="2"/>
              </a:rPr>
              <a:t>   ( ङ) खाञ्गी जग्गा</a:t>
            </a:r>
          </a:p>
          <a:p>
            <a:pPr algn="just"/>
            <a:endParaRPr lang="ne-NP" sz="2400" dirty="0">
              <a:cs typeface="Kalimati" pitchFamily="2"/>
            </a:endParaRPr>
          </a:p>
          <a:p>
            <a:pPr algn="just">
              <a:buFont typeface="Wingdings" pitchFamily="2" charset="2"/>
              <a:buChar char="ü"/>
            </a:pPr>
            <a:r>
              <a:rPr lang="ne-NP" sz="2400" dirty="0">
                <a:cs typeface="Kalimati" pitchFamily="2"/>
              </a:rPr>
              <a:t>गुठी तैनाथी जग्गा मध्य ऐलानी बाँझो जग्गाको हकमा अवस्था अनुसार संस्थान आफैले आवाद गर्न वा तोकिए बमोजिम केही वर्षको कूत सम्म माफी गरी खास किसानलाई आवादी गर्न दिने गरी व्यवस्था गर्न सक्ने /</a:t>
            </a:r>
          </a:p>
        </p:txBody>
      </p:sp>
    </p:spTree>
    <p:extLst>
      <p:ext uri="{BB962C8B-B14F-4D97-AF65-F5344CB8AC3E}">
        <p14:creationId xmlns:p14="http://schemas.microsoft.com/office/powerpoint/2010/main" val="1735435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ne-NP" sz="2800" b="1" dirty="0">
                <a:cs typeface="Kalimati" panose="00000400000000000000" pitchFamily="2"/>
              </a:rPr>
              <a:t>गुठी अधीनस्त जग्गा</a:t>
            </a:r>
            <a:endParaRPr lang="en-US" sz="2800" b="1" dirty="0">
              <a:cs typeface="Kalimati" pitchFamily="2"/>
            </a:endParaRPr>
          </a:p>
        </p:txBody>
      </p:sp>
      <p:sp>
        <p:nvSpPr>
          <p:cNvPr id="3" name="Content Placeholder 2"/>
          <p:cNvSpPr>
            <a:spLocks noGrp="1"/>
          </p:cNvSpPr>
          <p:nvPr>
            <p:ph idx="1"/>
          </p:nvPr>
        </p:nvSpPr>
        <p:spPr>
          <a:xfrm>
            <a:off x="457200" y="1752600"/>
            <a:ext cx="8229600" cy="4373563"/>
          </a:xfrm>
        </p:spPr>
        <p:txBody>
          <a:bodyPr>
            <a:normAutofit/>
          </a:bodyPr>
          <a:lstStyle/>
          <a:p>
            <a:pPr>
              <a:buFont typeface="Wingdings" pitchFamily="2" charset="2"/>
              <a:buChar char="Ø"/>
            </a:pPr>
            <a:r>
              <a:rPr lang="ne-NP" sz="2400" dirty="0">
                <a:cs typeface="Kalimati" panose="00000400000000000000" pitchFamily="2"/>
              </a:rPr>
              <a:t>गुठी अधिनस्त जग्गा भन्‍नाले दर्तालालाले संस्थानलाई जिन्सी बुझाई आएको जग्गा सम्झनु पर्छ </a:t>
            </a:r>
          </a:p>
          <a:p>
            <a:pPr>
              <a:buNone/>
            </a:pPr>
            <a:r>
              <a:rPr lang="ne-NP" sz="2400" dirty="0">
                <a:cs typeface="Kalimati" panose="00000400000000000000" pitchFamily="2"/>
              </a:rPr>
              <a:t>        {गुठी संस्थान ऐन</a:t>
            </a:r>
            <a:r>
              <a:rPr lang="en-US" sz="2400" dirty="0">
                <a:cs typeface="Kalimati" panose="00000400000000000000" pitchFamily="2"/>
              </a:rPr>
              <a:t>,</a:t>
            </a:r>
            <a:r>
              <a:rPr lang="ne-NP" sz="2400" dirty="0">
                <a:cs typeface="Kalimati" panose="00000400000000000000" pitchFamily="2"/>
              </a:rPr>
              <a:t> २०३३ को दफा २(ट)}</a:t>
            </a:r>
          </a:p>
          <a:p>
            <a:pPr>
              <a:buFont typeface="Wingdings" pitchFamily="2" charset="2"/>
              <a:buChar char="Ø"/>
            </a:pPr>
            <a:r>
              <a:rPr lang="ne-NP" sz="2400" dirty="0">
                <a:cs typeface="Kalimati" panose="00000400000000000000" pitchFamily="2"/>
              </a:rPr>
              <a:t>मोही लागेको राजगुठी जग्गा</a:t>
            </a:r>
          </a:p>
          <a:p>
            <a:pPr>
              <a:buFont typeface="Wingdings" pitchFamily="2" charset="2"/>
              <a:buChar char="Ø"/>
            </a:pPr>
            <a:r>
              <a:rPr lang="ne-NP" sz="2400" dirty="0">
                <a:cs typeface="Kalimati" panose="00000400000000000000" pitchFamily="2"/>
              </a:rPr>
              <a:t>जग्गा धनी गुठी हुने र व्यक्ति मोही हुने</a:t>
            </a:r>
          </a:p>
          <a:p>
            <a:pPr>
              <a:buFont typeface="Wingdings" pitchFamily="2" charset="2"/>
              <a:buChar char="Ø"/>
            </a:pPr>
            <a:r>
              <a:rPr lang="ne-NP" sz="2400" dirty="0">
                <a:cs typeface="Kalimati" panose="00000400000000000000" pitchFamily="2"/>
              </a:rPr>
              <a:t>गुठी अधिनस्त जग्गाका मोहीले संस्थानलाई कुत(जिन्सी) बुझाउनु पर्छ</a:t>
            </a:r>
          </a:p>
          <a:p>
            <a:pPr>
              <a:buFont typeface="Wingdings" pitchFamily="2" charset="2"/>
              <a:buChar char="Ø"/>
            </a:pPr>
            <a:r>
              <a:rPr lang="ne-NP" sz="2400" dirty="0">
                <a:cs typeface="Kalimati" panose="00000400000000000000" pitchFamily="2"/>
              </a:rPr>
              <a:t>गुठी अधिनस्त जग्गाको मोही हक खरिद बिक्री हुन सक्ने</a:t>
            </a:r>
            <a:endParaRPr lang="en-US" sz="2400" dirty="0">
              <a:cs typeface="Kalimati" panose="00000400000000000000" pitchFamily="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rmAutofit/>
          </a:bodyPr>
          <a:lstStyle/>
          <a:p>
            <a:r>
              <a:rPr lang="ne-NP" sz="2800" b="1" dirty="0">
                <a:cs typeface="Kalimati" panose="00000400000000000000" pitchFamily="2"/>
              </a:rPr>
              <a:t>गुठी नम्वरी  जग्गा</a:t>
            </a:r>
            <a:endParaRPr lang="en-US" sz="2800" b="1" dirty="0">
              <a:cs typeface="Kalimati" pitchFamily="2"/>
            </a:endParaRPr>
          </a:p>
        </p:txBody>
      </p:sp>
      <p:sp>
        <p:nvSpPr>
          <p:cNvPr id="3" name="Content Placeholder 2"/>
          <p:cNvSpPr>
            <a:spLocks noGrp="1"/>
          </p:cNvSpPr>
          <p:nvPr>
            <p:ph idx="1"/>
          </p:nvPr>
        </p:nvSpPr>
        <p:spPr>
          <a:xfrm>
            <a:off x="457200" y="2133600"/>
            <a:ext cx="8229600" cy="3992563"/>
          </a:xfrm>
        </p:spPr>
        <p:txBody>
          <a:bodyPr>
            <a:normAutofit/>
          </a:bodyPr>
          <a:lstStyle/>
          <a:p>
            <a:pPr algn="just">
              <a:buFont typeface="Wingdings" pitchFamily="2" charset="2"/>
              <a:buChar char="v"/>
            </a:pPr>
            <a:r>
              <a:rPr lang="ne-NP" sz="2400" dirty="0">
                <a:cs typeface="Kalimati" panose="00000400000000000000" pitchFamily="2"/>
              </a:rPr>
              <a:t> गुठी नम्वरी जग्गा भन्नाले संस्थानले जग्गावालाको हैसियतले नेपाल सरकारलाई मालपोत बुझाउनु पर्ने जग्गा सम्झनु पर्छ /</a:t>
            </a:r>
          </a:p>
          <a:p>
            <a:pPr algn="just">
              <a:buNone/>
            </a:pPr>
            <a:r>
              <a:rPr lang="ne-NP" sz="2000" i="1" dirty="0">
                <a:cs typeface="Kalimati" panose="00000400000000000000" pitchFamily="2"/>
              </a:rPr>
              <a:t>   { गुठी संस्थान ऐन</a:t>
            </a:r>
            <a:r>
              <a:rPr lang="en-US" sz="2000" i="1" dirty="0">
                <a:cs typeface="Kalimati" panose="00000400000000000000" pitchFamily="2"/>
              </a:rPr>
              <a:t>,</a:t>
            </a:r>
            <a:r>
              <a:rPr lang="ne-NP" sz="2000" i="1" dirty="0">
                <a:cs typeface="Kalimati" panose="00000400000000000000" pitchFamily="2"/>
              </a:rPr>
              <a:t> २०३३ को दफा २(झ)}</a:t>
            </a:r>
          </a:p>
          <a:p>
            <a:pPr algn="just">
              <a:buFont typeface="Wingdings" pitchFamily="2" charset="2"/>
              <a:buChar char="v"/>
            </a:pPr>
            <a:r>
              <a:rPr lang="ne-NP" sz="2400" dirty="0">
                <a:cs typeface="Kalimati" panose="00000400000000000000" pitchFamily="2"/>
              </a:rPr>
              <a:t> गुठीको नाममा दर्ता भई गुठी संस्थानले जग्गावालाको हैसियतले सरकारलाई मालपोत बुझाउनु पर्ने जग्गा </a:t>
            </a:r>
          </a:p>
          <a:p>
            <a:pPr algn="just">
              <a:buFont typeface="Wingdings" pitchFamily="2" charset="2"/>
              <a:buChar char="v"/>
            </a:pPr>
            <a:r>
              <a:rPr lang="ne-NP" sz="2400" dirty="0">
                <a:cs typeface="Kalimati" panose="00000400000000000000" pitchFamily="2"/>
              </a:rPr>
              <a:t> यस्तो जग्गाको कुत(जिन्सी) नभई नगद(मालपोत) नै गुठी  संस्थानले नेपाल सरकारलाई बुझाउनु पर्छ /</a:t>
            </a:r>
          </a:p>
          <a:p>
            <a:pPr algn="just">
              <a:buNone/>
            </a:pPr>
            <a:endParaRPr lang="ne-NP" sz="2400" dirty="0">
              <a:cs typeface="Kalimati" panose="00000400000000000000" pitchFamily="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457200"/>
          </a:xfrm>
        </p:spPr>
        <p:txBody>
          <a:bodyPr>
            <a:noAutofit/>
          </a:bodyPr>
          <a:lstStyle/>
          <a:p>
            <a:r>
              <a:rPr lang="ne-NP" sz="2800" b="1" dirty="0">
                <a:cs typeface="Kalimati" panose="00000400000000000000" pitchFamily="2"/>
              </a:rPr>
              <a:t>गुठी रैतान नम्वरी जग्गा</a:t>
            </a:r>
            <a:endParaRPr lang="en-US" sz="2800" b="1" dirty="0">
              <a:cs typeface="Kalimati" pitchFamily="2"/>
            </a:endParaRPr>
          </a:p>
        </p:txBody>
      </p:sp>
      <p:sp>
        <p:nvSpPr>
          <p:cNvPr id="3" name="Content Placeholder 2"/>
          <p:cNvSpPr>
            <a:spLocks noGrp="1"/>
          </p:cNvSpPr>
          <p:nvPr>
            <p:ph idx="1"/>
          </p:nvPr>
        </p:nvSpPr>
        <p:spPr>
          <a:xfrm>
            <a:off x="457200" y="1524000"/>
            <a:ext cx="8229600" cy="4602163"/>
          </a:xfrm>
        </p:spPr>
        <p:txBody>
          <a:bodyPr>
            <a:normAutofit fontScale="92500"/>
          </a:bodyPr>
          <a:lstStyle/>
          <a:p>
            <a:pPr algn="just"/>
            <a:r>
              <a:rPr lang="ne-NP" sz="2400" dirty="0">
                <a:cs typeface="Kalimati" panose="00000400000000000000" pitchFamily="2"/>
              </a:rPr>
              <a:t>गुठी रैतान नम्वरी  जग्गा भन्‍नाले दर्तावालाले संस्थानलाई मालपोत बुझाउउनु पर्ने जग्गा सम्झनु पर्छ /</a:t>
            </a:r>
          </a:p>
          <a:p>
            <a:pPr algn="just">
              <a:buNone/>
            </a:pPr>
            <a:r>
              <a:rPr lang="ne-NP" sz="2000" i="1" dirty="0">
                <a:cs typeface="Kalimati" panose="00000400000000000000" pitchFamily="2"/>
              </a:rPr>
              <a:t>        {गुठी संस्थान ऐन</a:t>
            </a:r>
            <a:r>
              <a:rPr lang="en-US" sz="2000" i="1" dirty="0">
                <a:cs typeface="Kalimati" panose="00000400000000000000" pitchFamily="2"/>
              </a:rPr>
              <a:t>,</a:t>
            </a:r>
            <a:r>
              <a:rPr lang="ne-NP" sz="2000" i="1" dirty="0">
                <a:cs typeface="Kalimati" panose="00000400000000000000" pitchFamily="2"/>
              </a:rPr>
              <a:t> २०३३ को दफा २(ज)}</a:t>
            </a:r>
          </a:p>
          <a:p>
            <a:pPr algn="just"/>
            <a:r>
              <a:rPr lang="ne-NP" sz="2400" dirty="0">
                <a:cs typeface="Kalimati" panose="00000400000000000000" pitchFamily="2"/>
              </a:rPr>
              <a:t>गुठी जग्गाको दर्तावाला मोहीलाई नै जग्गा धनीको हैसियत प्रदान गरी मोहीकै नाममा दर्ता भएको जग्गा नै गुठी रैतान नम्वरी जग्गा हो /</a:t>
            </a:r>
          </a:p>
          <a:p>
            <a:pPr algn="just"/>
            <a:r>
              <a:rPr lang="ne-NP" sz="2400" dirty="0">
                <a:cs typeface="Kalimati" panose="00000400000000000000" pitchFamily="2"/>
              </a:rPr>
              <a:t>गुठी रैतान नम्वरी जग्गाको जग्गावालाको हक रैकर जग्गाको जग्गावाला सरह र जग्गाको हैसियत रैकर सरहकै हुन्छ / </a:t>
            </a:r>
          </a:p>
          <a:p>
            <a:pPr algn="just"/>
            <a:r>
              <a:rPr lang="ne-NP" sz="2400" dirty="0">
                <a:cs typeface="Kalimati" panose="00000400000000000000" pitchFamily="2"/>
              </a:rPr>
              <a:t>गुठी रैतान नम्वरी जग्गाको मालपोत जग्गावालाले गुठी संस्थानलाई बुझाउनु पर्छ /</a:t>
            </a:r>
          </a:p>
          <a:p>
            <a:pPr algn="just"/>
            <a:r>
              <a:rPr lang="ne-NP" sz="2400" dirty="0">
                <a:cs typeface="Kalimati" panose="00000400000000000000" pitchFamily="2"/>
              </a:rPr>
              <a:t>गुठी रैतान नम्बरीमा परिणत हुन सक्ने गुठी संस्थान ऐन, २०३३ को दफा २५(२)(ग) र दफा ३६ केही नेपाल कानून संशोधन तथा खारेज गर्ने ऐन, २०७२ द्वारा झिकिएको</a:t>
            </a:r>
          </a:p>
          <a:p>
            <a:pPr algn="just"/>
            <a:endParaRPr lang="ne-NP" sz="2400" dirty="0">
              <a:cs typeface="Kalimati" panose="00000400000000000000" pitchFamily="2"/>
            </a:endParaRPr>
          </a:p>
          <a:p>
            <a:pPr algn="just"/>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ne-NP" sz="1800"/>
              <a:t>                                                           क्रमश...</a:t>
            </a:r>
            <a:endParaRPr lang="en-US" sz="1800"/>
          </a:p>
        </p:txBody>
      </p:sp>
      <p:sp>
        <p:nvSpPr>
          <p:cNvPr id="3" name="Content Placeholder 2"/>
          <p:cNvSpPr>
            <a:spLocks noGrp="1"/>
          </p:cNvSpPr>
          <p:nvPr>
            <p:ph idx="1"/>
          </p:nvPr>
        </p:nvSpPr>
        <p:spPr>
          <a:xfrm>
            <a:off x="457200" y="1143000"/>
            <a:ext cx="8229600" cy="4983163"/>
          </a:xfrm>
        </p:spPr>
        <p:txBody>
          <a:bodyPr>
            <a:normAutofit/>
          </a:bodyPr>
          <a:lstStyle/>
          <a:p>
            <a:pPr algn="just"/>
            <a:r>
              <a:rPr lang="ne-NP" sz="2400" dirty="0">
                <a:cs typeface="Kalimati" panose="00000400000000000000" pitchFamily="2"/>
              </a:rPr>
              <a:t>देवस्थल रहेका वा देवी देवता देवस्थल पर्व पूजा जात्रासँग सम्बन्धित धार्मिक एवं सार्वजनिक पर्ति जग्गा कुनै व्यक्तिको नाममा दर्ता गरिने छैन /त्यस्तो जग्गा दर्ता गरिएको भएमा पनि संस्थानले दर्ता बदर गर्न सक्नेछ</a:t>
            </a:r>
          </a:p>
          <a:p>
            <a:pPr algn="just">
              <a:buNone/>
            </a:pPr>
            <a:r>
              <a:rPr lang="ne-NP" sz="2400" dirty="0">
                <a:cs typeface="Kalimati" panose="00000400000000000000" pitchFamily="2"/>
              </a:rPr>
              <a:t>         </a:t>
            </a:r>
            <a:r>
              <a:rPr lang="ne-NP" sz="2000" dirty="0">
                <a:cs typeface="Kalimati" panose="00000400000000000000" pitchFamily="2"/>
              </a:rPr>
              <a:t>{गुठी संस्थान ऐन</a:t>
            </a:r>
            <a:r>
              <a:rPr lang="en-US" sz="2000" dirty="0">
                <a:cs typeface="Kalimati" panose="00000400000000000000" pitchFamily="2"/>
              </a:rPr>
              <a:t>,</a:t>
            </a:r>
            <a:r>
              <a:rPr lang="ne-NP" sz="2000" dirty="0">
                <a:cs typeface="Kalimati" panose="00000400000000000000" pitchFamily="2"/>
              </a:rPr>
              <a:t> २०३३ को दफा २५(४)}</a:t>
            </a:r>
          </a:p>
          <a:p>
            <a:pPr algn="just"/>
            <a:r>
              <a:rPr lang="ne-NP" sz="2400" dirty="0">
                <a:cs typeface="Kalimati" panose="00000400000000000000" pitchFamily="2"/>
              </a:rPr>
              <a:t>गुठी तैनाथी जग्गा राजगुठी र संस्थानको हित विपरीत कुनै व्यक्तिले कुनै किसिमले बन्दोबस्तीमा लिएको भएपनि गुठी संस्थान ऐन</a:t>
            </a:r>
            <a:r>
              <a:rPr lang="en-US" sz="2400" dirty="0">
                <a:cs typeface="Kalimati" panose="00000400000000000000" pitchFamily="2"/>
              </a:rPr>
              <a:t>,</a:t>
            </a:r>
            <a:r>
              <a:rPr lang="ne-NP" sz="2400" dirty="0">
                <a:cs typeface="Kalimati" panose="00000400000000000000" pitchFamily="2"/>
              </a:rPr>
              <a:t> २०२१ लागू भएपछि बन्दोबस्ती पाएको हक अधिकार स्वत</a:t>
            </a:r>
            <a:r>
              <a:rPr lang="en-US" sz="2400" dirty="0">
                <a:cs typeface="Kalimati" panose="00000400000000000000" pitchFamily="2"/>
              </a:rPr>
              <a:t>:</a:t>
            </a:r>
            <a:r>
              <a:rPr lang="ne-NP" sz="2400" dirty="0">
                <a:cs typeface="Kalimati" panose="00000400000000000000" pitchFamily="2"/>
              </a:rPr>
              <a:t> समाप्त भई त्यस्तोमा संस्थान र राजगुठीको हक र स्वामित्व पुन कायम हुनेछ ।</a:t>
            </a:r>
            <a:endParaRPr lang="en-US" sz="2400" dirty="0">
              <a:cs typeface="Kalimati" panose="00000400000000000000" pitchFamily="2"/>
            </a:endParaRPr>
          </a:p>
          <a:p>
            <a:pPr algn="just">
              <a:buNone/>
            </a:pPr>
            <a:r>
              <a:rPr lang="en-US" sz="2000" dirty="0">
                <a:cs typeface="Kalimati" panose="00000400000000000000" pitchFamily="2"/>
              </a:rPr>
              <a:t>       </a:t>
            </a:r>
            <a:r>
              <a:rPr lang="ne-NP" sz="2000" dirty="0">
                <a:cs typeface="Kalimati" panose="00000400000000000000" pitchFamily="2"/>
              </a:rPr>
              <a:t>       {गुठी संस्थान ऐन</a:t>
            </a:r>
            <a:r>
              <a:rPr lang="en-US" sz="2000" dirty="0">
                <a:cs typeface="Kalimati" panose="00000400000000000000" pitchFamily="2"/>
              </a:rPr>
              <a:t>,</a:t>
            </a:r>
            <a:r>
              <a:rPr lang="ne-NP" sz="2000" dirty="0">
                <a:cs typeface="Kalimati" panose="00000400000000000000" pitchFamily="2"/>
              </a:rPr>
              <a:t> २०३३ को दफा ३८)</a:t>
            </a:r>
            <a:endParaRPr lang="en-US" sz="2000" dirty="0">
              <a:cs typeface="Kalimati" panose="00000400000000000000" pitchFamily="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33400"/>
          </a:xfrm>
        </p:spPr>
        <p:txBody>
          <a:bodyPr>
            <a:normAutofit/>
          </a:bodyPr>
          <a:lstStyle/>
          <a:p>
            <a:r>
              <a:rPr lang="ne-NP" sz="2800" dirty="0">
                <a:cs typeface="Kalimati" panose="00000400000000000000" pitchFamily="2"/>
              </a:rPr>
              <a:t>गुठी जग्गामा मोहियानी</a:t>
            </a:r>
            <a:endParaRPr lang="en-US" sz="2800" dirty="0">
              <a:cs typeface="Kalimati" panose="00000400000000000000" pitchFamily="2"/>
            </a:endParaRPr>
          </a:p>
        </p:txBody>
      </p:sp>
      <p:sp>
        <p:nvSpPr>
          <p:cNvPr id="3" name="Content Placeholder 2"/>
          <p:cNvSpPr>
            <a:spLocks noGrp="1"/>
          </p:cNvSpPr>
          <p:nvPr>
            <p:ph idx="1"/>
          </p:nvPr>
        </p:nvSpPr>
        <p:spPr>
          <a:xfrm>
            <a:off x="457200" y="1219200"/>
            <a:ext cx="8229600" cy="4953000"/>
          </a:xfrm>
        </p:spPr>
        <p:txBody>
          <a:bodyPr>
            <a:normAutofit fontScale="25000" lnSpcReduction="20000"/>
          </a:bodyPr>
          <a:lstStyle/>
          <a:p>
            <a:endParaRPr lang="ne-NP" sz="2000" dirty="0"/>
          </a:p>
          <a:p>
            <a:endParaRPr lang="ne-NP" sz="2000" dirty="0"/>
          </a:p>
          <a:p>
            <a:pPr algn="just"/>
            <a:r>
              <a:rPr lang="ne-NP" sz="8000" dirty="0">
                <a:cs typeface="Kalimati" panose="00000400000000000000" pitchFamily="2"/>
              </a:rPr>
              <a:t>अरु जग्गावालाको जग्गा कुनै शर्तमा कमाउन पाई सो जग्गामा आफ्नो वा आफ्नो परिवारको श्रमले खेती गर्ने किसान सम्‍झनु पर्छ {भूमी संम्वन्धी ऐन, २०२१ को दफा २(ख)} </a:t>
            </a:r>
          </a:p>
          <a:p>
            <a:pPr marL="0" indent="0" algn="just">
              <a:buNone/>
            </a:pPr>
            <a:endParaRPr lang="ne-NP" sz="8000" dirty="0">
              <a:cs typeface="Kalimati" panose="00000400000000000000" pitchFamily="2"/>
            </a:endParaRPr>
          </a:p>
          <a:p>
            <a:pPr algn="just"/>
            <a:r>
              <a:rPr lang="ne-NP" sz="8000" dirty="0">
                <a:cs typeface="Kalimati" panose="00000400000000000000" pitchFamily="2"/>
              </a:rPr>
              <a:t>गुठी जग्गाको सन्दर्भमा समेत सोही कानूनी व्यवस्था आकर्षित हुने भई गुठी जग्गा कमाउने व्यक्ति(किसान)लाई गुठी जग्गाको मोहीको रुपमा लिनुपर्ने हुन्छ ।</a:t>
            </a:r>
          </a:p>
          <a:p>
            <a:pPr marL="0" indent="0" algn="just">
              <a:buNone/>
            </a:pPr>
            <a:endParaRPr lang="ne-NP" sz="8000" dirty="0">
              <a:cs typeface="Kalimati" panose="00000400000000000000" pitchFamily="2"/>
            </a:endParaRPr>
          </a:p>
          <a:p>
            <a:pPr algn="just"/>
            <a:r>
              <a:rPr lang="ne-NP" sz="8000" dirty="0">
                <a:cs typeface="Kalimati" panose="00000400000000000000" pitchFamily="2"/>
              </a:rPr>
              <a:t>गुठी जग्गामा मोहियानी कायम हुन सक्ने व्यवस्था वि.सं. १९१० को मुलुकी ऐन देखि नै रहेको पाईन्छ।</a:t>
            </a:r>
          </a:p>
          <a:p>
            <a:pPr marL="0" indent="0" algn="just">
              <a:buNone/>
            </a:pPr>
            <a:endParaRPr lang="ne-NP" sz="8000" dirty="0">
              <a:cs typeface="Kalimati" panose="00000400000000000000" pitchFamily="2"/>
            </a:endParaRPr>
          </a:p>
          <a:p>
            <a:pPr algn="just"/>
            <a:r>
              <a:rPr lang="ne-NP" sz="8000" dirty="0">
                <a:cs typeface="Kalimati" panose="00000400000000000000" pitchFamily="2"/>
              </a:rPr>
              <a:t>गुठी संस्थान ऐन</a:t>
            </a:r>
            <a:r>
              <a:rPr lang="en-US" sz="8000" dirty="0">
                <a:cs typeface="Kalimati" panose="00000400000000000000" pitchFamily="2"/>
              </a:rPr>
              <a:t>,</a:t>
            </a:r>
            <a:r>
              <a:rPr lang="ne-NP" sz="8000" dirty="0">
                <a:cs typeface="Kalimati" panose="00000400000000000000" pitchFamily="2"/>
              </a:rPr>
              <a:t> २०२१ को दफा १७ ले संस्थानले मञ्‍जुर गरेकोमा बाहेक राजगुठी जग्गामा कसैलाई प्राप्त भईरहेको हक समाप्त भई राजगुठीको सम्पूर्ण हक कायम भएको मानिने</a:t>
            </a:r>
          </a:p>
          <a:p>
            <a:pPr marL="0" indent="0" algn="just">
              <a:buNone/>
            </a:pPr>
            <a:endParaRPr lang="ne-NP" sz="8000" dirty="0">
              <a:cs typeface="Kalimati" panose="00000400000000000000" pitchFamily="2"/>
            </a:endParaRPr>
          </a:p>
          <a:p>
            <a:pPr algn="just"/>
            <a:r>
              <a:rPr lang="ne-NP" sz="8000" dirty="0">
                <a:cs typeface="Kalimati" panose="00000400000000000000" pitchFamily="2"/>
              </a:rPr>
              <a:t>गुठी संस्थान ऐन</a:t>
            </a:r>
            <a:r>
              <a:rPr lang="en-US" sz="8000" dirty="0">
                <a:cs typeface="Kalimati" panose="00000400000000000000" pitchFamily="2"/>
              </a:rPr>
              <a:t>,</a:t>
            </a:r>
            <a:r>
              <a:rPr lang="ne-NP" sz="8000" dirty="0">
                <a:cs typeface="Kalimati" panose="00000400000000000000" pitchFamily="2"/>
              </a:rPr>
              <a:t> २०२९ को दफा २६ ले राजगुठी जग्गाका खास जोताह किसानले मोहीयानी हक पाँउने</a:t>
            </a:r>
          </a:p>
          <a:p>
            <a:pPr algn="just"/>
            <a:endParaRPr lang="ne-NP" sz="9600" dirty="0"/>
          </a:p>
          <a:p>
            <a:endParaRPr lang="ne-NP" sz="9600" dirty="0"/>
          </a:p>
          <a:p>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A3A00-A58B-112C-CC31-9ECB97D8D504}"/>
              </a:ext>
            </a:extLst>
          </p:cNvPr>
          <p:cNvSpPr>
            <a:spLocks noGrp="1"/>
          </p:cNvSpPr>
          <p:nvPr>
            <p:ph type="title"/>
          </p:nvPr>
        </p:nvSpPr>
        <p:spPr/>
        <p:txBody>
          <a:bodyPr>
            <a:normAutofit/>
          </a:bodyPr>
          <a:lstStyle/>
          <a:p>
            <a:r>
              <a:rPr lang="ne-NP" sz="1600" dirty="0">
                <a:cs typeface="Kalimati" panose="00000400000000000000" pitchFamily="2"/>
              </a:rPr>
              <a:t>                                                                क्रमश...</a:t>
            </a:r>
            <a:endParaRPr lang="en-US" sz="1600" dirty="0">
              <a:cs typeface="Kalimati" panose="00000400000000000000" pitchFamily="2"/>
            </a:endParaRPr>
          </a:p>
        </p:txBody>
      </p:sp>
      <p:sp>
        <p:nvSpPr>
          <p:cNvPr id="3" name="Content Placeholder 2">
            <a:extLst>
              <a:ext uri="{FF2B5EF4-FFF2-40B4-BE49-F238E27FC236}">
                <a16:creationId xmlns:a16="http://schemas.microsoft.com/office/drawing/2014/main" id="{AA9C54F5-D1D3-853A-CBD1-DEEABEA67243}"/>
              </a:ext>
            </a:extLst>
          </p:cNvPr>
          <p:cNvSpPr>
            <a:spLocks noGrp="1"/>
          </p:cNvSpPr>
          <p:nvPr>
            <p:ph idx="1"/>
          </p:nvPr>
        </p:nvSpPr>
        <p:spPr/>
        <p:txBody>
          <a:bodyPr>
            <a:normAutofit/>
          </a:bodyPr>
          <a:lstStyle/>
          <a:p>
            <a:r>
              <a:rPr lang="ne-NP" sz="2400" dirty="0">
                <a:cs typeface="Kalimati" panose="00000400000000000000" pitchFamily="2"/>
              </a:rPr>
              <a:t>गुठी संस्थान ऐन, २०३३ को दफा २७ ले गुठी जग्गामा मोहीयानी हकको व्यवस्था गरेको छ ।</a:t>
            </a:r>
          </a:p>
          <a:p>
            <a:r>
              <a:rPr lang="ne-NP" sz="2400" dirty="0">
                <a:cs typeface="Kalimati" panose="00000400000000000000" pitchFamily="2"/>
              </a:rPr>
              <a:t>गुठी जग्गामा खास जोताहा किसानले प्रचलित कानून बमोजिम मोहियानी हक पाँउनेछ ।</a:t>
            </a:r>
          </a:p>
          <a:p>
            <a:r>
              <a:rPr lang="ne-NP" sz="2400" dirty="0">
                <a:cs typeface="Kalimati" panose="00000400000000000000" pitchFamily="2"/>
              </a:rPr>
              <a:t>मोहीले गुठी संस्थानलाई कूत तिरो वुझाउनु पर्छ</a:t>
            </a:r>
          </a:p>
          <a:p>
            <a:r>
              <a:rPr lang="ne-NP" sz="2400" dirty="0">
                <a:cs typeface="Kalimati" panose="00000400000000000000" pitchFamily="2"/>
              </a:rPr>
              <a:t>तोकिएको म्यादभित्र कूत नवुझाउने मोहीको मोहियानी हक गुठी संस्थानले समाप्त गर्न सक्ने ।</a:t>
            </a:r>
          </a:p>
          <a:p>
            <a:pPr marL="0" indent="0">
              <a:buNone/>
            </a:pPr>
            <a:endParaRPr lang="en-US" dirty="0"/>
          </a:p>
        </p:txBody>
      </p:sp>
    </p:spTree>
    <p:extLst>
      <p:ext uri="{BB962C8B-B14F-4D97-AF65-F5344CB8AC3E}">
        <p14:creationId xmlns:p14="http://schemas.microsoft.com/office/powerpoint/2010/main" val="1523988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90585-4C10-D9CC-3D40-9D85416E1545}"/>
              </a:ext>
            </a:extLst>
          </p:cNvPr>
          <p:cNvSpPr>
            <a:spLocks noGrp="1"/>
          </p:cNvSpPr>
          <p:nvPr>
            <p:ph type="title"/>
          </p:nvPr>
        </p:nvSpPr>
        <p:spPr/>
        <p:txBody>
          <a:bodyPr>
            <a:normAutofit/>
          </a:bodyPr>
          <a:lstStyle/>
          <a:p>
            <a:r>
              <a:rPr lang="ne-NP" sz="2800" dirty="0">
                <a:cs typeface="Kalimati" panose="00000400000000000000" pitchFamily="2"/>
              </a:rPr>
              <a:t>गुठी जग्गाको मालपोत</a:t>
            </a:r>
            <a:endParaRPr lang="en-US" sz="2800" dirty="0">
              <a:cs typeface="Kalimati" panose="00000400000000000000" pitchFamily="2"/>
            </a:endParaRPr>
          </a:p>
        </p:txBody>
      </p:sp>
      <p:sp>
        <p:nvSpPr>
          <p:cNvPr id="3" name="Content Placeholder 2">
            <a:extLst>
              <a:ext uri="{FF2B5EF4-FFF2-40B4-BE49-F238E27FC236}">
                <a16:creationId xmlns:a16="http://schemas.microsoft.com/office/drawing/2014/main" id="{2574FC2C-8B59-7600-7E07-59D954D596B3}"/>
              </a:ext>
            </a:extLst>
          </p:cNvPr>
          <p:cNvSpPr>
            <a:spLocks noGrp="1"/>
          </p:cNvSpPr>
          <p:nvPr>
            <p:ph idx="1"/>
          </p:nvPr>
        </p:nvSpPr>
        <p:spPr>
          <a:xfrm>
            <a:off x="457200" y="2209800"/>
            <a:ext cx="8229600" cy="3916363"/>
          </a:xfrm>
        </p:spPr>
        <p:txBody>
          <a:bodyPr/>
          <a:lstStyle/>
          <a:p>
            <a:r>
              <a:rPr lang="ne-NP" sz="2400" dirty="0">
                <a:cs typeface="Kalimati" panose="00000400000000000000" pitchFamily="2"/>
              </a:rPr>
              <a:t>गुठी अधिनस्त जग्गामा दर्तावालाले गुठी संस्थानलाई जिन्सी बुझाउने</a:t>
            </a:r>
          </a:p>
          <a:p>
            <a:r>
              <a:rPr lang="ne-NP" sz="2400" dirty="0">
                <a:cs typeface="Kalimati" panose="00000400000000000000" pitchFamily="2"/>
              </a:rPr>
              <a:t>गुठी रैतान नम्वरी जग्गामा जग्गावालाले गुठी संस्थानलाई नगद मालपोत बुझाउने</a:t>
            </a:r>
          </a:p>
          <a:p>
            <a:r>
              <a:rPr lang="ne-NP" sz="2400" dirty="0">
                <a:cs typeface="Kalimati" panose="00000400000000000000" pitchFamily="2"/>
              </a:rPr>
              <a:t>गुठी नम्वरी जग्गामा गुठी संस्थानले नेपाल सरकारलाई नगद मालपोत बुझाउने </a:t>
            </a:r>
          </a:p>
          <a:p>
            <a:endParaRPr lang="en-US" dirty="0"/>
          </a:p>
        </p:txBody>
      </p:sp>
    </p:spTree>
    <p:extLst>
      <p:ext uri="{BB962C8B-B14F-4D97-AF65-F5344CB8AC3E}">
        <p14:creationId xmlns:p14="http://schemas.microsoft.com/office/powerpoint/2010/main" val="2539277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F518F-6F97-9753-3964-F7E74FDFF774}"/>
              </a:ext>
            </a:extLst>
          </p:cNvPr>
          <p:cNvSpPr>
            <a:spLocks noGrp="1"/>
          </p:cNvSpPr>
          <p:nvPr>
            <p:ph type="title"/>
          </p:nvPr>
        </p:nvSpPr>
        <p:spPr/>
        <p:txBody>
          <a:bodyPr>
            <a:normAutofit/>
          </a:bodyPr>
          <a:lstStyle/>
          <a:p>
            <a:r>
              <a:rPr lang="ne-NP" sz="2800" dirty="0">
                <a:cs typeface="Kalimati" panose="00000400000000000000" pitchFamily="2"/>
              </a:rPr>
              <a:t>धर्मलोप गर्नेलाई सजाय</a:t>
            </a:r>
            <a:endParaRPr lang="en-US" sz="2800" dirty="0">
              <a:cs typeface="Kalimati" panose="00000400000000000000" pitchFamily="2"/>
            </a:endParaRPr>
          </a:p>
        </p:txBody>
      </p:sp>
      <p:sp>
        <p:nvSpPr>
          <p:cNvPr id="3" name="Content Placeholder 2">
            <a:extLst>
              <a:ext uri="{FF2B5EF4-FFF2-40B4-BE49-F238E27FC236}">
                <a16:creationId xmlns:a16="http://schemas.microsoft.com/office/drawing/2014/main" id="{EFEBF7ED-EA27-FE92-20CF-8EAD45ACEF56}"/>
              </a:ext>
            </a:extLst>
          </p:cNvPr>
          <p:cNvSpPr>
            <a:spLocks noGrp="1"/>
          </p:cNvSpPr>
          <p:nvPr>
            <p:ph idx="1"/>
          </p:nvPr>
        </p:nvSpPr>
        <p:spPr>
          <a:xfrm>
            <a:off x="457200" y="2057400"/>
            <a:ext cx="8229600" cy="4068763"/>
          </a:xfrm>
        </p:spPr>
        <p:txBody>
          <a:bodyPr>
            <a:normAutofit/>
          </a:bodyPr>
          <a:lstStyle/>
          <a:p>
            <a:pPr algn="just"/>
            <a:r>
              <a:rPr lang="ne-NP" sz="2400" dirty="0">
                <a:cs typeface="Kalimati" panose="00000400000000000000" pitchFamily="2"/>
              </a:rPr>
              <a:t>गुठीको लिखत शिलापत्र दानपत्र आदि बमोजिम गर्नुपर्ने काम नगरी धर्मलोप गरेमा त्यस्तो व्यक्तिलाई पाँच सय रुपैयासम्म जरिबाना गरी गुठीको लिखत</a:t>
            </a:r>
            <a:r>
              <a:rPr lang="en-US" sz="2400" dirty="0">
                <a:cs typeface="Kalimati" panose="00000400000000000000" pitchFamily="2"/>
              </a:rPr>
              <a:t>,</a:t>
            </a:r>
            <a:r>
              <a:rPr lang="ne-NP" sz="2400" dirty="0">
                <a:cs typeface="Kalimati" panose="00000400000000000000" pitchFamily="2"/>
              </a:rPr>
              <a:t> शिलापत्र</a:t>
            </a:r>
            <a:r>
              <a:rPr lang="en-US" sz="2400" dirty="0">
                <a:cs typeface="Kalimati" panose="00000400000000000000" pitchFamily="2"/>
              </a:rPr>
              <a:t>,</a:t>
            </a:r>
            <a:r>
              <a:rPr lang="ne-NP" sz="2400" dirty="0">
                <a:cs typeface="Kalimati" panose="00000400000000000000" pitchFamily="2"/>
              </a:rPr>
              <a:t> दानपत्र आदि बमोजिम काम गर्ने गराउन सकिनेछ।</a:t>
            </a:r>
          </a:p>
          <a:p>
            <a:pPr algn="just"/>
            <a:r>
              <a:rPr lang="ne-NP" sz="2400" dirty="0">
                <a:cs typeface="Kalimati" panose="00000400000000000000" pitchFamily="2"/>
              </a:rPr>
              <a:t>सो बमोजिम नगर्ने महन्त पुजारी गुठियार र अन्य रकमीहरुलाई खारेज गरी अर्को व्यक्ति नियुक्त गर्न सकिने छ।</a:t>
            </a:r>
            <a:endParaRPr lang="en-US" sz="2400" dirty="0">
              <a:cs typeface="Kalimati" panose="00000400000000000000" pitchFamily="2"/>
            </a:endParaRPr>
          </a:p>
        </p:txBody>
      </p:sp>
    </p:spTree>
    <p:extLst>
      <p:ext uri="{BB962C8B-B14F-4D97-AF65-F5344CB8AC3E}">
        <p14:creationId xmlns:p14="http://schemas.microsoft.com/office/powerpoint/2010/main" val="2660968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47A1A-29D3-D660-6673-E965A40D36B9}"/>
              </a:ext>
            </a:extLst>
          </p:cNvPr>
          <p:cNvSpPr>
            <a:spLocks noGrp="1"/>
          </p:cNvSpPr>
          <p:nvPr>
            <p:ph type="title"/>
          </p:nvPr>
        </p:nvSpPr>
        <p:spPr>
          <a:xfrm>
            <a:off x="457200" y="274638"/>
            <a:ext cx="8229600" cy="715962"/>
          </a:xfrm>
        </p:spPr>
        <p:txBody>
          <a:bodyPr>
            <a:normAutofit/>
          </a:bodyPr>
          <a:lstStyle/>
          <a:p>
            <a:r>
              <a:rPr lang="ne-NP" sz="2400" dirty="0">
                <a:cs typeface="Kalimati" panose="00000400000000000000" pitchFamily="2"/>
              </a:rPr>
              <a:t>विविध व्यवस्था</a:t>
            </a:r>
            <a:endParaRPr lang="en-US" sz="2400" dirty="0">
              <a:cs typeface="Kalimati" panose="00000400000000000000" pitchFamily="2"/>
            </a:endParaRPr>
          </a:p>
        </p:txBody>
      </p:sp>
      <p:sp>
        <p:nvSpPr>
          <p:cNvPr id="3" name="Content Placeholder 2">
            <a:extLst>
              <a:ext uri="{FF2B5EF4-FFF2-40B4-BE49-F238E27FC236}">
                <a16:creationId xmlns:a16="http://schemas.microsoft.com/office/drawing/2014/main" id="{3263BC0C-82B4-6C55-CC6B-5049177CBD54}"/>
              </a:ext>
            </a:extLst>
          </p:cNvPr>
          <p:cNvSpPr>
            <a:spLocks noGrp="1"/>
          </p:cNvSpPr>
          <p:nvPr>
            <p:ph idx="1"/>
          </p:nvPr>
        </p:nvSpPr>
        <p:spPr>
          <a:xfrm>
            <a:off x="457200" y="1371600"/>
            <a:ext cx="8229600" cy="4754563"/>
          </a:xfrm>
        </p:spPr>
        <p:txBody>
          <a:bodyPr>
            <a:normAutofit/>
          </a:bodyPr>
          <a:lstStyle/>
          <a:p>
            <a:r>
              <a:rPr lang="ne-NP" sz="2400" dirty="0">
                <a:cs typeface="Kalimati" panose="00000400000000000000" pitchFamily="2"/>
              </a:rPr>
              <a:t>गुठी संस्थान वादी भएको मुद्दामा अदालती शुल्क लाग्ने छैन र संस्थान वादी वा प्रतिवादी भएको मुद्दामा अदालतले आदेश दिएमा बाहेक संस्थानको तर्फबाट तारिखमा वस्न नपर्ने</a:t>
            </a:r>
          </a:p>
          <a:p>
            <a:pPr algn="just"/>
            <a:r>
              <a:rPr lang="ne-NP" sz="2400" dirty="0">
                <a:cs typeface="Kalimati" panose="00000400000000000000" pitchFamily="2"/>
              </a:rPr>
              <a:t>संस्थानले आफ्नो जायजेथाको हक कायम गराउन</a:t>
            </a:r>
            <a:r>
              <a:rPr lang="en-US" sz="2400" dirty="0">
                <a:cs typeface="Kalimati" panose="00000400000000000000" pitchFamily="2"/>
              </a:rPr>
              <a:t>,</a:t>
            </a:r>
            <a:r>
              <a:rPr lang="ne-NP" sz="2400" dirty="0">
                <a:cs typeface="Kalimati" panose="00000400000000000000" pitchFamily="2"/>
              </a:rPr>
              <a:t> लगानी असुल गर्न</a:t>
            </a:r>
            <a:r>
              <a:rPr lang="en-US" sz="2400" dirty="0">
                <a:cs typeface="Kalimati" panose="00000400000000000000" pitchFamily="2"/>
              </a:rPr>
              <a:t>,</a:t>
            </a:r>
            <a:r>
              <a:rPr lang="ne-NP" sz="2400" dirty="0">
                <a:cs typeface="Kalimati" panose="00000400000000000000" pitchFamily="2"/>
              </a:rPr>
              <a:t> कर्माचारी</a:t>
            </a:r>
            <a:r>
              <a:rPr lang="en-US" sz="2400" dirty="0">
                <a:cs typeface="Kalimati" panose="00000400000000000000" pitchFamily="2"/>
              </a:rPr>
              <a:t>,</a:t>
            </a:r>
            <a:r>
              <a:rPr lang="ne-NP" sz="2400" dirty="0">
                <a:cs typeface="Kalimati" panose="00000400000000000000" pitchFamily="2"/>
              </a:rPr>
              <a:t> महन्त</a:t>
            </a:r>
            <a:r>
              <a:rPr lang="en-US" sz="2400" dirty="0">
                <a:cs typeface="Kalimati" panose="00000400000000000000" pitchFamily="2"/>
              </a:rPr>
              <a:t>,</a:t>
            </a:r>
            <a:r>
              <a:rPr lang="ne-NP" sz="2400" dirty="0">
                <a:cs typeface="Kalimati" panose="00000400000000000000" pitchFamily="2"/>
              </a:rPr>
              <a:t> पूजारी</a:t>
            </a:r>
            <a:r>
              <a:rPr lang="en-US" sz="2400" dirty="0">
                <a:cs typeface="Kalimati" panose="00000400000000000000" pitchFamily="2"/>
              </a:rPr>
              <a:t>,</a:t>
            </a:r>
            <a:r>
              <a:rPr lang="ne-NP" sz="2400" dirty="0">
                <a:cs typeface="Kalimati" panose="00000400000000000000" pitchFamily="2"/>
              </a:rPr>
              <a:t> रकमी</a:t>
            </a:r>
            <a:r>
              <a:rPr lang="en-US" sz="2400" dirty="0">
                <a:cs typeface="Kalimati" panose="00000400000000000000" pitchFamily="2"/>
              </a:rPr>
              <a:t>,</a:t>
            </a:r>
            <a:r>
              <a:rPr lang="ne-NP" sz="2400" dirty="0">
                <a:cs typeface="Kalimati" panose="00000400000000000000" pitchFamily="2"/>
              </a:rPr>
              <a:t> गुठियार</a:t>
            </a:r>
            <a:r>
              <a:rPr lang="en-US" sz="2400" dirty="0">
                <a:cs typeface="Kalimati" panose="00000400000000000000" pitchFamily="2"/>
              </a:rPr>
              <a:t>,</a:t>
            </a:r>
            <a:r>
              <a:rPr lang="ne-NP" sz="2400" dirty="0">
                <a:cs typeface="Kalimati" panose="00000400000000000000" pitchFamily="2"/>
              </a:rPr>
              <a:t> ठेकदार आदिसँग बाकी रहेको नगदी</a:t>
            </a:r>
            <a:r>
              <a:rPr lang="en-US" sz="2400" dirty="0">
                <a:cs typeface="Kalimati" panose="00000400000000000000" pitchFamily="2"/>
              </a:rPr>
              <a:t>,</a:t>
            </a:r>
            <a:r>
              <a:rPr lang="ne-NP" sz="2400" dirty="0">
                <a:cs typeface="Kalimati" panose="00000400000000000000" pitchFamily="2"/>
              </a:rPr>
              <a:t> जिन्सी लाखिला गराउन</a:t>
            </a:r>
            <a:r>
              <a:rPr lang="en-US" sz="2400" dirty="0">
                <a:cs typeface="Kalimati" panose="00000400000000000000" pitchFamily="2"/>
              </a:rPr>
              <a:t>,</a:t>
            </a:r>
            <a:r>
              <a:rPr lang="ne-NP" sz="2400" dirty="0">
                <a:cs typeface="Kalimati" panose="00000400000000000000" pitchFamily="2"/>
              </a:rPr>
              <a:t> कूत</a:t>
            </a:r>
            <a:r>
              <a:rPr lang="en-US" sz="2400" dirty="0">
                <a:cs typeface="Kalimati" panose="00000400000000000000" pitchFamily="2"/>
              </a:rPr>
              <a:t>,,</a:t>
            </a:r>
            <a:r>
              <a:rPr lang="ne-NP" sz="2400" dirty="0">
                <a:cs typeface="Kalimati" panose="00000400000000000000" pitchFamily="2"/>
              </a:rPr>
              <a:t> ठेक मालपोत</a:t>
            </a:r>
            <a:r>
              <a:rPr lang="en-US" sz="2400" dirty="0">
                <a:cs typeface="Kalimati" panose="00000400000000000000" pitchFamily="2"/>
              </a:rPr>
              <a:t>,</a:t>
            </a:r>
            <a:r>
              <a:rPr lang="ne-NP" sz="2400" dirty="0">
                <a:cs typeface="Kalimati" panose="00000400000000000000" pitchFamily="2"/>
              </a:rPr>
              <a:t> भूबहाल समेतको जुनसुकै रकम असुल गर्ने सम्बन्धमा कुनै हदम्याद लाग्ने छैन।</a:t>
            </a:r>
          </a:p>
          <a:p>
            <a:pPr algn="just"/>
            <a:r>
              <a:rPr lang="ne-NP" sz="2400" dirty="0">
                <a:cs typeface="Kalimati" panose="00000400000000000000" pitchFamily="2"/>
              </a:rPr>
              <a:t>नेपाल सरकारले संस्थानको स्वामित्वमा रहेको गुठी जग्गा सामाजिक कल्याण वा सामुदायिक हितको लागि उपलब्ध गर्न वा गराउन आवश्यक देखेमा व्यवहारिकता हेरी सहुलियत मूल्यमा लिन सक्नेछ।</a:t>
            </a:r>
            <a:endParaRPr lang="en-US" sz="2400" dirty="0">
              <a:cs typeface="Kalimati" panose="00000400000000000000" pitchFamily="2"/>
            </a:endParaRPr>
          </a:p>
        </p:txBody>
      </p:sp>
    </p:spTree>
    <p:extLst>
      <p:ext uri="{BB962C8B-B14F-4D97-AF65-F5344CB8AC3E}">
        <p14:creationId xmlns:p14="http://schemas.microsoft.com/office/powerpoint/2010/main" val="2637876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normAutofit fontScale="90000"/>
          </a:bodyPr>
          <a:lstStyle/>
          <a:p>
            <a:r>
              <a:rPr lang="ne-NP" sz="2800" dirty="0">
                <a:cs typeface="Kalimati" panose="00000400000000000000" pitchFamily="2"/>
              </a:rPr>
              <a:t>मुलुकी देवानी संहिता</a:t>
            </a:r>
            <a:r>
              <a:rPr lang="en-US" sz="2800" dirty="0">
                <a:cs typeface="Kalimati" panose="00000400000000000000" pitchFamily="2"/>
              </a:rPr>
              <a:t>, </a:t>
            </a:r>
            <a:r>
              <a:rPr lang="ne-NP" sz="2800" dirty="0">
                <a:cs typeface="Kalimati" panose="00000400000000000000" pitchFamily="2"/>
              </a:rPr>
              <a:t>२०७४</a:t>
            </a:r>
            <a:br>
              <a:rPr lang="ne-NP" sz="2800" dirty="0">
                <a:cs typeface="Kalimati" panose="00000400000000000000" pitchFamily="2"/>
              </a:rPr>
            </a:br>
            <a:r>
              <a:rPr lang="ne-NP" sz="2200" dirty="0">
                <a:cs typeface="Kalimati" panose="00000400000000000000" pitchFamily="2"/>
              </a:rPr>
              <a:t>(परिच्छेद-६ /गुठी सम्बन्धी व्यवस्था)</a:t>
            </a:r>
            <a:endParaRPr lang="en-US" sz="2200" dirty="0">
              <a:cs typeface="Kalimati" panose="00000400000000000000" pitchFamily="2"/>
            </a:endParaRPr>
          </a:p>
        </p:txBody>
      </p:sp>
      <p:sp>
        <p:nvSpPr>
          <p:cNvPr id="3" name="Content Placeholder 2"/>
          <p:cNvSpPr>
            <a:spLocks noGrp="1"/>
          </p:cNvSpPr>
          <p:nvPr>
            <p:ph idx="1"/>
          </p:nvPr>
        </p:nvSpPr>
        <p:spPr>
          <a:xfrm>
            <a:off x="228600" y="1828800"/>
            <a:ext cx="8686800" cy="4876800"/>
          </a:xfrm>
        </p:spPr>
        <p:txBody>
          <a:bodyPr>
            <a:normAutofit fontScale="32500" lnSpcReduction="20000"/>
          </a:bodyPr>
          <a:lstStyle/>
          <a:p>
            <a:pPr algn="just"/>
            <a:r>
              <a:rPr lang="ne-NP" sz="7400" dirty="0">
                <a:cs typeface="Kalimati" panose="00000400000000000000" pitchFamily="2"/>
              </a:rPr>
              <a:t>कसैले आफ्नो हक भोग र स्वामित्वको सम्पत्ति हितग्राहीको लागि अरु कसैबाट सञ्‍चालन र व्यवस्थापन गर्ने गरी आवश्यक वन्दोवस्त गरेकोमा गुठी स्थापना भएको मानिन्छ </a:t>
            </a:r>
            <a:r>
              <a:rPr lang="ne-NP" sz="6200" dirty="0">
                <a:cs typeface="Kalimati" panose="00000400000000000000" pitchFamily="2"/>
              </a:rPr>
              <a:t>।(दफा ३१४)</a:t>
            </a:r>
          </a:p>
          <a:p>
            <a:endParaRPr lang="ne-NP" sz="6000" dirty="0">
              <a:solidFill>
                <a:srgbClr val="002060"/>
              </a:solidFill>
              <a:cs typeface="Kalimati" panose="00000400000000000000" pitchFamily="2"/>
            </a:endParaRPr>
          </a:p>
          <a:p>
            <a:pPr marL="0" indent="0">
              <a:buNone/>
            </a:pPr>
            <a:endParaRPr lang="ne-NP" sz="6000" dirty="0">
              <a:cs typeface="Kalimati" panose="00000400000000000000" pitchFamily="2"/>
            </a:endParaRPr>
          </a:p>
          <a:p>
            <a:r>
              <a:rPr lang="ne-NP" sz="7400" dirty="0">
                <a:cs typeface="Kalimati" panose="00000400000000000000" pitchFamily="2"/>
              </a:rPr>
              <a:t>गुठी सार्वजनिक र निजी हुन सक्ने </a:t>
            </a:r>
            <a:r>
              <a:rPr lang="ne-NP" sz="6200" dirty="0">
                <a:cs typeface="Kalimati" panose="00000400000000000000" pitchFamily="2"/>
              </a:rPr>
              <a:t>{दफा ३१५(३)}</a:t>
            </a:r>
          </a:p>
          <a:p>
            <a:endParaRPr lang="ne-NP" sz="5000" dirty="0">
              <a:cs typeface="Kalimati" panose="00000400000000000000" pitchFamily="2"/>
            </a:endParaRPr>
          </a:p>
          <a:p>
            <a:r>
              <a:rPr lang="ne-NP" sz="7400" dirty="0">
                <a:cs typeface="Kalimati" panose="00000400000000000000" pitchFamily="2"/>
              </a:rPr>
              <a:t>कुनै खास व्यक्ति वा समूह विशेषलाई हित, लाभ वा सुविधा पुर्‍याउने उद्देश्यले राखिएको गुठी निजी गुठी मानिनेछ </a:t>
            </a:r>
            <a:r>
              <a:rPr lang="ne-NP" sz="8000" dirty="0">
                <a:cs typeface="Kalimati" panose="00000400000000000000" pitchFamily="2"/>
              </a:rPr>
              <a:t>{</a:t>
            </a:r>
            <a:r>
              <a:rPr lang="ne-NP" sz="6200" dirty="0">
                <a:cs typeface="Kalimati" panose="00000400000000000000" pitchFamily="2"/>
              </a:rPr>
              <a:t>दफा ३१५(३)}</a:t>
            </a:r>
          </a:p>
          <a:p>
            <a:pPr marL="0" indent="0">
              <a:buNone/>
            </a:pPr>
            <a:endParaRPr lang="ne-NP" sz="6000" dirty="0">
              <a:cs typeface="Kalimati" panose="00000400000000000000" pitchFamily="2"/>
            </a:endParaRPr>
          </a:p>
          <a:p>
            <a:r>
              <a:rPr lang="ne-NP" sz="7400" dirty="0">
                <a:cs typeface="Kalimati" panose="00000400000000000000" pitchFamily="2"/>
              </a:rPr>
              <a:t>दफा ३१५(२) मा उल्लिखित उद्देश्य पुरा गर्नको लागि राखिएका गुठी सार्बजनिक गुठी मानिने </a:t>
            </a:r>
          </a:p>
          <a:p>
            <a:pPr marL="0" indent="0">
              <a:buNone/>
            </a:pPr>
            <a:r>
              <a:rPr lang="ne-NP" sz="6000" dirty="0">
                <a:cs typeface="Kalimati" panose="00000400000000000000" pitchFamily="2"/>
              </a:rPr>
              <a:t>(</a:t>
            </a:r>
            <a:r>
              <a:rPr lang="ne-NP" sz="7400" i="1" dirty="0">
                <a:cs typeface="Kalimati" panose="00000400000000000000" pitchFamily="2"/>
              </a:rPr>
              <a:t>सार्वजनिक हितको लागि राखिएको एवं सामाजिक र धार्मिक कृत्य सम्बन्धि गुठी सार्वजनिक गुठी हुने) </a:t>
            </a:r>
          </a:p>
          <a:p>
            <a:pPr marL="0" indent="0">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ne-NP" sz="2000" dirty="0">
                <a:cs typeface="Kalimati" panose="00000400000000000000" pitchFamily="2"/>
              </a:rPr>
              <a:t>                                                    </a:t>
            </a:r>
            <a:r>
              <a:rPr lang="ne-NP" sz="1800" dirty="0">
                <a:cs typeface="Kalimati" panose="00000400000000000000" pitchFamily="2"/>
              </a:rPr>
              <a:t>क्रमश...</a:t>
            </a:r>
            <a:endParaRPr lang="en-US" sz="1800" dirty="0">
              <a:cs typeface="Kalimati" panose="00000400000000000000" pitchFamily="2"/>
            </a:endParaRPr>
          </a:p>
        </p:txBody>
      </p:sp>
      <p:sp>
        <p:nvSpPr>
          <p:cNvPr id="3" name="Content Placeholder 2"/>
          <p:cNvSpPr>
            <a:spLocks noGrp="1"/>
          </p:cNvSpPr>
          <p:nvPr>
            <p:ph idx="1"/>
          </p:nvPr>
        </p:nvSpPr>
        <p:spPr>
          <a:xfrm>
            <a:off x="457200" y="1295400"/>
            <a:ext cx="8229600" cy="4830763"/>
          </a:xfrm>
        </p:spPr>
        <p:txBody>
          <a:bodyPr>
            <a:normAutofit/>
          </a:bodyPr>
          <a:lstStyle/>
          <a:p>
            <a:pPr algn="just"/>
            <a:endParaRPr lang="ne-NP" sz="2000" dirty="0"/>
          </a:p>
          <a:p>
            <a:r>
              <a:rPr lang="ne-NP" sz="2400" dirty="0">
                <a:cs typeface="Kalimati" panose="00000400000000000000" pitchFamily="2"/>
              </a:rPr>
              <a:t>सार्वजनिक हितको लागि राखिएको सार्वजनिक गुठी र कुनै खास व्यक्ति वा समूह विशेषलाई हित, लाभ वा सुविधा पुर्‍याउने उद्देश्यले राखिएको गुठी निजी गुठी मानिने।</a:t>
            </a:r>
          </a:p>
          <a:p>
            <a:r>
              <a:rPr lang="ne-NP" sz="2400" dirty="0">
                <a:cs typeface="Kalimati" panose="00000400000000000000" pitchFamily="2"/>
              </a:rPr>
              <a:t>गुठी स्थापना, दर्ता, गुठी सञ्‍चालकको नियुक्ति र गुठी दर्ता</a:t>
            </a:r>
          </a:p>
          <a:p>
            <a:r>
              <a:rPr lang="ne-NP" sz="2400" dirty="0">
                <a:cs typeface="Kalimati" panose="00000400000000000000" pitchFamily="2"/>
              </a:rPr>
              <a:t>विदेशी व्यक्ति गुठी संस्थापक हुन सक्ने </a:t>
            </a:r>
            <a:r>
              <a:rPr lang="ne-NP" sz="2000" i="1" dirty="0">
                <a:solidFill>
                  <a:srgbClr val="00B0F0"/>
                </a:solidFill>
                <a:cs typeface="Kalimati" panose="00000400000000000000" pitchFamily="2"/>
              </a:rPr>
              <a:t>(मठ</a:t>
            </a:r>
            <a:r>
              <a:rPr lang="en-US" sz="2000" i="1" dirty="0">
                <a:solidFill>
                  <a:srgbClr val="00B0F0"/>
                </a:solidFill>
                <a:cs typeface="Kalimati" panose="00000400000000000000" pitchFamily="2"/>
              </a:rPr>
              <a:t>,</a:t>
            </a:r>
            <a:r>
              <a:rPr lang="ne-NP" sz="2000" i="1" dirty="0">
                <a:solidFill>
                  <a:srgbClr val="00B0F0"/>
                </a:solidFill>
                <a:cs typeface="Kalimati" panose="00000400000000000000" pitchFamily="2"/>
              </a:rPr>
              <a:t> मन्दिर</a:t>
            </a:r>
            <a:r>
              <a:rPr lang="en-US" sz="2000" i="1" dirty="0">
                <a:solidFill>
                  <a:srgbClr val="00B0F0"/>
                </a:solidFill>
                <a:cs typeface="Kalimati" panose="00000400000000000000" pitchFamily="2"/>
              </a:rPr>
              <a:t>,</a:t>
            </a:r>
            <a:r>
              <a:rPr lang="ne-NP" sz="2000" i="1" dirty="0">
                <a:solidFill>
                  <a:srgbClr val="00B0F0"/>
                </a:solidFill>
                <a:cs typeface="Kalimati" panose="00000400000000000000" pitchFamily="2"/>
              </a:rPr>
              <a:t> गुम्बा</a:t>
            </a:r>
            <a:r>
              <a:rPr lang="en-US" sz="2000" i="1" dirty="0">
                <a:solidFill>
                  <a:srgbClr val="00B0F0"/>
                </a:solidFill>
                <a:cs typeface="Kalimati" panose="00000400000000000000" pitchFamily="2"/>
              </a:rPr>
              <a:t>,</a:t>
            </a:r>
            <a:r>
              <a:rPr lang="ne-NP" sz="2000" i="1" dirty="0">
                <a:solidFill>
                  <a:srgbClr val="00B0F0"/>
                </a:solidFill>
                <a:cs typeface="Kalimati" panose="00000400000000000000" pitchFamily="2"/>
              </a:rPr>
              <a:t> चैत्य</a:t>
            </a:r>
            <a:r>
              <a:rPr lang="en-US" sz="2000" i="1" dirty="0">
                <a:solidFill>
                  <a:srgbClr val="00B0F0"/>
                </a:solidFill>
                <a:cs typeface="Kalimati" panose="00000400000000000000" pitchFamily="2"/>
              </a:rPr>
              <a:t>,</a:t>
            </a:r>
            <a:r>
              <a:rPr lang="ne-NP" sz="2000" i="1" dirty="0">
                <a:solidFill>
                  <a:srgbClr val="00B0F0"/>
                </a:solidFill>
                <a:cs typeface="Kalimati" panose="00000400000000000000" pitchFamily="2"/>
              </a:rPr>
              <a:t> मस्जिद</a:t>
            </a:r>
            <a:r>
              <a:rPr lang="en-US" sz="2000" i="1" dirty="0">
                <a:solidFill>
                  <a:srgbClr val="00B0F0"/>
                </a:solidFill>
                <a:cs typeface="Kalimati" panose="00000400000000000000" pitchFamily="2"/>
              </a:rPr>
              <a:t>,</a:t>
            </a:r>
            <a:r>
              <a:rPr lang="ne-NP" sz="2000" i="1" dirty="0">
                <a:solidFill>
                  <a:srgbClr val="00B0F0"/>
                </a:solidFill>
                <a:cs typeface="Kalimati" panose="00000400000000000000" pitchFamily="2"/>
              </a:rPr>
              <a:t> गिर्जाघर वा त्यस्तै अन्य धार्मिक कृत्य सम्बन्धी बाहेक)</a:t>
            </a:r>
          </a:p>
          <a:p>
            <a:r>
              <a:rPr lang="ne-NP" sz="2400" dirty="0">
                <a:cs typeface="Kalimati" panose="00000400000000000000" pitchFamily="2"/>
              </a:rPr>
              <a:t>संगठित संस्था सञ्‍चालक हुन सक्ने</a:t>
            </a:r>
          </a:p>
          <a:p>
            <a:r>
              <a:rPr lang="ne-NP" sz="2400" dirty="0">
                <a:cs typeface="Kalimati" panose="00000400000000000000" pitchFamily="2"/>
              </a:rPr>
              <a:t>संस्थापनपत्र</a:t>
            </a:r>
          </a:p>
          <a:p>
            <a:r>
              <a:rPr lang="ne-NP" sz="2400" dirty="0">
                <a:cs typeface="Kalimati" panose="00000400000000000000" pitchFamily="2"/>
              </a:rPr>
              <a:t>गुठी स्थापनाको लागि सम्पत्ति हस्तान्तरण</a:t>
            </a:r>
          </a:p>
          <a:p>
            <a:endParaRPr lang="ne-NP" sz="2000" dirty="0">
              <a:cs typeface="Kalimati" panose="00000400000000000000" pitchFamily="2"/>
            </a:endParaRPr>
          </a:p>
          <a:p>
            <a:endParaRPr lang="en-US" sz="2000" dirty="0">
              <a:cs typeface="Kalimati" panose="00000400000000000000" pitchFamily="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B8DB3-FA49-94D6-3026-6CD64C2FEAFD}"/>
              </a:ext>
            </a:extLst>
          </p:cNvPr>
          <p:cNvSpPr>
            <a:spLocks noGrp="1"/>
          </p:cNvSpPr>
          <p:nvPr>
            <p:ph type="title"/>
          </p:nvPr>
        </p:nvSpPr>
        <p:spPr/>
        <p:txBody>
          <a:bodyPr>
            <a:normAutofit/>
          </a:bodyPr>
          <a:lstStyle/>
          <a:p>
            <a:r>
              <a:rPr lang="ne-NP" sz="1600" dirty="0">
                <a:cs typeface="Kalimati" panose="00000400000000000000" pitchFamily="2"/>
              </a:rPr>
              <a:t>                                                               क्रमश...</a:t>
            </a:r>
            <a:endParaRPr lang="en-US" sz="1600" dirty="0">
              <a:cs typeface="Kalimati" panose="00000400000000000000" pitchFamily="2"/>
            </a:endParaRPr>
          </a:p>
        </p:txBody>
      </p:sp>
      <p:sp>
        <p:nvSpPr>
          <p:cNvPr id="3" name="Content Placeholder 2">
            <a:extLst>
              <a:ext uri="{FF2B5EF4-FFF2-40B4-BE49-F238E27FC236}">
                <a16:creationId xmlns:a16="http://schemas.microsoft.com/office/drawing/2014/main" id="{0E64A9DE-1A2F-B180-75A1-220F53D7CE5A}"/>
              </a:ext>
            </a:extLst>
          </p:cNvPr>
          <p:cNvSpPr>
            <a:spLocks noGrp="1"/>
          </p:cNvSpPr>
          <p:nvPr>
            <p:ph idx="1"/>
          </p:nvPr>
        </p:nvSpPr>
        <p:spPr>
          <a:xfrm>
            <a:off x="457200" y="1295400"/>
            <a:ext cx="8229600" cy="4830763"/>
          </a:xfrm>
        </p:spPr>
        <p:txBody>
          <a:bodyPr>
            <a:normAutofit/>
          </a:bodyPr>
          <a:lstStyle/>
          <a:p>
            <a:r>
              <a:rPr lang="ne-NP" sz="2400" dirty="0">
                <a:cs typeface="Kalimati" panose="00000400000000000000" pitchFamily="2"/>
              </a:rPr>
              <a:t>गुठी दर्ता सुपरिवेक्षण र खारेजीका लागि पञ्‍जिकाधिकारी</a:t>
            </a:r>
          </a:p>
          <a:p>
            <a:r>
              <a:rPr lang="ne-NP" sz="2400" dirty="0">
                <a:cs typeface="Kalimati" panose="00000400000000000000" pitchFamily="2"/>
              </a:rPr>
              <a:t>गुठी सञ्‍चालकको नियुक्ती र सञ्‍चालकको उत्तराधिकारको क्रम </a:t>
            </a:r>
          </a:p>
          <a:p>
            <a:r>
              <a:rPr lang="ne-NP" sz="2400" dirty="0">
                <a:cs typeface="Kalimati" panose="00000400000000000000" pitchFamily="2"/>
              </a:rPr>
              <a:t>विशेष परिस्थितिमा सञ्‍चालनको दायित्व स्थानीय तहको हुने</a:t>
            </a:r>
          </a:p>
          <a:p>
            <a:r>
              <a:rPr lang="ne-NP" sz="2400" dirty="0">
                <a:cs typeface="Kalimati" panose="00000400000000000000" pitchFamily="2"/>
              </a:rPr>
              <a:t>गुठी सम्पत्तिको संरक्षण</a:t>
            </a:r>
            <a:r>
              <a:rPr lang="en-US" sz="2400" dirty="0">
                <a:cs typeface="Kalimati" panose="00000400000000000000" pitchFamily="2"/>
              </a:rPr>
              <a:t>,</a:t>
            </a:r>
            <a:r>
              <a:rPr lang="ne-NP" sz="2400" dirty="0">
                <a:cs typeface="Kalimati" panose="00000400000000000000" pitchFamily="2"/>
              </a:rPr>
              <a:t> अभिलेख र लेखा राख्‍ने</a:t>
            </a:r>
          </a:p>
          <a:p>
            <a:r>
              <a:rPr lang="ne-NP" sz="2400" dirty="0">
                <a:cs typeface="Kalimati" panose="00000400000000000000" pitchFamily="2"/>
              </a:rPr>
              <a:t>गुठीको उल्लङ्‍घन</a:t>
            </a:r>
          </a:p>
          <a:p>
            <a:r>
              <a:rPr lang="ne-NP" sz="2400" dirty="0">
                <a:cs typeface="Kalimati" panose="00000400000000000000" pitchFamily="2"/>
              </a:rPr>
              <a:t>गुठी सञ्‍चालकले गर्न नहुने कार्य</a:t>
            </a:r>
          </a:p>
          <a:p>
            <a:r>
              <a:rPr lang="ne-NP" sz="2400" dirty="0">
                <a:cs typeface="Kalimati" panose="00000400000000000000" pitchFamily="2"/>
              </a:rPr>
              <a:t>गुठीको उद्देश्यमा हेरफेर हुन सक्ने</a:t>
            </a:r>
          </a:p>
          <a:p>
            <a:r>
              <a:rPr lang="ne-NP" sz="2400" dirty="0">
                <a:cs typeface="Kalimati" panose="00000400000000000000" pitchFamily="2"/>
              </a:rPr>
              <a:t>कर निर्धारण वा अन्य कुनै प्रयोजनको लागि गुठी सञ्‍चालकको सम्पत्तिको रुपमा गणना नहुने</a:t>
            </a:r>
          </a:p>
          <a:p>
            <a:r>
              <a:rPr lang="ne-NP" sz="2400" dirty="0">
                <a:cs typeface="Kalimati" panose="00000400000000000000" pitchFamily="2"/>
              </a:rPr>
              <a:t>गुठी बदरको परिणाम</a:t>
            </a:r>
          </a:p>
          <a:p>
            <a:endParaRPr lang="en-US" dirty="0"/>
          </a:p>
        </p:txBody>
      </p:sp>
    </p:spTree>
    <p:extLst>
      <p:ext uri="{BB962C8B-B14F-4D97-AF65-F5344CB8AC3E}">
        <p14:creationId xmlns:p14="http://schemas.microsoft.com/office/powerpoint/2010/main" val="3477637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03906-BF28-8BF9-1ACF-57C76CBC2DFA}"/>
              </a:ext>
            </a:extLst>
          </p:cNvPr>
          <p:cNvSpPr>
            <a:spLocks noGrp="1"/>
          </p:cNvSpPr>
          <p:nvPr>
            <p:ph type="title"/>
          </p:nvPr>
        </p:nvSpPr>
        <p:spPr/>
        <p:txBody>
          <a:bodyPr>
            <a:normAutofit/>
          </a:bodyPr>
          <a:lstStyle/>
          <a:p>
            <a:r>
              <a:rPr lang="ne-NP" sz="2400" dirty="0">
                <a:cs typeface="Kalimati" panose="00000400000000000000" pitchFamily="2"/>
              </a:rPr>
              <a:t>गुठी सम्पत्तिको स्वामित्व कायम गर्नु पर्ने</a:t>
            </a:r>
            <a:endParaRPr lang="en-US" sz="2400" dirty="0">
              <a:cs typeface="Kalimati" panose="00000400000000000000" pitchFamily="2"/>
            </a:endParaRPr>
          </a:p>
        </p:txBody>
      </p:sp>
      <p:sp>
        <p:nvSpPr>
          <p:cNvPr id="3" name="Content Placeholder 2">
            <a:extLst>
              <a:ext uri="{FF2B5EF4-FFF2-40B4-BE49-F238E27FC236}">
                <a16:creationId xmlns:a16="http://schemas.microsoft.com/office/drawing/2014/main" id="{3BD4289D-BBD0-8911-118A-3DB4CC7C24F5}"/>
              </a:ext>
            </a:extLst>
          </p:cNvPr>
          <p:cNvSpPr>
            <a:spLocks noGrp="1"/>
          </p:cNvSpPr>
          <p:nvPr>
            <p:ph idx="1"/>
          </p:nvPr>
        </p:nvSpPr>
        <p:spPr>
          <a:xfrm>
            <a:off x="457200" y="1981200"/>
            <a:ext cx="8229600" cy="4144963"/>
          </a:xfrm>
        </p:spPr>
        <p:txBody>
          <a:bodyPr>
            <a:normAutofit/>
          </a:bodyPr>
          <a:lstStyle/>
          <a:p>
            <a:pPr algn="just"/>
            <a:r>
              <a:rPr lang="ne-NP" sz="2400" dirty="0">
                <a:cs typeface="Kalimati" panose="00000400000000000000" pitchFamily="2"/>
              </a:rPr>
              <a:t>गुठी सम्पत्ति दर्ता स्रेस्तामा गुठी जनाई संस्थापनपत्रमा उल्लेख भएबमोजिमको व्यक्तिको नाममा रहनेछ र संस्थापनपत्रमा स्वामित्व रहने व्यक्ति उल्लेख नभएकोमा हितग्राही व्यक्तिको नाममा रहनेछ।</a:t>
            </a:r>
          </a:p>
          <a:p>
            <a:pPr algn="just"/>
            <a:r>
              <a:rPr lang="ne-NP" sz="2400" dirty="0">
                <a:cs typeface="Kalimati" panose="00000400000000000000" pitchFamily="2"/>
              </a:rPr>
              <a:t>सार्वजनिक गुठीको हकमा त्यस्तो गुठीको सम्पत्ति सञ्‍चालन तथा व्यवस्थापन गर्न छुट्टै सङ्गठित संस्था खडा गर्नु पर्ने व्यवस्था संस्थापनपत्रमा भएकोमा त्यस्तो सम्पत्ति त्यसरी खडा भएको सङ्गठित संस्थाको नाममा रहनेछ।</a:t>
            </a:r>
            <a:endParaRPr lang="en-US" sz="2400" dirty="0">
              <a:cs typeface="Kalimati" panose="00000400000000000000" pitchFamily="2"/>
            </a:endParaRPr>
          </a:p>
        </p:txBody>
      </p:sp>
    </p:spTree>
    <p:extLst>
      <p:ext uri="{BB962C8B-B14F-4D97-AF65-F5344CB8AC3E}">
        <p14:creationId xmlns:p14="http://schemas.microsoft.com/office/powerpoint/2010/main" val="1198586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BB25D-8F70-F646-6D56-59EE7AC897B5}"/>
              </a:ext>
            </a:extLst>
          </p:cNvPr>
          <p:cNvSpPr>
            <a:spLocks noGrp="1"/>
          </p:cNvSpPr>
          <p:nvPr>
            <p:ph type="title"/>
          </p:nvPr>
        </p:nvSpPr>
        <p:spPr>
          <a:xfrm>
            <a:off x="457200" y="274638"/>
            <a:ext cx="8229600" cy="715962"/>
          </a:xfrm>
        </p:spPr>
        <p:txBody>
          <a:bodyPr>
            <a:normAutofit/>
          </a:bodyPr>
          <a:lstStyle/>
          <a:p>
            <a:r>
              <a:rPr lang="ne-NP" sz="1800" dirty="0">
                <a:cs typeface="Kalimati" panose="00000400000000000000" pitchFamily="2"/>
              </a:rPr>
              <a:t>                                                            क्रमश...</a:t>
            </a:r>
            <a:endParaRPr lang="en-US" sz="1800" dirty="0">
              <a:cs typeface="Kalimati" panose="00000400000000000000" pitchFamily="2"/>
            </a:endParaRPr>
          </a:p>
        </p:txBody>
      </p:sp>
      <p:sp>
        <p:nvSpPr>
          <p:cNvPr id="3" name="Content Placeholder 2">
            <a:extLst>
              <a:ext uri="{FF2B5EF4-FFF2-40B4-BE49-F238E27FC236}">
                <a16:creationId xmlns:a16="http://schemas.microsoft.com/office/drawing/2014/main" id="{9F0A6922-D9A5-F825-298C-3D08104155C4}"/>
              </a:ext>
            </a:extLst>
          </p:cNvPr>
          <p:cNvSpPr>
            <a:spLocks noGrp="1"/>
          </p:cNvSpPr>
          <p:nvPr>
            <p:ph idx="1"/>
          </p:nvPr>
        </p:nvSpPr>
        <p:spPr>
          <a:xfrm>
            <a:off x="457200" y="1143000"/>
            <a:ext cx="8229600" cy="4983163"/>
          </a:xfrm>
        </p:spPr>
        <p:txBody>
          <a:bodyPr/>
          <a:lstStyle/>
          <a:p>
            <a:pPr algn="just"/>
            <a:r>
              <a:rPr lang="ne-NP" sz="2400" dirty="0">
                <a:cs typeface="Kalimati" panose="00000400000000000000" pitchFamily="2"/>
              </a:rPr>
              <a:t>पञ्‍जिकाधिकारीले गरेको आदेश वा निर्णय उपर जिल्ला अदालतमा पुनरावेदन</a:t>
            </a:r>
          </a:p>
          <a:p>
            <a:pPr algn="just"/>
            <a:r>
              <a:rPr lang="ne-NP" sz="2400" dirty="0">
                <a:cs typeface="Kalimati" panose="00000400000000000000" pitchFamily="2"/>
              </a:rPr>
              <a:t>तत्काल प्रचलित कानून बमोजिम संस्थापना भई सञ्‍चालन हुदै आएका गुठी कायमै रहने र दानपत्र, शिलापत्र, संस्थापनपत्र वा अन्य कुनै लिखतमा लेखिए बमोजिम वा रीत परम्परा वा अभ्यास बमोजिम सञ्‍चान गर्न सकिने </a:t>
            </a:r>
          </a:p>
          <a:p>
            <a:endParaRPr lang="en-US" dirty="0"/>
          </a:p>
        </p:txBody>
      </p:sp>
    </p:spTree>
    <p:extLst>
      <p:ext uri="{BB962C8B-B14F-4D97-AF65-F5344CB8AC3E}">
        <p14:creationId xmlns:p14="http://schemas.microsoft.com/office/powerpoint/2010/main" val="2209798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ACF0A-58F2-B791-5644-34FCDFAF80B3}"/>
              </a:ext>
            </a:extLst>
          </p:cNvPr>
          <p:cNvSpPr>
            <a:spLocks noGrp="1"/>
          </p:cNvSpPr>
          <p:nvPr>
            <p:ph type="title"/>
          </p:nvPr>
        </p:nvSpPr>
        <p:spPr/>
        <p:txBody>
          <a:bodyPr>
            <a:normAutofit/>
          </a:bodyPr>
          <a:lstStyle/>
          <a:p>
            <a:r>
              <a:rPr lang="ne-NP" sz="2800" dirty="0">
                <a:cs typeface="Kalimati" panose="00000400000000000000" pitchFamily="2"/>
              </a:rPr>
              <a:t>मुद्दा गर्ने हदम्याद</a:t>
            </a:r>
            <a:br>
              <a:rPr lang="ne-NP" sz="2800" dirty="0">
                <a:cs typeface="Kalimati" panose="00000400000000000000" pitchFamily="2"/>
              </a:rPr>
            </a:br>
            <a:r>
              <a:rPr lang="ne-NP" sz="2000" dirty="0">
                <a:cs typeface="Kalimati" panose="00000400000000000000" pitchFamily="2"/>
              </a:rPr>
              <a:t>(दफा ३५१)</a:t>
            </a:r>
            <a:endParaRPr lang="en-US" sz="2000" dirty="0">
              <a:cs typeface="Kalimati" panose="00000400000000000000" pitchFamily="2"/>
            </a:endParaRPr>
          </a:p>
        </p:txBody>
      </p:sp>
      <p:sp>
        <p:nvSpPr>
          <p:cNvPr id="3" name="Content Placeholder 2">
            <a:extLst>
              <a:ext uri="{FF2B5EF4-FFF2-40B4-BE49-F238E27FC236}">
                <a16:creationId xmlns:a16="http://schemas.microsoft.com/office/drawing/2014/main" id="{308B1749-3AE9-4EC5-1AAD-34B1D95CCE21}"/>
              </a:ext>
            </a:extLst>
          </p:cNvPr>
          <p:cNvSpPr>
            <a:spLocks noGrp="1"/>
          </p:cNvSpPr>
          <p:nvPr>
            <p:ph idx="1"/>
          </p:nvPr>
        </p:nvSpPr>
        <p:spPr>
          <a:xfrm>
            <a:off x="457200" y="2057400"/>
            <a:ext cx="8229600" cy="4419600"/>
          </a:xfrm>
        </p:spPr>
        <p:txBody>
          <a:bodyPr>
            <a:normAutofit/>
          </a:bodyPr>
          <a:lstStyle/>
          <a:p>
            <a:pPr marL="0" indent="0">
              <a:buNone/>
            </a:pPr>
            <a:r>
              <a:rPr lang="ne-NP" sz="2600" dirty="0">
                <a:solidFill>
                  <a:srgbClr val="00B050"/>
                </a:solidFill>
                <a:cs typeface="Kalimati" panose="00000400000000000000" pitchFamily="2"/>
              </a:rPr>
              <a:t>हदम्याद नलाग्ने </a:t>
            </a:r>
            <a:r>
              <a:rPr lang="ne-NP" sz="2400" dirty="0">
                <a:cs typeface="Kalimati" panose="00000400000000000000" pitchFamily="2"/>
              </a:rPr>
              <a:t>गुठीको सम्पत्ति हिनामिना गरेको</a:t>
            </a:r>
          </a:p>
          <a:p>
            <a:r>
              <a:rPr lang="ne-NP" sz="2400" dirty="0">
                <a:cs typeface="Kalimati" panose="00000400000000000000" pitchFamily="2"/>
              </a:rPr>
              <a:t>गुठीको सम्पत्तिसँग सम्बन्धित कुनै लिखत जालसाजी वा किर्ते गरेको</a:t>
            </a:r>
          </a:p>
          <a:p>
            <a:r>
              <a:rPr lang="ne-NP" sz="2400" dirty="0">
                <a:cs typeface="Kalimati" panose="00000400000000000000" pitchFamily="2"/>
              </a:rPr>
              <a:t>गुठीको सम्पत्ति मासे खाएको</a:t>
            </a:r>
          </a:p>
          <a:p>
            <a:r>
              <a:rPr lang="ne-NP" sz="2400" dirty="0">
                <a:cs typeface="Kalimati" panose="00000400000000000000" pitchFamily="2"/>
              </a:rPr>
              <a:t>सत्र्चालकले गुठी संस्थापनपत्रको शर्त विपरीत फाइदा लिएको </a:t>
            </a:r>
          </a:p>
          <a:p>
            <a:r>
              <a:rPr lang="ne-NP" sz="2400" dirty="0">
                <a:cs typeface="Kalimati" panose="00000400000000000000" pitchFamily="2"/>
              </a:rPr>
              <a:t>गुठीको सम्पत्ति वा सोको मूल्य आय सञ्चालक वा अन्य व्यक्तिबाट फिर्ता गराउनु परेको </a:t>
            </a:r>
          </a:p>
          <a:p>
            <a:r>
              <a:rPr lang="ne-NP" sz="2400" dirty="0">
                <a:cs typeface="Kalimati" panose="00000400000000000000" pitchFamily="2"/>
              </a:rPr>
              <a:t>माथी उल्लिखित बाहेकका अन्य विषयमा </a:t>
            </a:r>
            <a:r>
              <a:rPr lang="ne-NP" sz="2400" dirty="0">
                <a:solidFill>
                  <a:srgbClr val="00B050"/>
                </a:solidFill>
                <a:cs typeface="Kalimati" panose="00000400000000000000" pitchFamily="2"/>
              </a:rPr>
              <a:t>नालिस गर्नु पर्ने कारण भएको मितिले छ महिना</a:t>
            </a:r>
          </a:p>
          <a:p>
            <a:endParaRPr lang="en-US" dirty="0"/>
          </a:p>
        </p:txBody>
      </p:sp>
    </p:spTree>
    <p:extLst>
      <p:ext uri="{BB962C8B-B14F-4D97-AF65-F5344CB8AC3E}">
        <p14:creationId xmlns:p14="http://schemas.microsoft.com/office/powerpoint/2010/main" val="39817596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a:bodyPr>
          <a:lstStyle/>
          <a:p>
            <a:r>
              <a:rPr lang="ne-NP" sz="2800" b="1" dirty="0">
                <a:cs typeface="Kalimati" panose="00000400000000000000" pitchFamily="2"/>
              </a:rPr>
              <a:t>केहि न्यायिक दृष्टिकोण</a:t>
            </a:r>
            <a:endParaRPr lang="en-US" sz="2800" b="1" dirty="0">
              <a:cs typeface="Kalimati" panose="00000400000000000000" pitchFamily="2"/>
            </a:endParaRPr>
          </a:p>
        </p:txBody>
      </p:sp>
      <p:sp>
        <p:nvSpPr>
          <p:cNvPr id="3" name="Content Placeholder 2"/>
          <p:cNvSpPr>
            <a:spLocks noGrp="1"/>
          </p:cNvSpPr>
          <p:nvPr>
            <p:ph idx="1"/>
          </p:nvPr>
        </p:nvSpPr>
        <p:spPr/>
        <p:txBody>
          <a:bodyPr/>
          <a:lstStyle/>
          <a:p>
            <a:pPr>
              <a:buFont typeface="Wingdings" pitchFamily="2" charset="2"/>
              <a:buChar char="v"/>
            </a:pPr>
            <a:r>
              <a:rPr lang="ne-NP" dirty="0"/>
              <a:t> </a:t>
            </a:r>
            <a:r>
              <a:rPr lang="ne-NP" sz="2400" dirty="0">
                <a:cs typeface="Kalimati" panose="00000400000000000000" pitchFamily="2"/>
              </a:rPr>
              <a:t>गुठी जग्गालाई गुठी रैतान नम्बरीमा परिणत गर्न नपाइने</a:t>
            </a:r>
          </a:p>
          <a:p>
            <a:pPr algn="just">
              <a:buNone/>
            </a:pPr>
            <a:r>
              <a:rPr lang="ne-NP" sz="1800" dirty="0">
                <a:cs typeface="Kalimati" panose="00000400000000000000" pitchFamily="2"/>
              </a:rPr>
              <a:t> (अधिवक्ता प्रकाशमणि शर्मा वि. नेपाल सरकार</a:t>
            </a:r>
            <a:r>
              <a:rPr lang="en-US" sz="1800" dirty="0">
                <a:cs typeface="Kalimati" panose="00000400000000000000" pitchFamily="2"/>
              </a:rPr>
              <a:t>,</a:t>
            </a:r>
            <a:r>
              <a:rPr lang="ne-NP" sz="1800" dirty="0">
                <a:cs typeface="Kalimati" panose="00000400000000000000" pitchFamily="2"/>
              </a:rPr>
              <a:t> मन्त्रिपरिषद/उत्प्रेषण</a:t>
            </a:r>
            <a:r>
              <a:rPr lang="en-US" sz="1800" dirty="0">
                <a:cs typeface="Kalimati" panose="00000400000000000000" pitchFamily="2"/>
              </a:rPr>
              <a:t>,</a:t>
            </a:r>
            <a:r>
              <a:rPr lang="ne-NP" sz="1800" dirty="0">
                <a:cs typeface="Kalimati" panose="00000400000000000000" pitchFamily="2"/>
              </a:rPr>
              <a:t>परमादेश /नेकाप २०६४</a:t>
            </a:r>
            <a:r>
              <a:rPr lang="en-US" sz="1800" dirty="0">
                <a:cs typeface="Kalimati" panose="00000400000000000000" pitchFamily="2"/>
              </a:rPr>
              <a:t>,</a:t>
            </a:r>
            <a:r>
              <a:rPr lang="ne-NP" sz="1800" dirty="0">
                <a:cs typeface="Kalimati" panose="00000400000000000000" pitchFamily="2"/>
              </a:rPr>
              <a:t>माघ</a:t>
            </a:r>
            <a:r>
              <a:rPr lang="en-US" sz="1800" dirty="0">
                <a:cs typeface="Kalimati" panose="00000400000000000000" pitchFamily="2"/>
              </a:rPr>
              <a:t>,</a:t>
            </a:r>
            <a:r>
              <a:rPr lang="ne-NP" sz="1800" dirty="0">
                <a:cs typeface="Kalimati" panose="00000400000000000000" pitchFamily="2"/>
              </a:rPr>
              <a:t> नि.नं.७८८५</a:t>
            </a:r>
            <a:r>
              <a:rPr lang="en-US" sz="1800" dirty="0">
                <a:cs typeface="Kalimati" panose="00000400000000000000" pitchFamily="2"/>
              </a:rPr>
              <a:t>,</a:t>
            </a:r>
            <a:r>
              <a:rPr lang="ne-NP" sz="1800" dirty="0">
                <a:cs typeface="Kalimati" panose="00000400000000000000" pitchFamily="2"/>
              </a:rPr>
              <a:t>पृ.१२७५) </a:t>
            </a:r>
            <a:endParaRPr lang="en-US" sz="1800" dirty="0">
              <a:cs typeface="Kalimati" panose="00000400000000000000" pitchFamily="2"/>
            </a:endParaRPr>
          </a:p>
          <a:p>
            <a:pPr algn="just">
              <a:buNone/>
            </a:pPr>
            <a:r>
              <a:rPr lang="en-US" sz="1800" dirty="0">
                <a:cs typeface="Kalimati" panose="00000400000000000000" pitchFamily="2"/>
              </a:rPr>
              <a:t> </a:t>
            </a:r>
            <a:r>
              <a:rPr lang="ne-NP" sz="2000" dirty="0">
                <a:cs typeface="Kalimati" panose="00000400000000000000" pitchFamily="2"/>
              </a:rPr>
              <a:t>गुठी संस्थान ऐन</a:t>
            </a:r>
            <a:r>
              <a:rPr lang="en-US" sz="2000" dirty="0">
                <a:cs typeface="Kalimati" panose="00000400000000000000" pitchFamily="2"/>
              </a:rPr>
              <a:t>,</a:t>
            </a:r>
            <a:r>
              <a:rPr lang="ne-NP" sz="2000" dirty="0">
                <a:cs typeface="Kalimati" panose="00000400000000000000" pitchFamily="2"/>
              </a:rPr>
              <a:t> २०३३ को दफा २५(२)(ग) र दफा ३६ अमान्य घोषित</a:t>
            </a:r>
            <a:endParaRPr lang="en-US" sz="2000" dirty="0">
              <a:cs typeface="Kalimati" panose="00000400000000000000" pitchFamily="2"/>
            </a:endParaRPr>
          </a:p>
          <a:p>
            <a:pPr algn="just">
              <a:buNone/>
            </a:pPr>
            <a:endParaRPr lang="en-US" sz="2000" dirty="0">
              <a:cs typeface="Kalimati" panose="00000400000000000000" pitchFamily="2"/>
            </a:endParaRPr>
          </a:p>
          <a:p>
            <a:pPr algn="just">
              <a:buFont typeface="Wingdings" pitchFamily="2" charset="2"/>
              <a:buChar char="v"/>
            </a:pPr>
            <a:r>
              <a:rPr lang="ne-NP" sz="2400" dirty="0">
                <a:cs typeface="Kalimati" panose="00000400000000000000" pitchFamily="2"/>
              </a:rPr>
              <a:t>निजी गुठीका जग्गा सट्टा पट्टा गर्न वा अक्षय कोषमा रकम जम्मा गरी गुठीयारका नाममा दर्ता गर्न नपाइने </a:t>
            </a:r>
            <a:r>
              <a:rPr lang="ne-NP" sz="1800" dirty="0">
                <a:cs typeface="Kalimati" panose="00000400000000000000" pitchFamily="2"/>
              </a:rPr>
              <a:t>(नेकाप २०६४</a:t>
            </a:r>
            <a:r>
              <a:rPr lang="en-US" sz="1800" dirty="0">
                <a:cs typeface="Kalimati" panose="00000400000000000000" pitchFamily="2"/>
              </a:rPr>
              <a:t>,</a:t>
            </a:r>
            <a:r>
              <a:rPr lang="ne-NP" sz="1800" dirty="0">
                <a:cs typeface="Kalimati" panose="00000400000000000000" pitchFamily="2"/>
              </a:rPr>
              <a:t>माघ</a:t>
            </a:r>
            <a:r>
              <a:rPr lang="en-US" sz="1800" dirty="0">
                <a:cs typeface="Kalimati" panose="00000400000000000000" pitchFamily="2"/>
              </a:rPr>
              <a:t>,</a:t>
            </a:r>
            <a:r>
              <a:rPr lang="ne-NP" sz="1800" dirty="0">
                <a:cs typeface="Kalimati" panose="00000400000000000000" pitchFamily="2"/>
              </a:rPr>
              <a:t> नि.नं.७८८५</a:t>
            </a:r>
            <a:r>
              <a:rPr lang="en-US" sz="1800" dirty="0">
                <a:cs typeface="Kalimati" panose="00000400000000000000" pitchFamily="2"/>
              </a:rPr>
              <a:t>,</a:t>
            </a:r>
            <a:r>
              <a:rPr lang="ne-NP" sz="1800" dirty="0">
                <a:cs typeface="Kalimati" panose="00000400000000000000" pitchFamily="2"/>
              </a:rPr>
              <a:t>पृ.१२७५) </a:t>
            </a:r>
            <a:endParaRPr lang="en-US" sz="1800" dirty="0">
              <a:cs typeface="Kalimati" panose="00000400000000000000" pitchFamily="2"/>
            </a:endParaRPr>
          </a:p>
          <a:p>
            <a:pPr algn="just">
              <a:buNone/>
            </a:pPr>
            <a:endParaRPr lang="en-US" sz="1800" dirty="0">
              <a:cs typeface="Kalimati" panose="00000400000000000000" pitchFamily="2"/>
            </a:endParaRPr>
          </a:p>
          <a:p>
            <a:pPr algn="just">
              <a:buFont typeface="Wingdings" pitchFamily="2" charset="2"/>
              <a:buChar char="v"/>
            </a:pPr>
            <a:r>
              <a:rPr lang="ne-NP" sz="2400" dirty="0">
                <a:cs typeface="Kalimati" panose="00000400000000000000" pitchFamily="2"/>
              </a:rPr>
              <a:t>ऐतिहासिक दस्तावेजबाट गुठी देखिएकोमा गुठी संस्थानमालगन नभएमा वा लगतमा गुठी नजनिए पनि गुठी कायम हुने </a:t>
            </a:r>
          </a:p>
          <a:p>
            <a:pPr algn="just">
              <a:buNone/>
            </a:pPr>
            <a:r>
              <a:rPr lang="ne-NP" sz="1800" dirty="0">
                <a:cs typeface="Kalimati" panose="00000400000000000000" pitchFamily="2"/>
              </a:rPr>
              <a:t>      (नेकाप २०६८</a:t>
            </a:r>
            <a:r>
              <a:rPr lang="en-US" sz="1800" dirty="0">
                <a:cs typeface="Kalimati" panose="00000400000000000000" pitchFamily="2"/>
              </a:rPr>
              <a:t>,</a:t>
            </a:r>
            <a:r>
              <a:rPr lang="ne-NP" sz="1800" dirty="0">
                <a:cs typeface="Kalimati" panose="00000400000000000000" pitchFamily="2"/>
              </a:rPr>
              <a:t>बैशाख</a:t>
            </a:r>
            <a:r>
              <a:rPr lang="en-US" sz="1800" dirty="0">
                <a:cs typeface="Kalimati" panose="00000400000000000000" pitchFamily="2"/>
              </a:rPr>
              <a:t>,</a:t>
            </a:r>
            <a:r>
              <a:rPr lang="ne-NP" sz="1800" dirty="0">
                <a:cs typeface="Kalimati" panose="00000400000000000000" pitchFamily="2"/>
              </a:rPr>
              <a:t> नि.नं.८५३२</a:t>
            </a:r>
            <a:r>
              <a:rPr lang="en-US" sz="1800" dirty="0">
                <a:cs typeface="Kalimati" panose="00000400000000000000" pitchFamily="2"/>
              </a:rPr>
              <a:t>,</a:t>
            </a:r>
            <a:r>
              <a:rPr lang="ne-NP" sz="1800" dirty="0">
                <a:cs typeface="Kalimati" panose="00000400000000000000" pitchFamily="2"/>
              </a:rPr>
              <a:t>पृ.१३६)  </a:t>
            </a:r>
            <a:endParaRPr lang="en-US" sz="1800" dirty="0">
              <a:cs typeface="Kalimati" panose="00000400000000000000" pitchFamily="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a:bodyPr>
          <a:lstStyle/>
          <a:p>
            <a:r>
              <a:rPr lang="ne-NP" sz="1800"/>
              <a:t>                                                                क्रमश...</a:t>
            </a:r>
            <a:endParaRPr lang="en-US" sz="1800"/>
          </a:p>
        </p:txBody>
      </p:sp>
      <p:sp>
        <p:nvSpPr>
          <p:cNvPr id="3" name="Content Placeholder 2"/>
          <p:cNvSpPr>
            <a:spLocks noGrp="1"/>
          </p:cNvSpPr>
          <p:nvPr>
            <p:ph idx="1"/>
          </p:nvPr>
        </p:nvSpPr>
        <p:spPr>
          <a:xfrm>
            <a:off x="457200" y="990600"/>
            <a:ext cx="8229600" cy="5135563"/>
          </a:xfrm>
        </p:spPr>
        <p:txBody>
          <a:bodyPr>
            <a:normAutofit/>
          </a:bodyPr>
          <a:lstStyle/>
          <a:p>
            <a:pPr algn="just">
              <a:buFont typeface="Wingdings" pitchFamily="2" charset="2"/>
              <a:buChar char="v"/>
            </a:pPr>
            <a:r>
              <a:rPr lang="ne-NP" sz="2400" dirty="0">
                <a:cs typeface="Kalimati" panose="00000400000000000000" pitchFamily="2"/>
              </a:rPr>
              <a:t>निजी गुठीको जग्गा हक हस्तान्तरण गर्न नपाइने एवं गुठी जग्गा हक हस्तान्तरण र गुठी धर्मलोप विषयमा उजुर गर्न हदम्याद नलाग्ने </a:t>
            </a:r>
            <a:r>
              <a:rPr lang="ne-NP" sz="2000" dirty="0">
                <a:cs typeface="Kalimati" panose="00000400000000000000" pitchFamily="2"/>
              </a:rPr>
              <a:t>(२०६३ सालको दे.पु.नं.०४२०</a:t>
            </a:r>
            <a:r>
              <a:rPr lang="en-US" sz="2000" dirty="0">
                <a:cs typeface="Kalimati" panose="00000400000000000000" pitchFamily="2"/>
              </a:rPr>
              <a:t>/</a:t>
            </a:r>
            <a:r>
              <a:rPr lang="ne-NP" sz="2000" dirty="0">
                <a:cs typeface="Kalimati" panose="00000400000000000000" pitchFamily="2"/>
              </a:rPr>
              <a:t> लिखत बदर </a:t>
            </a:r>
            <a:r>
              <a:rPr lang="en-US" sz="2000" dirty="0">
                <a:cs typeface="Kalimati" panose="00000400000000000000" pitchFamily="2"/>
              </a:rPr>
              <a:t>/</a:t>
            </a:r>
            <a:r>
              <a:rPr lang="ne-NP" sz="2000" dirty="0">
                <a:cs typeface="Kalimati" panose="00000400000000000000" pitchFamily="2"/>
              </a:rPr>
              <a:t>२०६७/३/२३)</a:t>
            </a:r>
            <a:endParaRPr lang="en-US" sz="2000" dirty="0">
              <a:cs typeface="Kalimati" panose="00000400000000000000" pitchFamily="2"/>
            </a:endParaRPr>
          </a:p>
          <a:p>
            <a:pPr algn="just">
              <a:buNone/>
            </a:pPr>
            <a:r>
              <a:rPr lang="en-US" sz="2000" dirty="0">
                <a:cs typeface="Kalimati" panose="00000400000000000000" pitchFamily="2"/>
              </a:rPr>
              <a:t>    </a:t>
            </a:r>
            <a:r>
              <a:rPr lang="ne-NP" sz="2000" dirty="0">
                <a:cs typeface="Kalimati" panose="00000400000000000000" pitchFamily="2"/>
              </a:rPr>
              <a:t>(</a:t>
            </a:r>
            <a:r>
              <a:rPr lang="en-US" sz="2000" dirty="0">
                <a:cs typeface="Kalimati" panose="00000400000000000000" pitchFamily="2"/>
              </a:rPr>
              <a:t>  </a:t>
            </a:r>
            <a:r>
              <a:rPr lang="ne-NP" sz="2000" dirty="0">
                <a:cs typeface="Kalimati" panose="00000400000000000000" pitchFamily="2"/>
              </a:rPr>
              <a:t>नेकाप २०७३</a:t>
            </a:r>
            <a:r>
              <a:rPr lang="en-US" sz="2000" dirty="0">
                <a:cs typeface="Kalimati" panose="00000400000000000000" pitchFamily="2"/>
              </a:rPr>
              <a:t>,</a:t>
            </a:r>
            <a:r>
              <a:rPr lang="ne-NP" sz="2000" dirty="0">
                <a:cs typeface="Kalimati" panose="00000400000000000000" pitchFamily="2"/>
              </a:rPr>
              <a:t> माघ</a:t>
            </a:r>
            <a:r>
              <a:rPr lang="en-US" sz="2000" dirty="0">
                <a:cs typeface="Kalimati" panose="00000400000000000000" pitchFamily="2"/>
              </a:rPr>
              <a:t>,</a:t>
            </a:r>
            <a:r>
              <a:rPr lang="ne-NP" sz="2000" dirty="0">
                <a:cs typeface="Kalimati" panose="00000400000000000000" pitchFamily="2"/>
              </a:rPr>
              <a:t> नि.नं. ९६८८</a:t>
            </a:r>
            <a:r>
              <a:rPr lang="en-US" sz="2000" dirty="0">
                <a:cs typeface="Kalimati" panose="00000400000000000000" pitchFamily="2"/>
              </a:rPr>
              <a:t>,</a:t>
            </a:r>
            <a:r>
              <a:rPr lang="ne-NP" sz="2000" dirty="0">
                <a:cs typeface="Kalimati" panose="00000400000000000000" pitchFamily="2"/>
              </a:rPr>
              <a:t> पृष्ठ १८१४)</a:t>
            </a:r>
          </a:p>
          <a:p>
            <a:pPr algn="just">
              <a:buNone/>
            </a:pPr>
            <a:endParaRPr lang="ne-NP" sz="2000" dirty="0">
              <a:cs typeface="Kalimati" panose="00000400000000000000" pitchFamily="2"/>
            </a:endParaRPr>
          </a:p>
          <a:p>
            <a:pPr algn="just">
              <a:buFont typeface="Wingdings" pitchFamily="2" charset="2"/>
              <a:buChar char="v"/>
            </a:pPr>
            <a:r>
              <a:rPr lang="ne-NP" sz="2400" dirty="0">
                <a:cs typeface="Kalimati" panose="00000400000000000000" pitchFamily="2"/>
              </a:rPr>
              <a:t>एक प्रकृतिको गुठी जग्गालाई अर्को प्रकृतिको गुठीमा परिणत गर्न नमिल्ने</a:t>
            </a:r>
            <a:r>
              <a:rPr lang="en-US" sz="2400" dirty="0">
                <a:cs typeface="Kalimati" panose="00000400000000000000" pitchFamily="2"/>
              </a:rPr>
              <a:t> </a:t>
            </a:r>
            <a:r>
              <a:rPr lang="ne-NP" sz="2400" dirty="0">
                <a:cs typeface="Kalimati" panose="00000400000000000000" pitchFamily="2"/>
              </a:rPr>
              <a:t> </a:t>
            </a:r>
            <a:r>
              <a:rPr lang="ne-NP" sz="2000" dirty="0">
                <a:cs typeface="Kalimati" panose="00000400000000000000" pitchFamily="2"/>
              </a:rPr>
              <a:t>(</a:t>
            </a:r>
            <a:r>
              <a:rPr lang="en-US" sz="2000" dirty="0">
                <a:cs typeface="Kalimati" panose="00000400000000000000" pitchFamily="2"/>
              </a:rPr>
              <a:t> </a:t>
            </a:r>
            <a:r>
              <a:rPr lang="ne-NP" sz="2000" dirty="0">
                <a:cs typeface="Kalimati" panose="00000400000000000000" pitchFamily="2"/>
              </a:rPr>
              <a:t>नेकाप २०६७</a:t>
            </a:r>
            <a:r>
              <a:rPr lang="en-US" sz="2000" dirty="0">
                <a:cs typeface="Kalimati" panose="00000400000000000000" pitchFamily="2"/>
              </a:rPr>
              <a:t>,</a:t>
            </a:r>
            <a:r>
              <a:rPr lang="ne-NP" sz="2000" dirty="0">
                <a:cs typeface="Kalimati" panose="00000400000000000000" pitchFamily="2"/>
              </a:rPr>
              <a:t> भदौ</a:t>
            </a:r>
            <a:r>
              <a:rPr lang="en-US" sz="2000" dirty="0">
                <a:cs typeface="Kalimati" panose="00000400000000000000" pitchFamily="2"/>
              </a:rPr>
              <a:t>,</a:t>
            </a:r>
            <a:r>
              <a:rPr lang="ne-NP" sz="2000" dirty="0">
                <a:cs typeface="Kalimati" panose="00000400000000000000" pitchFamily="2"/>
              </a:rPr>
              <a:t> नि.नं. ८३६७</a:t>
            </a:r>
            <a:r>
              <a:rPr lang="en-US" sz="2000" dirty="0">
                <a:cs typeface="Kalimati" panose="00000400000000000000" pitchFamily="2"/>
              </a:rPr>
              <a:t>,</a:t>
            </a:r>
            <a:r>
              <a:rPr lang="ne-NP" sz="2000" dirty="0">
                <a:cs typeface="Kalimati" panose="00000400000000000000" pitchFamily="2"/>
              </a:rPr>
              <a:t> पृष्ठ ७३४)</a:t>
            </a:r>
          </a:p>
          <a:p>
            <a:pPr algn="just">
              <a:buFont typeface="Wingdings" pitchFamily="2" charset="2"/>
              <a:buChar char="v"/>
            </a:pPr>
            <a:endParaRPr lang="ne-NP" sz="2000" dirty="0">
              <a:cs typeface="Kalimati" panose="00000400000000000000" pitchFamily="2"/>
            </a:endParaRPr>
          </a:p>
          <a:p>
            <a:pPr algn="just">
              <a:buFont typeface="Wingdings" pitchFamily="2" charset="2"/>
              <a:buChar char="v"/>
            </a:pPr>
            <a:endParaRPr lang="ne-NP" sz="2400" dirty="0">
              <a:cs typeface="Kalimati" panose="00000400000000000000" pitchFamily="2"/>
            </a:endParaRPr>
          </a:p>
          <a:p>
            <a:pPr algn="just">
              <a:buFont typeface="Wingdings" pitchFamily="2" charset="2"/>
              <a:buChar char="v"/>
            </a:pPr>
            <a:r>
              <a:rPr lang="ne-NP" sz="2400" dirty="0">
                <a:cs typeface="Kalimati" panose="00000400000000000000" pitchFamily="2"/>
              </a:rPr>
              <a:t>गुठी संस्थान अन्तर्गतको राजगुठीको जग्गाको स्वामित्व संस्थानले छोड्न नमिल्ने</a:t>
            </a:r>
            <a:r>
              <a:rPr lang="ne-NP" sz="2000" dirty="0">
                <a:cs typeface="Kalimati" panose="00000400000000000000" pitchFamily="2"/>
              </a:rPr>
              <a:t> </a:t>
            </a:r>
          </a:p>
          <a:p>
            <a:pPr algn="just">
              <a:buNone/>
            </a:pPr>
            <a:r>
              <a:rPr lang="ne-NP" sz="2000" dirty="0">
                <a:cs typeface="Kalimati" panose="00000400000000000000" pitchFamily="2"/>
              </a:rPr>
              <a:t>          (नेकाप २०६७</a:t>
            </a:r>
            <a:r>
              <a:rPr lang="en-US" sz="2000" dirty="0">
                <a:cs typeface="Kalimati" panose="00000400000000000000" pitchFamily="2"/>
              </a:rPr>
              <a:t>,</a:t>
            </a:r>
            <a:r>
              <a:rPr lang="ne-NP" sz="2000" dirty="0">
                <a:cs typeface="Kalimati" panose="00000400000000000000" pitchFamily="2"/>
              </a:rPr>
              <a:t> जेठ</a:t>
            </a:r>
            <a:r>
              <a:rPr lang="en-US" sz="2000" dirty="0">
                <a:cs typeface="Kalimati" panose="00000400000000000000" pitchFamily="2"/>
              </a:rPr>
              <a:t>,</a:t>
            </a:r>
            <a:r>
              <a:rPr lang="ne-NP" sz="2000" dirty="0">
                <a:cs typeface="Kalimati" panose="00000400000000000000" pitchFamily="2"/>
              </a:rPr>
              <a:t> नि.नं. ८९१८</a:t>
            </a:r>
            <a:r>
              <a:rPr lang="en-US" sz="2000" dirty="0">
                <a:cs typeface="Kalimati" panose="00000400000000000000" pitchFamily="2"/>
              </a:rPr>
              <a:t>,</a:t>
            </a:r>
            <a:r>
              <a:rPr lang="ne-NP" sz="2000" dirty="0">
                <a:cs typeface="Kalimati" panose="00000400000000000000" pitchFamily="2"/>
              </a:rPr>
              <a:t> पृष्ठ २९४)</a:t>
            </a:r>
            <a:endParaRPr lang="en-US" sz="2000" dirty="0">
              <a:cs typeface="Kalimati" panose="00000400000000000000" pitchFamily="2"/>
            </a:endParaRPr>
          </a:p>
          <a:p>
            <a:pPr algn="just">
              <a:buNone/>
            </a:pPr>
            <a:endParaRPr lang="en-US" sz="2000" dirty="0">
              <a:cs typeface="Kalimati" panose="00000400000000000000" pitchFamily="2"/>
            </a:endParaRPr>
          </a:p>
          <a:p>
            <a:pPr algn="just">
              <a:buFont typeface="Wingdings" pitchFamily="2" charset="2"/>
              <a:buChar char="v"/>
            </a:pP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
          </a:xfrm>
        </p:spPr>
        <p:txBody>
          <a:bodyPr>
            <a:normAutofit/>
          </a:bodyPr>
          <a:lstStyle/>
          <a:p>
            <a:r>
              <a:rPr lang="ne-NP" sz="2000"/>
              <a:t>                                                       क्रमश..</a:t>
            </a:r>
            <a:endParaRPr lang="en-US" sz="2000"/>
          </a:p>
        </p:txBody>
      </p:sp>
      <p:sp>
        <p:nvSpPr>
          <p:cNvPr id="3" name="Content Placeholder 2"/>
          <p:cNvSpPr>
            <a:spLocks noGrp="1"/>
          </p:cNvSpPr>
          <p:nvPr>
            <p:ph idx="1"/>
          </p:nvPr>
        </p:nvSpPr>
        <p:spPr>
          <a:xfrm>
            <a:off x="457200" y="1143000"/>
            <a:ext cx="8229600" cy="4983163"/>
          </a:xfrm>
        </p:spPr>
        <p:txBody>
          <a:bodyPr>
            <a:normAutofit/>
          </a:bodyPr>
          <a:lstStyle/>
          <a:p>
            <a:pPr>
              <a:buFont typeface="Wingdings" pitchFamily="2" charset="2"/>
              <a:buChar char="v"/>
            </a:pPr>
            <a:r>
              <a:rPr lang="ne-NP" sz="2400" dirty="0"/>
              <a:t> </a:t>
            </a:r>
            <a:r>
              <a:rPr lang="ne-NP" sz="2400" dirty="0">
                <a:cs typeface="Kalimati" panose="00000400000000000000" pitchFamily="2"/>
              </a:rPr>
              <a:t>गुठी रैतान नम्बरी जग्गाको दर्ता बदर गुठी संस्थानले गर्न  नसक्ने       </a:t>
            </a:r>
            <a:r>
              <a:rPr lang="ne-NP" sz="2000" dirty="0">
                <a:cs typeface="Kalimati" panose="00000400000000000000" pitchFamily="2"/>
              </a:rPr>
              <a:t>(नेकाप २०४५</a:t>
            </a:r>
            <a:r>
              <a:rPr lang="en-US" sz="2000" dirty="0">
                <a:cs typeface="Kalimati" panose="00000400000000000000" pitchFamily="2"/>
              </a:rPr>
              <a:t>,</a:t>
            </a:r>
            <a:r>
              <a:rPr lang="ne-NP" sz="2000" dirty="0">
                <a:cs typeface="Kalimati" panose="00000400000000000000" pitchFamily="2"/>
              </a:rPr>
              <a:t> नि.नं. ३४०५ )</a:t>
            </a:r>
          </a:p>
          <a:p>
            <a:pPr>
              <a:buFont typeface="Wingdings" pitchFamily="2" charset="2"/>
              <a:buChar char="v"/>
            </a:pPr>
            <a:endParaRPr lang="ne-NP" sz="2000" dirty="0">
              <a:cs typeface="Kalimati" panose="00000400000000000000" pitchFamily="2"/>
            </a:endParaRPr>
          </a:p>
          <a:p>
            <a:pPr>
              <a:buFont typeface="Wingdings" pitchFamily="2" charset="2"/>
              <a:buChar char="v"/>
            </a:pPr>
            <a:endParaRPr lang="ne-NP" sz="2000" dirty="0">
              <a:cs typeface="Kalimati" panose="00000400000000000000" pitchFamily="2"/>
            </a:endParaRPr>
          </a:p>
          <a:p>
            <a:pPr>
              <a:buFont typeface="Wingdings" pitchFamily="2" charset="2"/>
              <a:buChar char="v"/>
            </a:pPr>
            <a:r>
              <a:rPr lang="ne-NP" sz="2400" dirty="0">
                <a:cs typeface="Kalimati" panose="00000400000000000000" pitchFamily="2"/>
              </a:rPr>
              <a:t>गुठी जग्गाको मोहियानी हक सम्बन्धि विवाद हेर्ने क्षेत्राधिकार गुठी संस्थानलाइ नभई भूमि सुधार अधिकारीलाई हुने  </a:t>
            </a:r>
          </a:p>
          <a:p>
            <a:pPr>
              <a:buNone/>
            </a:pPr>
            <a:r>
              <a:rPr lang="ne-NP" sz="1800" dirty="0">
                <a:cs typeface="Kalimati" panose="00000400000000000000" pitchFamily="2"/>
              </a:rPr>
              <a:t>(नेकाप २०५३</a:t>
            </a:r>
            <a:r>
              <a:rPr lang="en-US" sz="1800" dirty="0">
                <a:cs typeface="Kalimati" panose="00000400000000000000" pitchFamily="2"/>
              </a:rPr>
              <a:t>,</a:t>
            </a:r>
            <a:r>
              <a:rPr lang="ne-NP" sz="1800" dirty="0">
                <a:cs typeface="Kalimati" panose="00000400000000000000" pitchFamily="2"/>
              </a:rPr>
              <a:t> साउन</a:t>
            </a:r>
            <a:r>
              <a:rPr lang="en-US" sz="1800" dirty="0">
                <a:cs typeface="Kalimati" panose="00000400000000000000" pitchFamily="2"/>
              </a:rPr>
              <a:t>,</a:t>
            </a:r>
            <a:r>
              <a:rPr lang="ne-NP" sz="1800" dirty="0">
                <a:cs typeface="Kalimati" panose="00000400000000000000" pitchFamily="2"/>
              </a:rPr>
              <a:t>नि.नं.६१७१</a:t>
            </a:r>
            <a:r>
              <a:rPr lang="en-US" sz="1800" dirty="0">
                <a:cs typeface="Kalimati" panose="00000400000000000000" pitchFamily="2"/>
              </a:rPr>
              <a:t>,</a:t>
            </a:r>
            <a:r>
              <a:rPr lang="ne-NP" sz="1800" dirty="0">
                <a:cs typeface="Kalimati" panose="00000400000000000000" pitchFamily="2"/>
              </a:rPr>
              <a:t> पृष्ठ २८७)(नेकाप २०७०</a:t>
            </a:r>
            <a:r>
              <a:rPr lang="en-US" sz="1800" dirty="0">
                <a:cs typeface="Kalimati" panose="00000400000000000000" pitchFamily="2"/>
              </a:rPr>
              <a:t>,</a:t>
            </a:r>
            <a:r>
              <a:rPr lang="ne-NP" sz="1800" dirty="0">
                <a:cs typeface="Kalimati" panose="00000400000000000000" pitchFamily="2"/>
              </a:rPr>
              <a:t> जेठ</a:t>
            </a:r>
            <a:r>
              <a:rPr lang="en-US" sz="1800" dirty="0">
                <a:cs typeface="Kalimati" panose="00000400000000000000" pitchFamily="2"/>
              </a:rPr>
              <a:t>,</a:t>
            </a:r>
            <a:r>
              <a:rPr lang="ne-NP" sz="1800" dirty="0">
                <a:cs typeface="Kalimati" panose="00000400000000000000" pitchFamily="2"/>
              </a:rPr>
              <a:t> नि.नं.८९५३</a:t>
            </a:r>
            <a:r>
              <a:rPr lang="en-US" sz="1800" dirty="0">
                <a:cs typeface="Kalimati" panose="00000400000000000000" pitchFamily="2"/>
              </a:rPr>
              <a:t>,</a:t>
            </a:r>
            <a:r>
              <a:rPr lang="ne-NP" sz="1800" dirty="0">
                <a:cs typeface="Kalimati" panose="00000400000000000000" pitchFamily="2"/>
              </a:rPr>
              <a:t>पृष्ठ १५८)</a:t>
            </a:r>
          </a:p>
          <a:p>
            <a:pPr>
              <a:buNone/>
            </a:pPr>
            <a:endParaRPr lang="ne-NP" sz="1800" dirty="0">
              <a:cs typeface="Kalimati" panose="00000400000000000000" pitchFamily="2"/>
            </a:endParaRPr>
          </a:p>
          <a:p>
            <a:pPr algn="just">
              <a:buFont typeface="Wingdings" pitchFamily="2" charset="2"/>
              <a:buChar char="v"/>
            </a:pPr>
            <a:r>
              <a:rPr lang="ne-NP" sz="2400" dirty="0">
                <a:cs typeface="Kalimati" panose="00000400000000000000" pitchFamily="2"/>
              </a:rPr>
              <a:t>गुठी जग्गा र रैकर जग्गाको प्रकृति फरक भएकोले फरक प्रकृतिका जग्गामा मोहीको समान अधिकार कायम हुन नसक्ने  </a:t>
            </a:r>
            <a:endParaRPr lang="en-US" sz="2400" dirty="0">
              <a:cs typeface="Kalimati" panose="00000400000000000000" pitchFamily="2"/>
            </a:endParaRPr>
          </a:p>
          <a:p>
            <a:pPr>
              <a:buNone/>
            </a:pPr>
            <a:r>
              <a:rPr lang="ne-NP" sz="2000" dirty="0">
                <a:cs typeface="Kalimati" panose="00000400000000000000" pitchFamily="2"/>
              </a:rPr>
              <a:t>      (नेकाप २०६९</a:t>
            </a:r>
            <a:r>
              <a:rPr lang="en-US" sz="2000" dirty="0">
                <a:cs typeface="Kalimati" panose="00000400000000000000" pitchFamily="2"/>
              </a:rPr>
              <a:t>,</a:t>
            </a:r>
            <a:r>
              <a:rPr lang="ne-NP" sz="2000" dirty="0">
                <a:cs typeface="Kalimati" panose="00000400000000000000" pitchFamily="2"/>
              </a:rPr>
              <a:t> वैशाख</a:t>
            </a:r>
            <a:r>
              <a:rPr lang="en-US" sz="2000" dirty="0">
                <a:cs typeface="Kalimati" panose="00000400000000000000" pitchFamily="2"/>
              </a:rPr>
              <a:t>,</a:t>
            </a:r>
            <a:r>
              <a:rPr lang="ne-NP" sz="2000" dirty="0">
                <a:cs typeface="Kalimati" panose="00000400000000000000" pitchFamily="2"/>
              </a:rPr>
              <a:t>नि.नं.८७४७</a:t>
            </a:r>
            <a:r>
              <a:rPr lang="en-US" sz="2000" dirty="0">
                <a:cs typeface="Kalimati" panose="00000400000000000000" pitchFamily="2"/>
              </a:rPr>
              <a:t>,</a:t>
            </a:r>
            <a:r>
              <a:rPr lang="ne-NP" sz="2000" dirty="0">
                <a:cs typeface="Kalimati" panose="00000400000000000000" pitchFamily="2"/>
              </a:rPr>
              <a:t> पृष्ठ २०)</a:t>
            </a:r>
          </a:p>
          <a:p>
            <a:pPr>
              <a:buFont typeface="Wingdings" pitchFamily="2" charset="2"/>
              <a:buChar char="v"/>
            </a:pPr>
            <a:endParaRPr lang="en-US" sz="2000" dirty="0"/>
          </a:p>
          <a:p>
            <a:pPr>
              <a:buNone/>
            </a:pP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ne-NP" sz="1800"/>
              <a:t>                                                               क्रमश..</a:t>
            </a:r>
            <a:endParaRPr lang="en-US" sz="1800"/>
          </a:p>
        </p:txBody>
      </p:sp>
      <p:sp>
        <p:nvSpPr>
          <p:cNvPr id="3" name="Content Placeholder 2"/>
          <p:cNvSpPr>
            <a:spLocks noGrp="1"/>
          </p:cNvSpPr>
          <p:nvPr>
            <p:ph idx="1"/>
          </p:nvPr>
        </p:nvSpPr>
        <p:spPr>
          <a:xfrm>
            <a:off x="457200" y="1600200"/>
            <a:ext cx="8229600" cy="5105400"/>
          </a:xfrm>
        </p:spPr>
        <p:txBody>
          <a:bodyPr>
            <a:normAutofit lnSpcReduction="10000"/>
          </a:bodyPr>
          <a:lstStyle/>
          <a:p>
            <a:pPr algn="just">
              <a:buFont typeface="Wingdings" pitchFamily="2" charset="2"/>
              <a:buChar char="v"/>
            </a:pPr>
            <a:r>
              <a:rPr lang="ne-NP" sz="2400" dirty="0">
                <a:cs typeface="Kalimati" panose="00000400000000000000" pitchFamily="2"/>
              </a:rPr>
              <a:t>गुठीको हैसियत लोप हुने गरी रैकरमा भएको दर्ता गुठी प्रशासकले जुनसुकै बखत वदर गरी गुठी कायम गर्न सक्ने</a:t>
            </a:r>
          </a:p>
          <a:p>
            <a:pPr algn="just">
              <a:buNone/>
            </a:pPr>
            <a:r>
              <a:rPr lang="ne-NP" sz="2000" dirty="0">
                <a:cs typeface="Kalimati" panose="00000400000000000000" pitchFamily="2"/>
              </a:rPr>
              <a:t>           (नेकाप २०७२</a:t>
            </a:r>
            <a:r>
              <a:rPr lang="en-US" sz="2000" dirty="0">
                <a:cs typeface="Kalimati" panose="00000400000000000000" pitchFamily="2"/>
              </a:rPr>
              <a:t>,</a:t>
            </a:r>
            <a:r>
              <a:rPr lang="ne-NP" sz="2000" dirty="0">
                <a:cs typeface="Kalimati" panose="00000400000000000000" pitchFamily="2"/>
              </a:rPr>
              <a:t> चैत्र </a:t>
            </a:r>
            <a:r>
              <a:rPr lang="en-US" sz="2000" dirty="0">
                <a:cs typeface="Kalimati" panose="00000400000000000000" pitchFamily="2"/>
              </a:rPr>
              <a:t>,</a:t>
            </a:r>
            <a:r>
              <a:rPr lang="ne-NP" sz="2000" dirty="0">
                <a:cs typeface="Kalimati" panose="00000400000000000000" pitchFamily="2"/>
              </a:rPr>
              <a:t>नि.नं.९५०२</a:t>
            </a:r>
            <a:r>
              <a:rPr lang="en-US" sz="2000" dirty="0">
                <a:cs typeface="Kalimati" panose="00000400000000000000" pitchFamily="2"/>
              </a:rPr>
              <a:t>,</a:t>
            </a:r>
            <a:r>
              <a:rPr lang="ne-NP" sz="2000" dirty="0">
                <a:cs typeface="Kalimati" panose="00000400000000000000" pitchFamily="2"/>
              </a:rPr>
              <a:t> पृष्ठ २०४७)</a:t>
            </a:r>
          </a:p>
          <a:p>
            <a:pPr algn="just">
              <a:buNone/>
            </a:pPr>
            <a:endParaRPr lang="ne-NP" sz="2000" dirty="0">
              <a:cs typeface="Kalimati" panose="00000400000000000000" pitchFamily="2"/>
            </a:endParaRPr>
          </a:p>
          <a:p>
            <a:pPr algn="just">
              <a:buFont typeface="Wingdings" pitchFamily="2" charset="2"/>
              <a:buChar char="v"/>
            </a:pPr>
            <a:r>
              <a:rPr lang="ne-NP" sz="2400" dirty="0">
                <a:cs typeface="Kalimati" panose="00000400000000000000" pitchFamily="2"/>
              </a:rPr>
              <a:t>निजी गुठी वा राजगुठी भनी निर्णय गर्ने अधिकार अदालतलाई हुने  </a:t>
            </a:r>
            <a:r>
              <a:rPr lang="ne-NP" sz="1800" dirty="0">
                <a:cs typeface="Kalimati" panose="00000400000000000000" pitchFamily="2"/>
              </a:rPr>
              <a:t>(सं.रामप्रसाद भण्डारी संभव</a:t>
            </a:r>
            <a:r>
              <a:rPr lang="en-US" sz="1800" dirty="0">
                <a:cs typeface="Kalimati" panose="00000400000000000000" pitchFamily="2"/>
              </a:rPr>
              <a:t> ,</a:t>
            </a:r>
            <a:r>
              <a:rPr lang="ne-NP" sz="1800" dirty="0">
                <a:cs typeface="Kalimati" panose="00000400000000000000" pitchFamily="2"/>
              </a:rPr>
              <a:t>गुठी सम्बन्धि केही नजिरहरुको संगालो</a:t>
            </a:r>
            <a:r>
              <a:rPr lang="en-US" sz="1800" dirty="0">
                <a:cs typeface="Kalimati" panose="00000400000000000000" pitchFamily="2"/>
              </a:rPr>
              <a:t>,</a:t>
            </a:r>
            <a:r>
              <a:rPr lang="ne-NP" sz="1800" dirty="0">
                <a:cs typeface="Kalimati" panose="00000400000000000000" pitchFamily="2"/>
              </a:rPr>
              <a:t> दोस्रो संस्करण २०६०</a:t>
            </a:r>
            <a:r>
              <a:rPr lang="en-US" sz="1800" dirty="0">
                <a:cs typeface="Kalimati" panose="00000400000000000000" pitchFamily="2"/>
              </a:rPr>
              <a:t>,</a:t>
            </a:r>
            <a:r>
              <a:rPr lang="ne-NP" sz="1800" dirty="0">
                <a:cs typeface="Kalimati" panose="00000400000000000000" pitchFamily="2"/>
              </a:rPr>
              <a:t> पृ. ४८०)</a:t>
            </a:r>
            <a:endParaRPr lang="en-US" sz="1800" dirty="0">
              <a:cs typeface="Kalimati" panose="00000400000000000000" pitchFamily="2"/>
            </a:endParaRPr>
          </a:p>
          <a:p>
            <a:pPr algn="just">
              <a:buFont typeface="Wingdings" pitchFamily="2" charset="2"/>
              <a:buChar char="v"/>
            </a:pPr>
            <a:endParaRPr lang="en-US" sz="1800" dirty="0">
              <a:cs typeface="Kalimati" panose="00000400000000000000" pitchFamily="2"/>
            </a:endParaRPr>
          </a:p>
          <a:p>
            <a:pPr algn="just">
              <a:buFont typeface="Wingdings" pitchFamily="2" charset="2"/>
              <a:buChar char="v"/>
            </a:pPr>
            <a:r>
              <a:rPr lang="ne-NP" sz="2400" dirty="0">
                <a:cs typeface="Kalimati" panose="00000400000000000000" pitchFamily="2"/>
              </a:rPr>
              <a:t>खान्गिदारलाई मोहियानी हक प्राप्त नहुने </a:t>
            </a:r>
            <a:r>
              <a:rPr lang="ne-NP" sz="1800" dirty="0">
                <a:cs typeface="Kalimati" panose="00000400000000000000" pitchFamily="2"/>
              </a:rPr>
              <a:t>(सं.रामप्रसाद भण्डारी संभव</a:t>
            </a:r>
            <a:r>
              <a:rPr lang="en-US" sz="1800" dirty="0">
                <a:cs typeface="Kalimati" panose="00000400000000000000" pitchFamily="2"/>
              </a:rPr>
              <a:t> ,</a:t>
            </a:r>
            <a:r>
              <a:rPr lang="ne-NP" sz="1800" dirty="0">
                <a:cs typeface="Kalimati" panose="00000400000000000000" pitchFamily="2"/>
              </a:rPr>
              <a:t>गुठी सम्बन्धि केही नजिरहरुको संगालो</a:t>
            </a:r>
            <a:r>
              <a:rPr lang="en-US" sz="1800" dirty="0">
                <a:cs typeface="Kalimati" panose="00000400000000000000" pitchFamily="2"/>
              </a:rPr>
              <a:t>,</a:t>
            </a:r>
            <a:r>
              <a:rPr lang="ne-NP" sz="1800" dirty="0">
                <a:cs typeface="Kalimati" panose="00000400000000000000" pitchFamily="2"/>
              </a:rPr>
              <a:t> दोस्रो संस्करण २०६०</a:t>
            </a:r>
            <a:r>
              <a:rPr lang="en-US" sz="1800" dirty="0">
                <a:cs typeface="Kalimati" panose="00000400000000000000" pitchFamily="2"/>
              </a:rPr>
              <a:t>,</a:t>
            </a:r>
            <a:r>
              <a:rPr lang="ne-NP" sz="1800" dirty="0">
                <a:cs typeface="Kalimati" panose="00000400000000000000" pitchFamily="2"/>
              </a:rPr>
              <a:t> पृ. ५९१)</a:t>
            </a:r>
          </a:p>
          <a:p>
            <a:pPr algn="just">
              <a:buFont typeface="Wingdings" pitchFamily="2" charset="2"/>
              <a:buChar char="v"/>
            </a:pPr>
            <a:endParaRPr lang="ne-NP" sz="1800" dirty="0">
              <a:cs typeface="Kalimati" panose="00000400000000000000" pitchFamily="2"/>
            </a:endParaRPr>
          </a:p>
          <a:p>
            <a:pPr algn="just">
              <a:buFont typeface="Wingdings" pitchFamily="2" charset="2"/>
              <a:buChar char="v"/>
            </a:pPr>
            <a:r>
              <a:rPr lang="ne-NP" sz="2400" dirty="0">
                <a:cs typeface="Kalimati" panose="00000400000000000000" pitchFamily="2"/>
              </a:rPr>
              <a:t>मन्दिर व मन्दिरको परिसर वा गुठीको जग्गामा अनधिकृत रुपमा घर वनाएमा मोहियानी हक प्राप्त नहुने</a:t>
            </a:r>
          </a:p>
          <a:p>
            <a:pPr algn="just">
              <a:buNone/>
            </a:pPr>
            <a:r>
              <a:rPr lang="ne-NP" sz="2400" dirty="0">
                <a:cs typeface="Kalimati" panose="00000400000000000000" pitchFamily="2"/>
              </a:rPr>
              <a:t>     </a:t>
            </a:r>
            <a:r>
              <a:rPr lang="ne-NP" sz="2000" dirty="0">
                <a:cs typeface="Kalimati" panose="00000400000000000000" pitchFamily="2"/>
              </a:rPr>
              <a:t>(नेकाप २०७६</a:t>
            </a:r>
            <a:r>
              <a:rPr lang="en-US" sz="2000" dirty="0">
                <a:cs typeface="Kalimati" panose="00000400000000000000" pitchFamily="2"/>
              </a:rPr>
              <a:t>,</a:t>
            </a:r>
            <a:r>
              <a:rPr lang="ne-NP" sz="2000" dirty="0">
                <a:cs typeface="Kalimati" panose="00000400000000000000" pitchFamily="2"/>
              </a:rPr>
              <a:t> असार </a:t>
            </a:r>
            <a:r>
              <a:rPr lang="en-US" sz="2000" dirty="0">
                <a:cs typeface="Kalimati" panose="00000400000000000000" pitchFamily="2"/>
              </a:rPr>
              <a:t>,</a:t>
            </a:r>
            <a:r>
              <a:rPr lang="ne-NP" sz="2000" dirty="0">
                <a:cs typeface="Kalimati" panose="00000400000000000000" pitchFamily="2"/>
              </a:rPr>
              <a:t>नि.नं.१०२२६</a:t>
            </a:r>
            <a:r>
              <a:rPr lang="en-US" sz="2000" dirty="0">
                <a:cs typeface="Kalimati" panose="00000400000000000000" pitchFamily="2"/>
              </a:rPr>
              <a:t>,</a:t>
            </a:r>
            <a:r>
              <a:rPr lang="ne-NP" sz="2000" dirty="0">
                <a:cs typeface="Kalimati" panose="00000400000000000000" pitchFamily="2"/>
              </a:rPr>
              <a:t> पृष्ठ ६०६)</a:t>
            </a:r>
          </a:p>
          <a:p>
            <a:pPr algn="just">
              <a:buNone/>
            </a:pPr>
            <a:endParaRPr lang="ne-NP" sz="2400" dirty="0">
              <a:cs typeface="Kalimati" panose="00000400000000000000" pitchFamily="2"/>
            </a:endParaRPr>
          </a:p>
          <a:p>
            <a:pPr algn="just">
              <a:buNone/>
            </a:pPr>
            <a:endParaRPr lang="ne-NP" sz="1800" dirty="0">
              <a:cs typeface="Kalimati" panose="00000400000000000000" pitchFamily="2"/>
            </a:endParaRPr>
          </a:p>
          <a:p>
            <a:pPr algn="just">
              <a:buNone/>
            </a:pPr>
            <a:endParaRPr lang="ne-NP" sz="1800" dirty="0">
              <a:cs typeface="Kalimati" panose="00000400000000000000" pitchFamily="2"/>
            </a:endParaRPr>
          </a:p>
          <a:p>
            <a:pPr algn="just">
              <a:buNone/>
            </a:pPr>
            <a:endParaRPr lang="ne-NP" sz="2400" dirty="0">
              <a:cs typeface="Kalimati" panose="00000400000000000000" pitchFamily="2"/>
            </a:endParaRPr>
          </a:p>
          <a:p>
            <a:pPr algn="just"/>
            <a:endParaRPr lang="en-US" sz="2400" dirty="0">
              <a:cs typeface="Kalimati" panose="00000400000000000000" pitchFamily="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ne-NP" sz="1800"/>
              <a:t>                                                  क्रमश...                                              </a:t>
            </a:r>
            <a:endParaRPr lang="en-US" sz="1800"/>
          </a:p>
        </p:txBody>
      </p:sp>
      <p:sp>
        <p:nvSpPr>
          <p:cNvPr id="3" name="Content Placeholder 2"/>
          <p:cNvSpPr>
            <a:spLocks noGrp="1"/>
          </p:cNvSpPr>
          <p:nvPr>
            <p:ph idx="1"/>
          </p:nvPr>
        </p:nvSpPr>
        <p:spPr>
          <a:xfrm>
            <a:off x="457200" y="990600"/>
            <a:ext cx="8229600" cy="5135563"/>
          </a:xfrm>
        </p:spPr>
        <p:txBody>
          <a:bodyPr/>
          <a:lstStyle/>
          <a:p>
            <a:pPr>
              <a:buFont typeface="Wingdings" pitchFamily="2" charset="2"/>
              <a:buChar char="v"/>
            </a:pPr>
            <a:r>
              <a:rPr lang="ne-NP" dirty="0"/>
              <a:t> </a:t>
            </a:r>
            <a:r>
              <a:rPr lang="ne-NP" sz="2400" dirty="0">
                <a:cs typeface="Kalimati" panose="00000400000000000000" pitchFamily="2"/>
              </a:rPr>
              <a:t>छुट गुठीलाई निजी गुठीमा परिणत भएको मान्‍न नमिल्ने</a:t>
            </a:r>
          </a:p>
          <a:p>
            <a:pPr>
              <a:buNone/>
            </a:pPr>
            <a:r>
              <a:rPr lang="ne-NP" sz="2400" dirty="0">
                <a:cs typeface="Kalimati" panose="00000400000000000000" pitchFamily="2"/>
              </a:rPr>
              <a:t>     </a:t>
            </a:r>
            <a:r>
              <a:rPr lang="ne-NP" sz="2000" dirty="0">
                <a:cs typeface="Kalimati" panose="00000400000000000000" pitchFamily="2"/>
              </a:rPr>
              <a:t>(नेकाप २०४५</a:t>
            </a:r>
            <a:r>
              <a:rPr lang="en-US" sz="2000" dirty="0">
                <a:cs typeface="Kalimati" panose="00000400000000000000" pitchFamily="2"/>
              </a:rPr>
              <a:t>,</a:t>
            </a:r>
            <a:r>
              <a:rPr lang="ne-NP" sz="2000" dirty="0">
                <a:cs typeface="Kalimati" panose="00000400000000000000" pitchFamily="2"/>
              </a:rPr>
              <a:t> नि.नं.३४९१/ नरेन्द्रबिक्रम सिंह थापा वि गुठी संस्थान)</a:t>
            </a:r>
          </a:p>
          <a:p>
            <a:pPr>
              <a:buNone/>
            </a:pPr>
            <a:endParaRPr lang="ne-NP" sz="2000" dirty="0">
              <a:cs typeface="Kalimati" panose="00000400000000000000" pitchFamily="2"/>
            </a:endParaRPr>
          </a:p>
          <a:p>
            <a:pPr>
              <a:buFont typeface="Wingdings" pitchFamily="2" charset="2"/>
              <a:buChar char="v"/>
            </a:pPr>
            <a:r>
              <a:rPr lang="ne-NP" sz="2400" dirty="0">
                <a:cs typeface="Kalimati" panose="00000400000000000000" pitchFamily="2"/>
              </a:rPr>
              <a:t>गुठीको जग्गा खान्गिदारको नाममा रैतान नम्वरी दर्ता गर्न नमिल्ने</a:t>
            </a:r>
          </a:p>
          <a:p>
            <a:pPr>
              <a:buNone/>
            </a:pPr>
            <a:r>
              <a:rPr lang="ne-NP" sz="2000" dirty="0">
                <a:cs typeface="Kalimati" panose="00000400000000000000" pitchFamily="2"/>
              </a:rPr>
              <a:t>   (नेकाप २०४८</a:t>
            </a:r>
            <a:r>
              <a:rPr lang="en-US" sz="2000" dirty="0">
                <a:cs typeface="Kalimati" panose="00000400000000000000" pitchFamily="2"/>
              </a:rPr>
              <a:t>,</a:t>
            </a:r>
            <a:r>
              <a:rPr lang="ne-NP" sz="2000" dirty="0">
                <a:cs typeface="Kalimati" panose="00000400000000000000" pitchFamily="2"/>
              </a:rPr>
              <a:t> चैत्र </a:t>
            </a:r>
            <a:r>
              <a:rPr lang="en-US" sz="2000" dirty="0">
                <a:cs typeface="Kalimati" panose="00000400000000000000" pitchFamily="2"/>
              </a:rPr>
              <a:t>,</a:t>
            </a:r>
            <a:r>
              <a:rPr lang="ne-NP" sz="2000" dirty="0">
                <a:cs typeface="Kalimati" panose="00000400000000000000" pitchFamily="2"/>
              </a:rPr>
              <a:t>नि.नं.४३९१/ चन्द्रकुमार पालिखे वि गुठी संस्थान)</a:t>
            </a:r>
          </a:p>
          <a:p>
            <a:pPr>
              <a:buNone/>
            </a:pPr>
            <a:endParaRPr lang="ne-NP" sz="2000" dirty="0">
              <a:cs typeface="Kalimati" panose="00000400000000000000" pitchFamily="2"/>
            </a:endParaRPr>
          </a:p>
          <a:p>
            <a:pPr algn="just">
              <a:buFont typeface="Wingdings" pitchFamily="2" charset="2"/>
              <a:buChar char="v"/>
            </a:pPr>
            <a:r>
              <a:rPr lang="ne-NP" sz="2400" dirty="0">
                <a:cs typeface="Kalimati" panose="00000400000000000000" pitchFamily="2"/>
              </a:rPr>
              <a:t>गुठी संस्थान ऐन</a:t>
            </a:r>
            <a:r>
              <a:rPr lang="en-US" sz="2400" dirty="0">
                <a:cs typeface="Kalimati" panose="00000400000000000000" pitchFamily="2"/>
              </a:rPr>
              <a:t>,</a:t>
            </a:r>
            <a:r>
              <a:rPr lang="ne-NP" sz="2400" dirty="0">
                <a:cs typeface="Kalimati" panose="00000400000000000000" pitchFamily="2"/>
              </a:rPr>
              <a:t> २०२१ जारी हुदाका अवस्थामा राजगुठीको जग्गामा कसैलाई कुनै हक नरहे सरह मान्‍नु पर्ने हुदा त्यस्तो जग्गामा कसैको मोही हक कायम रहन नसक्ने</a:t>
            </a:r>
          </a:p>
          <a:p>
            <a:pPr algn="just">
              <a:buNone/>
            </a:pPr>
            <a:r>
              <a:rPr lang="ne-NP" sz="2400" dirty="0">
                <a:cs typeface="Kalimati" panose="00000400000000000000" pitchFamily="2"/>
              </a:rPr>
              <a:t>     </a:t>
            </a:r>
            <a:r>
              <a:rPr lang="ne-NP" sz="2000" dirty="0">
                <a:cs typeface="Kalimati" panose="00000400000000000000" pitchFamily="2"/>
              </a:rPr>
              <a:t>(नेकाप २०७६</a:t>
            </a:r>
            <a:r>
              <a:rPr lang="en-US" sz="2000" dirty="0">
                <a:cs typeface="Kalimati" panose="00000400000000000000" pitchFamily="2"/>
              </a:rPr>
              <a:t>,</a:t>
            </a:r>
            <a:r>
              <a:rPr lang="ne-NP" sz="2000" dirty="0">
                <a:cs typeface="Kalimati" panose="00000400000000000000" pitchFamily="2"/>
              </a:rPr>
              <a:t> साउन </a:t>
            </a:r>
            <a:r>
              <a:rPr lang="en-US" sz="2000" dirty="0">
                <a:cs typeface="Kalimati" panose="00000400000000000000" pitchFamily="2"/>
              </a:rPr>
              <a:t>,</a:t>
            </a:r>
            <a:r>
              <a:rPr lang="ne-NP" sz="2000" dirty="0">
                <a:cs typeface="Kalimati" panose="00000400000000000000" pitchFamily="2"/>
              </a:rPr>
              <a:t>नि.नं.१०२३१</a:t>
            </a:r>
            <a:r>
              <a:rPr lang="en-US" sz="2000" dirty="0">
                <a:cs typeface="Kalimati" panose="00000400000000000000" pitchFamily="2"/>
              </a:rPr>
              <a:t>,</a:t>
            </a:r>
            <a:r>
              <a:rPr lang="ne-NP" sz="2000" dirty="0">
                <a:cs typeface="Kalimati" panose="00000400000000000000" pitchFamily="2"/>
              </a:rPr>
              <a:t> पृष्ठ ६७१)</a:t>
            </a:r>
          </a:p>
          <a:p>
            <a:pPr algn="just">
              <a:buNone/>
            </a:pPr>
            <a:endParaRPr lang="ne-NP"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a:bodyPr>
          <a:lstStyle/>
          <a:p>
            <a:r>
              <a:rPr lang="ne-NP" sz="1800"/>
              <a:t>                                                           क्रमश...</a:t>
            </a:r>
            <a:endParaRPr lang="en-US" sz="1800"/>
          </a:p>
        </p:txBody>
      </p:sp>
      <p:sp>
        <p:nvSpPr>
          <p:cNvPr id="3" name="Content Placeholder 2"/>
          <p:cNvSpPr>
            <a:spLocks noGrp="1"/>
          </p:cNvSpPr>
          <p:nvPr>
            <p:ph idx="1"/>
          </p:nvPr>
        </p:nvSpPr>
        <p:spPr>
          <a:xfrm>
            <a:off x="457200" y="838200"/>
            <a:ext cx="8229600" cy="5287963"/>
          </a:xfrm>
        </p:spPr>
        <p:txBody>
          <a:bodyPr>
            <a:normAutofit/>
          </a:bodyPr>
          <a:lstStyle/>
          <a:p>
            <a:pPr algn="just">
              <a:buFont typeface="Wingdings" pitchFamily="2" charset="2"/>
              <a:buChar char="v"/>
            </a:pPr>
            <a:endParaRPr lang="ne-NP" sz="2000" dirty="0">
              <a:cs typeface="Kalimati" panose="00000400000000000000" pitchFamily="2"/>
            </a:endParaRPr>
          </a:p>
          <a:p>
            <a:pPr algn="just">
              <a:buFont typeface="Wingdings" pitchFamily="2" charset="2"/>
              <a:buChar char="v"/>
            </a:pPr>
            <a:r>
              <a:rPr lang="ne-NP" sz="2400" dirty="0">
                <a:cs typeface="Kalimati" panose="00000400000000000000" pitchFamily="2"/>
              </a:rPr>
              <a:t>गुठी अधिनस्थ  जग्गाको मोही हक खरिद</a:t>
            </a:r>
            <a:r>
              <a:rPr lang="en-US" sz="2400" dirty="0">
                <a:cs typeface="Kalimati" panose="00000400000000000000" pitchFamily="2"/>
              </a:rPr>
              <a:t>,</a:t>
            </a:r>
            <a:r>
              <a:rPr lang="ne-NP" sz="2400" dirty="0">
                <a:cs typeface="Kalimati" panose="00000400000000000000" pitchFamily="2"/>
              </a:rPr>
              <a:t> बिक्री</a:t>
            </a:r>
            <a:r>
              <a:rPr lang="en-US" sz="2400" dirty="0">
                <a:cs typeface="Kalimati" panose="00000400000000000000" pitchFamily="2"/>
              </a:rPr>
              <a:t>,</a:t>
            </a:r>
            <a:r>
              <a:rPr lang="ne-NP" sz="2400" dirty="0">
                <a:cs typeface="Kalimati" panose="00000400000000000000" pitchFamily="2"/>
              </a:rPr>
              <a:t> अंशबण्डा</a:t>
            </a:r>
            <a:r>
              <a:rPr lang="en-US" sz="2400" dirty="0">
                <a:cs typeface="Kalimati" panose="00000400000000000000" pitchFamily="2"/>
              </a:rPr>
              <a:t>,</a:t>
            </a:r>
            <a:r>
              <a:rPr lang="ne-NP" sz="2400" dirty="0">
                <a:cs typeface="Kalimati" panose="00000400000000000000" pitchFamily="2"/>
              </a:rPr>
              <a:t> हक हस्तान्तरण एवं कित्ताकाट समेत हुन सक्ने</a:t>
            </a:r>
          </a:p>
          <a:p>
            <a:pPr algn="just">
              <a:buNone/>
            </a:pPr>
            <a:r>
              <a:rPr lang="ne-NP" sz="2000" dirty="0">
                <a:cs typeface="Kalimati" panose="00000400000000000000" pitchFamily="2"/>
              </a:rPr>
              <a:t>     (नेकाप २०७५</a:t>
            </a:r>
            <a:r>
              <a:rPr lang="en-US" sz="2000" dirty="0">
                <a:cs typeface="Kalimati" panose="00000400000000000000" pitchFamily="2"/>
              </a:rPr>
              <a:t>,</a:t>
            </a:r>
            <a:r>
              <a:rPr lang="ne-NP" sz="2000" dirty="0">
                <a:cs typeface="Kalimati" panose="00000400000000000000" pitchFamily="2"/>
              </a:rPr>
              <a:t>साउन</a:t>
            </a:r>
            <a:r>
              <a:rPr lang="en-US" sz="2000" dirty="0">
                <a:cs typeface="Kalimati" panose="00000400000000000000" pitchFamily="2"/>
              </a:rPr>
              <a:t>,</a:t>
            </a:r>
            <a:r>
              <a:rPr lang="ne-NP" sz="2000" dirty="0">
                <a:cs typeface="Kalimati" panose="00000400000000000000" pitchFamily="2"/>
              </a:rPr>
              <a:t>नि.नं.९९८७</a:t>
            </a:r>
            <a:r>
              <a:rPr lang="en-US" sz="2000" dirty="0">
                <a:cs typeface="Kalimati" panose="00000400000000000000" pitchFamily="2"/>
              </a:rPr>
              <a:t>,</a:t>
            </a:r>
            <a:r>
              <a:rPr lang="ne-NP" sz="2000" dirty="0">
                <a:cs typeface="Kalimati" panose="00000400000000000000" pitchFamily="2"/>
              </a:rPr>
              <a:t> पृष्ठ ६५५)</a:t>
            </a:r>
          </a:p>
          <a:p>
            <a:pPr algn="just">
              <a:buFont typeface="Wingdings" panose="05000000000000000000" pitchFamily="2" charset="2"/>
              <a:buChar char="v"/>
            </a:pPr>
            <a:r>
              <a:rPr lang="ne-NP" sz="2400" dirty="0">
                <a:cs typeface="Kalimati" panose="00000400000000000000" pitchFamily="2"/>
              </a:rPr>
              <a:t>राजा वा रानीबाट देव-देवताको नाममा सनद, लालमोहर गरी राखिएको र श्री ५ को सरकार तर्फ गुठी जाँच अड्‌डामा दर्ता भएको गुठी राजगुठी हुने   </a:t>
            </a:r>
            <a:r>
              <a:rPr lang="ne-NP" sz="2000" dirty="0">
                <a:cs typeface="Kalimati" panose="00000400000000000000" pitchFamily="2"/>
              </a:rPr>
              <a:t>(नेकाप २०२२, वैशाख ,नि.नं.३०४)</a:t>
            </a:r>
          </a:p>
          <a:p>
            <a:pPr algn="just">
              <a:buFont typeface="Wingdings" panose="05000000000000000000" pitchFamily="2" charset="2"/>
              <a:buChar char="v"/>
            </a:pPr>
            <a:r>
              <a:rPr lang="ne-NP" sz="2400" dirty="0">
                <a:cs typeface="Kalimati" panose="00000400000000000000" pitchFamily="2"/>
              </a:rPr>
              <a:t>मठ मन्दिरको महन्तलाई धर्मलोप लगायत सो सम्बन्धित गुठिको विषयमा मुद्दा चलाउने अख्तियार प्राप्‍त हुने</a:t>
            </a:r>
          </a:p>
          <a:p>
            <a:pPr algn="just">
              <a:buNone/>
            </a:pPr>
            <a:r>
              <a:rPr lang="ne-NP" sz="2000" dirty="0">
                <a:cs typeface="Kalimati" panose="00000400000000000000" pitchFamily="2"/>
              </a:rPr>
              <a:t> (नेकाप २०२७, वैशाख ,नि.नं.५६३)/(नेकाप २०४६, साउन ,नि.नं.३८०४)</a:t>
            </a:r>
          </a:p>
          <a:p>
            <a:pPr algn="just">
              <a:buNone/>
            </a:pPr>
            <a:endParaRPr lang="ne-NP" sz="2400" dirty="0">
              <a:cs typeface="Kalimati" panose="00000400000000000000" pitchFamily="2"/>
            </a:endParaRPr>
          </a:p>
          <a:p>
            <a:pPr algn="just">
              <a:buNone/>
            </a:pPr>
            <a:endParaRPr lang="ne-NP" sz="2400" dirty="0">
              <a:cs typeface="Kalimati" panose="00000400000000000000" pitchFamily="2"/>
            </a:endParaRPr>
          </a:p>
          <a:p>
            <a:pPr algn="just">
              <a:buNone/>
            </a:pPr>
            <a:endParaRPr lang="ne-NP"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72ED8-F4AF-365F-B983-25491BC4E9AD}"/>
              </a:ext>
            </a:extLst>
          </p:cNvPr>
          <p:cNvSpPr>
            <a:spLocks noGrp="1"/>
          </p:cNvSpPr>
          <p:nvPr>
            <p:ph type="title"/>
          </p:nvPr>
        </p:nvSpPr>
        <p:spPr>
          <a:xfrm>
            <a:off x="457200" y="274638"/>
            <a:ext cx="8229600" cy="457199"/>
          </a:xfrm>
        </p:spPr>
        <p:txBody>
          <a:bodyPr>
            <a:normAutofit/>
          </a:bodyPr>
          <a:lstStyle/>
          <a:p>
            <a:r>
              <a:rPr lang="ne-NP" sz="1800" dirty="0">
                <a:cs typeface="Kalimati" panose="00000400000000000000" pitchFamily="2"/>
              </a:rPr>
              <a:t>                                                          क्रमश...</a:t>
            </a:r>
            <a:endParaRPr lang="en-US" sz="1800" dirty="0">
              <a:cs typeface="Kalimati" panose="00000400000000000000" pitchFamily="2"/>
            </a:endParaRPr>
          </a:p>
        </p:txBody>
      </p:sp>
      <p:sp>
        <p:nvSpPr>
          <p:cNvPr id="3" name="Content Placeholder 2">
            <a:extLst>
              <a:ext uri="{FF2B5EF4-FFF2-40B4-BE49-F238E27FC236}">
                <a16:creationId xmlns:a16="http://schemas.microsoft.com/office/drawing/2014/main" id="{21A98EA5-13D8-FE38-CD25-D807382A2A7B}"/>
              </a:ext>
            </a:extLst>
          </p:cNvPr>
          <p:cNvSpPr>
            <a:spLocks noGrp="1"/>
          </p:cNvSpPr>
          <p:nvPr>
            <p:ph idx="1"/>
          </p:nvPr>
        </p:nvSpPr>
        <p:spPr>
          <a:xfrm>
            <a:off x="457200" y="1143000"/>
            <a:ext cx="8229600" cy="4983163"/>
          </a:xfrm>
        </p:spPr>
        <p:txBody>
          <a:bodyPr>
            <a:normAutofit/>
          </a:bodyPr>
          <a:lstStyle/>
          <a:p>
            <a:pPr algn="just"/>
            <a:r>
              <a:rPr lang="ne-NP" sz="2400" dirty="0">
                <a:cs typeface="Kalimati" panose="00000400000000000000" pitchFamily="2"/>
              </a:rPr>
              <a:t>निजी गुठीको जग्गा मोही र जग्गा धनी विच बाँडफाँड हुदा मोहीको भागको जग्गाको स्रेस्तामा निजी गुठी उल्लेख गर्न नहुने</a:t>
            </a:r>
          </a:p>
          <a:p>
            <a:pPr marL="0" indent="0" algn="just">
              <a:buNone/>
            </a:pPr>
            <a:r>
              <a:rPr lang="ne-NP" sz="2000" i="1" dirty="0">
                <a:cs typeface="Kalimati" panose="00000400000000000000" pitchFamily="2"/>
              </a:rPr>
              <a:t>(न्हुच्छे नारायण महर्जनको मुद्दा सकार गर्ने मंगलमाया महर्जन वि. मालपोत कार्यालय</a:t>
            </a:r>
            <a:r>
              <a:rPr lang="en-US" sz="2000" i="1" dirty="0">
                <a:cs typeface="Kalimati" panose="00000400000000000000" pitchFamily="2"/>
              </a:rPr>
              <a:t>,</a:t>
            </a:r>
            <a:r>
              <a:rPr lang="ne-NP" sz="2000" i="1" dirty="0">
                <a:cs typeface="Kalimati" panose="00000400000000000000" pitchFamily="2"/>
              </a:rPr>
              <a:t> मनमैजु</a:t>
            </a:r>
            <a:r>
              <a:rPr lang="en-US" sz="2000" i="1" dirty="0">
                <a:cs typeface="Kalimati" panose="00000400000000000000" pitchFamily="2"/>
              </a:rPr>
              <a:t>,</a:t>
            </a:r>
            <a:r>
              <a:rPr lang="ne-NP" sz="2000" i="1" dirty="0">
                <a:cs typeface="Kalimati" panose="00000400000000000000" pitchFamily="2"/>
              </a:rPr>
              <a:t> काठमाडौं / ०७८-</a:t>
            </a:r>
            <a:r>
              <a:rPr lang="en-US" sz="2000" i="1" dirty="0">
                <a:cs typeface="Kalimati" panose="00000400000000000000" pitchFamily="2"/>
              </a:rPr>
              <a:t>C1</a:t>
            </a:r>
            <a:r>
              <a:rPr lang="ne-NP" sz="2000" i="1" dirty="0">
                <a:cs typeface="Kalimati" panose="00000400000000000000" pitchFamily="2"/>
              </a:rPr>
              <a:t>-०३४४/उत्प्रेषण/ २०७६/११/०७</a:t>
            </a:r>
          </a:p>
          <a:p>
            <a:pPr marL="0" indent="0" algn="just">
              <a:buNone/>
            </a:pPr>
            <a:endParaRPr lang="ne-NP" sz="2000" i="1" dirty="0">
              <a:cs typeface="Kalimati" panose="00000400000000000000" pitchFamily="2"/>
            </a:endParaRPr>
          </a:p>
          <a:p>
            <a:pPr algn="just"/>
            <a:r>
              <a:rPr lang="ne-NP" sz="2400" i="1" dirty="0">
                <a:cs typeface="Kalimati" panose="00000400000000000000" pitchFamily="2"/>
              </a:rPr>
              <a:t>गुठी जग्गामा घर निर्माण गर्ने स्वीकृति गा.वि.स.(स्थानीय तह) ले दिन नसक्ने</a:t>
            </a:r>
          </a:p>
          <a:p>
            <a:pPr marL="0" indent="0" algn="just">
              <a:buNone/>
            </a:pPr>
            <a:r>
              <a:rPr lang="ne-NP" sz="2000" i="1" dirty="0">
                <a:cs typeface="Kalimati" panose="00000400000000000000" pitchFamily="2"/>
              </a:rPr>
              <a:t>  (अचल सम्पत्ति सम्बन्धी केहि महत्वपूर्ण नजिरहरु (भाग-६),पृ.२७९, सर्वोच्च अदालत, २०६३)</a:t>
            </a:r>
          </a:p>
          <a:p>
            <a:pPr marL="0" indent="0" algn="just">
              <a:buNone/>
            </a:pPr>
            <a:endParaRPr lang="ne-NP" sz="2000" i="1" dirty="0">
              <a:cs typeface="Kalimati" panose="00000400000000000000" pitchFamily="2"/>
            </a:endParaRPr>
          </a:p>
          <a:p>
            <a:pPr marL="0" indent="0" algn="just">
              <a:buNone/>
            </a:pPr>
            <a:endParaRPr lang="en-US" sz="2000" i="1" dirty="0">
              <a:cs typeface="Kalimati" panose="00000400000000000000" pitchFamily="2"/>
            </a:endParaRPr>
          </a:p>
        </p:txBody>
      </p:sp>
    </p:spTree>
    <p:extLst>
      <p:ext uri="{BB962C8B-B14F-4D97-AF65-F5344CB8AC3E}">
        <p14:creationId xmlns:p14="http://schemas.microsoft.com/office/powerpoint/2010/main" val="3909789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lang="en-US"/>
          </a:p>
        </p:txBody>
      </p:sp>
      <p:pic>
        <p:nvPicPr>
          <p:cNvPr id="3" name="Picture 2"/>
          <p:cNvPicPr>
            <a:picLocks noChangeAspect="1"/>
          </p:cNvPicPr>
          <p:nvPr/>
        </p:nvPicPr>
        <p:blipFill>
          <a:blip r:embed="rId2"/>
          <a:stretch>
            <a:fillRect/>
          </a:stretch>
        </p:blipFill>
        <p:spPr>
          <a:xfrm>
            <a:off x="-152400" y="1417638"/>
            <a:ext cx="9144793" cy="3810330"/>
          </a:xfrm>
          <a:prstGeom prst="rect">
            <a:avLst/>
          </a:prstGeom>
        </p:spPr>
      </p:pic>
    </p:spTree>
    <p:extLst>
      <p:ext uri="{BB962C8B-B14F-4D97-AF65-F5344CB8AC3E}">
        <p14:creationId xmlns:p14="http://schemas.microsoft.com/office/powerpoint/2010/main" val="4279925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5707</TotalTime>
  <Words>2792</Words>
  <Application>Microsoft Office PowerPoint</Application>
  <PresentationFormat>On-screen Show (4:3)</PresentationFormat>
  <Paragraphs>284</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Kalimati</vt:lpstr>
      <vt:lpstr>Mangai</vt:lpstr>
      <vt:lpstr>Wingdings</vt:lpstr>
      <vt:lpstr>Office Theme</vt:lpstr>
      <vt:lpstr>गुठी सम्बन्धी कानूनी व्यवस्था                                          राजु खतिवडा  (</vt:lpstr>
      <vt:lpstr>परिचय</vt:lpstr>
      <vt:lpstr>                                                                              क्रमश...                     </vt:lpstr>
      <vt:lpstr>ऐतिहासिक पृष्ठभूमी</vt:lpstr>
      <vt:lpstr>गुठी सम्बन्धी कानूनी व्यवस्था</vt:lpstr>
      <vt:lpstr>मुलुकी ऐन, १९१० – दत्त गुठीको महल (१-२७ नं.)</vt:lpstr>
      <vt:lpstr>                                                                         क्रमश...</vt:lpstr>
      <vt:lpstr>गुठी संस्थान ऐन, २०२९                               </vt:lpstr>
      <vt:lpstr> गुठी संस्थान ऐन, २०३३</vt:lpstr>
      <vt:lpstr>संवैधानिक व्यवस्था</vt:lpstr>
      <vt:lpstr>गुठीका प्रकार</vt:lpstr>
      <vt:lpstr>राजगुठी</vt:lpstr>
      <vt:lpstr>राजगुठी जग्गाका प्रकार</vt:lpstr>
      <vt:lpstr> गुठी तैनाथी जग्गा</vt:lpstr>
      <vt:lpstr>                                                         क्रमश...</vt:lpstr>
      <vt:lpstr>गुठी अधीनस्त जग्गा</vt:lpstr>
      <vt:lpstr>गुठी नम्वरी  जग्गा</vt:lpstr>
      <vt:lpstr>गुठी रैतान नम्वरी जग्गा</vt:lpstr>
      <vt:lpstr>                                                           क्रमश...</vt:lpstr>
      <vt:lpstr>गुठी जग्गामा मोहियानी</vt:lpstr>
      <vt:lpstr>                                                                क्रमश...</vt:lpstr>
      <vt:lpstr>गुठी जग्गाको मालपोत</vt:lpstr>
      <vt:lpstr>धर्मलोप गर्नेलाई सजाय</vt:lpstr>
      <vt:lpstr>विविध व्यवस्था</vt:lpstr>
      <vt:lpstr>मुलुकी देवानी संहिता, २०७४ (परिच्छेद-६ /गुठी सम्बन्धी व्यवस्था)</vt:lpstr>
      <vt:lpstr>                                                    क्रमश...</vt:lpstr>
      <vt:lpstr>                                                               क्रमश...</vt:lpstr>
      <vt:lpstr>गुठी सम्पत्तिको स्वामित्व कायम गर्नु पर्ने</vt:lpstr>
      <vt:lpstr>                                                            क्रमश...</vt:lpstr>
      <vt:lpstr>मुद्दा गर्ने हदम्याद (दफा ३५१)</vt:lpstr>
      <vt:lpstr>केहि न्यायिक दृष्टिकोण</vt:lpstr>
      <vt:lpstr>                                                                क्रमश...</vt:lpstr>
      <vt:lpstr>                                                       क्रमश..</vt:lpstr>
      <vt:lpstr>                                                               क्रमश..</vt:lpstr>
      <vt:lpstr>                                                  क्रमश...                                              </vt:lpstr>
      <vt:lpstr>                                                           क्रमश...</vt:lpstr>
      <vt:lpstr>                                                          क्रमश...</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फौजदारी कार्यविधि संहिताका मूलभूत विशेषताहरु</dc:title>
  <dc:creator>acer</dc:creator>
  <cp:lastModifiedBy>Aakash</cp:lastModifiedBy>
  <cp:revision>1166</cp:revision>
  <dcterms:created xsi:type="dcterms:W3CDTF">2017-12-30T14:41:48Z</dcterms:created>
  <dcterms:modified xsi:type="dcterms:W3CDTF">2026-01-18T02:07:51Z</dcterms:modified>
</cp:coreProperties>
</file>