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03" r:id="rId3"/>
    <p:sldId id="257" r:id="rId4"/>
    <p:sldId id="277" r:id="rId5"/>
    <p:sldId id="278" r:id="rId6"/>
    <p:sldId id="279" r:id="rId7"/>
    <p:sldId id="280" r:id="rId8"/>
    <p:sldId id="281" r:id="rId9"/>
    <p:sldId id="282" r:id="rId10"/>
    <p:sldId id="283" r:id="rId11"/>
    <p:sldId id="259" r:id="rId12"/>
    <p:sldId id="294" r:id="rId13"/>
    <p:sldId id="295" r:id="rId14"/>
    <p:sldId id="305" r:id="rId15"/>
    <p:sldId id="260" r:id="rId16"/>
    <p:sldId id="261" r:id="rId17"/>
    <p:sldId id="262" r:id="rId18"/>
    <p:sldId id="263" r:id="rId19"/>
    <p:sldId id="264" r:id="rId20"/>
    <p:sldId id="265" r:id="rId21"/>
    <p:sldId id="266" r:id="rId22"/>
    <p:sldId id="267" r:id="rId23"/>
    <p:sldId id="268" r:id="rId24"/>
    <p:sldId id="304" r:id="rId25"/>
    <p:sldId id="296" r:id="rId26"/>
    <p:sldId id="297" r:id="rId27"/>
    <p:sldId id="298" r:id="rId28"/>
    <p:sldId id="299" r:id="rId29"/>
    <p:sldId id="300" r:id="rId30"/>
    <p:sldId id="272" r:id="rId31"/>
    <p:sldId id="290" r:id="rId32"/>
    <p:sldId id="291" r:id="rId33"/>
    <p:sldId id="292" r:id="rId34"/>
    <p:sldId id="293" r:id="rId35"/>
    <p:sldId id="285" r:id="rId36"/>
    <p:sldId id="286" r:id="rId37"/>
    <p:sldId id="287" r:id="rId38"/>
    <p:sldId id="288" r:id="rId39"/>
    <p:sldId id="289" r:id="rId40"/>
    <p:sldId id="301" r:id="rId41"/>
    <p:sldId id="302"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6" d="100"/>
          <a:sy n="66" d="100"/>
        </p:scale>
        <p:origin x="1330" y="50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DE3B032-39AC-40BC-83F3-FDF3DC45ABDC}" type="datetimeFigureOut">
              <a:rPr lang="en-US" smtClean="0"/>
              <a:t>1/14/2026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DD42A8-6B22-49B5-A599-1A074A910B4D}" type="slidenum">
              <a:rPr lang="en-US" smtClean="0"/>
              <a:t>‹#›</a:t>
            </a:fld>
            <a:endParaRPr lang="en-US"/>
          </a:p>
        </p:txBody>
      </p:sp>
    </p:spTree>
    <p:extLst>
      <p:ext uri="{BB962C8B-B14F-4D97-AF65-F5344CB8AC3E}">
        <p14:creationId xmlns:p14="http://schemas.microsoft.com/office/powerpoint/2010/main" val="1040814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DE3B032-39AC-40BC-83F3-FDF3DC45ABDC}" type="datetimeFigureOut">
              <a:rPr lang="en-US" smtClean="0"/>
              <a:t>1/14/2026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DD42A8-6B22-49B5-A599-1A074A910B4D}" type="slidenum">
              <a:rPr lang="en-US" smtClean="0"/>
              <a:t>‹#›</a:t>
            </a:fld>
            <a:endParaRPr lang="en-US"/>
          </a:p>
        </p:txBody>
      </p:sp>
    </p:spTree>
    <p:extLst>
      <p:ext uri="{BB962C8B-B14F-4D97-AF65-F5344CB8AC3E}">
        <p14:creationId xmlns:p14="http://schemas.microsoft.com/office/powerpoint/2010/main" val="33166992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DE3B032-39AC-40BC-83F3-FDF3DC45ABDC}" type="datetimeFigureOut">
              <a:rPr lang="en-US" smtClean="0"/>
              <a:t>1/14/2026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DD42A8-6B22-49B5-A599-1A074A910B4D}" type="slidenum">
              <a:rPr lang="en-US" smtClean="0"/>
              <a:t>‹#›</a:t>
            </a:fld>
            <a:endParaRPr lang="en-US"/>
          </a:p>
        </p:txBody>
      </p:sp>
    </p:spTree>
    <p:extLst>
      <p:ext uri="{BB962C8B-B14F-4D97-AF65-F5344CB8AC3E}">
        <p14:creationId xmlns:p14="http://schemas.microsoft.com/office/powerpoint/2010/main" val="3510324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DE3B032-39AC-40BC-83F3-FDF3DC45ABDC}" type="datetimeFigureOut">
              <a:rPr lang="en-US" smtClean="0"/>
              <a:t>1/14/2026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DD42A8-6B22-49B5-A599-1A074A910B4D}" type="slidenum">
              <a:rPr lang="en-US" smtClean="0"/>
              <a:t>‹#›</a:t>
            </a:fld>
            <a:endParaRPr lang="en-US"/>
          </a:p>
        </p:txBody>
      </p:sp>
    </p:spTree>
    <p:extLst>
      <p:ext uri="{BB962C8B-B14F-4D97-AF65-F5344CB8AC3E}">
        <p14:creationId xmlns:p14="http://schemas.microsoft.com/office/powerpoint/2010/main" val="3845540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DE3B032-39AC-40BC-83F3-FDF3DC45ABDC}" type="datetimeFigureOut">
              <a:rPr lang="en-US" smtClean="0"/>
              <a:t>1/14/2026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7DD42A8-6B22-49B5-A599-1A074A910B4D}" type="slidenum">
              <a:rPr lang="en-US" smtClean="0"/>
              <a:t>‹#›</a:t>
            </a:fld>
            <a:endParaRPr lang="en-US"/>
          </a:p>
        </p:txBody>
      </p:sp>
    </p:spTree>
    <p:extLst>
      <p:ext uri="{BB962C8B-B14F-4D97-AF65-F5344CB8AC3E}">
        <p14:creationId xmlns:p14="http://schemas.microsoft.com/office/powerpoint/2010/main" val="19746252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DE3B032-39AC-40BC-83F3-FDF3DC45ABDC}" type="datetimeFigureOut">
              <a:rPr lang="en-US" smtClean="0"/>
              <a:t>1/14/2026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7DD42A8-6B22-49B5-A599-1A074A910B4D}" type="slidenum">
              <a:rPr lang="en-US" smtClean="0"/>
              <a:t>‹#›</a:t>
            </a:fld>
            <a:endParaRPr lang="en-US"/>
          </a:p>
        </p:txBody>
      </p:sp>
    </p:spTree>
    <p:extLst>
      <p:ext uri="{BB962C8B-B14F-4D97-AF65-F5344CB8AC3E}">
        <p14:creationId xmlns:p14="http://schemas.microsoft.com/office/powerpoint/2010/main" val="2166494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E3B032-39AC-40BC-83F3-FDF3DC45ABDC}" type="datetimeFigureOut">
              <a:rPr lang="en-US" smtClean="0"/>
              <a:t>1/14/2026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7DD42A8-6B22-49B5-A599-1A074A910B4D}" type="slidenum">
              <a:rPr lang="en-US" smtClean="0"/>
              <a:t>‹#›</a:t>
            </a:fld>
            <a:endParaRPr lang="en-US"/>
          </a:p>
        </p:txBody>
      </p:sp>
    </p:spTree>
    <p:extLst>
      <p:ext uri="{BB962C8B-B14F-4D97-AF65-F5344CB8AC3E}">
        <p14:creationId xmlns:p14="http://schemas.microsoft.com/office/powerpoint/2010/main" val="1347447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DE3B032-39AC-40BC-83F3-FDF3DC45ABDC}" type="datetimeFigureOut">
              <a:rPr lang="en-US" smtClean="0"/>
              <a:t>1/14/2026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DD42A8-6B22-49B5-A599-1A074A910B4D}" type="slidenum">
              <a:rPr lang="en-US" smtClean="0"/>
              <a:t>‹#›</a:t>
            </a:fld>
            <a:endParaRPr lang="en-US"/>
          </a:p>
        </p:txBody>
      </p:sp>
    </p:spTree>
    <p:extLst>
      <p:ext uri="{BB962C8B-B14F-4D97-AF65-F5344CB8AC3E}">
        <p14:creationId xmlns:p14="http://schemas.microsoft.com/office/powerpoint/2010/main" val="146408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DE3B032-39AC-40BC-83F3-FDF3DC45ABDC}" type="datetimeFigureOut">
              <a:rPr lang="en-US" smtClean="0"/>
              <a:t>1/14/2026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DD42A8-6B22-49B5-A599-1A074A910B4D}" type="slidenum">
              <a:rPr lang="en-US" smtClean="0"/>
              <a:t>‹#›</a:t>
            </a:fld>
            <a:endParaRPr lang="en-US"/>
          </a:p>
        </p:txBody>
      </p:sp>
    </p:spTree>
    <p:extLst>
      <p:ext uri="{BB962C8B-B14F-4D97-AF65-F5344CB8AC3E}">
        <p14:creationId xmlns:p14="http://schemas.microsoft.com/office/powerpoint/2010/main" val="21795523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DE3B032-39AC-40BC-83F3-FDF3DC45ABDC}" type="datetimeFigureOut">
              <a:rPr lang="en-US" smtClean="0"/>
              <a:t>1/14/2026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DD42A8-6B22-49B5-A599-1A074A910B4D}" type="slidenum">
              <a:rPr lang="en-US" smtClean="0"/>
              <a:t>‹#›</a:t>
            </a:fld>
            <a:endParaRPr lang="en-US"/>
          </a:p>
        </p:txBody>
      </p:sp>
    </p:spTree>
    <p:extLst>
      <p:ext uri="{BB962C8B-B14F-4D97-AF65-F5344CB8AC3E}">
        <p14:creationId xmlns:p14="http://schemas.microsoft.com/office/powerpoint/2010/main" val="671256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DE3B032-39AC-40BC-83F3-FDF3DC45ABDC}" type="datetimeFigureOut">
              <a:rPr lang="en-US" smtClean="0"/>
              <a:t>1/14/2026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DD42A8-6B22-49B5-A599-1A074A910B4D}" type="slidenum">
              <a:rPr lang="en-US" smtClean="0"/>
              <a:t>‹#›</a:t>
            </a:fld>
            <a:endParaRPr lang="en-US"/>
          </a:p>
        </p:txBody>
      </p:sp>
    </p:spTree>
    <p:extLst>
      <p:ext uri="{BB962C8B-B14F-4D97-AF65-F5344CB8AC3E}">
        <p14:creationId xmlns:p14="http://schemas.microsoft.com/office/powerpoint/2010/main" val="3316972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E3B032-39AC-40BC-83F3-FDF3DC45ABDC}" type="datetimeFigureOut">
              <a:rPr lang="en-US" smtClean="0"/>
              <a:t>1/14/2026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DD42A8-6B22-49B5-A599-1A074A910B4D}" type="slidenum">
              <a:rPr lang="en-US" smtClean="0"/>
              <a:t>‹#›</a:t>
            </a:fld>
            <a:endParaRPr lang="en-US"/>
          </a:p>
        </p:txBody>
      </p:sp>
    </p:spTree>
    <p:extLst>
      <p:ext uri="{BB962C8B-B14F-4D97-AF65-F5344CB8AC3E}">
        <p14:creationId xmlns:p14="http://schemas.microsoft.com/office/powerpoint/2010/main" val="23256267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20861" y="1122363"/>
            <a:ext cx="10799179" cy="2387600"/>
          </a:xfrm>
        </p:spPr>
        <p:txBody>
          <a:bodyPr/>
          <a:lstStyle/>
          <a:p>
            <a:pPr algn="l"/>
            <a:r>
              <a:rPr lang="ne-NP" dirty="0" smtClean="0">
                <a:latin typeface="कालीमाटी "/>
              </a:rPr>
              <a:t>जिल्ला अदालतको कार्य संपादन मापदण्ड र सूचक</a:t>
            </a:r>
            <a:endParaRPr lang="en-US" dirty="0">
              <a:latin typeface="कालीमाटी "/>
            </a:endParaRPr>
          </a:p>
        </p:txBody>
      </p:sp>
      <p:sp>
        <p:nvSpPr>
          <p:cNvPr id="3" name="Subtitle 2"/>
          <p:cNvSpPr>
            <a:spLocks noGrp="1"/>
          </p:cNvSpPr>
          <p:nvPr>
            <p:ph type="subTitle" idx="1"/>
          </p:nvPr>
        </p:nvSpPr>
        <p:spPr>
          <a:xfrm>
            <a:off x="4880659" y="4652551"/>
            <a:ext cx="9144000" cy="1655762"/>
          </a:xfrm>
        </p:spPr>
        <p:txBody>
          <a:bodyPr/>
          <a:lstStyle/>
          <a:p>
            <a:r>
              <a:rPr lang="ne-NP" dirty="0" smtClean="0"/>
              <a:t>चुरामन खड्का </a:t>
            </a:r>
          </a:p>
          <a:p>
            <a:r>
              <a:rPr lang="ne-NP" dirty="0" smtClean="0"/>
              <a:t>जिल्ला न्यायाधीश</a:t>
            </a:r>
          </a:p>
          <a:p>
            <a:r>
              <a:rPr lang="ne-NP" dirty="0" smtClean="0"/>
              <a:t>काठमाडौ जिल्ला अदालत</a:t>
            </a:r>
            <a:endParaRPr lang="en-US" dirty="0"/>
          </a:p>
        </p:txBody>
      </p:sp>
    </p:spTree>
    <p:extLst>
      <p:ext uri="{BB962C8B-B14F-4D97-AF65-F5344CB8AC3E}">
        <p14:creationId xmlns:p14="http://schemas.microsoft.com/office/powerpoint/2010/main" val="26737567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ne-NP" dirty="0" smtClean="0"/>
              <a:t>छलफलका बिषयहरु</a:t>
            </a:r>
          </a:p>
          <a:p>
            <a:r>
              <a:rPr lang="ne-NP" dirty="0"/>
              <a:t> </a:t>
            </a:r>
            <a:r>
              <a:rPr lang="ne-NP" dirty="0" smtClean="0"/>
              <a:t>अदालतका कार्यसंपादन मापदण्ड र सूचकको अबधारण</a:t>
            </a:r>
          </a:p>
          <a:p>
            <a:r>
              <a:rPr lang="ne-NP" dirty="0" smtClean="0"/>
              <a:t>मुद्दाको शिघ्र फर्छयौट</a:t>
            </a:r>
          </a:p>
          <a:p>
            <a:r>
              <a:rPr lang="ne-NP" dirty="0" smtClean="0"/>
              <a:t>फैसला कार्यान्वयन</a:t>
            </a:r>
          </a:p>
          <a:p>
            <a:r>
              <a:rPr lang="ne-NP" dirty="0" smtClean="0"/>
              <a:t>न्यायमा पहुँच </a:t>
            </a:r>
          </a:p>
          <a:p>
            <a:r>
              <a:rPr lang="ne-NP" dirty="0" smtClean="0"/>
              <a:t>बक्यौता </a:t>
            </a:r>
          </a:p>
          <a:p>
            <a:r>
              <a:rPr lang="ne-NP" dirty="0" smtClean="0"/>
              <a:t>सेवाग्राहीको सन्तुष्टि</a:t>
            </a:r>
            <a:endParaRPr lang="en-US" dirty="0"/>
          </a:p>
        </p:txBody>
      </p:sp>
    </p:spTree>
    <p:extLst>
      <p:ext uri="{BB962C8B-B14F-4D97-AF65-F5344CB8AC3E}">
        <p14:creationId xmlns:p14="http://schemas.microsoft.com/office/powerpoint/2010/main" val="130739359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51987"/>
            <a:ext cx="10515600" cy="1325563"/>
          </a:xfrm>
        </p:spPr>
        <p:txBody>
          <a:bodyPr/>
          <a:lstStyle/>
          <a:p>
            <a:endParaRPr lang="en-US"/>
          </a:p>
        </p:txBody>
      </p:sp>
      <p:sp>
        <p:nvSpPr>
          <p:cNvPr id="3" name="Content Placeholder 2"/>
          <p:cNvSpPr>
            <a:spLocks noGrp="1"/>
          </p:cNvSpPr>
          <p:nvPr>
            <p:ph idx="1"/>
          </p:nvPr>
        </p:nvSpPr>
        <p:spPr/>
        <p:txBody>
          <a:bodyPr>
            <a:normAutofit/>
          </a:bodyPr>
          <a:lstStyle/>
          <a:p>
            <a:endParaRPr lang="ne-NP" dirty="0" smtClean="0"/>
          </a:p>
          <a:p>
            <a:r>
              <a:rPr lang="ne-NP" sz="3200" b="1" dirty="0" smtClean="0"/>
              <a:t>संबैधानिक </a:t>
            </a:r>
            <a:r>
              <a:rPr lang="ne-NP" sz="3200" b="1" dirty="0" smtClean="0"/>
              <a:t>ब्यबस्था</a:t>
            </a:r>
            <a:r>
              <a:rPr lang="en-US" sz="3200" b="1" dirty="0" smtClean="0"/>
              <a:t>  (</a:t>
            </a:r>
            <a:r>
              <a:rPr lang="ne-NP" sz="3200" b="1" dirty="0" smtClean="0"/>
              <a:t>धारा १२६</a:t>
            </a:r>
            <a:r>
              <a:rPr lang="en-US" sz="3200" b="1" dirty="0" smtClean="0"/>
              <a:t>)</a:t>
            </a:r>
            <a:endParaRPr lang="ne-NP" sz="3200" b="1" dirty="0" smtClean="0"/>
          </a:p>
          <a:p>
            <a:pPr algn="just"/>
            <a:r>
              <a:rPr lang="ne-NP" sz="3200" dirty="0" smtClean="0"/>
              <a:t>नेपालको न्यायसम्बन्धी अधिकार यो संबिधान अन्य  कानुन र न्यायका मान्य सिद्धान्तबमोजिम अदालत तथा न्यायिक निकायबाट प्रयोग गरिने ।</a:t>
            </a:r>
          </a:p>
          <a:p>
            <a:pPr algn="just"/>
            <a:r>
              <a:rPr lang="ne-NP" sz="3200" dirty="0" smtClean="0"/>
              <a:t>मुद्दा मामिलाको रोहमा अदालतले दिएको आदेश वा निर्णयको सबैले पालन गर्नुपर्ने </a:t>
            </a:r>
            <a:endParaRPr lang="en-US" sz="3200" dirty="0" smtClean="0"/>
          </a:p>
        </p:txBody>
      </p:sp>
    </p:spTree>
    <p:extLst>
      <p:ext uri="{BB962C8B-B14F-4D97-AF65-F5344CB8AC3E}">
        <p14:creationId xmlns:p14="http://schemas.microsoft.com/office/powerpoint/2010/main" val="251779235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ne-NP" dirty="0"/>
              <a:t>नेपालमा देहायबमोजिम अदालतहरु रहने </a:t>
            </a:r>
            <a:r>
              <a:rPr lang="en-US" dirty="0"/>
              <a:t>(</a:t>
            </a:r>
            <a:r>
              <a:rPr lang="ne-NP" dirty="0"/>
              <a:t>धारा १२७</a:t>
            </a:r>
            <a:r>
              <a:rPr lang="en-US" dirty="0"/>
              <a:t>)</a:t>
            </a:r>
            <a:r>
              <a:rPr lang="ne-NP" dirty="0"/>
              <a:t> </a:t>
            </a:r>
          </a:p>
          <a:p>
            <a:r>
              <a:rPr lang="ne-NP" dirty="0"/>
              <a:t>क सर्वोच्च अदालत</a:t>
            </a:r>
          </a:p>
          <a:p>
            <a:r>
              <a:rPr lang="ne-NP" dirty="0"/>
              <a:t>ख उच्च अदालत</a:t>
            </a:r>
          </a:p>
          <a:p>
            <a:r>
              <a:rPr lang="ne-NP" dirty="0"/>
              <a:t>ग जिल्ला अदालत</a:t>
            </a:r>
          </a:p>
          <a:p>
            <a:r>
              <a:rPr lang="ne-NP" dirty="0"/>
              <a:t> कानुनबमोजिम मुद्दा हेर्न स्थानीयस्तरमा न्यायिक निकाय वा </a:t>
            </a:r>
            <a:r>
              <a:rPr lang="ne-NP" dirty="0" smtClean="0"/>
              <a:t>बिबाद समाधानका </a:t>
            </a:r>
            <a:r>
              <a:rPr lang="ne-NP" dirty="0"/>
              <a:t>बैकल्पिक उपाय अबलम्बन गर्न अन्य न्यायिक निकाय गठन गर्न सकिन</a:t>
            </a:r>
            <a:endParaRPr lang="en-US" dirty="0"/>
          </a:p>
        </p:txBody>
      </p:sp>
    </p:spTree>
    <p:extLst>
      <p:ext uri="{BB962C8B-B14F-4D97-AF65-F5344CB8AC3E}">
        <p14:creationId xmlns:p14="http://schemas.microsoft.com/office/powerpoint/2010/main" val="110337620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ne-NP" dirty="0" smtClean="0"/>
              <a:t>धारा १५१ जिल्ला अदालतको अधिकारक्षेत्र</a:t>
            </a:r>
            <a:r>
              <a:rPr lang="en-US" dirty="0" smtClean="0"/>
              <a:t> :</a:t>
            </a:r>
            <a:r>
              <a:rPr lang="ne-NP" dirty="0" smtClean="0"/>
              <a:t> </a:t>
            </a:r>
            <a:endParaRPr lang="en-US" dirty="0" smtClean="0"/>
          </a:p>
          <a:p>
            <a:pPr algn="just"/>
            <a:r>
              <a:rPr lang="ne-NP" dirty="0" smtClean="0"/>
              <a:t>जिल्ला अदालतलाइ संघीय कानुनमा अन्यथा  ब्यबस्था भएकोमा बाहेक आफ्नो अधिकारक्षेत्रभित्रका सम्पूर्ण मुद्दाको सुरु कारवाही र किनार गर्ने</a:t>
            </a:r>
            <a:r>
              <a:rPr lang="en-US" dirty="0" smtClean="0"/>
              <a:t>,</a:t>
            </a:r>
            <a:r>
              <a:rPr lang="ne-NP" dirty="0" smtClean="0"/>
              <a:t> बन्दीप्रत्यक्षीरण निषेधाज्ञालगायत कानुनबमोजिमका निवेदन हेर्ने</a:t>
            </a:r>
            <a:r>
              <a:rPr lang="en-US" dirty="0" smtClean="0"/>
              <a:t>,</a:t>
            </a:r>
            <a:r>
              <a:rPr lang="ne-NP" dirty="0" smtClean="0"/>
              <a:t> अर्धन्यायिक निकायले गरेको निर्णयउपर कानुनबमोजिम पुनरावेदन सुन्ने</a:t>
            </a:r>
            <a:r>
              <a:rPr lang="en-US" dirty="0" smtClean="0"/>
              <a:t>,</a:t>
            </a:r>
            <a:r>
              <a:rPr lang="ne-NP" dirty="0" smtClean="0"/>
              <a:t>प्रदेश कानुनबमोजिम गठित स्थानीयस्तरका न्यायिक निकायले गरेको निर्णयउपर पुनरावेदन सुन्ने तथा आफू र आफ्नो मातहतका अदालतहरुको न्याय सम्पादनको कार्यमा कसैले अवरोध गरेमा वा आदेश वा फैसलाको अवज्ञा गरेमा संघीय कानुनबमोजिम अवहेलनामा कारवाही चलाइ सजाय गर्न सक्ने अधिकार हुने ।</a:t>
            </a:r>
            <a:endParaRPr lang="en-US" dirty="0"/>
          </a:p>
        </p:txBody>
      </p:sp>
    </p:spTree>
    <p:extLst>
      <p:ext uri="{BB962C8B-B14F-4D97-AF65-F5344CB8AC3E}">
        <p14:creationId xmlns:p14="http://schemas.microsoft.com/office/powerpoint/2010/main" val="61434613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e-NP" dirty="0" smtClean="0"/>
              <a:t>अदालतको कार्य संपादन मापदण्डको अबधारणा</a:t>
            </a:r>
            <a:endParaRPr lang="en-US" dirty="0"/>
          </a:p>
        </p:txBody>
      </p:sp>
      <p:sp>
        <p:nvSpPr>
          <p:cNvPr id="3" name="Content Placeholder 2"/>
          <p:cNvSpPr>
            <a:spLocks noGrp="1"/>
          </p:cNvSpPr>
          <p:nvPr>
            <p:ph idx="1"/>
          </p:nvPr>
        </p:nvSpPr>
        <p:spPr/>
        <p:txBody>
          <a:bodyPr/>
          <a:lstStyle/>
          <a:p>
            <a:r>
              <a:rPr lang="ne-NP" b="1" u="sng" dirty="0" smtClean="0"/>
              <a:t>अबधारणा</a:t>
            </a:r>
            <a:r>
              <a:rPr lang="ne-NP" dirty="0" smtClean="0"/>
              <a:t> </a:t>
            </a:r>
          </a:p>
          <a:p>
            <a:r>
              <a:rPr lang="en-US" dirty="0" smtClean="0"/>
              <a:t>The work performance standards of a court are generally measured across five key areas, as defined by the national center for state courts (NCSC) ,Trail court Performance Standards: Access to </a:t>
            </a:r>
            <a:r>
              <a:rPr lang="en-US" dirty="0" smtClean="0"/>
              <a:t>justice, Expedition </a:t>
            </a:r>
            <a:r>
              <a:rPr lang="en-US" dirty="0" smtClean="0"/>
              <a:t>and Timeliness ,Equality, Fairness and </a:t>
            </a:r>
            <a:r>
              <a:rPr lang="en-US" dirty="0" smtClean="0"/>
              <a:t>integrity, </a:t>
            </a:r>
            <a:r>
              <a:rPr lang="en-US" dirty="0" smtClean="0"/>
              <a:t>independence and accountability and Public Trust and confidence .</a:t>
            </a:r>
          </a:p>
          <a:p>
            <a:r>
              <a:rPr lang="en-US" dirty="0" smtClean="0"/>
              <a:t>The concept of work performance standards of court refers to measurable </a:t>
            </a:r>
            <a:r>
              <a:rPr lang="en-US" dirty="0" smtClean="0"/>
              <a:t>benchmarks </a:t>
            </a:r>
            <a:r>
              <a:rPr lang="en-US" dirty="0" smtClean="0"/>
              <a:t>used to assess how effectively and efficiently a court carries out its judicial and administrative work, while ensuring fairness, quality and access to justice . </a:t>
            </a:r>
          </a:p>
        </p:txBody>
      </p:sp>
    </p:spTree>
    <p:extLst>
      <p:ext uri="{BB962C8B-B14F-4D97-AF65-F5344CB8AC3E}">
        <p14:creationId xmlns:p14="http://schemas.microsoft.com/office/powerpoint/2010/main" val="194729492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838200" y="1825625"/>
            <a:ext cx="10515600" cy="4633048"/>
          </a:xfrm>
        </p:spPr>
        <p:txBody>
          <a:bodyPr>
            <a:normAutofit/>
          </a:bodyPr>
          <a:lstStyle/>
          <a:p>
            <a:r>
              <a:rPr lang="en-US" dirty="0" smtClean="0"/>
              <a:t>The ordinary administration of criminal and civil justice…. </a:t>
            </a:r>
            <a:r>
              <a:rPr lang="en-US" dirty="0" smtClean="0"/>
              <a:t>Contributes, </a:t>
            </a:r>
            <a:r>
              <a:rPr lang="en-US" dirty="0" smtClean="0"/>
              <a:t>more than any other circumstance, to impressing upon the minds of the people affection, esteem, and reverence towards the </a:t>
            </a:r>
            <a:r>
              <a:rPr lang="en-US" dirty="0" smtClean="0"/>
              <a:t>government.</a:t>
            </a:r>
            <a:r>
              <a:rPr lang="ne-NP" dirty="0" smtClean="0"/>
              <a:t> </a:t>
            </a:r>
            <a:r>
              <a:rPr lang="en-US" dirty="0" err="1" smtClean="0"/>
              <a:t>Alexandar</a:t>
            </a:r>
            <a:r>
              <a:rPr lang="en-US" dirty="0" smtClean="0"/>
              <a:t> </a:t>
            </a:r>
            <a:r>
              <a:rPr lang="en-US" dirty="0" smtClean="0"/>
              <a:t>Hamilton- The </a:t>
            </a:r>
            <a:r>
              <a:rPr lang="en-US" dirty="0" smtClean="0"/>
              <a:t>Federalist.</a:t>
            </a:r>
            <a:endParaRPr lang="en-US" dirty="0" smtClean="0"/>
          </a:p>
          <a:p>
            <a:r>
              <a:rPr lang="en-US" dirty="0" smtClean="0"/>
              <a:t>Until </a:t>
            </a:r>
            <a:r>
              <a:rPr lang="en-US" dirty="0" smtClean="0"/>
              <a:t>recently, </a:t>
            </a:r>
            <a:r>
              <a:rPr lang="en-US" dirty="0" smtClean="0"/>
              <a:t>court reform has focused on the </a:t>
            </a:r>
            <a:r>
              <a:rPr lang="en-US" dirty="0" smtClean="0"/>
              <a:t>structures </a:t>
            </a:r>
            <a:r>
              <a:rPr lang="en-US" dirty="0" smtClean="0"/>
              <a:t>and machinery of the courts, not their performance, and on the needs of those served by the courts . No agreed upon performance standards exist for trial courts of general jurisdiction .</a:t>
            </a:r>
          </a:p>
          <a:p>
            <a:r>
              <a:rPr lang="en-US" dirty="0" smtClean="0"/>
              <a:t>The booklet proposes 22 separate performance standards for general </a:t>
            </a:r>
            <a:r>
              <a:rPr lang="en-US" dirty="0" smtClean="0"/>
              <a:t>jurisdiction </a:t>
            </a:r>
            <a:r>
              <a:rPr lang="en-US" dirty="0" smtClean="0"/>
              <a:t>trial courts. They are grouped in five performance areas:</a:t>
            </a:r>
            <a:endParaRPr lang="en-US" dirty="0"/>
          </a:p>
        </p:txBody>
      </p:sp>
    </p:spTree>
    <p:extLst>
      <p:ext uri="{BB962C8B-B14F-4D97-AF65-F5344CB8AC3E}">
        <p14:creationId xmlns:p14="http://schemas.microsoft.com/office/powerpoint/2010/main" val="203158421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1.Acess to justice:</a:t>
            </a:r>
          </a:p>
          <a:p>
            <a:r>
              <a:rPr lang="en-US" dirty="0" smtClean="0"/>
              <a:t>2.Expeditiation and timeliness.</a:t>
            </a:r>
          </a:p>
          <a:p>
            <a:r>
              <a:rPr lang="en-US" dirty="0" smtClean="0"/>
              <a:t>3.Equality, Fairness and integrity</a:t>
            </a:r>
          </a:p>
          <a:p>
            <a:r>
              <a:rPr lang="en-US" dirty="0" smtClean="0"/>
              <a:t>4 .independence and accountability</a:t>
            </a:r>
          </a:p>
          <a:p>
            <a:pPr marL="0" indent="0">
              <a:buNone/>
            </a:pPr>
            <a:r>
              <a:rPr lang="en-US" dirty="0" smtClean="0"/>
              <a:t>5. Public trust and confidence.</a:t>
            </a:r>
          </a:p>
          <a:p>
            <a:pPr marL="0" indent="0">
              <a:buNone/>
            </a:pPr>
            <a:endParaRPr lang="en-US" dirty="0"/>
          </a:p>
        </p:txBody>
      </p:sp>
    </p:spTree>
    <p:extLst>
      <p:ext uri="{BB962C8B-B14F-4D97-AF65-F5344CB8AC3E}">
        <p14:creationId xmlns:p14="http://schemas.microsoft.com/office/powerpoint/2010/main" val="5979562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e-NP" dirty="0" smtClean="0"/>
              <a:t>योजनाबद्ध बिकास</a:t>
            </a:r>
            <a:endParaRPr lang="en-US" dirty="0"/>
          </a:p>
        </p:txBody>
      </p:sp>
      <p:sp>
        <p:nvSpPr>
          <p:cNvPr id="3" name="Content Placeholder 2"/>
          <p:cNvSpPr>
            <a:spLocks noGrp="1"/>
          </p:cNvSpPr>
          <p:nvPr>
            <p:ph idx="1"/>
          </p:nvPr>
        </p:nvSpPr>
        <p:spPr/>
        <p:txBody>
          <a:bodyPr/>
          <a:lstStyle/>
          <a:p>
            <a:r>
              <a:rPr lang="ne-NP" dirty="0" smtClean="0"/>
              <a:t>२०६१ सालदेखि प्रथम रणनीतिक योजनाको प्रारम्भ</a:t>
            </a:r>
          </a:p>
          <a:p>
            <a:pPr algn="just"/>
            <a:r>
              <a:rPr lang="ne-NP" sz="3200" dirty="0" smtClean="0"/>
              <a:t>केही बर्ष यता</a:t>
            </a:r>
            <a:r>
              <a:rPr lang="en-US" sz="3200" dirty="0" smtClean="0"/>
              <a:t> </a:t>
            </a:r>
            <a:r>
              <a:rPr lang="ne-NP" sz="3200" dirty="0" smtClean="0"/>
              <a:t>नेपाली जनताका चाहना र अपेक्षाहरु पूर्ती गर्न न्यायपालिकाले प्रयास गर्दै आएको छ।न्यायपालिकाका प्रयासका बाबजुद पनि बिभिन्न क्षेत्रबाट यसले सम्पादन गरेका कार्यको गुण र सेवाको प्रयाप्तताको बारेमा चासो ब्यक्त भएको देखिन्छ ।हामीले प्रदान गरेको सेवको स्तर जनताले अपेक्षा गरेभन्दा कम रही आएको पटक पटक अनुभव गरिएको छ ।यस कुरालाइ दृष्टिगत एवं बर्तमान परिप्रेक्ष्यलाइ बिचार गरी नेपालको न्यायपालिकाले आफ्नो आत्ममूल्याँकन गर्ने अभिरुची देखाएको छ ।  </a:t>
            </a:r>
            <a:r>
              <a:rPr lang="en-US" sz="3200" dirty="0" smtClean="0"/>
              <a:t>--</a:t>
            </a:r>
            <a:r>
              <a:rPr lang="ne-NP" sz="3200" dirty="0" smtClean="0"/>
              <a:t>पृष्ठ २</a:t>
            </a:r>
          </a:p>
          <a:p>
            <a:endParaRPr lang="ne-NP" dirty="0" smtClean="0"/>
          </a:p>
        </p:txBody>
      </p:sp>
    </p:spTree>
    <p:extLst>
      <p:ext uri="{BB962C8B-B14F-4D97-AF65-F5344CB8AC3E}">
        <p14:creationId xmlns:p14="http://schemas.microsoft.com/office/powerpoint/2010/main" val="330254841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ne-NP" b="1" u="sng" smtClean="0"/>
              <a:t>प्रथम पंचबर्षीय योजनाका मूल कार्यहरु</a:t>
            </a:r>
            <a:endParaRPr lang="ne-NP" b="1" u="sng" dirty="0"/>
          </a:p>
          <a:p>
            <a:r>
              <a:rPr lang="ne-NP" dirty="0"/>
              <a:t>फैसला गर्ने कार्य</a:t>
            </a:r>
          </a:p>
          <a:p>
            <a:r>
              <a:rPr lang="ne-NP" dirty="0"/>
              <a:t>फैसला कार्यान्वयन</a:t>
            </a:r>
          </a:p>
          <a:p>
            <a:r>
              <a:rPr lang="ne-NP" dirty="0"/>
              <a:t>अदालत ब्यबस्थापन </a:t>
            </a:r>
          </a:p>
          <a:p>
            <a:r>
              <a:rPr lang="ne-NP" dirty="0"/>
              <a:t>अभिलेख ब्यबस्थापन</a:t>
            </a:r>
          </a:p>
          <a:p>
            <a:r>
              <a:rPr lang="ne-NP" dirty="0"/>
              <a:t>स्वायत्त पारदर्शी र उत्तरदायी नियुक्ति प्रणालीको बिकास</a:t>
            </a:r>
          </a:p>
          <a:p>
            <a:r>
              <a:rPr lang="ne-NP" dirty="0"/>
              <a:t>हाल पाँचौ पञ्चबर्षीय योजनाको बिकास</a:t>
            </a:r>
            <a:endParaRPr lang="en-US" dirty="0"/>
          </a:p>
        </p:txBody>
      </p:sp>
    </p:spTree>
    <p:extLst>
      <p:ext uri="{BB962C8B-B14F-4D97-AF65-F5344CB8AC3E}">
        <p14:creationId xmlns:p14="http://schemas.microsoft.com/office/powerpoint/2010/main" val="185493404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e-NP" dirty="0" smtClean="0"/>
              <a:t>बिगत १० बर्षमा अदालतमा रहेको कार्यबोझको अबस्था</a:t>
            </a:r>
            <a:endParaRPr lang="en-US" dirty="0"/>
          </a:p>
        </p:txBody>
      </p:sp>
      <p:pic>
        <p:nvPicPr>
          <p:cNvPr id="6" name="Content Placeholder 5"/>
          <p:cNvPicPr>
            <a:picLocks noGrp="1" noChangeAspect="1"/>
          </p:cNvPicPr>
          <p:nvPr>
            <p:ph idx="1"/>
          </p:nvPr>
        </p:nvPicPr>
        <p:blipFill rotWithShape="1">
          <a:blip r:embed="rId2">
            <a:extLst>
              <a:ext uri="{28A0092B-C50C-407E-A947-70E740481C1C}">
                <a14:useLocalDpi xmlns:a14="http://schemas.microsoft.com/office/drawing/2010/main" val="0"/>
              </a:ext>
            </a:extLst>
          </a:blip>
          <a:srcRect l="-38" t="-156" r="1" b="65931"/>
          <a:stretch/>
        </p:blipFill>
        <p:spPr>
          <a:xfrm>
            <a:off x="1081268" y="2298792"/>
            <a:ext cx="9555865" cy="2632024"/>
          </a:xfrm>
        </p:spPr>
      </p:pic>
    </p:spTree>
    <p:extLst>
      <p:ext uri="{BB962C8B-B14F-4D97-AF65-F5344CB8AC3E}">
        <p14:creationId xmlns:p14="http://schemas.microsoft.com/office/powerpoint/2010/main" val="177996065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1083" t="-19692" r="1083" b="32652"/>
          <a:stretch/>
        </p:blipFill>
        <p:spPr>
          <a:xfrm>
            <a:off x="-11780" y="-364432"/>
            <a:ext cx="11787670" cy="5501783"/>
          </a:xfrm>
        </p:spPr>
      </p:pic>
    </p:spTree>
    <p:extLst>
      <p:ext uri="{BB962C8B-B14F-4D97-AF65-F5344CB8AC3E}">
        <p14:creationId xmlns:p14="http://schemas.microsoft.com/office/powerpoint/2010/main" val="200057584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t="65861" b="1939"/>
          <a:stretch/>
        </p:blipFill>
        <p:spPr>
          <a:xfrm>
            <a:off x="286825" y="1812055"/>
            <a:ext cx="11634861" cy="3871115"/>
          </a:xfrm>
        </p:spPr>
      </p:pic>
    </p:spTree>
    <p:extLst>
      <p:ext uri="{BB962C8B-B14F-4D97-AF65-F5344CB8AC3E}">
        <p14:creationId xmlns:p14="http://schemas.microsoft.com/office/powerpoint/2010/main" val="311483393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t="13846" b="6665"/>
          <a:stretch/>
        </p:blipFill>
        <p:spPr>
          <a:xfrm>
            <a:off x="312420" y="2025570"/>
            <a:ext cx="11567160" cy="2847372"/>
          </a:xfrm>
          <a:prstGeom prst="rect">
            <a:avLst/>
          </a:prstGeom>
        </p:spPr>
      </p:pic>
    </p:spTree>
    <p:extLst>
      <p:ext uri="{BB962C8B-B14F-4D97-AF65-F5344CB8AC3E}">
        <p14:creationId xmlns:p14="http://schemas.microsoft.com/office/powerpoint/2010/main" val="132676511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3816" y="-92138"/>
            <a:ext cx="10515600" cy="1325563"/>
          </a:xfrm>
        </p:spPr>
        <p:txBody>
          <a:bodyPr/>
          <a:lstStyle/>
          <a:p>
            <a:endParaRPr lang="en-US" dirty="0"/>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t="33871"/>
          <a:stretch/>
        </p:blipFill>
        <p:spPr>
          <a:xfrm>
            <a:off x="721553" y="1331088"/>
            <a:ext cx="10515600" cy="2581155"/>
          </a:xfrm>
        </p:spPr>
      </p:pic>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l="1985" t="18512" r="1985" b="6250"/>
          <a:stretch/>
        </p:blipFill>
        <p:spPr>
          <a:xfrm>
            <a:off x="1113227" y="3823966"/>
            <a:ext cx="9732251" cy="1407791"/>
          </a:xfrm>
          <a:prstGeom prst="rect">
            <a:avLst/>
          </a:prstGeom>
        </p:spPr>
      </p:pic>
    </p:spTree>
    <p:extLst>
      <p:ext uri="{BB962C8B-B14F-4D97-AF65-F5344CB8AC3E}">
        <p14:creationId xmlns:p14="http://schemas.microsoft.com/office/powerpoint/2010/main" val="174985432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7346" y="347541"/>
            <a:ext cx="10606454" cy="1325563"/>
          </a:xfrm>
        </p:spPr>
        <p:txBody>
          <a:bodyPr/>
          <a:lstStyle/>
          <a:p>
            <a:r>
              <a:rPr lang="ne-NP" dirty="0" smtClean="0"/>
              <a:t>आ</a:t>
            </a:r>
            <a:r>
              <a:rPr lang="en-US" dirty="0" smtClean="0"/>
              <a:t>.</a:t>
            </a:r>
            <a:r>
              <a:rPr lang="ne-NP" dirty="0" smtClean="0"/>
              <a:t> ब</a:t>
            </a:r>
            <a:r>
              <a:rPr lang="en-US" dirty="0" smtClean="0"/>
              <a:t>.</a:t>
            </a:r>
            <a:r>
              <a:rPr lang="ne-NP" dirty="0" smtClean="0"/>
              <a:t> २०७९।८० को अन्तमा बाँकी रहेका मुद्दाको बिबरण</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52129" y="1505821"/>
            <a:ext cx="7753847" cy="4035669"/>
          </a:xfrm>
        </p:spPr>
      </p:pic>
    </p:spTree>
    <p:extLst>
      <p:ext uri="{BB962C8B-B14F-4D97-AF65-F5344CB8AC3E}">
        <p14:creationId xmlns:p14="http://schemas.microsoft.com/office/powerpoint/2010/main" val="400377980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37916" y="2052248"/>
            <a:ext cx="7116168" cy="3134162"/>
          </a:xfrm>
        </p:spPr>
      </p:pic>
    </p:spTree>
    <p:extLst>
      <p:ext uri="{BB962C8B-B14F-4D97-AF65-F5344CB8AC3E}">
        <p14:creationId xmlns:p14="http://schemas.microsoft.com/office/powerpoint/2010/main" val="214487179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e-NP" dirty="0" smtClean="0"/>
              <a:t>आर्थिक बर्ष २०८०।०८१ को बैशाख मसान्तसम्म सबै तहका अदालत तथा न्यायाधिकणहरुमा अबधिगत मुद्दाको बिबरण</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14099" y="2396107"/>
            <a:ext cx="8036669" cy="4127785"/>
          </a:xfrm>
        </p:spPr>
      </p:pic>
    </p:spTree>
    <p:extLst>
      <p:ext uri="{BB962C8B-B14F-4D97-AF65-F5344CB8AC3E}">
        <p14:creationId xmlns:p14="http://schemas.microsoft.com/office/powerpoint/2010/main" val="296975239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e-NP" dirty="0" smtClean="0"/>
              <a:t>आर्थिक बर्ष २०८०।८१ को बैशाख मसान्तसम्म फैसला कार्यान्वयनसम्बन्धी बाँकी लगतको बिबरण</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12291" y="1905148"/>
            <a:ext cx="8334139" cy="3384482"/>
          </a:xfrm>
        </p:spPr>
      </p:pic>
    </p:spTree>
    <p:extLst>
      <p:ext uri="{BB962C8B-B14F-4D97-AF65-F5344CB8AC3E}">
        <p14:creationId xmlns:p14="http://schemas.microsoft.com/office/powerpoint/2010/main" val="260804789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47540"/>
            <a:ext cx="10515600" cy="1325563"/>
          </a:xfrm>
        </p:spPr>
        <p:txBody>
          <a:bodyPr>
            <a:normAutofit fontScale="90000"/>
          </a:bodyPr>
          <a:lstStyle/>
          <a:p>
            <a:r>
              <a:rPr lang="ne-NP" dirty="0" smtClean="0"/>
              <a:t>जिल्ला अदालततर्फ </a:t>
            </a:r>
            <a:r>
              <a:rPr lang="ne-NP" dirty="0" smtClean="0"/>
              <a:t>शिघ्र </a:t>
            </a:r>
            <a:r>
              <a:rPr lang="ne-NP" dirty="0" smtClean="0"/>
              <a:t>न्याय </a:t>
            </a:r>
            <a:r>
              <a:rPr lang="ne-NP" dirty="0" smtClean="0"/>
              <a:t>संपादन र सूचक पाँचौ पंचबर्षीय रणनीतिक योजना २०८१।०८६ का आधारमा</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55999" y="1591408"/>
            <a:ext cx="8880001" cy="4607169"/>
          </a:xfrm>
        </p:spPr>
      </p:pic>
    </p:spTree>
    <p:extLst>
      <p:ext uri="{BB962C8B-B14F-4D97-AF65-F5344CB8AC3E}">
        <p14:creationId xmlns:p14="http://schemas.microsoft.com/office/powerpoint/2010/main" val="410761649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e-NP" dirty="0"/>
              <a:t>जिल्ला अदालततर्फ </a:t>
            </a:r>
            <a:r>
              <a:rPr lang="ne-NP" dirty="0" smtClean="0"/>
              <a:t>फैसला कार्यान्वयन </a:t>
            </a:r>
            <a:r>
              <a:rPr lang="ne-NP" dirty="0"/>
              <a:t>सूचक पाँचौ पंचबर्षीय रणनीतिक योजना २०८१।०८६ का आधारमा</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45864" y="2110676"/>
            <a:ext cx="8456498" cy="3886742"/>
          </a:xfrm>
        </p:spPr>
      </p:pic>
    </p:spTree>
    <p:extLst>
      <p:ext uri="{BB962C8B-B14F-4D97-AF65-F5344CB8AC3E}">
        <p14:creationId xmlns:p14="http://schemas.microsoft.com/office/powerpoint/2010/main" val="55182690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43743" y="0"/>
            <a:ext cx="9133114" cy="1752845"/>
          </a:xfrm>
        </p:spPr>
      </p:pic>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b="49127"/>
          <a:stretch/>
        </p:blipFill>
        <p:spPr>
          <a:xfrm>
            <a:off x="1821233" y="1654564"/>
            <a:ext cx="8814110" cy="4963949"/>
          </a:xfrm>
          <a:prstGeom prst="rect">
            <a:avLst/>
          </a:prstGeom>
        </p:spPr>
      </p:pic>
    </p:spTree>
    <p:extLst>
      <p:ext uri="{BB962C8B-B14F-4D97-AF65-F5344CB8AC3E}">
        <p14:creationId xmlns:p14="http://schemas.microsoft.com/office/powerpoint/2010/main" val="264317241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t="51358"/>
          <a:stretch/>
        </p:blipFill>
        <p:spPr>
          <a:xfrm>
            <a:off x="1607779" y="1100379"/>
            <a:ext cx="9111343" cy="4655683"/>
          </a:xfrm>
        </p:spPr>
      </p:pic>
    </p:spTree>
    <p:extLst>
      <p:ext uri="{BB962C8B-B14F-4D97-AF65-F5344CB8AC3E}">
        <p14:creationId xmlns:p14="http://schemas.microsoft.com/office/powerpoint/2010/main" val="109479325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ne-NP" smtClean="0"/>
              <a:t>जिल्ला अदालतमा ५०० मुद्दा बराबर १ न्यायाधीशको दरबन्दी</a:t>
            </a:r>
            <a:endParaRPr lang="en-US" smtClean="0"/>
          </a:p>
          <a:p>
            <a:r>
              <a:rPr lang="ne-NP" dirty="0" smtClean="0"/>
              <a:t>गत बर्षको धनुषा जिल्ला अदालको ओषत ७२८</a:t>
            </a:r>
          </a:p>
          <a:p>
            <a:r>
              <a:rPr lang="ne-NP" dirty="0" smtClean="0"/>
              <a:t>काठमाडौ जिल्ला अदालतको औषत ९००।</a:t>
            </a:r>
            <a:endParaRPr lang="en-US" dirty="0"/>
          </a:p>
        </p:txBody>
      </p:sp>
    </p:spTree>
    <p:extLst>
      <p:ext uri="{BB962C8B-B14F-4D97-AF65-F5344CB8AC3E}">
        <p14:creationId xmlns:p14="http://schemas.microsoft.com/office/powerpoint/2010/main" val="305041589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e-NP" dirty="0" smtClean="0"/>
              <a:t>न्यायमा पहँच</a:t>
            </a:r>
            <a:endParaRPr lang="en-US" dirty="0"/>
          </a:p>
        </p:txBody>
      </p:sp>
      <p:sp>
        <p:nvSpPr>
          <p:cNvPr id="3" name="Content Placeholder 2"/>
          <p:cNvSpPr>
            <a:spLocks noGrp="1"/>
          </p:cNvSpPr>
          <p:nvPr>
            <p:ph idx="1"/>
          </p:nvPr>
        </p:nvSpPr>
        <p:spPr/>
        <p:txBody>
          <a:bodyPr/>
          <a:lstStyle/>
          <a:p>
            <a:r>
              <a:rPr lang="en-US" dirty="0" smtClean="0"/>
              <a:t>Factors affecting access to Justices</a:t>
            </a:r>
          </a:p>
          <a:p>
            <a:r>
              <a:rPr lang="en-US" dirty="0" smtClean="0"/>
              <a:t>Economic Barriers : cost,</a:t>
            </a:r>
            <a:r>
              <a:rPr lang="ne-NP" dirty="0" smtClean="0"/>
              <a:t> </a:t>
            </a:r>
            <a:r>
              <a:rPr lang="en-US" dirty="0" smtClean="0"/>
              <a:t>poverty,</a:t>
            </a:r>
            <a:r>
              <a:rPr lang="ne-NP" dirty="0" smtClean="0"/>
              <a:t> </a:t>
            </a:r>
            <a:r>
              <a:rPr lang="en-US" dirty="0" smtClean="0"/>
              <a:t>Lack of legal Aid</a:t>
            </a:r>
          </a:p>
          <a:p>
            <a:r>
              <a:rPr lang="en-US" dirty="0" smtClean="0"/>
              <a:t>Institutional hurdles:  delays,</a:t>
            </a:r>
            <a:r>
              <a:rPr lang="ne-NP" dirty="0" smtClean="0"/>
              <a:t> </a:t>
            </a:r>
            <a:r>
              <a:rPr lang="en-US" dirty="0" smtClean="0"/>
              <a:t>complex procedure,</a:t>
            </a:r>
            <a:r>
              <a:rPr lang="ne-NP" dirty="0" smtClean="0"/>
              <a:t> </a:t>
            </a:r>
            <a:r>
              <a:rPr lang="en-US" dirty="0" smtClean="0"/>
              <a:t>corruption,</a:t>
            </a:r>
            <a:r>
              <a:rPr lang="ne-NP" dirty="0" smtClean="0"/>
              <a:t> </a:t>
            </a:r>
            <a:r>
              <a:rPr lang="en-US" dirty="0" smtClean="0"/>
              <a:t>infrastructures</a:t>
            </a:r>
          </a:p>
          <a:p>
            <a:r>
              <a:rPr lang="en-US" dirty="0" smtClean="0"/>
              <a:t>Knowledge gap: Poor understanding of  rights</a:t>
            </a:r>
          </a:p>
          <a:p>
            <a:r>
              <a:rPr lang="en-US" dirty="0" smtClean="0"/>
              <a:t>Social bias: Gender, disability, race</a:t>
            </a:r>
          </a:p>
          <a:p>
            <a:r>
              <a:rPr lang="en-US" dirty="0" smtClean="0"/>
              <a:t>Technological divide .</a:t>
            </a:r>
            <a:endParaRPr lang="en-US" dirty="0"/>
          </a:p>
        </p:txBody>
      </p:sp>
    </p:spTree>
    <p:extLst>
      <p:ext uri="{BB962C8B-B14F-4D97-AF65-F5344CB8AC3E}">
        <p14:creationId xmlns:p14="http://schemas.microsoft.com/office/powerpoint/2010/main" val="231185914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e-NP" dirty="0" smtClean="0"/>
              <a:t>न्यायमा पहुँच पाँचौ योजनामा</a:t>
            </a:r>
            <a:endParaRPr lang="en-US" dirty="0"/>
          </a:p>
        </p:txBody>
      </p:sp>
      <p:sp>
        <p:nvSpPr>
          <p:cNvPr id="3" name="Content Placeholder 2"/>
          <p:cNvSpPr>
            <a:spLocks noGrp="1"/>
          </p:cNvSpPr>
          <p:nvPr>
            <p:ph idx="1"/>
          </p:nvPr>
        </p:nvSpPr>
        <p:spPr/>
        <p:txBody>
          <a:bodyPr/>
          <a:lstStyle/>
          <a:p>
            <a:r>
              <a:rPr lang="ne-NP" b="1" dirty="0" smtClean="0"/>
              <a:t>अदालतको कार्यबाताबरण तथा सेवा प्रवाहलाइ सेवाग्राही मैत्री बनाउने</a:t>
            </a:r>
          </a:p>
          <a:p>
            <a:r>
              <a:rPr lang="ne-NP" dirty="0" smtClean="0"/>
              <a:t>भवन</a:t>
            </a:r>
            <a:r>
              <a:rPr lang="en-US" dirty="0" smtClean="0"/>
              <a:t>,</a:t>
            </a:r>
            <a:r>
              <a:rPr lang="ne-NP" dirty="0" smtClean="0"/>
              <a:t> बाथरुमा</a:t>
            </a:r>
            <a:r>
              <a:rPr lang="en-US" dirty="0" smtClean="0"/>
              <a:t>,</a:t>
            </a:r>
            <a:r>
              <a:rPr lang="ne-NP" dirty="0" smtClean="0"/>
              <a:t> जानकारीमूलक पुस्तिका प्रकाशन गर्ने</a:t>
            </a:r>
            <a:r>
              <a:rPr lang="en-US" dirty="0" smtClean="0"/>
              <a:t>,</a:t>
            </a:r>
            <a:r>
              <a:rPr lang="ne-NP" dirty="0" smtClean="0"/>
              <a:t> परिसरमा डिस्प्ले बोर्ड</a:t>
            </a:r>
            <a:r>
              <a:rPr lang="en-US" dirty="0" smtClean="0"/>
              <a:t>,</a:t>
            </a:r>
            <a:r>
              <a:rPr lang="ne-NP" dirty="0" smtClean="0"/>
              <a:t>दोभाषेको ब्यबस्था । निवेदनको ढाँचाहरु उपलब्ध गराउने । बालमैत्री न्याय ।</a:t>
            </a:r>
          </a:p>
          <a:p>
            <a:r>
              <a:rPr lang="ne-NP" b="1" dirty="0" smtClean="0"/>
              <a:t>सूचना प्रबिधिको प्रयोगलाइ  गुणस्तरीय बनाउने</a:t>
            </a:r>
            <a:r>
              <a:rPr lang="ne-NP" dirty="0" smtClean="0"/>
              <a:t> </a:t>
            </a:r>
          </a:p>
          <a:p>
            <a:r>
              <a:rPr lang="ne-NP" dirty="0" smtClean="0"/>
              <a:t>मुद्दा अनलाइन दर्ता</a:t>
            </a:r>
            <a:r>
              <a:rPr lang="en-US" dirty="0" smtClean="0"/>
              <a:t>,</a:t>
            </a:r>
            <a:r>
              <a:rPr lang="ne-NP" dirty="0" smtClean="0"/>
              <a:t> भिडियो कनफरेन्स मार्फत बहस</a:t>
            </a:r>
            <a:r>
              <a:rPr lang="en-US" dirty="0" smtClean="0"/>
              <a:t>,</a:t>
            </a:r>
            <a:r>
              <a:rPr lang="ne-NP" dirty="0" smtClean="0"/>
              <a:t> अनलाइन तारेख</a:t>
            </a:r>
            <a:r>
              <a:rPr lang="en-US" dirty="0" smtClean="0"/>
              <a:t>,</a:t>
            </a:r>
            <a:r>
              <a:rPr lang="ne-NP" dirty="0" smtClean="0"/>
              <a:t> मुद्दाको कारवाही एसएमएस मार्फत जानकारी गराउने</a:t>
            </a:r>
            <a:r>
              <a:rPr lang="en-US" dirty="0" smtClean="0"/>
              <a:t>,</a:t>
            </a:r>
            <a:r>
              <a:rPr lang="ne-NP" dirty="0" smtClean="0"/>
              <a:t> बिद्युतीय प्रति तयार भएका चालु तथा अभिलेखका मिसिलका जुनसुकै अदालतबाट प्रतिलिपी प्राप्त गर्ने</a:t>
            </a:r>
            <a:endParaRPr lang="en-US" dirty="0"/>
          </a:p>
        </p:txBody>
      </p:sp>
    </p:spTree>
    <p:extLst>
      <p:ext uri="{BB962C8B-B14F-4D97-AF65-F5344CB8AC3E}">
        <p14:creationId xmlns:p14="http://schemas.microsoft.com/office/powerpoint/2010/main" val="33466819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ne-NP" b="1" dirty="0" smtClean="0"/>
              <a:t>कानुनी सहायता प्रणालीलाइ सुदृढ र गुणस्तरीय बनाउने</a:t>
            </a:r>
          </a:p>
          <a:p>
            <a:r>
              <a:rPr lang="ne-NP" dirty="0" smtClean="0"/>
              <a:t>निशुल्क कानुनी सहायता बैतनिक कानु ब्यबसायीको प्रयाप्तता गुणस्तरीयता</a:t>
            </a:r>
          </a:p>
          <a:p>
            <a:r>
              <a:rPr lang="ne-NP" dirty="0" smtClean="0"/>
              <a:t>प्रोबोनो </a:t>
            </a:r>
            <a:r>
              <a:rPr lang="en-US" dirty="0" smtClean="0"/>
              <a:t>,</a:t>
            </a:r>
            <a:r>
              <a:rPr lang="ne-NP" dirty="0" smtClean="0"/>
              <a:t>कानुनी सहायता परियोजनाको अधिकृत</a:t>
            </a:r>
            <a:r>
              <a:rPr lang="en-US" dirty="0" smtClean="0"/>
              <a:t> ,</a:t>
            </a:r>
            <a:r>
              <a:rPr lang="ne-NP" dirty="0" smtClean="0"/>
              <a:t> प्रदेश कानुन अधिकृतको समन्वय आदि ।</a:t>
            </a:r>
          </a:p>
          <a:p>
            <a:r>
              <a:rPr lang="ne-NP" b="1" dirty="0" smtClean="0"/>
              <a:t>पीडित मैत्री न्याय प्रणालीलाइ संस्थागत</a:t>
            </a:r>
          </a:p>
          <a:p>
            <a:r>
              <a:rPr lang="ne-NP" dirty="0" smtClean="0"/>
              <a:t>पीडितको सुरक्षा</a:t>
            </a:r>
            <a:r>
              <a:rPr lang="en-US" dirty="0" smtClean="0"/>
              <a:t>,</a:t>
            </a:r>
            <a:r>
              <a:rPr lang="ne-NP" dirty="0" smtClean="0"/>
              <a:t> कारवाहीको जानकारी</a:t>
            </a:r>
            <a:r>
              <a:rPr lang="en-US" dirty="0" smtClean="0"/>
              <a:t>,</a:t>
            </a:r>
            <a:r>
              <a:rPr lang="ne-NP" dirty="0" smtClean="0"/>
              <a:t>  कानुनी सहायता</a:t>
            </a:r>
            <a:r>
              <a:rPr lang="en-US" dirty="0" smtClean="0"/>
              <a:t>,</a:t>
            </a:r>
            <a:r>
              <a:rPr lang="ne-NP" dirty="0" smtClean="0"/>
              <a:t> अन्तरिम</a:t>
            </a:r>
            <a:r>
              <a:rPr lang="en-US" dirty="0" smtClean="0"/>
              <a:t>/</a:t>
            </a:r>
            <a:r>
              <a:rPr lang="ne-NP" dirty="0" smtClean="0"/>
              <a:t> क्षतिपूर्ती प्राप्ती </a:t>
            </a:r>
            <a:r>
              <a:rPr lang="ne-NP" dirty="0"/>
              <a:t>प्रदानका </a:t>
            </a:r>
            <a:r>
              <a:rPr lang="ne-NP" dirty="0" smtClean="0"/>
              <a:t>अबरोध</a:t>
            </a:r>
            <a:r>
              <a:rPr lang="en-US" dirty="0" smtClean="0"/>
              <a:t>,</a:t>
            </a:r>
            <a:r>
              <a:rPr lang="ne-NP" dirty="0" smtClean="0"/>
              <a:t> प्रयाप्तता । अदालतमा पीडित मैत्री केन्द्र । पीडित राहत कोषको प्रभावकरी बनाउने ।</a:t>
            </a:r>
            <a:endParaRPr lang="en-US" dirty="0"/>
          </a:p>
        </p:txBody>
      </p:sp>
    </p:spTree>
    <p:extLst>
      <p:ext uri="{BB962C8B-B14F-4D97-AF65-F5344CB8AC3E}">
        <p14:creationId xmlns:p14="http://schemas.microsoft.com/office/powerpoint/2010/main" val="183402897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ne-NP" sz="3200" b="1" dirty="0" smtClean="0"/>
              <a:t>न्याय प्रणालीलाइ लैङ्गिकमैत्री  बनाउने</a:t>
            </a:r>
            <a:endParaRPr lang="ne-NP" dirty="0" smtClean="0"/>
          </a:p>
          <a:p>
            <a:r>
              <a:rPr lang="ne-NP" dirty="0" smtClean="0"/>
              <a:t>पीडित महिला अपाङ्गता भएका ब्यक्ति बिपन्न तथा पीछडिएका बर्ग र समुदायका सेवाग्राहीको न्यायमा पहुँच सुनिश्चिता गर्न कार्यक्रम लागू गर्न </a:t>
            </a:r>
          </a:p>
          <a:p>
            <a:r>
              <a:rPr lang="ne-NP" dirty="0" smtClean="0"/>
              <a:t>पारिवारिक इजलासलाइ अन्य अदालतमा पनि बिस्तार गर्ने </a:t>
            </a:r>
          </a:p>
          <a:p>
            <a:r>
              <a:rPr lang="ne-NP" dirty="0" smtClean="0"/>
              <a:t>भौतिक संरचना लैङ्गिकमैत्री बनाउने </a:t>
            </a:r>
          </a:p>
          <a:p>
            <a:r>
              <a:rPr lang="ne-NP" dirty="0" smtClean="0"/>
              <a:t>न्यायपालिकामा कार्यरत महिला न्यायाधीश तथा महिला कर्मचारीहरुको ब्यबसायिक क्षमता तथा नेतृत्व बिकास गर्ने </a:t>
            </a:r>
            <a:endParaRPr lang="en-US" dirty="0"/>
          </a:p>
        </p:txBody>
      </p:sp>
    </p:spTree>
    <p:extLst>
      <p:ext uri="{BB962C8B-B14F-4D97-AF65-F5344CB8AC3E}">
        <p14:creationId xmlns:p14="http://schemas.microsoft.com/office/powerpoint/2010/main" val="111308862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ne-NP" sz="4400" dirty="0"/>
              <a:t>सेवाग्राहीको सन्तुष्टि</a:t>
            </a:r>
            <a:endParaRPr lang="en-US" dirty="0"/>
          </a:p>
        </p:txBody>
      </p:sp>
    </p:spTree>
    <p:extLst>
      <p:ext uri="{BB962C8B-B14F-4D97-AF65-F5344CB8AC3E}">
        <p14:creationId xmlns:p14="http://schemas.microsoft.com/office/powerpoint/2010/main" val="365540322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e-NP" dirty="0" smtClean="0"/>
              <a:t>न्यायपालिकाको आस्था र बिश्वास अभिबृद्धिका उपायको पहिचान र अबलम्बन</a:t>
            </a:r>
            <a:endParaRPr lang="en-US" dirty="0"/>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t="115188" b="-40709"/>
          <a:stretch/>
        </p:blipFill>
        <p:spPr>
          <a:xfrm>
            <a:off x="2687661" y="3750197"/>
            <a:ext cx="6163535" cy="532436"/>
          </a:xfrm>
        </p:spPr>
      </p:pic>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t="18571" b="61886"/>
          <a:stretch/>
        </p:blipFill>
        <p:spPr>
          <a:xfrm>
            <a:off x="838200" y="3194613"/>
            <a:ext cx="9868381" cy="1551007"/>
          </a:xfrm>
          <a:prstGeom prst="rect">
            <a:avLst/>
          </a:prstGeom>
        </p:spPr>
      </p:pic>
    </p:spTree>
    <p:extLst>
      <p:ext uri="{BB962C8B-B14F-4D97-AF65-F5344CB8AC3E}">
        <p14:creationId xmlns:p14="http://schemas.microsoft.com/office/powerpoint/2010/main" val="115105323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e-NP" dirty="0" smtClean="0"/>
              <a:t>पाँचौ पंचबर्षीय योजनाले सेवाग्राही सन्तुष्टि मापन गर्ने योजना पनि राखेको छ </a:t>
            </a:r>
            <a:endParaRPr lang="en-US" dirty="0"/>
          </a:p>
        </p:txBody>
      </p:sp>
      <p:sp>
        <p:nvSpPr>
          <p:cNvPr id="3" name="Content Placeholder 2"/>
          <p:cNvSpPr>
            <a:spLocks noGrp="1"/>
          </p:cNvSpPr>
          <p:nvPr>
            <p:ph idx="1"/>
          </p:nvPr>
        </p:nvSpPr>
        <p:spPr/>
        <p:txBody>
          <a:bodyPr/>
          <a:lstStyle/>
          <a:p>
            <a:r>
              <a:rPr lang="ne-NP" dirty="0" smtClean="0"/>
              <a:t>तर हालसम्म सेवाग्राही सन्तुष्टि मापन गर्ने मापदण्ड तयार भएको देखिदैन।यो मापदण्ड तयार गर्ने जिम्मेवारी सर्वोच्च अदालतका मुख्य रजिष्टारलाइ तोकेको छ।सेवाग्राही सन्तुष्टि मापन पनि सार्वजनिक सेवा प्रवाह गर्ने निकायले आफ्नो सेवा सुधार गर्न अबलम्बन गर्ने उपायहरुमध्यको उपाय हो।</a:t>
            </a:r>
          </a:p>
          <a:p>
            <a:pPr algn="just"/>
            <a:r>
              <a:rPr lang="ne-NP" dirty="0" smtClean="0"/>
              <a:t>२०६५।०६६ को बजेट बक्तब्यबमोजिम सामान्य प्रशासन मन्त्रालयले </a:t>
            </a:r>
            <a:r>
              <a:rPr lang="ne-NP" b="1" dirty="0" smtClean="0"/>
              <a:t>सेवाग्राही सन्तुष्टि सर्वेक्षण निर्देशिका २०६८ </a:t>
            </a:r>
            <a:r>
              <a:rPr lang="ne-NP" dirty="0" smtClean="0"/>
              <a:t>जारी गरेको देखिन्छ ।यसले मालपोत यातायात जिल्ला प्रशासन र यस्तै बढी जनसंपर्क हुने कार्यालय  छनौट गरी सर्वेक्षण गर्न खटिएको टोलीले सेवाग्राहीसँग अन्तरबार्ता गर्ने कार्यालय प्रमुखसँग सोधपुछ गर्ने र सेवा प्रवाहको बिधि र प्रक्रियामा सुधार गर्ने उद्देश्य राखेको । </a:t>
            </a:r>
          </a:p>
        </p:txBody>
      </p:sp>
    </p:spTree>
    <p:extLst>
      <p:ext uri="{BB962C8B-B14F-4D97-AF65-F5344CB8AC3E}">
        <p14:creationId xmlns:p14="http://schemas.microsoft.com/office/powerpoint/2010/main" val="95230789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e-NP" sz="3200" dirty="0" smtClean="0"/>
              <a:t>अदालतहरुमा पनि बिभिन्न फारमहरु तयार गरी सेवाग्राहीलाइ दिइ बस्तुस्थिति बुझ्ने प्रयास गरिएको पाइन्छ </a:t>
            </a:r>
            <a:endParaRPr lang="en-US" sz="3200" dirty="0"/>
          </a:p>
        </p:txBody>
      </p:sp>
      <p:sp>
        <p:nvSpPr>
          <p:cNvPr id="3" name="Content Placeholder 2"/>
          <p:cNvSpPr>
            <a:spLocks noGrp="1"/>
          </p:cNvSpPr>
          <p:nvPr>
            <p:ph idx="1"/>
          </p:nvPr>
        </p:nvSpPr>
        <p:spPr/>
        <p:txBody>
          <a:bodyPr/>
          <a:lstStyle/>
          <a:p>
            <a:r>
              <a:rPr lang="ne-NP" dirty="0" smtClean="0"/>
              <a:t>त्यसैगरी प्रत्येक अदालतले </a:t>
            </a:r>
          </a:p>
          <a:p>
            <a:r>
              <a:rPr lang="ne-NP" dirty="0" smtClean="0"/>
              <a:t>बाह्य न्यायिक संवाद </a:t>
            </a:r>
          </a:p>
          <a:p>
            <a:r>
              <a:rPr lang="ne-NP" dirty="0" smtClean="0"/>
              <a:t>न्यायाधीशसँग भेटघाट</a:t>
            </a:r>
          </a:p>
          <a:p>
            <a:r>
              <a:rPr lang="ne-NP" dirty="0" smtClean="0"/>
              <a:t>बार र बेन्च बैठक</a:t>
            </a:r>
          </a:p>
          <a:p>
            <a:r>
              <a:rPr lang="ne-NP" dirty="0" smtClean="0"/>
              <a:t>कर्मचारी बैठक</a:t>
            </a:r>
          </a:p>
          <a:p>
            <a:r>
              <a:rPr lang="ne-NP" dirty="0" smtClean="0"/>
              <a:t>गुनासो सुनुवाइ </a:t>
            </a:r>
          </a:p>
          <a:p>
            <a:r>
              <a:rPr lang="ne-NP" dirty="0" smtClean="0"/>
              <a:t>मासिक तथा अर्धबार्षिक समीक्षा कार्यक्रम</a:t>
            </a:r>
          </a:p>
          <a:p>
            <a:endParaRPr lang="en-US" dirty="0"/>
          </a:p>
        </p:txBody>
      </p:sp>
    </p:spTree>
    <p:extLst>
      <p:ext uri="{BB962C8B-B14F-4D97-AF65-F5344CB8AC3E}">
        <p14:creationId xmlns:p14="http://schemas.microsoft.com/office/powerpoint/2010/main" val="240953395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e-NP" dirty="0" smtClean="0"/>
              <a:t>सर्वोच्च अदालतले उत्कृष्ट अदालत छनौट  गर्दछ</a:t>
            </a:r>
            <a:endParaRPr lang="en-US" dirty="0"/>
          </a:p>
        </p:txBody>
      </p:sp>
      <p:sp>
        <p:nvSpPr>
          <p:cNvPr id="3" name="Content Placeholder 2"/>
          <p:cNvSpPr>
            <a:spLocks noGrp="1"/>
          </p:cNvSpPr>
          <p:nvPr>
            <p:ph idx="1"/>
          </p:nvPr>
        </p:nvSpPr>
        <p:spPr/>
        <p:txBody>
          <a:bodyPr>
            <a:normAutofit/>
          </a:bodyPr>
          <a:lstStyle/>
          <a:p>
            <a:pPr algn="just"/>
            <a:r>
              <a:rPr lang="ne-NP" dirty="0" smtClean="0"/>
              <a:t>त्यस आ व मा दर्ताभन्दा फर्छौयट बढी हुनुपर्ने</a:t>
            </a:r>
          </a:p>
          <a:p>
            <a:pPr algn="just"/>
            <a:r>
              <a:rPr lang="ne-NP" dirty="0" smtClean="0"/>
              <a:t>फर्छयौट प्रतिशत </a:t>
            </a:r>
          </a:p>
          <a:p>
            <a:pPr algn="just"/>
            <a:r>
              <a:rPr lang="ne-NP" dirty="0"/>
              <a:t> </a:t>
            </a:r>
            <a:r>
              <a:rPr lang="ne-NP" dirty="0" smtClean="0"/>
              <a:t>२ बर्ष र १८ महिना नाघेका मुद्दा शुन्य हुनुपर्ने</a:t>
            </a:r>
          </a:p>
          <a:p>
            <a:pPr algn="just"/>
            <a:r>
              <a:rPr lang="ne-NP" dirty="0" smtClean="0"/>
              <a:t>१ बर्षभन्दा मुनीका मुद्दा पनि कम हुनुपर्ने</a:t>
            </a:r>
          </a:p>
          <a:p>
            <a:pPr algn="just"/>
            <a:r>
              <a:rPr lang="ne-NP" dirty="0" smtClean="0"/>
              <a:t>प्रति न्यायाधीश फर्छयौट औषत दर</a:t>
            </a:r>
          </a:p>
          <a:p>
            <a:pPr algn="just"/>
            <a:r>
              <a:rPr lang="en-US" dirty="0" smtClean="0"/>
              <a:t>DCM </a:t>
            </a:r>
            <a:r>
              <a:rPr lang="ne-NP" dirty="0" smtClean="0"/>
              <a:t>कार्यान्वयनको प्रभावकारीता आदिका  आधारमा</a:t>
            </a:r>
          </a:p>
          <a:p>
            <a:pPr algn="just"/>
            <a:endParaRPr lang="ne-NP" dirty="0" smtClean="0"/>
          </a:p>
          <a:p>
            <a:endParaRPr lang="en-US" dirty="0"/>
          </a:p>
        </p:txBody>
      </p:sp>
    </p:spTree>
    <p:extLst>
      <p:ext uri="{BB962C8B-B14F-4D97-AF65-F5344CB8AC3E}">
        <p14:creationId xmlns:p14="http://schemas.microsoft.com/office/powerpoint/2010/main" val="10405743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e-NP" dirty="0" smtClean="0"/>
              <a:t>प्रत्येक बर्ष उत्कृष्ट न्यायाधीश छनौट</a:t>
            </a:r>
            <a:endParaRPr lang="en-US" dirty="0"/>
          </a:p>
        </p:txBody>
      </p:sp>
      <p:sp>
        <p:nvSpPr>
          <p:cNvPr id="3" name="Content Placeholder 2"/>
          <p:cNvSpPr>
            <a:spLocks noGrp="1"/>
          </p:cNvSpPr>
          <p:nvPr>
            <p:ph idx="1"/>
          </p:nvPr>
        </p:nvSpPr>
        <p:spPr/>
        <p:txBody>
          <a:bodyPr/>
          <a:lstStyle/>
          <a:p>
            <a:r>
              <a:rPr lang="ne-NP" dirty="0" smtClean="0"/>
              <a:t>धेरै मुद्दा फर्छयौट </a:t>
            </a:r>
          </a:p>
          <a:p>
            <a:r>
              <a:rPr lang="ne-NP" dirty="0" smtClean="0"/>
              <a:t>उजुरी नपरेको हुनु </a:t>
            </a:r>
          </a:p>
          <a:p>
            <a:r>
              <a:rPr lang="ne-NP" dirty="0" smtClean="0"/>
              <a:t>आचार संहिताको पालना</a:t>
            </a:r>
            <a:endParaRPr lang="en-US" dirty="0"/>
          </a:p>
        </p:txBody>
      </p:sp>
    </p:spTree>
    <p:extLst>
      <p:ext uri="{BB962C8B-B14F-4D97-AF65-F5344CB8AC3E}">
        <p14:creationId xmlns:p14="http://schemas.microsoft.com/office/powerpoint/2010/main" val="126517342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e-NP" dirty="0" smtClean="0"/>
              <a:t>प्रभावकारी कार्य संपादनका बिद्यमान समस्याहरु</a:t>
            </a:r>
            <a:endParaRPr lang="en-US" dirty="0">
              <a:solidFill>
                <a:srgbClr val="FF0000"/>
              </a:solidFill>
            </a:endParaRPr>
          </a:p>
        </p:txBody>
      </p:sp>
      <p:sp>
        <p:nvSpPr>
          <p:cNvPr id="3" name="Content Placeholder 2"/>
          <p:cNvSpPr>
            <a:spLocks noGrp="1"/>
          </p:cNvSpPr>
          <p:nvPr>
            <p:ph idx="1"/>
          </p:nvPr>
        </p:nvSpPr>
        <p:spPr/>
        <p:txBody>
          <a:bodyPr>
            <a:normAutofit fontScale="92500"/>
          </a:bodyPr>
          <a:lstStyle/>
          <a:p>
            <a:r>
              <a:rPr lang="ne-NP" dirty="0" smtClean="0"/>
              <a:t>मुद्दा फर्छयौटबाहेकका न्यायाधीशका अन्य कार्यहरुको सूचकमा आउन नसक्नु</a:t>
            </a:r>
          </a:p>
          <a:p>
            <a:r>
              <a:rPr lang="ne-NP" dirty="0" smtClean="0"/>
              <a:t>जस्तो थुनछेक आदेश</a:t>
            </a:r>
            <a:r>
              <a:rPr lang="en-US" dirty="0" smtClean="0"/>
              <a:t>,</a:t>
            </a:r>
            <a:r>
              <a:rPr lang="ne-NP" dirty="0" smtClean="0"/>
              <a:t> तदती आदेश</a:t>
            </a:r>
            <a:r>
              <a:rPr lang="en-US" dirty="0" smtClean="0"/>
              <a:t>,</a:t>
            </a:r>
            <a:r>
              <a:rPr lang="ne-NP" dirty="0" smtClean="0"/>
              <a:t> प्र</a:t>
            </a:r>
            <a:r>
              <a:rPr lang="en-US" dirty="0" smtClean="0"/>
              <a:t>.</a:t>
            </a:r>
            <a:r>
              <a:rPr lang="ne-NP" dirty="0" smtClean="0"/>
              <a:t> मु</a:t>
            </a:r>
            <a:r>
              <a:rPr lang="en-US" dirty="0" smtClean="0"/>
              <a:t>.</a:t>
            </a:r>
            <a:r>
              <a:rPr lang="ne-NP" dirty="0" smtClean="0"/>
              <a:t> आदेश</a:t>
            </a:r>
            <a:r>
              <a:rPr lang="en-US" dirty="0" smtClean="0"/>
              <a:t>,</a:t>
            </a:r>
            <a:r>
              <a:rPr lang="ne-NP" dirty="0" smtClean="0"/>
              <a:t> अन्तरिम आदेश</a:t>
            </a:r>
            <a:r>
              <a:rPr lang="en-US" dirty="0" smtClean="0"/>
              <a:t>,</a:t>
            </a:r>
            <a:r>
              <a:rPr lang="ne-NP" dirty="0" smtClean="0"/>
              <a:t> अन्तरकालीन आदेश</a:t>
            </a:r>
            <a:r>
              <a:rPr lang="en-US" dirty="0" smtClean="0"/>
              <a:t>,</a:t>
            </a:r>
            <a:r>
              <a:rPr lang="ne-NP" dirty="0" smtClean="0"/>
              <a:t> प्रारम्भिक सुनुवाइका  आदेश</a:t>
            </a:r>
            <a:r>
              <a:rPr lang="en-US" dirty="0" smtClean="0"/>
              <a:t>,</a:t>
            </a:r>
            <a:r>
              <a:rPr lang="ne-NP" dirty="0" smtClean="0"/>
              <a:t> ६ वटा बिशेष निवेदन उपरका फर्छयौटसम्बन्धी आदेश ।</a:t>
            </a:r>
          </a:p>
          <a:p>
            <a:r>
              <a:rPr lang="ne-NP" dirty="0" smtClean="0"/>
              <a:t>श्रेस्त</a:t>
            </a:r>
            <a:r>
              <a:rPr lang="ne-NP" sz="3200" dirty="0" smtClean="0"/>
              <a:t>ेदार र तहसिलदारका आदेश उपरका आदेश</a:t>
            </a:r>
            <a:r>
              <a:rPr lang="en-US" sz="3200" dirty="0" smtClean="0"/>
              <a:t>,</a:t>
            </a:r>
            <a:r>
              <a:rPr lang="ne-NP" sz="3200" dirty="0" smtClean="0"/>
              <a:t> कैद थुनामा राखी पाउँ भन्ने निवेदन</a:t>
            </a:r>
            <a:r>
              <a:rPr lang="en-US" sz="3200" dirty="0" smtClean="0"/>
              <a:t>,</a:t>
            </a:r>
            <a:r>
              <a:rPr lang="ne-NP" sz="3200" dirty="0" smtClean="0"/>
              <a:t> १५५ का आदेशले इजलासको धेरै समय खाएको छ।यी कार्यहरुको न्यायाधीशको कार्य संपादनमा आएको छैन।  </a:t>
            </a:r>
            <a:endParaRPr lang="ne-NP" dirty="0" smtClean="0"/>
          </a:p>
          <a:p>
            <a:endParaRPr lang="ne-NP" dirty="0"/>
          </a:p>
          <a:p>
            <a:pPr marL="0" indent="0">
              <a:buNone/>
            </a:pPr>
            <a:r>
              <a:rPr lang="ne-NP" dirty="0" smtClean="0"/>
              <a:t> </a:t>
            </a:r>
            <a:endParaRPr lang="en-US" dirty="0"/>
          </a:p>
        </p:txBody>
      </p:sp>
    </p:spTree>
    <p:extLst>
      <p:ext uri="{BB962C8B-B14F-4D97-AF65-F5344CB8AC3E}">
        <p14:creationId xmlns:p14="http://schemas.microsoft.com/office/powerpoint/2010/main" val="379093411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e-NP" dirty="0" smtClean="0"/>
              <a:t>कार्य संपादन प्रभावकारी हुन नसक्नुका केही कारणहरु</a:t>
            </a:r>
            <a:endParaRPr lang="en-US" dirty="0"/>
          </a:p>
        </p:txBody>
      </p:sp>
      <p:sp>
        <p:nvSpPr>
          <p:cNvPr id="3" name="Content Placeholder 2"/>
          <p:cNvSpPr>
            <a:spLocks noGrp="1"/>
          </p:cNvSpPr>
          <p:nvPr>
            <p:ph idx="1"/>
          </p:nvPr>
        </p:nvSpPr>
        <p:spPr/>
        <p:txBody>
          <a:bodyPr>
            <a:normAutofit fontScale="92500" lnSpcReduction="10000"/>
          </a:bodyPr>
          <a:lstStyle/>
          <a:p>
            <a:r>
              <a:rPr lang="ne-NP" dirty="0" smtClean="0"/>
              <a:t>अदालतको कार्य </a:t>
            </a:r>
            <a:r>
              <a:rPr lang="en-US" dirty="0" smtClean="0"/>
              <a:t>Unipolar </a:t>
            </a:r>
            <a:r>
              <a:rPr lang="ne-NP" dirty="0" smtClean="0"/>
              <a:t>नभएर </a:t>
            </a:r>
            <a:r>
              <a:rPr lang="en-US" dirty="0" smtClean="0"/>
              <a:t>Bipolar</a:t>
            </a:r>
            <a:r>
              <a:rPr lang="ne-NP" dirty="0" smtClean="0"/>
              <a:t> हुँदा एक पक्षले ढिला गराउनमा भूमीका खेलीरहेको हुन्छ।यसका कानुनी तिगडम तोड्न असहज</a:t>
            </a:r>
          </a:p>
          <a:p>
            <a:r>
              <a:rPr lang="ne-NP" dirty="0" smtClean="0"/>
              <a:t>पावरफुल बि कमजोर।</a:t>
            </a:r>
          </a:p>
          <a:p>
            <a:r>
              <a:rPr lang="ne-NP" dirty="0" smtClean="0"/>
              <a:t>धेरै बर्ष पुराना मुद्दाहरुमा नयाँ मुद्दा हाली लगाउ राख्ने र मुद्दा प्रवाहलाइ अल्झाउने गर्नु।</a:t>
            </a:r>
          </a:p>
          <a:p>
            <a:r>
              <a:rPr lang="ne-NP" dirty="0" smtClean="0"/>
              <a:t>कार्यबोझले थिचिएका अदालतहरुमा जटिल मुद्दामा आदेशमाथि आदेश गर्ने एकै पटक प्रमाण बुझ्ने गरी आदेश गर्न असहज।</a:t>
            </a:r>
          </a:p>
          <a:p>
            <a:r>
              <a:rPr lang="ne-NP" dirty="0" smtClean="0"/>
              <a:t>फौजदारी मुद्दामा अभियोग दर्तापछि मुद्दा प्रवाहमा सरकारी पक्षको प्रभावकारी भूमिका हुन नसक्नु।साक्षी संरक्षण हुन नसक्नुका अतिरिक्त प्रमाण  संकलन धेरै समय लाग्नु एउटै आदेशमा साक्षी उपस्थित नहुदाँ पटक पटक आदेश गर्नुपर्ने तथा ११२ लगाउदाँ पनि म्याद बेपत्ते हुने प्रचलन ।</a:t>
            </a:r>
            <a:endParaRPr lang="en-US" dirty="0"/>
          </a:p>
        </p:txBody>
      </p:sp>
    </p:spTree>
    <p:extLst>
      <p:ext uri="{BB962C8B-B14F-4D97-AF65-F5344CB8AC3E}">
        <p14:creationId xmlns:p14="http://schemas.microsoft.com/office/powerpoint/2010/main" val="310756416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lnSpcReduction="10000"/>
          </a:bodyPr>
          <a:lstStyle/>
          <a:p>
            <a:r>
              <a:rPr lang="ne-NP" dirty="0" smtClean="0"/>
              <a:t>फौजदारी मुद्दामा फरारीलाइ अभियोग लगाउने ब्यबस्थाले पटक पटक म्याद बेपत्ते हुँदा समय लाग्ने।बेजिल्लाका पक्राउ पुर्जी बाटैमा हराउने।</a:t>
            </a:r>
          </a:p>
          <a:p>
            <a:r>
              <a:rPr lang="ne-NP" dirty="0" smtClean="0"/>
              <a:t>प्रर्याप्त बिशेषज्ञ र ल्याबको ब्यबस्था नहुँदा प्रहरी बिधि बिज्ञान प्रयोगशालामा कार्यचाप हुँदा परीक्षण प्रतिवेदन आउन एक दुइ बर्ष लाग्ने।</a:t>
            </a:r>
          </a:p>
          <a:p>
            <a:r>
              <a:rPr lang="ne-NP" dirty="0" smtClean="0"/>
              <a:t>मालपोत नापी जस्ता निकायबाट मागेका प्रमाण मिसिलहरु समयमा आउन नसक्नु ।श्रेस्ता त बरु आउँछन।</a:t>
            </a:r>
          </a:p>
          <a:p>
            <a:r>
              <a:rPr lang="ne-NP" dirty="0" smtClean="0"/>
              <a:t>धेरै का ब्य र बढी समयको बहस  २ पटक अनिबार्य स्थगित माग।</a:t>
            </a:r>
          </a:p>
          <a:p>
            <a:r>
              <a:rPr lang="ne-NP" dirty="0" smtClean="0"/>
              <a:t>मेलमिलापबाट परिणाम नआउने तर प्रक्रियामा समय धेरै खाने जस्ता कार्यहरु</a:t>
            </a:r>
          </a:p>
          <a:p>
            <a:r>
              <a:rPr lang="ne-NP" dirty="0" smtClean="0"/>
              <a:t>अरु </a:t>
            </a:r>
            <a:r>
              <a:rPr lang="en-US" dirty="0" smtClean="0"/>
              <a:t>?</a:t>
            </a:r>
            <a:endParaRPr lang="en-US" dirty="0"/>
          </a:p>
        </p:txBody>
      </p:sp>
    </p:spTree>
    <p:extLst>
      <p:ext uri="{BB962C8B-B14F-4D97-AF65-F5344CB8AC3E}">
        <p14:creationId xmlns:p14="http://schemas.microsoft.com/office/powerpoint/2010/main" val="280373185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ne-NP" dirty="0" smtClean="0"/>
              <a:t>चुस्त न्याय संपादनका लागि मिलाउनुपर्ने आन्तरिक र बाह्य बाताबरण </a:t>
            </a:r>
          </a:p>
          <a:p>
            <a:r>
              <a:rPr lang="ne-NP" b="1" u="sng" dirty="0" smtClean="0"/>
              <a:t>आन्तरिक बाताबरण</a:t>
            </a:r>
          </a:p>
          <a:p>
            <a:r>
              <a:rPr lang="ne-NP" dirty="0" smtClean="0"/>
              <a:t>आबश्यकतानुसार दक्ष कर्मचारी</a:t>
            </a:r>
            <a:r>
              <a:rPr lang="en-US" dirty="0" smtClean="0"/>
              <a:t> /</a:t>
            </a:r>
            <a:r>
              <a:rPr lang="ne-NP" dirty="0" smtClean="0"/>
              <a:t> </a:t>
            </a:r>
          </a:p>
          <a:p>
            <a:r>
              <a:rPr lang="ne-NP" dirty="0"/>
              <a:t> </a:t>
            </a:r>
            <a:r>
              <a:rPr lang="ne-NP" dirty="0" smtClean="0"/>
              <a:t>आबश्यक संख्यामा न्यायाधीश</a:t>
            </a:r>
            <a:r>
              <a:rPr lang="en-US" dirty="0" smtClean="0"/>
              <a:t>/</a:t>
            </a:r>
            <a:r>
              <a:rPr lang="ne-NP" dirty="0" smtClean="0"/>
              <a:t> सरुवा तथा काज गर्दा बिचार गर्ने</a:t>
            </a:r>
          </a:p>
          <a:p>
            <a:r>
              <a:rPr lang="ne-NP" dirty="0" smtClean="0"/>
              <a:t>दक्ष न्या तथा कर्मचारीबाट मुद्दाको अनुगमन र निरीक्षण </a:t>
            </a:r>
          </a:p>
          <a:p>
            <a:r>
              <a:rPr lang="ne-NP" dirty="0" smtClean="0"/>
              <a:t>निरीक्षणबाट देखिएका कमी कमीजोरीको तत्काल संबोधन ।</a:t>
            </a:r>
          </a:p>
          <a:p>
            <a:r>
              <a:rPr lang="ne-NP" dirty="0" smtClean="0"/>
              <a:t>अंग पुर्याउने कार्यमा शिघ्रता </a:t>
            </a:r>
            <a:endParaRPr lang="en-US" dirty="0"/>
          </a:p>
        </p:txBody>
      </p:sp>
    </p:spTree>
    <p:extLst>
      <p:ext uri="{BB962C8B-B14F-4D97-AF65-F5344CB8AC3E}">
        <p14:creationId xmlns:p14="http://schemas.microsoft.com/office/powerpoint/2010/main" val="82973659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ne-NP" dirty="0" smtClean="0"/>
              <a:t>पत्राचार टेलिफोनका अतिरिक्त गाडीबाटै पनि आबश्यक मिसिल पत्र लाने ल्याउने ब्यबस्था ।</a:t>
            </a:r>
          </a:p>
          <a:p>
            <a:r>
              <a:rPr lang="ne-NP" dirty="0" smtClean="0"/>
              <a:t>पुराना मुद्दाहरुको कारवाहीको न्या तथा निरिक्षकहरुबाट बिशेष निगरानी </a:t>
            </a:r>
          </a:p>
          <a:p>
            <a:r>
              <a:rPr lang="ne-NP" dirty="0" smtClean="0"/>
              <a:t>पुराना मुद्दाहरु सबै न्यायाधीशले हेर्न मिल्ने गरी पेशी ब्यबस्थापन</a:t>
            </a:r>
          </a:p>
          <a:p>
            <a:r>
              <a:rPr lang="ne-NP" b="1" u="sng" dirty="0" smtClean="0"/>
              <a:t>बाह्य बाताबरण तथा सरोकारवाला निकायहरुसँगको सहकार्य</a:t>
            </a:r>
          </a:p>
          <a:p>
            <a:r>
              <a:rPr lang="ne-NP" dirty="0" smtClean="0"/>
              <a:t>बार सरकारी वकिल प्रहरी प्रशासन माल नापी भूमिसुधार बन तथा स्थानीयक तहसँगको सुमधुर सम्बन्ध हुन नसकेमा परिणाम सकारात्मक रहन सक्दैन ।</a:t>
            </a:r>
          </a:p>
          <a:p>
            <a:r>
              <a:rPr lang="ne-NP" dirty="0" smtClean="0"/>
              <a:t>अनुचित सम्बन्ध पनि अबान्छित हुन्छ भने आबश्यक पर्ने सम्बन्ध स्थापित हुन नसके परिणाम सुखद आउँदैन ।मिसिल प्रमाण श्रेस्ता तथा श्रोत साधनको आपूर्ती पनि असहज हुन जान्छ ।</a:t>
            </a:r>
            <a:endParaRPr lang="en-US" dirty="0"/>
          </a:p>
        </p:txBody>
      </p:sp>
    </p:spTree>
    <p:extLst>
      <p:ext uri="{BB962C8B-B14F-4D97-AF65-F5344CB8AC3E}">
        <p14:creationId xmlns:p14="http://schemas.microsoft.com/office/powerpoint/2010/main" val="285337101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style>
          <a:lnRef idx="2">
            <a:schemeClr val="accent1">
              <a:shade val="50000"/>
            </a:schemeClr>
          </a:lnRef>
          <a:fillRef idx="1">
            <a:schemeClr val="accent1"/>
          </a:fillRef>
          <a:effectRef idx="0">
            <a:schemeClr val="accent1"/>
          </a:effectRef>
          <a:fontRef idx="minor">
            <a:schemeClr val="lt1"/>
          </a:fontRef>
        </p:style>
        <p:txBody>
          <a:bodyPr/>
          <a:lstStyle/>
          <a:p>
            <a:endParaRPr lang="ne-NP" sz="4000" dirty="0" smtClean="0"/>
          </a:p>
          <a:p>
            <a:endParaRPr lang="ne-NP" sz="4000" dirty="0"/>
          </a:p>
          <a:p>
            <a:r>
              <a:rPr lang="ne-NP" sz="4000" dirty="0" smtClean="0"/>
              <a:t>     </a:t>
            </a:r>
            <a:r>
              <a:rPr lang="ne-NP" sz="4000" dirty="0" smtClean="0">
                <a:solidFill>
                  <a:srgbClr val="FF0000"/>
                </a:solidFill>
              </a:rPr>
              <a:t>केही जिज्ञास भए</a:t>
            </a:r>
            <a:r>
              <a:rPr lang="ne-NP" sz="4000" dirty="0" smtClean="0"/>
              <a:t> ?</a:t>
            </a:r>
            <a:endParaRPr lang="en-US" dirty="0"/>
          </a:p>
        </p:txBody>
      </p:sp>
    </p:spTree>
    <p:extLst>
      <p:ext uri="{BB962C8B-B14F-4D97-AF65-F5344CB8AC3E}">
        <p14:creationId xmlns:p14="http://schemas.microsoft.com/office/powerpoint/2010/main" val="329834299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ne-NP" dirty="0" smtClean="0"/>
          </a:p>
          <a:p>
            <a:r>
              <a:rPr lang="ne-NP" dirty="0"/>
              <a:t> </a:t>
            </a:r>
            <a:r>
              <a:rPr lang="ne-NP" dirty="0" smtClean="0"/>
              <a:t>     </a:t>
            </a:r>
            <a:r>
              <a:rPr lang="ne-NP" sz="7200" dirty="0" smtClean="0"/>
              <a:t>धैर्यताका लागि</a:t>
            </a:r>
            <a:r>
              <a:rPr lang="ne-NP" dirty="0" smtClean="0"/>
              <a:t>  </a:t>
            </a:r>
            <a:r>
              <a:rPr lang="ne-NP" sz="8000" dirty="0" smtClean="0"/>
              <a:t>धन्यबाद</a:t>
            </a:r>
            <a:endParaRPr lang="en-US" dirty="0"/>
          </a:p>
        </p:txBody>
      </p:sp>
    </p:spTree>
    <p:extLst>
      <p:ext uri="{BB962C8B-B14F-4D97-AF65-F5344CB8AC3E}">
        <p14:creationId xmlns:p14="http://schemas.microsoft.com/office/powerpoint/2010/main" val="245405503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865</TotalTime>
  <Words>1455</Words>
  <Application>Microsoft Office PowerPoint</Application>
  <PresentationFormat>Widescreen</PresentationFormat>
  <Paragraphs>135</Paragraphs>
  <Slides>41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Arial</vt:lpstr>
      <vt:lpstr>Calibri</vt:lpstr>
      <vt:lpstr>Calibri Light</vt:lpstr>
      <vt:lpstr>Mangal</vt:lpstr>
      <vt:lpstr>कालीमाटी </vt:lpstr>
      <vt:lpstr>Office Theme</vt:lpstr>
      <vt:lpstr>जिल्ला अदालतको कार्य संपादन मापदण्ड र सूचक</vt:lpstr>
      <vt:lpstr>PowerPoint Presentation</vt:lpstr>
      <vt:lpstr>PowerPoint Presentation</vt:lpstr>
      <vt:lpstr>PowerPoint Presentation</vt:lpstr>
      <vt:lpstr>PowerPoint Presentation</vt:lpstr>
      <vt:lpstr>अदालतको कार्य संपादन मापदण्डको अबधारणा</vt:lpstr>
      <vt:lpstr>PowerPoint Presentation</vt:lpstr>
      <vt:lpstr>PowerPoint Presentation</vt:lpstr>
      <vt:lpstr>योजनाबद्ध बिकास</vt:lpstr>
      <vt:lpstr>PowerPoint Presentation</vt:lpstr>
      <vt:lpstr>बिगत १० बर्षमा अदालतमा रहेको कार्यबोझको अबस्था</vt:lpstr>
      <vt:lpstr>PowerPoint Presentation</vt:lpstr>
      <vt:lpstr>PowerPoint Presentation</vt:lpstr>
      <vt:lpstr>PowerPoint Presentation</vt:lpstr>
      <vt:lpstr>PowerPoint Presentation</vt:lpstr>
      <vt:lpstr>आ. ब. २०७९।८० को अन्तमा बाँकी रहेका मुद्दाको बिबरण</vt:lpstr>
      <vt:lpstr>PowerPoint Presentation</vt:lpstr>
      <vt:lpstr>आर्थिक बर्ष २०८०।०८१ को बैशाख मसान्तसम्म सबै तहका अदालत तथा न्यायाधिकणहरुमा अबधिगत मुद्दाको बिबरण</vt:lpstr>
      <vt:lpstr>आर्थिक बर्ष २०८०।८१ को बैशाख मसान्तसम्म फैसला कार्यान्वयनसम्बन्धी बाँकी लगतको बिबरण</vt:lpstr>
      <vt:lpstr>जिल्ला अदालततर्फ शिघ्र न्याय संपादन र सूचक पाँचौ पंचबर्षीय रणनीतिक योजना २०८१।०८६ का आधारमा</vt:lpstr>
      <vt:lpstr>जिल्ला अदालततर्फ फैसला कार्यान्वयन सूचक पाँचौ पंचबर्षीय रणनीतिक योजना २०८१।०८६ का आधारमा</vt:lpstr>
      <vt:lpstr>PowerPoint Presentation</vt:lpstr>
      <vt:lpstr>PowerPoint Presentation</vt:lpstr>
      <vt:lpstr>PowerPoint Presentation</vt:lpstr>
      <vt:lpstr>न्यायमा पहँच</vt:lpstr>
      <vt:lpstr>न्यायमा पहुँच पाँचौ योजनामा</vt:lpstr>
      <vt:lpstr>PowerPoint Presentation</vt:lpstr>
      <vt:lpstr>PowerPoint Presentation</vt:lpstr>
      <vt:lpstr>PowerPoint Presentation</vt:lpstr>
      <vt:lpstr>न्यायपालिकाको आस्था र बिश्वास अभिबृद्धिका उपायको पहिचान र अबलम्बन</vt:lpstr>
      <vt:lpstr>पाँचौ पंचबर्षीय योजनाले सेवाग्राही सन्तुष्टि मापन गर्ने योजना पनि राखेको छ </vt:lpstr>
      <vt:lpstr>अदालतहरुमा पनि बिभिन्न फारमहरु तयार गरी सेवाग्राहीलाइ दिइ बस्तुस्थिति बुझ्ने प्रयास गरिएको पाइन्छ </vt:lpstr>
      <vt:lpstr>सर्वोच्च अदालतले उत्कृष्ट अदालत छनौट  गर्दछ</vt:lpstr>
      <vt:lpstr>प्रत्येक बर्ष उत्कृष्ट न्यायाधीश छनौट</vt:lpstr>
      <vt:lpstr>प्रभावकारी कार्य संपादनका बिद्यमान समस्याहरु</vt:lpstr>
      <vt:lpstr>कार्य संपादन प्रभावकारी हुन नसक्नुका केही कारणहरु</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जिल्ला अदालतको कार्य संपादन मापदण्ड र सूचक</dc:title>
  <dc:creator>grkha</dc:creator>
  <cp:lastModifiedBy>grkha</cp:lastModifiedBy>
  <cp:revision>93</cp:revision>
  <dcterms:created xsi:type="dcterms:W3CDTF">2026-01-10T04:54:01Z</dcterms:created>
  <dcterms:modified xsi:type="dcterms:W3CDTF">2026-01-14T03:30:17Z</dcterms:modified>
</cp:coreProperties>
</file>