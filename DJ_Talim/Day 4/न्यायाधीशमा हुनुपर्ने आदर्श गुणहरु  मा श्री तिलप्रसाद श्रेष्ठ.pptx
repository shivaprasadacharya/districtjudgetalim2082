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409" r:id="rId4"/>
    <p:sldId id="324" r:id="rId5"/>
    <p:sldId id="369" r:id="rId6"/>
    <p:sldId id="367" r:id="rId7"/>
    <p:sldId id="376" r:id="rId8"/>
    <p:sldId id="360" r:id="rId9"/>
    <p:sldId id="326" r:id="rId10"/>
    <p:sldId id="377" r:id="rId11"/>
    <p:sldId id="378" r:id="rId12"/>
    <p:sldId id="323" r:id="rId13"/>
    <p:sldId id="330" r:id="rId14"/>
    <p:sldId id="384" r:id="rId15"/>
    <p:sldId id="350" r:id="rId16"/>
    <p:sldId id="355" r:id="rId17"/>
    <p:sldId id="356" r:id="rId18"/>
    <p:sldId id="358" r:id="rId19"/>
    <p:sldId id="344" r:id="rId20"/>
    <p:sldId id="342" r:id="rId21"/>
    <p:sldId id="343" r:id="rId22"/>
    <p:sldId id="407" r:id="rId23"/>
    <p:sldId id="408" r:id="rId24"/>
    <p:sldId id="383" r:id="rId25"/>
    <p:sldId id="341" r:id="rId26"/>
    <p:sldId id="347" r:id="rId27"/>
    <p:sldId id="385" r:id="rId28"/>
    <p:sldId id="349" r:id="rId29"/>
    <p:sldId id="331" r:id="rId30"/>
    <p:sldId id="387" r:id="rId31"/>
    <p:sldId id="386" r:id="rId32"/>
    <p:sldId id="399" r:id="rId33"/>
    <p:sldId id="400" r:id="rId34"/>
    <p:sldId id="406" r:id="rId35"/>
    <p:sldId id="393"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4660"/>
  </p:normalViewPr>
  <p:slideViewPr>
    <p:cSldViewPr snapToGrid="0">
      <p:cViewPr varScale="1">
        <p:scale>
          <a:sx n="64" d="100"/>
          <a:sy n="64" d="100"/>
        </p:scale>
        <p:origin x="52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CC37E20-52F0-44BF-B9C7-914FB93C31A8}"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2780250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C37E20-52F0-44BF-B9C7-914FB93C31A8}"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3364742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C37E20-52F0-44BF-B9C7-914FB93C31A8}"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1191970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CC37E20-52F0-44BF-B9C7-914FB93C31A8}"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550564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CC37E20-52F0-44BF-B9C7-914FB93C31A8}" type="datetimeFigureOut">
              <a:rPr lang="en-US" smtClean="0"/>
              <a:t>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2831691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CC37E20-52F0-44BF-B9C7-914FB93C31A8}" type="datetimeFigureOut">
              <a:rPr lang="en-US" smtClean="0"/>
              <a:t>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3931261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C37E20-52F0-44BF-B9C7-914FB93C31A8}" type="datetimeFigureOut">
              <a:rPr lang="en-US" smtClean="0"/>
              <a:t>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2813176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C37E20-52F0-44BF-B9C7-914FB93C31A8}"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3894217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C37E20-52F0-44BF-B9C7-914FB93C31A8}" type="datetimeFigureOut">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267276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C37E20-52F0-44BF-B9C7-914FB93C31A8}"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62873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C37E20-52F0-44BF-B9C7-914FB93C31A8}" type="datetimeFigureOut">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13FDCD-EAB3-4969-BC32-0F5C940225E4}" type="slidenum">
              <a:rPr lang="en-US" smtClean="0"/>
              <a:t>‹#›</a:t>
            </a:fld>
            <a:endParaRPr lang="en-US"/>
          </a:p>
        </p:txBody>
      </p:sp>
    </p:spTree>
    <p:extLst>
      <p:ext uri="{BB962C8B-B14F-4D97-AF65-F5344CB8AC3E}">
        <p14:creationId xmlns:p14="http://schemas.microsoft.com/office/powerpoint/2010/main" val="91486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C37E20-52F0-44BF-B9C7-914FB93C31A8}" type="datetimeFigureOut">
              <a:rPr lang="en-US" smtClean="0"/>
              <a:t>1/19/2024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13FDCD-EAB3-4969-BC32-0F5C940225E4}" type="slidenum">
              <a:rPr lang="en-US" smtClean="0"/>
              <a:t>‹#›</a:t>
            </a:fld>
            <a:endParaRPr lang="en-US"/>
          </a:p>
        </p:txBody>
      </p:sp>
    </p:spTree>
    <p:extLst>
      <p:ext uri="{BB962C8B-B14F-4D97-AF65-F5344CB8AC3E}">
        <p14:creationId xmlns:p14="http://schemas.microsoft.com/office/powerpoint/2010/main" val="156321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file:///C:\Users\acer\Desktop\Qualities\Paper-Maroney.pdf" TargetMode="External"/><Relationship Id="rId2" Type="http://schemas.openxmlformats.org/officeDocument/2006/relationships/hyperlink" Target="file:///C:\Users\acer\Desktop\Qualities\Ethical-Standards-for-Judges.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katzjustice.com/the-undemocratic-power-of-judge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katzjustice.com/standing-when-the-judge-enters-the-courtroom-is-a-two-way-stree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5968440"/>
          </a:xfrm>
          <a:blipFill>
            <a:blip r:embed="rId2"/>
            <a:tile tx="0" ty="0" sx="100000" sy="100000" flip="none" algn="tl"/>
          </a:blipFill>
        </p:spPr>
        <p:txBody>
          <a:bodyPr>
            <a:normAutofit/>
          </a:bodyPr>
          <a:lstStyle/>
          <a:p>
            <a:pPr algn="ctr"/>
            <a:r>
              <a:rPr lang="en-US" sz="5400" b="1" dirty="0" smtClean="0">
                <a:solidFill>
                  <a:schemeClr val="bg1"/>
                </a:solidFill>
                <a:latin typeface="Times New Roman" panose="02020603050405020304" pitchFamily="18" charset="0"/>
                <a:cs typeface="Times New Roman" panose="02020603050405020304" pitchFamily="18" charset="0"/>
              </a:rPr>
              <a:t/>
            </a:r>
            <a:br>
              <a:rPr lang="en-US" sz="5400" b="1" dirty="0" smtClean="0">
                <a:solidFill>
                  <a:schemeClr val="bg1"/>
                </a:solidFill>
                <a:latin typeface="Times New Roman" panose="02020603050405020304" pitchFamily="18" charset="0"/>
                <a:cs typeface="Times New Roman" panose="02020603050405020304" pitchFamily="18" charset="0"/>
              </a:rPr>
            </a:br>
            <a:r>
              <a:rPr lang="en-US" sz="5400" b="1" dirty="0" smtClean="0">
                <a:solidFill>
                  <a:schemeClr val="bg1"/>
                </a:solidFill>
                <a:latin typeface="Times New Roman" panose="02020603050405020304" pitchFamily="18" charset="0"/>
                <a:cs typeface="Times New Roman" panose="02020603050405020304" pitchFamily="18" charset="0"/>
              </a:rPr>
              <a:t>Ideal Qualities of Judges</a:t>
            </a:r>
            <a:r>
              <a:rPr lang="ne-NP" sz="5400" b="1" dirty="0" smtClean="0">
                <a:solidFill>
                  <a:schemeClr val="bg1"/>
                </a:solidFill>
                <a:latin typeface="Times New Roman" panose="02020603050405020304" pitchFamily="18" charset="0"/>
                <a:cs typeface="Times New Roman" panose="02020603050405020304" pitchFamily="18" charset="0"/>
              </a:rPr>
              <a:t/>
            </a:r>
            <a:br>
              <a:rPr lang="ne-NP" sz="5400" b="1" dirty="0" smtClean="0">
                <a:solidFill>
                  <a:schemeClr val="bg1"/>
                </a:solidFill>
                <a:latin typeface="Times New Roman" panose="02020603050405020304" pitchFamily="18" charset="0"/>
                <a:cs typeface="Times New Roman" panose="02020603050405020304" pitchFamily="18" charset="0"/>
              </a:rPr>
            </a:br>
            <a:r>
              <a:rPr lang="ne-NP" sz="5400" b="1" dirty="0">
                <a:solidFill>
                  <a:schemeClr val="bg1"/>
                </a:solidFill>
                <a:latin typeface="Times New Roman" panose="02020603050405020304" pitchFamily="18" charset="0"/>
                <a:cs typeface="Times New Roman" panose="02020603050405020304" pitchFamily="18" charset="0"/>
              </a:rPr>
              <a:t/>
            </a:r>
            <a:br>
              <a:rPr lang="ne-NP" sz="5400" b="1" dirty="0">
                <a:solidFill>
                  <a:schemeClr val="bg1"/>
                </a:solidFill>
                <a:latin typeface="Times New Roman" panose="02020603050405020304" pitchFamily="18" charset="0"/>
                <a:cs typeface="Times New Roman" panose="02020603050405020304" pitchFamily="18" charset="0"/>
              </a:rPr>
            </a:br>
            <a:r>
              <a:rPr lang="en-US" sz="5400" b="1" dirty="0" smtClean="0">
                <a:solidFill>
                  <a:schemeClr val="bg1"/>
                </a:solidFill>
                <a:latin typeface="Times New Roman" panose="02020603050405020304" pitchFamily="18" charset="0"/>
                <a:cs typeface="Times New Roman" panose="02020603050405020304" pitchFamily="18" charset="0"/>
              </a:rPr>
              <a:t/>
            </a:r>
            <a:br>
              <a:rPr lang="en-US" sz="5400" b="1" dirty="0" smtClean="0">
                <a:solidFill>
                  <a:schemeClr val="bg1"/>
                </a:solidFill>
                <a:latin typeface="Times New Roman" panose="02020603050405020304" pitchFamily="18" charset="0"/>
                <a:cs typeface="Times New Roman" panose="02020603050405020304" pitchFamily="18" charset="0"/>
              </a:rPr>
            </a:br>
            <a:r>
              <a:rPr lang="en-US" sz="3200" b="1" dirty="0" err="1" smtClean="0">
                <a:solidFill>
                  <a:schemeClr val="bg1"/>
                </a:solidFill>
                <a:latin typeface="Times New Roman" panose="02020603050405020304" pitchFamily="18" charset="0"/>
                <a:cs typeface="Times New Roman" panose="02020603050405020304" pitchFamily="18" charset="0"/>
              </a:rPr>
              <a:t>Til</a:t>
            </a:r>
            <a:r>
              <a:rPr lang="en-US" sz="3200" b="1" dirty="0" smtClean="0">
                <a:solidFill>
                  <a:schemeClr val="bg1"/>
                </a:solidFill>
                <a:latin typeface="Times New Roman" panose="02020603050405020304" pitchFamily="18" charset="0"/>
                <a:cs typeface="Times New Roman" panose="02020603050405020304" pitchFamily="18" charset="0"/>
              </a:rPr>
              <a:t> </a:t>
            </a:r>
            <a:r>
              <a:rPr lang="en-US" sz="3200" b="1" smtClean="0">
                <a:solidFill>
                  <a:schemeClr val="bg1"/>
                </a:solidFill>
                <a:latin typeface="Times New Roman" panose="02020603050405020304" pitchFamily="18" charset="0"/>
                <a:cs typeface="Times New Roman" panose="02020603050405020304" pitchFamily="18" charset="0"/>
              </a:rPr>
              <a:t>Prasad Shrestha</a:t>
            </a:r>
            <a:r>
              <a:rPr lang="en-US" sz="5400" b="1" dirty="0" smtClean="0">
                <a:latin typeface="Times New Roman" panose="02020603050405020304" pitchFamily="18" charset="0"/>
                <a:cs typeface="Times New Roman" panose="02020603050405020304" pitchFamily="18" charset="0"/>
              </a:rPr>
              <a:t/>
            </a:r>
            <a:br>
              <a:rPr lang="en-US" sz="54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136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0946"/>
          </a:xfrm>
          <a:solidFill>
            <a:schemeClr val="accent3">
              <a:lumMod val="50000"/>
            </a:schemeClr>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Presentation Outlines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602069"/>
          </a:xfrm>
          <a:solidFill>
            <a:srgbClr val="7030A0"/>
          </a:solidFill>
        </p:spPr>
        <p:txBody>
          <a:bodyPr>
            <a:normAutofit lnSpcReduction="10000"/>
          </a:bodyPr>
          <a:lstStyle/>
          <a:p>
            <a:pPr algn="just"/>
            <a:r>
              <a:rPr lang="en-US" sz="3600" dirty="0" smtClean="0">
                <a:solidFill>
                  <a:schemeClr val="bg1"/>
                </a:solidFill>
                <a:latin typeface="Times New Roman" panose="02020603050405020304" pitchFamily="18" charset="0"/>
                <a:cs typeface="Times New Roman" panose="02020603050405020304" pitchFamily="18" charset="0"/>
              </a:rPr>
              <a:t>The Judgeship </a:t>
            </a:r>
          </a:p>
          <a:p>
            <a:pPr algn="just"/>
            <a:endParaRPr lang="en-US" sz="3600" dirty="0" smtClean="0">
              <a:solidFill>
                <a:schemeClr val="bg1"/>
              </a:solidFill>
              <a:latin typeface="Times New Roman" panose="02020603050405020304" pitchFamily="18" charset="0"/>
              <a:cs typeface="Times New Roman" panose="02020603050405020304" pitchFamily="18" charset="0"/>
            </a:endParaRPr>
          </a:p>
          <a:p>
            <a:pPr algn="just"/>
            <a:r>
              <a:rPr lang="en-US" sz="3600" dirty="0" smtClean="0">
                <a:solidFill>
                  <a:schemeClr val="bg1"/>
                </a:solidFill>
                <a:latin typeface="Times New Roman" panose="02020603050405020304" pitchFamily="18" charset="0"/>
                <a:cs typeface="Times New Roman" panose="02020603050405020304" pitchFamily="18" charset="0"/>
              </a:rPr>
              <a:t>Ideals of a Judge</a:t>
            </a:r>
          </a:p>
          <a:p>
            <a:pPr algn="just"/>
            <a:endParaRPr lang="en-US" sz="3600" dirty="0" smtClean="0">
              <a:solidFill>
                <a:schemeClr val="bg1"/>
              </a:solidFill>
              <a:latin typeface="Times New Roman" panose="02020603050405020304" pitchFamily="18" charset="0"/>
              <a:cs typeface="Times New Roman" panose="02020603050405020304" pitchFamily="18" charset="0"/>
            </a:endParaRPr>
          </a:p>
          <a:p>
            <a:pPr algn="just"/>
            <a:r>
              <a:rPr lang="en-US" sz="3600" dirty="0" smtClean="0">
                <a:solidFill>
                  <a:schemeClr val="bg1"/>
                </a:solidFill>
                <a:latin typeface="Times New Roman" panose="02020603050405020304" pitchFamily="18" charset="0"/>
                <a:cs typeface="Times New Roman" panose="02020603050405020304" pitchFamily="18" charset="0"/>
              </a:rPr>
              <a:t>What Qualities Make a Judge </a:t>
            </a:r>
            <a:r>
              <a:rPr lang="en-US" sz="3600" dirty="0">
                <a:solidFill>
                  <a:schemeClr val="bg1"/>
                </a:solidFill>
                <a:latin typeface="Times New Roman" panose="02020603050405020304" pitchFamily="18" charset="0"/>
                <a:cs typeface="Times New Roman" panose="02020603050405020304" pitchFamily="18" charset="0"/>
              </a:rPr>
              <a:t>G</a:t>
            </a:r>
            <a:r>
              <a:rPr lang="en-US" sz="3600" dirty="0" smtClean="0">
                <a:solidFill>
                  <a:schemeClr val="bg1"/>
                </a:solidFill>
                <a:latin typeface="Times New Roman" panose="02020603050405020304" pitchFamily="18" charset="0"/>
                <a:cs typeface="Times New Roman" panose="02020603050405020304" pitchFamily="18" charset="0"/>
              </a:rPr>
              <a:t>ood Judge</a:t>
            </a:r>
          </a:p>
          <a:p>
            <a:pPr algn="just"/>
            <a:endParaRPr lang="en-US" sz="3600" dirty="0" smtClean="0">
              <a:solidFill>
                <a:schemeClr val="bg1"/>
              </a:solidFill>
              <a:latin typeface="Times New Roman" panose="02020603050405020304" pitchFamily="18" charset="0"/>
              <a:cs typeface="Times New Roman" panose="02020603050405020304" pitchFamily="18" charset="0"/>
            </a:endParaRPr>
          </a:p>
          <a:p>
            <a:pPr algn="just"/>
            <a:r>
              <a:rPr lang="en-US" sz="3600" dirty="0" smtClean="0">
                <a:solidFill>
                  <a:schemeClr val="bg1"/>
                </a:solidFill>
                <a:latin typeface="Times New Roman" panose="02020603050405020304" pitchFamily="18" charset="0"/>
                <a:cs typeface="Times New Roman" panose="02020603050405020304" pitchFamily="18" charset="0"/>
              </a:rPr>
              <a:t>Becoming a Good Judge</a:t>
            </a:r>
          </a:p>
          <a:p>
            <a:pPr marL="0" indent="0" algn="just">
              <a:buNone/>
            </a:pPr>
            <a:r>
              <a:rPr lang="en-US" sz="3600" dirty="0" smtClean="0">
                <a:solidFill>
                  <a:schemeClr val="bg1"/>
                </a:solidFill>
                <a:latin typeface="Times New Roman" panose="02020603050405020304" pitchFamily="18" charset="0"/>
                <a:cs typeface="Times New Roman" panose="02020603050405020304" pitchFamily="18" charset="0"/>
              </a:rPr>
              <a:t> </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3970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2687"/>
          </a:xfrm>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References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19518"/>
            <a:ext cx="10515600" cy="5002306"/>
          </a:xfrm>
        </p:spPr>
        <p:txBody>
          <a:bodyPr>
            <a:normAutofit lnSpcReduction="10000"/>
          </a:bodyPr>
          <a:lstStyle/>
          <a:p>
            <a:pPr algn="just"/>
            <a:r>
              <a:rPr lang="en-GB" dirty="0">
                <a:latin typeface="Times New Roman" panose="02020603050405020304" pitchFamily="18" charset="0"/>
                <a:cs typeface="Times New Roman" panose="02020603050405020304" pitchFamily="18" charset="0"/>
              </a:rPr>
              <a:t>Ethical Standards  for </a:t>
            </a:r>
            <a:r>
              <a:rPr lang="en-GB" dirty="0" smtClean="0">
                <a:latin typeface="Times New Roman" panose="02020603050405020304" pitchFamily="18" charset="0"/>
                <a:cs typeface="Times New Roman" panose="02020603050405020304" pitchFamily="18" charset="0"/>
              </a:rPr>
              <a:t>Judges, Cynthia </a:t>
            </a:r>
            <a:r>
              <a:rPr lang="en-GB" dirty="0" err="1" smtClean="0">
                <a:latin typeface="Times New Roman" panose="02020603050405020304" pitchFamily="18" charset="0"/>
                <a:cs typeface="Times New Roman" panose="02020603050405020304" pitchFamily="18" charset="0"/>
              </a:rPr>
              <a:t>Gray</a:t>
            </a:r>
            <a:r>
              <a:rPr lang="en-GB" dirty="0" smtClean="0">
                <a:latin typeface="Times New Roman" panose="02020603050405020304" pitchFamily="18" charset="0"/>
                <a:cs typeface="Times New Roman" panose="02020603050405020304" pitchFamily="18" charset="0"/>
              </a:rPr>
              <a:t>, </a:t>
            </a:r>
            <a:r>
              <a:rPr lang="en-GB" dirty="0">
                <a:latin typeface="Times New Roman" panose="02020603050405020304" pitchFamily="18" charset="0"/>
                <a:cs typeface="Times New Roman" panose="02020603050405020304" pitchFamily="18" charset="0"/>
              </a:rPr>
              <a:t>American Judicature Society </a:t>
            </a:r>
            <a:r>
              <a:rPr lang="en-GB" sz="2000" dirty="0">
                <a:latin typeface="Times New Roman" panose="02020603050405020304" pitchFamily="18" charset="0"/>
                <a:cs typeface="Times New Roman" panose="02020603050405020304" pitchFamily="18" charset="0"/>
              </a:rPr>
              <a:t>(</a:t>
            </a:r>
            <a:r>
              <a:rPr lang="en-GB" sz="2000" dirty="0">
                <a:latin typeface="Times New Roman" panose="02020603050405020304" pitchFamily="18" charset="0"/>
                <a:cs typeface="Times New Roman" panose="02020603050405020304" pitchFamily="18" charset="0"/>
                <a:hlinkClick r:id="rId2" action="ppaction://hlinkfile"/>
              </a:rPr>
              <a:t>file:///C:/</a:t>
            </a:r>
            <a:r>
              <a:rPr lang="en-GB" sz="2000" dirty="0" smtClean="0">
                <a:latin typeface="Times New Roman" panose="02020603050405020304" pitchFamily="18" charset="0"/>
                <a:cs typeface="Times New Roman" panose="02020603050405020304" pitchFamily="18" charset="0"/>
                <a:hlinkClick r:id="rId2" action="ppaction://hlinkfile"/>
              </a:rPr>
              <a:t>Users/acer/Desktop/Qualities/Ethical-Standards-for-Judges.pdf</a:t>
            </a:r>
            <a:r>
              <a:rPr lang="en-GB" sz="2000" dirty="0" smtClean="0">
                <a:latin typeface="Times New Roman" panose="02020603050405020304" pitchFamily="18" charset="0"/>
                <a:cs typeface="Times New Roman" panose="02020603050405020304" pitchFamily="18" charset="0"/>
              </a:rPr>
              <a:t>)</a:t>
            </a:r>
          </a:p>
          <a:p>
            <a:pPr algn="just"/>
            <a:r>
              <a:rPr lang="en-GB" dirty="0">
                <a:latin typeface="Times New Roman" panose="02020603050405020304" pitchFamily="18" charset="0"/>
                <a:cs typeface="Times New Roman" panose="02020603050405020304" pitchFamily="18" charset="0"/>
              </a:rPr>
              <a:t>(What We Talk About When We Talk About) Judicial </a:t>
            </a:r>
            <a:r>
              <a:rPr lang="en-GB" dirty="0" smtClean="0">
                <a:latin typeface="Times New Roman" panose="02020603050405020304" pitchFamily="18" charset="0"/>
                <a:cs typeface="Times New Roman" panose="02020603050405020304" pitchFamily="18" charset="0"/>
              </a:rPr>
              <a:t>Temperament, </a:t>
            </a:r>
            <a:r>
              <a:rPr lang="en-GB" dirty="0">
                <a:latin typeface="Times New Roman" panose="02020603050405020304" pitchFamily="18" charset="0"/>
                <a:cs typeface="Times New Roman" panose="02020603050405020304" pitchFamily="18" charset="0"/>
              </a:rPr>
              <a:t>Terry A. </a:t>
            </a:r>
            <a:r>
              <a:rPr lang="en-GB" dirty="0" err="1" smtClean="0">
                <a:latin typeface="Times New Roman" panose="02020603050405020304" pitchFamily="18" charset="0"/>
                <a:cs typeface="Times New Roman" panose="02020603050405020304" pitchFamily="18" charset="0"/>
              </a:rPr>
              <a:t>Maroney</a:t>
            </a:r>
            <a:r>
              <a:rPr lang="en-GB" dirty="0">
                <a:latin typeface="Times New Roman" panose="02020603050405020304" pitchFamily="18" charset="0"/>
                <a:cs typeface="Times New Roman" panose="02020603050405020304" pitchFamily="18" charset="0"/>
              </a:rPr>
              <a:t> </a:t>
            </a:r>
            <a:r>
              <a:rPr lang="en-GB" sz="2000" dirty="0">
                <a:latin typeface="Times New Roman" panose="02020603050405020304" pitchFamily="18" charset="0"/>
                <a:cs typeface="Times New Roman" panose="02020603050405020304" pitchFamily="18" charset="0"/>
              </a:rPr>
              <a:t>(</a:t>
            </a:r>
            <a:r>
              <a:rPr lang="en-GB" sz="2000" dirty="0">
                <a:latin typeface="Times New Roman" panose="02020603050405020304" pitchFamily="18" charset="0"/>
                <a:cs typeface="Times New Roman" panose="02020603050405020304" pitchFamily="18" charset="0"/>
                <a:hlinkClick r:id="rId3" action="ppaction://hlinkfile"/>
              </a:rPr>
              <a:t>file:///C:/</a:t>
            </a:r>
            <a:r>
              <a:rPr lang="en-GB" sz="2000" dirty="0" smtClean="0">
                <a:latin typeface="Times New Roman" panose="02020603050405020304" pitchFamily="18" charset="0"/>
                <a:cs typeface="Times New Roman" panose="02020603050405020304" pitchFamily="18" charset="0"/>
                <a:hlinkClick r:id="rId3" action="ppaction://hlinkfile"/>
              </a:rPr>
              <a:t>Users/acer/Desktop/Qualities/Paper-Maroney.pdf</a:t>
            </a:r>
            <a:r>
              <a:rPr lang="en-GB" sz="2000" dirty="0" smtClean="0">
                <a:latin typeface="Times New Roman" panose="02020603050405020304" pitchFamily="18" charset="0"/>
                <a:cs typeface="Times New Roman" panose="02020603050405020304" pitchFamily="18" charset="0"/>
              </a:rPr>
              <a:t>)</a:t>
            </a:r>
          </a:p>
          <a:p>
            <a:pPr algn="just"/>
            <a:r>
              <a:rPr lang="en-GB" sz="2400" dirty="0" smtClean="0">
                <a:latin typeface="Times New Roman" panose="02020603050405020304" pitchFamily="18" charset="0"/>
                <a:cs typeface="Times New Roman" panose="02020603050405020304" pitchFamily="18" charset="0"/>
              </a:rPr>
              <a:t>Canons of Judicial Ethics, Chief Justice R C </a:t>
            </a:r>
            <a:r>
              <a:rPr lang="en-GB" sz="2400" dirty="0" err="1" smtClean="0">
                <a:latin typeface="Times New Roman" panose="02020603050405020304" pitchFamily="18" charset="0"/>
                <a:cs typeface="Times New Roman" panose="02020603050405020304" pitchFamily="18" charset="0"/>
              </a:rPr>
              <a:t>Lahoti</a:t>
            </a:r>
            <a:r>
              <a:rPr lang="en-GB" sz="2400" dirty="0" smtClean="0">
                <a:latin typeface="Times New Roman" panose="02020603050405020304" pitchFamily="18" charset="0"/>
                <a:cs typeface="Times New Roman" panose="02020603050405020304" pitchFamily="18" charset="0"/>
              </a:rPr>
              <a:t>, Supreme Court of India, NJA Occasional Paper Series, No. 5, NJA Bhopal, India, 2005</a:t>
            </a:r>
          </a:p>
          <a:p>
            <a:pPr algn="just"/>
            <a:r>
              <a:rPr lang="en-GB" sz="2400" dirty="0" smtClean="0">
                <a:latin typeface="Times New Roman" panose="02020603050405020304" pitchFamily="18" charset="0"/>
                <a:cs typeface="Times New Roman" panose="02020603050405020304" pitchFamily="18" charset="0"/>
              </a:rPr>
              <a:t>The Culture of a </a:t>
            </a:r>
            <a:r>
              <a:rPr lang="en-GB" sz="2400" dirty="0">
                <a:latin typeface="Times New Roman" panose="02020603050405020304" pitchFamily="18" charset="0"/>
                <a:cs typeface="Times New Roman" panose="02020603050405020304" pitchFamily="18" charset="0"/>
              </a:rPr>
              <a:t>Judge, Justice R C </a:t>
            </a:r>
            <a:r>
              <a:rPr lang="en-GB" sz="2400" dirty="0" err="1">
                <a:latin typeface="Times New Roman" panose="02020603050405020304" pitchFamily="18" charset="0"/>
                <a:cs typeface="Times New Roman" panose="02020603050405020304" pitchFamily="18" charset="0"/>
              </a:rPr>
              <a:t>Lahoti</a:t>
            </a:r>
            <a:r>
              <a:rPr lang="en-GB" sz="2400" dirty="0">
                <a:latin typeface="Times New Roman" panose="02020603050405020304" pitchFamily="18" charset="0"/>
                <a:cs typeface="Times New Roman" panose="02020603050405020304" pitchFamily="18" charset="0"/>
              </a:rPr>
              <a:t>, Supreme Court of </a:t>
            </a:r>
            <a:r>
              <a:rPr lang="en-GB" sz="2400" dirty="0" smtClean="0">
                <a:latin typeface="Times New Roman" panose="02020603050405020304" pitchFamily="18" charset="0"/>
                <a:cs typeface="Times New Roman" panose="02020603050405020304" pitchFamily="18" charset="0"/>
              </a:rPr>
              <a:t>India</a:t>
            </a:r>
          </a:p>
          <a:p>
            <a:pPr algn="just"/>
            <a:r>
              <a:rPr lang="en-GB" sz="2000" dirty="0">
                <a:latin typeface="Times New Roman" panose="02020603050405020304" pitchFamily="18" charset="0"/>
                <a:cs typeface="Times New Roman" panose="02020603050405020304" pitchFamily="18" charset="0"/>
              </a:rPr>
              <a:t>THE ART OF BEING A </a:t>
            </a:r>
            <a:r>
              <a:rPr lang="en-GB" sz="2000" dirty="0" smtClean="0">
                <a:latin typeface="Times New Roman" panose="02020603050405020304" pitchFamily="18" charset="0"/>
                <a:cs typeface="Times New Roman" panose="02020603050405020304" pitchFamily="18" charset="0"/>
              </a:rPr>
              <a:t>JUDGE; </a:t>
            </a:r>
            <a:r>
              <a:rPr lang="en-US" sz="2400" dirty="0">
                <a:latin typeface="Times New Roman" panose="02020603050405020304" pitchFamily="18" charset="0"/>
                <a:cs typeface="Times New Roman" panose="02020603050405020304" pitchFamily="18" charset="0"/>
              </a:rPr>
              <a:t>Leon R. </a:t>
            </a:r>
            <a:r>
              <a:rPr lang="en-US" sz="2400" dirty="0" err="1" smtClean="0">
                <a:latin typeface="Times New Roman" panose="02020603050405020304" pitchFamily="18" charset="0"/>
                <a:cs typeface="Times New Roman" panose="02020603050405020304" pitchFamily="18" charset="0"/>
              </a:rPr>
              <a:t>Yankwich</a:t>
            </a:r>
            <a:r>
              <a:rPr lang="en-US" sz="2400" dirty="0" smtClean="0">
                <a:latin typeface="Times New Roman" panose="02020603050405020304" pitchFamily="18" charset="0"/>
                <a:cs typeface="Times New Roman" panose="02020603050405020304" pitchFamily="18" charset="0"/>
              </a:rPr>
              <a:t>, Chief Judge, U S District Court, Southern D C of California</a:t>
            </a:r>
          </a:p>
          <a:p>
            <a:pPr algn="just"/>
            <a:r>
              <a:rPr lang="en-GB" sz="2400" dirty="0">
                <a:latin typeface="Times New Roman" panose="02020603050405020304" pitchFamily="18" charset="0"/>
                <a:cs typeface="Times New Roman" panose="02020603050405020304" pitchFamily="18" charset="0"/>
              </a:rPr>
              <a:t>The Art  of </a:t>
            </a:r>
            <a:r>
              <a:rPr lang="en-GB" sz="2400" dirty="0" smtClean="0">
                <a:latin typeface="Times New Roman" panose="02020603050405020304" pitchFamily="18" charset="0"/>
                <a:cs typeface="Times New Roman" panose="02020603050405020304" pitchFamily="18" charset="0"/>
              </a:rPr>
              <a:t>Judging</a:t>
            </a:r>
            <a:r>
              <a:rPr lang="en-US" sz="2400" dirty="0" smtClean="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Zechariah </a:t>
            </a:r>
            <a:r>
              <a:rPr lang="en-GB" sz="2400" dirty="0">
                <a:latin typeface="Times New Roman" panose="02020603050405020304" pitchFamily="18" charset="0"/>
                <a:cs typeface="Times New Roman" panose="02020603050405020304" pitchFamily="18" charset="0"/>
              </a:rPr>
              <a:t>Chafee, </a:t>
            </a:r>
            <a:r>
              <a:rPr lang="en-GB" sz="2400" dirty="0" err="1">
                <a:latin typeface="Times New Roman" panose="02020603050405020304" pitchFamily="18" charset="0"/>
                <a:cs typeface="Times New Roman" panose="02020603050405020304" pitchFamily="18" charset="0"/>
              </a:rPr>
              <a:t>jr</a:t>
            </a:r>
            <a:r>
              <a:rPr lang="en-GB" sz="2400" dirty="0">
                <a:latin typeface="Times New Roman" panose="02020603050405020304" pitchFamily="18" charset="0"/>
                <a:cs typeface="Times New Roman" panose="02020603050405020304" pitchFamily="18" charset="0"/>
              </a:rPr>
              <a:t> </a:t>
            </a:r>
          </a:p>
          <a:p>
            <a:pPr algn="just"/>
            <a:r>
              <a:rPr lang="en-GB" sz="2400" dirty="0" smtClean="0">
                <a:latin typeface="Times New Roman" panose="02020603050405020304" pitchFamily="18" charset="0"/>
                <a:cs typeface="Times New Roman" panose="02020603050405020304" pitchFamily="18" charset="0"/>
              </a:rPr>
              <a:t> </a:t>
            </a:r>
            <a:r>
              <a:rPr lang="en-GB" sz="2400" dirty="0" smtClean="0"/>
              <a:t>Judges as Moral </a:t>
            </a:r>
            <a:r>
              <a:rPr lang="en-GB" sz="2400" dirty="0" err="1" smtClean="0"/>
              <a:t>Reasoners</a:t>
            </a:r>
            <a:r>
              <a:rPr lang="en-GB" sz="2400" dirty="0" smtClean="0"/>
              <a:t>; Jeremy Waldron, University </a:t>
            </a:r>
            <a:r>
              <a:rPr lang="en-GB" sz="2400" dirty="0"/>
              <a:t>Professor, New York University School of Law</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0297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The Judgeship</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709646"/>
          </a:xfrm>
          <a:solidFill>
            <a:srgbClr val="002060"/>
          </a:solidFill>
        </p:spPr>
        <p:txBody>
          <a:bodyPr>
            <a:normAutofit/>
          </a:bodyPr>
          <a:lstStyle/>
          <a:p>
            <a:pPr algn="just"/>
            <a:r>
              <a:rPr lang="en-GB" sz="3200" dirty="0">
                <a:solidFill>
                  <a:schemeClr val="bg1"/>
                </a:solidFill>
                <a:latin typeface="Times New Roman" panose="02020603050405020304" pitchFamily="18" charset="0"/>
                <a:cs typeface="Times New Roman" panose="02020603050405020304" pitchFamily="18" charset="0"/>
              </a:rPr>
              <a:t>The judge is </a:t>
            </a:r>
            <a:r>
              <a:rPr lang="en-GB" sz="3200" dirty="0" smtClean="0">
                <a:solidFill>
                  <a:schemeClr val="bg1"/>
                </a:solidFill>
                <a:latin typeface="Times New Roman" panose="02020603050405020304" pitchFamily="18" charset="0"/>
                <a:cs typeface="Times New Roman" panose="02020603050405020304" pitchFamily="18" charset="0"/>
              </a:rPr>
              <a:t>the </a:t>
            </a:r>
            <a:r>
              <a:rPr lang="en-GB" sz="3200" dirty="0">
                <a:solidFill>
                  <a:schemeClr val="bg1"/>
                </a:solidFill>
                <a:latin typeface="Times New Roman" panose="02020603050405020304" pitchFamily="18" charset="0"/>
                <a:cs typeface="Times New Roman" panose="02020603050405020304" pitchFamily="18" charset="0"/>
              </a:rPr>
              <a:t>pillar of our entire justice </a:t>
            </a:r>
            <a:r>
              <a:rPr lang="en-GB" sz="3200" dirty="0" smtClean="0">
                <a:solidFill>
                  <a:schemeClr val="bg1"/>
                </a:solidFill>
                <a:latin typeface="Times New Roman" panose="02020603050405020304" pitchFamily="18" charset="0"/>
                <a:cs typeface="Times New Roman" panose="02020603050405020304" pitchFamily="18" charset="0"/>
              </a:rPr>
              <a:t>system</a:t>
            </a:r>
          </a:p>
          <a:p>
            <a:pPr algn="just"/>
            <a:r>
              <a:rPr lang="en-US" sz="3200" dirty="0" smtClean="0">
                <a:solidFill>
                  <a:schemeClr val="bg1"/>
                </a:solidFill>
                <a:latin typeface="Times New Roman" panose="02020603050405020304" pitchFamily="18" charset="0"/>
                <a:cs typeface="Times New Roman" panose="02020603050405020304" pitchFamily="18" charset="0"/>
              </a:rPr>
              <a:t>Judges are to exercise supposed </a:t>
            </a:r>
            <a:r>
              <a:rPr lang="en-US" sz="3200" dirty="0">
                <a:solidFill>
                  <a:schemeClr val="bg1"/>
                </a:solidFill>
                <a:latin typeface="Times New Roman" panose="02020603050405020304" pitchFamily="18" charset="0"/>
                <a:cs typeface="Times New Roman" panose="02020603050405020304" pitchFamily="18" charset="0"/>
              </a:rPr>
              <a:t>will of </a:t>
            </a:r>
            <a:r>
              <a:rPr lang="en-US" sz="3200" dirty="0" smtClean="0">
                <a:solidFill>
                  <a:schemeClr val="bg1"/>
                </a:solidFill>
                <a:latin typeface="Times New Roman" panose="02020603050405020304" pitchFamily="18" charset="0"/>
                <a:cs typeface="Times New Roman" panose="02020603050405020304" pitchFamily="18" charset="0"/>
              </a:rPr>
              <a:t>gods</a:t>
            </a:r>
          </a:p>
          <a:p>
            <a:pPr algn="just"/>
            <a:r>
              <a:rPr lang="en-GB" sz="3200" dirty="0">
                <a:solidFill>
                  <a:schemeClr val="bg1"/>
                </a:solidFill>
                <a:latin typeface="Times New Roman" panose="02020603050405020304" pitchFamily="18" charset="0"/>
                <a:cs typeface="Times New Roman" panose="02020603050405020304" pitchFamily="18" charset="0"/>
              </a:rPr>
              <a:t>Representative of </a:t>
            </a:r>
            <a:r>
              <a:rPr lang="en-GB" sz="3200" dirty="0" smtClean="0">
                <a:solidFill>
                  <a:schemeClr val="bg1"/>
                </a:solidFill>
                <a:latin typeface="Times New Roman" panose="02020603050405020304" pitchFamily="18" charset="0"/>
                <a:cs typeface="Times New Roman" panose="02020603050405020304" pitchFamily="18" charset="0"/>
              </a:rPr>
              <a:t>God</a:t>
            </a:r>
          </a:p>
          <a:p>
            <a:pPr algn="just"/>
            <a:r>
              <a:rPr lang="en-GB" sz="3200" dirty="0" smtClean="0">
                <a:solidFill>
                  <a:schemeClr val="bg1"/>
                </a:solidFill>
                <a:latin typeface="Times New Roman" panose="02020603050405020304" pitchFamily="18" charset="0"/>
                <a:cs typeface="Times New Roman" panose="02020603050405020304" pitchFamily="18" charset="0"/>
              </a:rPr>
              <a:t>The discharge of judicial functions is an act of divinity – C J R C </a:t>
            </a:r>
            <a:r>
              <a:rPr lang="en-GB" sz="3200" dirty="0" err="1" smtClean="0">
                <a:solidFill>
                  <a:schemeClr val="bg1"/>
                </a:solidFill>
                <a:latin typeface="Times New Roman" panose="02020603050405020304" pitchFamily="18" charset="0"/>
                <a:cs typeface="Times New Roman" panose="02020603050405020304" pitchFamily="18" charset="0"/>
              </a:rPr>
              <a:t>Lahoti</a:t>
            </a:r>
            <a:endParaRPr lang="en-GB" sz="3200" dirty="0" smtClean="0">
              <a:solidFill>
                <a:schemeClr val="bg1"/>
              </a:solidFill>
              <a:latin typeface="Times New Roman" panose="02020603050405020304" pitchFamily="18" charset="0"/>
              <a:cs typeface="Times New Roman" panose="02020603050405020304" pitchFamily="18" charset="0"/>
            </a:endParaRPr>
          </a:p>
          <a:p>
            <a:pPr algn="just"/>
            <a:r>
              <a:rPr lang="en-GB" sz="3200" dirty="0">
                <a:solidFill>
                  <a:schemeClr val="bg1"/>
                </a:solidFill>
                <a:latin typeface="Times New Roman" panose="02020603050405020304" pitchFamily="18" charset="0"/>
                <a:cs typeface="Times New Roman" panose="02020603050405020304" pitchFamily="18" charset="0"/>
              </a:rPr>
              <a:t>Judiciary is the last and best hope of </a:t>
            </a:r>
            <a:r>
              <a:rPr lang="en-GB" sz="3200" dirty="0" smtClean="0">
                <a:solidFill>
                  <a:schemeClr val="bg1"/>
                </a:solidFill>
                <a:latin typeface="Times New Roman" panose="02020603050405020304" pitchFamily="18" charset="0"/>
                <a:cs typeface="Times New Roman" panose="02020603050405020304" pitchFamily="18" charset="0"/>
              </a:rPr>
              <a:t>democracy</a:t>
            </a:r>
            <a:endParaRPr lang="en-US" sz="3200" dirty="0">
              <a:solidFill>
                <a:schemeClr val="bg1"/>
              </a:solidFill>
              <a:latin typeface="Times New Roman" panose="02020603050405020304" pitchFamily="18" charset="0"/>
              <a:cs typeface="Times New Roman" panose="02020603050405020304" pitchFamily="18" charset="0"/>
            </a:endParaRPr>
          </a:p>
          <a:p>
            <a:pPr algn="just"/>
            <a:r>
              <a:rPr lang="en-GB" sz="3200" dirty="0" smtClean="0">
                <a:solidFill>
                  <a:schemeClr val="bg1"/>
                </a:solidFill>
                <a:latin typeface="Times New Roman" panose="02020603050405020304" pitchFamily="18" charset="0"/>
                <a:cs typeface="Times New Roman" panose="02020603050405020304" pitchFamily="18" charset="0"/>
              </a:rPr>
              <a:t>The </a:t>
            </a:r>
            <a:r>
              <a:rPr lang="en-GB" sz="3200" dirty="0">
                <a:solidFill>
                  <a:schemeClr val="bg1"/>
                </a:solidFill>
                <a:latin typeface="Times New Roman" panose="02020603050405020304" pitchFamily="18" charset="0"/>
                <a:cs typeface="Times New Roman" panose="02020603050405020304" pitchFamily="18" charset="0"/>
              </a:rPr>
              <a:t>public has a right to demand “virtually irreproachable </a:t>
            </a:r>
            <a:r>
              <a:rPr lang="en-GB" sz="3200" dirty="0" smtClean="0">
                <a:solidFill>
                  <a:schemeClr val="bg1"/>
                </a:solidFill>
                <a:latin typeface="Times New Roman" panose="02020603050405020304" pitchFamily="18" charset="0"/>
                <a:cs typeface="Times New Roman" panose="02020603050405020304" pitchFamily="18" charset="0"/>
              </a:rPr>
              <a:t>(ideal/flawless) conduct </a:t>
            </a:r>
            <a:r>
              <a:rPr lang="en-GB" sz="3200" dirty="0">
                <a:solidFill>
                  <a:schemeClr val="bg1"/>
                </a:solidFill>
                <a:latin typeface="Times New Roman" panose="02020603050405020304" pitchFamily="18" charset="0"/>
                <a:cs typeface="Times New Roman" panose="02020603050405020304" pitchFamily="18" charset="0"/>
              </a:rPr>
              <a:t>from anyone performing a judicial </a:t>
            </a:r>
            <a:r>
              <a:rPr lang="en-GB" sz="3200" dirty="0" smtClean="0">
                <a:solidFill>
                  <a:schemeClr val="bg1"/>
                </a:solidFill>
                <a:latin typeface="Times New Roman" panose="02020603050405020304" pitchFamily="18" charset="0"/>
                <a:cs typeface="Times New Roman" panose="02020603050405020304" pitchFamily="18" charset="0"/>
              </a:rPr>
              <a:t>function</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9108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The Judgeship</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602069"/>
          </a:xfrm>
          <a:solidFill>
            <a:schemeClr val="accent4">
              <a:lumMod val="75000"/>
            </a:schemeClr>
          </a:solidFill>
        </p:spPr>
        <p:txBody>
          <a:bodyPr>
            <a:normAutofit/>
          </a:bodyPr>
          <a:lstStyle/>
          <a:p>
            <a:pPr algn="just"/>
            <a:r>
              <a:rPr lang="en-GB" sz="3200" dirty="0" smtClean="0">
                <a:solidFill>
                  <a:schemeClr val="bg1"/>
                </a:solidFill>
              </a:rPr>
              <a:t>"</a:t>
            </a:r>
            <a:r>
              <a:rPr lang="en-GB" sz="3200" dirty="0">
                <a:solidFill>
                  <a:schemeClr val="bg1"/>
                </a:solidFill>
              </a:rPr>
              <a:t>We form a particular group in the community. We comprise a select part of an </a:t>
            </a:r>
            <a:r>
              <a:rPr lang="en-GB" sz="3200" dirty="0" err="1">
                <a:solidFill>
                  <a:schemeClr val="bg1"/>
                </a:solidFill>
              </a:rPr>
              <a:t>honorable</a:t>
            </a:r>
            <a:r>
              <a:rPr lang="en-GB" sz="3200" dirty="0">
                <a:solidFill>
                  <a:schemeClr val="bg1"/>
                </a:solidFill>
              </a:rPr>
              <a:t> profession. We are entrusted, day after day, with the exercise of considerable </a:t>
            </a:r>
            <a:r>
              <a:rPr lang="en-GB" sz="3200" dirty="0" smtClean="0">
                <a:solidFill>
                  <a:schemeClr val="bg1"/>
                </a:solidFill>
              </a:rPr>
              <a:t>power</a:t>
            </a:r>
            <a:r>
              <a:rPr lang="en-US" sz="3200" dirty="0" smtClean="0">
                <a:solidFill>
                  <a:schemeClr val="bg1"/>
                </a:solidFill>
              </a:rPr>
              <a:t>” – J B Thomas</a:t>
            </a:r>
          </a:p>
          <a:p>
            <a:pPr algn="just"/>
            <a:endParaRPr lang="en-US" sz="3200" dirty="0" smtClean="0">
              <a:solidFill>
                <a:schemeClr val="bg1"/>
              </a:solidFill>
            </a:endParaRPr>
          </a:p>
          <a:p>
            <a:pPr algn="just"/>
            <a:r>
              <a:rPr lang="en-US" sz="3200" dirty="0">
                <a:solidFill>
                  <a:schemeClr val="bg1"/>
                </a:solidFill>
              </a:rPr>
              <a:t>Judges </a:t>
            </a:r>
            <a:r>
              <a:rPr lang="en-US" sz="3200" dirty="0" smtClean="0">
                <a:solidFill>
                  <a:schemeClr val="bg1"/>
                </a:solidFill>
              </a:rPr>
              <a:t>must administer </a:t>
            </a:r>
            <a:r>
              <a:rPr lang="en-US" sz="3200" dirty="0">
                <a:solidFill>
                  <a:schemeClr val="bg1"/>
                </a:solidFill>
              </a:rPr>
              <a:t>justice judicially</a:t>
            </a:r>
            <a:endParaRPr lang="ne-NP" sz="3200" dirty="0">
              <a:solidFill>
                <a:schemeClr val="bg1"/>
              </a:solidFill>
            </a:endParaRPr>
          </a:p>
          <a:p>
            <a:pPr algn="just"/>
            <a:endParaRPr lang="ne-NP" sz="3200" dirty="0" smtClean="0">
              <a:solidFill>
                <a:schemeClr val="bg1"/>
              </a:solidFill>
            </a:endParaRPr>
          </a:p>
          <a:p>
            <a:pPr algn="just"/>
            <a:r>
              <a:rPr lang="en-GB" sz="3200" dirty="0">
                <a:solidFill>
                  <a:schemeClr val="bg1"/>
                </a:solidFill>
                <a:latin typeface="Times New Roman" panose="02020603050405020304" pitchFamily="18" charset="0"/>
                <a:cs typeface="Times New Roman" panose="02020603050405020304" pitchFamily="18" charset="0"/>
              </a:rPr>
              <a:t>The authority of the ideal </a:t>
            </a:r>
            <a:r>
              <a:rPr lang="en-GB" sz="3200" dirty="0" err="1">
                <a:solidFill>
                  <a:schemeClr val="bg1"/>
                </a:solidFill>
                <a:latin typeface="Times New Roman" panose="02020603050405020304" pitchFamily="18" charset="0"/>
                <a:cs typeface="Times New Roman" panose="02020603050405020304" pitchFamily="18" charset="0"/>
              </a:rPr>
              <a:t>judex</a:t>
            </a:r>
            <a:r>
              <a:rPr lang="en-GB" sz="3200" dirty="0">
                <a:solidFill>
                  <a:schemeClr val="bg1"/>
                </a:solidFill>
                <a:latin typeface="Times New Roman" panose="02020603050405020304" pitchFamily="18" charset="0"/>
                <a:cs typeface="Times New Roman" panose="02020603050405020304" pitchFamily="18" charset="0"/>
              </a:rPr>
              <a:t> (ancient Roman age) was marked by self-control and rationality</a:t>
            </a:r>
          </a:p>
          <a:p>
            <a:endParaRPr lang="en-US" dirty="0"/>
          </a:p>
        </p:txBody>
      </p:sp>
    </p:spTree>
    <p:extLst>
      <p:ext uri="{BB962C8B-B14F-4D97-AF65-F5344CB8AC3E}">
        <p14:creationId xmlns:p14="http://schemas.microsoft.com/office/powerpoint/2010/main" val="694549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024"/>
            <a:ext cx="10515600" cy="1035424"/>
          </a:xfrm>
          <a:solidFill>
            <a:schemeClr val="accent4">
              <a:lumMod val="75000"/>
            </a:schemeClr>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The Judgeship</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304365"/>
            <a:ext cx="10806953" cy="5244352"/>
          </a:xfrm>
          <a:solidFill>
            <a:srgbClr val="7030A0"/>
          </a:solidFill>
        </p:spPr>
        <p:txBody>
          <a:bodyPr>
            <a:noAutofit/>
          </a:bodyPr>
          <a:lstStyle/>
          <a:p>
            <a:pPr algn="just"/>
            <a:r>
              <a:rPr lang="en-US" sz="3200" dirty="0">
                <a:solidFill>
                  <a:schemeClr val="bg1"/>
                </a:solidFill>
                <a:latin typeface="Times New Roman" panose="02020603050405020304" pitchFamily="18" charset="0"/>
                <a:cs typeface="Times New Roman" panose="02020603050405020304" pitchFamily="18" charset="0"/>
              </a:rPr>
              <a:t>Even God, who has created the human being, does not sit in judgment over his deeds until the human’s death whence only he determines whether he deserves to be sent to hell or heaven.  You have been given the authority to sit in judgment over the deeds of a man in his </a:t>
            </a:r>
            <a:r>
              <a:rPr lang="en-US" sz="3200" dirty="0" smtClean="0">
                <a:solidFill>
                  <a:schemeClr val="bg1"/>
                </a:solidFill>
                <a:latin typeface="Times New Roman" panose="02020603050405020304" pitchFamily="18" charset="0"/>
                <a:cs typeface="Times New Roman" panose="02020603050405020304" pitchFamily="18" charset="0"/>
              </a:rPr>
              <a:t>lifetime</a:t>
            </a:r>
            <a:r>
              <a:rPr lang="en-US" sz="3200" dirty="0">
                <a:solidFill>
                  <a:schemeClr val="bg1"/>
                </a:solidFill>
                <a:latin typeface="Times New Roman" panose="02020603050405020304" pitchFamily="18" charset="0"/>
                <a:cs typeface="Times New Roman" panose="02020603050405020304" pitchFamily="18" charset="0"/>
              </a:rPr>
              <a:t> </a:t>
            </a:r>
            <a:r>
              <a:rPr lang="en-US" sz="3200" dirty="0" smtClean="0">
                <a:solidFill>
                  <a:schemeClr val="bg1"/>
                </a:solidFill>
                <a:latin typeface="Times New Roman" panose="02020603050405020304" pitchFamily="18" charset="0"/>
                <a:cs typeface="Times New Roman" panose="02020603050405020304" pitchFamily="18" charset="0"/>
              </a:rPr>
              <a:t>	– CJ R C </a:t>
            </a:r>
            <a:r>
              <a:rPr lang="en-US" sz="3200" dirty="0" err="1" smtClean="0">
                <a:solidFill>
                  <a:schemeClr val="bg1"/>
                </a:solidFill>
                <a:latin typeface="Times New Roman" panose="02020603050405020304" pitchFamily="18" charset="0"/>
                <a:cs typeface="Times New Roman" panose="02020603050405020304" pitchFamily="18" charset="0"/>
              </a:rPr>
              <a:t>Lahoti</a:t>
            </a:r>
            <a:r>
              <a:rPr lang="en-US" sz="3200" dirty="0" smtClean="0">
                <a:solidFill>
                  <a:schemeClr val="bg1"/>
                </a:solidFill>
                <a:latin typeface="Times New Roman" panose="02020603050405020304" pitchFamily="18" charset="0"/>
                <a:cs typeface="Times New Roman" panose="02020603050405020304" pitchFamily="18" charset="0"/>
              </a:rPr>
              <a:t> (then Justice) in The Culture of a Judge, delivered in the Delhi Judicial Academy</a:t>
            </a:r>
          </a:p>
          <a:p>
            <a:pPr algn="just"/>
            <a:r>
              <a:rPr lang="en-GB" sz="3200" dirty="0">
                <a:solidFill>
                  <a:schemeClr val="bg1"/>
                </a:solidFill>
                <a:latin typeface="Times New Roman" panose="02020603050405020304" pitchFamily="18" charset="0"/>
                <a:cs typeface="Times New Roman" panose="02020603050405020304" pitchFamily="18" charset="0"/>
              </a:rPr>
              <a:t>Zechariah Chafee, Jr., has stated that while, in the art of judging, legal power "is much; it is not all," but that the important residuum in the equipment of a judge is "the desire to understand human life as well as </a:t>
            </a:r>
            <a:r>
              <a:rPr lang="en-GB" sz="3200" dirty="0" smtClean="0">
                <a:solidFill>
                  <a:schemeClr val="bg1"/>
                </a:solidFill>
                <a:latin typeface="Times New Roman" panose="02020603050405020304" pitchFamily="18" charset="0"/>
                <a:cs typeface="Times New Roman" panose="02020603050405020304" pitchFamily="18" charset="0"/>
              </a:rPr>
              <a:t>embalmed </a:t>
            </a:r>
            <a:r>
              <a:rPr lang="en-GB" sz="3200" dirty="0">
                <a:solidFill>
                  <a:schemeClr val="bg1"/>
                </a:solidFill>
                <a:latin typeface="Times New Roman" panose="02020603050405020304" pitchFamily="18" charset="0"/>
                <a:cs typeface="Times New Roman" panose="02020603050405020304" pitchFamily="18" charset="0"/>
              </a:rPr>
              <a:t>legal experience." </a:t>
            </a:r>
            <a:endParaRPr lang="en-US"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8931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50000"/>
            </a:schemeClr>
          </a:solidFill>
        </p:spPr>
        <p:txBody>
          <a:bodyPr>
            <a:normAutofit/>
          </a:bodyPr>
          <a:lstStyle/>
          <a:p>
            <a:pPr algn="ctr"/>
            <a:r>
              <a:rPr lang="en-US" sz="6000" dirty="0" smtClean="0">
                <a:solidFill>
                  <a:schemeClr val="bg1"/>
                </a:solidFill>
                <a:latin typeface="Times New Roman" panose="02020603050405020304" pitchFamily="18" charset="0"/>
                <a:cs typeface="Times New Roman" panose="02020603050405020304" pitchFamily="18" charset="0"/>
              </a:rPr>
              <a:t>Ideals of Justice</a:t>
            </a:r>
            <a:endParaRPr lang="en-US" sz="6000" dirty="0">
              <a:solidFill>
                <a:schemeClr val="bg1"/>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3267636" y="1690688"/>
            <a:ext cx="5741894" cy="4775901"/>
          </a:xfrm>
          <a:prstGeom prst="rect">
            <a:avLst/>
          </a:prstGeom>
          <a:blipFill>
            <a:blip r:embed="rId3"/>
            <a:tile tx="0" ty="0" sx="100000" sy="100000" flip="none" algn="tl"/>
          </a:blipFill>
        </p:spPr>
      </p:pic>
    </p:spTree>
    <p:extLst>
      <p:ext uri="{BB962C8B-B14F-4D97-AF65-F5344CB8AC3E}">
        <p14:creationId xmlns:p14="http://schemas.microsoft.com/office/powerpoint/2010/main" val="3976239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50000"/>
            </a:schemeClr>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Ideals of Judge in the Past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15353"/>
            <a:ext cx="10515600" cy="4738128"/>
          </a:xfrm>
          <a:solidFill>
            <a:srgbClr val="7030A0"/>
          </a:solidFill>
        </p:spPr>
        <p:txBody>
          <a:bodyPr>
            <a:normAutofit fontScale="92500" lnSpcReduction="20000"/>
          </a:bodyPr>
          <a:lstStyle/>
          <a:p>
            <a:pPr algn="just"/>
            <a:r>
              <a:rPr lang="en-GB" dirty="0">
                <a:solidFill>
                  <a:schemeClr val="bg1"/>
                </a:solidFill>
                <a:latin typeface="Times New Roman" panose="02020603050405020304" pitchFamily="18" charset="0"/>
                <a:cs typeface="Times New Roman" panose="02020603050405020304" pitchFamily="18" charset="0"/>
              </a:rPr>
              <a:t>The ideal of a good judge originates from the ancient goddesses of justice, who were personification of the moral force in judicial systems</a:t>
            </a:r>
            <a:r>
              <a:rPr lang="en-GB" dirty="0" smtClean="0">
                <a:solidFill>
                  <a:schemeClr val="bg1"/>
                </a:solidFill>
                <a:latin typeface="Times New Roman" panose="02020603050405020304" pitchFamily="18" charset="0"/>
                <a:cs typeface="Times New Roman" panose="02020603050405020304" pitchFamily="18" charset="0"/>
              </a:rPr>
              <a:t>. The </a:t>
            </a:r>
            <a:r>
              <a:rPr lang="en-GB" dirty="0">
                <a:solidFill>
                  <a:schemeClr val="bg1"/>
                </a:solidFill>
                <a:latin typeface="Times New Roman" panose="02020603050405020304" pitchFamily="18" charset="0"/>
                <a:cs typeface="Times New Roman" panose="02020603050405020304" pitchFamily="18" charset="0"/>
              </a:rPr>
              <a:t>Egyptian goddess </a:t>
            </a:r>
            <a:r>
              <a:rPr lang="en-GB" dirty="0" err="1">
                <a:solidFill>
                  <a:schemeClr val="bg1"/>
                </a:solidFill>
                <a:latin typeface="Times New Roman" panose="02020603050405020304" pitchFamily="18" charset="0"/>
                <a:cs typeface="Times New Roman" panose="02020603050405020304" pitchFamily="18" charset="0"/>
              </a:rPr>
              <a:t>Maat</a:t>
            </a:r>
            <a:r>
              <a:rPr lang="en-GB" dirty="0">
                <a:solidFill>
                  <a:schemeClr val="bg1"/>
                </a:solidFill>
                <a:latin typeface="Times New Roman" panose="02020603050405020304" pitchFamily="18" charset="0"/>
                <a:cs typeface="Times New Roman" panose="02020603050405020304" pitchFamily="18" charset="0"/>
              </a:rPr>
              <a:t>, the Greek goddess Themis or the Roman goddess </a:t>
            </a:r>
            <a:r>
              <a:rPr lang="en-GB" dirty="0" err="1">
                <a:solidFill>
                  <a:schemeClr val="bg1"/>
                </a:solidFill>
                <a:latin typeface="Times New Roman" panose="02020603050405020304" pitchFamily="18" charset="0"/>
                <a:cs typeface="Times New Roman" panose="02020603050405020304" pitchFamily="18" charset="0"/>
              </a:rPr>
              <a:t>Justitia</a:t>
            </a:r>
            <a:r>
              <a:rPr lang="en-GB" dirty="0">
                <a:solidFill>
                  <a:schemeClr val="bg1"/>
                </a:solidFill>
                <a:latin typeface="Times New Roman" panose="02020603050405020304" pitchFamily="18" charset="0"/>
                <a:cs typeface="Times New Roman" panose="02020603050405020304" pitchFamily="18" charset="0"/>
              </a:rPr>
              <a:t> (Lady Justice) symbolised perfect justice, which was expected to be pursued by human judges as well. These goddesses embodied divine order, truth, and the rightness of law. Their female character was due to the high rank of women in ancient Egyptian society, which influenced the more restrictive Greek and Roman conventions. All of them were depicted with a set of objects which symbolised justice. </a:t>
            </a:r>
            <a:r>
              <a:rPr lang="en-GB" dirty="0" err="1">
                <a:solidFill>
                  <a:schemeClr val="bg1"/>
                </a:solidFill>
                <a:latin typeface="Times New Roman" panose="02020603050405020304" pitchFamily="18" charset="0"/>
                <a:cs typeface="Times New Roman" panose="02020603050405020304" pitchFamily="18" charset="0"/>
              </a:rPr>
              <a:t>Maat</a:t>
            </a:r>
            <a:r>
              <a:rPr lang="en-GB" dirty="0">
                <a:solidFill>
                  <a:schemeClr val="bg1"/>
                </a:solidFill>
                <a:latin typeface="Times New Roman" panose="02020603050405020304" pitchFamily="18" charset="0"/>
                <a:cs typeface="Times New Roman" panose="02020603050405020304" pitchFamily="18" charset="0"/>
              </a:rPr>
              <a:t> held in their hands symbols of power and eternal life. Themis and </a:t>
            </a:r>
            <a:r>
              <a:rPr lang="en-GB" dirty="0" err="1">
                <a:solidFill>
                  <a:schemeClr val="bg1"/>
                </a:solidFill>
                <a:latin typeface="Times New Roman" panose="02020603050405020304" pitchFamily="18" charset="0"/>
                <a:cs typeface="Times New Roman" panose="02020603050405020304" pitchFamily="18" charset="0"/>
              </a:rPr>
              <a:t>Justitia</a:t>
            </a:r>
            <a:r>
              <a:rPr lang="en-GB" dirty="0">
                <a:solidFill>
                  <a:schemeClr val="bg1"/>
                </a:solidFill>
                <a:latin typeface="Times New Roman" panose="02020603050405020304" pitchFamily="18" charset="0"/>
                <a:cs typeface="Times New Roman" panose="02020603050405020304" pitchFamily="18" charset="0"/>
              </a:rPr>
              <a:t> were showed with sword and a set of scales as symbols of authority and weighing truth. Depictions of Lady Justice wearing a blindfold are modern, not classical. The concept of blind Justice appeared in the 16th century and it represented impartiality, the ideal that justice should be applied without regard to wealth, power or other status. In some modern depictions blindfold is shifted to show that judges must be alert and aware</a:t>
            </a:r>
            <a:r>
              <a:rPr lang="en-GB" dirty="0" smtClean="0">
                <a:solidFill>
                  <a:schemeClr val="bg1"/>
                </a:solidFill>
                <a:latin typeface="Times New Roman" panose="02020603050405020304" pitchFamily="18" charset="0"/>
                <a:cs typeface="Times New Roman" panose="02020603050405020304" pitchFamily="18" charset="0"/>
              </a:rPr>
              <a:t>. </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3348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What Qualities Make a Judge Good Judge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776881"/>
          </a:xfrm>
          <a:solidFill>
            <a:srgbClr val="002060"/>
          </a:solidFill>
        </p:spPr>
        <p:txBody>
          <a:bodyPr>
            <a:noAutofit/>
          </a:bodyPr>
          <a:lstStyle/>
          <a:p>
            <a:pPr algn="just"/>
            <a:endParaRPr lang="en-US" sz="3200" dirty="0" smtClean="0">
              <a:solidFill>
                <a:schemeClr val="bg1"/>
              </a:solidFill>
              <a:latin typeface="Times New Roman" panose="02020603050405020304" pitchFamily="18" charset="0"/>
              <a:cs typeface="Times New Roman" panose="02020603050405020304" pitchFamily="18" charset="0"/>
            </a:endParaRPr>
          </a:p>
          <a:p>
            <a:pPr algn="just"/>
            <a:r>
              <a:rPr lang="en-US" sz="3200" dirty="0" smtClean="0">
                <a:solidFill>
                  <a:schemeClr val="bg1"/>
                </a:solidFill>
                <a:latin typeface="Times New Roman" panose="02020603050405020304" pitchFamily="18" charset="0"/>
                <a:cs typeface="Times New Roman" panose="02020603050405020304" pitchFamily="18" charset="0"/>
              </a:rPr>
              <a:t>Qualities are often linked with judicial ethics but it is more than that</a:t>
            </a:r>
          </a:p>
          <a:p>
            <a:pPr algn="just"/>
            <a:endParaRPr lang="en-GB" sz="3200" dirty="0" smtClean="0">
              <a:solidFill>
                <a:schemeClr val="bg1"/>
              </a:solidFill>
              <a:latin typeface="Times New Roman" panose="02020603050405020304" pitchFamily="18" charset="0"/>
              <a:cs typeface="Times New Roman" panose="02020603050405020304" pitchFamily="18" charset="0"/>
            </a:endParaRPr>
          </a:p>
          <a:p>
            <a:pPr algn="just"/>
            <a:r>
              <a:rPr lang="en-GB" sz="3200" dirty="0" smtClean="0">
                <a:solidFill>
                  <a:schemeClr val="bg1"/>
                </a:solidFill>
                <a:latin typeface="Times New Roman" panose="02020603050405020304" pitchFamily="18" charset="0"/>
                <a:cs typeface="Times New Roman" panose="02020603050405020304" pitchFamily="18" charset="0"/>
              </a:rPr>
              <a:t>When a judge sits on trial, he himself is on trial.</a:t>
            </a:r>
          </a:p>
          <a:p>
            <a:pPr algn="just"/>
            <a:endParaRPr lang="en-GB" sz="3200" dirty="0" smtClean="0">
              <a:solidFill>
                <a:schemeClr val="bg1"/>
              </a:solidFill>
              <a:latin typeface="Times New Roman" panose="02020603050405020304" pitchFamily="18" charset="0"/>
              <a:cs typeface="Times New Roman" panose="02020603050405020304" pitchFamily="18" charset="0"/>
            </a:endParaRPr>
          </a:p>
          <a:p>
            <a:pPr algn="just"/>
            <a:r>
              <a:rPr lang="en-GB" sz="3200" dirty="0" smtClean="0">
                <a:solidFill>
                  <a:schemeClr val="bg1"/>
                </a:solidFill>
                <a:latin typeface="Times New Roman" panose="02020603050405020304" pitchFamily="18" charset="0"/>
                <a:cs typeface="Times New Roman" panose="02020603050405020304" pitchFamily="18" charset="0"/>
              </a:rPr>
              <a:t>Core qualities that make a judge exemplary </a:t>
            </a:r>
            <a:endParaRPr lang="en-US"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4643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50000"/>
            </a:schemeClr>
          </a:solidFill>
        </p:spPr>
        <p:txBody>
          <a:bodyPr>
            <a:normAutofit/>
          </a:bodyPr>
          <a:lstStyle/>
          <a:p>
            <a:pPr algn="ctr"/>
            <a:r>
              <a:rPr lang="en-US" sz="6000" dirty="0" err="1" smtClean="0">
                <a:solidFill>
                  <a:schemeClr val="bg1"/>
                </a:solidFill>
                <a:latin typeface="Preeti" pitchFamily="2" charset="0"/>
              </a:rPr>
              <a:t>Gff</a:t>
            </a:r>
            <a:r>
              <a:rPr lang="en-US" sz="6000" dirty="0" smtClean="0">
                <a:solidFill>
                  <a:schemeClr val="bg1"/>
                </a:solidFill>
                <a:latin typeface="Preeti" pitchFamily="2" charset="0"/>
              </a:rPr>
              <a:t>/b :d[</a:t>
            </a:r>
            <a:r>
              <a:rPr lang="en-US" sz="6000" dirty="0" err="1" smtClean="0">
                <a:solidFill>
                  <a:schemeClr val="bg1"/>
                </a:solidFill>
                <a:latin typeface="Preeti" pitchFamily="2" charset="0"/>
              </a:rPr>
              <a:t>ltdf</a:t>
            </a:r>
            <a:r>
              <a:rPr lang="en-US" sz="6000" dirty="0" smtClean="0">
                <a:solidFill>
                  <a:schemeClr val="bg1"/>
                </a:solidFill>
                <a:latin typeface="Preeti" pitchFamily="2" charset="0"/>
              </a:rPr>
              <a:t> </a:t>
            </a:r>
            <a:r>
              <a:rPr lang="en-US" sz="6000" dirty="0" err="1" smtClean="0">
                <a:solidFill>
                  <a:schemeClr val="bg1"/>
                </a:solidFill>
                <a:latin typeface="Preeti" pitchFamily="2" charset="0"/>
              </a:rPr>
              <a:t>elgPsf</a:t>
            </a:r>
            <a:r>
              <a:rPr lang="en-US" sz="6000" dirty="0" smtClean="0">
                <a:solidFill>
                  <a:schemeClr val="bg1"/>
                </a:solidFill>
                <a:latin typeface="Preeti" pitchFamily="2" charset="0"/>
              </a:rPr>
              <a:t>] 5 M</a:t>
            </a:r>
            <a:endParaRPr lang="en-US" sz="6000" dirty="0">
              <a:solidFill>
                <a:schemeClr val="bg1"/>
              </a:solidFill>
              <a:latin typeface="Preeti" pitchFamily="2" charset="0"/>
            </a:endParaRPr>
          </a:p>
        </p:txBody>
      </p:sp>
      <p:sp>
        <p:nvSpPr>
          <p:cNvPr id="3" name="Content Placeholder 2"/>
          <p:cNvSpPr>
            <a:spLocks noGrp="1"/>
          </p:cNvSpPr>
          <p:nvPr>
            <p:ph idx="1"/>
          </p:nvPr>
        </p:nvSpPr>
        <p:spPr>
          <a:xfrm>
            <a:off x="838200" y="1825625"/>
            <a:ext cx="10515600" cy="4642410"/>
          </a:xfrm>
          <a:solidFill>
            <a:srgbClr val="7030A0"/>
          </a:solidFill>
        </p:spPr>
        <p:txBody>
          <a:bodyPr>
            <a:normAutofit fontScale="92500" lnSpcReduction="10000"/>
          </a:bodyPr>
          <a:lstStyle/>
          <a:p>
            <a:pPr marL="0" indent="0">
              <a:buNone/>
            </a:pPr>
            <a:r>
              <a:rPr lang="en-US" dirty="0" smtClean="0">
                <a:solidFill>
                  <a:schemeClr val="bg1"/>
                </a:solidFill>
                <a:latin typeface="Preeti" pitchFamily="2" charset="0"/>
              </a:rPr>
              <a:t> </a:t>
            </a:r>
          </a:p>
          <a:p>
            <a:pPr marL="0" indent="0">
              <a:buNone/>
            </a:pPr>
            <a:r>
              <a:rPr lang="en-US" dirty="0" smtClean="0">
                <a:solidFill>
                  <a:schemeClr val="bg1"/>
                </a:solidFill>
                <a:latin typeface="Preeti" pitchFamily="2" charset="0"/>
              </a:rPr>
              <a:t>	</a:t>
            </a:r>
            <a:r>
              <a:rPr lang="en-US" sz="3600" dirty="0" smtClean="0">
                <a:solidFill>
                  <a:schemeClr val="bg1"/>
                </a:solidFill>
                <a:latin typeface="Preeti" pitchFamily="2" charset="0"/>
              </a:rPr>
              <a:t>/</a:t>
            </a:r>
            <a:r>
              <a:rPr lang="en-US" sz="3600" dirty="0" err="1">
                <a:solidFill>
                  <a:schemeClr val="bg1"/>
                </a:solidFill>
                <a:latin typeface="Preeti" pitchFamily="2" charset="0"/>
              </a:rPr>
              <a:t>fhf</a:t>
            </a:r>
            <a:r>
              <a:rPr lang="en-US" sz="3600" dirty="0">
                <a:solidFill>
                  <a:schemeClr val="bg1"/>
                </a:solidFill>
                <a:latin typeface="Preeti" pitchFamily="2" charset="0"/>
              </a:rPr>
              <a:t> t' </a:t>
            </a:r>
            <a:r>
              <a:rPr lang="en-US" sz="3600" dirty="0" err="1">
                <a:solidFill>
                  <a:schemeClr val="bg1"/>
                </a:solidFill>
                <a:latin typeface="Preeti" pitchFamily="2" charset="0"/>
              </a:rPr>
              <a:t>wfld</a:t>
            </a:r>
            <a:r>
              <a:rPr lang="en-US" sz="3600" dirty="0">
                <a:solidFill>
                  <a:schemeClr val="bg1"/>
                </a:solidFill>
                <a:latin typeface="Preeti" pitchFamily="2" charset="0"/>
              </a:rPr>
              <a:t>{</a:t>
            </a:r>
            <a:r>
              <a:rPr lang="en-US" sz="3600" dirty="0" err="1">
                <a:solidFill>
                  <a:schemeClr val="bg1"/>
                </a:solidFill>
                <a:latin typeface="Preeti" pitchFamily="2" charset="0"/>
              </a:rPr>
              <a:t>sfg</a:t>
            </a:r>
            <a:r>
              <a:rPr lang="en-US" sz="3600" dirty="0">
                <a:solidFill>
                  <a:schemeClr val="bg1"/>
                </a:solidFill>
                <a:latin typeface="Preeti" pitchFamily="2" charset="0"/>
              </a:rPr>
              <a:t>\ ;</a:t>
            </a:r>
            <a:r>
              <a:rPr lang="en-US" sz="3600" dirty="0" err="1">
                <a:solidFill>
                  <a:schemeClr val="bg1"/>
                </a:solidFill>
                <a:latin typeface="Preeti" pitchFamily="2" charset="0"/>
              </a:rPr>
              <a:t>Eofg</a:t>
            </a:r>
            <a:r>
              <a:rPr lang="en-US" sz="3600" dirty="0">
                <a:solidFill>
                  <a:schemeClr val="bg1"/>
                </a:solidFill>
                <a:latin typeface="Preeti" pitchFamily="2" charset="0"/>
              </a:rPr>
              <a:t>\ </a:t>
            </a:r>
            <a:r>
              <a:rPr lang="en-US" sz="3600" dirty="0" err="1">
                <a:solidFill>
                  <a:schemeClr val="bg1"/>
                </a:solidFill>
                <a:latin typeface="Preeti" pitchFamily="2" charset="0"/>
              </a:rPr>
              <a:t>lgo</a:t>
            </a:r>
            <a:r>
              <a:rPr lang="en-US" sz="3600" dirty="0">
                <a:solidFill>
                  <a:schemeClr val="bg1"/>
                </a:solidFill>
                <a:latin typeface="Preeti" pitchFamily="2" charset="0"/>
              </a:rPr>
              <a:t>'~</a:t>
            </a:r>
            <a:r>
              <a:rPr lang="en-US" sz="3600" dirty="0" err="1">
                <a:solidFill>
                  <a:schemeClr val="bg1"/>
                </a:solidFill>
                <a:latin typeface="Preeti" pitchFamily="2" charset="0"/>
              </a:rPr>
              <a:t>Hoft</a:t>
            </a:r>
            <a:r>
              <a:rPr lang="en-US" sz="3600" dirty="0">
                <a:solidFill>
                  <a:schemeClr val="bg1"/>
                </a:solidFill>
                <a:latin typeface="Preeti" pitchFamily="2" charset="0"/>
              </a:rPr>
              <a:t>\ ;'k/</a:t>
            </a:r>
            <a:r>
              <a:rPr lang="en-US" sz="3600" dirty="0" err="1">
                <a:solidFill>
                  <a:schemeClr val="bg1"/>
                </a:solidFill>
                <a:latin typeface="Preeti" pitchFamily="2" charset="0"/>
              </a:rPr>
              <a:t>LlIftfg</a:t>
            </a:r>
            <a:r>
              <a:rPr lang="en-US" sz="3600" dirty="0">
                <a:solidFill>
                  <a:schemeClr val="bg1"/>
                </a:solidFill>
                <a:latin typeface="Preeti" pitchFamily="2" charset="0"/>
              </a:rPr>
              <a:t>\ . </a:t>
            </a:r>
            <a:endParaRPr lang="en-US" sz="3600" dirty="0" smtClean="0">
              <a:solidFill>
                <a:schemeClr val="bg1"/>
              </a:solidFill>
              <a:latin typeface="Preeti" pitchFamily="2" charset="0"/>
            </a:endParaRPr>
          </a:p>
          <a:p>
            <a:pPr marL="0" indent="0">
              <a:buNone/>
            </a:pPr>
            <a:r>
              <a:rPr lang="en-US" sz="3600" dirty="0" smtClean="0">
                <a:solidFill>
                  <a:schemeClr val="bg1"/>
                </a:solidFill>
                <a:latin typeface="Preeti" pitchFamily="2" charset="0"/>
              </a:rPr>
              <a:t>	</a:t>
            </a:r>
            <a:r>
              <a:rPr lang="en-US" sz="3600" dirty="0" err="1" smtClean="0">
                <a:solidFill>
                  <a:schemeClr val="bg1"/>
                </a:solidFill>
                <a:latin typeface="Preeti" pitchFamily="2" charset="0"/>
              </a:rPr>
              <a:t>Jojxf</a:t>
            </a:r>
            <a:r>
              <a:rPr lang="en-US" sz="3600" dirty="0" smtClean="0">
                <a:solidFill>
                  <a:schemeClr val="bg1"/>
                </a:solidFill>
                <a:latin typeface="Preeti" pitchFamily="2" charset="0"/>
              </a:rPr>
              <a:t>/w</a:t>
            </a:r>
            <a:r>
              <a:rPr lang="en-US" sz="3600" dirty="0">
                <a:solidFill>
                  <a:schemeClr val="bg1"/>
                </a:solidFill>
                <a:latin typeface="Preeti" pitchFamily="2" charset="0"/>
              </a:rPr>
              <a:t>'/+ </a:t>
            </a:r>
            <a:r>
              <a:rPr lang="en-US" sz="3600" dirty="0" err="1">
                <a:solidFill>
                  <a:schemeClr val="bg1"/>
                </a:solidFill>
                <a:latin typeface="Preeti" pitchFamily="2" charset="0"/>
              </a:rPr>
              <a:t>jf</a:t>
            </a:r>
            <a:r>
              <a:rPr lang="en-US" sz="3600" dirty="0">
                <a:solidFill>
                  <a:schemeClr val="bg1"/>
                </a:solidFill>
                <a:latin typeface="Preeti" pitchFamily="2" charset="0"/>
              </a:rPr>
              <a:t>]9'+ o] </a:t>
            </a:r>
            <a:r>
              <a:rPr lang="en-US" sz="3600" dirty="0" err="1">
                <a:solidFill>
                  <a:schemeClr val="bg1"/>
                </a:solidFill>
                <a:latin typeface="Preeti" pitchFamily="2" charset="0"/>
              </a:rPr>
              <a:t>zQmf</a:t>
            </a:r>
            <a:r>
              <a:rPr lang="en-US" sz="3600" dirty="0">
                <a:solidFill>
                  <a:schemeClr val="bg1"/>
                </a:solidFill>
                <a:latin typeface="Preeti" pitchFamily="2" charset="0"/>
              </a:rPr>
              <a:t> M ;b\</a:t>
            </a:r>
            <a:r>
              <a:rPr lang="en-US" sz="3600" dirty="0" err="1">
                <a:solidFill>
                  <a:schemeClr val="bg1"/>
                </a:solidFill>
                <a:latin typeface="Preeti" pitchFamily="2" charset="0"/>
              </a:rPr>
              <a:t>ejfOj</a:t>
            </a:r>
            <a:r>
              <a:rPr lang="en-US" sz="3600" dirty="0">
                <a:solidFill>
                  <a:schemeClr val="bg1"/>
                </a:solidFill>
                <a:latin typeface="Preeti" pitchFamily="2" charset="0"/>
              </a:rPr>
              <a:t> .. </a:t>
            </a:r>
            <a:endParaRPr lang="en-US" sz="3600" dirty="0" smtClean="0">
              <a:solidFill>
                <a:schemeClr val="bg1"/>
              </a:solidFill>
              <a:latin typeface="Preeti" pitchFamily="2" charset="0"/>
            </a:endParaRPr>
          </a:p>
          <a:p>
            <a:pPr marL="0" indent="0">
              <a:buNone/>
            </a:pPr>
            <a:r>
              <a:rPr lang="en-US" sz="3600" dirty="0" smtClean="0">
                <a:solidFill>
                  <a:schemeClr val="bg1"/>
                </a:solidFill>
                <a:latin typeface="Preeti" pitchFamily="2" charset="0"/>
              </a:rPr>
              <a:t>	</a:t>
            </a:r>
            <a:r>
              <a:rPr lang="en-US" sz="3600" dirty="0" err="1" smtClean="0">
                <a:solidFill>
                  <a:schemeClr val="bg1"/>
                </a:solidFill>
                <a:latin typeface="Preeti" pitchFamily="2" charset="0"/>
              </a:rPr>
              <a:t>wd</a:t>
            </a:r>
            <a:r>
              <a:rPr lang="en-US" sz="3600" dirty="0" smtClean="0">
                <a:solidFill>
                  <a:schemeClr val="bg1"/>
                </a:solidFill>
                <a:latin typeface="Preeti" pitchFamily="2" charset="0"/>
              </a:rPr>
              <a:t>{</a:t>
            </a:r>
            <a:r>
              <a:rPr lang="en-US" sz="3600" dirty="0" err="1" smtClean="0">
                <a:solidFill>
                  <a:schemeClr val="bg1"/>
                </a:solidFill>
                <a:latin typeface="Preeti" pitchFamily="2" charset="0"/>
              </a:rPr>
              <a:t>zf:qf</a:t>
            </a:r>
            <a:r>
              <a:rPr lang="en-US" sz="3600" dirty="0" smtClean="0">
                <a:solidFill>
                  <a:schemeClr val="bg1"/>
                </a:solidFill>
                <a:latin typeface="Preeti" pitchFamily="2" charset="0"/>
              </a:rPr>
              <a:t> </a:t>
            </a:r>
            <a:r>
              <a:rPr lang="en-US" sz="3600" dirty="0" err="1">
                <a:solidFill>
                  <a:schemeClr val="bg1"/>
                </a:solidFill>
                <a:latin typeface="Preeti" pitchFamily="2" charset="0"/>
              </a:rPr>
              <a:t>s'znf</a:t>
            </a:r>
            <a:r>
              <a:rPr lang="en-US" sz="3600" dirty="0">
                <a:solidFill>
                  <a:schemeClr val="bg1"/>
                </a:solidFill>
                <a:latin typeface="Preeti" pitchFamily="2" charset="0"/>
              </a:rPr>
              <a:t> M </a:t>
            </a:r>
            <a:r>
              <a:rPr lang="en-US" sz="3600" dirty="0" err="1">
                <a:solidFill>
                  <a:schemeClr val="bg1"/>
                </a:solidFill>
                <a:latin typeface="Preeti" pitchFamily="2" charset="0"/>
              </a:rPr>
              <a:t>s'nLgf</a:t>
            </a:r>
            <a:r>
              <a:rPr lang="en-US" sz="3600" dirty="0">
                <a:solidFill>
                  <a:schemeClr val="bg1"/>
                </a:solidFill>
                <a:latin typeface="Preeti" pitchFamily="2" charset="0"/>
              </a:rPr>
              <a:t> M ;</a:t>
            </a:r>
            <a:r>
              <a:rPr lang="en-US" sz="3600" dirty="0" err="1">
                <a:solidFill>
                  <a:schemeClr val="bg1"/>
                </a:solidFill>
                <a:latin typeface="Preeti" pitchFamily="2" charset="0"/>
              </a:rPr>
              <a:t>Tojflbg</a:t>
            </a:r>
            <a:r>
              <a:rPr lang="en-US" sz="3600" dirty="0">
                <a:solidFill>
                  <a:schemeClr val="bg1"/>
                </a:solidFill>
                <a:latin typeface="Preeti" pitchFamily="2" charset="0"/>
              </a:rPr>
              <a:t> M. </a:t>
            </a:r>
            <a:endParaRPr lang="en-US" sz="3600" dirty="0" smtClean="0">
              <a:solidFill>
                <a:schemeClr val="bg1"/>
              </a:solidFill>
              <a:latin typeface="Preeti" pitchFamily="2" charset="0"/>
            </a:endParaRPr>
          </a:p>
          <a:p>
            <a:pPr marL="0" indent="0">
              <a:buNone/>
            </a:pPr>
            <a:r>
              <a:rPr lang="en-US" sz="3600" dirty="0" smtClean="0">
                <a:solidFill>
                  <a:schemeClr val="bg1"/>
                </a:solidFill>
                <a:latin typeface="Preeti" pitchFamily="2" charset="0"/>
              </a:rPr>
              <a:t>	;</a:t>
            </a:r>
            <a:r>
              <a:rPr lang="en-US" sz="3600" dirty="0" err="1">
                <a:solidFill>
                  <a:schemeClr val="bg1"/>
                </a:solidFill>
                <a:latin typeface="Preeti" pitchFamily="2" charset="0"/>
              </a:rPr>
              <a:t>df</a:t>
            </a:r>
            <a:r>
              <a:rPr lang="en-US" sz="3600" dirty="0">
                <a:solidFill>
                  <a:schemeClr val="bg1"/>
                </a:solidFill>
                <a:latin typeface="Preeti" pitchFamily="2" charset="0"/>
              </a:rPr>
              <a:t> </a:t>
            </a:r>
            <a:r>
              <a:rPr lang="en-US" sz="3600" dirty="0" err="1">
                <a:solidFill>
                  <a:schemeClr val="bg1"/>
                </a:solidFill>
                <a:latin typeface="Preeti" pitchFamily="2" charset="0"/>
              </a:rPr>
              <a:t>zqf</a:t>
            </a:r>
            <a:r>
              <a:rPr lang="en-US" sz="3600" dirty="0">
                <a:solidFill>
                  <a:schemeClr val="bg1"/>
                </a:solidFill>
                <a:latin typeface="Preeti" pitchFamily="2" charset="0"/>
              </a:rPr>
              <a:t>} r </a:t>
            </a:r>
            <a:r>
              <a:rPr lang="en-US" sz="3600" dirty="0" err="1">
                <a:solidFill>
                  <a:schemeClr val="bg1"/>
                </a:solidFill>
                <a:latin typeface="Preeti" pitchFamily="2" charset="0"/>
              </a:rPr>
              <a:t>ldq</a:t>
            </a:r>
            <a:r>
              <a:rPr lang="en-US" sz="3600" dirty="0">
                <a:solidFill>
                  <a:schemeClr val="bg1"/>
                </a:solidFill>
                <a:latin typeface="Preeti" pitchFamily="2" charset="0"/>
              </a:rPr>
              <a:t>] r g[</a:t>
            </a:r>
            <a:r>
              <a:rPr lang="en-US" sz="3600" dirty="0" err="1">
                <a:solidFill>
                  <a:schemeClr val="bg1"/>
                </a:solidFill>
                <a:latin typeface="Preeti" pitchFamily="2" charset="0"/>
              </a:rPr>
              <a:t>kt</a:t>
            </a:r>
            <a:r>
              <a:rPr lang="en-US" sz="3600" dirty="0">
                <a:solidFill>
                  <a:schemeClr val="bg1"/>
                </a:solidFill>
                <a:latin typeface="Preeti" pitchFamily="2" charset="0"/>
              </a:rPr>
              <a:t>]M :</a:t>
            </a:r>
            <a:r>
              <a:rPr lang="en-US" sz="3600" dirty="0" err="1">
                <a:solidFill>
                  <a:schemeClr val="bg1"/>
                </a:solidFill>
                <a:latin typeface="Preeti" pitchFamily="2" charset="0"/>
              </a:rPr>
              <a:t>o'M</a:t>
            </a:r>
            <a:r>
              <a:rPr lang="en-US" sz="3600" dirty="0">
                <a:solidFill>
                  <a:schemeClr val="bg1"/>
                </a:solidFill>
                <a:latin typeface="Preeti" pitchFamily="2" charset="0"/>
              </a:rPr>
              <a:t> ;</a:t>
            </a:r>
            <a:r>
              <a:rPr lang="en-US" sz="3600" dirty="0" err="1">
                <a:solidFill>
                  <a:schemeClr val="bg1"/>
                </a:solidFill>
                <a:latin typeface="Preeti" pitchFamily="2" charset="0"/>
              </a:rPr>
              <a:t>ef;bM</a:t>
            </a:r>
            <a:r>
              <a:rPr lang="en-US" sz="3600" dirty="0">
                <a:solidFill>
                  <a:schemeClr val="bg1"/>
                </a:solidFill>
                <a:latin typeface="Preeti" pitchFamily="2" charset="0"/>
              </a:rPr>
              <a:t>.. </a:t>
            </a:r>
            <a:endParaRPr lang="en-US" sz="3600" dirty="0" smtClean="0">
              <a:solidFill>
                <a:schemeClr val="bg1"/>
              </a:solidFill>
              <a:latin typeface="Preeti" pitchFamily="2" charset="0"/>
            </a:endParaRPr>
          </a:p>
          <a:p>
            <a:pPr marL="0" indent="0">
              <a:buNone/>
            </a:pPr>
            <a:r>
              <a:rPr lang="en-US" sz="3600" dirty="0" err="1" smtClean="0">
                <a:solidFill>
                  <a:schemeClr val="bg1"/>
                </a:solidFill>
                <a:latin typeface="Preeti" pitchFamily="2" charset="0"/>
              </a:rPr>
              <a:t>cyf</a:t>
            </a:r>
            <a:r>
              <a:rPr lang="en-US" sz="3600" dirty="0" smtClean="0">
                <a:solidFill>
                  <a:schemeClr val="bg1"/>
                </a:solidFill>
                <a:latin typeface="Preeti" pitchFamily="2" charset="0"/>
              </a:rPr>
              <a:t>{t </a:t>
            </a:r>
            <a:r>
              <a:rPr lang="en-US" sz="3600" dirty="0">
                <a:solidFill>
                  <a:schemeClr val="bg1"/>
                </a:solidFill>
                <a:latin typeface="Preeti" pitchFamily="2" charset="0"/>
              </a:rPr>
              <a:t>/</a:t>
            </a:r>
            <a:r>
              <a:rPr lang="en-US" sz="3600" dirty="0" err="1">
                <a:solidFill>
                  <a:schemeClr val="bg1"/>
                </a:solidFill>
                <a:latin typeface="Preeti" pitchFamily="2" charset="0"/>
              </a:rPr>
              <a:t>fhfn</a:t>
            </a:r>
            <a:r>
              <a:rPr lang="en-US" sz="3600" dirty="0">
                <a:solidFill>
                  <a:schemeClr val="bg1"/>
                </a:solidFill>
                <a:latin typeface="Preeti" pitchFamily="2" charset="0"/>
              </a:rPr>
              <a:t>] ;</a:t>
            </a:r>
            <a:r>
              <a:rPr lang="en-US" sz="3600" dirty="0" err="1">
                <a:solidFill>
                  <a:schemeClr val="bg1"/>
                </a:solidFill>
                <a:latin typeface="Preeti" pitchFamily="2" charset="0"/>
              </a:rPr>
              <a:t>Rrl</a:t>
            </a:r>
            <a:r>
              <a:rPr lang="en-US" sz="3600" dirty="0">
                <a:solidFill>
                  <a:schemeClr val="bg1"/>
                </a:solidFill>
                <a:latin typeface="Preeti" pitchFamily="2" charset="0"/>
              </a:rPr>
              <a:t>/</a:t>
            </a:r>
            <a:r>
              <a:rPr lang="en-US" sz="3600" dirty="0" err="1">
                <a:solidFill>
                  <a:schemeClr val="bg1"/>
                </a:solidFill>
                <a:latin typeface="Preeti" pitchFamily="2" charset="0"/>
              </a:rPr>
              <a:t>qtfsf</a:t>
            </a:r>
            <a:r>
              <a:rPr lang="en-US" sz="3600" dirty="0">
                <a:solidFill>
                  <a:schemeClr val="bg1"/>
                </a:solidFill>
                <a:latin typeface="Preeti" pitchFamily="2" charset="0"/>
              </a:rPr>
              <a:t>] k/LIf0faf6 </a:t>
            </a:r>
            <a:r>
              <a:rPr lang="en-US" sz="3600" dirty="0" err="1">
                <a:solidFill>
                  <a:schemeClr val="bg1"/>
                </a:solidFill>
                <a:latin typeface="Preeti" pitchFamily="2" charset="0"/>
              </a:rPr>
              <a:t>vfl</a:t>
            </a:r>
            <a:r>
              <a:rPr lang="en-US" sz="3600" dirty="0">
                <a:solidFill>
                  <a:schemeClr val="bg1"/>
                </a:solidFill>
                <a:latin typeface="Preeti" pitchFamily="2" charset="0"/>
              </a:rPr>
              <a:t>/</a:t>
            </a:r>
            <a:r>
              <a:rPr lang="en-US" sz="3600" dirty="0" err="1">
                <a:solidFill>
                  <a:schemeClr val="bg1"/>
                </a:solidFill>
                <a:latin typeface="Preeti" pitchFamily="2" charset="0"/>
              </a:rPr>
              <a:t>Psf</a:t>
            </a:r>
            <a:r>
              <a:rPr lang="en-US" sz="3600" dirty="0">
                <a:solidFill>
                  <a:schemeClr val="bg1"/>
                </a:solidFill>
                <a:latin typeface="Preeti" pitchFamily="2" charset="0"/>
              </a:rPr>
              <a:t>, ;</a:t>
            </a:r>
            <a:r>
              <a:rPr lang="en-US" sz="3600" dirty="0" err="1">
                <a:solidFill>
                  <a:schemeClr val="bg1"/>
                </a:solidFill>
                <a:latin typeface="Preeti" pitchFamily="2" charset="0"/>
              </a:rPr>
              <a:t>Ddflgt</a:t>
            </a:r>
            <a:r>
              <a:rPr lang="en-US" sz="3600" dirty="0">
                <a:solidFill>
                  <a:schemeClr val="bg1"/>
                </a:solidFill>
                <a:latin typeface="Preeti" pitchFamily="2" charset="0"/>
              </a:rPr>
              <a:t>, </a:t>
            </a:r>
            <a:r>
              <a:rPr lang="en-US" sz="3600" dirty="0" err="1">
                <a:solidFill>
                  <a:schemeClr val="bg1"/>
                </a:solidFill>
                <a:latin typeface="Preeti" pitchFamily="2" charset="0"/>
              </a:rPr>
              <a:t>Gofo</a:t>
            </a:r>
            <a:r>
              <a:rPr lang="en-US" sz="3600" dirty="0">
                <a:solidFill>
                  <a:schemeClr val="bg1"/>
                </a:solidFill>
                <a:latin typeface="Preeti" pitchFamily="2" charset="0"/>
              </a:rPr>
              <a:t> </a:t>
            </a:r>
            <a:r>
              <a:rPr lang="en-US" sz="3600" dirty="0" err="1">
                <a:solidFill>
                  <a:schemeClr val="bg1"/>
                </a:solidFill>
                <a:latin typeface="Preeti" pitchFamily="2" charset="0"/>
              </a:rPr>
              <a:t>k|zf;gsf</a:t>
            </a:r>
            <a:r>
              <a:rPr lang="en-US" sz="3600" dirty="0">
                <a:solidFill>
                  <a:schemeClr val="bg1"/>
                </a:solidFill>
                <a:latin typeface="Preeti" pitchFamily="2" charset="0"/>
              </a:rPr>
              <a:t>] </a:t>
            </a:r>
            <a:r>
              <a:rPr lang="en-US" sz="3600" dirty="0" err="1">
                <a:solidFill>
                  <a:schemeClr val="bg1"/>
                </a:solidFill>
                <a:latin typeface="Preeti" pitchFamily="2" charset="0"/>
              </a:rPr>
              <a:t>lhDd</a:t>
            </a:r>
            <a:r>
              <a:rPr lang="en-US" sz="3600" dirty="0">
                <a:solidFill>
                  <a:schemeClr val="bg1"/>
                </a:solidFill>
                <a:latin typeface="Preeti" pitchFamily="2" charset="0"/>
              </a:rPr>
              <a:t>]</a:t>
            </a:r>
            <a:r>
              <a:rPr lang="en-US" sz="3600" dirty="0" err="1">
                <a:solidFill>
                  <a:schemeClr val="bg1"/>
                </a:solidFill>
                <a:latin typeface="Preeti" pitchFamily="2" charset="0"/>
              </a:rPr>
              <a:t>jf</a:t>
            </a:r>
            <a:r>
              <a:rPr lang="en-US" sz="3600" dirty="0">
                <a:solidFill>
                  <a:schemeClr val="bg1"/>
                </a:solidFill>
                <a:latin typeface="Preeti" pitchFamily="2" charset="0"/>
              </a:rPr>
              <a:t>/L </a:t>
            </a:r>
            <a:r>
              <a:rPr lang="en-US" sz="3600" dirty="0" err="1">
                <a:solidFill>
                  <a:schemeClr val="bg1"/>
                </a:solidFill>
                <a:latin typeface="Preeti" pitchFamily="2" charset="0"/>
              </a:rPr>
              <a:t>jf</a:t>
            </a:r>
            <a:r>
              <a:rPr lang="en-US" sz="3600" dirty="0">
                <a:solidFill>
                  <a:schemeClr val="bg1"/>
                </a:solidFill>
                <a:latin typeface="Preeti" pitchFamily="2" charset="0"/>
              </a:rPr>
              <a:t>]</a:t>
            </a:r>
            <a:r>
              <a:rPr lang="en-US" sz="3600" dirty="0" err="1">
                <a:solidFill>
                  <a:schemeClr val="bg1"/>
                </a:solidFill>
                <a:latin typeface="Preeti" pitchFamily="2" charset="0"/>
              </a:rPr>
              <a:t>Sg</a:t>
            </a:r>
            <a:r>
              <a:rPr lang="en-US" sz="3600" dirty="0">
                <a:solidFill>
                  <a:schemeClr val="bg1"/>
                </a:solidFill>
                <a:latin typeface="Preeti" pitchFamily="2" charset="0"/>
              </a:rPr>
              <a:t> ;</a:t>
            </a:r>
            <a:r>
              <a:rPr lang="en-US" sz="3600" dirty="0" err="1">
                <a:solidFill>
                  <a:schemeClr val="bg1"/>
                </a:solidFill>
                <a:latin typeface="Preeti" pitchFamily="2" charset="0"/>
              </a:rPr>
              <a:t>Sg</a:t>
            </a:r>
            <a:r>
              <a:rPr lang="en-US" sz="3600" dirty="0">
                <a:solidFill>
                  <a:schemeClr val="bg1"/>
                </a:solidFill>
                <a:latin typeface="Preeti" pitchFamily="2" charset="0"/>
              </a:rPr>
              <a:t>] / </a:t>
            </a:r>
            <a:r>
              <a:rPr lang="en-US" sz="3600" dirty="0" err="1">
                <a:solidFill>
                  <a:schemeClr val="bg1"/>
                </a:solidFill>
                <a:latin typeface="Preeti" pitchFamily="2" charset="0"/>
              </a:rPr>
              <a:t>kljq</a:t>
            </a:r>
            <a:r>
              <a:rPr lang="en-US" sz="3600" dirty="0">
                <a:solidFill>
                  <a:schemeClr val="bg1"/>
                </a:solidFill>
                <a:latin typeface="Preeti" pitchFamily="2" charset="0"/>
              </a:rPr>
              <a:t> </a:t>
            </a:r>
            <a:r>
              <a:rPr lang="en-US" sz="3600" dirty="0" err="1">
                <a:solidFill>
                  <a:schemeClr val="bg1"/>
                </a:solidFill>
                <a:latin typeface="Preeti" pitchFamily="2" charset="0"/>
              </a:rPr>
              <a:t>sfg"gx</a:t>
            </a:r>
            <a:r>
              <a:rPr lang="en-US" sz="3600" dirty="0">
                <a:solidFill>
                  <a:schemeClr val="bg1"/>
                </a:solidFill>
                <a:latin typeface="Preeti" pitchFamily="2" charset="0"/>
              </a:rPr>
              <a:t>? </a:t>
            </a:r>
            <a:r>
              <a:rPr lang="en-US" sz="3600" dirty="0" err="1">
                <a:solidFill>
                  <a:schemeClr val="bg1"/>
                </a:solidFill>
                <a:latin typeface="Preeti" pitchFamily="2" charset="0"/>
              </a:rPr>
              <a:t>tyf</a:t>
            </a:r>
            <a:r>
              <a:rPr lang="en-US" sz="3600" dirty="0">
                <a:solidFill>
                  <a:schemeClr val="bg1"/>
                </a:solidFill>
                <a:latin typeface="Preeti" pitchFamily="2" charset="0"/>
              </a:rPr>
              <a:t> </a:t>
            </a:r>
            <a:r>
              <a:rPr lang="en-US" sz="3600" dirty="0" err="1">
                <a:solidFill>
                  <a:schemeClr val="bg1"/>
                </a:solidFill>
                <a:latin typeface="Preeti" pitchFamily="2" charset="0"/>
              </a:rPr>
              <a:t>ljj</a:t>
            </a:r>
            <a:r>
              <a:rPr lang="en-US" sz="3600" dirty="0">
                <a:solidFill>
                  <a:schemeClr val="bg1"/>
                </a:solidFill>
                <a:latin typeface="Preeti" pitchFamily="2" charset="0"/>
              </a:rPr>
              <a:t>]</a:t>
            </a:r>
            <a:r>
              <a:rPr lang="en-US" sz="3600" dirty="0" err="1">
                <a:solidFill>
                  <a:schemeClr val="bg1"/>
                </a:solidFill>
                <a:latin typeface="Preeti" pitchFamily="2" charset="0"/>
              </a:rPr>
              <a:t>ssf</a:t>
            </a:r>
            <a:r>
              <a:rPr lang="en-US" sz="3600" dirty="0">
                <a:solidFill>
                  <a:schemeClr val="bg1"/>
                </a:solidFill>
                <a:latin typeface="Preeti" pitchFamily="2" charset="0"/>
              </a:rPr>
              <a:t> </a:t>
            </a:r>
            <a:r>
              <a:rPr lang="en-US" sz="3600" dirty="0" err="1">
                <a:solidFill>
                  <a:schemeClr val="bg1"/>
                </a:solidFill>
                <a:latin typeface="Preeti" pitchFamily="2" charset="0"/>
              </a:rPr>
              <a:t>lgodx</a:t>
            </a:r>
            <a:r>
              <a:rPr lang="en-US" sz="3600" dirty="0">
                <a:solidFill>
                  <a:schemeClr val="bg1"/>
                </a:solidFill>
                <a:latin typeface="Preeti" pitchFamily="2" charset="0"/>
              </a:rPr>
              <a:t>? /</a:t>
            </a:r>
            <a:r>
              <a:rPr lang="en-US" sz="3600" dirty="0" err="1">
                <a:solidFill>
                  <a:schemeClr val="bg1"/>
                </a:solidFill>
                <a:latin typeface="Preeti" pitchFamily="2" charset="0"/>
              </a:rPr>
              <a:t>fd|f</a:t>
            </a:r>
            <a:r>
              <a:rPr lang="en-US" sz="3600" dirty="0">
                <a:solidFill>
                  <a:schemeClr val="bg1"/>
                </a:solidFill>
                <a:latin typeface="Preeti" pitchFamily="2" charset="0"/>
              </a:rPr>
              <a:t>];Fu </a:t>
            </a:r>
            <a:r>
              <a:rPr lang="en-US" sz="3600" dirty="0" err="1">
                <a:solidFill>
                  <a:schemeClr val="bg1"/>
                </a:solidFill>
                <a:latin typeface="Preeti" pitchFamily="2" charset="0"/>
              </a:rPr>
              <a:t>hfg</a:t>
            </a:r>
            <a:r>
              <a:rPr lang="en-US" sz="3600" dirty="0">
                <a:solidFill>
                  <a:schemeClr val="bg1"/>
                </a:solidFill>
                <a:latin typeface="Preeti" pitchFamily="2" charset="0"/>
              </a:rPr>
              <a:t>]</a:t>
            </a:r>
            <a:r>
              <a:rPr lang="en-US" sz="3600" dirty="0" err="1">
                <a:solidFill>
                  <a:schemeClr val="bg1"/>
                </a:solidFill>
                <a:latin typeface="Preeti" pitchFamily="2" charset="0"/>
              </a:rPr>
              <a:t>sf</a:t>
            </a:r>
            <a:r>
              <a:rPr lang="en-US" sz="3600" dirty="0">
                <a:solidFill>
                  <a:schemeClr val="bg1"/>
                </a:solidFill>
                <a:latin typeface="Preeti" pitchFamily="2" charset="0"/>
              </a:rPr>
              <a:t>, </a:t>
            </a:r>
            <a:r>
              <a:rPr lang="en-US" sz="3600" dirty="0" err="1">
                <a:solidFill>
                  <a:schemeClr val="bg1"/>
                </a:solidFill>
                <a:latin typeface="Preeti" pitchFamily="2" charset="0"/>
              </a:rPr>
              <a:t>pbfQ</a:t>
            </a:r>
            <a:r>
              <a:rPr lang="en-US" sz="3600" dirty="0">
                <a:solidFill>
                  <a:schemeClr val="bg1"/>
                </a:solidFill>
                <a:latin typeface="Preeti" pitchFamily="2" charset="0"/>
              </a:rPr>
              <a:t> :</a:t>
            </a:r>
            <a:r>
              <a:rPr lang="en-US" sz="3600" dirty="0" err="1">
                <a:solidFill>
                  <a:schemeClr val="bg1"/>
                </a:solidFill>
                <a:latin typeface="Preeti" pitchFamily="2" charset="0"/>
              </a:rPr>
              <a:t>jefjsf</a:t>
            </a:r>
            <a:r>
              <a:rPr lang="en-US" sz="3600" dirty="0">
                <a:solidFill>
                  <a:schemeClr val="bg1"/>
                </a:solidFill>
                <a:latin typeface="Preeti" pitchFamily="2" charset="0"/>
              </a:rPr>
              <a:t> </a:t>
            </a:r>
            <a:r>
              <a:rPr lang="en-US" sz="3600" dirty="0" err="1">
                <a:solidFill>
                  <a:schemeClr val="bg1"/>
                </a:solidFill>
                <a:latin typeface="Preeti" pitchFamily="2" charset="0"/>
              </a:rPr>
              <a:t>ldq</a:t>
            </a:r>
            <a:r>
              <a:rPr lang="en-US" sz="3600" dirty="0">
                <a:solidFill>
                  <a:schemeClr val="bg1"/>
                </a:solidFill>
                <a:latin typeface="Preeti" pitchFamily="2" charset="0"/>
              </a:rPr>
              <a:t> / </a:t>
            </a:r>
            <a:r>
              <a:rPr lang="en-US" sz="3600" dirty="0" err="1">
                <a:solidFill>
                  <a:schemeClr val="bg1"/>
                </a:solidFill>
                <a:latin typeface="Preeti" pitchFamily="2" charset="0"/>
              </a:rPr>
              <a:t>zq</a:t>
            </a:r>
            <a:r>
              <a:rPr lang="en-US" sz="3600" dirty="0">
                <a:solidFill>
                  <a:schemeClr val="bg1"/>
                </a:solidFill>
                <a:latin typeface="Preeti" pitchFamily="2" charset="0"/>
              </a:rPr>
              <a:t>' </a:t>
            </a:r>
            <a:r>
              <a:rPr lang="en-US" sz="3600" dirty="0" err="1">
                <a:solidFill>
                  <a:schemeClr val="bg1"/>
                </a:solidFill>
                <a:latin typeface="Preeti" pitchFamily="2" charset="0"/>
              </a:rPr>
              <a:t>k|lt</a:t>
            </a:r>
            <a:r>
              <a:rPr lang="en-US" sz="3600" dirty="0">
                <a:solidFill>
                  <a:schemeClr val="bg1"/>
                </a:solidFill>
                <a:latin typeface="Preeti" pitchFamily="2" charset="0"/>
              </a:rPr>
              <a:t> ;</a:t>
            </a:r>
            <a:r>
              <a:rPr lang="en-US" sz="3600" dirty="0" err="1">
                <a:solidFill>
                  <a:schemeClr val="bg1"/>
                </a:solidFill>
                <a:latin typeface="Preeti" pitchFamily="2" charset="0"/>
              </a:rPr>
              <a:t>dfg</a:t>
            </a:r>
            <a:r>
              <a:rPr lang="en-US" sz="3600" dirty="0">
                <a:solidFill>
                  <a:schemeClr val="bg1"/>
                </a:solidFill>
                <a:latin typeface="Preeti" pitchFamily="2" charset="0"/>
              </a:rPr>
              <a:t> </a:t>
            </a:r>
            <a:r>
              <a:rPr lang="en-US" sz="3600" dirty="0" err="1">
                <a:solidFill>
                  <a:schemeClr val="bg1"/>
                </a:solidFill>
                <a:latin typeface="Preeti" pitchFamily="2" charset="0"/>
              </a:rPr>
              <a:t>Jojxf</a:t>
            </a:r>
            <a:r>
              <a:rPr lang="en-US" sz="3600" dirty="0">
                <a:solidFill>
                  <a:schemeClr val="bg1"/>
                </a:solidFill>
                <a:latin typeface="Preeti" pitchFamily="2" charset="0"/>
              </a:rPr>
              <a:t>/ </a:t>
            </a:r>
            <a:r>
              <a:rPr lang="en-US" sz="3600" dirty="0" err="1">
                <a:solidFill>
                  <a:schemeClr val="bg1"/>
                </a:solidFill>
                <a:latin typeface="Preeti" pitchFamily="2" charset="0"/>
              </a:rPr>
              <a:t>ug</a:t>
            </a:r>
            <a:r>
              <a:rPr lang="en-US" sz="3600" dirty="0">
                <a:solidFill>
                  <a:schemeClr val="bg1"/>
                </a:solidFill>
                <a:latin typeface="Preeti" pitchFamily="2" charset="0"/>
              </a:rPr>
              <a:t>{ ;</a:t>
            </a:r>
            <a:r>
              <a:rPr lang="en-US" sz="3600" dirty="0" err="1">
                <a:solidFill>
                  <a:schemeClr val="bg1"/>
                </a:solidFill>
                <a:latin typeface="Preeti" pitchFamily="2" charset="0"/>
              </a:rPr>
              <a:t>Sg</a:t>
            </a:r>
            <a:r>
              <a:rPr lang="en-US" sz="3600" dirty="0">
                <a:solidFill>
                  <a:schemeClr val="bg1"/>
                </a:solidFill>
                <a:latin typeface="Preeti" pitchFamily="2" charset="0"/>
              </a:rPr>
              <a:t>] </a:t>
            </a:r>
            <a:r>
              <a:rPr lang="en-US" sz="3600" dirty="0" err="1" smtClean="0">
                <a:solidFill>
                  <a:schemeClr val="bg1"/>
                </a:solidFill>
                <a:latin typeface="Preeti" pitchFamily="2" charset="0"/>
              </a:rPr>
              <a:t>JolQmnfO</a:t>
            </a:r>
            <a:r>
              <a:rPr lang="en-US" sz="3600" dirty="0">
                <a:solidFill>
                  <a:schemeClr val="bg1"/>
                </a:solidFill>
                <a:latin typeface="Preeti" pitchFamily="2" charset="0"/>
              </a:rPr>
              <a:t>{ </a:t>
            </a:r>
            <a:r>
              <a:rPr lang="en-US" sz="3600" dirty="0" err="1">
                <a:solidFill>
                  <a:schemeClr val="bg1"/>
                </a:solidFill>
                <a:latin typeface="Preeti" pitchFamily="2" charset="0"/>
              </a:rPr>
              <a:t>Gofofnosf</a:t>
            </a:r>
            <a:r>
              <a:rPr lang="en-US" sz="3600" dirty="0">
                <a:solidFill>
                  <a:schemeClr val="bg1"/>
                </a:solidFill>
                <a:latin typeface="Preeti" pitchFamily="2" charset="0"/>
              </a:rPr>
              <a:t>] ;</a:t>
            </a:r>
            <a:r>
              <a:rPr lang="en-US" sz="3600" dirty="0" err="1">
                <a:solidFill>
                  <a:schemeClr val="bg1"/>
                </a:solidFill>
                <a:latin typeface="Preeti" pitchFamily="2" charset="0"/>
              </a:rPr>
              <a:t>b:osf</a:t>
            </a:r>
            <a:r>
              <a:rPr lang="en-US" sz="3600" dirty="0">
                <a:solidFill>
                  <a:schemeClr val="bg1"/>
                </a:solidFill>
                <a:latin typeface="Preeti" pitchFamily="2" charset="0"/>
              </a:rPr>
              <a:t>] ?</a:t>
            </a:r>
            <a:r>
              <a:rPr lang="en-US" sz="3600" dirty="0" err="1">
                <a:solidFill>
                  <a:schemeClr val="bg1"/>
                </a:solidFill>
                <a:latin typeface="Preeti" pitchFamily="2" charset="0"/>
              </a:rPr>
              <a:t>kdf</a:t>
            </a:r>
            <a:r>
              <a:rPr lang="en-US" sz="3600" dirty="0">
                <a:solidFill>
                  <a:schemeClr val="bg1"/>
                </a:solidFill>
                <a:latin typeface="Preeti" pitchFamily="2" charset="0"/>
              </a:rPr>
              <a:t> </a:t>
            </a:r>
            <a:r>
              <a:rPr lang="en-US" sz="3600" dirty="0" err="1">
                <a:solidFill>
                  <a:schemeClr val="bg1"/>
                </a:solidFill>
                <a:latin typeface="Preeti" pitchFamily="2" charset="0"/>
              </a:rPr>
              <a:t>lgo'Qm</a:t>
            </a:r>
            <a:r>
              <a:rPr lang="en-US" sz="3600" dirty="0">
                <a:solidFill>
                  <a:schemeClr val="bg1"/>
                </a:solidFill>
                <a:latin typeface="Preeti" pitchFamily="2" charset="0"/>
              </a:rPr>
              <a:t> </a:t>
            </a:r>
            <a:r>
              <a:rPr lang="en-US" sz="3600" dirty="0" err="1">
                <a:solidFill>
                  <a:schemeClr val="bg1"/>
                </a:solidFill>
                <a:latin typeface="Preeti" pitchFamily="2" charset="0"/>
              </a:rPr>
              <a:t>ug</a:t>
            </a:r>
            <a:r>
              <a:rPr lang="en-US" sz="3600" dirty="0">
                <a:solidFill>
                  <a:schemeClr val="bg1"/>
                </a:solidFill>
                <a:latin typeface="Preeti" pitchFamily="2" charset="0"/>
              </a:rPr>
              <a:t>'{k5{ . </a:t>
            </a:r>
          </a:p>
        </p:txBody>
      </p:sp>
    </p:spTree>
    <p:extLst>
      <p:ext uri="{BB962C8B-B14F-4D97-AF65-F5344CB8AC3E}">
        <p14:creationId xmlns:p14="http://schemas.microsoft.com/office/powerpoint/2010/main" val="3773154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50000"/>
            </a:schemeClr>
          </a:solidFill>
        </p:spPr>
        <p:txBody>
          <a:bodyPr>
            <a:normAutofit/>
          </a:bodyPr>
          <a:lstStyle/>
          <a:p>
            <a:pPr algn="ctr"/>
            <a:r>
              <a:rPr lang="en-US" sz="6000" dirty="0" err="1" smtClean="0">
                <a:solidFill>
                  <a:schemeClr val="bg1"/>
                </a:solidFill>
                <a:latin typeface="Preeti" pitchFamily="2" charset="0"/>
              </a:rPr>
              <a:t>sfTofofgsf</a:t>
            </a:r>
            <a:r>
              <a:rPr lang="en-US" sz="6000" dirty="0" smtClean="0">
                <a:solidFill>
                  <a:schemeClr val="bg1"/>
                </a:solidFill>
                <a:latin typeface="Preeti" pitchFamily="2" charset="0"/>
              </a:rPr>
              <a:t> </a:t>
            </a:r>
            <a:r>
              <a:rPr lang="en-US" sz="6000" dirty="0" err="1" smtClean="0">
                <a:solidFill>
                  <a:schemeClr val="bg1"/>
                </a:solidFill>
                <a:latin typeface="Preeti" pitchFamily="2" charset="0"/>
              </a:rPr>
              <a:t>cg';f</a:t>
            </a:r>
            <a:r>
              <a:rPr lang="en-US" sz="6000" dirty="0" smtClean="0">
                <a:solidFill>
                  <a:schemeClr val="bg1"/>
                </a:solidFill>
                <a:latin typeface="Preeti" pitchFamily="2" charset="0"/>
              </a:rPr>
              <a:t>/</a:t>
            </a:r>
            <a:endParaRPr lang="en-US" sz="6000" dirty="0">
              <a:solidFill>
                <a:schemeClr val="bg1"/>
              </a:solidFill>
              <a:latin typeface="Preeti" pitchFamily="2" charset="0"/>
            </a:endParaRPr>
          </a:p>
        </p:txBody>
      </p:sp>
      <p:sp>
        <p:nvSpPr>
          <p:cNvPr id="3" name="Content Placeholder 2"/>
          <p:cNvSpPr>
            <a:spLocks noGrp="1"/>
          </p:cNvSpPr>
          <p:nvPr>
            <p:ph idx="1"/>
          </p:nvPr>
        </p:nvSpPr>
        <p:spPr>
          <a:solidFill>
            <a:srgbClr val="7030A0"/>
          </a:solidFill>
        </p:spPr>
        <p:txBody>
          <a:bodyPr/>
          <a:lstStyle/>
          <a:p>
            <a:pPr marL="0" indent="0">
              <a:buNone/>
            </a:pPr>
            <a:r>
              <a:rPr lang="en-US" dirty="0" smtClean="0">
                <a:latin typeface="Preeti" pitchFamily="2" charset="0"/>
              </a:rPr>
              <a:t>	</a:t>
            </a:r>
          </a:p>
          <a:p>
            <a:pPr marL="0" indent="0">
              <a:buNone/>
            </a:pPr>
            <a:r>
              <a:rPr lang="en-US" sz="4000" dirty="0">
                <a:solidFill>
                  <a:schemeClr val="bg1"/>
                </a:solidFill>
                <a:latin typeface="Preeti" pitchFamily="2" charset="0"/>
              </a:rPr>
              <a:t>	</a:t>
            </a:r>
            <a:r>
              <a:rPr lang="en-US" sz="4000" dirty="0" err="1" smtClean="0">
                <a:solidFill>
                  <a:schemeClr val="bg1"/>
                </a:solidFill>
                <a:latin typeface="Preeti" pitchFamily="2" charset="0"/>
              </a:rPr>
              <a:t>cs</a:t>
            </a:r>
            <a:r>
              <a:rPr lang="en-US" sz="4000" dirty="0">
                <a:solidFill>
                  <a:schemeClr val="bg1"/>
                </a:solidFill>
                <a:latin typeface="Preeti" pitchFamily="2" charset="0"/>
              </a:rPr>
              <a:t>|'/f] </a:t>
            </a:r>
            <a:r>
              <a:rPr lang="en-US" sz="4000" dirty="0" err="1">
                <a:solidFill>
                  <a:schemeClr val="bg1"/>
                </a:solidFill>
                <a:latin typeface="Preeti" pitchFamily="2" charset="0"/>
              </a:rPr>
              <a:t>dw</a:t>
            </a:r>
            <a:r>
              <a:rPr lang="en-US" sz="4000" dirty="0">
                <a:solidFill>
                  <a:schemeClr val="bg1"/>
                </a:solidFill>
                <a:latin typeface="Preeti" pitchFamily="2" charset="0"/>
              </a:rPr>
              <a:t>'/ M l:GtUw M </a:t>
            </a:r>
            <a:r>
              <a:rPr lang="en-US" sz="4000" dirty="0" err="1">
                <a:solidFill>
                  <a:schemeClr val="bg1"/>
                </a:solidFill>
                <a:latin typeface="Preeti" pitchFamily="2" charset="0"/>
              </a:rPr>
              <a:t>Ifdfoftf</a:t>
            </a:r>
            <a:r>
              <a:rPr lang="en-US" sz="4000" dirty="0">
                <a:solidFill>
                  <a:schemeClr val="bg1"/>
                </a:solidFill>
                <a:latin typeface="Preeti" pitchFamily="2" charset="0"/>
              </a:rPr>
              <a:t>] ljrIf0f </a:t>
            </a:r>
            <a:endParaRPr lang="en-US" sz="4000" dirty="0" smtClean="0">
              <a:solidFill>
                <a:schemeClr val="bg1"/>
              </a:solidFill>
              <a:latin typeface="Preeti" pitchFamily="2" charset="0"/>
            </a:endParaRPr>
          </a:p>
          <a:p>
            <a:pPr marL="0" indent="0">
              <a:buNone/>
            </a:pPr>
            <a:r>
              <a:rPr lang="en-US" sz="4000" dirty="0" smtClean="0">
                <a:solidFill>
                  <a:schemeClr val="bg1"/>
                </a:solidFill>
                <a:latin typeface="Preeti" pitchFamily="2" charset="0"/>
              </a:rPr>
              <a:t>	</a:t>
            </a:r>
            <a:r>
              <a:rPr lang="en-US" sz="4000" dirty="0" err="1" smtClean="0">
                <a:solidFill>
                  <a:schemeClr val="bg1"/>
                </a:solidFill>
                <a:latin typeface="Preeti" pitchFamily="2" charset="0"/>
              </a:rPr>
              <a:t>pT;fxjfg</a:t>
            </a:r>
            <a:r>
              <a:rPr lang="en-US" sz="4000" dirty="0" smtClean="0">
                <a:solidFill>
                  <a:schemeClr val="bg1"/>
                </a:solidFill>
                <a:latin typeface="Preeti" pitchFamily="2" charset="0"/>
              </a:rPr>
              <a:t> </a:t>
            </a:r>
            <a:r>
              <a:rPr lang="en-US" sz="4000" dirty="0" err="1">
                <a:solidFill>
                  <a:schemeClr val="bg1"/>
                </a:solidFill>
                <a:latin typeface="Preeti" pitchFamily="2" charset="0"/>
              </a:rPr>
              <a:t>n'AwZr</a:t>
            </a:r>
            <a:r>
              <a:rPr lang="en-US" sz="4000" dirty="0">
                <a:solidFill>
                  <a:schemeClr val="bg1"/>
                </a:solidFill>
                <a:latin typeface="Preeti" pitchFamily="2" charset="0"/>
              </a:rPr>
              <a:t> </a:t>
            </a:r>
            <a:r>
              <a:rPr lang="en-US" sz="4000" dirty="0" err="1">
                <a:solidFill>
                  <a:schemeClr val="bg1"/>
                </a:solidFill>
                <a:latin typeface="Preeti" pitchFamily="2" charset="0"/>
              </a:rPr>
              <a:t>jf</a:t>
            </a:r>
            <a:r>
              <a:rPr lang="en-US" sz="4000" dirty="0">
                <a:solidFill>
                  <a:schemeClr val="bg1"/>
                </a:solidFill>
                <a:latin typeface="Preeti" pitchFamily="2" charset="0"/>
              </a:rPr>
              <a:t>]b] of]Hof] g[k]0ft' .. </a:t>
            </a:r>
            <a:endParaRPr lang="en-US" sz="4000" dirty="0" smtClean="0">
              <a:solidFill>
                <a:schemeClr val="bg1"/>
              </a:solidFill>
              <a:latin typeface="Preeti" pitchFamily="2" charset="0"/>
            </a:endParaRPr>
          </a:p>
          <a:p>
            <a:pPr marL="0" indent="0">
              <a:buNone/>
            </a:pPr>
            <a:r>
              <a:rPr lang="en-US" sz="4000" dirty="0" smtClean="0">
                <a:solidFill>
                  <a:schemeClr val="bg1"/>
                </a:solidFill>
                <a:latin typeface="Preeti" pitchFamily="2" charset="0"/>
              </a:rPr>
              <a:t>	</a:t>
            </a:r>
            <a:r>
              <a:rPr lang="en-US" sz="4000" dirty="0" err="1" smtClean="0">
                <a:solidFill>
                  <a:schemeClr val="bg1"/>
                </a:solidFill>
                <a:latin typeface="Preeti" pitchFamily="2" charset="0"/>
              </a:rPr>
              <a:t>cyf</a:t>
            </a:r>
            <a:r>
              <a:rPr lang="en-US" sz="4000" dirty="0" smtClean="0">
                <a:solidFill>
                  <a:schemeClr val="bg1"/>
                </a:solidFill>
                <a:latin typeface="Preeti" pitchFamily="2" charset="0"/>
              </a:rPr>
              <a:t>{t</a:t>
            </a:r>
            <a:r>
              <a:rPr lang="en-US" sz="4000" dirty="0">
                <a:solidFill>
                  <a:schemeClr val="bg1"/>
                </a:solidFill>
                <a:latin typeface="Preeti" pitchFamily="2" charset="0"/>
              </a:rPr>
              <a:t>\ </a:t>
            </a:r>
            <a:r>
              <a:rPr lang="en-US" sz="4000" dirty="0" err="1">
                <a:solidFill>
                  <a:schemeClr val="bg1"/>
                </a:solidFill>
                <a:latin typeface="Preeti" pitchFamily="2" charset="0"/>
              </a:rPr>
              <a:t>ljjfbx?sf</a:t>
            </a:r>
            <a:r>
              <a:rPr lang="en-US" sz="4000" dirty="0">
                <a:solidFill>
                  <a:schemeClr val="bg1"/>
                </a:solidFill>
                <a:latin typeface="Preeti" pitchFamily="2" charset="0"/>
              </a:rPr>
              <a:t>] </a:t>
            </a:r>
            <a:r>
              <a:rPr lang="en-US" sz="4000" dirty="0" err="1">
                <a:solidFill>
                  <a:schemeClr val="bg1"/>
                </a:solidFill>
                <a:latin typeface="Preeti" pitchFamily="2" charset="0"/>
              </a:rPr>
              <a:t>lg</a:t>
            </a:r>
            <a:r>
              <a:rPr lang="en-US" sz="4000" dirty="0">
                <a:solidFill>
                  <a:schemeClr val="bg1"/>
                </a:solidFill>
                <a:latin typeface="Preeti" pitchFamily="2" charset="0"/>
              </a:rPr>
              <a:t>/f]k0fsf] </a:t>
            </a:r>
            <a:r>
              <a:rPr lang="en-US" sz="4000" dirty="0" err="1">
                <a:solidFill>
                  <a:schemeClr val="bg1"/>
                </a:solidFill>
                <a:latin typeface="Preeti" pitchFamily="2" charset="0"/>
              </a:rPr>
              <a:t>nflu</a:t>
            </a:r>
            <a:r>
              <a:rPr lang="en-US" sz="4000" dirty="0">
                <a:solidFill>
                  <a:schemeClr val="bg1"/>
                </a:solidFill>
                <a:latin typeface="Preeti" pitchFamily="2" charset="0"/>
              </a:rPr>
              <a:t> </a:t>
            </a:r>
            <a:r>
              <a:rPr lang="en-US" sz="4000" dirty="0" err="1" smtClean="0">
                <a:solidFill>
                  <a:schemeClr val="bg1"/>
                </a:solidFill>
                <a:latin typeface="Preeti" pitchFamily="2" charset="0"/>
              </a:rPr>
              <a:t>bofn</a:t>
            </a:r>
            <a:r>
              <a:rPr lang="en-US" sz="4000" dirty="0">
                <a:solidFill>
                  <a:schemeClr val="bg1"/>
                </a:solidFill>
                <a:latin typeface="Preeti" pitchFamily="2" charset="0"/>
              </a:rPr>
              <a:t>' -</a:t>
            </a:r>
            <a:r>
              <a:rPr lang="en-US" sz="4000" dirty="0" err="1">
                <a:solidFill>
                  <a:schemeClr val="bg1"/>
                </a:solidFill>
                <a:latin typeface="Preeti" pitchFamily="2" charset="0"/>
              </a:rPr>
              <a:t>cqm</a:t>
            </a:r>
            <a:r>
              <a:rPr lang="en-US" sz="4000" dirty="0">
                <a:solidFill>
                  <a:schemeClr val="bg1"/>
                </a:solidFill>
                <a:latin typeface="Preeti" pitchFamily="2" charset="0"/>
              </a:rPr>
              <a:t>'/_ d[</a:t>
            </a:r>
            <a:r>
              <a:rPr lang="en-US" sz="4000" dirty="0" err="1">
                <a:solidFill>
                  <a:schemeClr val="bg1"/>
                </a:solidFill>
                <a:latin typeface="Preeti" pitchFamily="2" charset="0"/>
              </a:rPr>
              <a:t>b'efifL</a:t>
            </a:r>
            <a:r>
              <a:rPr lang="en-US" sz="4000" dirty="0">
                <a:solidFill>
                  <a:schemeClr val="bg1"/>
                </a:solidFill>
                <a:latin typeface="Preeti" pitchFamily="2" charset="0"/>
              </a:rPr>
              <a:t>, ;</a:t>
            </a:r>
            <a:r>
              <a:rPr lang="en-US" sz="4000" dirty="0" err="1">
                <a:solidFill>
                  <a:schemeClr val="bg1"/>
                </a:solidFill>
                <a:latin typeface="Preeti" pitchFamily="2" charset="0"/>
              </a:rPr>
              <a:t>kmf</a:t>
            </a:r>
            <a:r>
              <a:rPr lang="en-US" sz="4000" dirty="0">
                <a:solidFill>
                  <a:schemeClr val="bg1"/>
                </a:solidFill>
                <a:latin typeface="Preeti" pitchFamily="2" charset="0"/>
              </a:rPr>
              <a:t>, </a:t>
            </a:r>
            <a:r>
              <a:rPr lang="en-US" sz="4000" dirty="0" err="1">
                <a:solidFill>
                  <a:schemeClr val="bg1"/>
                </a:solidFill>
                <a:latin typeface="Preeti" pitchFamily="2" charset="0"/>
              </a:rPr>
              <a:t>rnfv</a:t>
            </a:r>
            <a:r>
              <a:rPr lang="en-US" sz="4000" dirty="0">
                <a:solidFill>
                  <a:schemeClr val="bg1"/>
                </a:solidFill>
                <a:latin typeface="Preeti" pitchFamily="2" charset="0"/>
              </a:rPr>
              <a:t>, </a:t>
            </a:r>
            <a:r>
              <a:rPr lang="en-US" sz="4000" dirty="0" err="1">
                <a:solidFill>
                  <a:schemeClr val="bg1"/>
                </a:solidFill>
                <a:latin typeface="Preeti" pitchFamily="2" charset="0"/>
              </a:rPr>
              <a:t>hfFul</a:t>
            </a:r>
            <a:r>
              <a:rPr lang="en-US" sz="4000" dirty="0">
                <a:solidFill>
                  <a:schemeClr val="bg1"/>
                </a:solidFill>
                <a:latin typeface="Preeti" pitchFamily="2" charset="0"/>
              </a:rPr>
              <a:t>/</a:t>
            </a:r>
            <a:r>
              <a:rPr lang="en-US" sz="4000" dirty="0" err="1">
                <a:solidFill>
                  <a:schemeClr val="bg1"/>
                </a:solidFill>
                <a:latin typeface="Preeti" pitchFamily="2" charset="0"/>
              </a:rPr>
              <a:t>nf</a:t>
            </a:r>
            <a:r>
              <a:rPr lang="en-US" sz="4000" dirty="0">
                <a:solidFill>
                  <a:schemeClr val="bg1"/>
                </a:solidFill>
                <a:latin typeface="Preeti" pitchFamily="2" charset="0"/>
              </a:rPr>
              <a:t>] t/ </a:t>
            </a:r>
            <a:r>
              <a:rPr lang="en-US" sz="4000" dirty="0" err="1">
                <a:solidFill>
                  <a:schemeClr val="bg1"/>
                </a:solidFill>
                <a:latin typeface="Preeti" pitchFamily="2" charset="0"/>
              </a:rPr>
              <a:t>nf</a:t>
            </a:r>
            <a:r>
              <a:rPr lang="en-US" sz="4000" dirty="0">
                <a:solidFill>
                  <a:schemeClr val="bg1"/>
                </a:solidFill>
                <a:latin typeface="Preeti" pitchFamily="2" charset="0"/>
              </a:rPr>
              <a:t>]</a:t>
            </a:r>
            <a:r>
              <a:rPr lang="en-US" sz="4000" dirty="0" err="1">
                <a:solidFill>
                  <a:schemeClr val="bg1"/>
                </a:solidFill>
                <a:latin typeface="Preeti" pitchFamily="2" charset="0"/>
              </a:rPr>
              <a:t>enfnr</a:t>
            </a:r>
            <a:r>
              <a:rPr lang="en-US" sz="4000" dirty="0">
                <a:solidFill>
                  <a:schemeClr val="bg1"/>
                </a:solidFill>
                <a:latin typeface="Preeti" pitchFamily="2" charset="0"/>
              </a:rPr>
              <a:t> </a:t>
            </a:r>
            <a:r>
              <a:rPr lang="en-US" sz="4000" dirty="0" err="1">
                <a:solidFill>
                  <a:schemeClr val="bg1"/>
                </a:solidFill>
                <a:latin typeface="Preeti" pitchFamily="2" charset="0"/>
              </a:rPr>
              <a:t>gePsf</a:t>
            </a:r>
            <a:r>
              <a:rPr lang="en-US" sz="4000" dirty="0">
                <a:solidFill>
                  <a:schemeClr val="bg1"/>
                </a:solidFill>
                <a:latin typeface="Preeti" pitchFamily="2" charset="0"/>
              </a:rPr>
              <a:t>] </a:t>
            </a:r>
            <a:r>
              <a:rPr lang="en-US" sz="4000" dirty="0" err="1">
                <a:solidFill>
                  <a:schemeClr val="bg1"/>
                </a:solidFill>
                <a:latin typeface="Preeti" pitchFamily="2" charset="0"/>
              </a:rPr>
              <a:t>JolQm</a:t>
            </a:r>
            <a:r>
              <a:rPr lang="en-US" sz="4000" dirty="0">
                <a:solidFill>
                  <a:schemeClr val="bg1"/>
                </a:solidFill>
                <a:latin typeface="Preeti" pitchFamily="2" charset="0"/>
              </a:rPr>
              <a:t> </a:t>
            </a:r>
            <a:r>
              <a:rPr lang="en-US" sz="4000" dirty="0" err="1" smtClean="0">
                <a:solidFill>
                  <a:schemeClr val="bg1"/>
                </a:solidFill>
                <a:latin typeface="Preeti" pitchFamily="2" charset="0"/>
              </a:rPr>
              <a:t>GofofwLzdf</a:t>
            </a:r>
            <a:r>
              <a:rPr lang="en-US" sz="4000" dirty="0" smtClean="0">
                <a:solidFill>
                  <a:schemeClr val="bg1"/>
                </a:solidFill>
                <a:latin typeface="Preeti" pitchFamily="2" charset="0"/>
              </a:rPr>
              <a:t> </a:t>
            </a:r>
            <a:r>
              <a:rPr lang="en-US" sz="4000" dirty="0" err="1" smtClean="0">
                <a:solidFill>
                  <a:schemeClr val="bg1"/>
                </a:solidFill>
                <a:latin typeface="Preeti" pitchFamily="2" charset="0"/>
              </a:rPr>
              <a:t>lgo'Qm</a:t>
            </a:r>
            <a:r>
              <a:rPr lang="en-US" sz="4000" dirty="0" smtClean="0">
                <a:solidFill>
                  <a:schemeClr val="bg1"/>
                </a:solidFill>
                <a:latin typeface="Preeti" pitchFamily="2" charset="0"/>
              </a:rPr>
              <a:t> </a:t>
            </a:r>
            <a:r>
              <a:rPr lang="en-US" sz="4000" dirty="0" err="1">
                <a:solidFill>
                  <a:schemeClr val="bg1"/>
                </a:solidFill>
                <a:latin typeface="Preeti" pitchFamily="2" charset="0"/>
              </a:rPr>
              <a:t>ug</a:t>
            </a:r>
            <a:r>
              <a:rPr lang="en-US" sz="4000" dirty="0">
                <a:solidFill>
                  <a:schemeClr val="bg1"/>
                </a:solidFill>
                <a:latin typeface="Preeti" pitchFamily="2" charset="0"/>
              </a:rPr>
              <a:t>'{k5{ </a:t>
            </a:r>
            <a:endParaRPr lang="en-US" sz="4000" dirty="0" smtClean="0">
              <a:solidFill>
                <a:schemeClr val="bg1"/>
              </a:solidFill>
              <a:latin typeface="Preeti" pitchFamily="2" charset="0"/>
            </a:endParaRPr>
          </a:p>
          <a:p>
            <a:endParaRPr lang="en-US" dirty="0">
              <a:latin typeface="Preeti" pitchFamily="2" charset="0"/>
            </a:endParaRPr>
          </a:p>
        </p:txBody>
      </p:sp>
    </p:spTree>
    <p:extLst>
      <p:ext uri="{BB962C8B-B14F-4D97-AF65-F5344CB8AC3E}">
        <p14:creationId xmlns:p14="http://schemas.microsoft.com/office/powerpoint/2010/main" val="2905710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How to Become a Good Judge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32329" y="1869141"/>
            <a:ext cx="10515600" cy="4751575"/>
          </a:xfrm>
          <a:solidFill>
            <a:srgbClr val="002060"/>
          </a:solidFill>
        </p:spPr>
        <p:txBody>
          <a:bodyPr>
            <a:noAutofit/>
          </a:bodyPr>
          <a:lstStyle/>
          <a:p>
            <a:r>
              <a:rPr lang="en-US" sz="3200" dirty="0" smtClean="0">
                <a:solidFill>
                  <a:schemeClr val="bg1"/>
                </a:solidFill>
                <a:latin typeface="Times New Roman" panose="02020603050405020304" pitchFamily="18" charset="0"/>
                <a:cs typeface="Times New Roman" panose="02020603050405020304" pitchFamily="18" charset="0"/>
              </a:rPr>
              <a:t>Self-management</a:t>
            </a:r>
          </a:p>
          <a:p>
            <a:r>
              <a:rPr lang="en-US" sz="3200" dirty="0" smtClean="0">
                <a:solidFill>
                  <a:schemeClr val="bg1"/>
                </a:solidFill>
                <a:latin typeface="Times New Roman" panose="02020603050405020304" pitchFamily="18" charset="0"/>
                <a:cs typeface="Times New Roman" panose="02020603050405020304" pitchFamily="18" charset="0"/>
              </a:rPr>
              <a:t>Courtroom Demeanor</a:t>
            </a:r>
          </a:p>
          <a:p>
            <a:r>
              <a:rPr lang="en-US" sz="3200" dirty="0" smtClean="0">
                <a:solidFill>
                  <a:schemeClr val="bg1"/>
                </a:solidFill>
                <a:latin typeface="Times New Roman" panose="02020603050405020304" pitchFamily="18" charset="0"/>
                <a:cs typeface="Times New Roman" panose="02020603050405020304" pitchFamily="18" charset="0"/>
              </a:rPr>
              <a:t>Proper judicial temperament</a:t>
            </a:r>
          </a:p>
          <a:p>
            <a:r>
              <a:rPr lang="en-US" sz="3200" dirty="0" smtClean="0">
                <a:solidFill>
                  <a:schemeClr val="bg1"/>
                </a:solidFill>
                <a:latin typeface="Times New Roman" panose="02020603050405020304" pitchFamily="18" charset="0"/>
                <a:cs typeface="Times New Roman" panose="02020603050405020304" pitchFamily="18" charset="0"/>
              </a:rPr>
              <a:t>Decisiveness</a:t>
            </a:r>
          </a:p>
          <a:p>
            <a:r>
              <a:rPr lang="en-US" sz="3200" dirty="0" smtClean="0">
                <a:solidFill>
                  <a:schemeClr val="bg1"/>
                </a:solidFill>
                <a:latin typeface="Times New Roman" panose="02020603050405020304" pitchFamily="18" charset="0"/>
                <a:cs typeface="Times New Roman" panose="02020603050405020304" pitchFamily="18" charset="0"/>
              </a:rPr>
              <a:t>Creativity</a:t>
            </a:r>
          </a:p>
          <a:p>
            <a:r>
              <a:rPr lang="en-US" sz="3200" dirty="0" smtClean="0">
                <a:solidFill>
                  <a:schemeClr val="bg1"/>
                </a:solidFill>
                <a:latin typeface="Times New Roman" panose="02020603050405020304" pitchFamily="18" charset="0"/>
                <a:cs typeface="Times New Roman" panose="02020603050405020304" pitchFamily="18" charset="0"/>
              </a:rPr>
              <a:t>Independence and courage</a:t>
            </a:r>
          </a:p>
          <a:p>
            <a:r>
              <a:rPr lang="en-US" sz="3200" dirty="0" smtClean="0">
                <a:solidFill>
                  <a:schemeClr val="bg1"/>
                </a:solidFill>
                <a:latin typeface="Times New Roman" panose="02020603050405020304" pitchFamily="18" charset="0"/>
                <a:cs typeface="Times New Roman" panose="02020603050405020304" pitchFamily="18" charset="0"/>
              </a:rPr>
              <a:t>Moral excellence</a:t>
            </a:r>
          </a:p>
          <a:p>
            <a:r>
              <a:rPr lang="en-US" sz="3200" dirty="0" smtClean="0">
                <a:solidFill>
                  <a:schemeClr val="bg1"/>
                </a:solidFill>
                <a:latin typeface="Times New Roman" panose="02020603050405020304" pitchFamily="18" charset="0"/>
                <a:cs typeface="Times New Roman" panose="02020603050405020304" pitchFamily="18" charset="0"/>
              </a:rPr>
              <a:t>Role model</a:t>
            </a:r>
            <a:endParaRPr lang="en-US"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6764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1"/>
            <a:ext cx="10515600" cy="914399"/>
          </a:xfrm>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Self-management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90918"/>
            <a:ext cx="10515600" cy="5150223"/>
          </a:xfrm>
          <a:solidFill>
            <a:schemeClr val="accent4">
              <a:lumMod val="50000"/>
            </a:schemeClr>
          </a:solidFill>
        </p:spPr>
        <p:txBody>
          <a:bodyPr>
            <a:normAutofit/>
          </a:bodyPr>
          <a:lstStyle/>
          <a:p>
            <a:pPr algn="just"/>
            <a:r>
              <a:rPr lang="en-US" sz="3600" dirty="0" smtClean="0">
                <a:solidFill>
                  <a:schemeClr val="bg1"/>
                </a:solidFill>
                <a:latin typeface="Times New Roman" panose="02020603050405020304" pitchFamily="18" charset="0"/>
                <a:cs typeface="Times New Roman" panose="02020603050405020304" pitchFamily="18" charset="0"/>
              </a:rPr>
              <a:t>Manage yourself first</a:t>
            </a:r>
          </a:p>
          <a:p>
            <a:pPr algn="just"/>
            <a:endParaRPr lang="en-US" sz="3600" dirty="0" smtClean="0">
              <a:solidFill>
                <a:schemeClr val="bg1"/>
              </a:solidFill>
              <a:latin typeface="Times New Roman" panose="02020603050405020304" pitchFamily="18" charset="0"/>
              <a:cs typeface="Times New Roman" panose="02020603050405020304" pitchFamily="18" charset="0"/>
            </a:endParaRPr>
          </a:p>
          <a:p>
            <a:pPr lvl="1" algn="just">
              <a:buFont typeface="Kalimati" panose="00000400000000000000" pitchFamily="2"/>
              <a:buChar char="-"/>
            </a:pPr>
            <a:r>
              <a:rPr lang="en-US" sz="3600" dirty="0" smtClean="0">
                <a:solidFill>
                  <a:schemeClr val="bg1"/>
                </a:solidFill>
                <a:latin typeface="Times New Roman" panose="02020603050405020304" pitchFamily="18" charset="0"/>
                <a:cs typeface="Times New Roman" panose="02020603050405020304" pitchFamily="18" charset="0"/>
              </a:rPr>
              <a:t>Punctuality</a:t>
            </a:r>
          </a:p>
          <a:p>
            <a:pPr lvl="1" algn="just">
              <a:buFont typeface="Kalimati" panose="00000400000000000000" pitchFamily="2"/>
              <a:buChar char="-"/>
            </a:pPr>
            <a:r>
              <a:rPr lang="en-GB" sz="3600" dirty="0">
                <a:solidFill>
                  <a:schemeClr val="bg1"/>
                </a:solidFill>
                <a:latin typeface="Times New Roman" panose="02020603050405020304" pitchFamily="18" charset="0"/>
                <a:cs typeface="Times New Roman" panose="02020603050405020304" pitchFamily="18" charset="0"/>
              </a:rPr>
              <a:t>D</a:t>
            </a:r>
            <a:r>
              <a:rPr lang="en-GB" sz="3600" dirty="0" smtClean="0">
                <a:solidFill>
                  <a:schemeClr val="bg1"/>
                </a:solidFill>
                <a:latin typeface="Times New Roman" panose="02020603050405020304" pitchFamily="18" charset="0"/>
                <a:cs typeface="Times New Roman" panose="02020603050405020304" pitchFamily="18" charset="0"/>
              </a:rPr>
              <a:t>evote </a:t>
            </a:r>
            <a:r>
              <a:rPr lang="en-GB" sz="3600" dirty="0">
                <a:solidFill>
                  <a:schemeClr val="bg1"/>
                </a:solidFill>
                <a:latin typeface="Times New Roman" panose="02020603050405020304" pitchFamily="18" charset="0"/>
                <a:cs typeface="Times New Roman" panose="02020603050405020304" pitchFamily="18" charset="0"/>
              </a:rPr>
              <a:t>adequate time to judicial </a:t>
            </a:r>
            <a:r>
              <a:rPr lang="en-GB" sz="3600" dirty="0" smtClean="0">
                <a:solidFill>
                  <a:schemeClr val="bg1"/>
                </a:solidFill>
                <a:latin typeface="Times New Roman" panose="02020603050405020304" pitchFamily="18" charset="0"/>
                <a:cs typeface="Times New Roman" panose="02020603050405020304" pitchFamily="18" charset="0"/>
              </a:rPr>
              <a:t>duties</a:t>
            </a:r>
          </a:p>
          <a:p>
            <a:pPr lvl="1" algn="just">
              <a:buFont typeface="Kalimati" panose="00000400000000000000" pitchFamily="2"/>
              <a:buChar char="-"/>
            </a:pPr>
            <a:r>
              <a:rPr lang="en-GB" sz="3600" dirty="0" smtClean="0">
                <a:solidFill>
                  <a:schemeClr val="bg1"/>
                </a:solidFill>
                <a:latin typeface="Times New Roman" panose="02020603050405020304" pitchFamily="18" charset="0"/>
                <a:cs typeface="Times New Roman" panose="02020603050405020304" pitchFamily="18" charset="0"/>
              </a:rPr>
              <a:t>Don’t make comments of colleague</a:t>
            </a:r>
          </a:p>
          <a:p>
            <a:pPr lvl="1" algn="just">
              <a:buFont typeface="Kalimati" panose="00000400000000000000" pitchFamily="2"/>
              <a:buChar char="-"/>
            </a:pPr>
            <a:r>
              <a:rPr lang="en-GB" sz="3600" dirty="0" smtClean="0">
                <a:solidFill>
                  <a:schemeClr val="bg1"/>
                </a:solidFill>
                <a:latin typeface="Times New Roman" panose="02020603050405020304" pitchFamily="18" charset="0"/>
                <a:cs typeface="Times New Roman" panose="02020603050405020304" pitchFamily="18" charset="0"/>
              </a:rPr>
              <a:t>Don’t make comments about the pending cases</a:t>
            </a:r>
          </a:p>
          <a:p>
            <a:pPr lvl="1" algn="just">
              <a:buFont typeface="Kalimati" panose="00000400000000000000" pitchFamily="2"/>
              <a:buChar char="-"/>
            </a:pPr>
            <a:r>
              <a:rPr lang="en-GB" sz="3600" dirty="0" smtClean="0">
                <a:solidFill>
                  <a:schemeClr val="bg1"/>
                </a:solidFill>
                <a:latin typeface="Times New Roman" panose="02020603050405020304" pitchFamily="18" charset="0"/>
                <a:cs typeface="Times New Roman" panose="02020603050405020304" pitchFamily="18" charset="0"/>
              </a:rPr>
              <a:t>Diligent</a:t>
            </a:r>
          </a:p>
          <a:p>
            <a:pPr lvl="1">
              <a:buFont typeface="Kalimati" panose="00000400000000000000" pitchFamily="2"/>
              <a:buChar char="-"/>
            </a:pPr>
            <a:endParaRPr lang="en-US" dirty="0"/>
          </a:p>
        </p:txBody>
      </p:sp>
    </p:spTree>
    <p:extLst>
      <p:ext uri="{BB962C8B-B14F-4D97-AF65-F5344CB8AC3E}">
        <p14:creationId xmlns:p14="http://schemas.microsoft.com/office/powerpoint/2010/main" val="481451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Courtroom Demeanor</a:t>
            </a:r>
            <a:endParaRPr lang="en-US" dirty="0"/>
          </a:p>
        </p:txBody>
      </p:sp>
      <p:sp>
        <p:nvSpPr>
          <p:cNvPr id="3" name="Content Placeholder 2"/>
          <p:cNvSpPr>
            <a:spLocks noGrp="1"/>
          </p:cNvSpPr>
          <p:nvPr>
            <p:ph idx="1"/>
          </p:nvPr>
        </p:nvSpPr>
        <p:spPr>
          <a:solidFill>
            <a:srgbClr val="002060"/>
          </a:solidFill>
        </p:spPr>
        <p:txBody>
          <a:bodyPr/>
          <a:lstStyle/>
          <a:p>
            <a:pPr algn="just"/>
            <a:endParaRPr lang="en-GB" sz="4000" dirty="0" smtClean="0">
              <a:solidFill>
                <a:schemeClr val="bg1"/>
              </a:solidFill>
              <a:latin typeface="Times New Roman" panose="02020603050405020304" pitchFamily="18" charset="0"/>
              <a:cs typeface="Times New Roman" panose="02020603050405020304" pitchFamily="18" charset="0"/>
            </a:endParaRPr>
          </a:p>
          <a:p>
            <a:pPr algn="just"/>
            <a:r>
              <a:rPr lang="en-GB" sz="4000" dirty="0" smtClean="0">
                <a:solidFill>
                  <a:schemeClr val="bg1"/>
                </a:solidFill>
                <a:latin typeface="Times New Roman" panose="02020603050405020304" pitchFamily="18" charset="0"/>
                <a:cs typeface="Times New Roman" panose="02020603050405020304" pitchFamily="18" charset="0"/>
              </a:rPr>
              <a:t>It </a:t>
            </a:r>
            <a:r>
              <a:rPr lang="en-GB" sz="4000" dirty="0">
                <a:solidFill>
                  <a:schemeClr val="bg1"/>
                </a:solidFill>
                <a:latin typeface="Times New Roman" panose="02020603050405020304" pitchFamily="18" charset="0"/>
                <a:cs typeface="Times New Roman" panose="02020603050405020304" pitchFamily="18" charset="0"/>
              </a:rPr>
              <a:t>is the ability to communicate with counsel, jurors, witnesses and parties calmly and courteously, as well as the willingness to listen to and consider what is said on all sides of a debatable proposition.</a:t>
            </a:r>
            <a:endParaRPr lang="en-US" sz="4000" dirty="0">
              <a:solidFill>
                <a:schemeClr val="bg1"/>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06769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Courtroom Demeanor</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solidFill>
            <a:srgbClr val="002060"/>
          </a:solidFill>
        </p:spPr>
        <p:txBody>
          <a:bodyPr>
            <a:normAutofit/>
          </a:bodyPr>
          <a:lstStyle/>
          <a:p>
            <a:r>
              <a:rPr lang="en-GB" sz="3600" dirty="0" smtClean="0">
                <a:solidFill>
                  <a:schemeClr val="bg1"/>
                </a:solidFill>
                <a:latin typeface="Times New Roman" panose="02020603050405020304" pitchFamily="18" charset="0"/>
                <a:cs typeface="Times New Roman" panose="02020603050405020304" pitchFamily="18" charset="0"/>
              </a:rPr>
              <a:t>Often raised complaints –</a:t>
            </a:r>
          </a:p>
          <a:p>
            <a:pPr lvl="1">
              <a:buFont typeface="Kalimati" panose="00000400000000000000" pitchFamily="2"/>
              <a:buChar char="-"/>
            </a:pPr>
            <a:r>
              <a:rPr lang="en-GB" sz="3600" dirty="0" smtClean="0">
                <a:solidFill>
                  <a:schemeClr val="bg1"/>
                </a:solidFill>
                <a:latin typeface="Times New Roman" panose="02020603050405020304" pitchFamily="18" charset="0"/>
                <a:cs typeface="Times New Roman" panose="02020603050405020304" pitchFamily="18" charset="0"/>
              </a:rPr>
              <a:t> </a:t>
            </a:r>
            <a:r>
              <a:rPr lang="en-GB" sz="3600" dirty="0">
                <a:solidFill>
                  <a:schemeClr val="bg1"/>
                </a:solidFill>
                <a:latin typeface="Times New Roman" panose="02020603050405020304" pitchFamily="18" charset="0"/>
                <a:cs typeface="Times New Roman" panose="02020603050405020304" pitchFamily="18" charset="0"/>
              </a:rPr>
              <a:t>rude and abusive </a:t>
            </a:r>
            <a:r>
              <a:rPr lang="en-GB" sz="3600" dirty="0" err="1">
                <a:solidFill>
                  <a:schemeClr val="bg1"/>
                </a:solidFill>
                <a:latin typeface="Times New Roman" panose="02020603050405020304" pitchFamily="18" charset="0"/>
                <a:cs typeface="Times New Roman" panose="02020603050405020304" pitchFamily="18" charset="0"/>
              </a:rPr>
              <a:t>behavior</a:t>
            </a:r>
            <a:r>
              <a:rPr lang="en-GB" sz="3600" dirty="0" smtClean="0">
                <a:solidFill>
                  <a:schemeClr val="bg1"/>
                </a:solidFill>
                <a:latin typeface="Times New Roman" panose="02020603050405020304" pitchFamily="18" charset="0"/>
                <a:cs typeface="Times New Roman" panose="02020603050405020304" pitchFamily="18" charset="0"/>
              </a:rPr>
              <a:t>,</a:t>
            </a:r>
          </a:p>
          <a:p>
            <a:pPr lvl="1">
              <a:buFont typeface="Kalimati" panose="00000400000000000000" pitchFamily="2"/>
              <a:buChar char="-"/>
            </a:pPr>
            <a:r>
              <a:rPr lang="en-GB" sz="3600" dirty="0" smtClean="0">
                <a:solidFill>
                  <a:schemeClr val="bg1"/>
                </a:solidFill>
                <a:latin typeface="Times New Roman" panose="02020603050405020304" pitchFamily="18" charset="0"/>
                <a:cs typeface="Times New Roman" panose="02020603050405020304" pitchFamily="18" charset="0"/>
              </a:rPr>
              <a:t> </a:t>
            </a:r>
            <a:r>
              <a:rPr lang="en-GB" sz="3600" dirty="0">
                <a:solidFill>
                  <a:schemeClr val="bg1"/>
                </a:solidFill>
                <a:latin typeface="Times New Roman" panose="02020603050405020304" pitchFamily="18" charset="0"/>
                <a:cs typeface="Times New Roman" panose="02020603050405020304" pitchFamily="18" charset="0"/>
              </a:rPr>
              <a:t>biased comments, </a:t>
            </a:r>
            <a:endParaRPr lang="en-GB" sz="3600" dirty="0" smtClean="0">
              <a:solidFill>
                <a:schemeClr val="bg1"/>
              </a:solidFill>
              <a:latin typeface="Times New Roman" panose="02020603050405020304" pitchFamily="18" charset="0"/>
              <a:cs typeface="Times New Roman" panose="02020603050405020304" pitchFamily="18" charset="0"/>
            </a:endParaRPr>
          </a:p>
          <a:p>
            <a:pPr lvl="1">
              <a:buFont typeface="Kalimati" panose="00000400000000000000" pitchFamily="2"/>
              <a:buChar char="-"/>
            </a:pPr>
            <a:r>
              <a:rPr lang="en-GB" sz="3600" dirty="0" smtClean="0">
                <a:solidFill>
                  <a:schemeClr val="bg1"/>
                </a:solidFill>
                <a:latin typeface="Times New Roman" panose="02020603050405020304" pitchFamily="18" charset="0"/>
                <a:cs typeface="Times New Roman" panose="02020603050405020304" pitchFamily="18" charset="0"/>
              </a:rPr>
              <a:t> </a:t>
            </a:r>
            <a:r>
              <a:rPr lang="en-GB" sz="3600" dirty="0">
                <a:solidFill>
                  <a:schemeClr val="bg1"/>
                </a:solidFill>
                <a:latin typeface="Times New Roman" panose="02020603050405020304" pitchFamily="18" charset="0"/>
                <a:cs typeface="Times New Roman" panose="02020603050405020304" pitchFamily="18" charset="0"/>
              </a:rPr>
              <a:t>misuse of the contempt power, </a:t>
            </a:r>
            <a:endParaRPr lang="en-GB" sz="3600" dirty="0" smtClean="0">
              <a:solidFill>
                <a:schemeClr val="bg1"/>
              </a:solidFill>
              <a:latin typeface="Times New Roman" panose="02020603050405020304" pitchFamily="18" charset="0"/>
              <a:cs typeface="Times New Roman" panose="02020603050405020304" pitchFamily="18" charset="0"/>
            </a:endParaRPr>
          </a:p>
          <a:p>
            <a:pPr lvl="1">
              <a:buFont typeface="Kalimati" panose="00000400000000000000" pitchFamily="2"/>
              <a:buChar char="-"/>
            </a:pPr>
            <a:r>
              <a:rPr lang="en-GB" sz="3600" dirty="0" smtClean="0">
                <a:solidFill>
                  <a:schemeClr val="bg1"/>
                </a:solidFill>
                <a:latin typeface="Times New Roman" panose="02020603050405020304" pitchFamily="18" charset="0"/>
                <a:cs typeface="Times New Roman" panose="02020603050405020304" pitchFamily="18" charset="0"/>
              </a:rPr>
              <a:t> </a:t>
            </a:r>
            <a:r>
              <a:rPr lang="en-GB" sz="3600" dirty="0">
                <a:solidFill>
                  <a:schemeClr val="bg1"/>
                </a:solidFill>
                <a:latin typeface="Times New Roman" panose="02020603050405020304" pitchFamily="18" charset="0"/>
                <a:cs typeface="Times New Roman" panose="02020603050405020304" pitchFamily="18" charset="0"/>
              </a:rPr>
              <a:t>treatment of court staff, including sexual </a:t>
            </a:r>
            <a:r>
              <a:rPr lang="en-GB" sz="3600" dirty="0" smtClean="0">
                <a:solidFill>
                  <a:schemeClr val="bg1"/>
                </a:solidFill>
                <a:latin typeface="Times New Roman" panose="02020603050405020304" pitchFamily="18" charset="0"/>
                <a:cs typeface="Times New Roman" panose="02020603050405020304" pitchFamily="18" charset="0"/>
              </a:rPr>
              <a:t>harassment</a:t>
            </a:r>
          </a:p>
          <a:p>
            <a:pPr lvl="1">
              <a:buFont typeface="Kalimati" panose="00000400000000000000" pitchFamily="2"/>
              <a:buChar char="-"/>
            </a:pPr>
            <a:r>
              <a:rPr lang="en-US" sz="3600" dirty="0">
                <a:solidFill>
                  <a:schemeClr val="bg1"/>
                </a:solidFill>
                <a:latin typeface="Times New Roman" panose="02020603050405020304" pitchFamily="18" charset="0"/>
                <a:cs typeface="Times New Roman" panose="02020603050405020304" pitchFamily="18" charset="0"/>
              </a:rPr>
              <a:t>Ex parte communication</a:t>
            </a:r>
          </a:p>
        </p:txBody>
      </p:sp>
    </p:spTree>
    <p:extLst>
      <p:ext uri="{BB962C8B-B14F-4D97-AF65-F5344CB8AC3E}">
        <p14:creationId xmlns:p14="http://schemas.microsoft.com/office/powerpoint/2010/main" val="2400670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Misuse of Contempt Power</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solidFill>
            <a:srgbClr val="002060"/>
          </a:solidFill>
        </p:spPr>
        <p:txBody>
          <a:bodyPr>
            <a:normAutofit/>
          </a:bodyPr>
          <a:lstStyle/>
          <a:p>
            <a:pPr algn="just"/>
            <a:endParaRPr lang="ne-NP" sz="3200" dirty="0" smtClean="0">
              <a:solidFill>
                <a:schemeClr val="bg1"/>
              </a:solidFill>
              <a:latin typeface="Times New Roman" panose="02020603050405020304" pitchFamily="18" charset="0"/>
              <a:cs typeface="Times New Roman" panose="02020603050405020304" pitchFamily="18" charset="0"/>
            </a:endParaRPr>
          </a:p>
          <a:p>
            <a:pPr algn="just"/>
            <a:r>
              <a:rPr lang="en-GB" sz="3200" dirty="0" smtClean="0">
                <a:solidFill>
                  <a:schemeClr val="bg1"/>
                </a:solidFill>
                <a:latin typeface="Times New Roman" panose="02020603050405020304" pitchFamily="18" charset="0"/>
                <a:cs typeface="Times New Roman" panose="02020603050405020304" pitchFamily="18" charset="0"/>
              </a:rPr>
              <a:t>Holding </a:t>
            </a:r>
            <a:r>
              <a:rPr lang="en-GB" sz="3200" dirty="0">
                <a:solidFill>
                  <a:schemeClr val="bg1"/>
                </a:solidFill>
                <a:latin typeface="Times New Roman" panose="02020603050405020304" pitchFamily="18" charset="0"/>
                <a:cs typeface="Times New Roman" panose="02020603050405020304" pitchFamily="18" charset="0"/>
              </a:rPr>
              <a:t>a prosecutor in contempt for failing to request permission before leaving the courtroom to console a witness and turning his back on the </a:t>
            </a:r>
            <a:r>
              <a:rPr lang="en-GB" sz="3200" dirty="0" smtClean="0">
                <a:solidFill>
                  <a:schemeClr val="bg1"/>
                </a:solidFill>
                <a:latin typeface="Times New Roman" panose="02020603050405020304" pitchFamily="18" charset="0"/>
                <a:cs typeface="Times New Roman" panose="02020603050405020304" pitchFamily="18" charset="0"/>
              </a:rPr>
              <a:t>judge</a:t>
            </a:r>
            <a:r>
              <a:rPr lang="en-GB" sz="3200" dirty="0">
                <a:solidFill>
                  <a:schemeClr val="bg1"/>
                </a:solidFill>
                <a:latin typeface="Times New Roman" panose="02020603050405020304" pitchFamily="18" charset="0"/>
                <a:cs typeface="Times New Roman" panose="02020603050405020304" pitchFamily="18" charset="0"/>
              </a:rPr>
              <a:t>, without affording the prosecutor the opportunity to be heard (In re Jefferson, 753 </a:t>
            </a:r>
            <a:r>
              <a:rPr lang="en-GB" sz="3200" dirty="0" err="1">
                <a:solidFill>
                  <a:schemeClr val="bg1"/>
                </a:solidFill>
                <a:latin typeface="Times New Roman" panose="02020603050405020304" pitchFamily="18" charset="0"/>
                <a:cs typeface="Times New Roman" panose="02020603050405020304" pitchFamily="18" charset="0"/>
              </a:rPr>
              <a:t>So.</a:t>
            </a:r>
            <a:r>
              <a:rPr lang="en-GB" sz="3200" dirty="0">
                <a:solidFill>
                  <a:schemeClr val="bg1"/>
                </a:solidFill>
                <a:latin typeface="Times New Roman" panose="02020603050405020304" pitchFamily="18" charset="0"/>
                <a:cs typeface="Times New Roman" panose="02020603050405020304" pitchFamily="18" charset="0"/>
              </a:rPr>
              <a:t> 2d 181 (Louisiana 2000)).</a:t>
            </a:r>
            <a:endParaRPr lang="en-US"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3665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Treatment of Court Staff</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830669"/>
          </a:xfrm>
          <a:solidFill>
            <a:srgbClr val="002060"/>
          </a:solidFill>
        </p:spPr>
        <p:txBody>
          <a:bodyPr>
            <a:normAutofit fontScale="92500" lnSpcReduction="10000"/>
          </a:bodyPr>
          <a:lstStyle/>
          <a:p>
            <a:pPr algn="just"/>
            <a:r>
              <a:rPr lang="en-GB" dirty="0">
                <a:solidFill>
                  <a:schemeClr val="bg1"/>
                </a:solidFill>
                <a:latin typeface="Times New Roman" panose="02020603050405020304" pitchFamily="18" charset="0"/>
                <a:cs typeface="Times New Roman" panose="02020603050405020304" pitchFamily="18" charset="0"/>
              </a:rPr>
              <a:t>A great judge treats his or her staff with the utmost respect—and for that reason the clerks work extra hard and the bailiff would literally take a bullet for that judge</a:t>
            </a:r>
            <a:r>
              <a:rPr lang="en-GB" dirty="0" smtClean="0">
                <a:solidFill>
                  <a:schemeClr val="bg1"/>
                </a:solidFill>
                <a:latin typeface="Times New Roman" panose="02020603050405020304" pitchFamily="18" charset="0"/>
                <a:cs typeface="Times New Roman" panose="02020603050405020304" pitchFamily="18" charset="0"/>
              </a:rPr>
              <a:t>.</a:t>
            </a:r>
          </a:p>
          <a:p>
            <a:pPr algn="just"/>
            <a:r>
              <a:rPr lang="en-GB" dirty="0" smtClean="0">
                <a:solidFill>
                  <a:schemeClr val="bg1"/>
                </a:solidFill>
                <a:latin typeface="Times New Roman" panose="02020603050405020304" pitchFamily="18" charset="0"/>
                <a:cs typeface="Times New Roman" panose="02020603050405020304" pitchFamily="18" charset="0"/>
              </a:rPr>
              <a:t>Repeatedly </a:t>
            </a:r>
            <a:r>
              <a:rPr lang="en-GB" dirty="0">
                <a:solidFill>
                  <a:schemeClr val="bg1"/>
                </a:solidFill>
                <a:latin typeface="Times New Roman" panose="02020603050405020304" pitchFamily="18" charset="0"/>
                <a:cs typeface="Times New Roman" panose="02020603050405020304" pitchFamily="18" charset="0"/>
              </a:rPr>
              <a:t>using derogatory and demeaning terms when referring to or criticizing female employees, including “Alzheimer’s,” “PMS,” “senile,” “that time of the month,” “dumb blond,” “stupid,” “gold digger,” and “menopause” (In re Brown, Opinion (July 14, 2006) and Order (Pennsylvania Court of Judicial Discipline October 2, 2006) (www.cjdpa.org/decisions/index.html)). </a:t>
            </a:r>
            <a:endParaRPr lang="en-GB" dirty="0" smtClean="0">
              <a:solidFill>
                <a:schemeClr val="bg1"/>
              </a:solidFill>
              <a:latin typeface="Times New Roman" panose="02020603050405020304" pitchFamily="18" charset="0"/>
              <a:cs typeface="Times New Roman" panose="02020603050405020304" pitchFamily="18" charset="0"/>
            </a:endParaRPr>
          </a:p>
          <a:p>
            <a:pPr algn="just"/>
            <a:r>
              <a:rPr lang="en-GB" dirty="0" smtClean="0">
                <a:solidFill>
                  <a:schemeClr val="bg1"/>
                </a:solidFill>
                <a:latin typeface="Times New Roman" panose="02020603050405020304" pitchFamily="18" charset="0"/>
                <a:cs typeface="Times New Roman" panose="02020603050405020304" pitchFamily="18" charset="0"/>
              </a:rPr>
              <a:t>Correcting </a:t>
            </a:r>
            <a:r>
              <a:rPr lang="en-GB" dirty="0">
                <a:solidFill>
                  <a:schemeClr val="bg1"/>
                </a:solidFill>
                <a:latin typeface="Times New Roman" panose="02020603050405020304" pitchFamily="18" charset="0"/>
                <a:cs typeface="Times New Roman" panose="02020603050405020304" pitchFamily="18" charset="0"/>
              </a:rPr>
              <a:t>and/or criticizing secretaries loudly and in the presence of third parties, including members of law enforcement and the general public, causing them to suffer embarrassment and humiliation (In re Brown, Opinion (July 14, 2006) and Order (Pennsylvania Court of Judicial Discipline October 2, 2006) (www.cjdpa. org/decisions/index.html)).</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4020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Ex-parte Communication</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16100"/>
            <a:ext cx="10515600" cy="4750828"/>
          </a:xfrm>
          <a:solidFill>
            <a:srgbClr val="002060"/>
          </a:solidFill>
        </p:spPr>
        <p:txBody>
          <a:bodyPr>
            <a:normAutofit/>
          </a:bodyPr>
          <a:lstStyle/>
          <a:p>
            <a:pPr algn="just"/>
            <a:r>
              <a:rPr lang="en-GB" dirty="0" smtClean="0">
                <a:solidFill>
                  <a:schemeClr val="bg1"/>
                </a:solidFill>
                <a:latin typeface="Times New Roman" panose="02020603050405020304" pitchFamily="18" charset="0"/>
                <a:cs typeface="Times New Roman" panose="02020603050405020304" pitchFamily="18" charset="0"/>
              </a:rPr>
              <a:t>Receiving </a:t>
            </a:r>
            <a:r>
              <a:rPr lang="en-GB" dirty="0">
                <a:solidFill>
                  <a:schemeClr val="bg1"/>
                </a:solidFill>
                <a:latin typeface="Times New Roman" panose="02020603050405020304" pitchFamily="18" charset="0"/>
                <a:cs typeface="Times New Roman" panose="02020603050405020304" pitchFamily="18" charset="0"/>
              </a:rPr>
              <a:t>ex parte communications from police officers concerning the merits of traffic cases, including representations that the actual speed that defendants had been driving was greater than the speed charged (In the Matter of Westcott, Determination (New York State Commission on Judicial Conduct December 17, 1997) (www.scjc.state. ny.us</a:t>
            </a:r>
            <a:r>
              <a:rPr lang="en-GB" dirty="0" smtClean="0">
                <a:solidFill>
                  <a:schemeClr val="bg1"/>
                </a:solidFill>
                <a:latin typeface="Times New Roman" panose="02020603050405020304" pitchFamily="18" charset="0"/>
                <a:cs typeface="Times New Roman" panose="02020603050405020304" pitchFamily="18" charset="0"/>
              </a:rPr>
              <a:t>/)).</a:t>
            </a:r>
            <a:r>
              <a:rPr lang="ne-NP" dirty="0" smtClean="0">
                <a:solidFill>
                  <a:schemeClr val="bg1"/>
                </a:solidFill>
                <a:latin typeface="Times New Roman" panose="02020603050405020304" pitchFamily="18" charset="0"/>
                <a:cs typeface="Times New Roman" panose="02020603050405020304" pitchFamily="18" charset="0"/>
              </a:rPr>
              <a:t> </a:t>
            </a:r>
            <a:endParaRPr lang="en-US" dirty="0" smtClean="0">
              <a:solidFill>
                <a:schemeClr val="bg1"/>
              </a:solidFill>
              <a:latin typeface="Times New Roman" panose="02020603050405020304" pitchFamily="18" charset="0"/>
              <a:cs typeface="Times New Roman" panose="02020603050405020304" pitchFamily="18" charset="0"/>
            </a:endParaRPr>
          </a:p>
          <a:p>
            <a:pPr algn="just"/>
            <a:r>
              <a:rPr lang="en-GB" dirty="0" smtClean="0">
                <a:solidFill>
                  <a:schemeClr val="bg1"/>
                </a:solidFill>
                <a:latin typeface="Times New Roman" panose="02020603050405020304" pitchFamily="18" charset="0"/>
                <a:cs typeface="Times New Roman" panose="02020603050405020304" pitchFamily="18" charset="0"/>
              </a:rPr>
              <a:t>Sending </a:t>
            </a:r>
            <a:r>
              <a:rPr lang="en-GB" dirty="0">
                <a:solidFill>
                  <a:schemeClr val="bg1"/>
                </a:solidFill>
                <a:latin typeface="Times New Roman" panose="02020603050405020304" pitchFamily="18" charset="0"/>
                <a:cs typeface="Times New Roman" panose="02020603050405020304" pitchFamily="18" charset="0"/>
              </a:rPr>
              <a:t>an e-mail message to an attorney appearing in a case before the judge that solicited the attorney’s advice on how to handle the matter (Public Admonishment of </a:t>
            </a:r>
            <a:r>
              <a:rPr lang="en-GB" dirty="0" err="1">
                <a:solidFill>
                  <a:schemeClr val="bg1"/>
                </a:solidFill>
                <a:latin typeface="Times New Roman" panose="02020603050405020304" pitchFamily="18" charset="0"/>
                <a:cs typeface="Times New Roman" panose="02020603050405020304" pitchFamily="18" charset="0"/>
              </a:rPr>
              <a:t>Caskey</a:t>
            </a:r>
            <a:r>
              <a:rPr lang="en-GB" dirty="0">
                <a:solidFill>
                  <a:schemeClr val="bg1"/>
                </a:solidFill>
                <a:latin typeface="Times New Roman" panose="02020603050405020304" pitchFamily="18" charset="0"/>
                <a:cs typeface="Times New Roman" panose="02020603050405020304" pitchFamily="18" charset="0"/>
              </a:rPr>
              <a:t> (California Commission on Judicial Performance July 6, 1998) (</a:t>
            </a:r>
            <a:r>
              <a:rPr lang="en-GB" dirty="0" err="1">
                <a:solidFill>
                  <a:schemeClr val="bg1"/>
                </a:solidFill>
                <a:latin typeface="Times New Roman" panose="02020603050405020304" pitchFamily="18" charset="0"/>
                <a:cs typeface="Times New Roman" panose="02020603050405020304" pitchFamily="18" charset="0"/>
              </a:rPr>
              <a:t>cjp</a:t>
            </a:r>
            <a:r>
              <a:rPr lang="en-GB" dirty="0">
                <a:solidFill>
                  <a:schemeClr val="bg1"/>
                </a:solidFill>
                <a:latin typeface="Times New Roman" panose="02020603050405020304" pitchFamily="18" charset="0"/>
                <a:cs typeface="Times New Roman" panose="02020603050405020304" pitchFamily="18" charset="0"/>
              </a:rPr>
              <a:t>. ca.gov/pubdisc.htm)).</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906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Decisiveness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854575"/>
          </a:xfrm>
          <a:solidFill>
            <a:schemeClr val="accent4">
              <a:lumMod val="75000"/>
            </a:schemeClr>
          </a:solidFill>
        </p:spPr>
        <p:txBody>
          <a:bodyPr>
            <a:noAutofit/>
          </a:bodyPr>
          <a:lstStyle/>
          <a:p>
            <a:pPr algn="just"/>
            <a:r>
              <a:rPr lang="en-GB" sz="3600" dirty="0" smtClean="0">
                <a:solidFill>
                  <a:schemeClr val="bg1"/>
                </a:solidFill>
                <a:hlinkClick r:id="rId2"/>
              </a:rPr>
              <a:t>Power </a:t>
            </a:r>
            <a:r>
              <a:rPr lang="en-GB" sz="3600" dirty="0">
                <a:solidFill>
                  <a:schemeClr val="bg1"/>
                </a:solidFill>
                <a:hlinkClick r:id="rId2"/>
              </a:rPr>
              <a:t>can be intoxicating </a:t>
            </a:r>
            <a:r>
              <a:rPr lang="en-GB" sz="3600" dirty="0">
                <a:solidFill>
                  <a:schemeClr val="bg1"/>
                </a:solidFill>
              </a:rPr>
              <a:t>and might sometimes seem easier to misuse than properly to use, whether in the hands of judges or anyone else. Judges who misuse their power sometimes do so in the form of rushing through dockets and dismissing cases more in the name of “administrative efficiency” than in the name of the law or justice</a:t>
            </a:r>
            <a:r>
              <a:rPr lang="en-GB" sz="3600" dirty="0" smtClean="0">
                <a:solidFill>
                  <a:schemeClr val="bg1"/>
                </a:solidFill>
              </a:rPr>
              <a:t>.</a:t>
            </a:r>
          </a:p>
          <a:p>
            <a:r>
              <a:rPr lang="en-GB" sz="3600" dirty="0" smtClean="0">
                <a:solidFill>
                  <a:schemeClr val="bg1"/>
                </a:solidFill>
              </a:rPr>
              <a:t>Decisiveness does not mean to dispose cases anyhow</a:t>
            </a:r>
            <a:endParaRPr lang="ne-NP" sz="3600" dirty="0" smtClean="0">
              <a:solidFill>
                <a:schemeClr val="bg1"/>
              </a:solidFill>
            </a:endParaRPr>
          </a:p>
        </p:txBody>
      </p:sp>
    </p:spTree>
    <p:extLst>
      <p:ext uri="{BB962C8B-B14F-4D97-AF65-F5344CB8AC3E}">
        <p14:creationId xmlns:p14="http://schemas.microsoft.com/office/powerpoint/2010/main" val="2183236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Creativity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752975"/>
          </a:xfrm>
          <a:solidFill>
            <a:srgbClr val="002060"/>
          </a:solidFill>
        </p:spPr>
        <p:txBody>
          <a:bodyPr>
            <a:noAutofit/>
          </a:bodyPr>
          <a:lstStyle/>
          <a:p>
            <a:pPr algn="just"/>
            <a:r>
              <a:rPr lang="en-GB" sz="3200" dirty="0" smtClean="0">
                <a:solidFill>
                  <a:schemeClr val="bg1"/>
                </a:solidFill>
                <a:latin typeface="Times New Roman" panose="02020603050405020304" pitchFamily="18" charset="0"/>
                <a:cs typeface="Times New Roman" panose="02020603050405020304" pitchFamily="18" charset="0"/>
              </a:rPr>
              <a:t>Law</a:t>
            </a:r>
            <a:r>
              <a:rPr lang="en-GB" sz="3200" dirty="0">
                <a:solidFill>
                  <a:schemeClr val="bg1"/>
                </a:solidFill>
                <a:latin typeface="Times New Roman" panose="02020603050405020304" pitchFamily="18" charset="0"/>
                <a:cs typeface="Times New Roman" panose="02020603050405020304" pitchFamily="18" charset="0"/>
              </a:rPr>
              <a:t>, instead of being fixed and static, becomes a living, changeable entity, aiming to satisfy the needs of human society-what Roscoe Pound has called "a continually more efficacious social engineering</a:t>
            </a:r>
            <a:r>
              <a:rPr lang="en-GB" sz="3200" dirty="0" smtClean="0">
                <a:solidFill>
                  <a:schemeClr val="bg1"/>
                </a:solidFill>
                <a:latin typeface="Times New Roman" panose="02020603050405020304" pitchFamily="18" charset="0"/>
                <a:cs typeface="Times New Roman" panose="02020603050405020304" pitchFamily="18" charset="0"/>
              </a:rPr>
              <a:t>.“ (Pound in “The Philosophy of Law”) </a:t>
            </a:r>
          </a:p>
          <a:p>
            <a:pPr algn="just"/>
            <a:r>
              <a:rPr lang="en-GB" sz="3200" dirty="0">
                <a:solidFill>
                  <a:schemeClr val="bg1"/>
                </a:solidFill>
              </a:rPr>
              <a:t>The law is not always clear on how to rule.</a:t>
            </a:r>
            <a:endParaRPr lang="en-GB" sz="3200" dirty="0" smtClean="0">
              <a:solidFill>
                <a:schemeClr val="bg1"/>
              </a:solidFill>
              <a:latin typeface="Times New Roman" panose="02020603050405020304" pitchFamily="18" charset="0"/>
              <a:cs typeface="Times New Roman" panose="02020603050405020304" pitchFamily="18" charset="0"/>
            </a:endParaRPr>
          </a:p>
          <a:p>
            <a:pPr algn="just"/>
            <a:r>
              <a:rPr lang="en-GB" sz="3200" dirty="0" smtClean="0">
                <a:solidFill>
                  <a:schemeClr val="bg1"/>
                </a:solidFill>
                <a:latin typeface="Times New Roman" panose="02020603050405020304" pitchFamily="18" charset="0"/>
                <a:cs typeface="Times New Roman" panose="02020603050405020304" pitchFamily="18" charset="0"/>
              </a:rPr>
              <a:t>Living law theory</a:t>
            </a:r>
            <a:endParaRPr lang="ne-NP" sz="3200" dirty="0" smtClean="0">
              <a:solidFill>
                <a:schemeClr val="bg1"/>
              </a:solidFill>
              <a:latin typeface="Times New Roman" panose="02020603050405020304" pitchFamily="18" charset="0"/>
              <a:cs typeface="Times New Roman" panose="02020603050405020304" pitchFamily="18" charset="0"/>
            </a:endParaRPr>
          </a:p>
          <a:p>
            <a:pPr algn="just"/>
            <a:r>
              <a:rPr lang="en-US" sz="3200" dirty="0" smtClean="0">
                <a:solidFill>
                  <a:schemeClr val="bg1"/>
                </a:solidFill>
                <a:latin typeface="Times New Roman" panose="02020603050405020304" pitchFamily="18" charset="0"/>
                <a:cs typeface="Times New Roman" panose="02020603050405020304" pitchFamily="18" charset="0"/>
              </a:rPr>
              <a:t>Purposive approach</a:t>
            </a:r>
            <a:endParaRPr lang="en-GB" sz="3200" dirty="0" smtClean="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5388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Independence, Courage and Integrity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817222"/>
          </a:xfrm>
          <a:solidFill>
            <a:schemeClr val="accent4">
              <a:lumMod val="50000"/>
            </a:schemeClr>
          </a:solidFill>
        </p:spPr>
        <p:txBody>
          <a:bodyPr>
            <a:normAutofit/>
          </a:bodyPr>
          <a:lstStyle/>
          <a:p>
            <a:r>
              <a:rPr lang="en-GB" sz="3600" dirty="0" smtClean="0">
                <a:solidFill>
                  <a:schemeClr val="bg1"/>
                </a:solidFill>
              </a:rPr>
              <a:t>Internal independence</a:t>
            </a:r>
          </a:p>
          <a:p>
            <a:endParaRPr lang="en-GB" sz="3600" dirty="0" smtClean="0">
              <a:solidFill>
                <a:schemeClr val="bg1"/>
              </a:solidFill>
            </a:endParaRPr>
          </a:p>
          <a:p>
            <a:r>
              <a:rPr lang="en-GB" sz="3600" dirty="0" smtClean="0">
                <a:solidFill>
                  <a:schemeClr val="bg1"/>
                </a:solidFill>
              </a:rPr>
              <a:t>Some </a:t>
            </a:r>
            <a:r>
              <a:rPr lang="en-GB" sz="3600" dirty="0">
                <a:solidFill>
                  <a:schemeClr val="bg1"/>
                </a:solidFill>
              </a:rPr>
              <a:t>judges act as </a:t>
            </a:r>
            <a:r>
              <a:rPr lang="en-GB" sz="3600" dirty="0">
                <a:solidFill>
                  <a:schemeClr val="bg1"/>
                </a:solidFill>
                <a:hlinkClick r:id="rId2"/>
              </a:rPr>
              <a:t>prosecutors in </a:t>
            </a:r>
            <a:r>
              <a:rPr lang="en-GB" sz="3600" dirty="0" smtClean="0">
                <a:solidFill>
                  <a:schemeClr val="bg1"/>
                </a:solidFill>
                <a:hlinkClick r:id="rId2"/>
              </a:rPr>
              <a:t>robes</a:t>
            </a:r>
            <a:endParaRPr lang="en-GB" sz="3600" dirty="0" smtClean="0">
              <a:solidFill>
                <a:schemeClr val="bg1"/>
              </a:solidFill>
            </a:endParaRPr>
          </a:p>
          <a:p>
            <a:endParaRPr lang="en-GB" sz="3000" dirty="0" smtClean="0">
              <a:solidFill>
                <a:schemeClr val="bg1"/>
              </a:solidFill>
            </a:endParaRPr>
          </a:p>
          <a:p>
            <a:pPr algn="just"/>
            <a:r>
              <a:rPr lang="ne-NP" sz="3000" dirty="0" smtClean="0">
                <a:solidFill>
                  <a:schemeClr val="bg1"/>
                </a:solidFill>
                <a:cs typeface="Kalimati" panose="00000400000000000000" pitchFamily="2"/>
              </a:rPr>
              <a:t>सन् १८०१ मा अवकाश लिंदै गरेका राष्ट्रपति जोन एडम्सले नियुक्त गरेका न्यायाधीश विलियम मारबरीको नियुक्तिलाई नयाँ नियुक्त राष्ट्रपति थमस जेफरसनका सचिब म्याडिसनले समर्थन नगरेको विरुद्धमा परेको मुद्दामा त्यो इन्कारीलाई मात्र गैरकानूनी ठहराएको होइन कि कानूनलाई नै असंवैधानिक घोषित ।</a:t>
            </a:r>
            <a:endParaRPr lang="en-US" sz="3000" dirty="0" smtClean="0">
              <a:solidFill>
                <a:schemeClr val="bg1"/>
              </a:solidFill>
              <a:cs typeface="Kalimati" panose="00000400000000000000" pitchFamily="2"/>
            </a:endParaRPr>
          </a:p>
          <a:p>
            <a:pPr algn="just"/>
            <a:endParaRPr lang="en-US" dirty="0">
              <a:cs typeface="Kalimati" panose="00000400000000000000" pitchFamily="2"/>
            </a:endParaRPr>
          </a:p>
        </p:txBody>
      </p:sp>
    </p:spTree>
    <p:extLst>
      <p:ext uri="{BB962C8B-B14F-4D97-AF65-F5344CB8AC3E}">
        <p14:creationId xmlns:p14="http://schemas.microsoft.com/office/powerpoint/2010/main" val="3511101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GB" b="1" dirty="0" smtClean="0">
                <a:solidFill>
                  <a:schemeClr val="bg1"/>
                </a:solidFill>
                <a:latin typeface="Times New Roman" panose="02020603050405020304" pitchFamily="18" charset="0"/>
                <a:cs typeface="Times New Roman" panose="02020603050405020304" pitchFamily="18" charset="0"/>
              </a:rPr>
              <a:t>Independence, Courage </a:t>
            </a:r>
            <a:r>
              <a:rPr lang="en-GB" b="1" dirty="0">
                <a:solidFill>
                  <a:schemeClr val="bg1"/>
                </a:solidFill>
                <a:latin typeface="Times New Roman" panose="02020603050405020304" pitchFamily="18" charset="0"/>
                <a:cs typeface="Times New Roman" panose="02020603050405020304" pitchFamily="18" charset="0"/>
              </a:rPr>
              <a:t>and </a:t>
            </a:r>
            <a:r>
              <a:rPr lang="en-GB" b="1" dirty="0" smtClean="0">
                <a:solidFill>
                  <a:schemeClr val="bg1"/>
                </a:solidFill>
                <a:latin typeface="Times New Roman" panose="02020603050405020304" pitchFamily="18" charset="0"/>
                <a:cs typeface="Times New Roman" panose="02020603050405020304" pitchFamily="18" charset="0"/>
              </a:rPr>
              <a:t>Integrity</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solidFill>
            <a:srgbClr val="002060"/>
          </a:solidFill>
        </p:spPr>
        <p:txBody>
          <a:bodyPr>
            <a:normAutofit/>
          </a:bodyPr>
          <a:lstStyle/>
          <a:p>
            <a:pPr algn="just"/>
            <a:r>
              <a:rPr lang="en-GB" sz="3600" dirty="0" smtClean="0">
                <a:solidFill>
                  <a:schemeClr val="bg1"/>
                </a:solidFill>
                <a:latin typeface="Times New Roman" panose="02020603050405020304" pitchFamily="18" charset="0"/>
                <a:cs typeface="Times New Roman" panose="02020603050405020304" pitchFamily="18" charset="0"/>
              </a:rPr>
              <a:t>“</a:t>
            </a:r>
            <a:r>
              <a:rPr lang="en-GB" sz="3600" dirty="0">
                <a:solidFill>
                  <a:schemeClr val="bg1"/>
                </a:solidFill>
                <a:latin typeface="Times New Roman" panose="02020603050405020304" pitchFamily="18" charset="0"/>
                <a:cs typeface="Times New Roman" panose="02020603050405020304" pitchFamily="18" charset="0"/>
              </a:rPr>
              <a:t>Integrity” is not being influenced by the identity, race, gender, political status, wealth or relationship of the party or lawyer before the judge.  More basically it is not doing what the judge knows to be </a:t>
            </a:r>
            <a:r>
              <a:rPr lang="en-GB" sz="3600" dirty="0" smtClean="0">
                <a:solidFill>
                  <a:schemeClr val="bg1"/>
                </a:solidFill>
                <a:latin typeface="Times New Roman" panose="02020603050405020304" pitchFamily="18" charset="0"/>
                <a:cs typeface="Times New Roman" panose="02020603050405020304" pitchFamily="18" charset="0"/>
              </a:rPr>
              <a:t>wrong.</a:t>
            </a:r>
          </a:p>
          <a:p>
            <a:pPr algn="just"/>
            <a:endParaRPr lang="en-GB" sz="3600" dirty="0" smtClean="0">
              <a:solidFill>
                <a:schemeClr val="bg1"/>
              </a:solidFill>
              <a:latin typeface="Times New Roman" panose="02020603050405020304" pitchFamily="18" charset="0"/>
              <a:cs typeface="Times New Roman" panose="02020603050405020304" pitchFamily="18" charset="0"/>
            </a:endParaRPr>
          </a:p>
          <a:p>
            <a:pPr algn="just"/>
            <a:r>
              <a:rPr lang="en-GB" sz="3600" dirty="0" smtClean="0">
                <a:solidFill>
                  <a:schemeClr val="bg1"/>
                </a:solidFill>
                <a:latin typeface="Times New Roman" panose="02020603050405020304" pitchFamily="18" charset="0"/>
                <a:cs typeface="Times New Roman" panose="02020603050405020304" pitchFamily="18" charset="0"/>
              </a:rPr>
              <a:t>There </a:t>
            </a:r>
            <a:r>
              <a:rPr lang="en-GB" sz="3600" dirty="0">
                <a:solidFill>
                  <a:schemeClr val="bg1"/>
                </a:solidFill>
                <a:latin typeface="Times New Roman" panose="02020603050405020304" pitchFamily="18" charset="0"/>
                <a:cs typeface="Times New Roman" panose="02020603050405020304" pitchFamily="18" charset="0"/>
              </a:rPr>
              <a:t>cannot be a strong and vibrant Judiciary unless the Judges are persons of integrity.</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801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Independence</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solidFill>
            <a:srgbClr val="002060"/>
          </a:solidFill>
        </p:spPr>
        <p:txBody>
          <a:bodyPr>
            <a:normAutofit/>
          </a:bodyPr>
          <a:lstStyle/>
          <a:p>
            <a:pPr algn="just"/>
            <a:r>
              <a:rPr lang="en-GB" sz="3600" dirty="0">
                <a:solidFill>
                  <a:schemeClr val="bg1"/>
                </a:solidFill>
                <a:latin typeface="Times New Roman" panose="02020603050405020304" pitchFamily="18" charset="0"/>
                <a:cs typeface="Times New Roman" panose="02020603050405020304" pitchFamily="18" charset="0"/>
              </a:rPr>
              <a:t>Judicial independence is not a freedom to do what you like or what you consider as just and equitable.  You are required to render justice in accordance with law, and not justice as per your convictions or what you consider as </a:t>
            </a:r>
            <a:r>
              <a:rPr lang="en-GB" sz="3600" dirty="0" smtClean="0">
                <a:solidFill>
                  <a:schemeClr val="bg1"/>
                </a:solidFill>
                <a:latin typeface="Times New Roman" panose="02020603050405020304" pitchFamily="18" charset="0"/>
                <a:cs typeface="Times New Roman" panose="02020603050405020304" pitchFamily="18" charset="0"/>
              </a:rPr>
              <a:t>just</a:t>
            </a:r>
          </a:p>
          <a:p>
            <a:pPr algn="just"/>
            <a:r>
              <a:rPr lang="en-GB" sz="3600" dirty="0" smtClean="0">
                <a:solidFill>
                  <a:schemeClr val="bg1"/>
                </a:solidFill>
                <a:latin typeface="Times New Roman" panose="02020603050405020304" pitchFamily="18" charset="0"/>
                <a:cs typeface="Times New Roman" panose="02020603050405020304" pitchFamily="18" charset="0"/>
              </a:rPr>
              <a:t>In </a:t>
            </a:r>
            <a:r>
              <a:rPr lang="en-GB" sz="3600" dirty="0">
                <a:solidFill>
                  <a:schemeClr val="bg1"/>
                </a:solidFill>
                <a:latin typeface="Times New Roman" panose="02020603050405020304" pitchFamily="18" charset="0"/>
                <a:cs typeface="Times New Roman" panose="02020603050405020304" pitchFamily="18" charset="0"/>
              </a:rPr>
              <a:t>the language of Benjamin N. Cardozo: “The Judge even when he is free, is still not wholly free. He is not to innovate at </a:t>
            </a:r>
            <a:r>
              <a:rPr lang="en-GB" sz="3600" dirty="0" smtClean="0">
                <a:solidFill>
                  <a:schemeClr val="bg1"/>
                </a:solidFill>
                <a:latin typeface="Times New Roman" panose="02020603050405020304" pitchFamily="18" charset="0"/>
                <a:cs typeface="Times New Roman" panose="02020603050405020304" pitchFamily="18" charset="0"/>
              </a:rPr>
              <a:t>pleasure.”</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5881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Independence and Courage</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613275"/>
          </a:xfrm>
          <a:solidFill>
            <a:srgbClr val="002060"/>
          </a:solidFill>
        </p:spPr>
        <p:txBody>
          <a:bodyPr>
            <a:normAutofit/>
          </a:bodyPr>
          <a:lstStyle/>
          <a:p>
            <a:r>
              <a:rPr lang="ne-NP" sz="3600" dirty="0" smtClean="0">
                <a:solidFill>
                  <a:schemeClr val="bg1"/>
                </a:solidFill>
                <a:cs typeface="Kalimati" panose="00000400000000000000" pitchFamily="2"/>
              </a:rPr>
              <a:t>निन्दा गरुन् वा प्रशंसा, लक्ष्मी आउन् वा जाउन्,</a:t>
            </a:r>
          </a:p>
          <a:p>
            <a:endParaRPr lang="ne-NP" sz="3600" dirty="0" smtClean="0">
              <a:solidFill>
                <a:schemeClr val="bg1"/>
              </a:solidFill>
              <a:cs typeface="Kalimati" panose="00000400000000000000" pitchFamily="2"/>
            </a:endParaRPr>
          </a:p>
          <a:p>
            <a:r>
              <a:rPr lang="ne-NP" sz="3600" dirty="0" smtClean="0">
                <a:solidFill>
                  <a:schemeClr val="bg1"/>
                </a:solidFill>
                <a:cs typeface="Kalimati" panose="00000400000000000000" pitchFamily="2"/>
              </a:rPr>
              <a:t>आजै मर्नु परोस् वा कालान्तरमा,</a:t>
            </a:r>
          </a:p>
          <a:p>
            <a:endParaRPr lang="ne-NP" sz="3600" dirty="0" smtClean="0">
              <a:solidFill>
                <a:schemeClr val="bg1"/>
              </a:solidFill>
              <a:cs typeface="Kalimati" panose="00000400000000000000" pitchFamily="2"/>
            </a:endParaRPr>
          </a:p>
          <a:p>
            <a:r>
              <a:rPr lang="ne-NP" sz="3600" dirty="0" smtClean="0">
                <a:solidFill>
                  <a:schemeClr val="bg1"/>
                </a:solidFill>
                <a:cs typeface="Kalimati" panose="00000400000000000000" pitchFamily="2"/>
              </a:rPr>
              <a:t>यी कुनै कुराको कत्ति पनि परवाह नराखी</a:t>
            </a:r>
          </a:p>
          <a:p>
            <a:endParaRPr lang="ne-NP" sz="3600" dirty="0" smtClean="0">
              <a:solidFill>
                <a:schemeClr val="bg1"/>
              </a:solidFill>
              <a:cs typeface="Kalimati" panose="00000400000000000000" pitchFamily="2"/>
            </a:endParaRPr>
          </a:p>
          <a:p>
            <a:r>
              <a:rPr lang="ne-NP" sz="3600" dirty="0" smtClean="0">
                <a:solidFill>
                  <a:schemeClr val="bg1"/>
                </a:solidFill>
                <a:cs typeface="Kalimati" panose="00000400000000000000" pitchFamily="2"/>
              </a:rPr>
              <a:t>न्यायिक मार्गमा लाग्नेहरु कहिल्यै विचलित हुँदैनन् ।</a:t>
            </a:r>
            <a:endParaRPr lang="en-US" sz="3600" dirty="0">
              <a:solidFill>
                <a:schemeClr val="bg1"/>
              </a:solidFill>
              <a:cs typeface="Kalimati" panose="00000400000000000000" pitchFamily="2"/>
            </a:endParaRPr>
          </a:p>
        </p:txBody>
      </p:sp>
    </p:spTree>
    <p:extLst>
      <p:ext uri="{BB962C8B-B14F-4D97-AF65-F5344CB8AC3E}">
        <p14:creationId xmlns:p14="http://schemas.microsoft.com/office/powerpoint/2010/main" val="4004279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8899"/>
          </a:xfrm>
          <a:solidFill>
            <a:schemeClr val="accent4">
              <a:lumMod val="50000"/>
            </a:schemeClr>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Interpersonal Skills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376" y="1479177"/>
            <a:ext cx="11300012" cy="5190565"/>
          </a:xfrm>
          <a:solidFill>
            <a:srgbClr val="7030A0"/>
          </a:solidFill>
        </p:spPr>
        <p:txBody>
          <a:bodyPr>
            <a:noAutofit/>
          </a:bodyPr>
          <a:lstStyle/>
          <a:p>
            <a:pPr algn="just"/>
            <a:r>
              <a:rPr lang="en-GB" sz="3200" dirty="0" smtClean="0">
                <a:solidFill>
                  <a:schemeClr val="bg1"/>
                </a:solidFill>
                <a:latin typeface="Times New Roman" panose="02020603050405020304" pitchFamily="18" charset="0"/>
                <a:cs typeface="Times New Roman" panose="02020603050405020304" pitchFamily="18" charset="0"/>
              </a:rPr>
              <a:t>Interpersonal </a:t>
            </a:r>
            <a:r>
              <a:rPr lang="en-GB" sz="3200" dirty="0">
                <a:solidFill>
                  <a:schemeClr val="bg1"/>
                </a:solidFill>
                <a:latin typeface="Times New Roman" panose="02020603050405020304" pitchFamily="18" charset="0"/>
                <a:cs typeface="Times New Roman" panose="02020603050405020304" pitchFamily="18" charset="0"/>
              </a:rPr>
              <a:t>skills are the skills we use every day when we communicate and interact with other people, both individually and in groups. </a:t>
            </a:r>
            <a:endParaRPr lang="en-GB" sz="3200" dirty="0" smtClean="0">
              <a:solidFill>
                <a:schemeClr val="bg1"/>
              </a:solidFill>
              <a:latin typeface="Times New Roman" panose="02020603050405020304" pitchFamily="18" charset="0"/>
              <a:cs typeface="Times New Roman" panose="02020603050405020304" pitchFamily="18" charset="0"/>
            </a:endParaRPr>
          </a:p>
          <a:p>
            <a:pPr algn="just"/>
            <a:r>
              <a:rPr lang="en-GB" sz="3200" dirty="0" smtClean="0">
                <a:solidFill>
                  <a:schemeClr val="bg1"/>
                </a:solidFill>
                <a:latin typeface="Times New Roman" panose="02020603050405020304" pitchFamily="18" charset="0"/>
                <a:cs typeface="Times New Roman" panose="02020603050405020304" pitchFamily="18" charset="0"/>
              </a:rPr>
              <a:t>They </a:t>
            </a:r>
            <a:r>
              <a:rPr lang="en-GB" sz="3200" dirty="0">
                <a:solidFill>
                  <a:schemeClr val="bg1"/>
                </a:solidFill>
                <a:latin typeface="Times New Roman" panose="02020603050405020304" pitchFamily="18" charset="0"/>
                <a:cs typeface="Times New Roman" panose="02020603050405020304" pitchFamily="18" charset="0"/>
              </a:rPr>
              <a:t>include a wide range of skills, but particularly communication skills such as listening and effective speaking. They also include the ability to control and manage your </a:t>
            </a:r>
            <a:r>
              <a:rPr lang="en-GB" sz="3200" dirty="0" smtClean="0">
                <a:solidFill>
                  <a:schemeClr val="bg1"/>
                </a:solidFill>
                <a:latin typeface="Times New Roman" panose="02020603050405020304" pitchFamily="18" charset="0"/>
                <a:cs typeface="Times New Roman" panose="02020603050405020304" pitchFamily="18" charset="0"/>
              </a:rPr>
              <a:t>emotions.</a:t>
            </a:r>
          </a:p>
          <a:p>
            <a:pPr algn="just"/>
            <a:r>
              <a:rPr lang="en-GB" sz="3200" dirty="0">
                <a:solidFill>
                  <a:schemeClr val="bg1"/>
                </a:solidFill>
              </a:rPr>
              <a:t>Good interpersonal skills ‘oil the wheels’ of these interactions, making them smoother and </a:t>
            </a:r>
            <a:r>
              <a:rPr lang="en-GB" sz="3200" dirty="0" smtClean="0">
                <a:solidFill>
                  <a:schemeClr val="bg1"/>
                </a:solidFill>
              </a:rPr>
              <a:t>pleasanter</a:t>
            </a:r>
            <a:endParaRPr lang="en-US" sz="3200" dirty="0" smtClean="0">
              <a:solidFill>
                <a:schemeClr val="bg1"/>
              </a:solidFill>
              <a:latin typeface="Times New Roman" panose="02020603050405020304" pitchFamily="18" charset="0"/>
              <a:cs typeface="Times New Roman" panose="02020603050405020304" pitchFamily="18" charset="0"/>
            </a:endParaRPr>
          </a:p>
          <a:p>
            <a:r>
              <a:rPr lang="en-GB" sz="3200" dirty="0">
                <a:solidFill>
                  <a:schemeClr val="bg1"/>
                </a:solidFill>
              </a:rPr>
              <a:t>treat everyone—even the accused murderer—with the same even-handed comments and courtesy</a:t>
            </a:r>
            <a:r>
              <a:rPr lang="en-GB" sz="3200" dirty="0" smtClean="0">
                <a:solidFill>
                  <a:schemeClr val="bg1"/>
                </a:solidFill>
              </a:rPr>
              <a:t>.</a:t>
            </a:r>
          </a:p>
        </p:txBody>
      </p:sp>
    </p:spTree>
    <p:extLst>
      <p:ext uri="{BB962C8B-B14F-4D97-AF65-F5344CB8AC3E}">
        <p14:creationId xmlns:p14="http://schemas.microsoft.com/office/powerpoint/2010/main" val="2751772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Moral Excellence</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829175"/>
          </a:xfrm>
          <a:solidFill>
            <a:srgbClr val="002060"/>
          </a:solidFill>
        </p:spPr>
        <p:txBody>
          <a:bodyPr>
            <a:normAutofit fontScale="92500"/>
          </a:bodyPr>
          <a:lstStyle/>
          <a:p>
            <a:pPr algn="just"/>
            <a:r>
              <a:rPr lang="en-US" dirty="0" smtClean="0">
                <a:solidFill>
                  <a:schemeClr val="bg1"/>
                </a:solidFill>
              </a:rPr>
              <a:t>Literally, the moral excellence is </a:t>
            </a:r>
            <a:r>
              <a:rPr lang="en-GB" dirty="0" smtClean="0">
                <a:solidFill>
                  <a:schemeClr val="bg1"/>
                </a:solidFill>
              </a:rPr>
              <a:t>the </a:t>
            </a:r>
            <a:r>
              <a:rPr lang="en-GB" dirty="0">
                <a:solidFill>
                  <a:schemeClr val="bg1"/>
                </a:solidFill>
              </a:rPr>
              <a:t>quality of doing what is right and avoiding what is </a:t>
            </a:r>
            <a:r>
              <a:rPr lang="en-GB" dirty="0" smtClean="0">
                <a:solidFill>
                  <a:schemeClr val="bg1"/>
                </a:solidFill>
              </a:rPr>
              <a:t>wrong.</a:t>
            </a:r>
            <a:endParaRPr lang="ne-NP" dirty="0" smtClean="0">
              <a:solidFill>
                <a:schemeClr val="bg1"/>
              </a:solidFill>
              <a:latin typeface="Times New Roman" panose="02020603050405020304" pitchFamily="18" charset="0"/>
              <a:cs typeface="Times New Roman" panose="02020603050405020304" pitchFamily="18" charset="0"/>
            </a:endParaRPr>
          </a:p>
          <a:p>
            <a:pPr algn="just"/>
            <a:r>
              <a:rPr lang="en-GB" dirty="0">
                <a:solidFill>
                  <a:schemeClr val="bg1"/>
                </a:solidFill>
                <a:latin typeface="Times New Roman" panose="02020603050405020304" pitchFamily="18" charset="0"/>
                <a:cs typeface="Times New Roman" panose="02020603050405020304" pitchFamily="18" charset="0"/>
              </a:rPr>
              <a:t>J</a:t>
            </a:r>
            <a:r>
              <a:rPr lang="en-GB" dirty="0" smtClean="0">
                <a:solidFill>
                  <a:schemeClr val="bg1"/>
                </a:solidFill>
                <a:latin typeface="Times New Roman" panose="02020603050405020304" pitchFamily="18" charset="0"/>
                <a:cs typeface="Times New Roman" panose="02020603050405020304" pitchFamily="18" charset="0"/>
              </a:rPr>
              <a:t>udges</a:t>
            </a:r>
            <a:r>
              <a:rPr lang="en-GB" dirty="0">
                <a:solidFill>
                  <a:schemeClr val="bg1"/>
                </a:solidFill>
                <a:latin typeface="Times New Roman" panose="02020603050405020304" pitchFamily="18" charset="0"/>
                <a:cs typeface="Times New Roman" panose="02020603050405020304" pitchFamily="18" charset="0"/>
              </a:rPr>
              <a:t>, individually and collectively, must respect and </a:t>
            </a:r>
            <a:r>
              <a:rPr lang="en-GB" dirty="0" err="1">
                <a:solidFill>
                  <a:schemeClr val="bg1"/>
                </a:solidFill>
                <a:latin typeface="Times New Roman" panose="02020603050405020304" pitchFamily="18" charset="0"/>
                <a:cs typeface="Times New Roman" panose="02020603050405020304" pitchFamily="18" charset="0"/>
              </a:rPr>
              <a:t>honor</a:t>
            </a:r>
            <a:r>
              <a:rPr lang="en-GB" dirty="0">
                <a:solidFill>
                  <a:schemeClr val="bg1"/>
                </a:solidFill>
                <a:latin typeface="Times New Roman" panose="02020603050405020304" pitchFamily="18" charset="0"/>
                <a:cs typeface="Times New Roman" panose="02020603050405020304" pitchFamily="18" charset="0"/>
              </a:rPr>
              <a:t> the judicial office as a public trust and strive to maintain and enhance confidence in the legal system</a:t>
            </a:r>
            <a:r>
              <a:rPr lang="en-GB" dirty="0" smtClean="0">
                <a:solidFill>
                  <a:schemeClr val="bg1"/>
                </a:solidFill>
                <a:latin typeface="Times New Roman" panose="02020603050405020304" pitchFamily="18" charset="0"/>
                <a:cs typeface="Times New Roman" panose="02020603050405020304" pitchFamily="18" charset="0"/>
              </a:rPr>
              <a:t>.</a:t>
            </a:r>
          </a:p>
          <a:p>
            <a:pPr algn="just"/>
            <a:r>
              <a:rPr lang="en-GB" dirty="0" smtClean="0">
                <a:solidFill>
                  <a:schemeClr val="bg1"/>
                </a:solidFill>
                <a:latin typeface="Times New Roman" panose="02020603050405020304" pitchFamily="18" charset="0"/>
                <a:cs typeface="Times New Roman" panose="02020603050405020304" pitchFamily="18" charset="0"/>
              </a:rPr>
              <a:t>Deference </a:t>
            </a:r>
            <a:r>
              <a:rPr lang="en-GB" dirty="0">
                <a:solidFill>
                  <a:schemeClr val="bg1"/>
                </a:solidFill>
                <a:latin typeface="Times New Roman" panose="02020603050405020304" pitchFamily="18" charset="0"/>
                <a:cs typeface="Times New Roman" panose="02020603050405020304" pitchFamily="18" charset="0"/>
              </a:rPr>
              <a:t>to the judgments and rulings of courts depends upon public confidence in the </a:t>
            </a:r>
            <a:r>
              <a:rPr lang="en-GB" dirty="0" smtClean="0">
                <a:solidFill>
                  <a:schemeClr val="bg1"/>
                </a:solidFill>
                <a:latin typeface="Times New Roman" panose="02020603050405020304" pitchFamily="18" charset="0"/>
                <a:cs typeface="Times New Roman" panose="02020603050405020304" pitchFamily="18" charset="0"/>
              </a:rPr>
              <a:t>integrity </a:t>
            </a:r>
            <a:r>
              <a:rPr lang="en-GB" dirty="0">
                <a:solidFill>
                  <a:schemeClr val="bg1"/>
                </a:solidFill>
                <a:latin typeface="Times New Roman" panose="02020603050405020304" pitchFamily="18" charset="0"/>
                <a:cs typeface="Times New Roman" panose="02020603050405020304" pitchFamily="18" charset="0"/>
              </a:rPr>
              <a:t>of judges. The </a:t>
            </a:r>
            <a:r>
              <a:rPr lang="en-GB" dirty="0" smtClean="0">
                <a:solidFill>
                  <a:schemeClr val="bg1"/>
                </a:solidFill>
                <a:latin typeface="Times New Roman" panose="02020603050405020304" pitchFamily="18" charset="0"/>
                <a:cs typeface="Times New Roman" panose="02020603050405020304" pitchFamily="18" charset="0"/>
              </a:rPr>
              <a:t>integrity </a:t>
            </a:r>
            <a:r>
              <a:rPr lang="en-GB" dirty="0">
                <a:solidFill>
                  <a:schemeClr val="bg1"/>
                </a:solidFill>
                <a:latin typeface="Times New Roman" panose="02020603050405020304" pitchFamily="18" charset="0"/>
                <a:cs typeface="Times New Roman" panose="02020603050405020304" pitchFamily="18" charset="0"/>
              </a:rPr>
              <a:t>of judges depends in turn upon their acting without fear or </a:t>
            </a:r>
            <a:r>
              <a:rPr lang="en-GB" dirty="0" err="1">
                <a:solidFill>
                  <a:schemeClr val="bg1"/>
                </a:solidFill>
                <a:latin typeface="Times New Roman" panose="02020603050405020304" pitchFamily="18" charset="0"/>
                <a:cs typeface="Times New Roman" panose="02020603050405020304" pitchFamily="18" charset="0"/>
              </a:rPr>
              <a:t>favor</a:t>
            </a:r>
            <a:endParaRPr lang="en-GB" dirty="0">
              <a:solidFill>
                <a:schemeClr val="bg1"/>
              </a:solidFill>
              <a:latin typeface="Times New Roman" panose="02020603050405020304" pitchFamily="18" charset="0"/>
              <a:cs typeface="Times New Roman" panose="02020603050405020304" pitchFamily="18" charset="0"/>
            </a:endParaRPr>
          </a:p>
          <a:p>
            <a:pPr algn="just"/>
            <a:r>
              <a:rPr lang="en-GB" dirty="0" smtClean="0">
                <a:solidFill>
                  <a:schemeClr val="bg1"/>
                </a:solidFill>
                <a:latin typeface="Times New Roman" panose="02020603050405020304" pitchFamily="18" charset="0"/>
                <a:cs typeface="Times New Roman" panose="02020603050405020304" pitchFamily="18" charset="0"/>
              </a:rPr>
              <a:t>Engaging </a:t>
            </a:r>
            <a:r>
              <a:rPr lang="en-GB" dirty="0">
                <a:solidFill>
                  <a:schemeClr val="bg1"/>
                </a:solidFill>
                <a:latin typeface="Times New Roman" panose="02020603050405020304" pitchFamily="18" charset="0"/>
                <a:cs typeface="Times New Roman" panose="02020603050405020304" pitchFamily="18" charset="0"/>
              </a:rPr>
              <a:t>in several business transactions with and accepting a gift from a car dealer to whom the judge had awarded a substantial verdict even though the judge did not expect to receive a financial </a:t>
            </a:r>
            <a:r>
              <a:rPr lang="en-GB" dirty="0" err="1">
                <a:solidFill>
                  <a:schemeClr val="bg1"/>
                </a:solidFill>
                <a:latin typeface="Times New Roman" panose="02020603050405020304" pitchFamily="18" charset="0"/>
                <a:cs typeface="Times New Roman" panose="02020603050405020304" pitchFamily="18" charset="0"/>
              </a:rPr>
              <a:t>favor</a:t>
            </a:r>
            <a:r>
              <a:rPr lang="en-GB" dirty="0">
                <a:solidFill>
                  <a:schemeClr val="bg1"/>
                </a:solidFill>
                <a:latin typeface="Times New Roman" panose="02020603050405020304" pitchFamily="18" charset="0"/>
                <a:cs typeface="Times New Roman" panose="02020603050405020304" pitchFamily="18" charset="0"/>
              </a:rPr>
              <a:t> (Adams v. Commission on Judicial Performance, 897 P.2d 544 (California 1995)).</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2191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1375"/>
          </a:xfrm>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Role Model</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71600"/>
            <a:ext cx="10515600" cy="4612341"/>
          </a:xfrm>
          <a:solidFill>
            <a:srgbClr val="002060"/>
          </a:solidFill>
        </p:spPr>
        <p:txBody>
          <a:bodyPr>
            <a:normAutofit/>
          </a:bodyPr>
          <a:lstStyle/>
          <a:p>
            <a:pPr algn="just"/>
            <a:r>
              <a:rPr lang="en-GB" sz="3600" dirty="0">
                <a:solidFill>
                  <a:schemeClr val="bg1"/>
                </a:solidFill>
                <a:latin typeface="Times New Roman" panose="02020603050405020304" pitchFamily="18" charset="0"/>
                <a:cs typeface="Times New Roman" panose="02020603050405020304" pitchFamily="18" charset="0"/>
              </a:rPr>
              <a:t>Judges are required to “personally observe high standards of conduct</a:t>
            </a:r>
            <a:r>
              <a:rPr lang="en-GB" sz="3600" dirty="0" smtClean="0">
                <a:solidFill>
                  <a:schemeClr val="bg1"/>
                </a:solidFill>
                <a:latin typeface="Times New Roman" panose="02020603050405020304" pitchFamily="18" charset="0"/>
                <a:cs typeface="Times New Roman" panose="02020603050405020304" pitchFamily="18" charset="0"/>
              </a:rPr>
              <a:t>”</a:t>
            </a:r>
          </a:p>
          <a:p>
            <a:pPr algn="just"/>
            <a:endParaRPr lang="en-GB" sz="3600" dirty="0" smtClean="0">
              <a:solidFill>
                <a:schemeClr val="bg1"/>
              </a:solidFill>
              <a:latin typeface="Times New Roman" panose="02020603050405020304" pitchFamily="18" charset="0"/>
              <a:cs typeface="Times New Roman" panose="02020603050405020304" pitchFamily="18" charset="0"/>
            </a:endParaRPr>
          </a:p>
          <a:p>
            <a:pPr algn="just"/>
            <a:r>
              <a:rPr lang="en-GB" sz="3600" dirty="0">
                <a:solidFill>
                  <a:schemeClr val="bg1"/>
                </a:solidFill>
                <a:latin typeface="Times New Roman" panose="02020603050405020304" pitchFamily="18" charset="0"/>
                <a:cs typeface="Times New Roman" panose="02020603050405020304" pitchFamily="18" charset="0"/>
              </a:rPr>
              <a:t>applies to “all of the judge’s activities” and “at all times”</a:t>
            </a:r>
            <a:r>
              <a:rPr lang="ne-NP" sz="3600" dirty="0">
                <a:solidFill>
                  <a:schemeClr val="bg1"/>
                </a:solidFill>
                <a:latin typeface="Times New Roman" panose="02020603050405020304" pitchFamily="18" charset="0"/>
                <a:cs typeface="Kalimati" panose="00000400000000000000" pitchFamily="2"/>
              </a:rPr>
              <a:t>। </a:t>
            </a:r>
            <a:r>
              <a:rPr lang="en-US" sz="3600" dirty="0">
                <a:solidFill>
                  <a:schemeClr val="bg1"/>
                </a:solidFill>
                <a:latin typeface="Times New Roman" panose="02020603050405020304" pitchFamily="18" charset="0"/>
                <a:cs typeface="Times New Roman" panose="02020603050405020304" pitchFamily="18" charset="0"/>
              </a:rPr>
              <a:t>Professional as well as personal life</a:t>
            </a:r>
            <a:r>
              <a:rPr lang="en-US" sz="3600" dirty="0" smtClean="0">
                <a:solidFill>
                  <a:schemeClr val="bg1"/>
                </a:solidFill>
                <a:latin typeface="Times New Roman" panose="02020603050405020304" pitchFamily="18" charset="0"/>
                <a:cs typeface="Times New Roman" panose="02020603050405020304" pitchFamily="18" charset="0"/>
              </a:rPr>
              <a:t>.</a:t>
            </a:r>
          </a:p>
          <a:p>
            <a:pPr algn="just"/>
            <a:endParaRPr lang="en-US" sz="3600" dirty="0">
              <a:solidFill>
                <a:schemeClr val="bg1"/>
              </a:solidFill>
              <a:latin typeface="Times New Roman" panose="02020603050405020304" pitchFamily="18" charset="0"/>
              <a:cs typeface="Times New Roman" panose="02020603050405020304" pitchFamily="18" charset="0"/>
            </a:endParaRPr>
          </a:p>
          <a:p>
            <a:pPr algn="just"/>
            <a:r>
              <a:rPr lang="en-US" sz="3600" dirty="0" smtClean="0">
                <a:solidFill>
                  <a:schemeClr val="bg1"/>
                </a:solidFill>
                <a:latin typeface="Times New Roman" panose="02020603050405020304" pitchFamily="18" charset="0"/>
                <a:cs typeface="Times New Roman" panose="02020603050405020304" pitchFamily="18" charset="0"/>
              </a:rPr>
              <a:t>Unwritten </a:t>
            </a:r>
            <a:r>
              <a:rPr lang="en-US" sz="3600" dirty="0">
                <a:solidFill>
                  <a:schemeClr val="bg1"/>
                </a:solidFill>
                <a:latin typeface="Times New Roman" panose="02020603050405020304" pitchFamily="18" charset="0"/>
                <a:cs typeface="Times New Roman" panose="02020603050405020304" pitchFamily="18" charset="0"/>
              </a:rPr>
              <a:t>code of conduct is more strong than a written one.</a:t>
            </a:r>
          </a:p>
          <a:p>
            <a:endParaRPr lang="en-GB" dirty="0">
              <a:solidFill>
                <a:schemeClr val="bg1"/>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4107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7030A0"/>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Role Model</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791075"/>
          </a:xfrm>
          <a:solidFill>
            <a:srgbClr val="002060"/>
          </a:solidFill>
        </p:spPr>
        <p:txBody>
          <a:bodyPr>
            <a:normAutofit/>
          </a:bodyPr>
          <a:lstStyle/>
          <a:p>
            <a:pPr algn="just"/>
            <a:r>
              <a:rPr lang="en-GB" dirty="0" smtClean="0">
                <a:solidFill>
                  <a:schemeClr val="bg1"/>
                </a:solidFill>
                <a:latin typeface="Times New Roman" panose="02020603050405020304" pitchFamily="18" charset="0"/>
                <a:cs typeface="Times New Roman" panose="02020603050405020304" pitchFamily="18" charset="0"/>
              </a:rPr>
              <a:t>Warning </a:t>
            </a:r>
            <a:r>
              <a:rPr lang="en-GB" dirty="0">
                <a:solidFill>
                  <a:schemeClr val="bg1"/>
                </a:solidFill>
                <a:latin typeface="Times New Roman" panose="02020603050405020304" pitchFamily="18" charset="0"/>
                <a:cs typeface="Times New Roman" panose="02020603050405020304" pitchFamily="18" charset="0"/>
              </a:rPr>
              <a:t>a police officer who stopped the judge for driving while intoxicated that the officer would “regret this” and telling the officer to “watch out from here on in” (In the Matter of </a:t>
            </a:r>
            <a:r>
              <a:rPr lang="en-GB" dirty="0" err="1">
                <a:solidFill>
                  <a:schemeClr val="bg1"/>
                </a:solidFill>
                <a:latin typeface="Times New Roman" panose="02020603050405020304" pitchFamily="18" charset="0"/>
                <a:cs typeface="Times New Roman" panose="02020603050405020304" pitchFamily="18" charset="0"/>
              </a:rPr>
              <a:t>Winkworth</a:t>
            </a:r>
            <a:r>
              <a:rPr lang="en-GB" dirty="0">
                <a:solidFill>
                  <a:schemeClr val="bg1"/>
                </a:solidFill>
                <a:latin typeface="Times New Roman" panose="02020603050405020304" pitchFamily="18" charset="0"/>
                <a:cs typeface="Times New Roman" panose="02020603050405020304" pitchFamily="18" charset="0"/>
              </a:rPr>
              <a:t>, Determination (New York State Commission on Judicial Conduct September 21, 1992) (www.scjc.state. ny.us</a:t>
            </a:r>
            <a:r>
              <a:rPr lang="en-GB" dirty="0" smtClean="0">
                <a:solidFill>
                  <a:schemeClr val="bg1"/>
                </a:solidFill>
                <a:latin typeface="Times New Roman" panose="02020603050405020304" pitchFamily="18" charset="0"/>
                <a:cs typeface="Times New Roman" panose="02020603050405020304" pitchFamily="18" charset="0"/>
              </a:rPr>
              <a:t>/)).</a:t>
            </a:r>
          </a:p>
          <a:p>
            <a:pPr algn="just"/>
            <a:endParaRPr lang="en-GB" dirty="0" smtClean="0">
              <a:solidFill>
                <a:schemeClr val="bg1"/>
              </a:solidFill>
              <a:latin typeface="Times New Roman" panose="02020603050405020304" pitchFamily="18" charset="0"/>
              <a:cs typeface="Times New Roman" panose="02020603050405020304" pitchFamily="18" charset="0"/>
            </a:endParaRPr>
          </a:p>
          <a:p>
            <a:pPr algn="just"/>
            <a:r>
              <a:rPr lang="en-GB" dirty="0" smtClean="0">
                <a:solidFill>
                  <a:schemeClr val="bg1"/>
                </a:solidFill>
                <a:latin typeface="Times New Roman" panose="02020603050405020304" pitchFamily="18" charset="0"/>
                <a:cs typeface="Times New Roman" panose="02020603050405020304" pitchFamily="18" charset="0"/>
              </a:rPr>
              <a:t>Allowing </a:t>
            </a:r>
            <a:r>
              <a:rPr lang="en-GB" dirty="0">
                <a:solidFill>
                  <a:schemeClr val="bg1"/>
                </a:solidFill>
                <a:latin typeface="Times New Roman" panose="02020603050405020304" pitchFamily="18" charset="0"/>
                <a:cs typeface="Times New Roman" panose="02020603050405020304" pitchFamily="18" charset="0"/>
              </a:rPr>
              <a:t>the use of his name, title, and photograph in a brochure used to solicit funds (In the Matter of </a:t>
            </a:r>
            <a:r>
              <a:rPr lang="en-GB" dirty="0" err="1">
                <a:solidFill>
                  <a:schemeClr val="bg1"/>
                </a:solidFill>
                <a:latin typeface="Times New Roman" panose="02020603050405020304" pitchFamily="18" charset="0"/>
                <a:cs typeface="Times New Roman" panose="02020603050405020304" pitchFamily="18" charset="0"/>
              </a:rPr>
              <a:t>Castellano</a:t>
            </a:r>
            <a:r>
              <a:rPr lang="en-GB" dirty="0">
                <a:solidFill>
                  <a:schemeClr val="bg1"/>
                </a:solidFill>
                <a:latin typeface="Times New Roman" panose="02020603050405020304" pitchFamily="18" charset="0"/>
                <a:cs typeface="Times New Roman" panose="02020603050405020304" pitchFamily="18" charset="0"/>
              </a:rPr>
              <a:t>, 889 P.2d 175 (New Mexico 1995)).</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43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50000"/>
            </a:schemeClr>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Proper Judicial Temperament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669304"/>
          </a:xfrm>
          <a:solidFill>
            <a:srgbClr val="7030A0"/>
          </a:solidFill>
        </p:spPr>
        <p:txBody>
          <a:bodyPr>
            <a:normAutofit fontScale="92500"/>
          </a:bodyPr>
          <a:lstStyle/>
          <a:p>
            <a:pPr algn="just"/>
            <a:endParaRPr lang="en-GB" sz="3200" dirty="0" smtClean="0">
              <a:solidFill>
                <a:schemeClr val="bg1"/>
              </a:solidFill>
              <a:latin typeface="Times New Roman" panose="02020603050405020304" pitchFamily="18" charset="0"/>
              <a:cs typeface="Times New Roman" panose="02020603050405020304" pitchFamily="18" charset="0"/>
            </a:endParaRPr>
          </a:p>
          <a:p>
            <a:pPr algn="just"/>
            <a:r>
              <a:rPr lang="en-GB" sz="3600" dirty="0" smtClean="0">
                <a:solidFill>
                  <a:schemeClr val="bg1"/>
                </a:solidFill>
                <a:latin typeface="Times New Roman" panose="02020603050405020304" pitchFamily="18" charset="0"/>
                <a:cs typeface="Times New Roman" panose="02020603050405020304" pitchFamily="18" charset="0"/>
              </a:rPr>
              <a:t>It </a:t>
            </a:r>
            <a:r>
              <a:rPr lang="en-GB" sz="3600" dirty="0">
                <a:solidFill>
                  <a:schemeClr val="bg1"/>
                </a:solidFill>
                <a:latin typeface="Times New Roman" panose="02020603050405020304" pitchFamily="18" charset="0"/>
                <a:cs typeface="Times New Roman" panose="02020603050405020304" pitchFamily="18" charset="0"/>
              </a:rPr>
              <a:t>seems to me that temperament is the key to everything else that one does on the </a:t>
            </a:r>
            <a:r>
              <a:rPr lang="en-GB" sz="3600" dirty="0" smtClean="0">
                <a:solidFill>
                  <a:schemeClr val="bg1"/>
                </a:solidFill>
                <a:latin typeface="Times New Roman" panose="02020603050405020304" pitchFamily="18" charset="0"/>
                <a:cs typeface="Times New Roman" panose="02020603050405020304" pitchFamily="18" charset="0"/>
              </a:rPr>
              <a:t>bench </a:t>
            </a:r>
            <a:r>
              <a:rPr lang="en-GB" sz="3600" dirty="0">
                <a:solidFill>
                  <a:schemeClr val="bg1"/>
                </a:solidFill>
                <a:latin typeface="Times New Roman" panose="02020603050405020304" pitchFamily="18" charset="0"/>
                <a:cs typeface="Times New Roman" panose="02020603050405020304" pitchFamily="18" charset="0"/>
              </a:rPr>
              <a:t>- Hon. Jeremy </a:t>
            </a:r>
            <a:r>
              <a:rPr lang="en-GB" sz="3600" dirty="0" err="1" smtClean="0">
                <a:solidFill>
                  <a:schemeClr val="bg1"/>
                </a:solidFill>
                <a:latin typeface="Times New Roman" panose="02020603050405020304" pitchFamily="18" charset="0"/>
                <a:cs typeface="Times New Roman" panose="02020603050405020304" pitchFamily="18" charset="0"/>
              </a:rPr>
              <a:t>Fogel</a:t>
            </a:r>
            <a:endParaRPr lang="en-GB" sz="3600" dirty="0" smtClean="0">
              <a:solidFill>
                <a:schemeClr val="bg1"/>
              </a:solidFill>
              <a:latin typeface="Times New Roman" panose="02020603050405020304" pitchFamily="18" charset="0"/>
              <a:cs typeface="Times New Roman" panose="02020603050405020304" pitchFamily="18" charset="0"/>
            </a:endParaRPr>
          </a:p>
          <a:p>
            <a:pPr algn="just"/>
            <a:endParaRPr lang="en-GB" sz="3600" dirty="0">
              <a:solidFill>
                <a:schemeClr val="bg1"/>
              </a:solidFill>
              <a:latin typeface="Times New Roman" panose="02020603050405020304" pitchFamily="18" charset="0"/>
              <a:cs typeface="Times New Roman" panose="02020603050405020304" pitchFamily="18" charset="0"/>
            </a:endParaRPr>
          </a:p>
          <a:p>
            <a:pPr algn="just"/>
            <a:endParaRPr lang="en-GB" sz="3600" dirty="0" smtClean="0">
              <a:solidFill>
                <a:schemeClr val="bg1"/>
              </a:solidFill>
              <a:latin typeface="Times New Roman" panose="02020603050405020304" pitchFamily="18" charset="0"/>
              <a:cs typeface="Times New Roman" panose="02020603050405020304" pitchFamily="18" charset="0"/>
            </a:endParaRPr>
          </a:p>
          <a:p>
            <a:pPr algn="just"/>
            <a:r>
              <a:rPr lang="en-GB" sz="3600" dirty="0" smtClean="0">
                <a:solidFill>
                  <a:schemeClr val="bg1"/>
                </a:solidFill>
                <a:latin typeface="Times New Roman" panose="02020603050405020304" pitchFamily="18" charset="0"/>
                <a:cs typeface="Times New Roman" panose="02020603050405020304" pitchFamily="18" charset="0"/>
              </a:rPr>
              <a:t>Trump’s </a:t>
            </a:r>
            <a:r>
              <a:rPr lang="en-GB" sz="3600" dirty="0">
                <a:solidFill>
                  <a:schemeClr val="bg1"/>
                </a:solidFill>
                <a:latin typeface="Times New Roman" panose="02020603050405020304" pitchFamily="18" charset="0"/>
                <a:cs typeface="Times New Roman" panose="02020603050405020304" pitchFamily="18" charset="0"/>
              </a:rPr>
              <a:t>detractors uniformly attacked his temperamental fitness to be </a:t>
            </a:r>
            <a:r>
              <a:rPr lang="en-GB" sz="3600" dirty="0" smtClean="0">
                <a:solidFill>
                  <a:schemeClr val="bg1"/>
                </a:solidFill>
                <a:latin typeface="Times New Roman" panose="02020603050405020304" pitchFamily="18" charset="0"/>
                <a:cs typeface="Times New Roman" panose="02020603050405020304" pitchFamily="18" charset="0"/>
              </a:rPr>
              <a:t>President (lack </a:t>
            </a:r>
            <a:r>
              <a:rPr lang="en-GB" sz="3600" dirty="0">
                <a:solidFill>
                  <a:schemeClr val="bg1"/>
                </a:solidFill>
                <a:latin typeface="Times New Roman" panose="02020603050405020304" pitchFamily="18" charset="0"/>
                <a:cs typeface="Times New Roman" panose="02020603050405020304" pitchFamily="18" charset="0"/>
              </a:rPr>
              <a:t>of verbal restraint,” reactivity when taunted, and love of “creating </a:t>
            </a:r>
            <a:r>
              <a:rPr lang="en-GB" sz="3600" dirty="0" smtClean="0">
                <a:solidFill>
                  <a:schemeClr val="bg1"/>
                </a:solidFill>
                <a:latin typeface="Times New Roman" panose="02020603050405020304" pitchFamily="18" charset="0"/>
                <a:cs typeface="Times New Roman" panose="02020603050405020304" pitchFamily="18" charset="0"/>
              </a:rPr>
              <a:t>disorder”)</a:t>
            </a:r>
            <a:endParaRPr lang="en-US"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057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50000"/>
            </a:schemeClr>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Socrates</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solidFill>
            <a:srgbClr val="7030A0"/>
          </a:solidFill>
        </p:spPr>
        <p:txBody>
          <a:bodyPr>
            <a:normAutofit/>
          </a:bodyPr>
          <a:lstStyle/>
          <a:p>
            <a:pPr algn="just"/>
            <a:r>
              <a:rPr lang="en-GB" sz="3200" dirty="0">
                <a:solidFill>
                  <a:schemeClr val="bg1"/>
                </a:solidFill>
                <a:latin typeface="Times New Roman" panose="02020603050405020304" pitchFamily="18" charset="0"/>
                <a:cs typeface="Times New Roman" panose="02020603050405020304" pitchFamily="18" charset="0"/>
              </a:rPr>
              <a:t>Socrates aptly described the essential qualities of a good judge: </a:t>
            </a:r>
            <a:r>
              <a:rPr lang="en-GB" sz="3200" dirty="0" smtClean="0">
                <a:solidFill>
                  <a:schemeClr val="bg1"/>
                </a:solidFill>
                <a:latin typeface="Times New Roman" panose="02020603050405020304" pitchFamily="18" charset="0"/>
                <a:cs typeface="Times New Roman" panose="02020603050405020304" pitchFamily="18" charset="0"/>
              </a:rPr>
              <a:t>Four </a:t>
            </a:r>
            <a:r>
              <a:rPr lang="en-GB" sz="3200" dirty="0">
                <a:solidFill>
                  <a:schemeClr val="bg1"/>
                </a:solidFill>
                <a:latin typeface="Times New Roman" panose="02020603050405020304" pitchFamily="18" charset="0"/>
                <a:cs typeface="Times New Roman" panose="02020603050405020304" pitchFamily="18" charset="0"/>
              </a:rPr>
              <a:t>things belong to a judge: </a:t>
            </a:r>
            <a:endParaRPr lang="en-GB" sz="3200" dirty="0" smtClean="0">
              <a:solidFill>
                <a:schemeClr val="bg1"/>
              </a:solidFill>
              <a:latin typeface="Times New Roman" panose="02020603050405020304" pitchFamily="18" charset="0"/>
              <a:cs typeface="Times New Roman" panose="02020603050405020304" pitchFamily="18" charset="0"/>
            </a:endParaRPr>
          </a:p>
          <a:p>
            <a:pPr lvl="1" algn="just">
              <a:buFont typeface="Kalimati" panose="00000400000000000000" pitchFamily="2"/>
              <a:buChar char="-"/>
            </a:pPr>
            <a:r>
              <a:rPr lang="en-GB" sz="3200" dirty="0" smtClean="0">
                <a:solidFill>
                  <a:schemeClr val="bg1"/>
                </a:solidFill>
                <a:latin typeface="Times New Roman" panose="02020603050405020304" pitchFamily="18" charset="0"/>
                <a:cs typeface="Times New Roman" panose="02020603050405020304" pitchFamily="18" charset="0"/>
              </a:rPr>
              <a:t>To </a:t>
            </a:r>
            <a:r>
              <a:rPr lang="en-GB" sz="3200" dirty="0">
                <a:solidFill>
                  <a:schemeClr val="bg1"/>
                </a:solidFill>
                <a:latin typeface="Times New Roman" panose="02020603050405020304" pitchFamily="18" charset="0"/>
                <a:cs typeface="Times New Roman" panose="02020603050405020304" pitchFamily="18" charset="0"/>
              </a:rPr>
              <a:t>hear courteously; </a:t>
            </a:r>
            <a:endParaRPr lang="en-GB" sz="3200" dirty="0" smtClean="0">
              <a:solidFill>
                <a:schemeClr val="bg1"/>
              </a:solidFill>
              <a:latin typeface="Times New Roman" panose="02020603050405020304" pitchFamily="18" charset="0"/>
              <a:cs typeface="Times New Roman" panose="02020603050405020304" pitchFamily="18" charset="0"/>
            </a:endParaRPr>
          </a:p>
          <a:p>
            <a:pPr lvl="1" algn="just">
              <a:buFont typeface="Kalimati" panose="00000400000000000000" pitchFamily="2"/>
              <a:buChar char="-"/>
            </a:pPr>
            <a:r>
              <a:rPr lang="en-GB" sz="3200" dirty="0" smtClean="0">
                <a:solidFill>
                  <a:schemeClr val="bg1"/>
                </a:solidFill>
                <a:latin typeface="Times New Roman" panose="02020603050405020304" pitchFamily="18" charset="0"/>
                <a:cs typeface="Times New Roman" panose="02020603050405020304" pitchFamily="18" charset="0"/>
              </a:rPr>
              <a:t>to </a:t>
            </a:r>
            <a:r>
              <a:rPr lang="en-GB" sz="3200" dirty="0">
                <a:solidFill>
                  <a:schemeClr val="bg1"/>
                </a:solidFill>
                <a:latin typeface="Times New Roman" panose="02020603050405020304" pitchFamily="18" charset="0"/>
                <a:cs typeface="Times New Roman" panose="02020603050405020304" pitchFamily="18" charset="0"/>
              </a:rPr>
              <a:t>answer wisely; </a:t>
            </a:r>
            <a:endParaRPr lang="en-GB" sz="3200" dirty="0" smtClean="0">
              <a:solidFill>
                <a:schemeClr val="bg1"/>
              </a:solidFill>
              <a:latin typeface="Times New Roman" panose="02020603050405020304" pitchFamily="18" charset="0"/>
              <a:cs typeface="Times New Roman" panose="02020603050405020304" pitchFamily="18" charset="0"/>
            </a:endParaRPr>
          </a:p>
          <a:p>
            <a:pPr lvl="1" algn="just">
              <a:buFont typeface="Kalimati" panose="00000400000000000000" pitchFamily="2"/>
              <a:buChar char="-"/>
            </a:pPr>
            <a:r>
              <a:rPr lang="en-GB" sz="3200" dirty="0" smtClean="0">
                <a:solidFill>
                  <a:schemeClr val="bg1"/>
                </a:solidFill>
                <a:latin typeface="Times New Roman" panose="02020603050405020304" pitchFamily="18" charset="0"/>
                <a:cs typeface="Times New Roman" panose="02020603050405020304" pitchFamily="18" charset="0"/>
              </a:rPr>
              <a:t>to </a:t>
            </a:r>
            <a:r>
              <a:rPr lang="en-GB" sz="3200" dirty="0">
                <a:solidFill>
                  <a:schemeClr val="bg1"/>
                </a:solidFill>
                <a:latin typeface="Times New Roman" panose="02020603050405020304" pitchFamily="18" charset="0"/>
                <a:cs typeface="Times New Roman" panose="02020603050405020304" pitchFamily="18" charset="0"/>
              </a:rPr>
              <a:t>consider soberly; and </a:t>
            </a:r>
            <a:endParaRPr lang="en-GB" sz="3200" dirty="0" smtClean="0">
              <a:solidFill>
                <a:schemeClr val="bg1"/>
              </a:solidFill>
              <a:latin typeface="Times New Roman" panose="02020603050405020304" pitchFamily="18" charset="0"/>
              <a:cs typeface="Times New Roman" panose="02020603050405020304" pitchFamily="18" charset="0"/>
            </a:endParaRPr>
          </a:p>
          <a:p>
            <a:pPr lvl="1" algn="just">
              <a:buFont typeface="Kalimati" panose="00000400000000000000" pitchFamily="2"/>
              <a:buChar char="-"/>
            </a:pPr>
            <a:r>
              <a:rPr lang="en-GB" sz="3200" dirty="0" smtClean="0">
                <a:solidFill>
                  <a:schemeClr val="bg1"/>
                </a:solidFill>
                <a:latin typeface="Times New Roman" panose="02020603050405020304" pitchFamily="18" charset="0"/>
                <a:cs typeface="Times New Roman" panose="02020603050405020304" pitchFamily="18" charset="0"/>
              </a:rPr>
              <a:t>to </a:t>
            </a:r>
            <a:r>
              <a:rPr lang="en-GB" sz="3200" dirty="0">
                <a:solidFill>
                  <a:schemeClr val="bg1"/>
                </a:solidFill>
                <a:latin typeface="Times New Roman" panose="02020603050405020304" pitchFamily="18" charset="0"/>
                <a:cs typeface="Times New Roman" panose="02020603050405020304" pitchFamily="18" charset="0"/>
              </a:rPr>
              <a:t>decide </a:t>
            </a:r>
            <a:r>
              <a:rPr lang="en-GB" sz="3200" dirty="0" smtClean="0">
                <a:solidFill>
                  <a:schemeClr val="bg1"/>
                </a:solidFill>
                <a:latin typeface="Times New Roman" panose="02020603050405020304" pitchFamily="18" charset="0"/>
                <a:cs typeface="Times New Roman" panose="02020603050405020304" pitchFamily="18" charset="0"/>
              </a:rPr>
              <a:t>impartially.</a:t>
            </a:r>
          </a:p>
          <a:p>
            <a:pPr marL="228600" lvl="1" algn="just"/>
            <a:r>
              <a:rPr lang="en-GB" sz="3200" dirty="0" smtClean="0">
                <a:solidFill>
                  <a:schemeClr val="bg1"/>
                </a:solidFill>
                <a:latin typeface="Times New Roman" panose="02020603050405020304" pitchFamily="18" charset="0"/>
                <a:cs typeface="Times New Roman" panose="02020603050405020304" pitchFamily="18" charset="0"/>
              </a:rPr>
              <a:t>These </a:t>
            </a:r>
            <a:r>
              <a:rPr lang="en-GB" sz="3200" dirty="0">
                <a:solidFill>
                  <a:schemeClr val="bg1"/>
                </a:solidFill>
                <a:latin typeface="Times New Roman" panose="02020603050405020304" pitchFamily="18" charset="0"/>
                <a:cs typeface="Times New Roman" panose="02020603050405020304" pitchFamily="18" charset="0"/>
              </a:rPr>
              <a:t>words remain as true today as they were when Socrates first spoke them more than 2,400 years ago.</a:t>
            </a:r>
            <a:endParaRPr lang="en-US" sz="3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3326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50000"/>
            </a:schemeClr>
          </a:solidFill>
        </p:spPr>
        <p:txBody>
          <a:bodyPr/>
          <a:lstStyle/>
          <a:p>
            <a:pPr algn="ctr"/>
            <a:r>
              <a:rPr lang="en-US" dirty="0" smtClean="0">
                <a:solidFill>
                  <a:schemeClr val="bg1"/>
                </a:solidFill>
                <a:latin typeface="Times New Roman" panose="02020603050405020304" pitchFamily="18" charset="0"/>
                <a:cs typeface="Times New Roman" panose="02020603050405020304" pitchFamily="18" charset="0"/>
              </a:rPr>
              <a:t>Proper Judicial Temperament</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736540"/>
          </a:xfrm>
          <a:solidFill>
            <a:srgbClr val="7030A0"/>
          </a:solidFill>
        </p:spPr>
        <p:txBody>
          <a:bodyPr>
            <a:normAutofit/>
          </a:bodyPr>
          <a:lstStyle/>
          <a:p>
            <a:pPr marL="0" indent="0">
              <a:buNone/>
            </a:pPr>
            <a:endParaRPr lang="en-US" dirty="0" smtClean="0">
              <a:latin typeface="Times New Roman" panose="02020603050405020304" pitchFamily="18" charset="0"/>
              <a:cs typeface="Times New Roman" panose="02020603050405020304" pitchFamily="18" charset="0"/>
            </a:endParaRPr>
          </a:p>
          <a:p>
            <a:pPr lvl="1">
              <a:buFont typeface="Kalimati" panose="00000400000000000000" pitchFamily="2"/>
              <a:buChar char="-"/>
            </a:pPr>
            <a:r>
              <a:rPr lang="en-GB" sz="3600" b="1" dirty="0" smtClean="0">
                <a:solidFill>
                  <a:schemeClr val="bg1"/>
                </a:solidFill>
                <a:latin typeface="Times New Roman" panose="02020603050405020304" pitchFamily="18" charset="0"/>
                <a:cs typeface="Times New Roman" panose="02020603050405020304" pitchFamily="18" charset="0"/>
              </a:rPr>
              <a:t>Patience 	</a:t>
            </a:r>
            <a:r>
              <a:rPr lang="ne-NP" sz="3600" b="1" dirty="0" smtClean="0">
                <a:solidFill>
                  <a:schemeClr val="bg1"/>
                </a:solidFill>
                <a:latin typeface="Times New Roman" panose="02020603050405020304" pitchFamily="18" charset="0"/>
                <a:cs typeface="Kalimati" panose="00000400000000000000" pitchFamily="2"/>
              </a:rPr>
              <a:t>		(धैर्यता)</a:t>
            </a:r>
            <a:endParaRPr lang="en-GB" sz="3600" b="1" dirty="0" smtClean="0">
              <a:solidFill>
                <a:schemeClr val="bg1"/>
              </a:solidFill>
              <a:latin typeface="Times New Roman" panose="02020603050405020304" pitchFamily="18" charset="0"/>
              <a:cs typeface="Times New Roman" panose="02020603050405020304" pitchFamily="18" charset="0"/>
            </a:endParaRPr>
          </a:p>
          <a:p>
            <a:pPr lvl="1">
              <a:buFont typeface="Kalimati" panose="00000400000000000000" pitchFamily="2"/>
              <a:buChar char="-"/>
            </a:pPr>
            <a:r>
              <a:rPr lang="en-GB" sz="3600" b="1" dirty="0" smtClean="0">
                <a:solidFill>
                  <a:schemeClr val="bg1"/>
                </a:solidFill>
                <a:latin typeface="Times New Roman" panose="02020603050405020304" pitchFamily="18" charset="0"/>
                <a:cs typeface="Times New Roman" panose="02020603050405020304" pitchFamily="18" charset="0"/>
              </a:rPr>
              <a:t>Courtesy</a:t>
            </a:r>
            <a:r>
              <a:rPr lang="ne-NP" sz="3600" b="1" dirty="0" smtClean="0">
                <a:solidFill>
                  <a:schemeClr val="bg1"/>
                </a:solidFill>
                <a:latin typeface="Times New Roman" panose="02020603050405020304" pitchFamily="18" charset="0"/>
                <a:cs typeface="Kalimati" panose="00000400000000000000" pitchFamily="2"/>
              </a:rPr>
              <a:t> 		</a:t>
            </a:r>
            <a:r>
              <a:rPr lang="en-US" sz="3600" b="1" dirty="0" smtClean="0">
                <a:solidFill>
                  <a:schemeClr val="bg1"/>
                </a:solidFill>
                <a:latin typeface="Times New Roman" panose="02020603050405020304" pitchFamily="18" charset="0"/>
                <a:cs typeface="Kalimati" panose="00000400000000000000" pitchFamily="2"/>
              </a:rPr>
              <a:t>	</a:t>
            </a:r>
            <a:r>
              <a:rPr lang="ne-NP" sz="3600" b="1" dirty="0" smtClean="0">
                <a:solidFill>
                  <a:schemeClr val="bg1"/>
                </a:solidFill>
                <a:latin typeface="Times New Roman" panose="02020603050405020304" pitchFamily="18" charset="0"/>
                <a:cs typeface="Kalimati" panose="00000400000000000000" pitchFamily="2"/>
              </a:rPr>
              <a:t>(सौहार्द्र)</a:t>
            </a:r>
            <a:endParaRPr lang="en-GB" sz="3600" b="1" dirty="0" smtClean="0">
              <a:solidFill>
                <a:schemeClr val="bg1"/>
              </a:solidFill>
              <a:latin typeface="Times New Roman" panose="02020603050405020304" pitchFamily="18" charset="0"/>
              <a:cs typeface="Times New Roman" panose="02020603050405020304" pitchFamily="18" charset="0"/>
            </a:endParaRPr>
          </a:p>
          <a:p>
            <a:pPr lvl="1">
              <a:buFont typeface="Kalimati" panose="00000400000000000000" pitchFamily="2"/>
              <a:buChar char="-"/>
            </a:pPr>
            <a:r>
              <a:rPr lang="en-GB" sz="3600" b="1" dirty="0" smtClean="0">
                <a:solidFill>
                  <a:schemeClr val="bg1"/>
                </a:solidFill>
                <a:latin typeface="Times New Roman" panose="02020603050405020304" pitchFamily="18" charset="0"/>
                <a:cs typeface="Times New Roman" panose="02020603050405020304" pitchFamily="18" charset="0"/>
              </a:rPr>
              <a:t>Firmness</a:t>
            </a:r>
            <a:r>
              <a:rPr lang="ne-NP" sz="3600" b="1" dirty="0" smtClean="0">
                <a:solidFill>
                  <a:schemeClr val="bg1"/>
                </a:solidFill>
                <a:latin typeface="Times New Roman" panose="02020603050405020304" pitchFamily="18" charset="0"/>
                <a:cs typeface="Kalimati" panose="00000400000000000000" pitchFamily="2"/>
              </a:rPr>
              <a:t> 		</a:t>
            </a:r>
            <a:r>
              <a:rPr lang="en-US" sz="3600" b="1" dirty="0" smtClean="0">
                <a:solidFill>
                  <a:schemeClr val="bg1"/>
                </a:solidFill>
                <a:latin typeface="Times New Roman" panose="02020603050405020304" pitchFamily="18" charset="0"/>
                <a:cs typeface="Kalimati" panose="00000400000000000000" pitchFamily="2"/>
              </a:rPr>
              <a:t>	</a:t>
            </a:r>
            <a:r>
              <a:rPr lang="ne-NP" sz="3600" b="1" dirty="0" smtClean="0">
                <a:solidFill>
                  <a:schemeClr val="bg1"/>
                </a:solidFill>
                <a:latin typeface="Times New Roman" panose="02020603050405020304" pitchFamily="18" charset="0"/>
                <a:cs typeface="Kalimati" panose="00000400000000000000" pitchFamily="2"/>
              </a:rPr>
              <a:t>(भद्रता)</a:t>
            </a:r>
            <a:endParaRPr lang="en-GB" sz="3600" b="1" dirty="0" smtClean="0">
              <a:solidFill>
                <a:schemeClr val="bg1"/>
              </a:solidFill>
              <a:latin typeface="Times New Roman" panose="02020603050405020304" pitchFamily="18" charset="0"/>
              <a:cs typeface="Times New Roman" panose="02020603050405020304" pitchFamily="18" charset="0"/>
            </a:endParaRPr>
          </a:p>
          <a:p>
            <a:pPr lvl="1">
              <a:buFont typeface="Kalimati" panose="00000400000000000000" pitchFamily="2"/>
              <a:buChar char="-"/>
            </a:pPr>
            <a:r>
              <a:rPr lang="en-GB" sz="3600" b="1" dirty="0" smtClean="0">
                <a:solidFill>
                  <a:schemeClr val="bg1"/>
                </a:solidFill>
                <a:latin typeface="Times New Roman" panose="02020603050405020304" pitchFamily="18" charset="0"/>
                <a:cs typeface="Times New Roman" panose="02020603050405020304" pitchFamily="18" charset="0"/>
              </a:rPr>
              <a:t>Understanding</a:t>
            </a:r>
            <a:r>
              <a:rPr lang="ne-NP" sz="3600" b="1" dirty="0" smtClean="0">
                <a:solidFill>
                  <a:schemeClr val="bg1"/>
                </a:solidFill>
                <a:latin typeface="Times New Roman" panose="02020603050405020304" pitchFamily="18" charset="0"/>
                <a:cs typeface="Kalimati" panose="00000400000000000000" pitchFamily="2"/>
              </a:rPr>
              <a:t> 	(समझदारी)</a:t>
            </a:r>
            <a:endParaRPr lang="en-GB" sz="3600" b="1" dirty="0" smtClean="0">
              <a:solidFill>
                <a:schemeClr val="bg1"/>
              </a:solidFill>
              <a:latin typeface="Times New Roman" panose="02020603050405020304" pitchFamily="18" charset="0"/>
              <a:cs typeface="Times New Roman" panose="02020603050405020304" pitchFamily="18" charset="0"/>
            </a:endParaRPr>
          </a:p>
          <a:p>
            <a:pPr lvl="1">
              <a:buFont typeface="Kalimati" panose="00000400000000000000" pitchFamily="2"/>
              <a:buChar char="-"/>
            </a:pPr>
            <a:r>
              <a:rPr lang="en-GB" sz="3600" b="1" dirty="0" smtClean="0">
                <a:solidFill>
                  <a:schemeClr val="bg1"/>
                </a:solidFill>
                <a:latin typeface="Times New Roman" panose="02020603050405020304" pitchFamily="18" charset="0"/>
                <a:cs typeface="Times New Roman" panose="02020603050405020304" pitchFamily="18" charset="0"/>
              </a:rPr>
              <a:t>Compassion</a:t>
            </a:r>
            <a:r>
              <a:rPr lang="ne-NP" sz="3600" b="1" dirty="0" smtClean="0">
                <a:solidFill>
                  <a:schemeClr val="bg1"/>
                </a:solidFill>
                <a:latin typeface="Times New Roman" panose="02020603050405020304" pitchFamily="18" charset="0"/>
                <a:cs typeface="Kalimati" panose="00000400000000000000" pitchFamily="2"/>
              </a:rPr>
              <a:t> 		(सहानुभुति)</a:t>
            </a:r>
          </a:p>
          <a:p>
            <a:pPr lvl="1">
              <a:buFont typeface="Kalimati" panose="00000400000000000000" pitchFamily="2"/>
              <a:buChar char="-"/>
            </a:pPr>
            <a:r>
              <a:rPr lang="en-US" sz="3600" b="1" dirty="0" smtClean="0">
                <a:solidFill>
                  <a:schemeClr val="bg1"/>
                </a:solidFill>
                <a:latin typeface="Times New Roman" panose="02020603050405020304" pitchFamily="18" charset="0"/>
                <a:cs typeface="Times New Roman" panose="02020603050405020304" pitchFamily="18" charset="0"/>
              </a:rPr>
              <a:t>H</a:t>
            </a:r>
            <a:r>
              <a:rPr lang="en-GB" sz="3600" b="1" dirty="0" err="1" smtClean="0">
                <a:solidFill>
                  <a:schemeClr val="bg1"/>
                </a:solidFill>
                <a:latin typeface="Times New Roman" panose="02020603050405020304" pitchFamily="18" charset="0"/>
                <a:cs typeface="Times New Roman" panose="02020603050405020304" pitchFamily="18" charset="0"/>
              </a:rPr>
              <a:t>umility</a:t>
            </a:r>
            <a:r>
              <a:rPr lang="en-GB" sz="3600" dirty="0">
                <a:solidFill>
                  <a:schemeClr val="bg1"/>
                </a:solidFill>
                <a:latin typeface="Times New Roman" panose="02020603050405020304" pitchFamily="18" charset="0"/>
                <a:cs typeface="Times New Roman" panose="02020603050405020304" pitchFamily="18" charset="0"/>
              </a:rPr>
              <a:t> </a:t>
            </a:r>
            <a:r>
              <a:rPr lang="ne-NP" sz="3600" dirty="0" smtClean="0">
                <a:solidFill>
                  <a:schemeClr val="bg1"/>
                </a:solidFill>
                <a:latin typeface="Times New Roman" panose="02020603050405020304" pitchFamily="18" charset="0"/>
                <a:cs typeface="Kalimati" panose="00000400000000000000" pitchFamily="2"/>
              </a:rPr>
              <a:t>		</a:t>
            </a:r>
            <a:r>
              <a:rPr lang="en-US" sz="3600" dirty="0" smtClean="0">
                <a:solidFill>
                  <a:schemeClr val="bg1"/>
                </a:solidFill>
                <a:latin typeface="Times New Roman" panose="02020603050405020304" pitchFamily="18" charset="0"/>
                <a:cs typeface="Kalimati" panose="00000400000000000000" pitchFamily="2"/>
              </a:rPr>
              <a:t>	</a:t>
            </a:r>
            <a:r>
              <a:rPr lang="ne-NP" sz="3600" b="1" dirty="0" smtClean="0">
                <a:solidFill>
                  <a:schemeClr val="bg1"/>
                </a:solidFill>
                <a:latin typeface="Times New Roman" panose="02020603050405020304" pitchFamily="18" charset="0"/>
                <a:cs typeface="Kalimati" panose="00000400000000000000" pitchFamily="2"/>
              </a:rPr>
              <a:t>(नम्रता) </a:t>
            </a:r>
          </a:p>
          <a:p>
            <a:pPr marL="457200" lvl="1" indent="0">
              <a:buNone/>
            </a:pPr>
            <a:endParaRPr lang="en-US" dirty="0"/>
          </a:p>
        </p:txBody>
      </p:sp>
    </p:spTree>
    <p:extLst>
      <p:ext uri="{BB962C8B-B14F-4D97-AF65-F5344CB8AC3E}">
        <p14:creationId xmlns:p14="http://schemas.microsoft.com/office/powerpoint/2010/main" val="3146475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4769"/>
          </a:xfrm>
          <a:solidFill>
            <a:schemeClr val="accent4">
              <a:lumMod val="50000"/>
            </a:schemeClr>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Judicial </a:t>
            </a:r>
            <a:r>
              <a:rPr lang="en-US" dirty="0" smtClean="0">
                <a:solidFill>
                  <a:schemeClr val="bg1"/>
                </a:solidFill>
                <a:latin typeface="Times New Roman" panose="02020603050405020304" pitchFamily="18" charset="0"/>
                <a:cs typeface="Times New Roman" panose="02020603050405020304" pitchFamily="18" charset="0"/>
              </a:rPr>
              <a:t>aloofness </a:t>
            </a:r>
            <a:r>
              <a:rPr lang="en-US" dirty="0">
                <a:solidFill>
                  <a:schemeClr val="bg1"/>
                </a:solidFill>
                <a:latin typeface="Times New Roman" panose="02020603050405020304" pitchFamily="18" charset="0"/>
                <a:cs typeface="Times New Roman" panose="02020603050405020304" pitchFamily="18" charset="0"/>
              </a:rPr>
              <a:t>and detachment </a:t>
            </a:r>
          </a:p>
        </p:txBody>
      </p:sp>
      <p:sp>
        <p:nvSpPr>
          <p:cNvPr id="3" name="Content Placeholder 2"/>
          <p:cNvSpPr>
            <a:spLocks noGrp="1"/>
          </p:cNvSpPr>
          <p:nvPr>
            <p:ph idx="1"/>
          </p:nvPr>
        </p:nvSpPr>
        <p:spPr>
          <a:xfrm>
            <a:off x="349625" y="1385047"/>
            <a:ext cx="11631704" cy="5230906"/>
          </a:xfrm>
          <a:solidFill>
            <a:srgbClr val="7030A0"/>
          </a:solidFill>
        </p:spPr>
        <p:txBody>
          <a:bodyPr>
            <a:noAutofit/>
          </a:bodyPr>
          <a:lstStyle/>
          <a:p>
            <a:pPr algn="just"/>
            <a:r>
              <a:rPr lang="en-GB" sz="2400" dirty="0">
                <a:solidFill>
                  <a:schemeClr val="bg1"/>
                </a:solidFill>
                <a:latin typeface="Times New Roman" panose="02020603050405020304" pitchFamily="18" charset="0"/>
                <a:cs typeface="Times New Roman" panose="02020603050405020304" pitchFamily="18" charset="0"/>
              </a:rPr>
              <a:t>Judicial aloofness is not living in ivory towers.  It does not mean that you should not be alive to the problems of the society or that you need not understand the day-to-day realities of life.  Judges should be able to understand the needs of the society and 'connect' to the problems and difficulties of the weaker sections and provide access to justice to the poor and </a:t>
            </a:r>
            <a:r>
              <a:rPr lang="en-GB" sz="2400" dirty="0" smtClean="0">
                <a:solidFill>
                  <a:schemeClr val="bg1"/>
                </a:solidFill>
                <a:latin typeface="Times New Roman" panose="02020603050405020304" pitchFamily="18" charset="0"/>
                <a:cs typeface="Times New Roman" panose="02020603050405020304" pitchFamily="18" charset="0"/>
              </a:rPr>
              <a:t>downtrodden.</a:t>
            </a:r>
          </a:p>
          <a:p>
            <a:pPr algn="just"/>
            <a:r>
              <a:rPr lang="en-GB" sz="2400" dirty="0">
                <a:solidFill>
                  <a:schemeClr val="bg1"/>
                </a:solidFill>
                <a:latin typeface="Times New Roman" panose="02020603050405020304" pitchFamily="18" charset="0"/>
                <a:cs typeface="Times New Roman" panose="02020603050405020304" pitchFamily="18" charset="0"/>
              </a:rPr>
              <a:t>At the physical level, judicial aloofness refers to the need for Judges to maintain 'distance.'  You should avoid mixing with members of the Bar, politicians or litigant public, except at public functions or at open private events like marriages and deaths.  Your smile at a lawyer or a litigant inside a court, your chat with a lawyer or litigant outside your court, share a joke with a politician at a public function, tend to be misunderstood and misinterpreted by the public and the bar.  If you meet or mix with them in private, either in your house or their house or places like hotels, restaurants, clubs, you are inviting trouble.  Tongues will wag.  We live in a world full of suspicion.  More so in the case of Judges.  Therefore, you should avoid mingling with lawyers and the litigants</a:t>
            </a:r>
            <a:r>
              <a:rPr lang="en-GB" sz="2400" dirty="0" smtClean="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25934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50000"/>
            </a:schemeClr>
          </a:solidFill>
        </p:spPr>
        <p:txBody>
          <a:bodyPr/>
          <a:lstStyle/>
          <a:p>
            <a:pPr algn="ctr"/>
            <a:r>
              <a:rPr lang="en-US" dirty="0">
                <a:solidFill>
                  <a:schemeClr val="bg1"/>
                </a:solidFill>
                <a:latin typeface="Times New Roman" panose="02020603050405020304" pitchFamily="18" charset="0"/>
                <a:cs typeface="Times New Roman" panose="02020603050405020304" pitchFamily="18" charset="0"/>
              </a:rPr>
              <a:t>Judicial aloofness and detachment </a:t>
            </a:r>
            <a:endParaRPr lang="en-US" dirty="0">
              <a:solidFill>
                <a:schemeClr val="bg1"/>
              </a:solidFill>
            </a:endParaRPr>
          </a:p>
        </p:txBody>
      </p:sp>
      <p:sp>
        <p:nvSpPr>
          <p:cNvPr id="3" name="Content Placeholder 2"/>
          <p:cNvSpPr>
            <a:spLocks noGrp="1"/>
          </p:cNvSpPr>
          <p:nvPr>
            <p:ph idx="1"/>
          </p:nvPr>
        </p:nvSpPr>
        <p:spPr>
          <a:xfrm>
            <a:off x="838200" y="1825625"/>
            <a:ext cx="10515600" cy="4615516"/>
          </a:xfrm>
          <a:solidFill>
            <a:srgbClr val="7030A0"/>
          </a:solidFill>
        </p:spPr>
        <p:txBody>
          <a:bodyPr>
            <a:normAutofit lnSpcReduction="10000"/>
          </a:bodyPr>
          <a:lstStyle/>
          <a:p>
            <a:pPr algn="just"/>
            <a:r>
              <a:rPr lang="en-GB" sz="3200" dirty="0">
                <a:solidFill>
                  <a:schemeClr val="bg1"/>
                </a:solidFill>
                <a:latin typeface="Times New Roman" panose="02020603050405020304" pitchFamily="18" charset="0"/>
                <a:cs typeface="Times New Roman" panose="02020603050405020304" pitchFamily="18" charset="0"/>
              </a:rPr>
              <a:t>Please remember nothing in this world comes free or without strings attached. Every one expects the return of a favour</a:t>
            </a:r>
            <a:r>
              <a:rPr lang="en-GB" sz="3200" dirty="0" smtClean="0">
                <a:solidFill>
                  <a:schemeClr val="bg1"/>
                </a:solidFill>
                <a:latin typeface="Times New Roman" panose="02020603050405020304" pitchFamily="18" charset="0"/>
                <a:cs typeface="Times New Roman" panose="02020603050405020304" pitchFamily="18" charset="0"/>
              </a:rPr>
              <a:t>.</a:t>
            </a:r>
          </a:p>
          <a:p>
            <a:pPr algn="just"/>
            <a:endParaRPr lang="en-GB" sz="3200" dirty="0">
              <a:solidFill>
                <a:schemeClr val="bg1"/>
              </a:solidFill>
              <a:latin typeface="Times New Roman" panose="02020603050405020304" pitchFamily="18" charset="0"/>
              <a:cs typeface="Times New Roman" panose="02020603050405020304" pitchFamily="18" charset="0"/>
            </a:endParaRPr>
          </a:p>
          <a:p>
            <a:pPr algn="just"/>
            <a:r>
              <a:rPr lang="en-GB" sz="3200" dirty="0">
                <a:solidFill>
                  <a:schemeClr val="bg1"/>
                </a:solidFill>
                <a:latin typeface="Times New Roman" panose="02020603050405020304" pitchFamily="18" charset="0"/>
                <a:cs typeface="Times New Roman" panose="02020603050405020304" pitchFamily="18" charset="0"/>
              </a:rPr>
              <a:t>You should not only be honest, but seen to be honest. </a:t>
            </a:r>
            <a:r>
              <a:rPr lang="en-GB" sz="3200" dirty="0">
                <a:solidFill>
                  <a:schemeClr val="bg1"/>
                </a:solidFill>
              </a:rPr>
              <a:t>You have to be careful how you deal with others in your private life.  You cannot assume: “My conscience is clear.  I am not corrupt.  I can therefore mix with any politician.  I will go for lunch with a lawyer.”  You may be honest.  But, unfortunately, the litigants and the public do not assume that you are honest.</a:t>
            </a:r>
            <a:endParaRPr lang="en-US" sz="3200" dirty="0">
              <a:solidFill>
                <a:schemeClr val="bg1"/>
              </a:solidFill>
            </a:endParaRPr>
          </a:p>
          <a:p>
            <a:endParaRPr lang="en-US" dirty="0"/>
          </a:p>
        </p:txBody>
      </p:sp>
    </p:spTree>
    <p:extLst>
      <p:ext uri="{BB962C8B-B14F-4D97-AF65-F5344CB8AC3E}">
        <p14:creationId xmlns:p14="http://schemas.microsoft.com/office/powerpoint/2010/main" val="22730435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50000"/>
            </a:schemeClr>
          </a:solidFill>
        </p:spPr>
        <p:txBody>
          <a:bodyPr/>
          <a:lstStyle/>
          <a:p>
            <a:pPr algn="ctr"/>
            <a:r>
              <a:rPr lang="ne-NP" dirty="0" smtClean="0">
                <a:solidFill>
                  <a:schemeClr val="bg1"/>
                </a:solidFill>
                <a:cs typeface="Kalimati" panose="00000400000000000000" pitchFamily="2"/>
              </a:rPr>
              <a:t>अन्त्यमा</a:t>
            </a:r>
            <a:endParaRPr lang="en-US" dirty="0">
              <a:solidFill>
                <a:schemeClr val="bg1"/>
              </a:solidFill>
              <a:cs typeface="Kalimati" panose="00000400000000000000" pitchFamily="2"/>
            </a:endParaRPr>
          </a:p>
        </p:txBody>
      </p:sp>
      <p:sp>
        <p:nvSpPr>
          <p:cNvPr id="3" name="Content Placeholder 2"/>
          <p:cNvSpPr>
            <a:spLocks noGrp="1"/>
          </p:cNvSpPr>
          <p:nvPr>
            <p:ph idx="1"/>
          </p:nvPr>
        </p:nvSpPr>
        <p:spPr>
          <a:xfrm>
            <a:off x="838200" y="1825625"/>
            <a:ext cx="10515600" cy="4763434"/>
          </a:xfrm>
          <a:solidFill>
            <a:srgbClr val="7030A0"/>
          </a:solidFill>
        </p:spPr>
        <p:txBody>
          <a:bodyPr>
            <a:normAutofit lnSpcReduction="10000"/>
          </a:bodyPr>
          <a:lstStyle/>
          <a:p>
            <a:pPr algn="just"/>
            <a:r>
              <a:rPr lang="en-GB" sz="3600" dirty="0">
                <a:solidFill>
                  <a:schemeClr val="bg1"/>
                </a:solidFill>
                <a:latin typeface="Times New Roman" panose="02020603050405020304" pitchFamily="18" charset="0"/>
                <a:cs typeface="Times New Roman" panose="02020603050405020304" pitchFamily="18" charset="0"/>
              </a:rPr>
              <a:t>John Marshall said: “The power of Judiciary lies, not in deciding cases, not in imposing sentences, not in punishing for contempt, but in the trust, faith and confidence of the common man.” If Judiciary loses the trust, faith and confidence of the common man, that will be the end of rule of law and democracy.</a:t>
            </a:r>
            <a:endParaRPr lang="en-US" sz="3600" dirty="0" smtClean="0">
              <a:solidFill>
                <a:schemeClr val="bg1"/>
              </a:solidFill>
              <a:latin typeface="Times New Roman" panose="02020603050405020304" pitchFamily="18" charset="0"/>
              <a:cs typeface="Times New Roman" panose="02020603050405020304" pitchFamily="18" charset="0"/>
            </a:endParaRPr>
          </a:p>
          <a:p>
            <a:pPr algn="just"/>
            <a:r>
              <a:rPr lang="en-US" sz="3600" dirty="0" smtClean="0">
                <a:solidFill>
                  <a:schemeClr val="bg1"/>
                </a:solidFill>
                <a:latin typeface="Times New Roman" panose="02020603050405020304" pitchFamily="18" charset="0"/>
                <a:cs typeface="Times New Roman" panose="02020603050405020304" pitchFamily="18" charset="0"/>
              </a:rPr>
              <a:t>Lord Denning aptly said, “</a:t>
            </a:r>
            <a:r>
              <a:rPr lang="en-GB" sz="3600" dirty="0" smtClean="0">
                <a:solidFill>
                  <a:schemeClr val="bg1"/>
                </a:solidFill>
                <a:latin typeface="Times New Roman" panose="02020603050405020304" pitchFamily="18" charset="0"/>
                <a:cs typeface="Times New Roman" panose="02020603050405020304" pitchFamily="18" charset="0"/>
              </a:rPr>
              <a:t>More </a:t>
            </a:r>
            <a:r>
              <a:rPr lang="en-GB" sz="3600" dirty="0">
                <a:solidFill>
                  <a:schemeClr val="bg1"/>
                </a:solidFill>
                <a:latin typeface="Times New Roman" panose="02020603050405020304" pitchFamily="18" charset="0"/>
                <a:cs typeface="Times New Roman" panose="02020603050405020304" pitchFamily="18" charset="0"/>
              </a:rPr>
              <a:t>than any one else, a judge is a responsible person. His first accountability is, of course, to his own conscience</a:t>
            </a:r>
            <a:r>
              <a:rPr lang="en-GB" sz="3600" dirty="0" smtClean="0">
                <a:solidFill>
                  <a:schemeClr val="bg1"/>
                </a:solidFill>
                <a:latin typeface="Times New Roman" panose="02020603050405020304" pitchFamily="18" charset="0"/>
                <a:cs typeface="Times New Roman" panose="02020603050405020304" pitchFamily="18" charset="0"/>
              </a:rPr>
              <a:t>.”</a:t>
            </a:r>
          </a:p>
          <a:p>
            <a:pPr algn="just"/>
            <a:r>
              <a:rPr lang="en-GB" sz="3600" dirty="0" smtClean="0">
                <a:solidFill>
                  <a:schemeClr val="bg1"/>
                </a:solidFill>
                <a:latin typeface="Times New Roman" panose="02020603050405020304" pitchFamily="18" charset="0"/>
                <a:cs typeface="Times New Roman" panose="02020603050405020304" pitchFamily="18" charset="0"/>
              </a:rPr>
              <a:t>The real judge of the judge is he himself.</a:t>
            </a:r>
            <a:endParaRPr lang="en-GB" sz="3600" dirty="0">
              <a:solidFill>
                <a:schemeClr val="bg1"/>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43289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08781"/>
          </a:xfrm>
          <a:blipFill>
            <a:blip r:embed="rId2"/>
            <a:tile tx="0" ty="0" sx="100000" sy="100000" flip="none" algn="tl"/>
          </a:blipFill>
        </p:spPr>
        <p:txBody>
          <a:bodyPr>
            <a:normAutofit/>
          </a:bodyPr>
          <a:lstStyle/>
          <a:p>
            <a:pPr algn="ctr"/>
            <a:r>
              <a:rPr lang="en-US" sz="6000" dirty="0" smtClean="0">
                <a:solidFill>
                  <a:schemeClr val="bg1"/>
                </a:solidFill>
                <a:latin typeface="Times New Roman" panose="02020603050405020304" pitchFamily="18" charset="0"/>
                <a:cs typeface="Times New Roman" panose="02020603050405020304" pitchFamily="18" charset="0"/>
              </a:rPr>
              <a:t>Thank you</a:t>
            </a:r>
            <a:endParaRPr lang="en-US" sz="6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4671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2352</TotalTime>
  <Words>2671</Words>
  <Application>Microsoft Office PowerPoint</Application>
  <PresentationFormat>Widescreen</PresentationFormat>
  <Paragraphs>175</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Calibri</vt:lpstr>
      <vt:lpstr>Calibri Light</vt:lpstr>
      <vt:lpstr>Kalimati</vt:lpstr>
      <vt:lpstr>Mangal</vt:lpstr>
      <vt:lpstr>Preeti</vt:lpstr>
      <vt:lpstr>Times New Roman</vt:lpstr>
      <vt:lpstr>Office Theme</vt:lpstr>
      <vt:lpstr> Ideal Qualities of Judges   Til Prasad Shrestha  </vt:lpstr>
      <vt:lpstr>Presentation Outlines</vt:lpstr>
      <vt:lpstr>References </vt:lpstr>
      <vt:lpstr>The Judgeship</vt:lpstr>
      <vt:lpstr>The Judgeship</vt:lpstr>
      <vt:lpstr>The Judgeship</vt:lpstr>
      <vt:lpstr>Ideals of Justice</vt:lpstr>
      <vt:lpstr>Ideals of Judge in the Past</vt:lpstr>
      <vt:lpstr>What Qualities Make a Judge Good Judge ?</vt:lpstr>
      <vt:lpstr>Gff/b :d[ltdf elgPsf] 5 M</vt:lpstr>
      <vt:lpstr>sfTofofgsf cg';f/</vt:lpstr>
      <vt:lpstr>How to Become a Good Judge ?</vt:lpstr>
      <vt:lpstr>Self-management</vt:lpstr>
      <vt:lpstr>Courtroom Demeanor</vt:lpstr>
      <vt:lpstr>Courtroom Demeanor</vt:lpstr>
      <vt:lpstr>Misuse of Contempt Power</vt:lpstr>
      <vt:lpstr>Treatment of Court Staff</vt:lpstr>
      <vt:lpstr>Ex-parte Communication</vt:lpstr>
      <vt:lpstr>Decisiveness</vt:lpstr>
      <vt:lpstr>Creativity</vt:lpstr>
      <vt:lpstr>Independence, Courage and Integrity</vt:lpstr>
      <vt:lpstr>Independence, Courage and Integrity</vt:lpstr>
      <vt:lpstr>Independence</vt:lpstr>
      <vt:lpstr>Independence and Courage</vt:lpstr>
      <vt:lpstr>Interpersonal Skills</vt:lpstr>
      <vt:lpstr>Moral Excellence</vt:lpstr>
      <vt:lpstr>Role Model</vt:lpstr>
      <vt:lpstr>Role Model</vt:lpstr>
      <vt:lpstr>Proper Judicial Temperament</vt:lpstr>
      <vt:lpstr>Socrates</vt:lpstr>
      <vt:lpstr>Proper Judicial Temperament</vt:lpstr>
      <vt:lpstr>Judicial aloofness and detachment </vt:lpstr>
      <vt:lpstr>Judicial aloofness and detachment </vt:lpstr>
      <vt:lpstr>अन्त्यमा</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Qualities of Judges</dc:title>
  <dc:creator>Windows User</dc:creator>
  <cp:lastModifiedBy>acer</cp:lastModifiedBy>
  <cp:revision>390</cp:revision>
  <dcterms:created xsi:type="dcterms:W3CDTF">2020-04-12T03:37:41Z</dcterms:created>
  <dcterms:modified xsi:type="dcterms:W3CDTF">2024-01-19T01:49:42Z</dcterms:modified>
</cp:coreProperties>
</file>