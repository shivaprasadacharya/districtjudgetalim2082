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96" r:id="rId4"/>
    <p:sldId id="258" r:id="rId5"/>
    <p:sldId id="261" r:id="rId6"/>
    <p:sldId id="292" r:id="rId7"/>
    <p:sldId id="262" r:id="rId8"/>
    <p:sldId id="263" r:id="rId9"/>
    <p:sldId id="265" r:id="rId10"/>
    <p:sldId id="266" r:id="rId11"/>
    <p:sldId id="267" r:id="rId12"/>
    <p:sldId id="268" r:id="rId13"/>
    <p:sldId id="264" r:id="rId14"/>
    <p:sldId id="269" r:id="rId15"/>
    <p:sldId id="270" r:id="rId16"/>
    <p:sldId id="271" r:id="rId17"/>
    <p:sldId id="273" r:id="rId18"/>
    <p:sldId id="274" r:id="rId19"/>
    <p:sldId id="272" r:id="rId20"/>
    <p:sldId id="275" r:id="rId21"/>
    <p:sldId id="276" r:id="rId22"/>
    <p:sldId id="281" r:id="rId23"/>
    <p:sldId id="282" r:id="rId24"/>
    <p:sldId id="277" r:id="rId25"/>
    <p:sldId id="278" r:id="rId26"/>
    <p:sldId id="291" r:id="rId27"/>
    <p:sldId id="305" r:id="rId28"/>
    <p:sldId id="301" r:id="rId29"/>
    <p:sldId id="303" r:id="rId30"/>
    <p:sldId id="295" r:id="rId31"/>
    <p:sldId id="259" r:id="rId32"/>
    <p:sldId id="260" r:id="rId33"/>
    <p:sldId id="306" r:id="rId34"/>
    <p:sldId id="297" r:id="rId35"/>
    <p:sldId id="29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032B7-7C77-4759-8ACB-171D33FB696B}" type="datetimeFigureOut">
              <a:rPr lang="en-US" smtClean="0"/>
              <a:t>1/12/2026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5BB1ED-F398-4337-A55B-57640AFA85BE}" type="slidenum">
              <a:rPr lang="en-US" smtClean="0"/>
              <a:t>‹#›</a:t>
            </a:fld>
            <a:endParaRPr lang="en-US"/>
          </a:p>
        </p:txBody>
      </p:sp>
    </p:spTree>
    <p:extLst>
      <p:ext uri="{BB962C8B-B14F-4D97-AF65-F5344CB8AC3E}">
        <p14:creationId xmlns:p14="http://schemas.microsoft.com/office/powerpoint/2010/main" val="2051814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EAEE-9B40-7646-0127-5AFD6EE266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625266-AF9B-086C-4209-C3E0E8202C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83604D-C59D-36B2-E668-1151E51D0E13}"/>
              </a:ext>
            </a:extLst>
          </p:cNvPr>
          <p:cNvSpPr>
            <a:spLocks noGrp="1"/>
          </p:cNvSpPr>
          <p:nvPr>
            <p:ph type="dt" sz="half" idx="10"/>
          </p:nvPr>
        </p:nvSpPr>
        <p:spPr/>
        <p:txBody>
          <a:bodyPr/>
          <a:lstStyle/>
          <a:p>
            <a:fld id="{8AFB1D7D-1968-40D4-8437-8C979C1CAF78}" type="datetime1">
              <a:rPr lang="en-US" smtClean="0"/>
              <a:t>1/12/2026</a:t>
            </a:fld>
            <a:endParaRPr lang="en-US"/>
          </a:p>
        </p:txBody>
      </p:sp>
      <p:sp>
        <p:nvSpPr>
          <p:cNvPr id="5" name="Footer Placeholder 4">
            <a:extLst>
              <a:ext uri="{FF2B5EF4-FFF2-40B4-BE49-F238E27FC236}">
                <a16:creationId xmlns:a16="http://schemas.microsoft.com/office/drawing/2014/main" id="{1EAA5297-6003-1F3C-CF27-69996FFF68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7A9B8-172E-115C-E0E2-0F84F4D5AB1A}"/>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3480081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298D7-8496-F916-F76D-084A37AB9E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75029C-7C1A-9456-CEF9-2100E9F67D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C75259-DE22-6F78-5F2B-1D94EFE32EFE}"/>
              </a:ext>
            </a:extLst>
          </p:cNvPr>
          <p:cNvSpPr>
            <a:spLocks noGrp="1"/>
          </p:cNvSpPr>
          <p:nvPr>
            <p:ph type="dt" sz="half" idx="10"/>
          </p:nvPr>
        </p:nvSpPr>
        <p:spPr/>
        <p:txBody>
          <a:bodyPr/>
          <a:lstStyle/>
          <a:p>
            <a:fld id="{EB3105B6-445F-4F1E-A1FD-FA0CA3ABE593}" type="datetime1">
              <a:rPr lang="en-US" smtClean="0"/>
              <a:t>1/12/2026</a:t>
            </a:fld>
            <a:endParaRPr lang="en-US"/>
          </a:p>
        </p:txBody>
      </p:sp>
      <p:sp>
        <p:nvSpPr>
          <p:cNvPr id="5" name="Footer Placeholder 4">
            <a:extLst>
              <a:ext uri="{FF2B5EF4-FFF2-40B4-BE49-F238E27FC236}">
                <a16:creationId xmlns:a16="http://schemas.microsoft.com/office/drawing/2014/main" id="{81E4B61C-F734-F1B4-A947-594E8A5C46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987B92-BE2A-54F4-487B-AFD62CF6EA53}"/>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3229163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0AB2-773E-AC26-FE66-1E2086CB1F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513EF2-AEC1-53A0-5F6E-DFCB24688A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487DFA-BD5A-20B5-A0BF-BA1B528CE437}"/>
              </a:ext>
            </a:extLst>
          </p:cNvPr>
          <p:cNvSpPr>
            <a:spLocks noGrp="1"/>
          </p:cNvSpPr>
          <p:nvPr>
            <p:ph type="dt" sz="half" idx="10"/>
          </p:nvPr>
        </p:nvSpPr>
        <p:spPr/>
        <p:txBody>
          <a:bodyPr/>
          <a:lstStyle/>
          <a:p>
            <a:fld id="{9D2E2559-621C-49A7-8ACA-5401760CB97F}" type="datetime1">
              <a:rPr lang="en-US" smtClean="0"/>
              <a:t>1/12/2026</a:t>
            </a:fld>
            <a:endParaRPr lang="en-US"/>
          </a:p>
        </p:txBody>
      </p:sp>
      <p:sp>
        <p:nvSpPr>
          <p:cNvPr id="5" name="Footer Placeholder 4">
            <a:extLst>
              <a:ext uri="{FF2B5EF4-FFF2-40B4-BE49-F238E27FC236}">
                <a16:creationId xmlns:a16="http://schemas.microsoft.com/office/drawing/2014/main" id="{BF6957C5-235E-D506-6ABB-AB86EAFF8B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44C915-6FD7-9BA3-149A-1A869C0F861A}"/>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1670597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195CD-82F6-F769-B08C-F32D51E6AF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FB1E49-36A7-1F75-3BFA-D7C608A0B8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AA5259-67C7-87B4-4AB7-9DA4D53BB5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1361D7C-63C6-6C7F-7586-8997C793FE36}"/>
              </a:ext>
            </a:extLst>
          </p:cNvPr>
          <p:cNvSpPr>
            <a:spLocks noGrp="1"/>
          </p:cNvSpPr>
          <p:nvPr>
            <p:ph type="dt" sz="half" idx="10"/>
          </p:nvPr>
        </p:nvSpPr>
        <p:spPr/>
        <p:txBody>
          <a:bodyPr/>
          <a:lstStyle/>
          <a:p>
            <a:fld id="{E71C3C79-3BA8-402C-9F3F-2157480539F0}" type="datetime1">
              <a:rPr lang="en-US" smtClean="0"/>
              <a:t>1/12/2026</a:t>
            </a:fld>
            <a:endParaRPr lang="en-US"/>
          </a:p>
        </p:txBody>
      </p:sp>
      <p:sp>
        <p:nvSpPr>
          <p:cNvPr id="6" name="Footer Placeholder 5">
            <a:extLst>
              <a:ext uri="{FF2B5EF4-FFF2-40B4-BE49-F238E27FC236}">
                <a16:creationId xmlns:a16="http://schemas.microsoft.com/office/drawing/2014/main" id="{ACAE5D46-8D60-7246-1BFE-2F6B346B06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1D0372-0BA1-87EA-8691-FA014AFBCB38}"/>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749911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9BF7F-D469-85BB-BF67-16C6BC6CDA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C60228-7AB0-15F7-CEB9-66643AF74C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DDDC41-3D6E-9A0F-22D7-FC961B178A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7B6B9E-9E39-CFBA-0B0D-2D0FDD1B1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73AFCE-729D-0DE7-448F-7ACADB9E5B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7CE3B4-D686-14D4-D3C9-CAF6A7252CD6}"/>
              </a:ext>
            </a:extLst>
          </p:cNvPr>
          <p:cNvSpPr>
            <a:spLocks noGrp="1"/>
          </p:cNvSpPr>
          <p:nvPr>
            <p:ph type="dt" sz="half" idx="10"/>
          </p:nvPr>
        </p:nvSpPr>
        <p:spPr/>
        <p:txBody>
          <a:bodyPr/>
          <a:lstStyle/>
          <a:p>
            <a:fld id="{A2BEEFA4-93CA-4601-9B55-321F6A2696A4}" type="datetime1">
              <a:rPr lang="en-US" smtClean="0"/>
              <a:t>1/12/2026</a:t>
            </a:fld>
            <a:endParaRPr lang="en-US"/>
          </a:p>
        </p:txBody>
      </p:sp>
      <p:sp>
        <p:nvSpPr>
          <p:cNvPr id="8" name="Footer Placeholder 7">
            <a:extLst>
              <a:ext uri="{FF2B5EF4-FFF2-40B4-BE49-F238E27FC236}">
                <a16:creationId xmlns:a16="http://schemas.microsoft.com/office/drawing/2014/main" id="{5496797B-D985-1904-B10C-DB11A483F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27B100-5A13-0A70-2C63-73A664C311E2}"/>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3765617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184D0-9688-15B6-EC40-F4735907C5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A6A0E7-608D-66EC-08D8-75D6199CFC0F}"/>
              </a:ext>
            </a:extLst>
          </p:cNvPr>
          <p:cNvSpPr>
            <a:spLocks noGrp="1"/>
          </p:cNvSpPr>
          <p:nvPr>
            <p:ph type="dt" sz="half" idx="10"/>
          </p:nvPr>
        </p:nvSpPr>
        <p:spPr/>
        <p:txBody>
          <a:bodyPr/>
          <a:lstStyle/>
          <a:p>
            <a:fld id="{D591FCE4-8435-492D-BBB0-1F43A67C0F71}" type="datetime1">
              <a:rPr lang="en-US" smtClean="0"/>
              <a:t>1/12/2026</a:t>
            </a:fld>
            <a:endParaRPr lang="en-US"/>
          </a:p>
        </p:txBody>
      </p:sp>
      <p:sp>
        <p:nvSpPr>
          <p:cNvPr id="4" name="Footer Placeholder 3">
            <a:extLst>
              <a:ext uri="{FF2B5EF4-FFF2-40B4-BE49-F238E27FC236}">
                <a16:creationId xmlns:a16="http://schemas.microsoft.com/office/drawing/2014/main" id="{E7BD998C-65E1-9DAF-4C66-EE6A6F83C6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BFFCC5-E5F2-6A8E-66CC-F7FC11F98B7D}"/>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3778110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B0BDA0-A15E-0EF6-9B37-E37BBCEC9A35}"/>
              </a:ext>
            </a:extLst>
          </p:cNvPr>
          <p:cNvSpPr>
            <a:spLocks noGrp="1"/>
          </p:cNvSpPr>
          <p:nvPr>
            <p:ph type="dt" sz="half" idx="10"/>
          </p:nvPr>
        </p:nvSpPr>
        <p:spPr/>
        <p:txBody>
          <a:bodyPr/>
          <a:lstStyle/>
          <a:p>
            <a:fld id="{86C76C7C-95EA-46EF-8D3E-32E9FB2FB381}" type="datetime1">
              <a:rPr lang="en-US" smtClean="0"/>
              <a:t>1/12/2026</a:t>
            </a:fld>
            <a:endParaRPr lang="en-US"/>
          </a:p>
        </p:txBody>
      </p:sp>
      <p:sp>
        <p:nvSpPr>
          <p:cNvPr id="3" name="Footer Placeholder 2">
            <a:extLst>
              <a:ext uri="{FF2B5EF4-FFF2-40B4-BE49-F238E27FC236}">
                <a16:creationId xmlns:a16="http://schemas.microsoft.com/office/drawing/2014/main" id="{266C26CE-C2E4-7D3A-DA94-B54C7BB3EA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E83285-0DE7-4C92-2BA6-7E2C7417B9A8}"/>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2408043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1571D-F18D-C6A9-0556-150D5E8E26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38CAC8-0A31-2B50-B40F-9270F51A04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DD7018-E5CD-37C7-0CA2-99EFF102F8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34A34D-CC89-232F-874D-FC8819FAFE55}"/>
              </a:ext>
            </a:extLst>
          </p:cNvPr>
          <p:cNvSpPr>
            <a:spLocks noGrp="1"/>
          </p:cNvSpPr>
          <p:nvPr>
            <p:ph type="dt" sz="half" idx="10"/>
          </p:nvPr>
        </p:nvSpPr>
        <p:spPr/>
        <p:txBody>
          <a:bodyPr/>
          <a:lstStyle/>
          <a:p>
            <a:fld id="{E00654C5-7825-4B67-9585-32E1A97E9A40}" type="datetime1">
              <a:rPr lang="en-US" smtClean="0"/>
              <a:t>1/12/2026</a:t>
            </a:fld>
            <a:endParaRPr lang="en-US"/>
          </a:p>
        </p:txBody>
      </p:sp>
      <p:sp>
        <p:nvSpPr>
          <p:cNvPr id="6" name="Footer Placeholder 5">
            <a:extLst>
              <a:ext uri="{FF2B5EF4-FFF2-40B4-BE49-F238E27FC236}">
                <a16:creationId xmlns:a16="http://schemas.microsoft.com/office/drawing/2014/main" id="{B11C7434-6A00-BD79-B5DD-1FDDE89E90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1849DE-60F3-AB2A-0860-0AB00DE743F8}"/>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3350273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C97D3-D03A-C1EB-153D-DF0433E419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C2CF50-512A-0FAC-F170-E683FEDA91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50C933-8A08-D152-F490-60B99F0821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E6A891-5320-6AB6-F0C4-A42FFA825498}"/>
              </a:ext>
            </a:extLst>
          </p:cNvPr>
          <p:cNvSpPr>
            <a:spLocks noGrp="1"/>
          </p:cNvSpPr>
          <p:nvPr>
            <p:ph type="dt" sz="half" idx="10"/>
          </p:nvPr>
        </p:nvSpPr>
        <p:spPr/>
        <p:txBody>
          <a:bodyPr/>
          <a:lstStyle/>
          <a:p>
            <a:fld id="{DC3E2928-C43C-413C-885A-841838EABFB4}" type="datetime1">
              <a:rPr lang="en-US" smtClean="0"/>
              <a:t>1/12/2026</a:t>
            </a:fld>
            <a:endParaRPr lang="en-US"/>
          </a:p>
        </p:txBody>
      </p:sp>
      <p:sp>
        <p:nvSpPr>
          <p:cNvPr id="6" name="Footer Placeholder 5">
            <a:extLst>
              <a:ext uri="{FF2B5EF4-FFF2-40B4-BE49-F238E27FC236}">
                <a16:creationId xmlns:a16="http://schemas.microsoft.com/office/drawing/2014/main" id="{66B103B1-DA70-6617-D2C4-6E34FECF1C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C4B28A-5CDB-F773-C677-ED160BE27508}"/>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221766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3C509-C904-CC6F-3735-98F42E012E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7A5E99-8518-0D26-DBD4-35CE9E9E76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1976CE-1117-DFCA-C1EE-0C72E05F71B4}"/>
              </a:ext>
            </a:extLst>
          </p:cNvPr>
          <p:cNvSpPr>
            <a:spLocks noGrp="1"/>
          </p:cNvSpPr>
          <p:nvPr>
            <p:ph type="dt" sz="half" idx="10"/>
          </p:nvPr>
        </p:nvSpPr>
        <p:spPr/>
        <p:txBody>
          <a:bodyPr/>
          <a:lstStyle/>
          <a:p>
            <a:fld id="{8240EB8D-D954-4DE9-A6A7-2253C4EC9AC7}" type="datetime1">
              <a:rPr lang="en-US" smtClean="0"/>
              <a:t>1/12/2026</a:t>
            </a:fld>
            <a:endParaRPr lang="en-US"/>
          </a:p>
        </p:txBody>
      </p:sp>
      <p:sp>
        <p:nvSpPr>
          <p:cNvPr id="5" name="Footer Placeholder 4">
            <a:extLst>
              <a:ext uri="{FF2B5EF4-FFF2-40B4-BE49-F238E27FC236}">
                <a16:creationId xmlns:a16="http://schemas.microsoft.com/office/drawing/2014/main" id="{A8116AEB-69EA-27B4-FAA2-CB2DC972F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B9351F-1C94-7719-0A57-2E83056B37AF}"/>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2684539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E63D31-6435-0FB8-5A24-4B44B06F30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7F9443-EE5E-90B7-4F0D-E283400E1B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A0EBDF-5A21-7B45-DDD5-8CD25797E4E4}"/>
              </a:ext>
            </a:extLst>
          </p:cNvPr>
          <p:cNvSpPr>
            <a:spLocks noGrp="1"/>
          </p:cNvSpPr>
          <p:nvPr>
            <p:ph type="dt" sz="half" idx="10"/>
          </p:nvPr>
        </p:nvSpPr>
        <p:spPr/>
        <p:txBody>
          <a:bodyPr/>
          <a:lstStyle/>
          <a:p>
            <a:fld id="{22CD4C99-673B-46D5-AA11-231720EA70B1}" type="datetime1">
              <a:rPr lang="en-US" smtClean="0"/>
              <a:t>1/12/2026</a:t>
            </a:fld>
            <a:endParaRPr lang="en-US"/>
          </a:p>
        </p:txBody>
      </p:sp>
      <p:sp>
        <p:nvSpPr>
          <p:cNvPr id="5" name="Footer Placeholder 4">
            <a:extLst>
              <a:ext uri="{FF2B5EF4-FFF2-40B4-BE49-F238E27FC236}">
                <a16:creationId xmlns:a16="http://schemas.microsoft.com/office/drawing/2014/main" id="{B02B57A8-D92A-0095-7D83-5B4897D9F6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00CA84-AFBE-075F-6BA5-09BC59A2FC45}"/>
              </a:ext>
            </a:extLst>
          </p:cNvPr>
          <p:cNvSpPr>
            <a:spLocks noGrp="1"/>
          </p:cNvSpPr>
          <p:nvPr>
            <p:ph type="sldNum" sz="quarter" idx="12"/>
          </p:nvPr>
        </p:nvSpPr>
        <p:spPr/>
        <p:txBody>
          <a:bodyPr/>
          <a:lstStyle/>
          <a:p>
            <a:fld id="{7622E865-B2C1-4A41-88CD-3656CF28B604}" type="slidenum">
              <a:rPr lang="en-US" smtClean="0"/>
              <a:t>‹#›</a:t>
            </a:fld>
            <a:endParaRPr lang="en-US"/>
          </a:p>
        </p:txBody>
      </p:sp>
    </p:spTree>
    <p:extLst>
      <p:ext uri="{BB962C8B-B14F-4D97-AF65-F5344CB8AC3E}">
        <p14:creationId xmlns:p14="http://schemas.microsoft.com/office/powerpoint/2010/main" val="4262839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5C9A37-ED24-ECA9-297C-C3E17ACBAC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242A2-D3D9-80E6-601A-CDB0F7E584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ED525B-C262-AC89-874B-A7902DD8E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97BD8E-25AD-4FF7-B2A7-BF99E3ABFB03}" type="datetime1">
              <a:rPr lang="en-US" smtClean="0"/>
              <a:t>1/12/2026</a:t>
            </a:fld>
            <a:endParaRPr lang="en-US"/>
          </a:p>
        </p:txBody>
      </p:sp>
      <p:sp>
        <p:nvSpPr>
          <p:cNvPr id="5" name="Footer Placeholder 4">
            <a:extLst>
              <a:ext uri="{FF2B5EF4-FFF2-40B4-BE49-F238E27FC236}">
                <a16:creationId xmlns:a16="http://schemas.microsoft.com/office/drawing/2014/main" id="{28617D40-4A8D-4BB7-E503-5F359067F1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9ECFBA-1AF7-E14C-4B86-CF7D5520B1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22E865-B2C1-4A41-88CD-3656CF28B604}" type="slidenum">
              <a:rPr lang="en-US" smtClean="0"/>
              <a:t>‹#›</a:t>
            </a:fld>
            <a:endParaRPr lang="en-US"/>
          </a:p>
        </p:txBody>
      </p:sp>
    </p:spTree>
    <p:extLst>
      <p:ext uri="{BB962C8B-B14F-4D97-AF65-F5344CB8AC3E}">
        <p14:creationId xmlns:p14="http://schemas.microsoft.com/office/powerpoint/2010/main" val="1160937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A03EA-1BD8-3164-A4D0-4798F78AFBE9}"/>
              </a:ext>
            </a:extLst>
          </p:cNvPr>
          <p:cNvSpPr>
            <a:spLocks noGrp="1"/>
          </p:cNvSpPr>
          <p:nvPr>
            <p:ph type="ctrTitle"/>
          </p:nvPr>
        </p:nvSpPr>
        <p:spPr>
          <a:xfrm>
            <a:off x="299803" y="1122363"/>
            <a:ext cx="11542427" cy="2387600"/>
          </a:xfrm>
        </p:spPr>
        <p:txBody>
          <a:bodyPr>
            <a:normAutofit/>
          </a:bodyPr>
          <a:lstStyle/>
          <a:p>
            <a:r>
              <a:rPr lang="ne-NP" sz="3600" b="1" u="sng" dirty="0">
                <a:cs typeface="Kalimati" panose="00000400000000000000" pitchFamily="2"/>
              </a:rPr>
              <a:t>न्यायिक कार्य बाहेक जिल्ला न्यायाधीशको भूमिका र जिम्मेवारी  </a:t>
            </a:r>
            <a:endParaRPr lang="en-US" sz="3600" b="1" u="sng" dirty="0">
              <a:cs typeface="Kalimati" panose="00000400000000000000" pitchFamily="2"/>
            </a:endParaRPr>
          </a:p>
        </p:txBody>
      </p:sp>
      <p:sp>
        <p:nvSpPr>
          <p:cNvPr id="3" name="Subtitle 2">
            <a:extLst>
              <a:ext uri="{FF2B5EF4-FFF2-40B4-BE49-F238E27FC236}">
                <a16:creationId xmlns:a16="http://schemas.microsoft.com/office/drawing/2014/main" id="{90A41AB4-CF59-C9FB-1E45-D4BE80608F90}"/>
              </a:ext>
            </a:extLst>
          </p:cNvPr>
          <p:cNvSpPr>
            <a:spLocks noGrp="1"/>
          </p:cNvSpPr>
          <p:nvPr>
            <p:ph type="subTitle" idx="1"/>
          </p:nvPr>
        </p:nvSpPr>
        <p:spPr>
          <a:xfrm>
            <a:off x="1524000" y="3602038"/>
            <a:ext cx="9144000" cy="2387600"/>
          </a:xfrm>
        </p:spPr>
        <p:txBody>
          <a:bodyPr>
            <a:normAutofit/>
          </a:bodyPr>
          <a:lstStyle/>
          <a:p>
            <a:endParaRPr lang="ne-NP" sz="3200" b="1" dirty="0"/>
          </a:p>
          <a:p>
            <a:pPr algn="r"/>
            <a:endParaRPr lang="ne-NP" sz="3200" b="1" dirty="0">
              <a:cs typeface="Kalimati" panose="00000400000000000000" pitchFamily="2"/>
            </a:endParaRPr>
          </a:p>
          <a:p>
            <a:pPr algn="r"/>
            <a:r>
              <a:rPr lang="ne-NP" sz="3200" b="1" dirty="0">
                <a:cs typeface="Kalimati" panose="00000400000000000000" pitchFamily="2"/>
              </a:rPr>
              <a:t>-हरि कुमार पोखरेल</a:t>
            </a:r>
          </a:p>
          <a:p>
            <a:pPr algn="r"/>
            <a:r>
              <a:rPr lang="ne-NP" sz="3200" b="1" dirty="0">
                <a:cs typeface="Kalimati" panose="00000400000000000000" pitchFamily="2"/>
              </a:rPr>
              <a:t>२०८२।०९।२८</a:t>
            </a:r>
            <a:endParaRPr lang="en-US" sz="3200" b="1" dirty="0">
              <a:cs typeface="Kalimati" panose="00000400000000000000" pitchFamily="2"/>
            </a:endParaRPr>
          </a:p>
        </p:txBody>
      </p:sp>
      <p:sp>
        <p:nvSpPr>
          <p:cNvPr id="4" name="Slide Number Placeholder 3">
            <a:extLst>
              <a:ext uri="{FF2B5EF4-FFF2-40B4-BE49-F238E27FC236}">
                <a16:creationId xmlns:a16="http://schemas.microsoft.com/office/drawing/2014/main" id="{83873949-1646-F828-2A98-3C99F1B278C0}"/>
              </a:ext>
            </a:extLst>
          </p:cNvPr>
          <p:cNvSpPr>
            <a:spLocks noGrp="1"/>
          </p:cNvSpPr>
          <p:nvPr>
            <p:ph type="sldNum" sz="quarter" idx="12"/>
          </p:nvPr>
        </p:nvSpPr>
        <p:spPr/>
        <p:txBody>
          <a:bodyPr/>
          <a:lstStyle/>
          <a:p>
            <a:fld id="{7622E865-B2C1-4A41-88CD-3656CF28B604}" type="slidenum">
              <a:rPr lang="en-US" smtClean="0"/>
              <a:t>1</a:t>
            </a:fld>
            <a:endParaRPr lang="en-US"/>
          </a:p>
        </p:txBody>
      </p:sp>
    </p:spTree>
    <p:extLst>
      <p:ext uri="{BB962C8B-B14F-4D97-AF65-F5344CB8AC3E}">
        <p14:creationId xmlns:p14="http://schemas.microsoft.com/office/powerpoint/2010/main" val="3385075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F10A3-7EC2-05CF-8AB4-90189C2E6DA0}"/>
              </a:ext>
            </a:extLst>
          </p:cNvPr>
          <p:cNvSpPr>
            <a:spLocks noGrp="1"/>
          </p:cNvSpPr>
          <p:nvPr>
            <p:ph type="title"/>
          </p:nvPr>
        </p:nvSpPr>
        <p:spPr>
          <a:xfrm>
            <a:off x="838200" y="365126"/>
            <a:ext cx="10515600" cy="684186"/>
          </a:xfrm>
        </p:spPr>
        <p:txBody>
          <a:bodyPr>
            <a:normAutofit/>
          </a:bodyPr>
          <a:lstStyle/>
          <a:p>
            <a:pPr algn="ctr"/>
            <a:r>
              <a:rPr lang="ne-NP" sz="3600" b="1" u="sng" dirty="0">
                <a:cs typeface="Kalimati" panose="00000400000000000000" pitchFamily="2"/>
              </a:rPr>
              <a:t>बधाई र शुभकामना ज्ञापन</a:t>
            </a:r>
            <a:endParaRPr lang="en-US" sz="3600" b="1" u="sng" dirty="0">
              <a:cs typeface="Kalimati" panose="00000400000000000000" pitchFamily="2"/>
            </a:endParaRPr>
          </a:p>
        </p:txBody>
      </p:sp>
      <p:sp>
        <p:nvSpPr>
          <p:cNvPr id="3" name="Content Placeholder 2">
            <a:extLst>
              <a:ext uri="{FF2B5EF4-FFF2-40B4-BE49-F238E27FC236}">
                <a16:creationId xmlns:a16="http://schemas.microsoft.com/office/drawing/2014/main" id="{19C7B54B-DF2C-1283-07EA-39B7251219B5}"/>
              </a:ext>
            </a:extLst>
          </p:cNvPr>
          <p:cNvSpPr>
            <a:spLocks noGrp="1"/>
          </p:cNvSpPr>
          <p:nvPr>
            <p:ph idx="1"/>
          </p:nvPr>
        </p:nvSpPr>
        <p:spPr>
          <a:xfrm>
            <a:off x="209861" y="1825624"/>
            <a:ext cx="11812249" cy="4785037"/>
          </a:xfrm>
        </p:spPr>
        <p:txBody>
          <a:bodyPr>
            <a:normAutofit/>
          </a:bodyPr>
          <a:lstStyle/>
          <a:p>
            <a:pPr marL="0" indent="0" algn="ctr">
              <a:buNone/>
            </a:pPr>
            <a:r>
              <a:rPr lang="ne-NP" sz="3200" b="1" dirty="0">
                <a:cs typeface="Kalimati" panose="00000400000000000000" pitchFamily="2"/>
              </a:rPr>
              <a:t>माननीय जिल्ला न्यायाधीशमा </a:t>
            </a:r>
          </a:p>
          <a:p>
            <a:pPr marL="0" indent="0" algn="ctr">
              <a:buNone/>
            </a:pPr>
            <a:endParaRPr lang="ne-NP" sz="3200" b="1" dirty="0">
              <a:cs typeface="Kalimati" panose="00000400000000000000" pitchFamily="2"/>
            </a:endParaRPr>
          </a:p>
          <a:p>
            <a:pPr marL="0" indent="0" algn="ctr">
              <a:buNone/>
            </a:pPr>
            <a:r>
              <a:rPr lang="ne-NP" sz="3200" b="1" dirty="0">
                <a:cs typeface="Kalimati" panose="00000400000000000000" pitchFamily="2"/>
              </a:rPr>
              <a:t>नियुक्त हुनु भएकोमा सबै सहभागी </a:t>
            </a:r>
            <a:endParaRPr lang="en-US" sz="3200" b="1" dirty="0">
              <a:cs typeface="Kalimati" panose="00000400000000000000" pitchFamily="2"/>
            </a:endParaRPr>
          </a:p>
          <a:p>
            <a:pPr marL="0" indent="0" algn="ctr">
              <a:buNone/>
            </a:pPr>
            <a:endParaRPr lang="ne-NP" sz="3200" b="1" dirty="0">
              <a:cs typeface="Kalimati" panose="00000400000000000000" pitchFamily="2"/>
            </a:endParaRPr>
          </a:p>
          <a:p>
            <a:pPr marL="0" indent="0" algn="ctr">
              <a:buNone/>
            </a:pPr>
            <a:r>
              <a:rPr lang="ne-NP" sz="3200" b="1" dirty="0">
                <a:cs typeface="Kalimati" panose="00000400000000000000" pitchFamily="2"/>
              </a:rPr>
              <a:t>ज्यूहरूलाई हार्दिक बधाई</a:t>
            </a:r>
          </a:p>
          <a:p>
            <a:pPr marL="0" indent="0" algn="ctr">
              <a:buNone/>
            </a:pPr>
            <a:r>
              <a:rPr lang="ne-NP" sz="3200" b="1" dirty="0">
                <a:cs typeface="Kalimati" panose="00000400000000000000" pitchFamily="2"/>
              </a:rPr>
              <a:t>र  </a:t>
            </a:r>
          </a:p>
          <a:p>
            <a:pPr marL="0" indent="0" algn="ctr">
              <a:buNone/>
            </a:pPr>
            <a:endParaRPr lang="ne-NP" sz="3200" b="1" dirty="0">
              <a:cs typeface="Kalimati" panose="00000400000000000000" pitchFamily="2"/>
            </a:endParaRPr>
          </a:p>
          <a:p>
            <a:pPr marL="0" indent="0" algn="ctr">
              <a:buNone/>
            </a:pPr>
            <a:r>
              <a:rPr lang="ne-NP" sz="3200" b="1" dirty="0">
                <a:cs typeface="Kalimati" panose="00000400000000000000" pitchFamily="2"/>
              </a:rPr>
              <a:t>सफल कार्यकालको शुभकामना !!!</a:t>
            </a:r>
            <a:endParaRPr lang="en-US" sz="3200" b="1" dirty="0">
              <a:cs typeface="Kalimati" panose="00000400000000000000" pitchFamily="2"/>
            </a:endParaRPr>
          </a:p>
          <a:p>
            <a:endParaRPr lang="en-US" sz="3200" dirty="0"/>
          </a:p>
        </p:txBody>
      </p:sp>
      <p:sp>
        <p:nvSpPr>
          <p:cNvPr id="4" name="Slide Number Placeholder 3">
            <a:extLst>
              <a:ext uri="{FF2B5EF4-FFF2-40B4-BE49-F238E27FC236}">
                <a16:creationId xmlns:a16="http://schemas.microsoft.com/office/drawing/2014/main" id="{DC7C9E04-D5DF-D8A5-BE14-441334C25F59}"/>
              </a:ext>
            </a:extLst>
          </p:cNvPr>
          <p:cNvSpPr>
            <a:spLocks noGrp="1"/>
          </p:cNvSpPr>
          <p:nvPr>
            <p:ph type="sldNum" sz="quarter" idx="12"/>
          </p:nvPr>
        </p:nvSpPr>
        <p:spPr/>
        <p:txBody>
          <a:bodyPr/>
          <a:lstStyle/>
          <a:p>
            <a:fld id="{7622E865-B2C1-4A41-88CD-3656CF28B604}" type="slidenum">
              <a:rPr lang="en-US" smtClean="0"/>
              <a:t>2</a:t>
            </a:fld>
            <a:endParaRPr lang="en-US"/>
          </a:p>
        </p:txBody>
      </p:sp>
    </p:spTree>
    <p:extLst>
      <p:ext uri="{BB962C8B-B14F-4D97-AF65-F5344CB8AC3E}">
        <p14:creationId xmlns:p14="http://schemas.microsoft.com/office/powerpoint/2010/main" val="3888182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CC732-A0AE-927D-7E6E-569AB42D9069}"/>
              </a:ext>
            </a:extLst>
          </p:cNvPr>
          <p:cNvSpPr>
            <a:spLocks noGrp="1"/>
          </p:cNvSpPr>
          <p:nvPr>
            <p:ph type="title"/>
          </p:nvPr>
        </p:nvSpPr>
        <p:spPr>
          <a:xfrm>
            <a:off x="838200" y="136526"/>
            <a:ext cx="10515600" cy="544512"/>
          </a:xfrm>
        </p:spPr>
        <p:txBody>
          <a:bodyPr>
            <a:normAutofit/>
          </a:bodyPr>
          <a:lstStyle/>
          <a:p>
            <a:pPr algn="ctr"/>
            <a:r>
              <a:rPr lang="ne-NP" sz="3200" b="1" u="sng" dirty="0">
                <a:cs typeface="Kalimati" panose="00000400000000000000" pitchFamily="2"/>
              </a:rPr>
              <a:t>यस</a:t>
            </a:r>
            <a:r>
              <a:rPr lang="en-US" sz="3200" b="1" u="sng" dirty="0">
                <a:cs typeface="Kalimati" panose="00000400000000000000" pitchFamily="2"/>
              </a:rPr>
              <a:t> </a:t>
            </a:r>
            <a:r>
              <a:rPr lang="ne-NP" sz="3200" b="1" u="sng" dirty="0">
                <a:cs typeface="Kalimati" panose="00000400000000000000" pitchFamily="2"/>
              </a:rPr>
              <a:t>भित्र</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31D1AB75-CECA-8093-1D91-861ED039AF49}"/>
              </a:ext>
            </a:extLst>
          </p:cNvPr>
          <p:cNvSpPr>
            <a:spLocks noGrp="1"/>
          </p:cNvSpPr>
          <p:nvPr>
            <p:ph idx="1"/>
          </p:nvPr>
        </p:nvSpPr>
        <p:spPr>
          <a:xfrm>
            <a:off x="149902" y="569626"/>
            <a:ext cx="11932170" cy="6151848"/>
          </a:xfrm>
        </p:spPr>
        <p:txBody>
          <a:bodyPr>
            <a:normAutofit/>
          </a:bodyPr>
          <a:lstStyle/>
          <a:p>
            <a:pPr marL="0" indent="0" algn="just">
              <a:buNone/>
            </a:pPr>
            <a:endParaRPr lang="ne-NP" sz="3200" b="1" u="sng" dirty="0">
              <a:cs typeface="Kalimati" panose="00000400000000000000" pitchFamily="2"/>
            </a:endParaRPr>
          </a:p>
          <a:p>
            <a:pPr marL="514350" indent="-514350" algn="just">
              <a:buAutoNum type="hindiNumPeriod"/>
            </a:pPr>
            <a:endParaRPr lang="ne-NP" sz="3200" dirty="0">
              <a:cs typeface="Kalimati" panose="00000400000000000000" pitchFamily="2"/>
            </a:endParaRPr>
          </a:p>
          <a:p>
            <a:pPr marL="514350" indent="-514350" algn="just">
              <a:buAutoNum type="hindiNumPeriod"/>
            </a:pPr>
            <a:r>
              <a:rPr lang="ne-NP" sz="3200" dirty="0">
                <a:cs typeface="Kalimati" panose="00000400000000000000" pitchFamily="2"/>
              </a:rPr>
              <a:t>न्यायिक स्वतन्त्रता संरक्षक </a:t>
            </a:r>
            <a:r>
              <a:rPr lang="en-US" sz="3200" dirty="0">
                <a:cs typeface="Kalimati" panose="00000400000000000000" pitchFamily="2"/>
              </a:rPr>
              <a:t>/  </a:t>
            </a:r>
            <a:r>
              <a:rPr lang="ne-NP" sz="3200" dirty="0">
                <a:cs typeface="Kalimati" panose="00000400000000000000" pitchFamily="2"/>
              </a:rPr>
              <a:t>जनआस्था वृद्धि कर्ताको भूमिका,</a:t>
            </a:r>
          </a:p>
          <a:p>
            <a:pPr marL="514350" indent="-514350" algn="just">
              <a:buAutoNum type="hindiNumPeriod"/>
            </a:pPr>
            <a:r>
              <a:rPr lang="ne-NP" sz="3200" dirty="0">
                <a:cs typeface="Kalimati" panose="00000400000000000000" pitchFamily="2"/>
              </a:rPr>
              <a:t>संवैधानिक भूमिका, </a:t>
            </a:r>
          </a:p>
          <a:p>
            <a:pPr marL="514350" indent="-514350" algn="just">
              <a:buAutoNum type="hindiNumPeriod"/>
            </a:pPr>
            <a:r>
              <a:rPr lang="ne-NP" sz="3200" dirty="0" err="1">
                <a:cs typeface="Kalimati" panose="00000400000000000000" pitchFamily="2"/>
              </a:rPr>
              <a:t>कानूनी</a:t>
            </a:r>
            <a:r>
              <a:rPr lang="ne-NP" sz="3200" dirty="0">
                <a:cs typeface="Kalimati" panose="00000400000000000000" pitchFamily="2"/>
              </a:rPr>
              <a:t> भूमिका, </a:t>
            </a:r>
          </a:p>
          <a:p>
            <a:pPr marL="514350" indent="-514350" algn="just">
              <a:buAutoNum type="hindiNumPeriod"/>
            </a:pPr>
            <a:r>
              <a:rPr lang="ne-NP" sz="3200" dirty="0">
                <a:cs typeface="Kalimati" panose="00000400000000000000" pitchFamily="2"/>
              </a:rPr>
              <a:t>योजनाकारको भूमिका ।</a:t>
            </a:r>
          </a:p>
          <a:p>
            <a:pPr marL="0" indent="0" algn="just">
              <a:buNone/>
            </a:pPr>
            <a:endParaRPr lang="en-US" sz="3200" dirty="0">
              <a:cs typeface="Kalimati" panose="00000400000000000000" pitchFamily="2"/>
            </a:endParaRPr>
          </a:p>
          <a:p>
            <a:pPr marL="0" indent="0" algn="just">
              <a:buNone/>
            </a:pP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0FB756D9-554F-B6EE-86B7-F1E3C8DA1410}"/>
              </a:ext>
            </a:extLst>
          </p:cNvPr>
          <p:cNvSpPr>
            <a:spLocks noGrp="1"/>
          </p:cNvSpPr>
          <p:nvPr>
            <p:ph type="sldNum" sz="quarter" idx="12"/>
          </p:nvPr>
        </p:nvSpPr>
        <p:spPr/>
        <p:txBody>
          <a:bodyPr/>
          <a:lstStyle/>
          <a:p>
            <a:fld id="{7622E865-B2C1-4A41-88CD-3656CF28B604}" type="slidenum">
              <a:rPr lang="en-US" smtClean="0"/>
              <a:t>3</a:t>
            </a:fld>
            <a:endParaRPr lang="en-US"/>
          </a:p>
        </p:txBody>
      </p:sp>
    </p:spTree>
    <p:extLst>
      <p:ext uri="{BB962C8B-B14F-4D97-AF65-F5344CB8AC3E}">
        <p14:creationId xmlns:p14="http://schemas.microsoft.com/office/powerpoint/2010/main" val="379830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B78E1-A7EB-7E24-EF43-1908EA13DCFF}"/>
              </a:ext>
            </a:extLst>
          </p:cNvPr>
          <p:cNvSpPr>
            <a:spLocks noGrp="1"/>
          </p:cNvSpPr>
          <p:nvPr>
            <p:ph type="title"/>
          </p:nvPr>
        </p:nvSpPr>
        <p:spPr>
          <a:xfrm>
            <a:off x="176463" y="128338"/>
            <a:ext cx="11630526" cy="552700"/>
          </a:xfrm>
        </p:spPr>
        <p:txBody>
          <a:bodyPr>
            <a:noAutofit/>
          </a:bodyPr>
          <a:lstStyle/>
          <a:p>
            <a:pPr algn="ctr"/>
            <a:br>
              <a:rPr lang="en-US" sz="3200" b="1" u="sng" dirty="0">
                <a:cs typeface="Kalimati" panose="00000400000000000000" pitchFamily="2"/>
              </a:rPr>
            </a:br>
            <a:r>
              <a:rPr lang="ne-NP" sz="3200" b="1" dirty="0">
                <a:cs typeface="Kalimati" panose="00000400000000000000" pitchFamily="2"/>
              </a:rPr>
              <a:t>१. </a:t>
            </a:r>
            <a:r>
              <a:rPr lang="ne-NP" sz="3200" b="1" u="sng" dirty="0">
                <a:cs typeface="Kalimati" panose="00000400000000000000" pitchFamily="2"/>
              </a:rPr>
              <a:t>न्यायिक स्वतन्त्रता संरक्षक </a:t>
            </a:r>
            <a:r>
              <a:rPr lang="en-US" sz="3200" b="1" u="sng" dirty="0">
                <a:cs typeface="Kalimati" panose="00000400000000000000" pitchFamily="2"/>
              </a:rPr>
              <a:t>/  </a:t>
            </a:r>
            <a:r>
              <a:rPr lang="ne-NP" sz="3200" b="1" u="sng" dirty="0">
                <a:cs typeface="Kalimati" panose="00000400000000000000" pitchFamily="2"/>
              </a:rPr>
              <a:t>जनआस्था वृद्धि कर्ताको भूमिका</a:t>
            </a:r>
            <a:br>
              <a:rPr lang="ne-NP" sz="3200" b="1" u="sng" dirty="0">
                <a:cs typeface="Kalimati" panose="00000400000000000000" pitchFamily="2"/>
              </a:rPr>
            </a:br>
            <a:endParaRPr lang="en-US" sz="3200" b="1" u="sng" dirty="0">
              <a:latin typeface="+mn-lt"/>
            </a:endParaRPr>
          </a:p>
        </p:txBody>
      </p:sp>
      <p:sp>
        <p:nvSpPr>
          <p:cNvPr id="3" name="Content Placeholder 2">
            <a:extLst>
              <a:ext uri="{FF2B5EF4-FFF2-40B4-BE49-F238E27FC236}">
                <a16:creationId xmlns:a16="http://schemas.microsoft.com/office/drawing/2014/main" id="{3AEDC7D6-A7D9-6F5B-4A7E-C5DDC9ED3CA9}"/>
              </a:ext>
            </a:extLst>
          </p:cNvPr>
          <p:cNvSpPr>
            <a:spLocks noGrp="1"/>
          </p:cNvSpPr>
          <p:nvPr>
            <p:ph idx="1"/>
          </p:nvPr>
        </p:nvSpPr>
        <p:spPr>
          <a:xfrm>
            <a:off x="176463" y="681038"/>
            <a:ext cx="11630526" cy="6048624"/>
          </a:xfrm>
        </p:spPr>
        <p:txBody>
          <a:bodyPr>
            <a:normAutofit/>
          </a:bodyPr>
          <a:lstStyle/>
          <a:p>
            <a:pPr marL="0" indent="0" algn="ctr">
              <a:buNone/>
            </a:pPr>
            <a:endParaRPr lang="ne-NP" sz="3200" b="1" u="sng" dirty="0">
              <a:cs typeface="Kalimati" pitchFamily="2"/>
            </a:endParaRPr>
          </a:p>
          <a:p>
            <a:pPr marL="0" indent="0" algn="ctr">
              <a:buNone/>
            </a:pPr>
            <a:r>
              <a:rPr lang="en-US" sz="3200" b="1" u="sng" dirty="0">
                <a:cs typeface="Kalimati" pitchFamily="2"/>
              </a:rPr>
              <a:t>Inspiration</a:t>
            </a:r>
            <a:endParaRPr lang="ne-NP" sz="3200" dirty="0"/>
          </a:p>
          <a:p>
            <a:pPr algn="just">
              <a:buFont typeface="Wingdings" panose="05000000000000000000" pitchFamily="2" charset="2"/>
              <a:buChar char="v"/>
            </a:pPr>
            <a:r>
              <a:rPr lang="en-US" sz="3200" dirty="0"/>
              <a:t> All the rights secured to the citizens under the constitution are worth nothing, and a mere bubble, except guaranteed to them by an </a:t>
            </a:r>
            <a:r>
              <a:rPr lang="en-US" sz="3200" b="1" dirty="0"/>
              <a:t>independent and virtuous</a:t>
            </a:r>
            <a:r>
              <a:rPr lang="en-US" sz="3200" dirty="0"/>
              <a:t> judiciary.</a:t>
            </a:r>
          </a:p>
          <a:p>
            <a:pPr algn="r">
              <a:buNone/>
            </a:pPr>
            <a:r>
              <a:rPr lang="en-US" sz="3200" dirty="0"/>
              <a:t>-Andrew Jackson, 7</a:t>
            </a:r>
            <a:r>
              <a:rPr lang="en-US" sz="3200" baseline="30000" dirty="0"/>
              <a:t>th</a:t>
            </a:r>
            <a:r>
              <a:rPr lang="en-US" sz="3200" dirty="0"/>
              <a:t> precedent of USA</a:t>
            </a:r>
            <a:endParaRPr lang="ne-NP" sz="3200" dirty="0"/>
          </a:p>
          <a:p>
            <a:pPr algn="r">
              <a:buNone/>
            </a:pPr>
            <a:endParaRPr lang="en-US" sz="3200" dirty="0"/>
          </a:p>
          <a:p>
            <a:pPr algn="just">
              <a:buFont typeface="Wingdings" panose="05000000000000000000" pitchFamily="2" charset="2"/>
              <a:buChar char="v"/>
            </a:pPr>
            <a:r>
              <a:rPr lang="en-US" sz="3200" dirty="0"/>
              <a:t>I believe that an </a:t>
            </a:r>
            <a:r>
              <a:rPr lang="en-US" sz="3200" b="1" dirty="0"/>
              <a:t>independent</a:t>
            </a:r>
            <a:r>
              <a:rPr lang="en-US" sz="3200" dirty="0"/>
              <a:t> judiciary is the crown jewel of our constitutional republic.</a:t>
            </a:r>
          </a:p>
          <a:p>
            <a:pPr marL="0" indent="0" algn="r">
              <a:buNone/>
            </a:pPr>
            <a:r>
              <a:rPr lang="en-US" sz="3200" dirty="0"/>
              <a:t>-Brett Kavanaugh</a:t>
            </a:r>
          </a:p>
          <a:p>
            <a:pPr marL="0" indent="0" algn="r">
              <a:buNone/>
            </a:pPr>
            <a:r>
              <a:rPr lang="en-US" sz="3200" dirty="0"/>
              <a:t>Associate Justice of US Supreme Court</a:t>
            </a:r>
          </a:p>
          <a:p>
            <a:endParaRPr lang="en-US" sz="3200" dirty="0"/>
          </a:p>
        </p:txBody>
      </p:sp>
      <p:sp>
        <p:nvSpPr>
          <p:cNvPr id="4" name="Slide Number Placeholder 3">
            <a:extLst>
              <a:ext uri="{FF2B5EF4-FFF2-40B4-BE49-F238E27FC236}">
                <a16:creationId xmlns:a16="http://schemas.microsoft.com/office/drawing/2014/main" id="{5F45B67A-458F-85E8-7ABD-89716AE81770}"/>
              </a:ext>
            </a:extLst>
          </p:cNvPr>
          <p:cNvSpPr>
            <a:spLocks noGrp="1"/>
          </p:cNvSpPr>
          <p:nvPr>
            <p:ph type="sldNum" sz="quarter" idx="12"/>
          </p:nvPr>
        </p:nvSpPr>
        <p:spPr/>
        <p:txBody>
          <a:bodyPr/>
          <a:lstStyle/>
          <a:p>
            <a:fld id="{7622E865-B2C1-4A41-88CD-3656CF28B604}" type="slidenum">
              <a:rPr lang="en-US" smtClean="0"/>
              <a:t>4</a:t>
            </a:fld>
            <a:endParaRPr lang="en-US"/>
          </a:p>
        </p:txBody>
      </p:sp>
    </p:spTree>
    <p:extLst>
      <p:ext uri="{BB962C8B-B14F-4D97-AF65-F5344CB8AC3E}">
        <p14:creationId xmlns:p14="http://schemas.microsoft.com/office/powerpoint/2010/main" val="392817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26027-8F86-B76F-6229-CE3864F1CB7F}"/>
              </a:ext>
            </a:extLst>
          </p:cNvPr>
          <p:cNvSpPr>
            <a:spLocks noGrp="1"/>
          </p:cNvSpPr>
          <p:nvPr>
            <p:ph type="title"/>
          </p:nvPr>
        </p:nvSpPr>
        <p:spPr>
          <a:xfrm>
            <a:off x="838200" y="160422"/>
            <a:ext cx="10515600" cy="520616"/>
          </a:xfrm>
        </p:spPr>
        <p:txBody>
          <a:bodyPr>
            <a:noAutofit/>
          </a:bodyPr>
          <a:lstStyle/>
          <a:p>
            <a:pPr algn="ctr"/>
            <a:r>
              <a:rPr lang="ne-NP" sz="3200" b="1" u="sng" dirty="0">
                <a:cs typeface="Kalimati" panose="00000400000000000000" pitchFamily="2"/>
              </a:rPr>
              <a:t>किन स्वतन्त्र न्यायपालिका ?</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7E6AA083-B1DA-D68D-DE5A-E6F50A59420A}"/>
              </a:ext>
            </a:extLst>
          </p:cNvPr>
          <p:cNvSpPr>
            <a:spLocks noGrp="1"/>
          </p:cNvSpPr>
          <p:nvPr>
            <p:ph idx="1"/>
          </p:nvPr>
        </p:nvSpPr>
        <p:spPr>
          <a:xfrm>
            <a:off x="176463" y="681038"/>
            <a:ext cx="11839074" cy="6016540"/>
          </a:xfrm>
        </p:spPr>
        <p:txBody>
          <a:bodyPr>
            <a:noAutofit/>
          </a:bodyPr>
          <a:lstStyle/>
          <a:p>
            <a:pPr algn="just">
              <a:buFont typeface="Wingdings" panose="05000000000000000000" pitchFamily="2" charset="2"/>
              <a:buChar char="v"/>
            </a:pPr>
            <a:r>
              <a:rPr lang="ne-NP" sz="3200" dirty="0">
                <a:cs typeface="Kalimati" panose="00000400000000000000" pitchFamily="2"/>
              </a:rPr>
              <a:t>राज्यका तीन अङ्ग मध्ये कार्यपालिका शक्ति सम्पन्न निकाय हो, जससँग नागरिकलाई दमन गर्ने अत्याधिक शक्ति रहेको हुन्छ। यस्तो दमनको प्रतिरोध गर्न नागरिक सक्षम हुन </a:t>
            </a:r>
            <a:r>
              <a:rPr lang="ne-NP" sz="3200" dirty="0" err="1">
                <a:cs typeface="Kalimati" panose="00000400000000000000" pitchFamily="2"/>
              </a:rPr>
              <a:t>सक्दैनन्।कार्यपालिकाबाट</a:t>
            </a:r>
            <a:r>
              <a:rPr lang="ne-NP" sz="3200" dirty="0">
                <a:cs typeface="Kalimati" panose="00000400000000000000" pitchFamily="2"/>
              </a:rPr>
              <a:t> हुन सक्ने यस्तो दमनलाई राज्य शक्तिको प्रयोगबाट नै जनताको रक्षा गरिनु पर्दछ भन्ने मान्यतामा राज्यको तेस्रो अङ्गको रूपमा स्वतन्त्र न्यायपालिकाको जन्म भएको </a:t>
            </a:r>
            <a:r>
              <a:rPr lang="ne-NP" sz="3200" dirty="0" err="1">
                <a:cs typeface="Kalimati" panose="00000400000000000000" pitchFamily="2"/>
              </a:rPr>
              <a:t>हो।न्यायपालिकालाई</a:t>
            </a:r>
            <a:r>
              <a:rPr lang="ne-NP" sz="3200" dirty="0">
                <a:cs typeface="Kalimati" panose="00000400000000000000" pitchFamily="2"/>
              </a:rPr>
              <a:t> राज्यका अन्य अङ्गको कठपुतली बनाइयो भने नागरिक अधिकार सुरक्षित रहन </a:t>
            </a:r>
            <a:r>
              <a:rPr lang="ne-NP" sz="3200" dirty="0" err="1">
                <a:cs typeface="Kalimati" panose="00000400000000000000" pitchFamily="2"/>
              </a:rPr>
              <a:t>सक्दैन।राज्य</a:t>
            </a:r>
            <a:r>
              <a:rPr lang="ne-NP" sz="3200" dirty="0">
                <a:cs typeface="Kalimati" panose="00000400000000000000" pitchFamily="2"/>
              </a:rPr>
              <a:t> शक्तिको आडमा कार्यपालिकाले गर्ने दुरुपयोगबाट जनतामा पर्न सक्ने यस्तै खतराबाट जोगाउन स्वतन्त्र न्यायपालिका आवश्यक भएको हो।</a:t>
            </a:r>
            <a:endParaRPr lang="en-US" sz="3200" dirty="0">
              <a:cs typeface="Kalimati" panose="00000400000000000000" pitchFamily="2"/>
            </a:endParaRPr>
          </a:p>
          <a:p>
            <a:pPr algn="just">
              <a:buFont typeface="Wingdings" panose="05000000000000000000" pitchFamily="2" charset="2"/>
              <a:buChar char="v"/>
            </a:pPr>
            <a:endParaRPr lang="ne-NP" sz="3200" dirty="0">
              <a:cs typeface="Kalimati" panose="00000400000000000000" pitchFamily="2"/>
            </a:endParaRPr>
          </a:p>
          <a:p>
            <a:pPr algn="just">
              <a:buFont typeface="Wingdings" panose="05000000000000000000" pitchFamily="2" charset="2"/>
              <a:buChar char="v"/>
            </a:pPr>
            <a:r>
              <a:rPr lang="en-US" sz="3200" dirty="0">
                <a:cs typeface="Kalimati" panose="00000400000000000000" pitchFamily="2"/>
              </a:rPr>
              <a:t>Independence of judiciary means independence form executive and legislature, but not the independence from accountability.</a:t>
            </a:r>
            <a:endParaRPr lang="ne-NP" sz="3200" dirty="0">
              <a:cs typeface="Kalimati" panose="00000400000000000000" pitchFamily="2"/>
            </a:endParaRPr>
          </a:p>
          <a:p>
            <a:pPr marL="0" indent="0" algn="r">
              <a:buNone/>
            </a:pPr>
            <a:r>
              <a:rPr lang="ne-NP" sz="3200" dirty="0">
                <a:cs typeface="Kalimati" panose="00000400000000000000" pitchFamily="2"/>
              </a:rPr>
              <a:t> </a:t>
            </a:r>
            <a:r>
              <a:rPr lang="en-US" sz="3200" b="1" dirty="0">
                <a:cs typeface="Kalimati" panose="00000400000000000000" pitchFamily="2"/>
              </a:rPr>
              <a:t>–Prashant Bhushan, an eminent lawyer of India.</a:t>
            </a:r>
          </a:p>
          <a:p>
            <a:pPr marL="0" indent="0" algn="r">
              <a:buNone/>
            </a:pPr>
            <a:r>
              <a:rPr lang="ne-NP" sz="3200" dirty="0">
                <a:cs typeface="Kalimati" panose="00000400000000000000" pitchFamily="2"/>
              </a:rPr>
              <a:t> </a:t>
            </a:r>
            <a:endParaRPr lang="en-US" sz="3200" dirty="0">
              <a:cs typeface="Kalimati" panose="00000400000000000000" pitchFamily="2"/>
            </a:endParaRPr>
          </a:p>
          <a:p>
            <a:endParaRPr lang="en-US" sz="3200" dirty="0"/>
          </a:p>
        </p:txBody>
      </p:sp>
      <p:sp>
        <p:nvSpPr>
          <p:cNvPr id="4" name="Slide Number Placeholder 3">
            <a:extLst>
              <a:ext uri="{FF2B5EF4-FFF2-40B4-BE49-F238E27FC236}">
                <a16:creationId xmlns:a16="http://schemas.microsoft.com/office/drawing/2014/main" id="{0A1BF0F4-0B79-7850-32FA-6AB0C2B7492F}"/>
              </a:ext>
            </a:extLst>
          </p:cNvPr>
          <p:cNvSpPr>
            <a:spLocks noGrp="1"/>
          </p:cNvSpPr>
          <p:nvPr>
            <p:ph type="sldNum" sz="quarter" idx="12"/>
          </p:nvPr>
        </p:nvSpPr>
        <p:spPr/>
        <p:txBody>
          <a:bodyPr/>
          <a:lstStyle/>
          <a:p>
            <a:fld id="{7622E865-B2C1-4A41-88CD-3656CF28B604}" type="slidenum">
              <a:rPr lang="en-US" smtClean="0"/>
              <a:t>5</a:t>
            </a:fld>
            <a:endParaRPr lang="en-US"/>
          </a:p>
        </p:txBody>
      </p:sp>
    </p:spTree>
    <p:extLst>
      <p:ext uri="{BB962C8B-B14F-4D97-AF65-F5344CB8AC3E}">
        <p14:creationId xmlns:p14="http://schemas.microsoft.com/office/powerpoint/2010/main" val="247085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7C1FA-9301-C6FB-C15C-5D73EE1E9EA3}"/>
              </a:ext>
            </a:extLst>
          </p:cNvPr>
          <p:cNvSpPr>
            <a:spLocks noGrp="1"/>
          </p:cNvSpPr>
          <p:nvPr>
            <p:ph type="title"/>
          </p:nvPr>
        </p:nvSpPr>
        <p:spPr>
          <a:xfrm>
            <a:off x="838200" y="136526"/>
            <a:ext cx="10515600" cy="283200"/>
          </a:xfrm>
        </p:spPr>
        <p:txBody>
          <a:bodyPr>
            <a:noAutofit/>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7C0B51E4-2B0C-27DA-2AF8-B076EDB191B1}"/>
              </a:ext>
            </a:extLst>
          </p:cNvPr>
          <p:cNvSpPr>
            <a:spLocks noGrp="1"/>
          </p:cNvSpPr>
          <p:nvPr>
            <p:ph idx="1"/>
          </p:nvPr>
        </p:nvSpPr>
        <p:spPr>
          <a:xfrm>
            <a:off x="164892" y="419726"/>
            <a:ext cx="11917180" cy="6301748"/>
          </a:xfrm>
        </p:spPr>
        <p:txBody>
          <a:bodyPr>
            <a:noAutofit/>
          </a:bodyPr>
          <a:lstStyle/>
          <a:p>
            <a:pPr algn="just">
              <a:buFont typeface="Wingdings" panose="05000000000000000000" pitchFamily="2" charset="2"/>
              <a:buChar char="v"/>
            </a:pPr>
            <a:r>
              <a:rPr lang="ne-NP" sz="3200" dirty="0">
                <a:cs typeface="Kalimati" panose="00000400000000000000" pitchFamily="2"/>
              </a:rPr>
              <a:t>“सरकार भनेको चिल </a:t>
            </a:r>
            <a:r>
              <a:rPr lang="ne-NP" sz="3200" dirty="0" err="1">
                <a:cs typeface="Kalimati" panose="00000400000000000000" pitchFamily="2"/>
              </a:rPr>
              <a:t>हो।नागरिक</a:t>
            </a:r>
            <a:r>
              <a:rPr lang="ne-NP" sz="3200" dirty="0">
                <a:cs typeface="Kalimati" panose="00000400000000000000" pitchFamily="2"/>
              </a:rPr>
              <a:t> भनेका चल्ला </a:t>
            </a:r>
            <a:r>
              <a:rPr lang="ne-NP" sz="3200" dirty="0" err="1">
                <a:cs typeface="Kalimati" panose="00000400000000000000" pitchFamily="2"/>
              </a:rPr>
              <a:t>हुन्।अदालत</a:t>
            </a:r>
            <a:r>
              <a:rPr lang="ne-NP" sz="3200" dirty="0">
                <a:cs typeface="Kalimati" panose="00000400000000000000" pitchFamily="2"/>
              </a:rPr>
              <a:t> </a:t>
            </a:r>
            <a:r>
              <a:rPr lang="ne-NP" sz="3200" dirty="0" err="1">
                <a:cs typeface="Kalimati" panose="00000400000000000000" pitchFamily="2"/>
              </a:rPr>
              <a:t>चल्लाको</a:t>
            </a:r>
            <a:r>
              <a:rPr lang="ne-NP" sz="3200" dirty="0">
                <a:cs typeface="Kalimati" panose="00000400000000000000" pitchFamily="2"/>
              </a:rPr>
              <a:t> माउ </a:t>
            </a:r>
            <a:r>
              <a:rPr lang="ne-NP" sz="3200" dirty="0" err="1">
                <a:cs typeface="Kalimati" panose="00000400000000000000" pitchFamily="2"/>
              </a:rPr>
              <a:t>हो।चिलले</a:t>
            </a:r>
            <a:r>
              <a:rPr lang="ne-NP" sz="3200" dirty="0">
                <a:cs typeface="Kalimati" panose="00000400000000000000" pitchFamily="2"/>
              </a:rPr>
              <a:t> जहिले पनि </a:t>
            </a:r>
            <a:r>
              <a:rPr lang="ne-NP" sz="3200" dirty="0" err="1">
                <a:cs typeface="Kalimati" panose="00000400000000000000" pitchFamily="2"/>
              </a:rPr>
              <a:t>चल्लालाई</a:t>
            </a:r>
            <a:r>
              <a:rPr lang="ne-NP" sz="3200" dirty="0">
                <a:cs typeface="Kalimati" panose="00000400000000000000" pitchFamily="2"/>
              </a:rPr>
              <a:t> गाँज्न </a:t>
            </a:r>
            <a:r>
              <a:rPr lang="ne-NP" sz="3200" dirty="0" err="1">
                <a:cs typeface="Kalimati" panose="00000400000000000000" pitchFamily="2"/>
              </a:rPr>
              <a:t>खोज्छ।त्यसबेला</a:t>
            </a:r>
            <a:r>
              <a:rPr lang="ne-NP" sz="3200" dirty="0">
                <a:cs typeface="Kalimati" panose="00000400000000000000" pitchFamily="2"/>
              </a:rPr>
              <a:t> </a:t>
            </a:r>
            <a:r>
              <a:rPr lang="ne-NP" sz="3200" dirty="0" err="1">
                <a:cs typeface="Kalimati" panose="00000400000000000000" pitchFamily="2"/>
              </a:rPr>
              <a:t>कुखुरा</a:t>
            </a:r>
            <a:r>
              <a:rPr lang="ne-NP" sz="3200" dirty="0">
                <a:cs typeface="Kalimati" panose="00000400000000000000" pitchFamily="2"/>
              </a:rPr>
              <a:t>- को माउले जस्तो आफ्ना </a:t>
            </a:r>
            <a:r>
              <a:rPr lang="ne-NP" sz="3200" dirty="0" err="1">
                <a:cs typeface="Kalimati" panose="00000400000000000000" pitchFamily="2"/>
              </a:rPr>
              <a:t>चल्लालाई</a:t>
            </a:r>
            <a:r>
              <a:rPr lang="ne-NP" sz="3200" dirty="0">
                <a:cs typeface="Kalimati" panose="00000400000000000000" pitchFamily="2"/>
              </a:rPr>
              <a:t> पखेटाले ढाकेर जोगाउनु पर्छ”।</a:t>
            </a:r>
          </a:p>
          <a:p>
            <a:pPr marL="0" indent="0" algn="just">
              <a:buNone/>
            </a:pPr>
            <a:r>
              <a:rPr lang="ne-NP" sz="3200" dirty="0">
                <a:cs typeface="Kalimati" panose="00000400000000000000" pitchFamily="2"/>
              </a:rPr>
              <a:t>(सेक्रेटरी बन मन्त्रालय वि. गजेन्द्र बहादुर प्रधानाङ्ग, </a:t>
            </a:r>
            <a:r>
              <a:rPr lang="ne-NP" sz="3200" dirty="0" err="1">
                <a:cs typeface="Kalimati" panose="00000400000000000000" pitchFamily="2"/>
              </a:rPr>
              <a:t>ने.का.प</a:t>
            </a:r>
            <a:r>
              <a:rPr lang="ne-NP" sz="3200" dirty="0">
                <a:cs typeface="Kalimati" panose="00000400000000000000" pitchFamily="2"/>
              </a:rPr>
              <a:t>. २०१६ नि. नं. १७, पृष्ठ ८६)।</a:t>
            </a:r>
          </a:p>
          <a:p>
            <a:pPr marL="0" indent="0" algn="just">
              <a:buNone/>
            </a:pPr>
            <a:r>
              <a:rPr lang="ne-NP" sz="3200" dirty="0">
                <a:cs typeface="Kalimati" panose="00000400000000000000" pitchFamily="2"/>
              </a:rPr>
              <a:t>प्रधान न्यायाधीश अनिरुद्ध प्र. सिंह, न्यायाधीशहरू सिद्धि बहादुर मल्ल, मीन बहादुर थापा क्षेत्री, रङ्ग नाथ उप्रेती र पशुपति प्रसाद कोइराला)।</a:t>
            </a:r>
          </a:p>
          <a:p>
            <a:pPr algn="just">
              <a:buFont typeface="Wingdings" panose="05000000000000000000" pitchFamily="2" charset="2"/>
              <a:buChar char="v"/>
            </a:pPr>
            <a:r>
              <a:rPr lang="ne-NP" sz="3200" i="1" dirty="0">
                <a:cs typeface="Kalimati" panose="00000400000000000000" pitchFamily="2"/>
              </a:rPr>
              <a:t>“पहिले नै सजाय गर्न अठोट गरी काम कारबाही चलाए </a:t>
            </a:r>
            <a:r>
              <a:rPr lang="ne-NP" sz="3200" i="1" dirty="0" err="1">
                <a:cs typeface="Kalimati" panose="00000400000000000000" pitchFamily="2"/>
              </a:rPr>
              <a:t>उठाएकोलाई</a:t>
            </a:r>
            <a:r>
              <a:rPr lang="ne-NP" sz="3200" i="1" dirty="0">
                <a:cs typeface="Kalimati" panose="00000400000000000000" pitchFamily="2"/>
              </a:rPr>
              <a:t> त </a:t>
            </a:r>
            <a:r>
              <a:rPr lang="ne-NP" sz="3200" i="1" dirty="0" err="1">
                <a:cs typeface="Kalimati" panose="00000400000000000000" pitchFamily="2"/>
              </a:rPr>
              <a:t>न्यायशास्त्रको</a:t>
            </a:r>
            <a:r>
              <a:rPr lang="ne-NP" sz="3200" i="1" dirty="0">
                <a:cs typeface="Kalimati" panose="00000400000000000000" pitchFamily="2"/>
              </a:rPr>
              <a:t> सिद्धान्तमा मिल्ने काम कारबाही भन्न </a:t>
            </a:r>
            <a:r>
              <a:rPr lang="ne-NP" sz="3200" i="1" dirty="0" err="1">
                <a:cs typeface="Kalimati" panose="00000400000000000000" pitchFamily="2"/>
              </a:rPr>
              <a:t>मिल्दैन।यो</a:t>
            </a:r>
            <a:r>
              <a:rPr lang="ne-NP" sz="3200" i="1" dirty="0">
                <a:cs typeface="Kalimati" panose="00000400000000000000" pitchFamily="2"/>
              </a:rPr>
              <a:t>  व्यवहार त शासनमा स्वेच्छाचारिता भावनालाई ल्याउन सम्भव </a:t>
            </a:r>
            <a:r>
              <a:rPr lang="ne-NP" sz="3200" i="1" dirty="0" err="1">
                <a:cs typeface="Kalimati" panose="00000400000000000000" pitchFamily="2"/>
              </a:rPr>
              <a:t>हुन्छ।जो</a:t>
            </a:r>
            <a:r>
              <a:rPr lang="ne-NP" sz="3200" i="1" dirty="0">
                <a:cs typeface="Kalimati" panose="00000400000000000000" pitchFamily="2"/>
              </a:rPr>
              <a:t> कि कहिले </a:t>
            </a:r>
            <a:r>
              <a:rPr lang="ne-NP" sz="3200" i="1" dirty="0" err="1">
                <a:cs typeface="Kalimati" panose="00000400000000000000" pitchFamily="2"/>
              </a:rPr>
              <a:t>काँही</a:t>
            </a:r>
            <a:r>
              <a:rPr lang="ne-NP" sz="3200" i="1" dirty="0">
                <a:cs typeface="Kalimati" panose="00000400000000000000" pitchFamily="2"/>
              </a:rPr>
              <a:t> व्यक्तिगत रिस रागबाट पनि उत्पन्न भई चीलले निर्दोष </a:t>
            </a:r>
            <a:r>
              <a:rPr lang="ne-NP" sz="3200" i="1" dirty="0" err="1">
                <a:cs typeface="Kalimati" panose="00000400000000000000" pitchFamily="2"/>
              </a:rPr>
              <a:t>चल्लालाई</a:t>
            </a:r>
            <a:r>
              <a:rPr lang="en-US" sz="3200" i="1" dirty="0">
                <a:cs typeface="Kalimati" panose="00000400000000000000" pitchFamily="2"/>
              </a:rPr>
              <a:t> </a:t>
            </a:r>
            <a:r>
              <a:rPr lang="ne-NP" sz="3200" i="1" dirty="0">
                <a:cs typeface="Kalimati" panose="00000400000000000000" pitchFamily="2"/>
              </a:rPr>
              <a:t>झम्टे जस्तै कार्यपालिकाले कुनै निर्दोष व्यक्तिलाई झम्टन सम्भव हुन्छ”।</a:t>
            </a:r>
            <a:r>
              <a:rPr lang="ne-NP" sz="3200" dirty="0">
                <a:cs typeface="Kalimati" panose="00000400000000000000" pitchFamily="2"/>
              </a:rPr>
              <a:t> (फैसलाको प्रकरण -१२)</a:t>
            </a: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CCD7703F-B463-8DC3-BE70-C271572B5A23}"/>
              </a:ext>
            </a:extLst>
          </p:cNvPr>
          <p:cNvSpPr>
            <a:spLocks noGrp="1"/>
          </p:cNvSpPr>
          <p:nvPr>
            <p:ph type="sldNum" sz="quarter" idx="12"/>
          </p:nvPr>
        </p:nvSpPr>
        <p:spPr/>
        <p:txBody>
          <a:bodyPr/>
          <a:lstStyle/>
          <a:p>
            <a:fld id="{7622E865-B2C1-4A41-88CD-3656CF28B604}" type="slidenum">
              <a:rPr lang="en-US" smtClean="0"/>
              <a:t>6</a:t>
            </a:fld>
            <a:endParaRPr lang="en-US"/>
          </a:p>
        </p:txBody>
      </p:sp>
    </p:spTree>
    <p:extLst>
      <p:ext uri="{BB962C8B-B14F-4D97-AF65-F5344CB8AC3E}">
        <p14:creationId xmlns:p14="http://schemas.microsoft.com/office/powerpoint/2010/main" val="63339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E3E22-42E6-1B9F-8F60-715291A0CB8B}"/>
              </a:ext>
            </a:extLst>
          </p:cNvPr>
          <p:cNvSpPr>
            <a:spLocks noGrp="1"/>
          </p:cNvSpPr>
          <p:nvPr>
            <p:ph type="title"/>
          </p:nvPr>
        </p:nvSpPr>
        <p:spPr>
          <a:xfrm>
            <a:off x="144379" y="128338"/>
            <a:ext cx="11871158" cy="552700"/>
          </a:xfrm>
        </p:spPr>
        <p:txBody>
          <a:bodyPr>
            <a:normAutofit/>
          </a:bodyPr>
          <a:lstStyle/>
          <a:p>
            <a:pPr algn="ctr"/>
            <a:r>
              <a:rPr lang="ne-NP" sz="3200" b="1" u="sng" dirty="0">
                <a:cs typeface="Kalimati" panose="00000400000000000000" pitchFamily="2"/>
              </a:rPr>
              <a:t>स्वतन्त्र, निष्पक्ष र सक्षम न्यायपालिका हाम्रो जरुवा </a:t>
            </a:r>
            <a:r>
              <a:rPr lang="ne-NP" sz="3200" b="1" u="sng" dirty="0" err="1">
                <a:cs typeface="Kalimati" panose="00000400000000000000" pitchFamily="2"/>
              </a:rPr>
              <a:t>विधिशास्त्र</a:t>
            </a:r>
            <a:r>
              <a:rPr lang="ne-NP" sz="3200" b="1" u="sng" dirty="0">
                <a:cs typeface="Kalimati" panose="00000400000000000000" pitchFamily="2"/>
              </a:rPr>
              <a:t> हो</a:t>
            </a:r>
            <a:endParaRPr lang="en-US" sz="3200" u="sng" dirty="0"/>
          </a:p>
        </p:txBody>
      </p:sp>
      <p:sp>
        <p:nvSpPr>
          <p:cNvPr id="3" name="Content Placeholder 2">
            <a:extLst>
              <a:ext uri="{FF2B5EF4-FFF2-40B4-BE49-F238E27FC236}">
                <a16:creationId xmlns:a16="http://schemas.microsoft.com/office/drawing/2014/main" id="{97AE2E4D-3C3D-C678-4048-CA8207D2AF77}"/>
              </a:ext>
            </a:extLst>
          </p:cNvPr>
          <p:cNvSpPr>
            <a:spLocks noGrp="1"/>
          </p:cNvSpPr>
          <p:nvPr>
            <p:ph idx="1"/>
          </p:nvPr>
        </p:nvSpPr>
        <p:spPr>
          <a:xfrm>
            <a:off x="176463" y="681038"/>
            <a:ext cx="11839074" cy="6048624"/>
          </a:xfrm>
        </p:spPr>
        <p:txBody>
          <a:bodyPr>
            <a:normAutofit/>
          </a:bodyPr>
          <a:lstStyle/>
          <a:p>
            <a:pPr marL="0" indent="0" algn="just">
              <a:buNone/>
            </a:pPr>
            <a:r>
              <a:rPr lang="hi-IN" sz="3200" dirty="0">
                <a:latin typeface="Times New Roman" panose="02020603050405020304" pitchFamily="18" charset="0"/>
                <a:ea typeface="Calibri" panose="020F0502020204030204" pitchFamily="34" charset="0"/>
                <a:cs typeface="Kalimati" panose="00000400000000000000" pitchFamily="2"/>
              </a:rPr>
              <a:t>पृथ्वी नारायण शाहको </a:t>
            </a:r>
            <a:r>
              <a:rPr lang="ne-NP" sz="3200" dirty="0">
                <a:latin typeface="Times New Roman" panose="02020603050405020304" pitchFamily="18" charset="0"/>
                <a:ea typeface="Calibri" panose="020F0502020204030204" pitchFamily="34" charset="0"/>
                <a:cs typeface="Kalimati" panose="00000400000000000000" pitchFamily="2"/>
              </a:rPr>
              <a:t>दिव्य उपदेशमा</a:t>
            </a:r>
            <a:r>
              <a:rPr lang="ne-NP" sz="3200" dirty="0">
                <a:latin typeface="Arial" panose="020B0604020202020204" pitchFamily="34" charset="0"/>
                <a:ea typeface="Calibri" panose="020F0502020204030204" pitchFamily="34" charset="0"/>
                <a:cs typeface="Kokila" panose="020B0604020202020204" pitchFamily="34" charset="0"/>
              </a:rPr>
              <a:t> </a:t>
            </a:r>
            <a:r>
              <a:rPr lang="ne-NP" sz="3200" i="1" dirty="0">
                <a:latin typeface="Times New Roman" panose="02020603050405020304" pitchFamily="18" charset="0"/>
                <a:ea typeface="Calibri" panose="020F0502020204030204" pitchFamily="34" charset="0"/>
                <a:cs typeface="Arial" panose="020B0604020202020204" pitchFamily="34" charset="0"/>
              </a:rPr>
              <a:t>“</a:t>
            </a:r>
            <a:r>
              <a:rPr lang="hi-IN" sz="3200" i="1" dirty="0">
                <a:latin typeface="Times New Roman" panose="02020603050405020304" pitchFamily="18" charset="0"/>
                <a:ea typeface="Calibri" panose="020F0502020204030204" pitchFamily="34" charset="0"/>
                <a:cs typeface="Kalimati" panose="00000400000000000000" pitchFamily="2"/>
              </a:rPr>
              <a:t>अदाल</a:t>
            </a:r>
            <a:r>
              <a:rPr lang="ne-NP" sz="3200" i="1" dirty="0">
                <a:latin typeface="Times New Roman" panose="02020603050405020304" pitchFamily="18" charset="0"/>
                <a:ea typeface="Calibri" panose="020F0502020204030204" pitchFamily="34" charset="0"/>
                <a:cs typeface="Kalimati" panose="00000400000000000000" pitchFamily="2"/>
              </a:rPr>
              <a:t>थ</a:t>
            </a:r>
            <a:r>
              <a:rPr lang="hi-IN" sz="3200" i="1" dirty="0">
                <a:latin typeface="Times New Roman" panose="02020603050405020304" pitchFamily="18" charset="0"/>
                <a:ea typeface="Calibri" panose="020F0502020204030204" pitchFamily="34" charset="0"/>
                <a:cs typeface="Kalimati" panose="00000400000000000000" pitchFamily="2"/>
              </a:rPr>
              <a:t>मा पनि </a:t>
            </a:r>
            <a:r>
              <a:rPr lang="hi-IN" sz="3200" b="1" i="1" dirty="0">
                <a:latin typeface="Times New Roman" panose="02020603050405020304" pitchFamily="18" charset="0"/>
                <a:ea typeface="Calibri" panose="020F0502020204030204" pitchFamily="34" charset="0"/>
                <a:cs typeface="Kalimati" panose="00000400000000000000" pitchFamily="2"/>
              </a:rPr>
              <a:t>ठकुरी </a:t>
            </a:r>
            <a:r>
              <a:rPr lang="hi-IN" sz="3200" i="1" dirty="0">
                <a:latin typeface="Times New Roman" panose="02020603050405020304" pitchFamily="18" charset="0"/>
                <a:ea typeface="Calibri" panose="020F0502020204030204" pitchFamily="34" charset="0"/>
                <a:cs typeface="Kalimati" panose="00000400000000000000" pitchFamily="2"/>
              </a:rPr>
              <a:t>जाँची दिष्ठा राख्नु </a:t>
            </a:r>
            <a:r>
              <a:rPr lang="hi-IN" sz="3200" b="1" i="1" dirty="0">
                <a:latin typeface="Times New Roman" panose="02020603050405020304" pitchFamily="18" charset="0"/>
                <a:ea typeface="Calibri" panose="020F0502020204030204" pitchFamily="34" charset="0"/>
                <a:cs typeface="Kalimati" panose="00000400000000000000" pitchFamily="2"/>
              </a:rPr>
              <a:t>मगर </a:t>
            </a:r>
            <a:r>
              <a:rPr lang="hi-IN" sz="3200" i="1" dirty="0">
                <a:latin typeface="Times New Roman" panose="02020603050405020304" pitchFamily="18" charset="0"/>
                <a:ea typeface="Calibri" panose="020F0502020204030204" pitchFamily="34" charset="0"/>
                <a:cs typeface="Kalimati" panose="00000400000000000000" pitchFamily="2"/>
              </a:rPr>
              <a:t>जाँची विचारी थाप्नु कचहरि पिछे यक् यक् </a:t>
            </a:r>
            <a:r>
              <a:rPr lang="hi-IN" sz="3200" b="1" i="1" dirty="0">
                <a:latin typeface="Times New Roman" panose="02020603050405020304" pitchFamily="18" charset="0"/>
                <a:ea typeface="Calibri" panose="020F0502020204030204" pitchFamily="34" charset="0"/>
                <a:cs typeface="Kalimati" panose="00000400000000000000" pitchFamily="2"/>
              </a:rPr>
              <a:t>पण्डित </a:t>
            </a:r>
            <a:r>
              <a:rPr lang="hi-IN" sz="3200" i="1" dirty="0">
                <a:latin typeface="Times New Roman" panose="02020603050405020304" pitchFamily="18" charset="0"/>
                <a:ea typeface="Calibri" panose="020F0502020204030204" pitchFamily="34" charset="0"/>
                <a:cs typeface="Kalimati" panose="00000400000000000000" pitchFamily="2"/>
              </a:rPr>
              <a:t>राखी निञा सास्त्र बमोजिम अदालथ चलाउनु</a:t>
            </a:r>
            <a:r>
              <a:rPr lang="en-US" sz="3200" i="1" dirty="0">
                <a:latin typeface="Times New Roman" panose="02020603050405020304" pitchFamily="18" charset="0"/>
                <a:ea typeface="Calibri" panose="020F0502020204030204" pitchFamily="34" charset="0"/>
                <a:cs typeface="Kalimati" panose="00000400000000000000" pitchFamily="2"/>
              </a:rPr>
              <a:t>”</a:t>
            </a:r>
            <a:r>
              <a:rPr lang="en-US" sz="3200" dirty="0">
                <a:latin typeface="Times New Roman" panose="02020603050405020304" pitchFamily="18" charset="0"/>
                <a:ea typeface="Calibri" panose="020F0502020204030204" pitchFamily="34" charset="0"/>
                <a:cs typeface="Calibri" panose="020F0502020204030204" pitchFamily="34" charset="0"/>
              </a:rPr>
              <a:t> </a:t>
            </a:r>
            <a:r>
              <a:rPr lang="hi-IN" sz="3200" dirty="0">
                <a:latin typeface="Times New Roman" panose="02020603050405020304" pitchFamily="18" charset="0"/>
                <a:ea typeface="Calibri" panose="020F0502020204030204" pitchFamily="34" charset="0"/>
                <a:cs typeface="Kalimati" panose="00000400000000000000" pitchFamily="2"/>
              </a:rPr>
              <a:t>भन्ने</a:t>
            </a:r>
            <a:r>
              <a:rPr lang="hi-IN" sz="3200" dirty="0">
                <a:latin typeface="Times New Roman" panose="02020603050405020304" pitchFamily="18" charset="0"/>
                <a:ea typeface="Calibri" panose="020F0502020204030204" pitchFamily="34" charset="0"/>
                <a:cs typeface="Times New Roman" panose="02020603050405020304" pitchFamily="18" charset="0"/>
              </a:rPr>
              <a:t> </a:t>
            </a:r>
            <a:r>
              <a:rPr lang="ne-NP" sz="3200" dirty="0">
                <a:latin typeface="Times New Roman" panose="02020603050405020304" pitchFamily="18" charset="0"/>
                <a:ea typeface="Calibri" panose="020F0502020204030204" pitchFamily="34" charset="0"/>
                <a:cs typeface="Kalimati" panose="00000400000000000000" pitchFamily="2"/>
              </a:rPr>
              <a:t>उल्लेख </a:t>
            </a:r>
            <a:r>
              <a:rPr lang="ne-NP" sz="3200" dirty="0" err="1">
                <a:latin typeface="Times New Roman" panose="02020603050405020304" pitchFamily="18" charset="0"/>
                <a:ea typeface="Calibri" panose="020F0502020204030204" pitchFamily="34" charset="0"/>
                <a:cs typeface="Kalimati" panose="00000400000000000000" pitchFamily="2"/>
              </a:rPr>
              <a:t>छ।कसैको</a:t>
            </a:r>
            <a:r>
              <a:rPr lang="ne-NP" sz="3200" dirty="0">
                <a:latin typeface="Times New Roman" panose="02020603050405020304" pitchFamily="18" charset="0"/>
                <a:ea typeface="Calibri" panose="020F0502020204030204" pitchFamily="34" charset="0"/>
                <a:cs typeface="Kalimati" panose="00000400000000000000" pitchFamily="2"/>
              </a:rPr>
              <a:t> दबाब र प्रभावमा नझुक्ने ठकुरीको आँट</a:t>
            </a:r>
            <a:r>
              <a:rPr lang="en-US" sz="3200" dirty="0">
                <a:latin typeface="Times New Roman" panose="02020603050405020304" pitchFamily="18" charset="0"/>
                <a:ea typeface="Calibri" panose="020F0502020204030204" pitchFamily="34" charset="0"/>
                <a:cs typeface="Kalimati" panose="00000400000000000000" pitchFamily="2"/>
              </a:rPr>
              <a:t>, </a:t>
            </a:r>
            <a:r>
              <a:rPr lang="ne-NP" sz="3200" dirty="0">
                <a:latin typeface="Times New Roman" panose="02020603050405020304" pitchFamily="18" charset="0"/>
                <a:ea typeface="Calibri" panose="020F0502020204030204" pitchFamily="34" charset="0"/>
                <a:cs typeface="Kalimati" panose="00000400000000000000" pitchFamily="2"/>
              </a:rPr>
              <a:t>लोभ लालचमा नपर्ने मगरको </a:t>
            </a:r>
            <a:r>
              <a:rPr lang="ne-NP" sz="3200" dirty="0" err="1">
                <a:latin typeface="Times New Roman" panose="02020603050405020304" pitchFamily="18" charset="0"/>
                <a:ea typeface="Calibri" panose="020F0502020204030204" pitchFamily="34" charset="0"/>
                <a:cs typeface="Kalimati" panose="00000400000000000000" pitchFamily="2"/>
              </a:rPr>
              <a:t>इमानदारीता</a:t>
            </a:r>
            <a:r>
              <a:rPr lang="ne-NP" sz="3200" dirty="0">
                <a:latin typeface="Times New Roman" panose="02020603050405020304" pitchFamily="18" charset="0"/>
                <a:ea typeface="Calibri" panose="020F0502020204030204" pitchFamily="34" charset="0"/>
                <a:cs typeface="Kalimati" panose="00000400000000000000" pitchFamily="2"/>
              </a:rPr>
              <a:t> र शास्त्रमा दखल राख्ने बाहुनको विषय विज्ञता हाम्रो समाजका जाती गत विशेषता </a:t>
            </a:r>
            <a:r>
              <a:rPr lang="ne-NP" sz="3200" dirty="0" err="1">
                <a:latin typeface="Times New Roman" panose="02020603050405020304" pitchFamily="18" charset="0"/>
                <a:ea typeface="Calibri" panose="020F0502020204030204" pitchFamily="34" charset="0"/>
                <a:cs typeface="Kalimati" panose="00000400000000000000" pitchFamily="2"/>
              </a:rPr>
              <a:t>हुन्।पृथ्वी</a:t>
            </a:r>
            <a:r>
              <a:rPr lang="ne-NP" sz="3200" dirty="0">
                <a:latin typeface="Times New Roman" panose="02020603050405020304" pitchFamily="18" charset="0"/>
                <a:ea typeface="Calibri" panose="020F0502020204030204" pitchFamily="34" charset="0"/>
                <a:cs typeface="Kalimati" panose="00000400000000000000" pitchFamily="2"/>
              </a:rPr>
              <a:t> नारायण शाहको यस उपदेशमा </a:t>
            </a:r>
            <a:r>
              <a:rPr lang="hi-IN" sz="3200" dirty="0">
                <a:latin typeface="Times New Roman" panose="02020603050405020304" pitchFamily="18" charset="0"/>
                <a:ea typeface="Calibri" panose="020F0502020204030204" pitchFamily="34" charset="0"/>
                <a:cs typeface="Kalimati" panose="00000400000000000000" pitchFamily="2"/>
              </a:rPr>
              <a:t>स्वतन्त्र</a:t>
            </a:r>
            <a:r>
              <a:rPr lang="en-US" sz="3200" dirty="0">
                <a:latin typeface="Times New Roman" panose="02020603050405020304" pitchFamily="18" charset="0"/>
                <a:ea typeface="Calibri" panose="020F0502020204030204" pitchFamily="34" charset="0"/>
                <a:cs typeface="Kalimati" panose="00000400000000000000" pitchFamily="2"/>
              </a:rPr>
              <a:t>, </a:t>
            </a:r>
            <a:r>
              <a:rPr lang="hi-IN" sz="3200" dirty="0">
                <a:latin typeface="Times New Roman" panose="02020603050405020304" pitchFamily="18" charset="0"/>
                <a:ea typeface="Calibri" panose="020F0502020204030204" pitchFamily="34" charset="0"/>
                <a:cs typeface="Kalimati" panose="00000400000000000000" pitchFamily="2"/>
              </a:rPr>
              <a:t>निष्पक्ष र सक्षम न्यायपालिकाका सबै विशेषता समावेश </a:t>
            </a:r>
            <a:r>
              <a:rPr lang="ne-NP" sz="3200" dirty="0">
                <a:latin typeface="Times New Roman" panose="02020603050405020304" pitchFamily="18" charset="0"/>
                <a:ea typeface="Calibri" panose="020F0502020204030204" pitchFamily="34" charset="0"/>
                <a:cs typeface="Kalimati" panose="00000400000000000000" pitchFamily="2"/>
              </a:rPr>
              <a:t>भएको हाम्रो न्याय प्रणाली</a:t>
            </a:r>
            <a:r>
              <a:rPr lang="en-US" sz="3200" dirty="0">
                <a:latin typeface="Times New Roman" panose="02020603050405020304" pitchFamily="18" charset="0"/>
                <a:ea typeface="Calibri" panose="020F0502020204030204" pitchFamily="34" charset="0"/>
                <a:cs typeface="Kalimati" panose="00000400000000000000" pitchFamily="2"/>
              </a:rPr>
              <a:t>- </a:t>
            </a:r>
            <a:r>
              <a:rPr lang="ne-NP" sz="3200" dirty="0">
                <a:latin typeface="Times New Roman" panose="02020603050405020304" pitchFamily="18" charset="0"/>
                <a:ea typeface="Calibri" panose="020F0502020204030204" pitchFamily="34" charset="0"/>
                <a:cs typeface="Kalimati" panose="00000400000000000000" pitchFamily="2"/>
              </a:rPr>
              <a:t>को जरुवा </a:t>
            </a:r>
            <a:r>
              <a:rPr lang="ne-NP" sz="3200" dirty="0" err="1">
                <a:latin typeface="Times New Roman" panose="02020603050405020304" pitchFamily="18" charset="0"/>
                <a:ea typeface="Calibri" panose="020F0502020204030204" pitchFamily="34" charset="0"/>
                <a:cs typeface="Kalimati" panose="00000400000000000000" pitchFamily="2"/>
              </a:rPr>
              <a:t>विधिशास्त्रलाई</a:t>
            </a:r>
            <a:r>
              <a:rPr lang="ne-NP" sz="3200" dirty="0">
                <a:latin typeface="Times New Roman" panose="02020603050405020304" pitchFamily="18" charset="0"/>
                <a:ea typeface="Calibri" panose="020F0502020204030204" pitchFamily="34" charset="0"/>
                <a:cs typeface="Kalimati" panose="00000400000000000000" pitchFamily="2"/>
              </a:rPr>
              <a:t> </a:t>
            </a:r>
            <a:r>
              <a:rPr lang="hi-IN" sz="3200" dirty="0">
                <a:latin typeface="Times New Roman" panose="02020603050405020304" pitchFamily="18" charset="0"/>
                <a:ea typeface="Calibri" panose="020F0502020204030204" pitchFamily="34" charset="0"/>
                <a:cs typeface="Kalimati" panose="00000400000000000000" pitchFamily="2"/>
              </a:rPr>
              <a:t>पश्चि</a:t>
            </a:r>
            <a:r>
              <a:rPr lang="ne-NP" sz="3200" dirty="0">
                <a:latin typeface="Times New Roman" panose="02020603050405020304" pitchFamily="18" charset="0"/>
                <a:ea typeface="Calibri" panose="020F0502020204030204" pitchFamily="34" charset="0"/>
                <a:cs typeface="Kalimati" panose="00000400000000000000" pitchFamily="2"/>
              </a:rPr>
              <a:t>मा </a:t>
            </a:r>
            <a:r>
              <a:rPr lang="hi-IN" sz="3200" dirty="0">
                <a:latin typeface="Times New Roman" panose="02020603050405020304" pitchFamily="18" charset="0"/>
                <a:ea typeface="Calibri" panose="020F0502020204030204" pitchFamily="34" charset="0"/>
                <a:cs typeface="Kalimati" panose="00000400000000000000" pitchFamily="2"/>
              </a:rPr>
              <a:t>विद्वानहरुले कालान्तरमा </a:t>
            </a:r>
            <a:r>
              <a:rPr lang="ne-NP" sz="3200" dirty="0">
                <a:latin typeface="Times New Roman" panose="02020603050405020304" pitchFamily="18" charset="0"/>
                <a:ea typeface="Calibri" panose="020F0502020204030204" pitchFamily="34" charset="0"/>
                <a:cs typeface="Kalimati" panose="00000400000000000000" pitchFamily="2"/>
              </a:rPr>
              <a:t>अदालतको अगाडि </a:t>
            </a:r>
            <a:r>
              <a:rPr lang="en-US" sz="3200" dirty="0">
                <a:ea typeface="Calibri" panose="020F0502020204030204" pitchFamily="34" charset="0"/>
                <a:cs typeface="Kalimati" panose="00000400000000000000" pitchFamily="2"/>
              </a:rPr>
              <a:t>Independent, Impartial </a:t>
            </a:r>
            <a:r>
              <a:rPr lang="hi-IN" sz="3200" dirty="0">
                <a:ea typeface="Calibri" panose="020F0502020204030204" pitchFamily="34" charset="0"/>
                <a:cs typeface="Kalimati" panose="00000400000000000000" pitchFamily="2"/>
              </a:rPr>
              <a:t>र </a:t>
            </a:r>
            <a:r>
              <a:rPr lang="en-US" sz="3200" dirty="0">
                <a:ea typeface="Calibri" panose="020F0502020204030204" pitchFamily="34" charset="0"/>
                <a:cs typeface="Kalimati" panose="00000400000000000000" pitchFamily="2"/>
              </a:rPr>
              <a:t>Competent</a:t>
            </a:r>
            <a:r>
              <a:rPr lang="en-US" sz="3200" i="1" dirty="0">
                <a:ea typeface="Calibri" panose="020F0502020204030204" pitchFamily="34" charset="0"/>
                <a:cs typeface="Kokila" panose="020B0604020202020204" pitchFamily="34" charset="0"/>
              </a:rPr>
              <a:t> </a:t>
            </a:r>
            <a:r>
              <a:rPr lang="ne-NP" sz="3200" dirty="0">
                <a:latin typeface="Times New Roman" panose="02020603050405020304" pitchFamily="18" charset="0"/>
                <a:ea typeface="Calibri" panose="020F0502020204030204" pitchFamily="34" charset="0"/>
                <a:cs typeface="Kalimati" panose="00000400000000000000" pitchFamily="2"/>
              </a:rPr>
              <a:t>जस्ता </a:t>
            </a:r>
            <a:r>
              <a:rPr lang="hi-IN" sz="3200" dirty="0">
                <a:latin typeface="Times New Roman" panose="02020603050405020304" pitchFamily="18" charset="0"/>
                <a:ea typeface="Calibri" panose="020F0502020204030204" pitchFamily="34" charset="0"/>
                <a:cs typeface="Kalimati" panose="00000400000000000000" pitchFamily="2"/>
              </a:rPr>
              <a:t>विशेषण शब्द</a:t>
            </a:r>
            <a:r>
              <a:rPr lang="hi-IN" sz="3200" dirty="0">
                <a:latin typeface="Times New Roman" panose="02020603050405020304" pitchFamily="18" charset="0"/>
                <a:ea typeface="Calibri" panose="020F0502020204030204" pitchFamily="34" charset="0"/>
                <a:cs typeface="Times New Roman" panose="02020603050405020304" pitchFamily="18" charset="0"/>
              </a:rPr>
              <a:t> </a:t>
            </a:r>
            <a:r>
              <a:rPr lang="ne-NP" sz="3200" dirty="0">
                <a:latin typeface="Times New Roman" panose="02020603050405020304" pitchFamily="18" charset="0"/>
                <a:ea typeface="Calibri" panose="020F0502020204030204" pitchFamily="34" charset="0"/>
                <a:cs typeface="Kalimati" panose="00000400000000000000" pitchFamily="2"/>
              </a:rPr>
              <a:t>प्रयोग</a:t>
            </a:r>
            <a:r>
              <a:rPr lang="ne-NP" sz="3200" dirty="0">
                <a:latin typeface="Times New Roman" panose="02020603050405020304" pitchFamily="18" charset="0"/>
                <a:ea typeface="Calibri" panose="020F0502020204030204" pitchFamily="34" charset="0"/>
                <a:cs typeface="Times New Roman" panose="02020603050405020304" pitchFamily="18" charset="0"/>
              </a:rPr>
              <a:t> </a:t>
            </a:r>
            <a:r>
              <a:rPr lang="hi-IN" sz="3200" dirty="0">
                <a:latin typeface="Times New Roman" panose="02020603050405020304" pitchFamily="18" charset="0"/>
                <a:ea typeface="Calibri" panose="020F0502020204030204" pitchFamily="34" charset="0"/>
                <a:cs typeface="Kalimati" panose="00000400000000000000" pitchFamily="2"/>
              </a:rPr>
              <a:t>गरे</a:t>
            </a:r>
            <a:r>
              <a:rPr lang="ne-NP" sz="3200" dirty="0">
                <a:latin typeface="Times New Roman" panose="02020603050405020304" pitchFamily="18" charset="0"/>
                <a:ea typeface="Calibri" panose="020F0502020204030204" pitchFamily="34" charset="0"/>
                <a:cs typeface="Kalimati" panose="00000400000000000000" pitchFamily="2"/>
              </a:rPr>
              <a:t>कोले</a:t>
            </a:r>
            <a:r>
              <a:rPr lang="hi-IN" sz="3200" dirty="0">
                <a:latin typeface="Times New Roman" panose="02020603050405020304" pitchFamily="18" charset="0"/>
                <a:ea typeface="Calibri" panose="020F0502020204030204" pitchFamily="34" charset="0"/>
                <a:cs typeface="Times New Roman" panose="02020603050405020304" pitchFamily="18" charset="0"/>
              </a:rPr>
              <a:t> </a:t>
            </a:r>
            <a:r>
              <a:rPr lang="ne-NP" sz="3200" dirty="0">
                <a:latin typeface="Times New Roman" panose="02020603050405020304" pitchFamily="18" charset="0"/>
                <a:ea typeface="Calibri" panose="020F0502020204030204" pitchFamily="34" charset="0"/>
                <a:cs typeface="Kalimati" panose="00000400000000000000" pitchFamily="2"/>
              </a:rPr>
              <a:t>यो पूर्वबाट पश्चिम लगिएको सरुवा </a:t>
            </a:r>
            <a:r>
              <a:rPr lang="ne-NP" sz="3200" dirty="0" err="1">
                <a:latin typeface="Times New Roman" panose="02020603050405020304" pitchFamily="18" charset="0"/>
                <a:ea typeface="Calibri" panose="020F0502020204030204" pitchFamily="34" charset="0"/>
                <a:cs typeface="Kalimati" panose="00000400000000000000" pitchFamily="2"/>
              </a:rPr>
              <a:t>विधिशास्त्र</a:t>
            </a:r>
            <a:r>
              <a:rPr lang="ne-NP" sz="3200" dirty="0">
                <a:latin typeface="Times New Roman" panose="02020603050405020304" pitchFamily="18" charset="0"/>
                <a:ea typeface="Calibri" panose="020F0502020204030204" pitchFamily="34" charset="0"/>
                <a:cs typeface="Kalimati" panose="00000400000000000000" pitchFamily="2"/>
              </a:rPr>
              <a:t> हो।</a:t>
            </a:r>
            <a:r>
              <a:rPr lang="hi-IN" sz="3200" dirty="0">
                <a:latin typeface="Times New Roman" panose="02020603050405020304" pitchFamily="18" charset="0"/>
                <a:ea typeface="Calibri" panose="020F0502020204030204" pitchFamily="34" charset="0"/>
                <a:cs typeface="Kalimati" panose="00000400000000000000" pitchFamily="2"/>
              </a:rPr>
              <a:t>अङ्ग्रेजी भाषाका</a:t>
            </a:r>
            <a:r>
              <a:rPr lang="hi-IN" sz="3200" dirty="0">
                <a:latin typeface="Times New Roman" panose="02020603050405020304" pitchFamily="18" charset="0"/>
                <a:ea typeface="Calibri" panose="020F0502020204030204" pitchFamily="34" charset="0"/>
                <a:cs typeface="Times New Roman" panose="02020603050405020304" pitchFamily="18" charset="0"/>
              </a:rPr>
              <a:t> </a:t>
            </a:r>
            <a:r>
              <a:rPr lang="ne-NP" sz="3200" dirty="0">
                <a:latin typeface="Times New Roman" panose="02020603050405020304" pitchFamily="18" charset="0"/>
                <a:ea typeface="Calibri" panose="020F0502020204030204" pitchFamily="34" charset="0"/>
                <a:cs typeface="Kalimati" panose="00000400000000000000" pitchFamily="2"/>
              </a:rPr>
              <a:t>ती</a:t>
            </a:r>
            <a:r>
              <a:rPr lang="ne-NP" sz="3200" dirty="0">
                <a:latin typeface="Times New Roman" panose="02020603050405020304" pitchFamily="18" charset="0"/>
                <a:ea typeface="Calibri" panose="020F0502020204030204" pitchFamily="34" charset="0"/>
                <a:cs typeface="Times New Roman" panose="02020603050405020304" pitchFamily="18" charset="0"/>
              </a:rPr>
              <a:t> </a:t>
            </a:r>
            <a:r>
              <a:rPr lang="hi-IN" sz="3200" dirty="0">
                <a:latin typeface="Times New Roman" panose="02020603050405020304" pitchFamily="18" charset="0"/>
                <a:ea typeface="Calibri" panose="020F0502020204030204" pitchFamily="34" charset="0"/>
                <a:cs typeface="Kalimati" panose="00000400000000000000" pitchFamily="2"/>
              </a:rPr>
              <a:t>शब्दलाई नेपाली भाषामा</a:t>
            </a:r>
            <a:r>
              <a:rPr lang="hi-IN" sz="3200" dirty="0">
                <a:latin typeface="Times New Roman" panose="02020603050405020304" pitchFamily="18" charset="0"/>
                <a:ea typeface="Calibri" panose="020F0502020204030204" pitchFamily="34" charset="0"/>
                <a:cs typeface="Times New Roman" panose="02020603050405020304" pitchFamily="18" charset="0"/>
              </a:rPr>
              <a:t> </a:t>
            </a:r>
            <a:r>
              <a:rPr lang="hi-IN" sz="3200" dirty="0">
                <a:latin typeface="Times New Roman" panose="02020603050405020304" pitchFamily="18" charset="0"/>
                <a:ea typeface="Calibri" panose="020F0502020204030204" pitchFamily="34" charset="0"/>
                <a:cs typeface="Kalimati" panose="00000400000000000000" pitchFamily="2"/>
              </a:rPr>
              <a:t>स्वतन्त्र</a:t>
            </a:r>
            <a:r>
              <a:rPr lang="en-US" sz="3200" dirty="0">
                <a:latin typeface="Times New Roman" panose="02020603050405020304" pitchFamily="18" charset="0"/>
                <a:ea typeface="Calibri" panose="020F0502020204030204" pitchFamily="34" charset="0"/>
                <a:cs typeface="Kalimati" panose="00000400000000000000" pitchFamily="2"/>
              </a:rPr>
              <a:t>, </a:t>
            </a:r>
            <a:r>
              <a:rPr lang="hi-IN" sz="3200" dirty="0">
                <a:latin typeface="Times New Roman" panose="02020603050405020304" pitchFamily="18" charset="0"/>
                <a:ea typeface="Calibri" panose="020F0502020204030204" pitchFamily="34" charset="0"/>
                <a:cs typeface="Kalimati" panose="00000400000000000000" pitchFamily="2"/>
              </a:rPr>
              <a:t>निष्पक्ष र सक्षम</a:t>
            </a:r>
            <a:r>
              <a:rPr lang="en-US" sz="3200" dirty="0">
                <a:latin typeface="Times New Roman" panose="02020603050405020304" pitchFamily="18" charset="0"/>
                <a:ea typeface="Calibri" panose="020F0502020204030204" pitchFamily="34" charset="0"/>
                <a:cs typeface="Kalimati" panose="00000400000000000000" pitchFamily="2"/>
              </a:rPr>
              <a:t> </a:t>
            </a:r>
            <a:r>
              <a:rPr lang="hi-IN" sz="3200" dirty="0">
                <a:latin typeface="Times New Roman" panose="02020603050405020304" pitchFamily="18" charset="0"/>
                <a:ea typeface="Calibri" panose="020F0502020204030204" pitchFamily="34" charset="0"/>
                <a:cs typeface="Kalimati" panose="00000400000000000000" pitchFamily="2"/>
              </a:rPr>
              <a:t>भनेर अनुवाद</a:t>
            </a:r>
            <a:r>
              <a:rPr lang="hi-IN" sz="3200" dirty="0">
                <a:latin typeface="Times New Roman" panose="02020603050405020304" pitchFamily="18" charset="0"/>
                <a:ea typeface="Calibri" panose="020F0502020204030204" pitchFamily="34" charset="0"/>
                <a:cs typeface="Times New Roman" panose="02020603050405020304" pitchFamily="18" charset="0"/>
              </a:rPr>
              <a:t> </a:t>
            </a:r>
            <a:r>
              <a:rPr lang="hi-IN" sz="3200" dirty="0">
                <a:latin typeface="Times New Roman" panose="02020603050405020304" pitchFamily="18" charset="0"/>
                <a:ea typeface="Calibri" panose="020F0502020204030204" pitchFamily="34" charset="0"/>
                <a:cs typeface="Kalimati" panose="00000400000000000000" pitchFamily="2"/>
              </a:rPr>
              <a:t>गरी हामीले आफ्</a:t>
            </a:r>
            <a:r>
              <a:rPr lang="ne-NP" sz="3200" dirty="0" err="1">
                <a:latin typeface="Times New Roman" panose="02020603050405020304" pitchFamily="18" charset="0"/>
                <a:ea typeface="Calibri" panose="020F0502020204030204" pitchFamily="34" charset="0"/>
                <a:cs typeface="Kalimati" panose="00000400000000000000" pitchFamily="2"/>
              </a:rPr>
              <a:t>नो</a:t>
            </a:r>
            <a:r>
              <a:rPr lang="ne-NP" sz="3200" dirty="0">
                <a:latin typeface="Times New Roman" panose="02020603050405020304" pitchFamily="18" charset="0"/>
                <a:ea typeface="Calibri" panose="020F0502020204030204" pitchFamily="34" charset="0"/>
                <a:cs typeface="Kalimati" panose="00000400000000000000" pitchFamily="2"/>
              </a:rPr>
              <a:t> </a:t>
            </a:r>
            <a:r>
              <a:rPr lang="hi-IN" sz="3200" dirty="0">
                <a:latin typeface="Times New Roman" panose="02020603050405020304" pitchFamily="18" charset="0"/>
                <a:ea typeface="Calibri" panose="020F0502020204030204" pitchFamily="34" charset="0"/>
                <a:cs typeface="Kalimati" panose="00000400000000000000" pitchFamily="2"/>
              </a:rPr>
              <a:t>न्याय प्रणालीमा </a:t>
            </a:r>
            <a:r>
              <a:rPr lang="ne-NP" sz="3200" dirty="0">
                <a:latin typeface="Times New Roman" panose="02020603050405020304" pitchFamily="18" charset="0"/>
                <a:ea typeface="Calibri" panose="020F0502020204030204" pitchFamily="34" charset="0"/>
                <a:cs typeface="Kalimati" panose="00000400000000000000" pitchFamily="2"/>
              </a:rPr>
              <a:t>पुनः</a:t>
            </a:r>
            <a:r>
              <a:rPr lang="hi-IN" sz="3200" dirty="0">
                <a:latin typeface="Times New Roman" panose="02020603050405020304" pitchFamily="18" charset="0"/>
                <a:ea typeface="Calibri" panose="020F0502020204030204" pitchFamily="34" charset="0"/>
                <a:cs typeface="Kalimati" panose="00000400000000000000" pitchFamily="2"/>
              </a:rPr>
              <a:t> भित्र्याएका हौं</a:t>
            </a:r>
            <a:r>
              <a:rPr lang="en-US" sz="3200" dirty="0">
                <a:latin typeface="Times New Roman" panose="02020603050405020304" pitchFamily="18" charset="0"/>
                <a:ea typeface="Calibri" panose="020F0502020204030204" pitchFamily="34" charset="0"/>
                <a:cs typeface="Kalimati" panose="00000400000000000000" pitchFamily="2"/>
              </a:rPr>
              <a:t>, </a:t>
            </a:r>
            <a:r>
              <a:rPr lang="ne-NP" sz="3200" dirty="0">
                <a:latin typeface="Times New Roman" panose="02020603050405020304" pitchFamily="18" charset="0"/>
                <a:ea typeface="Calibri" panose="020F0502020204030204" pitchFamily="34" charset="0"/>
                <a:cs typeface="Kalimati" panose="00000400000000000000" pitchFamily="2"/>
              </a:rPr>
              <a:t>शब्दार्थ हाम्रो आफ्नै मौलिक</a:t>
            </a:r>
            <a:r>
              <a:rPr lang="ne-NP" sz="3200" dirty="0">
                <a:latin typeface="Times New Roman" panose="02020603050405020304" pitchFamily="18" charset="0"/>
                <a:ea typeface="Calibri" panose="020F0502020204030204" pitchFamily="34" charset="0"/>
                <a:cs typeface="Times New Roman" panose="02020603050405020304" pitchFamily="18" charset="0"/>
              </a:rPr>
              <a:t> </a:t>
            </a:r>
            <a:r>
              <a:rPr lang="ne-NP" sz="3200" dirty="0">
                <a:latin typeface="Times New Roman" panose="02020603050405020304" pitchFamily="18" charset="0"/>
                <a:ea typeface="Calibri" panose="020F0502020204030204" pitchFamily="34" charset="0"/>
                <a:cs typeface="Kalimati" panose="00000400000000000000" pitchFamily="2"/>
              </a:rPr>
              <a:t>हो</a:t>
            </a:r>
            <a:r>
              <a:rPr lang="hi-IN" sz="3200" dirty="0">
                <a:latin typeface="Times New Roman" panose="02020603050405020304" pitchFamily="18" charset="0"/>
                <a:ea typeface="Calibri" panose="020F0502020204030204" pitchFamily="34" charset="0"/>
                <a:cs typeface="Kalimati" panose="00000400000000000000" pitchFamily="2"/>
              </a:rPr>
              <a:t>।</a:t>
            </a:r>
            <a:endParaRPr lang="en-US" sz="3200" dirty="0">
              <a:latin typeface="Times New Roman" panose="02020603050405020304" pitchFamily="18" charset="0"/>
              <a:ea typeface="Calibri" panose="020F0502020204030204" pitchFamily="34" charset="0"/>
              <a:cs typeface="Kalimati" panose="00000400000000000000" pitchFamily="2"/>
            </a:endParaRPr>
          </a:p>
          <a:p>
            <a:pPr algn="just"/>
            <a:endParaRPr lang="en-US" sz="3200" dirty="0"/>
          </a:p>
          <a:p>
            <a:pPr marR="0" lvl="0" algn="just">
              <a:lnSpc>
                <a:spcPct val="115000"/>
              </a:lnSpc>
              <a:spcBef>
                <a:spcPts val="0"/>
              </a:spcBef>
              <a:spcAft>
                <a:spcPts val="1000"/>
              </a:spcAft>
              <a:buFont typeface="Wingdings" panose="05000000000000000000" pitchFamily="2" charset="2"/>
              <a:buChar char="v"/>
            </a:pPr>
            <a:endParaRPr lang="en-US" sz="3200" dirty="0">
              <a:latin typeface="Calibri" panose="020F0502020204030204" pitchFamily="34" charset="0"/>
              <a:ea typeface="Calibri" panose="020F0502020204030204" pitchFamily="34" charset="0"/>
              <a:cs typeface="Mangal" panose="02040503050203030202" pitchFamily="18" charset="0"/>
            </a:endParaRPr>
          </a:p>
          <a:p>
            <a:endParaRPr lang="en-US" sz="3200" dirty="0"/>
          </a:p>
          <a:p>
            <a:endParaRPr lang="en-US" sz="3200" dirty="0"/>
          </a:p>
        </p:txBody>
      </p:sp>
      <p:sp>
        <p:nvSpPr>
          <p:cNvPr id="4" name="Slide Number Placeholder 3">
            <a:extLst>
              <a:ext uri="{FF2B5EF4-FFF2-40B4-BE49-F238E27FC236}">
                <a16:creationId xmlns:a16="http://schemas.microsoft.com/office/drawing/2014/main" id="{444CC675-D832-9217-D65E-A696A8E67621}"/>
              </a:ext>
            </a:extLst>
          </p:cNvPr>
          <p:cNvSpPr>
            <a:spLocks noGrp="1"/>
          </p:cNvSpPr>
          <p:nvPr>
            <p:ph type="sldNum" sz="quarter" idx="12"/>
          </p:nvPr>
        </p:nvSpPr>
        <p:spPr/>
        <p:txBody>
          <a:bodyPr/>
          <a:lstStyle/>
          <a:p>
            <a:fld id="{7622E865-B2C1-4A41-88CD-3656CF28B604}" type="slidenum">
              <a:rPr lang="en-US" smtClean="0"/>
              <a:t>7</a:t>
            </a:fld>
            <a:endParaRPr lang="en-US"/>
          </a:p>
        </p:txBody>
      </p:sp>
    </p:spTree>
    <p:extLst>
      <p:ext uri="{BB962C8B-B14F-4D97-AF65-F5344CB8AC3E}">
        <p14:creationId xmlns:p14="http://schemas.microsoft.com/office/powerpoint/2010/main" val="2064630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5523B-4917-C1C3-98B6-F714C079800F}"/>
              </a:ext>
            </a:extLst>
          </p:cNvPr>
          <p:cNvSpPr>
            <a:spLocks noGrp="1"/>
          </p:cNvSpPr>
          <p:nvPr>
            <p:ph type="title"/>
          </p:nvPr>
        </p:nvSpPr>
        <p:spPr>
          <a:xfrm>
            <a:off x="838200" y="176464"/>
            <a:ext cx="10515600" cy="641684"/>
          </a:xfrm>
        </p:spPr>
        <p:txBody>
          <a:bodyPr>
            <a:normAutofit/>
          </a:bodyPr>
          <a:lstStyle/>
          <a:p>
            <a:pPr algn="ctr"/>
            <a:r>
              <a:rPr lang="ne-NP" sz="3200" b="1" u="sng" dirty="0">
                <a:cs typeface="Kalimati" panose="00000400000000000000" pitchFamily="2"/>
              </a:rPr>
              <a:t>बाटोले बोकाएको जिम्मेवारी</a:t>
            </a:r>
            <a:endParaRPr lang="en-US" sz="3200" dirty="0"/>
          </a:p>
        </p:txBody>
      </p:sp>
      <p:sp>
        <p:nvSpPr>
          <p:cNvPr id="3" name="Content Placeholder 2">
            <a:extLst>
              <a:ext uri="{FF2B5EF4-FFF2-40B4-BE49-F238E27FC236}">
                <a16:creationId xmlns:a16="http://schemas.microsoft.com/office/drawing/2014/main" id="{CA1B07AF-4251-23F0-5B39-9321C3559EA2}"/>
              </a:ext>
            </a:extLst>
          </p:cNvPr>
          <p:cNvSpPr>
            <a:spLocks noGrp="1"/>
          </p:cNvSpPr>
          <p:nvPr>
            <p:ph idx="1"/>
          </p:nvPr>
        </p:nvSpPr>
        <p:spPr>
          <a:xfrm>
            <a:off x="144379" y="705852"/>
            <a:ext cx="11887200" cy="5975683"/>
          </a:xfrm>
        </p:spPr>
        <p:txBody>
          <a:bodyPr>
            <a:normAutofit/>
          </a:bodyPr>
          <a:lstStyle/>
          <a:p>
            <a:pPr algn="just">
              <a:buFont typeface="Wingdings" panose="05000000000000000000" pitchFamily="2" charset="2"/>
              <a:buChar char="v"/>
            </a:pPr>
            <a:r>
              <a:rPr lang="ne-NP" sz="3200" dirty="0">
                <a:cs typeface="Kalimati" panose="00000400000000000000" pitchFamily="2"/>
              </a:rPr>
              <a:t>तत्कालीन प्रधानमन्त्री जुद्ध शमशेरले १९९७ साल असार १२ गते दुई </a:t>
            </a:r>
            <a:r>
              <a:rPr lang="ne-NP" sz="3200" dirty="0" err="1">
                <a:cs typeface="Kalimati" panose="00000400000000000000" pitchFamily="2"/>
              </a:rPr>
              <a:t>पृथक-पृथक</a:t>
            </a:r>
            <a:r>
              <a:rPr lang="ne-NP" sz="3200" dirty="0">
                <a:cs typeface="Kalimati" panose="00000400000000000000" pitchFamily="2"/>
              </a:rPr>
              <a:t> सनद जारी गरी सदरमा प्रधान न्यायालय र मोफसलमा बुटवल, धनकुटा, डोटी </a:t>
            </a:r>
            <a:r>
              <a:rPr lang="ne-NP" sz="3200" dirty="0" err="1">
                <a:cs typeface="Kalimati" panose="00000400000000000000" pitchFamily="2"/>
              </a:rPr>
              <a:t>कटरवन</a:t>
            </a:r>
            <a:r>
              <a:rPr lang="ne-NP" sz="3200" dirty="0">
                <a:cs typeface="Kalimati" panose="00000400000000000000" pitchFamily="2"/>
              </a:rPr>
              <a:t>, पाल्पा आदि १० ठाउँमा अपिल अड्डाको स्थापना गरेका थिए।</a:t>
            </a:r>
          </a:p>
          <a:p>
            <a:pPr algn="just">
              <a:buFont typeface="Wingdings" panose="05000000000000000000" pitchFamily="2" charset="2"/>
              <a:buChar char="v"/>
            </a:pPr>
            <a:r>
              <a:rPr lang="ne-NP" sz="3200" dirty="0">
                <a:cs typeface="Kalimati" panose="00000400000000000000" pitchFamily="2"/>
              </a:rPr>
              <a:t>सनद बमोजिम स्थापना गरिएका अदालतले साउन १ गतेबाट </a:t>
            </a:r>
            <a:r>
              <a:rPr lang="ne-NP" sz="3200" dirty="0" err="1">
                <a:cs typeface="Kalimati" panose="00000400000000000000" pitchFamily="2"/>
              </a:rPr>
              <a:t>कार्यारम्भ</a:t>
            </a:r>
            <a:r>
              <a:rPr lang="ne-NP" sz="3200" dirty="0">
                <a:cs typeface="Kalimati" panose="00000400000000000000" pitchFamily="2"/>
              </a:rPr>
              <a:t> गरेको ८५ वर्ष पुरा भयो।</a:t>
            </a:r>
          </a:p>
          <a:p>
            <a:pPr algn="just">
              <a:buFont typeface="Wingdings" panose="05000000000000000000" pitchFamily="2" charset="2"/>
              <a:buChar char="v"/>
            </a:pPr>
            <a:r>
              <a:rPr lang="ne-NP" sz="3200" dirty="0">
                <a:cs typeface="Kalimati" panose="00000400000000000000" pitchFamily="2"/>
              </a:rPr>
              <a:t>२०१३ सालमा प्रधान न्यायालयको नाम परिवर्तन गरी सर्वोच्च अदालत </a:t>
            </a:r>
            <a:r>
              <a:rPr lang="ne-NP" sz="3200" dirty="0" err="1">
                <a:cs typeface="Kalimati" panose="00000400000000000000" pitchFamily="2"/>
              </a:rPr>
              <a:t>नामाकरण</a:t>
            </a:r>
            <a:r>
              <a:rPr lang="ne-NP" sz="3200" dirty="0">
                <a:cs typeface="Kalimati" panose="00000400000000000000" pitchFamily="2"/>
              </a:rPr>
              <a:t> गरिएको।</a:t>
            </a:r>
          </a:p>
          <a:p>
            <a:pPr algn="just">
              <a:buFont typeface="Wingdings" panose="05000000000000000000" pitchFamily="2" charset="2"/>
              <a:buChar char="v"/>
            </a:pPr>
            <a:r>
              <a:rPr lang="ne-NP" sz="3200" dirty="0">
                <a:cs typeface="Kalimati" panose="00000400000000000000" pitchFamily="2"/>
              </a:rPr>
              <a:t>प्रधान न्यायालय राखिएको भवनले निर्वाह नहुने ठानी २०१३ सालमा </a:t>
            </a:r>
            <a:r>
              <a:rPr lang="ne-NP" sz="3200" b="1" dirty="0">
                <a:cs typeface="Kalimati" panose="00000400000000000000" pitchFamily="2"/>
              </a:rPr>
              <a:t>रामशाह पथमा </a:t>
            </a:r>
            <a:r>
              <a:rPr lang="ne-NP" sz="3200" dirty="0">
                <a:cs typeface="Kalimati" panose="00000400000000000000" pitchFamily="2"/>
              </a:rPr>
              <a:t>हालको भवन निर्माण प्रारम्भ गरी २०१९ सालमा सो भवनमा सर्वोच्च अदालत सारिएको हो। </a:t>
            </a:r>
            <a:endParaRPr lang="en-US" sz="3200" dirty="0">
              <a:cs typeface="Kalimati" panose="00000400000000000000" pitchFamily="2"/>
            </a:endParaRPr>
          </a:p>
          <a:p>
            <a:endParaRPr lang="en-US" sz="3200" dirty="0"/>
          </a:p>
        </p:txBody>
      </p:sp>
      <p:sp>
        <p:nvSpPr>
          <p:cNvPr id="4" name="Slide Number Placeholder 3">
            <a:extLst>
              <a:ext uri="{FF2B5EF4-FFF2-40B4-BE49-F238E27FC236}">
                <a16:creationId xmlns:a16="http://schemas.microsoft.com/office/drawing/2014/main" id="{1CF71B03-1AC7-5550-7CA7-33A97D095A6D}"/>
              </a:ext>
            </a:extLst>
          </p:cNvPr>
          <p:cNvSpPr>
            <a:spLocks noGrp="1"/>
          </p:cNvSpPr>
          <p:nvPr>
            <p:ph type="sldNum" sz="quarter" idx="12"/>
          </p:nvPr>
        </p:nvSpPr>
        <p:spPr/>
        <p:txBody>
          <a:bodyPr/>
          <a:lstStyle/>
          <a:p>
            <a:fld id="{7622E865-B2C1-4A41-88CD-3656CF28B604}" type="slidenum">
              <a:rPr lang="en-US" smtClean="0"/>
              <a:t>8</a:t>
            </a:fld>
            <a:endParaRPr lang="en-US"/>
          </a:p>
        </p:txBody>
      </p:sp>
    </p:spTree>
    <p:extLst>
      <p:ext uri="{BB962C8B-B14F-4D97-AF65-F5344CB8AC3E}">
        <p14:creationId xmlns:p14="http://schemas.microsoft.com/office/powerpoint/2010/main" val="330430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C159A-8C65-CD14-8502-1207ECC4BCBB}"/>
              </a:ext>
            </a:extLst>
          </p:cNvPr>
          <p:cNvSpPr>
            <a:spLocks noGrp="1"/>
          </p:cNvSpPr>
          <p:nvPr>
            <p:ph type="title"/>
          </p:nvPr>
        </p:nvSpPr>
        <p:spPr>
          <a:xfrm>
            <a:off x="192505" y="128338"/>
            <a:ext cx="11161295" cy="552700"/>
          </a:xfrm>
        </p:spPr>
        <p:txBody>
          <a:bodyPr>
            <a:noAutofit/>
          </a:bodyPr>
          <a:lstStyle/>
          <a:p>
            <a:pPr algn="ctr"/>
            <a:br>
              <a:rPr lang="ne-NP" sz="3200" b="1" u="sng" dirty="0">
                <a:latin typeface="+mn-lt"/>
                <a:cs typeface="Kalimati" pitchFamily="2"/>
              </a:rPr>
            </a:br>
            <a:r>
              <a:rPr lang="ne-NP" sz="3200" b="1" u="sng" dirty="0">
                <a:latin typeface="+mn-lt"/>
                <a:cs typeface="Kalimati" pitchFamily="2"/>
              </a:rPr>
              <a:t>न्यायिक स्वतन्त्रता कायम राख्न न्यायाधीशमा चाहिने गुणहरू</a:t>
            </a:r>
            <a:br>
              <a:rPr lang="ne-NP" sz="3200" b="1" u="sng" dirty="0">
                <a:latin typeface="+mn-lt"/>
                <a:cs typeface="Kalimati" pitchFamily="2"/>
              </a:rPr>
            </a:br>
            <a:endParaRPr lang="en-US" sz="3200" dirty="0">
              <a:latin typeface="+mn-lt"/>
            </a:endParaRPr>
          </a:p>
        </p:txBody>
      </p:sp>
      <p:sp>
        <p:nvSpPr>
          <p:cNvPr id="3" name="Content Placeholder 2">
            <a:extLst>
              <a:ext uri="{FF2B5EF4-FFF2-40B4-BE49-F238E27FC236}">
                <a16:creationId xmlns:a16="http://schemas.microsoft.com/office/drawing/2014/main" id="{4438F19E-E910-D333-CD2B-358E0488610B}"/>
              </a:ext>
            </a:extLst>
          </p:cNvPr>
          <p:cNvSpPr>
            <a:spLocks noGrp="1"/>
          </p:cNvSpPr>
          <p:nvPr>
            <p:ph idx="1"/>
          </p:nvPr>
        </p:nvSpPr>
        <p:spPr>
          <a:xfrm>
            <a:off x="144379" y="681038"/>
            <a:ext cx="11855116" cy="6048624"/>
          </a:xfrm>
        </p:spPr>
        <p:txBody>
          <a:bodyPr>
            <a:normAutofit/>
          </a:bodyPr>
          <a:lstStyle/>
          <a:p>
            <a:pPr marL="0" indent="0">
              <a:buNone/>
            </a:pPr>
            <a:r>
              <a:rPr lang="ne-NP" sz="3200" b="1" dirty="0" err="1">
                <a:cs typeface="Kalimati" pitchFamily="2"/>
              </a:rPr>
              <a:t>क.</a:t>
            </a:r>
            <a:r>
              <a:rPr lang="ne-NP" sz="3200" b="1" u="sng" dirty="0" err="1">
                <a:cs typeface="Kalimati" pitchFamily="2"/>
              </a:rPr>
              <a:t>साहस</a:t>
            </a:r>
            <a:r>
              <a:rPr lang="ne-NP" sz="3200" b="1" u="sng" dirty="0">
                <a:cs typeface="Kalimati" pitchFamily="2"/>
              </a:rPr>
              <a:t> </a:t>
            </a:r>
            <a:r>
              <a:rPr lang="en-US" sz="3200" b="1" u="sng" dirty="0">
                <a:cs typeface="Kalimati" pitchFamily="2"/>
              </a:rPr>
              <a:t>(Boldness of Judge)</a:t>
            </a:r>
            <a:br>
              <a:rPr lang="ne-NP" sz="3200" b="1" u="sng" dirty="0">
                <a:cs typeface="Kalimati" pitchFamily="2"/>
              </a:rPr>
            </a:br>
            <a:endParaRPr lang="ne-NP" sz="3200" b="1" u="sng" dirty="0">
              <a:cs typeface="Kalimati" pitchFamily="2"/>
            </a:endParaRPr>
          </a:p>
          <a:p>
            <a:pPr marL="0" indent="0" algn="just">
              <a:buNone/>
            </a:pPr>
            <a:r>
              <a:rPr lang="ne-NP" sz="3200" dirty="0" err="1">
                <a:cs typeface="Kalimati" pitchFamily="2"/>
              </a:rPr>
              <a:t>हंशराज</a:t>
            </a:r>
            <a:r>
              <a:rPr lang="ne-NP" sz="3200" dirty="0">
                <a:cs typeface="Kalimati" pitchFamily="2"/>
              </a:rPr>
              <a:t> </a:t>
            </a:r>
            <a:r>
              <a:rPr lang="ne-NP" sz="3200" dirty="0" err="1">
                <a:cs typeface="Kalimati" pitchFamily="2"/>
              </a:rPr>
              <a:t>खन्ना</a:t>
            </a:r>
            <a:r>
              <a:rPr lang="en-US" sz="3200" dirty="0">
                <a:cs typeface="Kalimati" pitchFamily="2"/>
              </a:rPr>
              <a:t> (1912-2008)</a:t>
            </a:r>
            <a:r>
              <a:rPr lang="ne-NP" sz="3200" dirty="0">
                <a:cs typeface="Kalimati" pitchFamily="2"/>
              </a:rPr>
              <a:t> सन् १९७१ देखि १९७७ सम्म भारतीय सर्वोच्च अदालतका न्यायाधीश थिए।</a:t>
            </a:r>
            <a:r>
              <a:rPr lang="en-US" sz="3200" dirty="0" err="1">
                <a:cs typeface="Kalimati" pitchFamily="2"/>
              </a:rPr>
              <a:t>Keshavanand</a:t>
            </a:r>
            <a:r>
              <a:rPr lang="en-US" sz="3200" dirty="0">
                <a:cs typeface="Kalimati" pitchFamily="2"/>
              </a:rPr>
              <a:t> Bharati Vs. State of Kerala </a:t>
            </a:r>
            <a:r>
              <a:rPr lang="ne-NP" sz="3200" dirty="0">
                <a:cs typeface="Kalimati" pitchFamily="2"/>
              </a:rPr>
              <a:t>को मुद्दा (१९७३) मा </a:t>
            </a:r>
            <a:r>
              <a:rPr lang="en-US" sz="3200" dirty="0">
                <a:cs typeface="Kalimati" pitchFamily="2"/>
              </a:rPr>
              <a:t>Basic Structure Doctrine</a:t>
            </a:r>
            <a:r>
              <a:rPr lang="ne-NP" sz="3200" dirty="0">
                <a:cs typeface="Kalimati" pitchFamily="2"/>
              </a:rPr>
              <a:t> प्रतिपादन गर्ने न्यायाधीश </a:t>
            </a:r>
            <a:r>
              <a:rPr lang="ne-NP" sz="3200" dirty="0" err="1">
                <a:cs typeface="Kalimati" pitchFamily="2"/>
              </a:rPr>
              <a:t>उनै</a:t>
            </a:r>
            <a:r>
              <a:rPr lang="ne-NP" sz="3200" dirty="0">
                <a:cs typeface="Kalimati" pitchFamily="2"/>
              </a:rPr>
              <a:t> </a:t>
            </a:r>
            <a:r>
              <a:rPr lang="ne-NP" sz="3200" dirty="0" err="1">
                <a:cs typeface="Kalimati" pitchFamily="2"/>
              </a:rPr>
              <a:t>खन्ना</a:t>
            </a:r>
            <a:r>
              <a:rPr lang="ne-NP" sz="3200" dirty="0">
                <a:cs typeface="Kalimati" pitchFamily="2"/>
              </a:rPr>
              <a:t> हुन्।१३ जना न्यायाधीश सम्मिलित इजलासमा निवेदकको पक्षमा बहुमतमा ७ र विपक्षीको पक्षमा राय बझाउने अल्पमतमा ६ जना न्यायाधीश भए पनि बहुमतको राय खन्नाले लेखेका </a:t>
            </a:r>
            <a:r>
              <a:rPr lang="ne-NP" sz="3200" dirty="0" err="1">
                <a:cs typeface="Kalimati" pitchFamily="2"/>
              </a:rPr>
              <a:t>थिए।भारतीय</a:t>
            </a:r>
            <a:r>
              <a:rPr lang="ne-NP" sz="3200" dirty="0">
                <a:cs typeface="Kalimati" pitchFamily="2"/>
              </a:rPr>
              <a:t> संसदले संविधानलाई जस्तोसुकै तवरले संशोधन गर्न सक्छ भन्ने मान्यताका विरुद्धमा संविधानको आधारभूत संरचना </a:t>
            </a:r>
            <a:r>
              <a:rPr lang="ne-NP" sz="3200" dirty="0" err="1">
                <a:cs typeface="Kalimati" pitchFamily="2"/>
              </a:rPr>
              <a:t>विपरित</a:t>
            </a:r>
            <a:r>
              <a:rPr lang="ne-NP" sz="3200" dirty="0">
                <a:cs typeface="Kalimati" pitchFamily="2"/>
              </a:rPr>
              <a:t> हुने गरी संसदले संविधान संशोधन गर्न नमिल्ने र नसक्ने धारणा उनले सो मुद्दाको फैसलामा व्यक्त गरेका थिए।</a:t>
            </a:r>
            <a:endParaRPr lang="en-US" sz="3200" dirty="0">
              <a:cs typeface="Kalimati" pitchFamily="2"/>
            </a:endParaRPr>
          </a:p>
          <a:p>
            <a:pPr algn="just"/>
            <a:endParaRPr lang="en-US" sz="3200" dirty="0"/>
          </a:p>
        </p:txBody>
      </p:sp>
      <p:sp>
        <p:nvSpPr>
          <p:cNvPr id="4" name="Slide Number Placeholder 3">
            <a:extLst>
              <a:ext uri="{FF2B5EF4-FFF2-40B4-BE49-F238E27FC236}">
                <a16:creationId xmlns:a16="http://schemas.microsoft.com/office/drawing/2014/main" id="{67BD02EC-35F7-6A8A-F944-D4FA7B349238}"/>
              </a:ext>
            </a:extLst>
          </p:cNvPr>
          <p:cNvSpPr>
            <a:spLocks noGrp="1"/>
          </p:cNvSpPr>
          <p:nvPr>
            <p:ph type="sldNum" sz="quarter" idx="12"/>
          </p:nvPr>
        </p:nvSpPr>
        <p:spPr/>
        <p:txBody>
          <a:bodyPr/>
          <a:lstStyle/>
          <a:p>
            <a:fld id="{7622E865-B2C1-4A41-88CD-3656CF28B604}" type="slidenum">
              <a:rPr lang="en-US" smtClean="0"/>
              <a:t>9</a:t>
            </a:fld>
            <a:endParaRPr lang="en-US"/>
          </a:p>
        </p:txBody>
      </p:sp>
    </p:spTree>
    <p:extLst>
      <p:ext uri="{BB962C8B-B14F-4D97-AF65-F5344CB8AC3E}">
        <p14:creationId xmlns:p14="http://schemas.microsoft.com/office/powerpoint/2010/main" val="457714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BF360-B630-592E-A921-7B74B40C7044}"/>
              </a:ext>
            </a:extLst>
          </p:cNvPr>
          <p:cNvSpPr>
            <a:spLocks noGrp="1"/>
          </p:cNvSpPr>
          <p:nvPr>
            <p:ph type="title"/>
          </p:nvPr>
        </p:nvSpPr>
        <p:spPr>
          <a:xfrm>
            <a:off x="838200" y="144380"/>
            <a:ext cx="10515600" cy="304800"/>
          </a:xfrm>
        </p:spPr>
        <p:txBody>
          <a:bodyPr>
            <a:normAutofit fontScale="90000"/>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E1C49D07-CDE8-04DF-03CA-23AE20F62E95}"/>
              </a:ext>
            </a:extLst>
          </p:cNvPr>
          <p:cNvSpPr>
            <a:spLocks noGrp="1"/>
          </p:cNvSpPr>
          <p:nvPr>
            <p:ph idx="1"/>
          </p:nvPr>
        </p:nvSpPr>
        <p:spPr>
          <a:xfrm>
            <a:off x="256673" y="449180"/>
            <a:ext cx="11806989" cy="6264440"/>
          </a:xfrm>
        </p:spPr>
        <p:txBody>
          <a:bodyPr>
            <a:noAutofit/>
          </a:bodyPr>
          <a:lstStyle/>
          <a:p>
            <a:pPr algn="just">
              <a:buFont typeface="Wingdings" panose="05000000000000000000" pitchFamily="2" charset="2"/>
              <a:buChar char="v"/>
            </a:pPr>
            <a:r>
              <a:rPr lang="ne-NP" sz="3200" dirty="0">
                <a:cs typeface="Kalimati" pitchFamily="2"/>
              </a:rPr>
              <a:t>न्यायाधीश खन्नाले आँट देखाएको अर्को  मुद्दा  </a:t>
            </a:r>
            <a:r>
              <a:rPr lang="en-US" sz="3200" dirty="0">
                <a:cs typeface="Kalimati" pitchFamily="2"/>
              </a:rPr>
              <a:t>A. D. M. Jabalpur Vs. Shiva Kant </a:t>
            </a:r>
            <a:r>
              <a:rPr lang="en-US" sz="3200" dirty="0" err="1">
                <a:cs typeface="Kalimati" pitchFamily="2"/>
              </a:rPr>
              <a:t>Sukla</a:t>
            </a:r>
            <a:r>
              <a:rPr lang="en-US" sz="3200" dirty="0">
                <a:cs typeface="Kalimati" pitchFamily="2"/>
              </a:rPr>
              <a:t> (1976)</a:t>
            </a:r>
            <a:r>
              <a:rPr lang="ne-NP" sz="3200" dirty="0">
                <a:cs typeface="Kalimati" pitchFamily="2"/>
              </a:rPr>
              <a:t> </a:t>
            </a:r>
            <a:r>
              <a:rPr lang="ne-NP" sz="3200" dirty="0" err="1">
                <a:cs typeface="Kalimati" pitchFamily="2"/>
              </a:rPr>
              <a:t>हो।इन्दिरा</a:t>
            </a:r>
            <a:r>
              <a:rPr lang="ne-NP" sz="3200" dirty="0">
                <a:cs typeface="Kalimati" pitchFamily="2"/>
              </a:rPr>
              <a:t> गान्धी सरकारबाट आपत्काल </a:t>
            </a:r>
            <a:r>
              <a:rPr lang="en-US" sz="3200" dirty="0">
                <a:cs typeface="Kalimati" pitchFamily="2"/>
              </a:rPr>
              <a:t>(Emergency)</a:t>
            </a:r>
            <a:r>
              <a:rPr lang="ne-NP" sz="3200" dirty="0">
                <a:cs typeface="Kalimati" pitchFamily="2"/>
              </a:rPr>
              <a:t> को घोषणा गरी धेरै विपक्षी नेताहरूलाई</a:t>
            </a:r>
            <a:r>
              <a:rPr lang="en-US" sz="3200" dirty="0">
                <a:cs typeface="Kalimati" pitchFamily="2"/>
              </a:rPr>
              <a:t> MISA</a:t>
            </a:r>
            <a:r>
              <a:rPr lang="ne-NP" sz="3200" dirty="0">
                <a:cs typeface="Kalimati" pitchFamily="2"/>
              </a:rPr>
              <a:t> को अधिकार प्रयोग गरी थुनामा </a:t>
            </a:r>
            <a:r>
              <a:rPr lang="ne-NP" sz="3200" dirty="0" err="1">
                <a:cs typeface="Kalimati" pitchFamily="2"/>
              </a:rPr>
              <a:t>राखियो।थुनिनेहरुले</a:t>
            </a:r>
            <a:r>
              <a:rPr lang="ne-NP" sz="3200" dirty="0">
                <a:cs typeface="Kalimati" pitchFamily="2"/>
              </a:rPr>
              <a:t> उच्च अदालतमा बन्दीप्रत्यक्षीकरणको </a:t>
            </a:r>
            <a:r>
              <a:rPr lang="ne-NP" sz="3200" dirty="0" err="1">
                <a:cs typeface="Kalimati" pitchFamily="2"/>
              </a:rPr>
              <a:t>निवेदन</a:t>
            </a:r>
            <a:r>
              <a:rPr lang="ne-NP" sz="3200" dirty="0">
                <a:cs typeface="Kalimati" pitchFamily="2"/>
              </a:rPr>
              <a:t> हालेकोले </a:t>
            </a:r>
            <a:r>
              <a:rPr lang="ne-NP" sz="3200" dirty="0" err="1">
                <a:cs typeface="Kalimati" pitchFamily="2"/>
              </a:rPr>
              <a:t>निवेदनको</a:t>
            </a:r>
            <a:r>
              <a:rPr lang="ne-NP" sz="3200" dirty="0">
                <a:cs typeface="Kalimati" pitchFamily="2"/>
              </a:rPr>
              <a:t> ओइरो नै लाग्यो र गैर </a:t>
            </a:r>
            <a:r>
              <a:rPr lang="ne-NP" sz="3200" dirty="0" err="1">
                <a:cs typeface="Kalimati" pitchFamily="2"/>
              </a:rPr>
              <a:t>कानूनी</a:t>
            </a:r>
            <a:r>
              <a:rPr lang="ne-NP" sz="3200" dirty="0">
                <a:cs typeface="Kalimati" pitchFamily="2"/>
              </a:rPr>
              <a:t> रूपमा </a:t>
            </a:r>
            <a:r>
              <a:rPr lang="ne-NP" sz="3200" dirty="0" err="1">
                <a:cs typeface="Kalimati" pitchFamily="2"/>
              </a:rPr>
              <a:t>थुनिएकाहरु</a:t>
            </a:r>
            <a:r>
              <a:rPr lang="ne-NP" sz="3200" dirty="0">
                <a:cs typeface="Kalimati" pitchFamily="2"/>
              </a:rPr>
              <a:t> थुना मुक्त </a:t>
            </a:r>
            <a:r>
              <a:rPr lang="ne-NP" sz="3200" dirty="0" err="1">
                <a:cs typeface="Kalimati" pitchFamily="2"/>
              </a:rPr>
              <a:t>भए।उच्च</a:t>
            </a:r>
            <a:r>
              <a:rPr lang="ne-NP" sz="3200" dirty="0">
                <a:cs typeface="Kalimati" pitchFamily="2"/>
              </a:rPr>
              <a:t> अदालतबाट थुना मुक्त भएका धेरै जना मध्ये</a:t>
            </a:r>
            <a:r>
              <a:rPr lang="en-US" sz="3200" dirty="0">
                <a:cs typeface="Kalimati" pitchFamily="2"/>
              </a:rPr>
              <a:t> Shiva Kant </a:t>
            </a:r>
            <a:r>
              <a:rPr lang="en-US" sz="3200" dirty="0" err="1">
                <a:cs typeface="Kalimati" pitchFamily="2"/>
              </a:rPr>
              <a:t>Sukla</a:t>
            </a:r>
            <a:r>
              <a:rPr lang="en-US" sz="3200" dirty="0">
                <a:cs typeface="Kalimati" pitchFamily="2"/>
              </a:rPr>
              <a:t> </a:t>
            </a:r>
            <a:r>
              <a:rPr lang="ne-NP" sz="3200" dirty="0">
                <a:cs typeface="Kalimati" pitchFamily="2"/>
              </a:rPr>
              <a:t>विरुद्ध </a:t>
            </a:r>
            <a:r>
              <a:rPr lang="en-US" sz="3200" dirty="0">
                <a:cs typeface="Kalimati" pitchFamily="2"/>
              </a:rPr>
              <a:t>Additional District Magistrate (ADM) Jabalpur </a:t>
            </a:r>
            <a:r>
              <a:rPr lang="ne-NP" sz="3200" dirty="0">
                <a:cs typeface="Kalimati" pitchFamily="2"/>
              </a:rPr>
              <a:t>को सर्वोच्च अदालतमा पुनरावेदन </a:t>
            </a:r>
            <a:r>
              <a:rPr lang="ne-NP" sz="3200" dirty="0" err="1">
                <a:cs typeface="Kalimati" pitchFamily="2"/>
              </a:rPr>
              <a:t>पर्‍यो।सो</a:t>
            </a:r>
            <a:r>
              <a:rPr lang="ne-NP" sz="3200" dirty="0">
                <a:cs typeface="Kalimati" pitchFamily="2"/>
              </a:rPr>
              <a:t> मुद्दा सुनुवाइ गर्न प्रधान न्यायाधीश सहित </a:t>
            </a:r>
            <a:r>
              <a:rPr lang="ne-NP" sz="3200" dirty="0" err="1">
                <a:cs typeface="Kalimati" pitchFamily="2"/>
              </a:rPr>
              <a:t>वरिष्ठतम्</a:t>
            </a:r>
            <a:r>
              <a:rPr lang="ne-NP" sz="3200" dirty="0">
                <a:cs typeface="Kalimati" pitchFamily="2"/>
              </a:rPr>
              <a:t> ५ जना न्यायाधीशको इजलास गठन </a:t>
            </a:r>
            <a:r>
              <a:rPr lang="ne-NP" sz="3200" dirty="0" err="1">
                <a:cs typeface="Kalimati" pitchFamily="2"/>
              </a:rPr>
              <a:t>भयो।न्यायाधीश</a:t>
            </a:r>
            <a:r>
              <a:rPr lang="ne-NP" sz="3200" dirty="0">
                <a:cs typeface="Kalimati" pitchFamily="2"/>
              </a:rPr>
              <a:t> </a:t>
            </a:r>
            <a:r>
              <a:rPr lang="ne-NP" sz="3200" dirty="0" err="1">
                <a:cs typeface="Kalimati" pitchFamily="2"/>
              </a:rPr>
              <a:t>खन्ना</a:t>
            </a:r>
            <a:r>
              <a:rPr lang="ne-NP" sz="3200" dirty="0">
                <a:cs typeface="Kalimati" pitchFamily="2"/>
              </a:rPr>
              <a:t> त्यस समयमा </a:t>
            </a:r>
            <a:r>
              <a:rPr lang="ne-NP" sz="3200" dirty="0" err="1">
                <a:cs typeface="Kalimati" pitchFamily="2"/>
              </a:rPr>
              <a:t>वरिष्ठतम</a:t>
            </a:r>
            <a:r>
              <a:rPr lang="ne-NP" sz="3200" dirty="0">
                <a:cs typeface="Kalimati" pitchFamily="2"/>
              </a:rPr>
              <a:t> न्यायाधीश थिए र प्रधान न्यायाधीश सेवा निवृत्त भए पश्चात् प्रधान न्यायाधीश हुने रोल क्रममा थिए।</a:t>
            </a:r>
          </a:p>
          <a:p>
            <a:pPr algn="r">
              <a:buNone/>
            </a:pPr>
            <a:endParaRPr lang="en-US" sz="3200" dirty="0">
              <a:cs typeface="Kalimati" pitchFamily="2"/>
            </a:endParaRPr>
          </a:p>
          <a:p>
            <a:pPr algn="just">
              <a:buFont typeface="Wingdings" panose="05000000000000000000" pitchFamily="2" charset="2"/>
              <a:buChar char="v"/>
            </a:pPr>
            <a:endParaRPr lang="ne-NP" sz="3200" dirty="0">
              <a:cs typeface="Kalimati" pitchFamily="2"/>
            </a:endParaRPr>
          </a:p>
          <a:p>
            <a:pPr algn="r">
              <a:buNone/>
            </a:pPr>
            <a:r>
              <a:rPr lang="ne-NP" sz="3200" dirty="0">
                <a:cs typeface="Kalimati" pitchFamily="2"/>
              </a:rPr>
              <a:t> </a:t>
            </a:r>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FAACD26F-E700-EB72-4936-76C9D960E127}"/>
              </a:ext>
            </a:extLst>
          </p:cNvPr>
          <p:cNvSpPr>
            <a:spLocks noGrp="1"/>
          </p:cNvSpPr>
          <p:nvPr>
            <p:ph type="sldNum" sz="quarter" idx="12"/>
          </p:nvPr>
        </p:nvSpPr>
        <p:spPr/>
        <p:txBody>
          <a:bodyPr/>
          <a:lstStyle/>
          <a:p>
            <a:fld id="{7622E865-B2C1-4A41-88CD-3656CF28B604}" type="slidenum">
              <a:rPr lang="en-US" smtClean="0"/>
              <a:t>10</a:t>
            </a:fld>
            <a:endParaRPr lang="en-US"/>
          </a:p>
        </p:txBody>
      </p:sp>
    </p:spTree>
    <p:extLst>
      <p:ext uri="{BB962C8B-B14F-4D97-AF65-F5344CB8AC3E}">
        <p14:creationId xmlns:p14="http://schemas.microsoft.com/office/powerpoint/2010/main" val="3400971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EC0F-422F-018C-3684-16394A529B5E}"/>
              </a:ext>
            </a:extLst>
          </p:cNvPr>
          <p:cNvSpPr>
            <a:spLocks noGrp="1"/>
          </p:cNvSpPr>
          <p:nvPr>
            <p:ph type="title"/>
          </p:nvPr>
        </p:nvSpPr>
        <p:spPr>
          <a:xfrm>
            <a:off x="838200" y="136359"/>
            <a:ext cx="10515600" cy="45719"/>
          </a:xfrm>
        </p:spPr>
        <p:txBody>
          <a:bodyPr>
            <a:normAutofit fontScale="90000"/>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53B745B1-1FCD-41F7-2D1A-81BC04AD21B0}"/>
              </a:ext>
            </a:extLst>
          </p:cNvPr>
          <p:cNvSpPr>
            <a:spLocks noGrp="1"/>
          </p:cNvSpPr>
          <p:nvPr>
            <p:ph idx="1"/>
          </p:nvPr>
        </p:nvSpPr>
        <p:spPr>
          <a:xfrm>
            <a:off x="128337" y="304800"/>
            <a:ext cx="11935326" cy="7055370"/>
          </a:xfrm>
        </p:spPr>
        <p:txBody>
          <a:bodyPr>
            <a:noAutofit/>
          </a:bodyPr>
          <a:lstStyle/>
          <a:p>
            <a:pPr algn="just">
              <a:buNone/>
            </a:pPr>
            <a:r>
              <a:rPr lang="en-US" sz="2950" dirty="0">
                <a:cs typeface="Kalimati" pitchFamily="2"/>
              </a:rPr>
              <a:t>	</a:t>
            </a:r>
            <a:r>
              <a:rPr lang="ne-NP" sz="2950" dirty="0">
                <a:cs typeface="Kalimati" pitchFamily="2"/>
              </a:rPr>
              <a:t>मुद्दा सुनुवाइको क्रममा राय निर्माण हुँदा सरकारको पक्षमा ४ जना न्यायाधीश</a:t>
            </a:r>
            <a:r>
              <a:rPr lang="en-US" sz="2950" dirty="0">
                <a:cs typeface="Kalimati" pitchFamily="2"/>
              </a:rPr>
              <a:t> (Chief Justice A. N. Ray, P. N. </a:t>
            </a:r>
            <a:r>
              <a:rPr lang="en-US" sz="2950" dirty="0" err="1">
                <a:cs typeface="Kalimati" pitchFamily="2"/>
              </a:rPr>
              <a:t>Bhagawati</a:t>
            </a:r>
            <a:r>
              <a:rPr lang="en-US" sz="2950" dirty="0">
                <a:cs typeface="Kalimati" pitchFamily="2"/>
              </a:rPr>
              <a:t>, Y. V. Chandrachud</a:t>
            </a:r>
            <a:r>
              <a:rPr lang="ne-NP" sz="2950" dirty="0">
                <a:cs typeface="Kalimati" pitchFamily="2"/>
              </a:rPr>
              <a:t> र</a:t>
            </a:r>
            <a:r>
              <a:rPr lang="en-US" sz="2950" dirty="0">
                <a:cs typeface="Kalimati" pitchFamily="2"/>
              </a:rPr>
              <a:t> M. H. Beg) </a:t>
            </a:r>
            <a:r>
              <a:rPr lang="ne-NP" sz="2950" dirty="0">
                <a:cs typeface="Kalimati" pitchFamily="2"/>
              </a:rPr>
              <a:t>ले रिट खारेज गर्ने राय व्यक्त गरे भने न्यायाधीश खन्नाले अल्पमतमा रिट जारी हुने र </a:t>
            </a:r>
            <a:r>
              <a:rPr lang="en-US" sz="2950" dirty="0" err="1">
                <a:cs typeface="Kalimati" pitchFamily="2"/>
              </a:rPr>
              <a:t>Sukla</a:t>
            </a:r>
            <a:r>
              <a:rPr lang="en-US" sz="2950" dirty="0">
                <a:cs typeface="Kalimati" pitchFamily="2"/>
              </a:rPr>
              <a:t> </a:t>
            </a:r>
            <a:r>
              <a:rPr lang="ne-NP" sz="2950" dirty="0" err="1">
                <a:cs typeface="Kalimati" pitchFamily="2"/>
              </a:rPr>
              <a:t>थुनामुक्त</a:t>
            </a:r>
            <a:r>
              <a:rPr lang="ne-NP" sz="2950" dirty="0">
                <a:cs typeface="Kalimati" pitchFamily="2"/>
              </a:rPr>
              <a:t> हुने राय व्यक्त </a:t>
            </a:r>
            <a:r>
              <a:rPr lang="ne-NP" sz="2950" dirty="0" err="1">
                <a:cs typeface="Kalimati" pitchFamily="2"/>
              </a:rPr>
              <a:t>गरे।सरकारको</a:t>
            </a:r>
            <a:r>
              <a:rPr lang="ne-NP" sz="2950" dirty="0">
                <a:cs typeface="Kalimati" pitchFamily="2"/>
              </a:rPr>
              <a:t> विपक्षमा राय व्यक्त गर्दा न्यायाधीश खन्नाले ठूलो साहस देखाएका मात्र </a:t>
            </a:r>
            <a:r>
              <a:rPr lang="ne-NP" sz="2950" dirty="0" err="1">
                <a:cs typeface="Kalimati" pitchFamily="2"/>
              </a:rPr>
              <a:t>होईन</a:t>
            </a:r>
            <a:r>
              <a:rPr lang="ne-NP" sz="2950" dirty="0">
                <a:cs typeface="Kalimati" pitchFamily="2"/>
              </a:rPr>
              <a:t>, जोखिम समेत मोलेका थिए।२ महिना पछि आफूले पाउने प्रधान न्यायाधीश पद गुम्न सक्ने </a:t>
            </a:r>
            <a:r>
              <a:rPr lang="ne-NP" sz="2950" dirty="0" err="1">
                <a:cs typeface="Kalimati" pitchFamily="2"/>
              </a:rPr>
              <a:t>आँकलन</a:t>
            </a:r>
            <a:r>
              <a:rPr lang="ne-NP" sz="2950" dirty="0">
                <a:cs typeface="Kalimati" pitchFamily="2"/>
              </a:rPr>
              <a:t> पनि उनले गरेका रहेछन् भन्ने कुरा उनले आफ्नी दिदीलाई सोही बखत लेखेको पत्रमा </a:t>
            </a:r>
            <a:r>
              <a:rPr lang="en-US" sz="2950" dirty="0">
                <a:cs typeface="Kalimati" pitchFamily="2"/>
              </a:rPr>
              <a:t>“I</a:t>
            </a:r>
            <a:r>
              <a:rPr lang="ne-NP" sz="2950" dirty="0">
                <a:cs typeface="Kalimati" pitchFamily="2"/>
              </a:rPr>
              <a:t> </a:t>
            </a:r>
            <a:r>
              <a:rPr lang="en-US" sz="2950" dirty="0">
                <a:cs typeface="Kalimati" pitchFamily="2"/>
              </a:rPr>
              <a:t>have prepared my judgment, which is going to cost me the Chief Justiceship of India”</a:t>
            </a:r>
            <a:r>
              <a:rPr lang="ne-NP" sz="2950" dirty="0">
                <a:cs typeface="Kalimati" pitchFamily="2"/>
              </a:rPr>
              <a:t> भनी उल्लेख गरेका थिए।</a:t>
            </a:r>
          </a:p>
          <a:p>
            <a:pPr algn="just">
              <a:buNone/>
            </a:pPr>
            <a:r>
              <a:rPr lang="ne-NP" sz="2950" dirty="0">
                <a:cs typeface="Kalimati" pitchFamily="2"/>
              </a:rPr>
              <a:t>२ महिना पछि प्रधान न्यायाधीश सेवा निवृत्त भए पश्चात् दोस्रो </a:t>
            </a:r>
            <a:r>
              <a:rPr lang="ne-NP" sz="2950" dirty="0" err="1">
                <a:cs typeface="Kalimati" pitchFamily="2"/>
              </a:rPr>
              <a:t>बरियता</a:t>
            </a:r>
            <a:r>
              <a:rPr lang="ne-NP" sz="2950" dirty="0">
                <a:cs typeface="Kalimati" pitchFamily="2"/>
              </a:rPr>
              <a:t> क्रमका </a:t>
            </a:r>
            <a:r>
              <a:rPr lang="ne-NP" sz="2950" dirty="0" err="1">
                <a:cs typeface="Kalimati" pitchFamily="2"/>
              </a:rPr>
              <a:t>खन्नालाई</a:t>
            </a:r>
            <a:r>
              <a:rPr lang="ne-NP" sz="2950" dirty="0">
                <a:cs typeface="Kalimati" pitchFamily="2"/>
              </a:rPr>
              <a:t> प्रधान न्यायाधीश नबनाई </a:t>
            </a:r>
            <a:r>
              <a:rPr lang="ne-NP" sz="2950" dirty="0" err="1">
                <a:cs typeface="Kalimati" pitchFamily="2"/>
              </a:rPr>
              <a:t>कानूनी</a:t>
            </a:r>
            <a:r>
              <a:rPr lang="ne-NP" sz="2950" dirty="0">
                <a:cs typeface="Kalimati" pitchFamily="2"/>
              </a:rPr>
              <a:t> परम्परा </a:t>
            </a:r>
            <a:r>
              <a:rPr lang="ne-NP" sz="2950" dirty="0" err="1">
                <a:cs typeface="Kalimati" pitchFamily="2"/>
              </a:rPr>
              <a:t>विपरित</a:t>
            </a:r>
            <a:r>
              <a:rPr lang="en-US" sz="2950" dirty="0">
                <a:cs typeface="Kalimati" pitchFamily="2"/>
              </a:rPr>
              <a:t> M. H.</a:t>
            </a:r>
            <a:r>
              <a:rPr lang="ne-NP" sz="2950" dirty="0">
                <a:cs typeface="Kalimati" pitchFamily="2"/>
              </a:rPr>
              <a:t> </a:t>
            </a:r>
            <a:r>
              <a:rPr lang="en-US" sz="2950" dirty="0">
                <a:cs typeface="Kalimati" pitchFamily="2"/>
              </a:rPr>
              <a:t>Beg</a:t>
            </a:r>
            <a:r>
              <a:rPr lang="ne-NP" sz="2950" dirty="0">
                <a:cs typeface="Kalimati" pitchFamily="2"/>
              </a:rPr>
              <a:t> लाई </a:t>
            </a:r>
            <a:r>
              <a:rPr lang="en-US" sz="2950" dirty="0">
                <a:cs typeface="Kalimati" pitchFamily="2"/>
              </a:rPr>
              <a:t>January 1977 </a:t>
            </a:r>
            <a:r>
              <a:rPr lang="ne-NP" sz="2950" dirty="0">
                <a:cs typeface="Kalimati" pitchFamily="2"/>
              </a:rPr>
              <a:t>मा सो पदमा नियुक्त </a:t>
            </a:r>
            <a:r>
              <a:rPr lang="ne-NP" sz="2950" dirty="0" err="1">
                <a:cs typeface="Kalimati" pitchFamily="2"/>
              </a:rPr>
              <a:t>गरीयो</a:t>
            </a:r>
            <a:r>
              <a:rPr lang="ne-NP" sz="2950" dirty="0">
                <a:cs typeface="Kalimati" pitchFamily="2"/>
              </a:rPr>
              <a:t>, जसका विरुद्धमा वार एसोसिएसन र </a:t>
            </a:r>
            <a:r>
              <a:rPr lang="ne-NP" sz="2950" dirty="0" err="1">
                <a:cs typeface="Kalimati" pitchFamily="2"/>
              </a:rPr>
              <a:t>कानूनी</a:t>
            </a:r>
            <a:r>
              <a:rPr lang="ne-NP" sz="2950" dirty="0">
                <a:cs typeface="Kalimati" pitchFamily="2"/>
              </a:rPr>
              <a:t> समुदायमा </a:t>
            </a:r>
            <a:r>
              <a:rPr lang="ne-NP" sz="2950" dirty="0" err="1">
                <a:cs typeface="Kalimati" pitchFamily="2"/>
              </a:rPr>
              <a:t>आवद्धहरुले</a:t>
            </a:r>
            <a:r>
              <a:rPr lang="ne-NP" sz="2950" dirty="0">
                <a:cs typeface="Kalimati" pitchFamily="2"/>
              </a:rPr>
              <a:t> विरोध प्रदर्शन </a:t>
            </a:r>
            <a:r>
              <a:rPr lang="ne-NP" sz="2950" dirty="0" err="1">
                <a:cs typeface="Kalimati" pitchFamily="2"/>
              </a:rPr>
              <a:t>गरे।र</a:t>
            </a:r>
            <a:r>
              <a:rPr lang="ne-NP" sz="2950" dirty="0">
                <a:cs typeface="Kalimati" pitchFamily="2"/>
              </a:rPr>
              <a:t>, न्यायाधीश खन्नाले सोही दिन पदबाट </a:t>
            </a:r>
            <a:r>
              <a:rPr lang="ne-NP" sz="2950" dirty="0" err="1">
                <a:cs typeface="Kalimati" pitchFamily="2"/>
              </a:rPr>
              <a:t>राजिनामा</a:t>
            </a:r>
            <a:r>
              <a:rPr lang="ne-NP" sz="2950" dirty="0">
                <a:cs typeface="Kalimati" pitchFamily="2"/>
              </a:rPr>
              <a:t> </a:t>
            </a:r>
            <a:r>
              <a:rPr lang="ne-NP" sz="2950" dirty="0" err="1">
                <a:cs typeface="Kalimati" pitchFamily="2"/>
              </a:rPr>
              <a:t>दिए।न्यायाधीश</a:t>
            </a:r>
            <a:r>
              <a:rPr lang="ne-NP" sz="2950" dirty="0">
                <a:cs typeface="Kalimati" pitchFamily="2"/>
              </a:rPr>
              <a:t> </a:t>
            </a:r>
            <a:r>
              <a:rPr lang="en-US" sz="2950" dirty="0">
                <a:cs typeface="Kalimati" pitchFamily="2"/>
              </a:rPr>
              <a:t>Khanna </a:t>
            </a:r>
            <a:r>
              <a:rPr lang="ne-NP" sz="2950" dirty="0">
                <a:cs typeface="Kalimati" pitchFamily="2"/>
              </a:rPr>
              <a:t>ले अल्पमतमा उक्त राय व्यक्त गरे पछि उनको साहसको </a:t>
            </a:r>
            <a:r>
              <a:rPr lang="ne-NP" sz="2950" dirty="0" err="1">
                <a:cs typeface="Kalimati" pitchFamily="2"/>
              </a:rPr>
              <a:t>प्रसंशा</a:t>
            </a:r>
            <a:r>
              <a:rPr lang="ne-NP" sz="2950" dirty="0">
                <a:cs typeface="Kalimati" pitchFamily="2"/>
              </a:rPr>
              <a:t> गर्दै</a:t>
            </a:r>
            <a:r>
              <a:rPr lang="en-US" sz="2950" dirty="0">
                <a:cs typeface="Kalimati" pitchFamily="2"/>
              </a:rPr>
              <a:t> New York Times </a:t>
            </a:r>
            <a:r>
              <a:rPr lang="ne-NP" sz="2950" dirty="0">
                <a:cs typeface="Kalimati" pitchFamily="2"/>
              </a:rPr>
              <a:t>ले यस्तो  सम्पादकीय सम्प्रेषण गरेको थियो</a:t>
            </a:r>
            <a:r>
              <a:rPr lang="en-US" sz="2950" dirty="0">
                <a:cs typeface="Kalimati" pitchFamily="2"/>
              </a:rPr>
              <a:t>:</a:t>
            </a:r>
          </a:p>
          <a:p>
            <a:pPr algn="just">
              <a:buNone/>
            </a:pPr>
            <a:endParaRPr lang="ne-NP" sz="2950" dirty="0">
              <a:cs typeface="Kalimati" pitchFamily="2"/>
            </a:endParaRPr>
          </a:p>
          <a:p>
            <a:pPr algn="r">
              <a:buNone/>
            </a:pPr>
            <a:r>
              <a:rPr lang="ne-NP" sz="2950" dirty="0">
                <a:cs typeface="Kalimati" pitchFamily="2"/>
              </a:rPr>
              <a:t> </a:t>
            </a:r>
            <a:endParaRPr lang="en-US" sz="2950" dirty="0">
              <a:cs typeface="Kalimati" pitchFamily="2"/>
            </a:endParaRPr>
          </a:p>
          <a:p>
            <a:endParaRPr lang="en-US" sz="2950" dirty="0"/>
          </a:p>
        </p:txBody>
      </p:sp>
      <p:sp>
        <p:nvSpPr>
          <p:cNvPr id="4" name="Slide Number Placeholder 3">
            <a:extLst>
              <a:ext uri="{FF2B5EF4-FFF2-40B4-BE49-F238E27FC236}">
                <a16:creationId xmlns:a16="http://schemas.microsoft.com/office/drawing/2014/main" id="{FAFAF9F1-7AB5-79C5-8933-B012A35B46A2}"/>
              </a:ext>
            </a:extLst>
          </p:cNvPr>
          <p:cNvSpPr>
            <a:spLocks noGrp="1"/>
          </p:cNvSpPr>
          <p:nvPr>
            <p:ph type="sldNum" sz="quarter" idx="12"/>
          </p:nvPr>
        </p:nvSpPr>
        <p:spPr/>
        <p:txBody>
          <a:bodyPr/>
          <a:lstStyle/>
          <a:p>
            <a:fld id="{7622E865-B2C1-4A41-88CD-3656CF28B604}" type="slidenum">
              <a:rPr lang="en-US" smtClean="0"/>
              <a:t>11</a:t>
            </a:fld>
            <a:endParaRPr lang="en-US"/>
          </a:p>
        </p:txBody>
      </p:sp>
    </p:spTree>
    <p:extLst>
      <p:ext uri="{BB962C8B-B14F-4D97-AF65-F5344CB8AC3E}">
        <p14:creationId xmlns:p14="http://schemas.microsoft.com/office/powerpoint/2010/main" val="2846050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44344-8923-CAD4-E70F-51020D4BAECF}"/>
              </a:ext>
            </a:extLst>
          </p:cNvPr>
          <p:cNvSpPr>
            <a:spLocks noGrp="1"/>
          </p:cNvSpPr>
          <p:nvPr>
            <p:ph type="title"/>
          </p:nvPr>
        </p:nvSpPr>
        <p:spPr>
          <a:xfrm>
            <a:off x="838200" y="112296"/>
            <a:ext cx="10515600" cy="224588"/>
          </a:xfrm>
        </p:spPr>
        <p:txBody>
          <a:bodyPr>
            <a:normAutofit fontScale="90000"/>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A6709D5A-0C18-424A-4E51-AC71C545D65E}"/>
              </a:ext>
            </a:extLst>
          </p:cNvPr>
          <p:cNvSpPr>
            <a:spLocks noGrp="1"/>
          </p:cNvSpPr>
          <p:nvPr>
            <p:ph idx="1"/>
          </p:nvPr>
        </p:nvSpPr>
        <p:spPr>
          <a:xfrm>
            <a:off x="128337" y="336884"/>
            <a:ext cx="11951368" cy="6408820"/>
          </a:xfrm>
        </p:spPr>
        <p:txBody>
          <a:bodyPr>
            <a:normAutofit lnSpcReduction="10000"/>
          </a:bodyPr>
          <a:lstStyle/>
          <a:p>
            <a:pPr algn="just">
              <a:buNone/>
            </a:pPr>
            <a:r>
              <a:rPr lang="ne-NP" sz="3200" dirty="0">
                <a:cs typeface="Kalimati" pitchFamily="2"/>
              </a:rPr>
              <a:t>	</a:t>
            </a:r>
            <a:r>
              <a:rPr lang="ne-NP" sz="3200" i="1" dirty="0">
                <a:cs typeface="Kalimati" pitchFamily="2"/>
              </a:rPr>
              <a:t>“</a:t>
            </a:r>
            <a:r>
              <a:rPr lang="en-US" sz="3200" i="1" dirty="0">
                <a:cs typeface="Kalimati" pitchFamily="2"/>
              </a:rPr>
              <a:t>If India ever finds its way back to the freedom and democracy that were proud hallmarks of its first eighteen years as an independent nation, someone will surely erect a monument to Justice H. R. Khanna of the Supreme Court.</a:t>
            </a:r>
            <a:r>
              <a:rPr lang="ne-NP" sz="3200" i="1" dirty="0">
                <a:cs typeface="Kalimati" pitchFamily="2"/>
              </a:rPr>
              <a:t> </a:t>
            </a:r>
            <a:r>
              <a:rPr lang="en-US" sz="3200" i="1" dirty="0">
                <a:cs typeface="Kalimati" pitchFamily="2"/>
              </a:rPr>
              <a:t>It was Justice Khanna who spoke out fearlessly and eloquently for freedom this week in dissenting from the Court’s decision upholding the right of Prime Minister Indira Gandhi’s Government to imprison political opponents at will and without court hearings….. The submission of an </a:t>
            </a:r>
            <a:r>
              <a:rPr lang="en-US" sz="3200" b="1" i="1" dirty="0">
                <a:cs typeface="Kalimati" pitchFamily="2"/>
              </a:rPr>
              <a:t>independent judiciary </a:t>
            </a:r>
            <a:r>
              <a:rPr lang="en-US" sz="3200" i="1" dirty="0">
                <a:cs typeface="Kalimati" pitchFamily="2"/>
              </a:rPr>
              <a:t>to absolutist government is virtually the last step in the destruction of a democratic society; and the Indian Supreme Court’s decision appears close to utter surrender.</a:t>
            </a:r>
            <a:r>
              <a:rPr lang="ne-NP" sz="3200" i="1" dirty="0">
                <a:cs typeface="Kalimati" pitchFamily="2"/>
              </a:rPr>
              <a:t>                               </a:t>
            </a:r>
            <a:endParaRPr lang="en-US" sz="3200" i="1" dirty="0">
              <a:cs typeface="Kalimati" pitchFamily="2"/>
            </a:endParaRPr>
          </a:p>
          <a:p>
            <a:pPr algn="just">
              <a:buFont typeface="Wingdings" panose="05000000000000000000" pitchFamily="2" charset="2"/>
              <a:buChar char="v"/>
            </a:pPr>
            <a:endParaRPr lang="en-US" sz="3200" b="1" dirty="0">
              <a:cs typeface="Kalimati" pitchFamily="2"/>
            </a:endParaRPr>
          </a:p>
          <a:p>
            <a:pPr algn="just">
              <a:buFont typeface="Wingdings" panose="05000000000000000000" pitchFamily="2" charset="2"/>
              <a:buChar char="v"/>
            </a:pPr>
            <a:r>
              <a:rPr lang="en-US" sz="3200" b="1" dirty="0">
                <a:cs typeface="Kalimati" pitchFamily="2"/>
              </a:rPr>
              <a:t>K. S. </a:t>
            </a:r>
            <a:r>
              <a:rPr lang="en-US" sz="3200" b="1" dirty="0" err="1">
                <a:cs typeface="Kalimati" pitchFamily="2"/>
              </a:rPr>
              <a:t>Puttaswami</a:t>
            </a:r>
            <a:r>
              <a:rPr lang="en-US" sz="3200" b="1" dirty="0">
                <a:cs typeface="Kalimati" pitchFamily="2"/>
              </a:rPr>
              <a:t> v. </a:t>
            </a:r>
            <a:r>
              <a:rPr lang="en-US" sz="3200" b="1" dirty="0" err="1">
                <a:cs typeface="Kalimati" pitchFamily="2"/>
              </a:rPr>
              <a:t>UoI</a:t>
            </a:r>
            <a:r>
              <a:rPr lang="en-US" sz="3200" b="1" dirty="0">
                <a:cs typeface="Kalimati" pitchFamily="2"/>
              </a:rPr>
              <a:t>, AIR 2017 SC 4161, decided on 24 Aug. 2017.</a:t>
            </a:r>
          </a:p>
          <a:p>
            <a:pPr algn="r">
              <a:buNone/>
            </a:pPr>
            <a:r>
              <a:rPr lang="en-US" sz="3200" i="1" dirty="0">
                <a:cs typeface="Kalimati" pitchFamily="2"/>
              </a:rPr>
              <a:t> </a:t>
            </a:r>
            <a:r>
              <a:rPr lang="ne-NP" sz="3200" i="1" dirty="0">
                <a:cs typeface="Kalimati" pitchFamily="2"/>
              </a:rPr>
              <a:t> </a:t>
            </a:r>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B51EDFAB-5D91-BAAA-25D2-7A33C70F836B}"/>
              </a:ext>
            </a:extLst>
          </p:cNvPr>
          <p:cNvSpPr>
            <a:spLocks noGrp="1"/>
          </p:cNvSpPr>
          <p:nvPr>
            <p:ph type="sldNum" sz="quarter" idx="12"/>
          </p:nvPr>
        </p:nvSpPr>
        <p:spPr/>
        <p:txBody>
          <a:bodyPr/>
          <a:lstStyle/>
          <a:p>
            <a:fld id="{7622E865-B2C1-4A41-88CD-3656CF28B604}" type="slidenum">
              <a:rPr lang="en-US" smtClean="0"/>
              <a:t>12</a:t>
            </a:fld>
            <a:endParaRPr lang="en-US"/>
          </a:p>
        </p:txBody>
      </p:sp>
    </p:spTree>
    <p:extLst>
      <p:ext uri="{BB962C8B-B14F-4D97-AF65-F5344CB8AC3E}">
        <p14:creationId xmlns:p14="http://schemas.microsoft.com/office/powerpoint/2010/main" val="3325832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4E4A1-E00C-7FF8-E45E-55E6BD664E34}"/>
              </a:ext>
            </a:extLst>
          </p:cNvPr>
          <p:cNvSpPr>
            <a:spLocks noGrp="1"/>
          </p:cNvSpPr>
          <p:nvPr>
            <p:ph type="title"/>
          </p:nvPr>
        </p:nvSpPr>
        <p:spPr>
          <a:xfrm>
            <a:off x="838200" y="160421"/>
            <a:ext cx="10515600" cy="770021"/>
          </a:xfrm>
        </p:spPr>
        <p:txBody>
          <a:bodyPr>
            <a:normAutofit/>
          </a:bodyPr>
          <a:lstStyle/>
          <a:p>
            <a:pPr algn="ctr"/>
            <a:r>
              <a:rPr lang="ne-NP" sz="3200" b="1" u="sng" dirty="0">
                <a:cs typeface="Kalimati" panose="00000400000000000000" pitchFamily="2"/>
              </a:rPr>
              <a:t>अर्का साहसी न्यायाधीश </a:t>
            </a:r>
            <a:r>
              <a:rPr lang="ne-NP" sz="3200" b="1" u="sng" dirty="0" err="1">
                <a:cs typeface="Kalimati" panose="00000400000000000000" pitchFamily="2"/>
              </a:rPr>
              <a:t>जगमोहन</a:t>
            </a:r>
            <a:r>
              <a:rPr lang="ne-NP" sz="3200" b="1" u="sng" dirty="0">
                <a:cs typeface="Kalimati" panose="00000400000000000000" pitchFamily="2"/>
              </a:rPr>
              <a:t> लाल सिंह</a:t>
            </a:r>
            <a:endParaRPr lang="en-US" sz="3200" dirty="0"/>
          </a:p>
        </p:txBody>
      </p:sp>
      <p:sp>
        <p:nvSpPr>
          <p:cNvPr id="3" name="Content Placeholder 2">
            <a:extLst>
              <a:ext uri="{FF2B5EF4-FFF2-40B4-BE49-F238E27FC236}">
                <a16:creationId xmlns:a16="http://schemas.microsoft.com/office/drawing/2014/main" id="{8F6924FD-0D64-D2E9-F56D-A8B441C50507}"/>
              </a:ext>
            </a:extLst>
          </p:cNvPr>
          <p:cNvSpPr>
            <a:spLocks noGrp="1"/>
          </p:cNvSpPr>
          <p:nvPr>
            <p:ph idx="1"/>
          </p:nvPr>
        </p:nvSpPr>
        <p:spPr>
          <a:xfrm>
            <a:off x="160421" y="673768"/>
            <a:ext cx="11903242" cy="5887453"/>
          </a:xfrm>
        </p:spPr>
        <p:txBody>
          <a:bodyPr>
            <a:normAutofit/>
          </a:bodyPr>
          <a:lstStyle/>
          <a:p>
            <a:pPr marL="0" indent="0" algn="just">
              <a:buNone/>
            </a:pPr>
            <a:endParaRPr lang="ne-NP" sz="3200" dirty="0">
              <a:cs typeface="Kalimati" pitchFamily="2"/>
            </a:endParaRPr>
          </a:p>
          <a:p>
            <a:pPr marL="0" indent="0" algn="just">
              <a:buNone/>
            </a:pPr>
            <a:r>
              <a:rPr lang="ne-NP" sz="3200" dirty="0">
                <a:cs typeface="Kalimati" pitchFamily="2"/>
              </a:rPr>
              <a:t>सन् १९७५ मा सम्पन्न लोकसभाको निर्वाचनमा इन्दिरा गान्धीले चुनाव </a:t>
            </a:r>
            <a:r>
              <a:rPr lang="ne-NP" sz="3200" dirty="0" err="1">
                <a:cs typeface="Kalimati" pitchFamily="2"/>
              </a:rPr>
              <a:t>जितिन्।चुनावमा</a:t>
            </a:r>
            <a:r>
              <a:rPr lang="ne-NP" sz="3200" dirty="0">
                <a:cs typeface="Kalimati" pitchFamily="2"/>
              </a:rPr>
              <a:t> धाँधली भएको आरोप सहित पराजित उम्मेदवार राज नारायणले </a:t>
            </a:r>
            <a:r>
              <a:rPr lang="ne-NP" sz="3200" dirty="0" err="1">
                <a:cs typeface="Kalimati" pitchFamily="2"/>
              </a:rPr>
              <a:t>एलाहावाद</a:t>
            </a:r>
            <a:r>
              <a:rPr lang="ne-NP" sz="3200" dirty="0">
                <a:cs typeface="Kalimati" pitchFamily="2"/>
              </a:rPr>
              <a:t> उच्च अदालतमा</a:t>
            </a:r>
            <a:r>
              <a:rPr lang="en-US" sz="3200" dirty="0">
                <a:cs typeface="Kalimati" pitchFamily="2"/>
              </a:rPr>
              <a:t> </a:t>
            </a:r>
            <a:r>
              <a:rPr lang="ne-NP" sz="3200" dirty="0">
                <a:cs typeface="Kalimati" pitchFamily="2"/>
              </a:rPr>
              <a:t>निर्वाचन परिणाम बदरको माग गर्दै इन्दिरा गान्धी विरुद्ध मुद्दा दायर </a:t>
            </a:r>
            <a:r>
              <a:rPr lang="ne-NP" sz="3200" dirty="0" err="1">
                <a:cs typeface="Kalimati" pitchFamily="2"/>
              </a:rPr>
              <a:t>गरे।सो</a:t>
            </a:r>
            <a:r>
              <a:rPr lang="ne-NP" sz="3200" dirty="0">
                <a:cs typeface="Kalimati" pitchFamily="2"/>
              </a:rPr>
              <a:t> अदालतका न्यायाधीश </a:t>
            </a:r>
            <a:r>
              <a:rPr lang="ne-NP" sz="3200" dirty="0" err="1">
                <a:cs typeface="Kalimati" pitchFamily="2"/>
              </a:rPr>
              <a:t>जगमोहन</a:t>
            </a:r>
            <a:r>
              <a:rPr lang="ne-NP" sz="3200" dirty="0">
                <a:cs typeface="Kalimati" pitchFamily="2"/>
              </a:rPr>
              <a:t> लाल सिंहको इजलासले </a:t>
            </a:r>
            <a:r>
              <a:rPr lang="en-US" sz="3200" dirty="0">
                <a:cs typeface="Kalimati" pitchFamily="2"/>
              </a:rPr>
              <a:t>June 12, 1975 </a:t>
            </a:r>
            <a:r>
              <a:rPr lang="ne-NP" sz="3200" dirty="0">
                <a:cs typeface="Kalimati" pitchFamily="2"/>
              </a:rPr>
              <a:t>मा इन्दिरा गान्धी विजय भएको भनिएको चुनाव बदर गरी </a:t>
            </a:r>
            <a:r>
              <a:rPr lang="ne-NP" sz="3200" dirty="0" err="1">
                <a:cs typeface="Kalimati" pitchFamily="2"/>
              </a:rPr>
              <a:t>दियो।सो</a:t>
            </a:r>
            <a:r>
              <a:rPr lang="ne-NP" sz="3200" dirty="0">
                <a:cs typeface="Kalimati" pitchFamily="2"/>
              </a:rPr>
              <a:t> निर्णय बदर गरी पाउन अन्तरिम आदेश समेतको माग गर्दै उनले सर्वोच्च अदालतमा पुनरावेदन गरिन्। सर्वोच्च</a:t>
            </a:r>
            <a:r>
              <a:rPr lang="en-US" sz="3200" dirty="0">
                <a:cs typeface="Kalimati" pitchFamily="2"/>
              </a:rPr>
              <a:t> </a:t>
            </a:r>
            <a:r>
              <a:rPr lang="ne-NP" sz="3200" dirty="0">
                <a:cs typeface="Kalimati" pitchFamily="2"/>
              </a:rPr>
              <a:t>अदालतले लोकसभामा इन्दिरा गन्धीलाई मताधिकारमा भाग </a:t>
            </a:r>
            <a:r>
              <a:rPr lang="ne-NP" sz="3200" dirty="0" err="1">
                <a:cs typeface="Kalimati" pitchFamily="2"/>
              </a:rPr>
              <a:t>लिन</a:t>
            </a:r>
            <a:r>
              <a:rPr lang="ne-NP" sz="3200" dirty="0">
                <a:cs typeface="Kalimati" pitchFamily="2"/>
              </a:rPr>
              <a:t> नपाउने मात्र होइन, बोल्न समेत नपाउने गरी </a:t>
            </a:r>
            <a:r>
              <a:rPr lang="en-US" sz="3200" dirty="0">
                <a:cs typeface="Kalimati" pitchFamily="2"/>
              </a:rPr>
              <a:t>June 25, 1975 </a:t>
            </a:r>
            <a:r>
              <a:rPr lang="ne-NP" sz="3200" dirty="0">
                <a:cs typeface="Kalimati" pitchFamily="2"/>
              </a:rPr>
              <a:t>मा </a:t>
            </a:r>
            <a:r>
              <a:rPr lang="ne-NP" sz="3200" dirty="0" err="1">
                <a:cs typeface="Kalimati" pitchFamily="2"/>
              </a:rPr>
              <a:t>शर्त</a:t>
            </a:r>
            <a:r>
              <a:rPr lang="ne-NP" sz="3200" dirty="0">
                <a:cs typeface="Kalimati" pitchFamily="2"/>
              </a:rPr>
              <a:t> सहितको अन्तरिम आदेश दियो।</a:t>
            </a:r>
            <a:endParaRPr lang="en-US" sz="3200" dirty="0"/>
          </a:p>
          <a:p>
            <a:pPr algn="just"/>
            <a:endParaRPr lang="en-US" sz="3200" dirty="0"/>
          </a:p>
        </p:txBody>
      </p:sp>
      <p:sp>
        <p:nvSpPr>
          <p:cNvPr id="4" name="Slide Number Placeholder 3">
            <a:extLst>
              <a:ext uri="{FF2B5EF4-FFF2-40B4-BE49-F238E27FC236}">
                <a16:creationId xmlns:a16="http://schemas.microsoft.com/office/drawing/2014/main" id="{3C3FFCD8-0968-66A6-21D3-12159E019E2A}"/>
              </a:ext>
            </a:extLst>
          </p:cNvPr>
          <p:cNvSpPr>
            <a:spLocks noGrp="1"/>
          </p:cNvSpPr>
          <p:nvPr>
            <p:ph type="sldNum" sz="quarter" idx="12"/>
          </p:nvPr>
        </p:nvSpPr>
        <p:spPr/>
        <p:txBody>
          <a:bodyPr/>
          <a:lstStyle/>
          <a:p>
            <a:fld id="{7622E865-B2C1-4A41-88CD-3656CF28B604}" type="slidenum">
              <a:rPr lang="en-US" smtClean="0"/>
              <a:t>13</a:t>
            </a:fld>
            <a:endParaRPr lang="en-US"/>
          </a:p>
        </p:txBody>
      </p:sp>
    </p:spTree>
    <p:extLst>
      <p:ext uri="{BB962C8B-B14F-4D97-AF65-F5344CB8AC3E}">
        <p14:creationId xmlns:p14="http://schemas.microsoft.com/office/powerpoint/2010/main" val="1025027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8EF19-D7BC-D263-7AF3-870E46BD050F}"/>
              </a:ext>
            </a:extLst>
          </p:cNvPr>
          <p:cNvSpPr>
            <a:spLocks noGrp="1"/>
          </p:cNvSpPr>
          <p:nvPr>
            <p:ph type="title"/>
          </p:nvPr>
        </p:nvSpPr>
        <p:spPr>
          <a:xfrm>
            <a:off x="838200" y="128337"/>
            <a:ext cx="10515600" cy="552700"/>
          </a:xfrm>
        </p:spPr>
        <p:txBody>
          <a:bodyPr>
            <a:normAutofit/>
          </a:bodyPr>
          <a:lstStyle/>
          <a:p>
            <a:pPr algn="ctr"/>
            <a:r>
              <a:rPr lang="ne-NP" sz="3200" b="1" u="sng" dirty="0">
                <a:cs typeface="Kalimati" panose="00000400000000000000" pitchFamily="2"/>
              </a:rPr>
              <a:t>आफ्नै उदाहरण</a:t>
            </a:r>
            <a:endParaRPr lang="en-US" sz="3200" dirty="0"/>
          </a:p>
        </p:txBody>
      </p:sp>
      <p:sp>
        <p:nvSpPr>
          <p:cNvPr id="3" name="Content Placeholder 2">
            <a:extLst>
              <a:ext uri="{FF2B5EF4-FFF2-40B4-BE49-F238E27FC236}">
                <a16:creationId xmlns:a16="http://schemas.microsoft.com/office/drawing/2014/main" id="{26104F25-4284-1584-0357-F712486FF3ED}"/>
              </a:ext>
            </a:extLst>
          </p:cNvPr>
          <p:cNvSpPr>
            <a:spLocks noGrp="1"/>
          </p:cNvSpPr>
          <p:nvPr>
            <p:ph idx="1"/>
          </p:nvPr>
        </p:nvSpPr>
        <p:spPr>
          <a:xfrm>
            <a:off x="176463" y="681037"/>
            <a:ext cx="11758863" cy="6048625"/>
          </a:xfrm>
        </p:spPr>
        <p:txBody>
          <a:bodyPr>
            <a:normAutofit/>
          </a:bodyPr>
          <a:lstStyle/>
          <a:p>
            <a:pPr marL="514350" indent="-514350" algn="just">
              <a:buAutoNum type="hindiNumPeriod"/>
            </a:pPr>
            <a:r>
              <a:rPr lang="ne-NP" sz="3200" dirty="0">
                <a:cs typeface="Kalimati" panose="00000400000000000000" pitchFamily="2"/>
              </a:rPr>
              <a:t>सेक्रेटरी बन मन्त्रालय वि. गजेन्द्र </a:t>
            </a:r>
            <a:r>
              <a:rPr lang="ne-NP" sz="3200" dirty="0" err="1">
                <a:cs typeface="Kalimati" panose="00000400000000000000" pitchFamily="2"/>
              </a:rPr>
              <a:t>बाहादुर</a:t>
            </a:r>
            <a:r>
              <a:rPr lang="ne-NP" sz="3200" dirty="0">
                <a:cs typeface="Kalimati" panose="00000400000000000000" pitchFamily="2"/>
              </a:rPr>
              <a:t> प्रधानाङ्ग,</a:t>
            </a:r>
          </a:p>
          <a:p>
            <a:pPr marL="514350" indent="-514350" algn="just">
              <a:buAutoNum type="hindiNumPeriod"/>
            </a:pPr>
            <a:r>
              <a:rPr lang="ne-NP" sz="3200" dirty="0">
                <a:cs typeface="Kalimati" panose="00000400000000000000" pitchFamily="2"/>
              </a:rPr>
              <a:t>राष्ट्रिय पञ्चायत वि. सर्वोच्च अदालत (२०३५) को मुद्दामा गरिएको फैसला,  </a:t>
            </a:r>
          </a:p>
          <a:p>
            <a:pPr marL="514350" indent="-514350" algn="just">
              <a:buAutoNum type="hindiNumPeriod"/>
            </a:pPr>
            <a:r>
              <a:rPr lang="ne-NP" sz="3200" dirty="0">
                <a:cs typeface="Kalimati" panose="00000400000000000000" pitchFamily="2"/>
              </a:rPr>
              <a:t>भ्रष्टाचार नियन्त्रण शाही आयोग खारेज गर्ने क्रममा गरिएको फैसला,</a:t>
            </a:r>
          </a:p>
          <a:p>
            <a:pPr marL="514350" indent="-514350" algn="just">
              <a:buAutoNum type="hindiNumPeriod"/>
            </a:pPr>
            <a:r>
              <a:rPr lang="ne-NP" sz="3200" dirty="0" err="1">
                <a:cs typeface="Kalimati" panose="00000400000000000000" pitchFamily="2"/>
              </a:rPr>
              <a:t>अदुअआ</a:t>
            </a:r>
            <a:r>
              <a:rPr lang="ne-NP" sz="3200" dirty="0">
                <a:cs typeface="Kalimati" panose="00000400000000000000" pitchFamily="2"/>
              </a:rPr>
              <a:t> प्रमुखको योग्यता सम्बन्धमा गरिएको फैसला न्यायाधीशको साहसको अनुपम उदाहरण हुन् ।</a:t>
            </a:r>
          </a:p>
          <a:p>
            <a:pPr marL="514350" indent="-514350" algn="just">
              <a:buAutoNum type="hindiNumPeriod"/>
            </a:pPr>
            <a:r>
              <a:rPr lang="ne-NP" sz="3200" dirty="0">
                <a:cs typeface="Kalimati" panose="00000400000000000000" pitchFamily="2"/>
              </a:rPr>
              <a:t>............................... ।</a:t>
            </a:r>
          </a:p>
          <a:p>
            <a:pPr marL="514350" indent="-514350" algn="just">
              <a:buAutoNum type="hindiNumPeriod"/>
            </a:pPr>
            <a:r>
              <a:rPr lang="ne-NP" sz="3200" dirty="0">
                <a:cs typeface="Kalimati" panose="00000400000000000000" pitchFamily="2"/>
              </a:rPr>
              <a:t>................................ आदि ।</a:t>
            </a:r>
          </a:p>
          <a:p>
            <a:pPr algn="just"/>
            <a:endParaRPr lang="en-US" sz="3200" dirty="0">
              <a:cs typeface="Kalimati" panose="00000400000000000000" pitchFamily="2"/>
            </a:endParaRPr>
          </a:p>
          <a:p>
            <a:endParaRPr lang="en-US" sz="3200" dirty="0"/>
          </a:p>
        </p:txBody>
      </p:sp>
      <p:sp>
        <p:nvSpPr>
          <p:cNvPr id="4" name="Slide Number Placeholder 3">
            <a:extLst>
              <a:ext uri="{FF2B5EF4-FFF2-40B4-BE49-F238E27FC236}">
                <a16:creationId xmlns:a16="http://schemas.microsoft.com/office/drawing/2014/main" id="{F6AE7FC6-B127-B657-CF4C-5A9F76368604}"/>
              </a:ext>
            </a:extLst>
          </p:cNvPr>
          <p:cNvSpPr>
            <a:spLocks noGrp="1"/>
          </p:cNvSpPr>
          <p:nvPr>
            <p:ph type="sldNum" sz="quarter" idx="12"/>
          </p:nvPr>
        </p:nvSpPr>
        <p:spPr/>
        <p:txBody>
          <a:bodyPr/>
          <a:lstStyle/>
          <a:p>
            <a:fld id="{7622E865-B2C1-4A41-88CD-3656CF28B604}" type="slidenum">
              <a:rPr lang="en-US" smtClean="0"/>
              <a:t>14</a:t>
            </a:fld>
            <a:endParaRPr lang="en-US"/>
          </a:p>
        </p:txBody>
      </p:sp>
    </p:spTree>
    <p:extLst>
      <p:ext uri="{BB962C8B-B14F-4D97-AF65-F5344CB8AC3E}">
        <p14:creationId xmlns:p14="http://schemas.microsoft.com/office/powerpoint/2010/main" val="154986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0EE67-F444-0262-9E65-9FED86027BFE}"/>
              </a:ext>
            </a:extLst>
          </p:cNvPr>
          <p:cNvSpPr>
            <a:spLocks noGrp="1"/>
          </p:cNvSpPr>
          <p:nvPr>
            <p:ph type="title"/>
          </p:nvPr>
        </p:nvSpPr>
        <p:spPr>
          <a:xfrm>
            <a:off x="336884" y="192506"/>
            <a:ext cx="11016916" cy="488532"/>
          </a:xfrm>
        </p:spPr>
        <p:txBody>
          <a:bodyPr>
            <a:noAutofit/>
          </a:bodyPr>
          <a:lstStyle/>
          <a:p>
            <a:r>
              <a:rPr lang="ne-NP" sz="3200" b="1" dirty="0">
                <a:cs typeface="Kalimati" pitchFamily="2"/>
              </a:rPr>
              <a:t>ख. </a:t>
            </a:r>
            <a:r>
              <a:rPr lang="ne-NP" sz="3200" b="1" u="sng" dirty="0">
                <a:cs typeface="Kalimati" pitchFamily="2"/>
              </a:rPr>
              <a:t>दूरदर्शीता </a:t>
            </a:r>
            <a:endParaRPr lang="en-US" sz="3200" dirty="0"/>
          </a:p>
        </p:txBody>
      </p:sp>
      <p:sp>
        <p:nvSpPr>
          <p:cNvPr id="3" name="Content Placeholder 2">
            <a:extLst>
              <a:ext uri="{FF2B5EF4-FFF2-40B4-BE49-F238E27FC236}">
                <a16:creationId xmlns:a16="http://schemas.microsoft.com/office/drawing/2014/main" id="{E5232228-4966-CD47-756A-4EA7B386907F}"/>
              </a:ext>
            </a:extLst>
          </p:cNvPr>
          <p:cNvSpPr>
            <a:spLocks noGrp="1"/>
          </p:cNvSpPr>
          <p:nvPr>
            <p:ph idx="1"/>
          </p:nvPr>
        </p:nvSpPr>
        <p:spPr>
          <a:xfrm>
            <a:off x="192505" y="681038"/>
            <a:ext cx="11871158" cy="5984456"/>
          </a:xfrm>
        </p:spPr>
        <p:txBody>
          <a:bodyPr>
            <a:normAutofit/>
          </a:bodyPr>
          <a:lstStyle/>
          <a:p>
            <a:pPr algn="just">
              <a:buNone/>
            </a:pPr>
            <a:r>
              <a:rPr lang="ne-NP" sz="3200" b="1" dirty="0">
                <a:cs typeface="Kalimati" pitchFamily="2"/>
              </a:rPr>
              <a:t>	</a:t>
            </a:r>
            <a:r>
              <a:rPr lang="en-US" sz="3200" b="1" u="sng" dirty="0">
                <a:cs typeface="Kalimati" pitchFamily="2"/>
              </a:rPr>
              <a:t>Marbury vs </a:t>
            </a:r>
            <a:r>
              <a:rPr lang="en-US" sz="3200" b="1" u="sng" dirty="0" err="1">
                <a:cs typeface="Kalimati" pitchFamily="2"/>
              </a:rPr>
              <a:t>Madicine</a:t>
            </a:r>
            <a:r>
              <a:rPr lang="en-US" sz="3200" b="1" u="sng" dirty="0">
                <a:cs typeface="Kalimati" pitchFamily="2"/>
              </a:rPr>
              <a:t>, 1803</a:t>
            </a:r>
            <a:endParaRPr lang="ne-NP" sz="3200" b="1" u="sng" dirty="0">
              <a:cs typeface="Kalimati" pitchFamily="2"/>
            </a:endParaRPr>
          </a:p>
          <a:p>
            <a:pPr algn="just">
              <a:buNone/>
            </a:pPr>
            <a:r>
              <a:rPr lang="ne-NP" sz="3200" dirty="0">
                <a:cs typeface="Kalimati" pitchFamily="2"/>
              </a:rPr>
              <a:t>	</a:t>
            </a:r>
            <a:r>
              <a:rPr lang="en-US" sz="3200" dirty="0">
                <a:cs typeface="Kalimati" pitchFamily="2"/>
              </a:rPr>
              <a:t>John Adam</a:t>
            </a:r>
            <a:r>
              <a:rPr lang="ne-NP" sz="3200" dirty="0">
                <a:cs typeface="Kalimati" pitchFamily="2"/>
              </a:rPr>
              <a:t> अमेरिकाको दोस्रो राष्ट्रपति हुँदा</a:t>
            </a:r>
            <a:r>
              <a:rPr lang="en-US" sz="3200" dirty="0">
                <a:cs typeface="Kalimati" pitchFamily="2"/>
              </a:rPr>
              <a:t> John Marshall</a:t>
            </a:r>
            <a:r>
              <a:rPr lang="ne-NP" sz="3200" dirty="0">
                <a:cs typeface="Kalimati" pitchFamily="2"/>
              </a:rPr>
              <a:t> </a:t>
            </a:r>
            <a:r>
              <a:rPr lang="en-US" sz="3200" dirty="0">
                <a:cs typeface="Kalimati" pitchFamily="2"/>
              </a:rPr>
              <a:t>Secretary of State </a:t>
            </a:r>
            <a:r>
              <a:rPr lang="ne-NP" sz="3200" dirty="0">
                <a:cs typeface="Kalimati" pitchFamily="2"/>
              </a:rPr>
              <a:t>थिए।</a:t>
            </a:r>
            <a:r>
              <a:rPr lang="en-US" sz="3200" dirty="0">
                <a:cs typeface="Kalimati" pitchFamily="2"/>
              </a:rPr>
              <a:t>Adam</a:t>
            </a:r>
            <a:r>
              <a:rPr lang="ne-NP" sz="3200" dirty="0">
                <a:cs typeface="Kalimati" pitchFamily="2"/>
              </a:rPr>
              <a:t> ले आफ्नो कार्यकालको अन्तिम समयमा धेरै न्यायाधीश नियुक्त </a:t>
            </a:r>
            <a:r>
              <a:rPr lang="ne-NP" sz="3200" dirty="0" err="1">
                <a:cs typeface="Kalimati" pitchFamily="2"/>
              </a:rPr>
              <a:t>गरे।तिनलाई</a:t>
            </a:r>
            <a:r>
              <a:rPr lang="ne-NP" sz="3200" dirty="0">
                <a:cs typeface="Kalimati" pitchFamily="2"/>
              </a:rPr>
              <a:t> नियुक्तिपत्र बुझाउनु </a:t>
            </a:r>
            <a:r>
              <a:rPr lang="en-US" sz="3200" dirty="0">
                <a:cs typeface="Kalimati" pitchFamily="2"/>
              </a:rPr>
              <a:t>Marshall </a:t>
            </a:r>
            <a:r>
              <a:rPr lang="ne-NP" sz="3200" dirty="0">
                <a:cs typeface="Kalimati" pitchFamily="2"/>
              </a:rPr>
              <a:t>को काम थियो।</a:t>
            </a:r>
            <a:r>
              <a:rPr lang="en-US" sz="3200" dirty="0">
                <a:cs typeface="Kalimati" pitchFamily="2"/>
              </a:rPr>
              <a:t>William Marbury </a:t>
            </a:r>
            <a:r>
              <a:rPr lang="ne-NP" sz="3200" dirty="0">
                <a:cs typeface="Kalimati" pitchFamily="2"/>
              </a:rPr>
              <a:t>लाई</a:t>
            </a:r>
            <a:r>
              <a:rPr lang="en-US" sz="3200" dirty="0">
                <a:cs typeface="Kalimati" pitchFamily="2"/>
              </a:rPr>
              <a:t> District of Columbia </a:t>
            </a:r>
            <a:r>
              <a:rPr lang="ne-NP" sz="3200" dirty="0">
                <a:cs typeface="Kalimati" pitchFamily="2"/>
              </a:rPr>
              <a:t>को</a:t>
            </a:r>
            <a:r>
              <a:rPr lang="en-US" sz="3200" dirty="0">
                <a:cs typeface="Kalimati" pitchFamily="2"/>
              </a:rPr>
              <a:t> Justice of Peace</a:t>
            </a:r>
            <a:r>
              <a:rPr lang="ne-NP" sz="3200" dirty="0">
                <a:cs typeface="Kalimati" pitchFamily="2"/>
              </a:rPr>
              <a:t> मा नियुक्त गरिए पनि उनले नियुक्तिपत्र बुझ्न बाँकी थियो।</a:t>
            </a:r>
            <a:r>
              <a:rPr lang="en-US" sz="3200" dirty="0">
                <a:cs typeface="Kalimati" pitchFamily="2"/>
              </a:rPr>
              <a:t>Adam </a:t>
            </a:r>
            <a:r>
              <a:rPr lang="ne-NP" sz="3200" dirty="0">
                <a:cs typeface="Kalimati" pitchFamily="2"/>
              </a:rPr>
              <a:t>पछि</a:t>
            </a:r>
            <a:r>
              <a:rPr lang="en-US" sz="3200" dirty="0">
                <a:cs typeface="Kalimati" pitchFamily="2"/>
              </a:rPr>
              <a:t>  Thomas Jefferson</a:t>
            </a:r>
            <a:r>
              <a:rPr lang="ne-NP" sz="3200" dirty="0">
                <a:cs typeface="Kalimati" pitchFamily="2"/>
              </a:rPr>
              <a:t> राष्ट्रपति</a:t>
            </a:r>
            <a:r>
              <a:rPr lang="en-US" sz="3200" dirty="0">
                <a:cs typeface="Kalimati" pitchFamily="2"/>
              </a:rPr>
              <a:t>, James </a:t>
            </a:r>
            <a:r>
              <a:rPr lang="en-US" sz="3200" dirty="0" err="1">
                <a:cs typeface="Kalimati" pitchFamily="2"/>
              </a:rPr>
              <a:t>Madicine</a:t>
            </a:r>
            <a:r>
              <a:rPr lang="en-US" sz="3200" dirty="0">
                <a:cs typeface="Kalimati" pitchFamily="2"/>
              </a:rPr>
              <a:t> Secretary of State</a:t>
            </a:r>
            <a:r>
              <a:rPr lang="ne-NP" sz="3200" dirty="0">
                <a:cs typeface="Kalimati" pitchFamily="2"/>
              </a:rPr>
              <a:t> भए भने </a:t>
            </a:r>
            <a:r>
              <a:rPr lang="en-US" sz="3200" dirty="0">
                <a:cs typeface="Kalimati" pitchFamily="2"/>
              </a:rPr>
              <a:t>Marshall</a:t>
            </a:r>
            <a:r>
              <a:rPr lang="ne-NP" sz="3200" dirty="0">
                <a:cs typeface="Kalimati" pitchFamily="2"/>
              </a:rPr>
              <a:t> प्रधान न्यायाधीश।</a:t>
            </a:r>
            <a:r>
              <a:rPr lang="en-US" sz="3200" dirty="0">
                <a:cs typeface="Kalimati" pitchFamily="2"/>
              </a:rPr>
              <a:t>Marbury</a:t>
            </a:r>
            <a:r>
              <a:rPr lang="ne-NP" sz="3200" dirty="0">
                <a:cs typeface="Kalimati" pitchFamily="2"/>
              </a:rPr>
              <a:t>लाई नियुक्तिपत्र </a:t>
            </a:r>
            <a:r>
              <a:rPr lang="ne-NP" sz="3200" dirty="0" err="1">
                <a:cs typeface="Kalimati" pitchFamily="2"/>
              </a:rPr>
              <a:t>दिईएन</a:t>
            </a:r>
            <a:r>
              <a:rPr lang="ne-NP" sz="3200" dirty="0">
                <a:cs typeface="Kalimati" pitchFamily="2"/>
              </a:rPr>
              <a:t> र सो पाउन उनले दायर गरेको परमादेशको रिटमा माग बमोजिम आदेश जारी गर्दा कार्यपालिका र न्यायपालिका बीच द्वन्द्व बढ्ने निश्चित थियो। </a:t>
            </a:r>
            <a:r>
              <a:rPr lang="en-US" sz="3200" dirty="0">
                <a:cs typeface="Kalimati" pitchFamily="2"/>
              </a:rPr>
              <a:t>Marshall </a:t>
            </a:r>
            <a:r>
              <a:rPr lang="ne-NP" sz="3200" dirty="0">
                <a:cs typeface="Kalimati" pitchFamily="2"/>
              </a:rPr>
              <a:t>ले </a:t>
            </a:r>
            <a:r>
              <a:rPr lang="en-US" sz="3200" dirty="0">
                <a:cs typeface="Kalimati" pitchFamily="2"/>
              </a:rPr>
              <a:t>Marbury</a:t>
            </a:r>
            <a:r>
              <a:rPr lang="ne-NP" sz="3200" dirty="0">
                <a:cs typeface="Kalimati" pitchFamily="2"/>
              </a:rPr>
              <a:t> को पक्षमा रिट जारी </a:t>
            </a:r>
            <a:r>
              <a:rPr lang="ne-NP" sz="3200" dirty="0" err="1">
                <a:cs typeface="Kalimati" pitchFamily="2"/>
              </a:rPr>
              <a:t>गरेनन्।तर</a:t>
            </a:r>
            <a:r>
              <a:rPr lang="ne-NP" sz="3200" dirty="0">
                <a:cs typeface="Kalimati" pitchFamily="2"/>
              </a:rPr>
              <a:t> सर्वोच्च अदालतलाई </a:t>
            </a:r>
            <a:r>
              <a:rPr lang="en-US" sz="3200" dirty="0">
                <a:cs typeface="Kalimati" pitchFamily="2"/>
              </a:rPr>
              <a:t>Judicial Review</a:t>
            </a:r>
            <a:r>
              <a:rPr lang="ne-NP" sz="3200" dirty="0">
                <a:cs typeface="Kalimati" pitchFamily="2"/>
              </a:rPr>
              <a:t>गर्ने अधिकार छ भन्ने </a:t>
            </a:r>
            <a:r>
              <a:rPr lang="ne-NP" sz="3200" dirty="0" err="1">
                <a:cs typeface="Kalimati" pitchFamily="2"/>
              </a:rPr>
              <a:t>कालजयी</a:t>
            </a:r>
            <a:r>
              <a:rPr lang="ne-NP" sz="3200" dirty="0">
                <a:cs typeface="Kalimati" pitchFamily="2"/>
              </a:rPr>
              <a:t> व्याख्या गरी दुई निकाय बीच हुन लागेको द्वन्द्व अन्त्य गरे।</a:t>
            </a:r>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25A35116-C77A-4AFF-E8E5-00CCFB435B5A}"/>
              </a:ext>
            </a:extLst>
          </p:cNvPr>
          <p:cNvSpPr>
            <a:spLocks noGrp="1"/>
          </p:cNvSpPr>
          <p:nvPr>
            <p:ph type="sldNum" sz="quarter" idx="12"/>
          </p:nvPr>
        </p:nvSpPr>
        <p:spPr/>
        <p:txBody>
          <a:bodyPr/>
          <a:lstStyle/>
          <a:p>
            <a:fld id="{7622E865-B2C1-4A41-88CD-3656CF28B604}" type="slidenum">
              <a:rPr lang="en-US" smtClean="0"/>
              <a:t>15</a:t>
            </a:fld>
            <a:endParaRPr lang="en-US"/>
          </a:p>
        </p:txBody>
      </p:sp>
    </p:spTree>
    <p:extLst>
      <p:ext uri="{BB962C8B-B14F-4D97-AF65-F5344CB8AC3E}">
        <p14:creationId xmlns:p14="http://schemas.microsoft.com/office/powerpoint/2010/main" val="2932809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7A027-8EB5-6CCD-DAB6-7F8715A4E340}"/>
              </a:ext>
            </a:extLst>
          </p:cNvPr>
          <p:cNvSpPr>
            <a:spLocks noGrp="1"/>
          </p:cNvSpPr>
          <p:nvPr>
            <p:ph type="title"/>
          </p:nvPr>
        </p:nvSpPr>
        <p:spPr>
          <a:xfrm>
            <a:off x="838200" y="144380"/>
            <a:ext cx="10515600" cy="657726"/>
          </a:xfrm>
        </p:spPr>
        <p:txBody>
          <a:bodyPr>
            <a:noAutofit/>
          </a:bodyPr>
          <a:lstStyle/>
          <a:p>
            <a:pPr algn="ctr"/>
            <a:br>
              <a:rPr lang="en-US" sz="3200" b="1" u="sng" dirty="0">
                <a:latin typeface="Calibri" panose="020F0502020204030204" pitchFamily="34" charset="0"/>
                <a:ea typeface="Calibri" panose="020F0502020204030204" pitchFamily="34" charset="0"/>
                <a:cs typeface="Kalimati" panose="00000400000000000000" pitchFamily="2"/>
              </a:rPr>
            </a:br>
            <a:r>
              <a:rPr lang="ne-NP" sz="3200" b="1" u="sng" dirty="0">
                <a:latin typeface="Calibri" panose="020F0502020204030204" pitchFamily="34" charset="0"/>
                <a:ea typeface="Calibri" panose="020F0502020204030204" pitchFamily="34" charset="0"/>
                <a:cs typeface="Kalimati" panose="00000400000000000000" pitchFamily="2"/>
              </a:rPr>
              <a:t>न्यायाधीशको </a:t>
            </a:r>
            <a:r>
              <a:rPr lang="ne-NP" sz="3200" b="1" u="sng" dirty="0" err="1">
                <a:latin typeface="Calibri" panose="020F0502020204030204" pitchFamily="34" charset="0"/>
                <a:ea typeface="Calibri" panose="020F0502020204030204" pitchFamily="34" charset="0"/>
                <a:cs typeface="Kalimati" panose="00000400000000000000" pitchFamily="2"/>
              </a:rPr>
              <a:t>महानता</a:t>
            </a:r>
            <a:br>
              <a:rPr lang="en-US" sz="3200" dirty="0">
                <a:latin typeface="Calibri" panose="020F0502020204030204" pitchFamily="34" charset="0"/>
                <a:ea typeface="Calibri" panose="020F0502020204030204" pitchFamily="34" charset="0"/>
                <a:cs typeface="Mangal" panose="02040503050203030202" pitchFamily="18" charset="0"/>
              </a:rPr>
            </a:br>
            <a:endParaRPr lang="en-US" sz="3200" dirty="0"/>
          </a:p>
        </p:txBody>
      </p:sp>
      <p:sp>
        <p:nvSpPr>
          <p:cNvPr id="3" name="Content Placeholder 2">
            <a:extLst>
              <a:ext uri="{FF2B5EF4-FFF2-40B4-BE49-F238E27FC236}">
                <a16:creationId xmlns:a16="http://schemas.microsoft.com/office/drawing/2014/main" id="{190B1602-B579-E6F4-462D-1D4E559BD6D9}"/>
              </a:ext>
            </a:extLst>
          </p:cNvPr>
          <p:cNvSpPr>
            <a:spLocks noGrp="1"/>
          </p:cNvSpPr>
          <p:nvPr>
            <p:ph idx="1"/>
          </p:nvPr>
        </p:nvSpPr>
        <p:spPr>
          <a:xfrm>
            <a:off x="128337" y="673768"/>
            <a:ext cx="11951368" cy="6039852"/>
          </a:xfrm>
        </p:spPr>
        <p:txBody>
          <a:bodyPr>
            <a:normAutofit/>
          </a:bodyPr>
          <a:lstStyle/>
          <a:p>
            <a:pPr algn="just">
              <a:buFont typeface="Wingdings" panose="05000000000000000000" pitchFamily="2" charset="2"/>
              <a:buChar char="v"/>
            </a:pPr>
            <a:r>
              <a:rPr lang="ne-NP" sz="3200" b="1" dirty="0">
                <a:latin typeface="Calibri" panose="020F0502020204030204" pitchFamily="34" charset="0"/>
                <a:ea typeface="Calibri" panose="020F0502020204030204" pitchFamily="34" charset="0"/>
                <a:cs typeface="Kalimati" panose="00000400000000000000" pitchFamily="2"/>
              </a:rPr>
              <a:t>सन् १९७० सम्ममा अमेरिकी सर्वोच्च अदालतबाट ९८ जना न्यायाधीश </a:t>
            </a:r>
            <a:r>
              <a:rPr lang="en-US" sz="3200" b="1" dirty="0">
                <a:latin typeface="Calibri" panose="020F0502020204030204" pitchFamily="34" charset="0"/>
                <a:ea typeface="Calibri" panose="020F0502020204030204" pitchFamily="34" charset="0"/>
                <a:cs typeface="Kalimati" panose="00000400000000000000" pitchFamily="2"/>
              </a:rPr>
              <a:t>/</a:t>
            </a:r>
            <a:r>
              <a:rPr lang="ne-NP" sz="3200" b="1" dirty="0">
                <a:latin typeface="Calibri" panose="020F0502020204030204" pitchFamily="34" charset="0"/>
                <a:ea typeface="Calibri" panose="020F0502020204030204" pitchFamily="34" charset="0"/>
                <a:cs typeface="Kalimati" panose="00000400000000000000" pitchFamily="2"/>
              </a:rPr>
              <a:t> प्रधान न्यायाधीश  सेवा निवृत्त भएका थिए ।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1.</a:t>
            </a:r>
            <a:r>
              <a:rPr lang="en-US" sz="3200" b="1" dirty="0">
                <a:latin typeface="Calibri" panose="020F0502020204030204" pitchFamily="34" charset="0"/>
                <a:ea typeface="Calibri" panose="020F0502020204030204" pitchFamily="34" charset="0"/>
                <a:cs typeface="Kalimati" panose="00000400000000000000" pitchFamily="2"/>
              </a:rPr>
              <a:t> </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Scholarship,</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2.</a:t>
            </a:r>
            <a:r>
              <a:rPr lang="ne-NP" sz="3200" b="1" dirty="0">
                <a:solidFill>
                  <a:srgbClr val="FF0000"/>
                </a:solidFill>
                <a:latin typeface="Calibri" panose="020F0502020204030204" pitchFamily="34" charset="0"/>
                <a:ea typeface="Calibri" panose="020F0502020204030204" pitchFamily="34" charset="0"/>
                <a:cs typeface="Kalimati" panose="00000400000000000000" pitchFamily="2"/>
              </a:rPr>
              <a:t>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legal learning and analytical powers,</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3.  </a:t>
            </a:r>
            <a:r>
              <a:rPr lang="en-US" sz="3200" b="1" dirty="0">
                <a:latin typeface="Calibri" panose="020F0502020204030204" pitchFamily="34" charset="0"/>
                <a:ea typeface="Calibri" panose="020F0502020204030204" pitchFamily="34" charset="0"/>
                <a:cs typeface="Kalimati" panose="00000400000000000000" pitchFamily="2"/>
              </a:rPr>
              <a:t>craftmanship and technique,</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4.  </a:t>
            </a:r>
            <a:r>
              <a:rPr lang="en-US" sz="3200" b="1" dirty="0">
                <a:latin typeface="Calibri" panose="020F0502020204030204" pitchFamily="34" charset="0"/>
                <a:ea typeface="Calibri" panose="020F0502020204030204" pitchFamily="34" charset="0"/>
                <a:cs typeface="Kalimati" panose="00000400000000000000" pitchFamily="2"/>
              </a:rPr>
              <a:t>wide general knowledge and learning,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5.</a:t>
            </a:r>
            <a:r>
              <a:rPr lang="en-US" sz="3200" b="1" dirty="0">
                <a:latin typeface="Calibri" panose="020F0502020204030204" pitchFamily="34" charset="0"/>
                <a:ea typeface="Calibri" panose="020F0502020204030204" pitchFamily="34" charset="0"/>
                <a:cs typeface="Kalimati" panose="00000400000000000000" pitchFamily="2"/>
              </a:rPr>
              <a:t>  character, moral integrity and impartiality, </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6. </a:t>
            </a:r>
            <a:r>
              <a:rPr lang="ne-NP" sz="3200" b="1" dirty="0">
                <a:solidFill>
                  <a:srgbClr val="FF0000"/>
                </a:solidFill>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diligence and industry, </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7.  </a:t>
            </a:r>
            <a:r>
              <a:rPr lang="en-US" sz="3200" b="1" dirty="0">
                <a:latin typeface="Calibri" panose="020F0502020204030204" pitchFamily="34" charset="0"/>
                <a:ea typeface="Calibri" panose="020F0502020204030204" pitchFamily="34" charset="0"/>
                <a:cs typeface="Kalimati" panose="00000400000000000000" pitchFamily="2"/>
              </a:rPr>
              <a:t>the ability to express oneself orally with clarity, logic and compelling force, </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8.</a:t>
            </a:r>
            <a:r>
              <a:rPr lang="en-US" sz="3200" b="1" dirty="0">
                <a:latin typeface="Calibri" panose="020F0502020204030204" pitchFamily="34" charset="0"/>
                <a:ea typeface="Calibri" panose="020F0502020204030204" pitchFamily="34" charset="0"/>
                <a:cs typeface="Kalimati" panose="00000400000000000000" pitchFamily="2"/>
              </a:rPr>
              <a:t>  openness to change,</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9.</a:t>
            </a:r>
            <a:r>
              <a:rPr lang="en-US" sz="3200" b="1" dirty="0">
                <a:latin typeface="Calibri" panose="020F0502020204030204" pitchFamily="34" charset="0"/>
                <a:ea typeface="Calibri" panose="020F0502020204030204" pitchFamily="34" charset="0"/>
                <a:cs typeface="Kalimati" panose="00000400000000000000" pitchFamily="2"/>
              </a:rPr>
              <a:t> </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courage to take unpopular decisions, </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10. </a:t>
            </a:r>
            <a:r>
              <a:rPr lang="ne-NP" sz="3200" b="1" dirty="0">
                <a:solidFill>
                  <a:srgbClr val="FF0000"/>
                </a:solidFill>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dedication to the court as an institution and to the office of supreme court justice,</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11.</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 ability to carry a proportionate share of the court’s responsibility in opinion writings</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 </a:t>
            </a:r>
            <a:r>
              <a:rPr lang="ne-NP" sz="3200" b="1" dirty="0">
                <a:latin typeface="Calibri" panose="020F0502020204030204" pitchFamily="34" charset="0"/>
                <a:ea typeface="Calibri" panose="020F0502020204030204" pitchFamily="34" charset="0"/>
                <a:cs typeface="Kalimati" panose="00000400000000000000" pitchFamily="2"/>
              </a:rPr>
              <a:t>र  </a:t>
            </a:r>
            <a:r>
              <a:rPr lang="en-US" sz="3200" b="1" dirty="0">
                <a:solidFill>
                  <a:srgbClr val="FF0000"/>
                </a:solidFill>
                <a:latin typeface="Calibri" panose="020F0502020204030204" pitchFamily="34" charset="0"/>
                <a:ea typeface="Calibri" panose="020F0502020204030204" pitchFamily="34" charset="0"/>
                <a:cs typeface="Kalimati" panose="00000400000000000000" pitchFamily="2"/>
              </a:rPr>
              <a:t>12. </a:t>
            </a:r>
            <a:r>
              <a:rPr lang="ne-NP" sz="3200" b="1" dirty="0">
                <a:solidFill>
                  <a:srgbClr val="FF0000"/>
                </a:solidFill>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the quality of statesmanship</a:t>
            </a:r>
            <a:r>
              <a:rPr lang="ne-NP" sz="3200" b="1" dirty="0">
                <a:latin typeface="Calibri" panose="020F0502020204030204" pitchFamily="34" charset="0"/>
                <a:ea typeface="Calibri" panose="020F0502020204030204" pitchFamily="34" charset="0"/>
                <a:cs typeface="Kalimati" panose="00000400000000000000" pitchFamily="2"/>
              </a:rPr>
              <a:t> जस्ता न्यायाधीशमा हुनु पर्ने १२ वटा गुणलाई आधार मानेर सेवा निवृत्त ती ९८ जना न्यायाधीशहरूको </a:t>
            </a:r>
            <a:r>
              <a:rPr lang="ne-NP" sz="3200" b="1" dirty="0" err="1">
                <a:latin typeface="Calibri" panose="020F0502020204030204" pitchFamily="34" charset="0"/>
                <a:ea typeface="Calibri" panose="020F0502020204030204" pitchFamily="34" charset="0"/>
                <a:cs typeface="Kalimati" panose="00000400000000000000" pitchFamily="2"/>
              </a:rPr>
              <a:t>माहनता</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(Greatness</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of judges)</a:t>
            </a:r>
            <a:r>
              <a:rPr lang="ne-NP" sz="3200" b="1" dirty="0">
                <a:latin typeface="Calibri" panose="020F0502020204030204" pitchFamily="34" charset="0"/>
                <a:ea typeface="Calibri" panose="020F0502020204030204" pitchFamily="34" charset="0"/>
                <a:cs typeface="Kalimati" panose="00000400000000000000" pitchFamily="2"/>
              </a:rPr>
              <a:t> परीक्षण गर्न सन् १९७० मा ... </a:t>
            </a:r>
            <a:endParaRPr lang="en-US" sz="3200" b="1" dirty="0"/>
          </a:p>
          <a:p>
            <a:pPr algn="just"/>
            <a:endParaRPr lang="en-US" sz="3200" dirty="0"/>
          </a:p>
        </p:txBody>
      </p:sp>
      <p:sp>
        <p:nvSpPr>
          <p:cNvPr id="4" name="Slide Number Placeholder 3">
            <a:extLst>
              <a:ext uri="{FF2B5EF4-FFF2-40B4-BE49-F238E27FC236}">
                <a16:creationId xmlns:a16="http://schemas.microsoft.com/office/drawing/2014/main" id="{2A739FF2-F502-CC54-C022-E349533AFB55}"/>
              </a:ext>
            </a:extLst>
          </p:cNvPr>
          <p:cNvSpPr>
            <a:spLocks noGrp="1"/>
          </p:cNvSpPr>
          <p:nvPr>
            <p:ph type="sldNum" sz="quarter" idx="12"/>
          </p:nvPr>
        </p:nvSpPr>
        <p:spPr/>
        <p:txBody>
          <a:bodyPr/>
          <a:lstStyle/>
          <a:p>
            <a:fld id="{7622E865-B2C1-4A41-88CD-3656CF28B604}" type="slidenum">
              <a:rPr lang="en-US" smtClean="0"/>
              <a:t>16</a:t>
            </a:fld>
            <a:endParaRPr lang="en-US"/>
          </a:p>
        </p:txBody>
      </p:sp>
    </p:spTree>
    <p:extLst>
      <p:ext uri="{BB962C8B-B14F-4D97-AF65-F5344CB8AC3E}">
        <p14:creationId xmlns:p14="http://schemas.microsoft.com/office/powerpoint/2010/main" val="1743532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7B3E-82C7-59DA-CA8E-D13B7CBD81E3}"/>
              </a:ext>
            </a:extLst>
          </p:cNvPr>
          <p:cNvSpPr>
            <a:spLocks noGrp="1"/>
          </p:cNvSpPr>
          <p:nvPr>
            <p:ph type="title"/>
          </p:nvPr>
        </p:nvSpPr>
        <p:spPr>
          <a:xfrm>
            <a:off x="838200" y="112296"/>
            <a:ext cx="10515600" cy="320842"/>
          </a:xfrm>
        </p:spPr>
        <p:txBody>
          <a:bodyPr>
            <a:noAutofit/>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BD8123EA-2FA0-DD4E-CAB2-5770D8C3FAD0}"/>
              </a:ext>
            </a:extLst>
          </p:cNvPr>
          <p:cNvSpPr>
            <a:spLocks noGrp="1"/>
          </p:cNvSpPr>
          <p:nvPr>
            <p:ph idx="1"/>
          </p:nvPr>
        </p:nvSpPr>
        <p:spPr>
          <a:xfrm>
            <a:off x="176463" y="433138"/>
            <a:ext cx="11823032" cy="6312566"/>
          </a:xfrm>
        </p:spPr>
        <p:txBody>
          <a:bodyPr>
            <a:noAutofit/>
          </a:bodyPr>
          <a:lstStyle/>
          <a:p>
            <a:pPr marL="0" indent="0" algn="just">
              <a:lnSpc>
                <a:spcPct val="106000"/>
              </a:lnSpc>
              <a:spcBef>
                <a:spcPts val="0"/>
              </a:spcBef>
              <a:spcAft>
                <a:spcPts val="600"/>
              </a:spcAft>
              <a:buNone/>
            </a:pPr>
            <a:r>
              <a:rPr lang="ne-NP" sz="3200" b="1" dirty="0">
                <a:latin typeface="Calibri" panose="020F0502020204030204" pitchFamily="34" charset="0"/>
                <a:ea typeface="Calibri" panose="020F0502020204030204" pitchFamily="34" charset="0"/>
                <a:cs typeface="Kalimati" panose="00000400000000000000" pitchFamily="2"/>
              </a:rPr>
              <a:t>...अदालतको काम कारबाहीलाई नजिकबाट अवलोकन गर्ने ६५ जना </a:t>
            </a:r>
            <a:r>
              <a:rPr lang="ne-NP" sz="3200" b="1" dirty="0" err="1">
                <a:latin typeface="Calibri" panose="020F0502020204030204" pitchFamily="34" charset="0"/>
                <a:ea typeface="Calibri" panose="020F0502020204030204" pitchFamily="34" charset="0"/>
                <a:cs typeface="Kalimati" panose="00000400000000000000" pitchFamily="2"/>
              </a:rPr>
              <a:t>विद्वानहरूलाई</a:t>
            </a:r>
            <a:r>
              <a:rPr lang="ne-NP" sz="3200" b="1" dirty="0">
                <a:latin typeface="Calibri" panose="020F0502020204030204" pitchFamily="34" charset="0"/>
                <a:ea typeface="Calibri" panose="020F0502020204030204" pitchFamily="34" charset="0"/>
                <a:cs typeface="Kalimati" panose="00000400000000000000" pitchFamily="2"/>
              </a:rPr>
              <a:t> प्रश्नावली तयार गरेर </a:t>
            </a:r>
            <a:r>
              <a:rPr lang="ne-NP" sz="3200" b="1" dirty="0" err="1">
                <a:latin typeface="Calibri" panose="020F0502020204030204" pitchFamily="34" charset="0"/>
                <a:ea typeface="Calibri" panose="020F0502020204030204" pitchFamily="34" charset="0"/>
                <a:cs typeface="Kalimati" panose="00000400000000000000" pitchFamily="2"/>
              </a:rPr>
              <a:t>पठाइयो।प्राप्त</a:t>
            </a:r>
            <a:r>
              <a:rPr lang="ne-NP" sz="3200" b="1" dirty="0">
                <a:latin typeface="Calibri" panose="020F0502020204030204" pitchFamily="34" charset="0"/>
                <a:ea typeface="Calibri" panose="020F0502020204030204" pitchFamily="34" charset="0"/>
                <a:cs typeface="Kalimati" panose="00000400000000000000" pitchFamily="2"/>
              </a:rPr>
              <a:t> परिणाम अनुसार प्रधान न्यायाधीश </a:t>
            </a:r>
            <a:r>
              <a:rPr lang="en-US" sz="3200" b="1" dirty="0">
                <a:latin typeface="Calibri" panose="020F0502020204030204" pitchFamily="34" charset="0"/>
                <a:ea typeface="Calibri" panose="020F0502020204030204" pitchFamily="34" charset="0"/>
                <a:cs typeface="Kalimati" panose="00000400000000000000" pitchFamily="2"/>
              </a:rPr>
              <a:t>John Marshall</a:t>
            </a:r>
            <a:r>
              <a:rPr lang="ne-NP" sz="3200" b="1" dirty="0">
                <a:latin typeface="Calibri" panose="020F0502020204030204" pitchFamily="34" charset="0"/>
                <a:ea typeface="Calibri" panose="020F0502020204030204" pitchFamily="34" charset="0"/>
                <a:cs typeface="Kalimati" panose="00000400000000000000" pitchFamily="2"/>
              </a:rPr>
              <a:t> लाई शत प्रतिशत अर्थात् ६५</a:t>
            </a:r>
            <a:r>
              <a:rPr lang="en-US" sz="3200" b="1" dirty="0">
                <a:latin typeface="Calibri" panose="020F0502020204030204" pitchFamily="34" charset="0"/>
                <a:ea typeface="Calibri" panose="020F0502020204030204" pitchFamily="34" charset="0"/>
                <a:cs typeface="Kalimati" panose="00000400000000000000" pitchFamily="2"/>
              </a:rPr>
              <a:t>,</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Louis Brandeis </a:t>
            </a:r>
            <a:r>
              <a:rPr lang="ne-NP" sz="3200" b="1" dirty="0">
                <a:latin typeface="Calibri" panose="020F0502020204030204" pitchFamily="34" charset="0"/>
                <a:ea typeface="Calibri" panose="020F0502020204030204" pitchFamily="34" charset="0"/>
                <a:cs typeface="Kalimati" panose="00000400000000000000" pitchFamily="2"/>
              </a:rPr>
              <a:t>लाई ६२</a:t>
            </a:r>
            <a:r>
              <a:rPr lang="en-US" sz="3200" b="1" dirty="0">
                <a:latin typeface="Calibri" panose="020F0502020204030204" pitchFamily="34" charset="0"/>
                <a:ea typeface="Calibri" panose="020F0502020204030204" pitchFamily="34" charset="0"/>
                <a:cs typeface="Kalimati" panose="00000400000000000000" pitchFamily="2"/>
              </a:rPr>
              <a:t>,</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Oliver Wendell Holmes </a:t>
            </a:r>
            <a:r>
              <a:rPr lang="ne-NP" sz="3200" b="1" dirty="0">
                <a:latin typeface="Calibri" panose="020F0502020204030204" pitchFamily="34" charset="0"/>
                <a:ea typeface="Calibri" panose="020F0502020204030204" pitchFamily="34" charset="0"/>
                <a:cs typeface="Kalimati" panose="00000400000000000000" pitchFamily="2"/>
              </a:rPr>
              <a:t>लाई ६१</a:t>
            </a:r>
            <a:r>
              <a:rPr lang="en-US" sz="3200" b="1" dirty="0">
                <a:latin typeface="Calibri" panose="020F0502020204030204" pitchFamily="34" charset="0"/>
                <a:ea typeface="Calibri" panose="020F0502020204030204" pitchFamily="34" charset="0"/>
                <a:cs typeface="Kalimati" panose="00000400000000000000" pitchFamily="2"/>
              </a:rPr>
              <a:t>,</a:t>
            </a:r>
            <a:r>
              <a:rPr lang="ne-NP" sz="3200" b="1" dirty="0">
                <a:latin typeface="Calibri" panose="020F0502020204030204" pitchFamily="34" charset="0"/>
                <a:ea typeface="Calibri" panose="020F0502020204030204" pitchFamily="34" charset="0"/>
                <a:cs typeface="Kalimati" panose="00000400000000000000" pitchFamily="2"/>
              </a:rPr>
              <a:t> </a:t>
            </a:r>
            <a:r>
              <a:rPr lang="en-US" sz="3200" b="1" dirty="0">
                <a:latin typeface="Calibri" panose="020F0502020204030204" pitchFamily="34" charset="0"/>
                <a:ea typeface="Calibri" panose="020F0502020204030204" pitchFamily="34" charset="0"/>
                <a:cs typeface="Kalimati" panose="00000400000000000000" pitchFamily="2"/>
              </a:rPr>
              <a:t>Hugo Lafayette Black </a:t>
            </a:r>
            <a:r>
              <a:rPr lang="ne-NP" sz="3200" b="1" dirty="0">
                <a:latin typeface="Calibri" panose="020F0502020204030204" pitchFamily="34" charset="0"/>
                <a:ea typeface="Calibri" panose="020F0502020204030204" pitchFamily="34" charset="0"/>
                <a:cs typeface="Kalimati" panose="00000400000000000000" pitchFamily="2"/>
              </a:rPr>
              <a:t>लाई ४२ मत प्राप्त भयो र उनीहरू क्रमशः प्रथम</a:t>
            </a:r>
            <a:r>
              <a:rPr lang="en-US" sz="3200" b="1" dirty="0">
                <a:latin typeface="Calibri" panose="020F0502020204030204" pitchFamily="34" charset="0"/>
                <a:ea typeface="Calibri" panose="020F0502020204030204" pitchFamily="34" charset="0"/>
                <a:cs typeface="Kalimati" panose="00000400000000000000" pitchFamily="2"/>
              </a:rPr>
              <a:t>,</a:t>
            </a:r>
            <a:r>
              <a:rPr lang="ne-NP" sz="3200" b="1" dirty="0">
                <a:latin typeface="Calibri" panose="020F0502020204030204" pitchFamily="34" charset="0"/>
                <a:ea typeface="Calibri" panose="020F0502020204030204" pitchFamily="34" charset="0"/>
                <a:cs typeface="Kalimati" panose="00000400000000000000" pitchFamily="2"/>
              </a:rPr>
              <a:t> द्वितीय</a:t>
            </a:r>
            <a:r>
              <a:rPr lang="en-US" sz="3200" b="1" dirty="0">
                <a:latin typeface="Calibri" panose="020F0502020204030204" pitchFamily="34" charset="0"/>
                <a:ea typeface="Calibri" panose="020F0502020204030204" pitchFamily="34" charset="0"/>
                <a:cs typeface="Kalimati" panose="00000400000000000000" pitchFamily="2"/>
              </a:rPr>
              <a:t>, </a:t>
            </a:r>
            <a:r>
              <a:rPr lang="ne-NP" sz="3200" b="1" dirty="0">
                <a:latin typeface="Calibri" panose="020F0502020204030204" pitchFamily="34" charset="0"/>
                <a:ea typeface="Calibri" panose="020F0502020204030204" pitchFamily="34" charset="0"/>
                <a:cs typeface="Kalimati" panose="00000400000000000000" pitchFamily="2"/>
              </a:rPr>
              <a:t>तृतीय र चतुर्थ </a:t>
            </a:r>
            <a:r>
              <a:rPr lang="ne-NP" sz="3200" b="1" dirty="0" err="1">
                <a:latin typeface="Calibri" panose="020F0502020204030204" pitchFamily="34" charset="0"/>
                <a:ea typeface="Calibri" panose="020F0502020204030204" pitchFamily="34" charset="0"/>
                <a:cs typeface="Kalimati" panose="00000400000000000000" pitchFamily="2"/>
              </a:rPr>
              <a:t>भए।सो</a:t>
            </a:r>
            <a:r>
              <a:rPr lang="ne-NP" sz="3200" b="1" dirty="0">
                <a:latin typeface="Calibri" panose="020F0502020204030204" pitchFamily="34" charset="0"/>
                <a:ea typeface="Calibri" panose="020F0502020204030204" pitchFamily="34" charset="0"/>
                <a:cs typeface="Kalimati" panose="00000400000000000000" pitchFamily="2"/>
              </a:rPr>
              <a:t> सर्वेक्षणमा ८ जना महान् नजिक</a:t>
            </a:r>
            <a:r>
              <a:rPr lang="en-US" sz="3200" b="1" dirty="0">
                <a:latin typeface="Calibri" panose="020F0502020204030204" pitchFamily="34" charset="0"/>
                <a:ea typeface="Calibri" panose="020F0502020204030204" pitchFamily="34" charset="0"/>
                <a:cs typeface="Kalimati" panose="00000400000000000000" pitchFamily="2"/>
              </a:rPr>
              <a:t>  (Near great), </a:t>
            </a:r>
            <a:r>
              <a:rPr lang="ne-NP" sz="3200" b="1" dirty="0">
                <a:latin typeface="Calibri" panose="020F0502020204030204" pitchFamily="34" charset="0"/>
                <a:ea typeface="Calibri" panose="020F0502020204030204" pitchFamily="34" charset="0"/>
                <a:cs typeface="Kalimati" panose="00000400000000000000" pitchFamily="2"/>
              </a:rPr>
              <a:t>१५ जना सरदर </a:t>
            </a:r>
            <a:r>
              <a:rPr lang="en-US" sz="3200" b="1" dirty="0">
                <a:latin typeface="Calibri" panose="020F0502020204030204" pitchFamily="34" charset="0"/>
                <a:ea typeface="Calibri" panose="020F0502020204030204" pitchFamily="34" charset="0"/>
                <a:cs typeface="Kalimati" panose="00000400000000000000" pitchFamily="2"/>
              </a:rPr>
              <a:t> (Average), </a:t>
            </a:r>
            <a:r>
              <a:rPr lang="ne-NP" sz="3200" b="1" dirty="0">
                <a:latin typeface="Calibri" panose="020F0502020204030204" pitchFamily="34" charset="0"/>
                <a:ea typeface="Calibri" panose="020F0502020204030204" pitchFamily="34" charset="0"/>
                <a:cs typeface="Kalimati" panose="00000400000000000000" pitchFamily="2"/>
              </a:rPr>
              <a:t>६ जना सरदर भन्दा तल </a:t>
            </a:r>
            <a:r>
              <a:rPr lang="en-US" sz="3200" b="1" dirty="0">
                <a:latin typeface="Calibri" panose="020F0502020204030204" pitchFamily="34" charset="0"/>
                <a:ea typeface="Calibri" panose="020F0502020204030204" pitchFamily="34" charset="0"/>
                <a:cs typeface="Kalimati" panose="00000400000000000000" pitchFamily="2"/>
              </a:rPr>
              <a:t>(Below average) </a:t>
            </a:r>
            <a:r>
              <a:rPr lang="ne-NP" sz="3200" b="1" dirty="0">
                <a:latin typeface="Calibri" panose="020F0502020204030204" pitchFamily="34" charset="0"/>
                <a:ea typeface="Calibri" panose="020F0502020204030204" pitchFamily="34" charset="0"/>
                <a:cs typeface="Kalimati" panose="00000400000000000000" pitchFamily="2"/>
              </a:rPr>
              <a:t>र अन्य ६५ जना न्यायाधीशहरू असफल </a:t>
            </a:r>
            <a:r>
              <a:rPr lang="en-US" sz="3200" b="1" dirty="0">
                <a:latin typeface="Calibri" panose="020F0502020204030204" pitchFamily="34" charset="0"/>
                <a:ea typeface="Calibri" panose="020F0502020204030204" pitchFamily="34" charset="0"/>
                <a:cs typeface="Kalimati" panose="00000400000000000000" pitchFamily="2"/>
              </a:rPr>
              <a:t> (Fail)</a:t>
            </a:r>
            <a:r>
              <a:rPr lang="ne-NP" sz="3200" b="1" dirty="0">
                <a:latin typeface="Calibri" panose="020F0502020204030204" pitchFamily="34" charset="0"/>
                <a:ea typeface="Calibri" panose="020F0502020204030204" pitchFamily="34" charset="0"/>
                <a:cs typeface="Kalimati" panose="00000400000000000000" pitchFamily="2"/>
              </a:rPr>
              <a:t> भएको नतिजा </a:t>
            </a:r>
            <a:r>
              <a:rPr lang="ne-NP" sz="3200" b="1" dirty="0" err="1">
                <a:latin typeface="Calibri" panose="020F0502020204030204" pitchFamily="34" charset="0"/>
                <a:ea typeface="Calibri" panose="020F0502020204030204" pitchFamily="34" charset="0"/>
                <a:cs typeface="Kalimati" panose="00000400000000000000" pitchFamily="2"/>
              </a:rPr>
              <a:t>निस्कियो।मृत्यु</a:t>
            </a:r>
            <a:r>
              <a:rPr lang="ne-NP" sz="3200" b="1" dirty="0">
                <a:latin typeface="Calibri" panose="020F0502020204030204" pitchFamily="34" charset="0"/>
                <a:ea typeface="Calibri" panose="020F0502020204030204" pitchFamily="34" charset="0"/>
                <a:cs typeface="Kalimati" panose="00000400000000000000" pitchFamily="2"/>
              </a:rPr>
              <a:t> भएको १३५ वर्ष पछि गरिएको सर्वेक्षणमा </a:t>
            </a:r>
            <a:r>
              <a:rPr lang="en-US" sz="3200" b="1" dirty="0">
                <a:latin typeface="Calibri" panose="020F0502020204030204" pitchFamily="34" charset="0"/>
                <a:ea typeface="Calibri" panose="020F0502020204030204" pitchFamily="34" charset="0"/>
                <a:cs typeface="Kalimati" panose="00000400000000000000" pitchFamily="2"/>
              </a:rPr>
              <a:t>John Marshall</a:t>
            </a:r>
            <a:r>
              <a:rPr lang="ne-NP" sz="3200" b="1" dirty="0">
                <a:latin typeface="Calibri" panose="020F0502020204030204" pitchFamily="34" charset="0"/>
                <a:ea typeface="Calibri" panose="020F0502020204030204" pitchFamily="34" charset="0"/>
                <a:cs typeface="Kalimati" panose="00000400000000000000" pitchFamily="2"/>
              </a:rPr>
              <a:t> लाई शत प्रतिशत मत प्राप्त भएको </a:t>
            </a:r>
            <a:r>
              <a:rPr lang="ne-NP" sz="3200" b="1" dirty="0" err="1">
                <a:latin typeface="Calibri" panose="020F0502020204030204" pitchFamily="34" charset="0"/>
                <a:ea typeface="Calibri" panose="020F0502020204030204" pitchFamily="34" charset="0"/>
                <a:cs typeface="Kalimati" panose="00000400000000000000" pitchFamily="2"/>
              </a:rPr>
              <a:t>देखिँदा</a:t>
            </a:r>
            <a:r>
              <a:rPr lang="ne-NP" sz="3200" b="1" dirty="0">
                <a:latin typeface="Calibri" panose="020F0502020204030204" pitchFamily="34" charset="0"/>
                <a:ea typeface="Calibri" panose="020F0502020204030204" pitchFamily="34" charset="0"/>
                <a:cs typeface="Kalimati" panose="00000400000000000000" pitchFamily="2"/>
              </a:rPr>
              <a:t> उनलाई महान् प्रधान न्यायाधीश मात्र होइन</a:t>
            </a:r>
            <a:r>
              <a:rPr lang="en-US" sz="3200" b="1" dirty="0">
                <a:latin typeface="Calibri" panose="020F0502020204030204" pitchFamily="34" charset="0"/>
                <a:ea typeface="Calibri" panose="020F0502020204030204" pitchFamily="34" charset="0"/>
                <a:cs typeface="Kalimati" panose="00000400000000000000" pitchFamily="2"/>
              </a:rPr>
              <a:t>,</a:t>
            </a:r>
            <a:r>
              <a:rPr lang="ne-NP" sz="3200" b="1" dirty="0">
                <a:latin typeface="Calibri" panose="020F0502020204030204" pitchFamily="34" charset="0"/>
                <a:ea typeface="Calibri" panose="020F0502020204030204" pitchFamily="34" charset="0"/>
                <a:cs typeface="Kalimati" panose="00000400000000000000" pitchFamily="2"/>
              </a:rPr>
              <a:t> महान् मध्येका पनि महान् मान्नु पर्ला कि  </a:t>
            </a:r>
            <a:r>
              <a:rPr lang="en-US" sz="3200" b="1" dirty="0">
                <a:latin typeface="Calibri" panose="020F0502020204030204" pitchFamily="34" charset="0"/>
                <a:ea typeface="Calibri" panose="020F0502020204030204" pitchFamily="34" charset="0"/>
                <a:cs typeface="Kalimati" panose="00000400000000000000" pitchFamily="2"/>
              </a:rPr>
              <a:t>?</a:t>
            </a:r>
            <a:r>
              <a:rPr lang="ne-NP" sz="3200" b="1" dirty="0">
                <a:latin typeface="Calibri" panose="020F0502020204030204" pitchFamily="34" charset="0"/>
                <a:ea typeface="Calibri" panose="020F0502020204030204" pitchFamily="34" charset="0"/>
                <a:cs typeface="Kalimati" panose="00000400000000000000" pitchFamily="2"/>
              </a:rPr>
              <a:t> </a:t>
            </a:r>
            <a:endParaRPr lang="en-US" sz="3200" b="1" dirty="0">
              <a:latin typeface="Calibri" panose="020F0502020204030204" pitchFamily="34" charset="0"/>
              <a:ea typeface="Calibri" panose="020F0502020204030204" pitchFamily="34" charset="0"/>
              <a:cs typeface="Mangal" panose="02040503050203030202" pitchFamily="18" charset="0"/>
            </a:endParaRPr>
          </a:p>
          <a:p>
            <a:pPr marL="0" indent="0">
              <a:lnSpc>
                <a:spcPct val="106000"/>
              </a:lnSpc>
              <a:spcBef>
                <a:spcPts val="0"/>
              </a:spcBef>
              <a:spcAft>
                <a:spcPts val="600"/>
              </a:spcAft>
              <a:buNone/>
            </a:pPr>
            <a:r>
              <a:rPr lang="en-US" sz="3200" b="1" dirty="0">
                <a:latin typeface="Calibri" panose="020F0502020204030204" pitchFamily="34" charset="0"/>
                <a:ea typeface="Calibri" panose="020F0502020204030204" pitchFamily="34" charset="0"/>
                <a:cs typeface="Mangal" panose="02040503050203030202" pitchFamily="18" charset="0"/>
              </a:rPr>
              <a:t> </a:t>
            </a:r>
          </a:p>
          <a:p>
            <a:endParaRPr lang="en-US" sz="3200" dirty="0"/>
          </a:p>
          <a:p>
            <a:endParaRPr lang="en-US" sz="3200" dirty="0"/>
          </a:p>
        </p:txBody>
      </p:sp>
      <p:sp>
        <p:nvSpPr>
          <p:cNvPr id="4" name="Slide Number Placeholder 3">
            <a:extLst>
              <a:ext uri="{FF2B5EF4-FFF2-40B4-BE49-F238E27FC236}">
                <a16:creationId xmlns:a16="http://schemas.microsoft.com/office/drawing/2014/main" id="{8FC4F32A-DE4A-4B22-09D2-F2F54B70B27B}"/>
              </a:ext>
            </a:extLst>
          </p:cNvPr>
          <p:cNvSpPr>
            <a:spLocks noGrp="1"/>
          </p:cNvSpPr>
          <p:nvPr>
            <p:ph type="sldNum" sz="quarter" idx="12"/>
          </p:nvPr>
        </p:nvSpPr>
        <p:spPr/>
        <p:txBody>
          <a:bodyPr/>
          <a:lstStyle/>
          <a:p>
            <a:fld id="{7622E865-B2C1-4A41-88CD-3656CF28B604}" type="slidenum">
              <a:rPr lang="en-US" smtClean="0"/>
              <a:t>17</a:t>
            </a:fld>
            <a:endParaRPr lang="en-US"/>
          </a:p>
        </p:txBody>
      </p:sp>
    </p:spTree>
    <p:extLst>
      <p:ext uri="{BB962C8B-B14F-4D97-AF65-F5344CB8AC3E}">
        <p14:creationId xmlns:p14="http://schemas.microsoft.com/office/powerpoint/2010/main" val="502070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557DC-8C44-8634-3809-D0DC9239F008}"/>
              </a:ext>
            </a:extLst>
          </p:cNvPr>
          <p:cNvSpPr>
            <a:spLocks noGrp="1"/>
          </p:cNvSpPr>
          <p:nvPr>
            <p:ph type="title"/>
          </p:nvPr>
        </p:nvSpPr>
        <p:spPr>
          <a:xfrm>
            <a:off x="104931" y="1"/>
            <a:ext cx="11902190" cy="1058419"/>
          </a:xfrm>
        </p:spPr>
        <p:txBody>
          <a:bodyPr>
            <a:normAutofit/>
          </a:bodyPr>
          <a:lstStyle/>
          <a:p>
            <a:r>
              <a:rPr lang="ne-NP" sz="3200" b="1" dirty="0">
                <a:latin typeface="+mn-lt"/>
                <a:cs typeface="Kalimati" pitchFamily="2"/>
              </a:rPr>
              <a:t>ग. </a:t>
            </a:r>
            <a:r>
              <a:rPr lang="ne-NP" sz="3200" b="1" u="sng" dirty="0">
                <a:latin typeface="+mn-lt"/>
                <a:cs typeface="Kalimati" pitchFamily="2"/>
              </a:rPr>
              <a:t>क्षमाशीलता</a:t>
            </a:r>
            <a:r>
              <a:rPr lang="en-US" sz="3200" b="1" u="sng" dirty="0">
                <a:latin typeface="+mn-lt"/>
                <a:cs typeface="Kalimati" pitchFamily="2"/>
              </a:rPr>
              <a:t> / </a:t>
            </a:r>
            <a:r>
              <a:rPr lang="ne-NP" sz="3200" b="1" u="sng" dirty="0">
                <a:latin typeface="+mn-lt"/>
                <a:cs typeface="Kalimati" pitchFamily="2"/>
              </a:rPr>
              <a:t>प्रतिशोध विहीनता</a:t>
            </a:r>
            <a:r>
              <a:rPr lang="en-US" sz="3200" b="1" u="sng" dirty="0">
                <a:latin typeface="+mn-lt"/>
                <a:cs typeface="Kalimati" pitchFamily="2"/>
              </a:rPr>
              <a:t> (Forgiveness/ Revengeful less) </a:t>
            </a:r>
            <a:endParaRPr lang="en-US" sz="3200" u="sng" dirty="0">
              <a:latin typeface="+mn-lt"/>
              <a:cs typeface="Kalimati" panose="00000400000000000000" pitchFamily="2"/>
            </a:endParaRPr>
          </a:p>
        </p:txBody>
      </p:sp>
      <p:sp>
        <p:nvSpPr>
          <p:cNvPr id="3" name="Content Placeholder 2">
            <a:extLst>
              <a:ext uri="{FF2B5EF4-FFF2-40B4-BE49-F238E27FC236}">
                <a16:creationId xmlns:a16="http://schemas.microsoft.com/office/drawing/2014/main" id="{0E138191-3FAC-646E-2736-4A0947C36E51}"/>
              </a:ext>
            </a:extLst>
          </p:cNvPr>
          <p:cNvSpPr>
            <a:spLocks noGrp="1"/>
          </p:cNvSpPr>
          <p:nvPr>
            <p:ph idx="1"/>
          </p:nvPr>
        </p:nvSpPr>
        <p:spPr>
          <a:xfrm>
            <a:off x="104931" y="1315453"/>
            <a:ext cx="11902190" cy="5325190"/>
          </a:xfrm>
        </p:spPr>
        <p:txBody>
          <a:bodyPr>
            <a:normAutofit/>
          </a:bodyPr>
          <a:lstStyle/>
          <a:p>
            <a:pPr algn="just">
              <a:buFont typeface="Wingdings" panose="05000000000000000000" pitchFamily="2" charset="2"/>
              <a:buChar char="v"/>
            </a:pPr>
            <a:r>
              <a:rPr lang="ne-NP" sz="3200" dirty="0">
                <a:cs typeface="Kalimati" pitchFamily="2"/>
              </a:rPr>
              <a:t>संयुक्त अधिराज्य </a:t>
            </a:r>
            <a:r>
              <a:rPr lang="en-US" sz="3200" dirty="0">
                <a:cs typeface="Kalimati" pitchFamily="2"/>
              </a:rPr>
              <a:t>(United Kingdom)</a:t>
            </a:r>
            <a:r>
              <a:rPr lang="ne-NP" sz="3200" dirty="0">
                <a:cs typeface="Kalimati" pitchFamily="2"/>
              </a:rPr>
              <a:t> को </a:t>
            </a:r>
            <a:r>
              <a:rPr lang="en-US" sz="3200" dirty="0">
                <a:cs typeface="Kalimati" pitchFamily="2"/>
              </a:rPr>
              <a:t>London</a:t>
            </a:r>
            <a:r>
              <a:rPr lang="ne-NP" sz="3200" dirty="0">
                <a:cs typeface="Kalimati" pitchFamily="2"/>
              </a:rPr>
              <a:t> </a:t>
            </a:r>
            <a:r>
              <a:rPr lang="en-US" sz="3200" dirty="0">
                <a:cs typeface="Kalimati" pitchFamily="2"/>
              </a:rPr>
              <a:t>Times </a:t>
            </a:r>
            <a:r>
              <a:rPr lang="ne-NP" sz="3200" dirty="0">
                <a:cs typeface="Kalimati" pitchFamily="2"/>
              </a:rPr>
              <a:t>पत्रिकाको कुनै अङ्कमा</a:t>
            </a:r>
            <a:r>
              <a:rPr lang="en-US" sz="3200" dirty="0">
                <a:cs typeface="Kalimati" pitchFamily="2"/>
              </a:rPr>
              <a:t> House of Lords </a:t>
            </a:r>
            <a:r>
              <a:rPr lang="ne-NP" sz="3200" dirty="0">
                <a:cs typeface="Kalimati" pitchFamily="2"/>
              </a:rPr>
              <a:t>का तीन जना न्यायाधीश </a:t>
            </a:r>
            <a:r>
              <a:rPr lang="en-US" sz="3200" dirty="0">
                <a:cs typeface="Kalimati" pitchFamily="2"/>
              </a:rPr>
              <a:t>(Lords) </a:t>
            </a:r>
            <a:r>
              <a:rPr lang="ne-NP" sz="3200" dirty="0">
                <a:cs typeface="Kalimati" pitchFamily="2"/>
              </a:rPr>
              <a:t>को तस्विर छापियो र तस्विरको तलतिर </a:t>
            </a:r>
            <a:r>
              <a:rPr lang="en-US" sz="3200" dirty="0">
                <a:cs typeface="Kalimati" pitchFamily="2"/>
              </a:rPr>
              <a:t>“Old Fools”</a:t>
            </a:r>
            <a:r>
              <a:rPr lang="ne-NP" sz="3200" dirty="0">
                <a:cs typeface="Kalimati" pitchFamily="2"/>
              </a:rPr>
              <a:t> भनी </a:t>
            </a:r>
            <a:r>
              <a:rPr lang="ne-NP" sz="3200" dirty="0" err="1">
                <a:cs typeface="Kalimati" pitchFamily="2"/>
              </a:rPr>
              <a:t>लेखियो।तस्विर</a:t>
            </a:r>
            <a:r>
              <a:rPr lang="ne-NP" sz="3200" dirty="0">
                <a:cs typeface="Kalimati" pitchFamily="2"/>
              </a:rPr>
              <a:t> छापिएका मध्ये कुनै </a:t>
            </a:r>
            <a:r>
              <a:rPr lang="en-US" sz="3200" dirty="0">
                <a:cs typeface="Kalimati" pitchFamily="2"/>
              </a:rPr>
              <a:t>Lords</a:t>
            </a:r>
            <a:r>
              <a:rPr lang="ne-NP" sz="3200" dirty="0">
                <a:cs typeface="Kalimati" pitchFamily="2"/>
              </a:rPr>
              <a:t> लाई सोधियो - मूर्ख भनेर लेख्दा समेत किन अवहेलना मुद्दा </a:t>
            </a:r>
            <a:r>
              <a:rPr lang="ne-NP" sz="3200" dirty="0" err="1">
                <a:cs typeface="Kalimati" pitchFamily="2"/>
              </a:rPr>
              <a:t>चलाइएन</a:t>
            </a:r>
            <a:r>
              <a:rPr lang="ne-NP" sz="3200" dirty="0">
                <a:cs typeface="Kalimati" pitchFamily="2"/>
              </a:rPr>
              <a:t> ? </a:t>
            </a:r>
            <a:r>
              <a:rPr lang="en-US" sz="3200" dirty="0">
                <a:cs typeface="Kalimati" pitchFamily="2"/>
              </a:rPr>
              <a:t>Lord</a:t>
            </a:r>
            <a:r>
              <a:rPr lang="ne-NP" sz="3200" dirty="0">
                <a:cs typeface="Kalimati" pitchFamily="2"/>
              </a:rPr>
              <a:t> ले मुस्कुराएर जबाफ दिएका थिए, त्यहाँ के कुरा थियो र अवहेलनाको मुद्दा चलाउने ? </a:t>
            </a:r>
            <a:r>
              <a:rPr lang="en-US" sz="3200" dirty="0">
                <a:cs typeface="Kalimati" pitchFamily="2"/>
              </a:rPr>
              <a:t>Old </a:t>
            </a:r>
            <a:r>
              <a:rPr lang="ne-NP" sz="3200" dirty="0">
                <a:cs typeface="Kalimati" pitchFamily="2"/>
              </a:rPr>
              <a:t>भनेको तथ्य </a:t>
            </a:r>
            <a:r>
              <a:rPr lang="en-US" sz="3200" dirty="0">
                <a:cs typeface="Kalimati" pitchFamily="2"/>
              </a:rPr>
              <a:t>(Fact)</a:t>
            </a:r>
            <a:r>
              <a:rPr lang="ne-NP" sz="3200" dirty="0">
                <a:cs typeface="Kalimati" pitchFamily="2"/>
              </a:rPr>
              <a:t> र </a:t>
            </a:r>
            <a:r>
              <a:rPr lang="en-US" sz="3200" dirty="0">
                <a:cs typeface="Kalimati" pitchFamily="2"/>
              </a:rPr>
              <a:t>Fool</a:t>
            </a:r>
            <a:r>
              <a:rPr lang="ne-NP" sz="3200" dirty="0">
                <a:cs typeface="Kalimati" pitchFamily="2"/>
              </a:rPr>
              <a:t> भनेको विचार</a:t>
            </a:r>
            <a:r>
              <a:rPr lang="en-US" sz="3200" dirty="0">
                <a:cs typeface="Kalimati" pitchFamily="2"/>
              </a:rPr>
              <a:t> (opinion)</a:t>
            </a:r>
            <a:r>
              <a:rPr lang="ne-NP" sz="3200" dirty="0">
                <a:cs typeface="Kalimati" pitchFamily="2"/>
              </a:rPr>
              <a:t> हो;</a:t>
            </a:r>
            <a:r>
              <a:rPr lang="en-US" sz="3200" dirty="0">
                <a:cs typeface="Kalimati" pitchFamily="2"/>
              </a:rPr>
              <a:t> </a:t>
            </a:r>
            <a:r>
              <a:rPr lang="ne-NP" sz="3200" dirty="0">
                <a:cs typeface="Kalimati" pitchFamily="2"/>
              </a:rPr>
              <a:t>त्यस्तोमा कसरी अवहेलनाको कसूरमा मुद्दा चल्छ ?</a:t>
            </a:r>
            <a:r>
              <a:rPr lang="en-US" sz="3200" dirty="0">
                <a:cs typeface="Kalimati" pitchFamily="2"/>
              </a:rPr>
              <a:t> Lord</a:t>
            </a:r>
            <a:r>
              <a:rPr lang="ne-NP" sz="3200" dirty="0">
                <a:cs typeface="Kalimati" pitchFamily="2"/>
              </a:rPr>
              <a:t> को कस्तो सन्तुलित, प्रतिशोध विहीन र अनुकरणीय विचार !!!</a:t>
            </a:r>
            <a:endParaRPr lang="en-US" sz="3200" dirty="0">
              <a:cs typeface="Kalimati" pitchFamily="2"/>
            </a:endParaRPr>
          </a:p>
          <a:p>
            <a:pPr algn="just"/>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083FEEFE-8DB8-64FD-2683-B6D2EE7CC0CC}"/>
              </a:ext>
            </a:extLst>
          </p:cNvPr>
          <p:cNvSpPr>
            <a:spLocks noGrp="1"/>
          </p:cNvSpPr>
          <p:nvPr>
            <p:ph type="sldNum" sz="quarter" idx="12"/>
          </p:nvPr>
        </p:nvSpPr>
        <p:spPr/>
        <p:txBody>
          <a:bodyPr/>
          <a:lstStyle/>
          <a:p>
            <a:fld id="{7622E865-B2C1-4A41-88CD-3656CF28B604}" type="slidenum">
              <a:rPr lang="en-US" smtClean="0"/>
              <a:t>18</a:t>
            </a:fld>
            <a:endParaRPr lang="en-US"/>
          </a:p>
        </p:txBody>
      </p:sp>
    </p:spTree>
    <p:extLst>
      <p:ext uri="{BB962C8B-B14F-4D97-AF65-F5344CB8AC3E}">
        <p14:creationId xmlns:p14="http://schemas.microsoft.com/office/powerpoint/2010/main" val="324027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E1160-BB6C-B99F-6EF4-5120252E58C4}"/>
              </a:ext>
            </a:extLst>
          </p:cNvPr>
          <p:cNvSpPr>
            <a:spLocks noGrp="1"/>
          </p:cNvSpPr>
          <p:nvPr>
            <p:ph type="title"/>
          </p:nvPr>
        </p:nvSpPr>
        <p:spPr>
          <a:xfrm>
            <a:off x="838200" y="149903"/>
            <a:ext cx="10515600" cy="269822"/>
          </a:xfrm>
        </p:spPr>
        <p:txBody>
          <a:bodyPr>
            <a:normAutofit fontScale="90000"/>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B4465A9F-83B2-BC23-F843-F15D15231EED}"/>
              </a:ext>
            </a:extLst>
          </p:cNvPr>
          <p:cNvSpPr>
            <a:spLocks noGrp="1"/>
          </p:cNvSpPr>
          <p:nvPr>
            <p:ph idx="1"/>
          </p:nvPr>
        </p:nvSpPr>
        <p:spPr>
          <a:xfrm>
            <a:off x="104931" y="419724"/>
            <a:ext cx="11947161" cy="6130977"/>
          </a:xfrm>
        </p:spPr>
        <p:txBody>
          <a:bodyPr>
            <a:normAutofit/>
          </a:bodyPr>
          <a:lstStyle/>
          <a:p>
            <a:pPr algn="just">
              <a:buFont typeface="Wingdings" panose="05000000000000000000" pitchFamily="2" charset="2"/>
              <a:buChar char="v"/>
            </a:pPr>
            <a:r>
              <a:rPr lang="en-US" sz="3200" dirty="0">
                <a:cs typeface="Kalimati" pitchFamily="2"/>
              </a:rPr>
              <a:t>M. C. </a:t>
            </a:r>
            <a:r>
              <a:rPr lang="en-US" sz="3200" dirty="0" err="1">
                <a:cs typeface="Kalimati" pitchFamily="2"/>
              </a:rPr>
              <a:t>Chagla</a:t>
            </a:r>
            <a:r>
              <a:rPr lang="en-US" sz="3200" dirty="0">
                <a:cs typeface="Kalimati" pitchFamily="2"/>
              </a:rPr>
              <a:t> </a:t>
            </a:r>
            <a:r>
              <a:rPr lang="ne-NP" sz="3200" dirty="0">
                <a:cs typeface="Kalimati" pitchFamily="2"/>
              </a:rPr>
              <a:t>सन् १९४७ देखि १९५८ सम्म बम्बई उच्च अदालतका मुख्य न्यायाधीश थिए। मुख्य न्यायाधीश भएका बखत</a:t>
            </a:r>
            <a:r>
              <a:rPr lang="en-US" sz="3200" dirty="0">
                <a:cs typeface="Kalimati" pitchFamily="2"/>
              </a:rPr>
              <a:t> K. L. Gauba</a:t>
            </a:r>
            <a:r>
              <a:rPr lang="ne-NP" sz="3200" dirty="0">
                <a:cs typeface="Kalimati" pitchFamily="2"/>
              </a:rPr>
              <a:t> नामका एक नामुद वकिलले मुख्य न्यायाधीश विरुद्ध बम्बई स्थित देवानी अदालतमा एउटा मुद्दा दायर </a:t>
            </a:r>
            <a:r>
              <a:rPr lang="ne-NP" sz="3200" dirty="0" err="1">
                <a:cs typeface="Kalimati" pitchFamily="2"/>
              </a:rPr>
              <a:t>गरे।मुद्दाको</a:t>
            </a:r>
            <a:r>
              <a:rPr lang="ne-NP" sz="3200" dirty="0">
                <a:cs typeface="Kalimati" pitchFamily="2"/>
              </a:rPr>
              <a:t> मुख्य विषय न्यायाधीशले आफ्नो सवारी साधन राख्ने </a:t>
            </a:r>
            <a:r>
              <a:rPr lang="en-US" sz="3200" dirty="0">
                <a:cs typeface="Kalimati" pitchFamily="2"/>
              </a:rPr>
              <a:t>Garage </a:t>
            </a:r>
            <a:r>
              <a:rPr lang="ne-NP" sz="3200" dirty="0">
                <a:cs typeface="Kalimati" pitchFamily="2"/>
              </a:rPr>
              <a:t>अगाडि </a:t>
            </a:r>
            <a:r>
              <a:rPr lang="ne-NP" sz="3200" dirty="0" err="1">
                <a:cs typeface="Kalimati" pitchFamily="2"/>
              </a:rPr>
              <a:t>पार्किङ्ग</a:t>
            </a:r>
            <a:r>
              <a:rPr lang="ne-NP" sz="3200" dirty="0">
                <a:cs typeface="Kalimati" pitchFamily="2"/>
              </a:rPr>
              <a:t> निषेध</a:t>
            </a:r>
            <a:r>
              <a:rPr lang="en-US" sz="3200" dirty="0">
                <a:cs typeface="Kalimati" pitchFamily="2"/>
              </a:rPr>
              <a:t> (No parking)</a:t>
            </a:r>
            <a:r>
              <a:rPr lang="ne-NP" sz="3200" dirty="0">
                <a:cs typeface="Kalimati" pitchFamily="2"/>
              </a:rPr>
              <a:t> को चिन्ह राख्ने अधिकार मुख्य न्यायाधीशलाई छैन भन्ने </a:t>
            </a:r>
            <a:r>
              <a:rPr lang="ne-NP" sz="3200" dirty="0" err="1">
                <a:cs typeface="Kalimati" pitchFamily="2"/>
              </a:rPr>
              <a:t>थियो।म्याद</a:t>
            </a:r>
            <a:r>
              <a:rPr lang="ne-NP" sz="3200" dirty="0">
                <a:cs typeface="Kalimati" pitchFamily="2"/>
              </a:rPr>
              <a:t> प्राप्त भए पश्चात् मुख्य न्यायाधीश </a:t>
            </a:r>
            <a:r>
              <a:rPr lang="en-US" sz="3200" dirty="0" err="1">
                <a:cs typeface="Kalimati" pitchFamily="2"/>
              </a:rPr>
              <a:t>Chagla</a:t>
            </a:r>
            <a:r>
              <a:rPr lang="ne-NP" sz="3200" dirty="0">
                <a:cs typeface="Kalimati" pitchFamily="2"/>
              </a:rPr>
              <a:t> ले </a:t>
            </a:r>
            <a:r>
              <a:rPr lang="ne-NP" sz="3200" dirty="0" err="1">
                <a:cs typeface="Kalimati" pitchFamily="2"/>
              </a:rPr>
              <a:t>स्वयं</a:t>
            </a:r>
            <a:r>
              <a:rPr lang="ne-NP" sz="3200" dirty="0">
                <a:cs typeface="Kalimati" pitchFamily="2"/>
              </a:rPr>
              <a:t> सो देवानी अदालतमा उपस्थित भएर प्रमाण </a:t>
            </a:r>
            <a:r>
              <a:rPr lang="ne-NP" sz="3200" dirty="0" err="1">
                <a:cs typeface="Kalimati" pitchFamily="2"/>
              </a:rPr>
              <a:t>पेश</a:t>
            </a:r>
            <a:r>
              <a:rPr lang="ne-NP" sz="3200" dirty="0">
                <a:cs typeface="Kalimati" pitchFamily="2"/>
              </a:rPr>
              <a:t> </a:t>
            </a:r>
            <a:r>
              <a:rPr lang="ne-NP" sz="3200" dirty="0" err="1">
                <a:cs typeface="Kalimati" pitchFamily="2"/>
              </a:rPr>
              <a:t>गरे।वकिल</a:t>
            </a:r>
            <a:r>
              <a:rPr lang="ne-NP" sz="3200" dirty="0">
                <a:cs typeface="Kalimati" pitchFamily="2"/>
              </a:rPr>
              <a:t> </a:t>
            </a:r>
            <a:r>
              <a:rPr lang="en-US" sz="3200" dirty="0">
                <a:cs typeface="Kalimati" pitchFamily="2"/>
              </a:rPr>
              <a:t>Gauba</a:t>
            </a:r>
            <a:r>
              <a:rPr lang="ne-NP" sz="3200" dirty="0">
                <a:cs typeface="Kalimati" pitchFamily="2"/>
              </a:rPr>
              <a:t> ले मुख्य न्यायाधीश </a:t>
            </a:r>
            <a:r>
              <a:rPr lang="en-US" sz="3200" dirty="0" err="1">
                <a:cs typeface="Kalimati" pitchFamily="2"/>
              </a:rPr>
              <a:t>Chagla</a:t>
            </a:r>
            <a:r>
              <a:rPr lang="ne-NP" sz="3200" dirty="0">
                <a:cs typeface="Kalimati" pitchFamily="2"/>
              </a:rPr>
              <a:t> लाई अनावश्यक र लामो जिरह </a:t>
            </a:r>
            <a:r>
              <a:rPr lang="ne-NP" sz="3200" dirty="0" err="1">
                <a:cs typeface="Kalimati" pitchFamily="2"/>
              </a:rPr>
              <a:t>गरे।सोधिएका</a:t>
            </a:r>
            <a:r>
              <a:rPr lang="ne-NP" sz="3200" dirty="0">
                <a:cs typeface="Kalimati" pitchFamily="2"/>
              </a:rPr>
              <a:t> अधिकांश प्रश्न व्यक्तिगत, दुःखदायक र असम्बद्ध समेत थिए र मुख्य न्यायाधीशलाई सोधिएका ती प्रश्नले रनाहा समेत छुटेको थियो। </a:t>
            </a:r>
            <a:endParaRPr lang="en-US" sz="3200" dirty="0">
              <a:cs typeface="Kalimati" pitchFamily="2"/>
            </a:endParaRPr>
          </a:p>
          <a:p>
            <a:pPr algn="just"/>
            <a:endParaRPr lang="en-US" sz="3200" dirty="0"/>
          </a:p>
        </p:txBody>
      </p:sp>
      <p:sp>
        <p:nvSpPr>
          <p:cNvPr id="4" name="Slide Number Placeholder 3">
            <a:extLst>
              <a:ext uri="{FF2B5EF4-FFF2-40B4-BE49-F238E27FC236}">
                <a16:creationId xmlns:a16="http://schemas.microsoft.com/office/drawing/2014/main" id="{BA2C0583-1D9C-E1AF-65B3-E599C545060F}"/>
              </a:ext>
            </a:extLst>
          </p:cNvPr>
          <p:cNvSpPr>
            <a:spLocks noGrp="1"/>
          </p:cNvSpPr>
          <p:nvPr>
            <p:ph type="sldNum" sz="quarter" idx="12"/>
          </p:nvPr>
        </p:nvSpPr>
        <p:spPr/>
        <p:txBody>
          <a:bodyPr/>
          <a:lstStyle/>
          <a:p>
            <a:fld id="{7622E865-B2C1-4A41-88CD-3656CF28B604}" type="slidenum">
              <a:rPr lang="en-US" smtClean="0"/>
              <a:t>19</a:t>
            </a:fld>
            <a:endParaRPr lang="en-US"/>
          </a:p>
        </p:txBody>
      </p:sp>
    </p:spTree>
    <p:extLst>
      <p:ext uri="{BB962C8B-B14F-4D97-AF65-F5344CB8AC3E}">
        <p14:creationId xmlns:p14="http://schemas.microsoft.com/office/powerpoint/2010/main" val="1168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438A-CBBE-2DFA-865F-82701F7333CA}"/>
              </a:ext>
            </a:extLst>
          </p:cNvPr>
          <p:cNvSpPr>
            <a:spLocks noGrp="1"/>
          </p:cNvSpPr>
          <p:nvPr>
            <p:ph type="title"/>
          </p:nvPr>
        </p:nvSpPr>
        <p:spPr>
          <a:xfrm>
            <a:off x="838200" y="104931"/>
            <a:ext cx="10515600" cy="764499"/>
          </a:xfrm>
        </p:spPr>
        <p:txBody>
          <a:bodyPr>
            <a:normAutofit/>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151CBFFD-1290-C138-9953-51D575048D27}"/>
              </a:ext>
            </a:extLst>
          </p:cNvPr>
          <p:cNvSpPr>
            <a:spLocks noGrp="1"/>
          </p:cNvSpPr>
          <p:nvPr>
            <p:ph idx="1"/>
          </p:nvPr>
        </p:nvSpPr>
        <p:spPr>
          <a:xfrm>
            <a:off x="119921" y="764498"/>
            <a:ext cx="11872210" cy="5988571"/>
          </a:xfrm>
        </p:spPr>
        <p:txBody>
          <a:bodyPr>
            <a:normAutofit/>
          </a:bodyPr>
          <a:lstStyle/>
          <a:p>
            <a:pPr algn="just">
              <a:buNone/>
            </a:pPr>
            <a:r>
              <a:rPr lang="ne-NP" sz="3200" dirty="0">
                <a:cs typeface="Kalimati" pitchFamily="2"/>
              </a:rPr>
              <a:t>	तर उनले प्रतिशोधको भावना नलिई ती </a:t>
            </a:r>
            <a:r>
              <a:rPr lang="ne-NP" sz="3200" dirty="0" err="1">
                <a:cs typeface="Kalimati" pitchFamily="2"/>
              </a:rPr>
              <a:t>वकीललाई</a:t>
            </a:r>
            <a:r>
              <a:rPr lang="ne-NP" sz="3200" dirty="0">
                <a:cs typeface="Kalimati" pitchFamily="2"/>
              </a:rPr>
              <a:t> मनमनै क्षमा दान </a:t>
            </a:r>
            <a:r>
              <a:rPr lang="ne-NP" sz="3200" dirty="0" err="1">
                <a:cs typeface="Kalimati" pitchFamily="2"/>
              </a:rPr>
              <a:t>दिए।कारण</a:t>
            </a:r>
            <a:r>
              <a:rPr lang="ne-NP" sz="3200" dirty="0">
                <a:cs typeface="Kalimati" pitchFamily="2"/>
              </a:rPr>
              <a:t> क्षमा दान सबभन्दा ठूलो प्रतिशोध हो </a:t>
            </a:r>
            <a:r>
              <a:rPr lang="en-US" sz="3200" dirty="0">
                <a:cs typeface="Kalimati" pitchFamily="2"/>
              </a:rPr>
              <a:t>(Forgiveness is the best revenge) </a:t>
            </a:r>
            <a:r>
              <a:rPr lang="ne-NP" sz="3200" dirty="0">
                <a:cs typeface="Kalimati" pitchFamily="2"/>
              </a:rPr>
              <a:t>भन्ने कुराका जानकार थिए </a:t>
            </a:r>
            <a:r>
              <a:rPr lang="ne-NP" sz="3200" dirty="0" err="1">
                <a:cs typeface="Kalimati" pitchFamily="2"/>
              </a:rPr>
              <a:t>उनी।केही</a:t>
            </a:r>
            <a:r>
              <a:rPr lang="ne-NP" sz="3200" dirty="0">
                <a:cs typeface="Kalimati" pitchFamily="2"/>
              </a:rPr>
              <a:t> महिना पछि तीनै वकिल मुख्य न्यायाधीश </a:t>
            </a:r>
            <a:r>
              <a:rPr lang="en-US" sz="3200" dirty="0" err="1">
                <a:cs typeface="Kalimati" pitchFamily="2"/>
              </a:rPr>
              <a:t>Chagla</a:t>
            </a:r>
            <a:r>
              <a:rPr lang="ne-NP" sz="3200" dirty="0">
                <a:cs typeface="Kalimati" pitchFamily="2"/>
              </a:rPr>
              <a:t> को इजलासमा बहस पैरवीको लागि उपस्थित भए। विगतमा आफूले गरेको क्रियाकलापले मुद्दा हारिन्छ भन्ने ती वकिललाई लागेको </a:t>
            </a:r>
            <a:r>
              <a:rPr lang="ne-NP" sz="3200" dirty="0" err="1">
                <a:cs typeface="Kalimati" pitchFamily="2"/>
              </a:rPr>
              <a:t>रहेछ।तर</a:t>
            </a:r>
            <a:r>
              <a:rPr lang="ne-NP" sz="3200" dirty="0">
                <a:cs typeface="Kalimati" pitchFamily="2"/>
              </a:rPr>
              <a:t> फैसला उनले प्रतिनिधित्व </a:t>
            </a:r>
            <a:r>
              <a:rPr lang="ne-NP" sz="3200" dirty="0" err="1">
                <a:cs typeface="Kalimati" pitchFamily="2"/>
              </a:rPr>
              <a:t>गरेकै</a:t>
            </a:r>
            <a:r>
              <a:rPr lang="ne-NP" sz="3200" dirty="0">
                <a:cs typeface="Kalimati" pitchFamily="2"/>
              </a:rPr>
              <a:t> पक्षमा </a:t>
            </a:r>
            <a:r>
              <a:rPr lang="ne-NP" sz="3200" dirty="0" err="1">
                <a:cs typeface="Kalimati" pitchFamily="2"/>
              </a:rPr>
              <a:t>भयो।मुद्दा</a:t>
            </a:r>
            <a:r>
              <a:rPr lang="ne-NP" sz="3200" dirty="0">
                <a:cs typeface="Kalimati" pitchFamily="2"/>
              </a:rPr>
              <a:t> जिते पछि ती </a:t>
            </a:r>
            <a:r>
              <a:rPr lang="ne-NP" sz="3200" dirty="0" err="1">
                <a:cs typeface="Kalimati" pitchFamily="2"/>
              </a:rPr>
              <a:t>वकीलले</a:t>
            </a:r>
            <a:r>
              <a:rPr lang="ne-NP" sz="3200" dirty="0">
                <a:cs typeface="Kalimati" pitchFamily="2"/>
              </a:rPr>
              <a:t> मुख्य न्यायाधीश </a:t>
            </a:r>
            <a:r>
              <a:rPr lang="en-US" sz="3200" dirty="0" err="1">
                <a:cs typeface="Kalimati" pitchFamily="2"/>
              </a:rPr>
              <a:t>Chagla</a:t>
            </a:r>
            <a:r>
              <a:rPr lang="ne-NP" sz="3200" dirty="0">
                <a:cs typeface="Kalimati" pitchFamily="2"/>
              </a:rPr>
              <a:t> का सम्बन्धमा यस्तो भनाई उल्लेख गरेका थिए-“</a:t>
            </a:r>
            <a:r>
              <a:rPr lang="en-US" sz="3200" dirty="0">
                <a:cs typeface="Kalimati" pitchFamily="2"/>
              </a:rPr>
              <a:t>He heard him with all patience and treated him with uniform courtesy and what is more…. The judgment was in his favor. Justice was done as it ought to be done.”</a:t>
            </a:r>
          </a:p>
          <a:p>
            <a:pPr algn="just"/>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A836163B-0160-86A4-AB8D-09C1F3D7D7FC}"/>
              </a:ext>
            </a:extLst>
          </p:cNvPr>
          <p:cNvSpPr>
            <a:spLocks noGrp="1"/>
          </p:cNvSpPr>
          <p:nvPr>
            <p:ph type="sldNum" sz="quarter" idx="12"/>
          </p:nvPr>
        </p:nvSpPr>
        <p:spPr/>
        <p:txBody>
          <a:bodyPr/>
          <a:lstStyle/>
          <a:p>
            <a:fld id="{7622E865-B2C1-4A41-88CD-3656CF28B604}" type="slidenum">
              <a:rPr lang="en-US" smtClean="0"/>
              <a:t>20</a:t>
            </a:fld>
            <a:endParaRPr lang="en-US"/>
          </a:p>
        </p:txBody>
      </p:sp>
    </p:spTree>
    <p:extLst>
      <p:ext uri="{BB962C8B-B14F-4D97-AF65-F5344CB8AC3E}">
        <p14:creationId xmlns:p14="http://schemas.microsoft.com/office/powerpoint/2010/main" val="220605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0706B-6A4C-9551-A94C-50A5AA773B27}"/>
              </a:ext>
            </a:extLst>
          </p:cNvPr>
          <p:cNvSpPr>
            <a:spLocks noGrp="1"/>
          </p:cNvSpPr>
          <p:nvPr>
            <p:ph type="title"/>
          </p:nvPr>
        </p:nvSpPr>
        <p:spPr>
          <a:xfrm>
            <a:off x="838200" y="104932"/>
            <a:ext cx="10515600" cy="344774"/>
          </a:xfrm>
        </p:spPr>
        <p:txBody>
          <a:bodyPr>
            <a:normAutofit fontScale="90000"/>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0C38FF79-DEBB-0A49-6817-9A4B5C6FA528}"/>
              </a:ext>
            </a:extLst>
          </p:cNvPr>
          <p:cNvSpPr>
            <a:spLocks noGrp="1"/>
          </p:cNvSpPr>
          <p:nvPr>
            <p:ph idx="1"/>
          </p:nvPr>
        </p:nvSpPr>
        <p:spPr>
          <a:xfrm>
            <a:off x="209862" y="614597"/>
            <a:ext cx="11707318" cy="6026046"/>
          </a:xfrm>
        </p:spPr>
        <p:txBody>
          <a:bodyPr>
            <a:normAutofit/>
          </a:bodyPr>
          <a:lstStyle/>
          <a:p>
            <a:pPr algn="just">
              <a:buNone/>
            </a:pPr>
            <a:r>
              <a:rPr lang="ne-NP" sz="3200" dirty="0">
                <a:cs typeface="Kalimati" pitchFamily="2"/>
              </a:rPr>
              <a:t>	मुख्य न्यायाधीश </a:t>
            </a:r>
            <a:r>
              <a:rPr lang="en-US" sz="3200" dirty="0" err="1">
                <a:cs typeface="Kalimati" pitchFamily="2"/>
              </a:rPr>
              <a:t>Chagla</a:t>
            </a:r>
            <a:r>
              <a:rPr lang="ne-NP" sz="3200" dirty="0">
                <a:cs typeface="Kalimati" pitchFamily="2"/>
              </a:rPr>
              <a:t> परलोक भए पछि सन् १९८५ मा उनले प्रयोग गरेको उच्च अदालतको </a:t>
            </a:r>
            <a:r>
              <a:rPr lang="en-US" sz="3200" dirty="0">
                <a:cs typeface="Kalimati" pitchFamily="2"/>
              </a:rPr>
              <a:t>Chamber </a:t>
            </a:r>
            <a:r>
              <a:rPr lang="ne-NP" sz="3200" dirty="0">
                <a:cs typeface="Kalimati" pitchFamily="2"/>
              </a:rPr>
              <a:t>नजिक उनको </a:t>
            </a:r>
            <a:r>
              <a:rPr lang="ne-NP" sz="3200" dirty="0" err="1">
                <a:cs typeface="Kalimati" pitchFamily="2"/>
              </a:rPr>
              <a:t>शालिक</a:t>
            </a:r>
            <a:r>
              <a:rPr lang="ne-NP" sz="3200" dirty="0">
                <a:cs typeface="Kalimati" pitchFamily="2"/>
              </a:rPr>
              <a:t> स्थापना गरियो र लेखियो </a:t>
            </a:r>
            <a:r>
              <a:rPr lang="ne-NP" sz="3200" b="1" dirty="0">
                <a:solidFill>
                  <a:srgbClr val="FF0000"/>
                </a:solidFill>
                <a:cs typeface="Kalimati" pitchFamily="2"/>
              </a:rPr>
              <a:t>–“</a:t>
            </a:r>
            <a:r>
              <a:rPr lang="en-US" sz="3200" b="1" dirty="0">
                <a:solidFill>
                  <a:srgbClr val="FF0000"/>
                </a:solidFill>
                <a:cs typeface="Kalimati" pitchFamily="2"/>
              </a:rPr>
              <a:t>A great judge, a great citizen, and above all a great human being.”</a:t>
            </a:r>
            <a:endParaRPr lang="ne-NP" sz="3200" b="1" dirty="0">
              <a:solidFill>
                <a:srgbClr val="FF0000"/>
              </a:solidFill>
              <a:cs typeface="Kalimati" pitchFamily="2"/>
            </a:endParaRPr>
          </a:p>
          <a:p>
            <a:pPr algn="just">
              <a:buFont typeface="Wingdings" pitchFamily="2" charset="2"/>
              <a:buChar char="v"/>
            </a:pPr>
            <a:r>
              <a:rPr lang="en-US" sz="3200" dirty="0">
                <a:cs typeface="Kalimati" pitchFamily="2"/>
              </a:rPr>
              <a:t>John Marshall </a:t>
            </a:r>
            <a:r>
              <a:rPr lang="ne-NP" sz="3200" dirty="0">
                <a:cs typeface="Kalimati" pitchFamily="2"/>
              </a:rPr>
              <a:t>ले </a:t>
            </a:r>
            <a:r>
              <a:rPr lang="en-US" sz="3200" dirty="0">
                <a:cs typeface="Kalimati" pitchFamily="2"/>
              </a:rPr>
              <a:t>“Power of judiciary lies, not in deciding cases, not in imposing sentences, not in punishing contempt, but in the trust, faith and confidence of the common man.”</a:t>
            </a:r>
            <a:r>
              <a:rPr lang="ne-NP" sz="3200" dirty="0">
                <a:cs typeface="Kalimati" pitchFamily="2"/>
              </a:rPr>
              <a:t> भन्नु भएको </a:t>
            </a:r>
            <a:r>
              <a:rPr lang="ne-NP" sz="3200" dirty="0" err="1">
                <a:cs typeface="Kalimati" pitchFamily="2"/>
              </a:rPr>
              <a:t>थियो।शायद</a:t>
            </a:r>
            <a:r>
              <a:rPr lang="ne-NP" sz="3200" dirty="0">
                <a:cs typeface="Kalimati" pitchFamily="2"/>
              </a:rPr>
              <a:t> न्यायाधीश </a:t>
            </a:r>
            <a:r>
              <a:rPr lang="en-US" sz="3200" dirty="0" err="1">
                <a:cs typeface="Kalimati" pitchFamily="2"/>
              </a:rPr>
              <a:t>Chagla</a:t>
            </a:r>
            <a:r>
              <a:rPr lang="en-US" sz="3200" dirty="0">
                <a:cs typeface="Kalimati" pitchFamily="2"/>
              </a:rPr>
              <a:t> </a:t>
            </a:r>
            <a:r>
              <a:rPr lang="ne-NP" sz="3200" dirty="0">
                <a:cs typeface="Kalimati" pitchFamily="2"/>
              </a:rPr>
              <a:t>ले पनि जनताबाट पाएको </a:t>
            </a:r>
            <a:r>
              <a:rPr lang="ne-NP" sz="3200" dirty="0" err="1">
                <a:cs typeface="Kalimati" pitchFamily="2"/>
              </a:rPr>
              <a:t>विस्वास</a:t>
            </a:r>
            <a:r>
              <a:rPr lang="ne-NP" sz="3200" dirty="0">
                <a:cs typeface="Kalimati" pitchFamily="2"/>
              </a:rPr>
              <a:t>, सद्भाव र सम्मान </a:t>
            </a:r>
            <a:r>
              <a:rPr lang="ne-NP" sz="3200" dirty="0" err="1">
                <a:cs typeface="Kalimati" pitchFamily="2"/>
              </a:rPr>
              <a:t>स्वरुप</a:t>
            </a:r>
            <a:r>
              <a:rPr lang="ne-NP" sz="3200" dirty="0">
                <a:cs typeface="Kalimati" pitchFamily="2"/>
              </a:rPr>
              <a:t> नै मृत्यु पश्चात् </a:t>
            </a:r>
            <a:r>
              <a:rPr lang="ne-NP" sz="3200" dirty="0" err="1">
                <a:cs typeface="Kalimati" pitchFamily="2"/>
              </a:rPr>
              <a:t>उहाँको</a:t>
            </a:r>
            <a:r>
              <a:rPr lang="ne-NP" sz="3200" dirty="0">
                <a:cs typeface="Kalimati" pitchFamily="2"/>
              </a:rPr>
              <a:t> </a:t>
            </a:r>
            <a:r>
              <a:rPr lang="ne-NP" sz="3200" dirty="0" err="1">
                <a:cs typeface="Kalimati" pitchFamily="2"/>
              </a:rPr>
              <a:t>शालिकमा</a:t>
            </a:r>
            <a:r>
              <a:rPr lang="ne-NP" sz="3200" dirty="0">
                <a:cs typeface="Kalimati" pitchFamily="2"/>
              </a:rPr>
              <a:t> त्यस्तो वाक्य लेखिएको त </a:t>
            </a:r>
            <a:r>
              <a:rPr lang="ne-NP" sz="3200" dirty="0" err="1">
                <a:cs typeface="Kalimati" pitchFamily="2"/>
              </a:rPr>
              <a:t>होईन</a:t>
            </a:r>
            <a:r>
              <a:rPr lang="ne-NP" sz="3200" dirty="0">
                <a:cs typeface="Kalimati" pitchFamily="2"/>
              </a:rPr>
              <a:t> ? </a:t>
            </a:r>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12858D43-CA02-6C11-709D-8E7A9FCA262F}"/>
              </a:ext>
            </a:extLst>
          </p:cNvPr>
          <p:cNvSpPr>
            <a:spLocks noGrp="1"/>
          </p:cNvSpPr>
          <p:nvPr>
            <p:ph type="sldNum" sz="quarter" idx="12"/>
          </p:nvPr>
        </p:nvSpPr>
        <p:spPr/>
        <p:txBody>
          <a:bodyPr/>
          <a:lstStyle/>
          <a:p>
            <a:fld id="{7622E865-B2C1-4A41-88CD-3656CF28B604}" type="slidenum">
              <a:rPr lang="en-US" smtClean="0"/>
              <a:t>21</a:t>
            </a:fld>
            <a:endParaRPr lang="en-US"/>
          </a:p>
        </p:txBody>
      </p:sp>
    </p:spTree>
    <p:extLst>
      <p:ext uri="{BB962C8B-B14F-4D97-AF65-F5344CB8AC3E}">
        <p14:creationId xmlns:p14="http://schemas.microsoft.com/office/powerpoint/2010/main" val="436899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78C32-AC53-FB67-71EC-0A81265BB394}"/>
              </a:ext>
            </a:extLst>
          </p:cNvPr>
          <p:cNvSpPr>
            <a:spLocks noGrp="1"/>
          </p:cNvSpPr>
          <p:nvPr>
            <p:ph type="title"/>
          </p:nvPr>
        </p:nvSpPr>
        <p:spPr>
          <a:xfrm>
            <a:off x="352926" y="136526"/>
            <a:ext cx="11000874" cy="544512"/>
          </a:xfrm>
        </p:spPr>
        <p:txBody>
          <a:bodyPr>
            <a:normAutofit/>
          </a:bodyPr>
          <a:lstStyle/>
          <a:p>
            <a:r>
              <a:rPr lang="ne-NP" sz="3200" b="1" dirty="0">
                <a:latin typeface="+mn-lt"/>
                <a:cs typeface="Kalimati" pitchFamily="2"/>
              </a:rPr>
              <a:t>घ. </a:t>
            </a:r>
            <a:r>
              <a:rPr lang="ne-NP" sz="3200" b="1" u="sng" dirty="0" err="1">
                <a:latin typeface="+mn-lt"/>
                <a:cs typeface="Kalimati" pitchFamily="2"/>
              </a:rPr>
              <a:t>सदगुण</a:t>
            </a:r>
            <a:r>
              <a:rPr lang="ne-NP" sz="3200" b="1" u="sng" dirty="0">
                <a:latin typeface="+mn-lt"/>
                <a:cs typeface="Kalimati" pitchFamily="2"/>
              </a:rPr>
              <a:t> </a:t>
            </a:r>
            <a:r>
              <a:rPr lang="en-US" sz="3200" b="1" u="sng" dirty="0">
                <a:latin typeface="+mn-lt"/>
                <a:cs typeface="Kalimati" pitchFamily="2"/>
              </a:rPr>
              <a:t>(Virtuous)</a:t>
            </a:r>
            <a:r>
              <a:rPr lang="ne-NP" sz="3200" b="1" u="sng" dirty="0">
                <a:latin typeface="+mn-lt"/>
                <a:cs typeface="Kalimati" pitchFamily="2"/>
              </a:rPr>
              <a:t> </a:t>
            </a:r>
            <a:endParaRPr lang="en-US" sz="3200" u="sng" dirty="0">
              <a:latin typeface="+mn-lt"/>
              <a:cs typeface="Kalimati" panose="00000400000000000000" pitchFamily="2"/>
            </a:endParaRPr>
          </a:p>
        </p:txBody>
      </p:sp>
      <p:sp>
        <p:nvSpPr>
          <p:cNvPr id="3" name="Content Placeholder 2">
            <a:extLst>
              <a:ext uri="{FF2B5EF4-FFF2-40B4-BE49-F238E27FC236}">
                <a16:creationId xmlns:a16="http://schemas.microsoft.com/office/drawing/2014/main" id="{32FCE80E-84FD-6043-A7F9-82392CE24527}"/>
              </a:ext>
            </a:extLst>
          </p:cNvPr>
          <p:cNvSpPr>
            <a:spLocks noGrp="1"/>
          </p:cNvSpPr>
          <p:nvPr>
            <p:ph idx="1"/>
          </p:nvPr>
        </p:nvSpPr>
        <p:spPr>
          <a:xfrm>
            <a:off x="194872" y="681038"/>
            <a:ext cx="11857220" cy="6040436"/>
          </a:xfrm>
        </p:spPr>
        <p:txBody>
          <a:bodyPr>
            <a:normAutofit/>
          </a:bodyPr>
          <a:lstStyle/>
          <a:p>
            <a:pPr algn="just">
              <a:buFont typeface="Wingdings" pitchFamily="2" charset="2"/>
              <a:buChar char="v"/>
            </a:pPr>
            <a:endParaRPr lang="ne-NP" sz="3200" dirty="0">
              <a:cs typeface="Kalimati" pitchFamily="2"/>
            </a:endParaRPr>
          </a:p>
          <a:p>
            <a:pPr algn="just">
              <a:buFont typeface="Wingdings" pitchFamily="2" charset="2"/>
              <a:buChar char="v"/>
            </a:pPr>
            <a:r>
              <a:rPr lang="ne-NP" sz="3200" dirty="0" err="1">
                <a:cs typeface="Kalimati" pitchFamily="2"/>
              </a:rPr>
              <a:t>सदगुण</a:t>
            </a:r>
            <a:r>
              <a:rPr lang="ne-NP" sz="3200" dirty="0">
                <a:cs typeface="Kalimati" pitchFamily="2"/>
              </a:rPr>
              <a:t> यद्यपि अमूर्त शब्द हो र </a:t>
            </a:r>
            <a:r>
              <a:rPr lang="ne-NP" sz="3200" dirty="0" err="1">
                <a:cs typeface="Kalimati" pitchFamily="2"/>
              </a:rPr>
              <a:t>यसभित्र</a:t>
            </a:r>
            <a:r>
              <a:rPr lang="ne-NP" sz="3200" dirty="0">
                <a:cs typeface="Kalimati" pitchFamily="2"/>
              </a:rPr>
              <a:t> यी यस्ता विशेषता समावेश हुन्छन् भनी </a:t>
            </a:r>
            <a:r>
              <a:rPr lang="ne-NP" sz="3200" dirty="0" err="1">
                <a:cs typeface="Kalimati" pitchFamily="2"/>
              </a:rPr>
              <a:t>सूचीवद्ध</a:t>
            </a:r>
            <a:r>
              <a:rPr lang="ne-NP" sz="3200" dirty="0">
                <a:cs typeface="Kalimati" pitchFamily="2"/>
              </a:rPr>
              <a:t> गर्न कठिन छ; तथापि न्यायाधीशका सम्बन्धमा भन्नु पर्दा </a:t>
            </a:r>
            <a:r>
              <a:rPr lang="ne-NP" sz="3200" dirty="0" err="1">
                <a:cs typeface="Kalimati" pitchFamily="2"/>
              </a:rPr>
              <a:t>ईमान्दारिता</a:t>
            </a:r>
            <a:r>
              <a:rPr lang="en-US" sz="3200" dirty="0">
                <a:cs typeface="Kalimati" pitchFamily="2"/>
              </a:rPr>
              <a:t> (Honesty)</a:t>
            </a:r>
            <a:r>
              <a:rPr lang="ne-NP" sz="3200" dirty="0">
                <a:cs typeface="Kalimati" pitchFamily="2"/>
              </a:rPr>
              <a:t>, सच्चरित्रता</a:t>
            </a:r>
            <a:r>
              <a:rPr lang="en-US" sz="3200" dirty="0">
                <a:cs typeface="Kalimati" pitchFamily="2"/>
              </a:rPr>
              <a:t> (Integrity)</a:t>
            </a:r>
            <a:r>
              <a:rPr lang="ne-NP" sz="3200" dirty="0">
                <a:cs typeface="Kalimati" pitchFamily="2"/>
              </a:rPr>
              <a:t>, </a:t>
            </a:r>
            <a:r>
              <a:rPr lang="ne-NP" sz="3200" dirty="0" err="1">
                <a:cs typeface="Kalimati" pitchFamily="2"/>
              </a:rPr>
              <a:t>व्यवसायिक</a:t>
            </a:r>
            <a:r>
              <a:rPr lang="ne-NP" sz="3200" dirty="0">
                <a:cs typeface="Kalimati" pitchFamily="2"/>
              </a:rPr>
              <a:t> दक्षता</a:t>
            </a:r>
            <a:r>
              <a:rPr lang="en-US" sz="3200" dirty="0">
                <a:cs typeface="Kalimati" pitchFamily="2"/>
              </a:rPr>
              <a:t> (Professional merit)</a:t>
            </a:r>
            <a:r>
              <a:rPr lang="ne-NP" sz="3200" dirty="0">
                <a:cs typeface="Kalimati" pitchFamily="2"/>
              </a:rPr>
              <a:t> र मेहनती </a:t>
            </a:r>
            <a:r>
              <a:rPr lang="en-US" sz="3200" dirty="0">
                <a:cs typeface="Kalimati" pitchFamily="2"/>
              </a:rPr>
              <a:t>(Hard work)</a:t>
            </a:r>
            <a:r>
              <a:rPr lang="ne-NP" sz="3200" dirty="0">
                <a:cs typeface="Kalimati" pitchFamily="2"/>
              </a:rPr>
              <a:t> जस्ता </a:t>
            </a:r>
            <a:r>
              <a:rPr lang="ne-NP" sz="3200" dirty="0" err="1">
                <a:cs typeface="Kalimati" pitchFamily="2"/>
              </a:rPr>
              <a:t>कुराहरु</a:t>
            </a:r>
            <a:r>
              <a:rPr lang="ne-NP" sz="3200" dirty="0">
                <a:cs typeface="Kalimati" pitchFamily="2"/>
              </a:rPr>
              <a:t> </a:t>
            </a:r>
            <a:r>
              <a:rPr lang="ne-NP" sz="3200" dirty="0" err="1">
                <a:cs typeface="Kalimati" pitchFamily="2"/>
              </a:rPr>
              <a:t>सदगुण</a:t>
            </a:r>
            <a:r>
              <a:rPr lang="ne-NP" sz="3200" dirty="0">
                <a:cs typeface="Kalimati" pitchFamily="2"/>
              </a:rPr>
              <a:t> भित्र </a:t>
            </a:r>
            <a:r>
              <a:rPr lang="ne-NP" sz="3200" dirty="0" err="1">
                <a:cs typeface="Kalimati" pitchFamily="2"/>
              </a:rPr>
              <a:t>पर्दछन्</a:t>
            </a:r>
            <a:r>
              <a:rPr lang="ne-NP" sz="3200" dirty="0">
                <a:cs typeface="Kalimati" pitchFamily="2"/>
              </a:rPr>
              <a:t> भन्दा </a:t>
            </a:r>
            <a:r>
              <a:rPr lang="ne-NP" sz="3200" dirty="0" err="1">
                <a:cs typeface="Kalimati" pitchFamily="2"/>
              </a:rPr>
              <a:t>विवादित</a:t>
            </a:r>
            <a:r>
              <a:rPr lang="ne-NP" sz="3200" dirty="0">
                <a:cs typeface="Kalimati" pitchFamily="2"/>
              </a:rPr>
              <a:t> </a:t>
            </a:r>
            <a:r>
              <a:rPr lang="ne-NP" sz="3200" dirty="0" err="1">
                <a:cs typeface="Kalimati" pitchFamily="2"/>
              </a:rPr>
              <a:t>नहोला।यी</a:t>
            </a:r>
            <a:r>
              <a:rPr lang="ne-NP" sz="3200" dirty="0">
                <a:cs typeface="Kalimati" pitchFamily="2"/>
              </a:rPr>
              <a:t> विशेषताबाट सज्जित </a:t>
            </a:r>
            <a:r>
              <a:rPr lang="ne-NP" sz="3200" dirty="0" err="1">
                <a:cs typeface="Kalimati" pitchFamily="2"/>
              </a:rPr>
              <a:t>न्यायधीशलाई</a:t>
            </a:r>
            <a:r>
              <a:rPr lang="ne-NP" sz="3200" dirty="0">
                <a:cs typeface="Kalimati" pitchFamily="2"/>
              </a:rPr>
              <a:t> नै </a:t>
            </a:r>
            <a:r>
              <a:rPr lang="ne-NP" sz="3200" dirty="0" err="1">
                <a:cs typeface="Kalimati" pitchFamily="2"/>
              </a:rPr>
              <a:t>न्यायमूर्ती</a:t>
            </a:r>
            <a:r>
              <a:rPr lang="ne-NP" sz="3200" dirty="0">
                <a:cs typeface="Kalimati" pitchFamily="2"/>
              </a:rPr>
              <a:t>, </a:t>
            </a:r>
            <a:r>
              <a:rPr lang="ne-NP" sz="3200" dirty="0" err="1">
                <a:cs typeface="Kalimati" pitchFamily="2"/>
              </a:rPr>
              <a:t>उहाँहरुले</a:t>
            </a:r>
            <a:r>
              <a:rPr lang="ne-NP" sz="3200" dirty="0">
                <a:cs typeface="Kalimati" pitchFamily="2"/>
              </a:rPr>
              <a:t> प्रयोग गर्ने भवनलाई न्याय मन्दिर र </a:t>
            </a:r>
            <a:r>
              <a:rPr lang="ne-NP" sz="3200" dirty="0" err="1">
                <a:cs typeface="Kalimati" pitchFamily="2"/>
              </a:rPr>
              <a:t>उहाँहरुले</a:t>
            </a:r>
            <a:r>
              <a:rPr lang="ne-NP" sz="3200" dirty="0">
                <a:cs typeface="Kalimati" pitchFamily="2"/>
              </a:rPr>
              <a:t> गर्ने कामलाई न्याय प्रशासन भनेर सम्बोधन गरिन्छ।</a:t>
            </a:r>
          </a:p>
          <a:p>
            <a:pPr marL="0" indent="0">
              <a:buNone/>
            </a:pPr>
            <a:endParaRPr lang="en-US" sz="3200" dirty="0"/>
          </a:p>
        </p:txBody>
      </p:sp>
      <p:sp>
        <p:nvSpPr>
          <p:cNvPr id="4" name="Slide Number Placeholder 3">
            <a:extLst>
              <a:ext uri="{FF2B5EF4-FFF2-40B4-BE49-F238E27FC236}">
                <a16:creationId xmlns:a16="http://schemas.microsoft.com/office/drawing/2014/main" id="{960696C2-F2FE-8408-3E17-655757C4467C}"/>
              </a:ext>
            </a:extLst>
          </p:cNvPr>
          <p:cNvSpPr>
            <a:spLocks noGrp="1"/>
          </p:cNvSpPr>
          <p:nvPr>
            <p:ph type="sldNum" sz="quarter" idx="12"/>
          </p:nvPr>
        </p:nvSpPr>
        <p:spPr/>
        <p:txBody>
          <a:bodyPr/>
          <a:lstStyle/>
          <a:p>
            <a:fld id="{7622E865-B2C1-4A41-88CD-3656CF28B604}" type="slidenum">
              <a:rPr lang="en-US" smtClean="0"/>
              <a:t>22</a:t>
            </a:fld>
            <a:endParaRPr lang="en-US"/>
          </a:p>
        </p:txBody>
      </p:sp>
    </p:spTree>
    <p:extLst>
      <p:ext uri="{BB962C8B-B14F-4D97-AF65-F5344CB8AC3E}">
        <p14:creationId xmlns:p14="http://schemas.microsoft.com/office/powerpoint/2010/main" val="1056842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02C66-4946-7B75-3017-D53B29D2D043}"/>
              </a:ext>
            </a:extLst>
          </p:cNvPr>
          <p:cNvSpPr>
            <a:spLocks noGrp="1"/>
          </p:cNvSpPr>
          <p:nvPr>
            <p:ph type="title"/>
          </p:nvPr>
        </p:nvSpPr>
        <p:spPr>
          <a:xfrm>
            <a:off x="838200" y="136525"/>
            <a:ext cx="10515600" cy="388131"/>
          </a:xfrm>
        </p:spPr>
        <p:txBody>
          <a:bodyPr>
            <a:normAutofit fontScale="90000"/>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4F908FE9-CDD8-8ABF-4CD0-A011D0C82B38}"/>
              </a:ext>
            </a:extLst>
          </p:cNvPr>
          <p:cNvSpPr>
            <a:spLocks noGrp="1"/>
          </p:cNvSpPr>
          <p:nvPr>
            <p:ph idx="1"/>
          </p:nvPr>
        </p:nvSpPr>
        <p:spPr>
          <a:xfrm>
            <a:off x="209862" y="524656"/>
            <a:ext cx="11722308" cy="6196819"/>
          </a:xfrm>
        </p:spPr>
        <p:txBody>
          <a:bodyPr>
            <a:normAutofit/>
          </a:bodyPr>
          <a:lstStyle/>
          <a:p>
            <a:pPr algn="just">
              <a:buNone/>
            </a:pPr>
            <a:r>
              <a:rPr lang="ne-NP" sz="3200" dirty="0">
                <a:cs typeface="Kalimati" pitchFamily="2"/>
              </a:rPr>
              <a:t>	</a:t>
            </a:r>
          </a:p>
          <a:p>
            <a:pPr algn="just">
              <a:buNone/>
            </a:pPr>
            <a:r>
              <a:rPr lang="ne-NP" sz="3200" dirty="0">
                <a:cs typeface="Kalimati" pitchFamily="2"/>
              </a:rPr>
              <a:t>	त्यसैले </a:t>
            </a:r>
            <a:r>
              <a:rPr lang="en-US" sz="3200" dirty="0">
                <a:cs typeface="Kalimati" pitchFamily="2"/>
              </a:rPr>
              <a:t> Lawrence B. Solum </a:t>
            </a:r>
            <a:r>
              <a:rPr lang="ne-NP" sz="3200" dirty="0">
                <a:cs typeface="Kalimati" pitchFamily="2"/>
              </a:rPr>
              <a:t>ले </a:t>
            </a:r>
            <a:r>
              <a:rPr lang="en-US" sz="3200" dirty="0">
                <a:cs typeface="Kalimati" pitchFamily="2"/>
              </a:rPr>
              <a:t>We call high judges, </a:t>
            </a:r>
            <a:r>
              <a:rPr lang="en-US" sz="3200" b="1" dirty="0">
                <a:solidFill>
                  <a:srgbClr val="FF0000"/>
                </a:solidFill>
                <a:cs typeface="Kalimati" pitchFamily="2"/>
              </a:rPr>
              <a:t>“justices”, </a:t>
            </a:r>
            <a:r>
              <a:rPr lang="en-US" sz="3200" dirty="0">
                <a:cs typeface="Kalimati" pitchFamily="2"/>
              </a:rPr>
              <a:t>we call the building they occupy the </a:t>
            </a:r>
            <a:r>
              <a:rPr lang="en-US" sz="3200" b="1" dirty="0">
                <a:solidFill>
                  <a:srgbClr val="FF0000"/>
                </a:solidFill>
                <a:cs typeface="Kalimati" pitchFamily="2"/>
              </a:rPr>
              <a:t>“halls of justice”, </a:t>
            </a:r>
            <a:r>
              <a:rPr lang="en-US" sz="3200" dirty="0">
                <a:cs typeface="Kalimati" pitchFamily="2"/>
              </a:rPr>
              <a:t>and we call what they do, </a:t>
            </a:r>
            <a:r>
              <a:rPr lang="en-US" sz="3200" b="1" dirty="0">
                <a:solidFill>
                  <a:srgbClr val="FF0000"/>
                </a:solidFill>
                <a:cs typeface="Kalimati" pitchFamily="2"/>
              </a:rPr>
              <a:t>“the administration of justice”</a:t>
            </a:r>
            <a:r>
              <a:rPr lang="en-US" sz="3200" dirty="0">
                <a:cs typeface="Kalimati" pitchFamily="2"/>
              </a:rPr>
              <a:t>. If we know anything about judges, it is that they ought to be just. If judges should possess the virtue, then surely, they should possess the virtue of justice.</a:t>
            </a:r>
            <a:r>
              <a:rPr lang="ne-NP" sz="3200" dirty="0">
                <a:cs typeface="Kalimati" pitchFamily="2"/>
              </a:rPr>
              <a:t> भनी चर्चा गर्नु भएको होला।</a:t>
            </a:r>
          </a:p>
          <a:p>
            <a:pPr algn="just">
              <a:buNone/>
            </a:pPr>
            <a:r>
              <a:rPr lang="ne-NP" sz="3200" dirty="0">
                <a:cs typeface="Kalimati" pitchFamily="2"/>
              </a:rPr>
              <a:t>	</a:t>
            </a:r>
            <a:r>
              <a:rPr lang="en-US" sz="3200" dirty="0">
                <a:cs typeface="Kalimati" pitchFamily="2"/>
              </a:rPr>
              <a:t>	 </a:t>
            </a:r>
          </a:p>
          <a:p>
            <a:pPr algn="just">
              <a:buFont typeface="Wingdings" panose="05000000000000000000" pitchFamily="2" charset="2"/>
              <a:buChar char="v"/>
            </a:pPr>
            <a:r>
              <a:rPr lang="en-US" sz="3200" dirty="0">
                <a:cs typeface="Kalimati" pitchFamily="2"/>
              </a:rPr>
              <a:t>GOOD MANNERS AND RIGHT CONDUCT,  GMRC</a:t>
            </a:r>
            <a:r>
              <a:rPr lang="ne-NP" sz="3200" dirty="0">
                <a:cs typeface="Kalimati" pitchFamily="2"/>
              </a:rPr>
              <a:t> </a:t>
            </a:r>
            <a:endParaRPr lang="en-US" sz="3200" dirty="0">
              <a:cs typeface="Kalimati" pitchFamily="2"/>
            </a:endParaRPr>
          </a:p>
          <a:p>
            <a:pPr algn="just"/>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C221F23C-846D-DAA6-9276-0BFBCA92CBEB}"/>
              </a:ext>
            </a:extLst>
          </p:cNvPr>
          <p:cNvSpPr>
            <a:spLocks noGrp="1"/>
          </p:cNvSpPr>
          <p:nvPr>
            <p:ph type="sldNum" sz="quarter" idx="12"/>
          </p:nvPr>
        </p:nvSpPr>
        <p:spPr/>
        <p:txBody>
          <a:bodyPr/>
          <a:lstStyle/>
          <a:p>
            <a:fld id="{7622E865-B2C1-4A41-88CD-3656CF28B604}" type="slidenum">
              <a:rPr lang="en-US" smtClean="0"/>
              <a:t>23</a:t>
            </a:fld>
            <a:endParaRPr lang="en-US"/>
          </a:p>
        </p:txBody>
      </p:sp>
    </p:spTree>
    <p:extLst>
      <p:ext uri="{BB962C8B-B14F-4D97-AF65-F5344CB8AC3E}">
        <p14:creationId xmlns:p14="http://schemas.microsoft.com/office/powerpoint/2010/main" val="3683121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623A9-414A-58AC-E78F-33C1AF4AD973}"/>
              </a:ext>
            </a:extLst>
          </p:cNvPr>
          <p:cNvSpPr>
            <a:spLocks noGrp="1"/>
          </p:cNvSpPr>
          <p:nvPr>
            <p:ph type="title"/>
          </p:nvPr>
        </p:nvSpPr>
        <p:spPr>
          <a:xfrm>
            <a:off x="449179" y="164893"/>
            <a:ext cx="10904621" cy="516144"/>
          </a:xfrm>
        </p:spPr>
        <p:txBody>
          <a:bodyPr>
            <a:noAutofit/>
          </a:bodyPr>
          <a:lstStyle/>
          <a:p>
            <a:r>
              <a:rPr lang="ne-NP" sz="3200" b="1" dirty="0">
                <a:latin typeface="+mn-lt"/>
                <a:cs typeface="Kalimati" pitchFamily="2"/>
              </a:rPr>
              <a:t>ङ. </a:t>
            </a:r>
            <a:r>
              <a:rPr lang="ne-NP" sz="3200" b="1" u="sng" dirty="0">
                <a:latin typeface="+mn-lt"/>
                <a:cs typeface="Kalimati" pitchFamily="2"/>
              </a:rPr>
              <a:t>सकारात्मक सोच</a:t>
            </a:r>
            <a:r>
              <a:rPr lang="en-US" sz="3200" b="1" u="sng" dirty="0">
                <a:latin typeface="+mn-lt"/>
                <a:cs typeface="Kalimati" pitchFamily="2"/>
              </a:rPr>
              <a:t> (Positive attitude)</a:t>
            </a:r>
            <a:endParaRPr lang="en-US" sz="3200" dirty="0">
              <a:latin typeface="+mn-lt"/>
            </a:endParaRPr>
          </a:p>
        </p:txBody>
      </p:sp>
      <p:sp>
        <p:nvSpPr>
          <p:cNvPr id="3" name="Content Placeholder 2">
            <a:extLst>
              <a:ext uri="{FF2B5EF4-FFF2-40B4-BE49-F238E27FC236}">
                <a16:creationId xmlns:a16="http://schemas.microsoft.com/office/drawing/2014/main" id="{162C7575-5027-542E-1E2E-B12989A227FD}"/>
              </a:ext>
            </a:extLst>
          </p:cNvPr>
          <p:cNvSpPr>
            <a:spLocks noGrp="1"/>
          </p:cNvSpPr>
          <p:nvPr>
            <p:ph idx="1"/>
          </p:nvPr>
        </p:nvSpPr>
        <p:spPr>
          <a:xfrm>
            <a:off x="119921" y="681037"/>
            <a:ext cx="11917181" cy="6012070"/>
          </a:xfrm>
        </p:spPr>
        <p:txBody>
          <a:bodyPr>
            <a:normAutofit/>
          </a:bodyPr>
          <a:lstStyle/>
          <a:p>
            <a:pPr algn="just">
              <a:buNone/>
            </a:pPr>
            <a:r>
              <a:rPr lang="ne-NP" sz="3200" dirty="0">
                <a:cs typeface="Kalimati" pitchFamily="2"/>
              </a:rPr>
              <a:t>	सकारात्मक सोचाई र </a:t>
            </a:r>
            <a:r>
              <a:rPr lang="ne-NP" sz="3200" dirty="0" err="1">
                <a:cs typeface="Kalimati" pitchFamily="2"/>
              </a:rPr>
              <a:t>गराईको</a:t>
            </a:r>
            <a:r>
              <a:rPr lang="ne-NP" sz="3200" dirty="0">
                <a:cs typeface="Kalimati" pitchFamily="2"/>
              </a:rPr>
              <a:t> उपलब्धि कस्तो दूरगामी हुन्छ र </a:t>
            </a:r>
            <a:r>
              <a:rPr lang="ne-NP" sz="3200" dirty="0" err="1">
                <a:cs typeface="Kalimati" pitchFamily="2"/>
              </a:rPr>
              <a:t>सोचकर्तालाई</a:t>
            </a:r>
            <a:r>
              <a:rPr lang="ne-NP" sz="3200" dirty="0">
                <a:cs typeface="Kalimati" pitchFamily="2"/>
              </a:rPr>
              <a:t> भावी पुस्ताले सुदूर भविष्यसम्म आदरभावका साथ कसरी स्मरण </a:t>
            </a:r>
            <a:r>
              <a:rPr lang="ne-NP" sz="3200" dirty="0" err="1">
                <a:cs typeface="Kalimati" pitchFamily="2"/>
              </a:rPr>
              <a:t>गर्दछन्</a:t>
            </a:r>
            <a:r>
              <a:rPr lang="ne-NP" sz="3200" dirty="0">
                <a:cs typeface="Kalimati" pitchFamily="2"/>
              </a:rPr>
              <a:t> भन्ने कुराको दृष्टान्तमा</a:t>
            </a:r>
            <a:r>
              <a:rPr lang="en-US" sz="3200" dirty="0">
                <a:cs typeface="Kalimati" pitchFamily="2"/>
              </a:rPr>
              <a:t> Nobel Prize</a:t>
            </a:r>
            <a:r>
              <a:rPr lang="ne-NP" sz="3200" dirty="0">
                <a:cs typeface="Kalimati" pitchFamily="2"/>
              </a:rPr>
              <a:t> का संस्थापक </a:t>
            </a:r>
            <a:r>
              <a:rPr lang="en-US" sz="3200" dirty="0">
                <a:cs typeface="Kalimati" pitchFamily="2"/>
              </a:rPr>
              <a:t>Alfred Bernhard Nobel </a:t>
            </a:r>
            <a:r>
              <a:rPr lang="ne-NP" sz="3200" dirty="0">
                <a:cs typeface="Kalimati" pitchFamily="2"/>
              </a:rPr>
              <a:t>लाई </a:t>
            </a:r>
            <a:r>
              <a:rPr lang="ne-NP" sz="3200" dirty="0" err="1">
                <a:cs typeface="Kalimati" pitchFamily="2"/>
              </a:rPr>
              <a:t>लिने</a:t>
            </a:r>
            <a:r>
              <a:rPr lang="ne-NP" sz="3200" dirty="0">
                <a:cs typeface="Kalimati" pitchFamily="2"/>
              </a:rPr>
              <a:t> </a:t>
            </a:r>
            <a:r>
              <a:rPr lang="ne-NP" sz="3200" dirty="0" err="1">
                <a:cs typeface="Kalimati" pitchFamily="2"/>
              </a:rPr>
              <a:t>गरिन्छ।यद्यपि</a:t>
            </a:r>
            <a:r>
              <a:rPr lang="ne-NP" sz="3200" dirty="0">
                <a:cs typeface="Kalimati" pitchFamily="2"/>
              </a:rPr>
              <a:t> उनी न्यायाधीश </a:t>
            </a:r>
            <a:r>
              <a:rPr lang="ne-NP" sz="3200" dirty="0" err="1">
                <a:cs typeface="Kalimati" pitchFamily="2"/>
              </a:rPr>
              <a:t>होईनन्</a:t>
            </a:r>
            <a:r>
              <a:rPr lang="ne-NP" sz="3200" dirty="0">
                <a:cs typeface="Kalimati" pitchFamily="2"/>
              </a:rPr>
              <a:t>, तथापि सकारात्मक सोचका सम्बन्धमा उनको जीवनमा घटित एउटा घटना न्यायाधीशका लागि मात्र </a:t>
            </a:r>
            <a:r>
              <a:rPr lang="ne-NP" sz="3200" dirty="0" err="1">
                <a:cs typeface="Kalimati" pitchFamily="2"/>
              </a:rPr>
              <a:t>होईन</a:t>
            </a:r>
            <a:r>
              <a:rPr lang="ne-NP" sz="3200" dirty="0">
                <a:cs typeface="Kalimati" pitchFamily="2"/>
              </a:rPr>
              <a:t>, जो </a:t>
            </a:r>
            <a:r>
              <a:rPr lang="ne-NP" sz="3200" dirty="0" err="1">
                <a:cs typeface="Kalimati" pitchFamily="2"/>
              </a:rPr>
              <a:t>सुकैका</a:t>
            </a:r>
            <a:r>
              <a:rPr lang="ne-NP" sz="3200" dirty="0">
                <a:cs typeface="Kalimati" pitchFamily="2"/>
              </a:rPr>
              <a:t> लागि अनुकरणीय हुन </a:t>
            </a:r>
            <a:r>
              <a:rPr lang="ne-NP" sz="3200" dirty="0" err="1">
                <a:cs typeface="Kalimati" pitchFamily="2"/>
              </a:rPr>
              <a:t>सक्छ।सन्</a:t>
            </a:r>
            <a:r>
              <a:rPr lang="ne-NP" sz="3200" dirty="0">
                <a:cs typeface="Kalimati" pitchFamily="2"/>
              </a:rPr>
              <a:t> १८८८ को कुनै दिन बिहान </a:t>
            </a:r>
            <a:r>
              <a:rPr lang="en-US" sz="3200" dirty="0">
                <a:cs typeface="Kalimati" pitchFamily="2"/>
              </a:rPr>
              <a:t>Nobel</a:t>
            </a:r>
            <a:r>
              <a:rPr lang="ne-NP" sz="3200" dirty="0">
                <a:cs typeface="Kalimati" pitchFamily="2"/>
              </a:rPr>
              <a:t> अखबार अध्ययन गर्दै </a:t>
            </a:r>
            <a:r>
              <a:rPr lang="ne-NP" sz="3200" dirty="0" err="1">
                <a:cs typeface="Kalimati" pitchFamily="2"/>
              </a:rPr>
              <a:t>थिए।अखबारको</a:t>
            </a:r>
            <a:r>
              <a:rPr lang="ne-NP" sz="3200" dirty="0">
                <a:cs typeface="Kalimati" pitchFamily="2"/>
              </a:rPr>
              <a:t> मृत्यु लेख</a:t>
            </a:r>
            <a:r>
              <a:rPr lang="en-US" sz="3200" dirty="0">
                <a:cs typeface="Kalimati" pitchFamily="2"/>
              </a:rPr>
              <a:t> (Obituary column)</a:t>
            </a:r>
            <a:r>
              <a:rPr lang="ne-NP" sz="3200" dirty="0">
                <a:cs typeface="Kalimati" pitchFamily="2"/>
              </a:rPr>
              <a:t> मा उनकै मृत्यु बारेमा सामग्री छापिएको र त्यसको शीर्षक</a:t>
            </a:r>
            <a:r>
              <a:rPr lang="en-US" sz="3200" dirty="0">
                <a:cs typeface="Kalimati" pitchFamily="2"/>
              </a:rPr>
              <a:t>  </a:t>
            </a:r>
            <a:r>
              <a:rPr lang="ne-NP" sz="3200" dirty="0">
                <a:cs typeface="Kalimati" pitchFamily="2"/>
              </a:rPr>
              <a:t>“</a:t>
            </a:r>
            <a:r>
              <a:rPr lang="en-US" sz="3200" dirty="0">
                <a:cs typeface="Kalimati" pitchFamily="2"/>
              </a:rPr>
              <a:t>King of dynamite and merchant of death</a:t>
            </a:r>
            <a:r>
              <a:rPr lang="ne-NP" sz="3200" dirty="0">
                <a:cs typeface="Kalimati" pitchFamily="2"/>
              </a:rPr>
              <a:t> </a:t>
            </a:r>
            <a:r>
              <a:rPr lang="en-US" sz="3200" dirty="0">
                <a:cs typeface="Kalimati" pitchFamily="2"/>
              </a:rPr>
              <a:t>is no more</a:t>
            </a:r>
            <a:r>
              <a:rPr lang="ne-NP" sz="3200" dirty="0">
                <a:cs typeface="Kalimati" pitchFamily="2"/>
              </a:rPr>
              <a:t>”</a:t>
            </a:r>
            <a:r>
              <a:rPr lang="en-US" sz="3200" dirty="0">
                <a:cs typeface="Kalimati" pitchFamily="2"/>
              </a:rPr>
              <a:t> </a:t>
            </a:r>
            <a:r>
              <a:rPr lang="ne-NP" sz="3200" dirty="0">
                <a:cs typeface="Kalimati" pitchFamily="2"/>
              </a:rPr>
              <a:t>भन्ने </a:t>
            </a:r>
            <a:r>
              <a:rPr lang="ne-NP" sz="3200" dirty="0" err="1">
                <a:cs typeface="Kalimati" pitchFamily="2"/>
              </a:rPr>
              <a:t>रहेछ।यथार्थमा</a:t>
            </a:r>
            <a:r>
              <a:rPr lang="ne-NP" sz="3200" dirty="0">
                <a:cs typeface="Kalimati" pitchFamily="2"/>
              </a:rPr>
              <a:t> </a:t>
            </a:r>
            <a:r>
              <a:rPr lang="en-US" sz="3200" dirty="0">
                <a:cs typeface="Kalimati" pitchFamily="2"/>
              </a:rPr>
              <a:t>Nobel </a:t>
            </a:r>
            <a:r>
              <a:rPr lang="ne-NP" sz="3200" dirty="0">
                <a:cs typeface="Kalimati" pitchFamily="2"/>
              </a:rPr>
              <a:t>को नभई उनका दाजु </a:t>
            </a:r>
            <a:r>
              <a:rPr lang="en-US" sz="3200" dirty="0">
                <a:cs typeface="Kalimati" pitchFamily="2"/>
              </a:rPr>
              <a:t>Ludvig </a:t>
            </a:r>
            <a:r>
              <a:rPr lang="ne-NP" sz="3200" dirty="0">
                <a:cs typeface="Kalimati" pitchFamily="2"/>
              </a:rPr>
              <a:t>को मृत्यु भएको थियो र भुल बस </a:t>
            </a:r>
            <a:r>
              <a:rPr lang="en-US" sz="3200" dirty="0">
                <a:cs typeface="Kalimati" pitchFamily="2"/>
              </a:rPr>
              <a:t>Nobel</a:t>
            </a:r>
            <a:r>
              <a:rPr lang="ne-NP" sz="3200" dirty="0">
                <a:cs typeface="Kalimati" pitchFamily="2"/>
              </a:rPr>
              <a:t> को नाम सो प्रकाशित सामग्रीमा पर्न गएको थियो।</a:t>
            </a:r>
            <a:endParaRPr lang="en-US" sz="3200" dirty="0">
              <a:cs typeface="Kalimati" pitchFamily="2"/>
            </a:endParaRPr>
          </a:p>
          <a:p>
            <a:pPr algn="just"/>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B4F77A7C-EFAE-7903-22F9-75B356E1E3FE}"/>
              </a:ext>
            </a:extLst>
          </p:cNvPr>
          <p:cNvSpPr>
            <a:spLocks noGrp="1"/>
          </p:cNvSpPr>
          <p:nvPr>
            <p:ph type="sldNum" sz="quarter" idx="12"/>
          </p:nvPr>
        </p:nvSpPr>
        <p:spPr/>
        <p:txBody>
          <a:bodyPr/>
          <a:lstStyle/>
          <a:p>
            <a:fld id="{7622E865-B2C1-4A41-88CD-3656CF28B604}" type="slidenum">
              <a:rPr lang="en-US" smtClean="0"/>
              <a:t>24</a:t>
            </a:fld>
            <a:endParaRPr lang="en-US"/>
          </a:p>
        </p:txBody>
      </p:sp>
    </p:spTree>
    <p:extLst>
      <p:ext uri="{BB962C8B-B14F-4D97-AF65-F5344CB8AC3E}">
        <p14:creationId xmlns:p14="http://schemas.microsoft.com/office/powerpoint/2010/main" val="3595089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D8AB7-CD84-004A-11F6-05D1AA58EB20}"/>
              </a:ext>
            </a:extLst>
          </p:cNvPr>
          <p:cNvSpPr>
            <a:spLocks noGrp="1"/>
          </p:cNvSpPr>
          <p:nvPr>
            <p:ph type="title"/>
          </p:nvPr>
        </p:nvSpPr>
        <p:spPr>
          <a:xfrm>
            <a:off x="838200" y="134911"/>
            <a:ext cx="10515600" cy="389745"/>
          </a:xfrm>
        </p:spPr>
        <p:txBody>
          <a:bodyPr>
            <a:normAutofit fontScale="90000"/>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57FC6E25-8587-654C-3C57-CAEC2422AA37}"/>
              </a:ext>
            </a:extLst>
          </p:cNvPr>
          <p:cNvSpPr>
            <a:spLocks noGrp="1"/>
          </p:cNvSpPr>
          <p:nvPr>
            <p:ph idx="1"/>
          </p:nvPr>
        </p:nvSpPr>
        <p:spPr>
          <a:xfrm>
            <a:off x="209861" y="419725"/>
            <a:ext cx="11782269" cy="6303364"/>
          </a:xfrm>
        </p:spPr>
        <p:txBody>
          <a:bodyPr>
            <a:normAutofit/>
          </a:bodyPr>
          <a:lstStyle/>
          <a:p>
            <a:pPr algn="just">
              <a:buNone/>
            </a:pPr>
            <a:r>
              <a:rPr lang="ne-NP" sz="3200" dirty="0">
                <a:cs typeface="Kalimati" pitchFamily="2"/>
              </a:rPr>
              <a:t>	प्रकाशित  सामग्री अध्ययन गरे पछि पत्रिका उपर गाली बेइज्जती मुद्दा दायर गर्ने कुरा त उनले सोच्दै सोचेनन्; बरु पछिल्ला पुस्ताले आफूलाई नकारात्मक रूपमा कसरी स्मरण गर्ने रहेछन् भन्ने कुराले </a:t>
            </a:r>
            <a:r>
              <a:rPr lang="en-US" sz="3200" dirty="0">
                <a:cs typeface="Kalimati" pitchFamily="2"/>
              </a:rPr>
              <a:t>Nobel</a:t>
            </a:r>
            <a:r>
              <a:rPr lang="ne-NP" sz="3200" dirty="0">
                <a:cs typeface="Kalimati" pitchFamily="2"/>
              </a:rPr>
              <a:t> लाई चिन्तित बनायो र उनी </a:t>
            </a:r>
            <a:r>
              <a:rPr lang="ne-NP" sz="3200" dirty="0" err="1">
                <a:cs typeface="Kalimati" pitchFamily="2"/>
              </a:rPr>
              <a:t>अवनमन</a:t>
            </a:r>
            <a:r>
              <a:rPr lang="ne-NP" sz="3200" dirty="0">
                <a:cs typeface="Kalimati" pitchFamily="2"/>
              </a:rPr>
              <a:t> </a:t>
            </a:r>
            <a:r>
              <a:rPr lang="en-US" sz="3200" dirty="0">
                <a:cs typeface="Kalimati" pitchFamily="2"/>
              </a:rPr>
              <a:t>(depression)</a:t>
            </a:r>
            <a:r>
              <a:rPr lang="ne-NP" sz="3200" dirty="0">
                <a:cs typeface="Kalimati" pitchFamily="2"/>
              </a:rPr>
              <a:t> को अवस्थामा समेत </a:t>
            </a:r>
            <a:r>
              <a:rPr lang="ne-NP" sz="3200" dirty="0" err="1">
                <a:cs typeface="Kalimati" pitchFamily="2"/>
              </a:rPr>
              <a:t>पुगे।तर</a:t>
            </a:r>
            <a:r>
              <a:rPr lang="ne-NP" sz="3200" dirty="0">
                <a:cs typeface="Kalimati" pitchFamily="2"/>
              </a:rPr>
              <a:t> उनले सो अवस्थालाई धेरै दिन कायम रहन दिएनन् र पछिल्ला पीढीले आफूलाई सकारात्मक रूपमा स्मरण गर्ने कसरी बनाउन सकिन्छ भन्ने ध्याउन्नमा </a:t>
            </a:r>
            <a:r>
              <a:rPr lang="ne-NP" sz="3200" dirty="0" err="1">
                <a:cs typeface="Kalimati" pitchFamily="2"/>
              </a:rPr>
              <a:t>लागे।यसैको</a:t>
            </a:r>
            <a:r>
              <a:rPr lang="ne-NP" sz="3200" dirty="0">
                <a:cs typeface="Kalimati" pitchFamily="2"/>
              </a:rPr>
              <a:t> परिणाम उनले साहित्य</a:t>
            </a:r>
            <a:r>
              <a:rPr lang="en-US" sz="3200" dirty="0">
                <a:cs typeface="Kalimati" pitchFamily="2"/>
              </a:rPr>
              <a:t> (Literature),</a:t>
            </a:r>
            <a:r>
              <a:rPr lang="ne-NP" sz="3200" dirty="0">
                <a:cs typeface="Kalimati" pitchFamily="2"/>
              </a:rPr>
              <a:t> शान्ति</a:t>
            </a:r>
            <a:r>
              <a:rPr lang="en-US" sz="3200" dirty="0">
                <a:cs typeface="Kalimati" pitchFamily="2"/>
              </a:rPr>
              <a:t> (Peace)</a:t>
            </a:r>
            <a:r>
              <a:rPr lang="ne-NP" sz="3200" dirty="0">
                <a:cs typeface="Kalimati" pitchFamily="2"/>
              </a:rPr>
              <a:t> भौतिक शास्त्र</a:t>
            </a:r>
            <a:r>
              <a:rPr lang="en-US" sz="3200" dirty="0">
                <a:cs typeface="Kalimati" pitchFamily="2"/>
              </a:rPr>
              <a:t> (Physics)</a:t>
            </a:r>
            <a:r>
              <a:rPr lang="ne-NP" sz="3200" dirty="0">
                <a:cs typeface="Kalimati" pitchFamily="2"/>
              </a:rPr>
              <a:t> रसायन</a:t>
            </a:r>
            <a:r>
              <a:rPr lang="en-US" sz="3200" dirty="0">
                <a:cs typeface="Kalimati" pitchFamily="2"/>
              </a:rPr>
              <a:t>- </a:t>
            </a:r>
            <a:r>
              <a:rPr lang="ne-NP" sz="3200" dirty="0">
                <a:cs typeface="Kalimati" pitchFamily="2"/>
              </a:rPr>
              <a:t>शास्त्र </a:t>
            </a:r>
            <a:r>
              <a:rPr lang="en-US" sz="3200" dirty="0">
                <a:cs typeface="Kalimati" pitchFamily="2"/>
              </a:rPr>
              <a:t>(Chemistry) </a:t>
            </a:r>
            <a:r>
              <a:rPr lang="ne-NP" sz="3200" dirty="0">
                <a:cs typeface="Kalimati" pitchFamily="2"/>
              </a:rPr>
              <a:t>र औषधि विज्ञान</a:t>
            </a:r>
            <a:r>
              <a:rPr lang="en-US" sz="3200" dirty="0">
                <a:cs typeface="Kalimati" pitchFamily="2"/>
              </a:rPr>
              <a:t> (Medicine) </a:t>
            </a:r>
            <a:r>
              <a:rPr lang="ne-NP" sz="3200" dirty="0">
                <a:cs typeface="Kalimati" pitchFamily="2"/>
              </a:rPr>
              <a:t>का क्षेत्रमा </a:t>
            </a:r>
            <a:r>
              <a:rPr lang="ne-NP" sz="3200" dirty="0" err="1">
                <a:cs typeface="Kalimati" pitchFamily="2"/>
              </a:rPr>
              <a:t>उल्लेख्य</a:t>
            </a:r>
            <a:r>
              <a:rPr lang="ne-NP" sz="3200" dirty="0">
                <a:cs typeface="Kalimati" pitchFamily="2"/>
              </a:rPr>
              <a:t> योगदान गर्ने व्यक्तिलाई प्रदान गर्ने गरी </a:t>
            </a:r>
            <a:r>
              <a:rPr lang="en-US" sz="3200" dirty="0">
                <a:cs typeface="Kalimati" pitchFamily="2"/>
              </a:rPr>
              <a:t>Nobel </a:t>
            </a:r>
            <a:r>
              <a:rPr lang="ne-NP" sz="3200" dirty="0">
                <a:cs typeface="Kalimati" pitchFamily="2"/>
              </a:rPr>
              <a:t>पुरस्कारको स्थापना गरे।</a:t>
            </a:r>
            <a:r>
              <a:rPr lang="en-US" sz="3200" dirty="0">
                <a:cs typeface="Kalimati" pitchFamily="2"/>
              </a:rPr>
              <a:t>Nobel </a:t>
            </a:r>
            <a:r>
              <a:rPr lang="ne-NP" sz="3200" dirty="0">
                <a:cs typeface="Kalimati" pitchFamily="2"/>
              </a:rPr>
              <a:t>आज हामी माझ छैनन्, तर संसारले उनलाई सदैव सकारात्मक रूपमा स्मरण गरी रहने </a:t>
            </a:r>
            <a:r>
              <a:rPr lang="ne-NP" sz="3200" dirty="0" err="1">
                <a:cs typeface="Kalimati" pitchFamily="2"/>
              </a:rPr>
              <a:t>छ।सकारात्मक</a:t>
            </a:r>
            <a:r>
              <a:rPr lang="ne-NP" sz="3200" dirty="0">
                <a:cs typeface="Kalimati" pitchFamily="2"/>
              </a:rPr>
              <a:t> </a:t>
            </a:r>
            <a:r>
              <a:rPr lang="ne-NP" sz="3200" dirty="0" err="1">
                <a:cs typeface="Kalimati" pitchFamily="2"/>
              </a:rPr>
              <a:t>सोचाईका</a:t>
            </a:r>
            <a:r>
              <a:rPr lang="ne-NP" sz="3200" dirty="0">
                <a:cs typeface="Kalimati" pitchFamily="2"/>
              </a:rPr>
              <a:t> सम्बन्धमा न्यायाधीश पनि </a:t>
            </a:r>
            <a:r>
              <a:rPr lang="en-US" sz="3200" dirty="0">
                <a:cs typeface="Kalimati" pitchFamily="2"/>
              </a:rPr>
              <a:t>Nobel </a:t>
            </a:r>
            <a:r>
              <a:rPr lang="ne-NP" sz="3200" dirty="0">
                <a:cs typeface="Kalimati" pitchFamily="2"/>
              </a:rPr>
              <a:t>जस्तै </a:t>
            </a:r>
            <a:r>
              <a:rPr lang="ne-NP" sz="3200" dirty="0" err="1">
                <a:cs typeface="Kalimati" pitchFamily="2"/>
              </a:rPr>
              <a:t>होउन्</a:t>
            </a:r>
            <a:r>
              <a:rPr lang="ne-NP" sz="3200" dirty="0">
                <a:cs typeface="Kalimati" pitchFamily="2"/>
              </a:rPr>
              <a:t> भन्ने </a:t>
            </a:r>
            <a:r>
              <a:rPr lang="ne-NP" sz="3200" dirty="0" err="1">
                <a:cs typeface="Kalimati" pitchFamily="2"/>
              </a:rPr>
              <a:t>विधिशास्त्रले</a:t>
            </a:r>
            <a:r>
              <a:rPr lang="ne-NP" sz="3200" dirty="0">
                <a:cs typeface="Kalimati" pitchFamily="2"/>
              </a:rPr>
              <a:t> अपेक्षा गर्ला कि ? </a:t>
            </a:r>
            <a:endParaRPr lang="en-US" sz="3200" dirty="0">
              <a:cs typeface="Kalimati" pitchFamily="2"/>
            </a:endParaRPr>
          </a:p>
          <a:p>
            <a:pPr algn="just">
              <a:buNone/>
            </a:pPr>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833212B2-9A01-4042-C221-4FEE2900420A}"/>
              </a:ext>
            </a:extLst>
          </p:cNvPr>
          <p:cNvSpPr>
            <a:spLocks noGrp="1"/>
          </p:cNvSpPr>
          <p:nvPr>
            <p:ph type="sldNum" sz="quarter" idx="12"/>
          </p:nvPr>
        </p:nvSpPr>
        <p:spPr/>
        <p:txBody>
          <a:bodyPr/>
          <a:lstStyle/>
          <a:p>
            <a:fld id="{7622E865-B2C1-4A41-88CD-3656CF28B604}" type="slidenum">
              <a:rPr lang="en-US" smtClean="0"/>
              <a:t>25</a:t>
            </a:fld>
            <a:endParaRPr lang="en-US"/>
          </a:p>
        </p:txBody>
      </p:sp>
    </p:spTree>
    <p:extLst>
      <p:ext uri="{BB962C8B-B14F-4D97-AF65-F5344CB8AC3E}">
        <p14:creationId xmlns:p14="http://schemas.microsoft.com/office/powerpoint/2010/main" val="2495747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0" y="136526"/>
            <a:ext cx="11128949" cy="296055"/>
          </a:xfrm>
        </p:spPr>
        <p:txBody>
          <a:bodyPr>
            <a:noAutofit/>
          </a:bodyPr>
          <a:lstStyle/>
          <a:p>
            <a:pPr algn="ctr"/>
            <a:br>
              <a:rPr lang="en-US" sz="3200" b="1" u="sng" dirty="0">
                <a:latin typeface="+mn-lt"/>
              </a:rPr>
            </a:br>
            <a:r>
              <a:rPr lang="en-US" sz="3200" b="1" u="sng" dirty="0">
                <a:latin typeface="+mn-lt"/>
              </a:rPr>
              <a:t>How should we make our life 100% success ?</a:t>
            </a:r>
            <a:br>
              <a:rPr lang="en-US" sz="3200" b="1" u="sng" dirty="0">
                <a:latin typeface="+mn-lt"/>
              </a:rPr>
            </a:br>
            <a:endParaRPr lang="en-US" sz="3200" b="1" u="sng" dirty="0">
              <a:latin typeface="+mn-lt"/>
              <a:cs typeface="Kalimati" pitchFamily="2"/>
            </a:endParaRPr>
          </a:p>
        </p:txBody>
      </p:sp>
      <p:sp>
        <p:nvSpPr>
          <p:cNvPr id="3" name="Content Placeholder 2"/>
          <p:cNvSpPr>
            <a:spLocks noGrp="1"/>
          </p:cNvSpPr>
          <p:nvPr>
            <p:ph idx="1"/>
          </p:nvPr>
        </p:nvSpPr>
        <p:spPr>
          <a:xfrm>
            <a:off x="224851" y="524656"/>
            <a:ext cx="11737299" cy="6104744"/>
          </a:xfrm>
        </p:spPr>
        <p:txBody>
          <a:bodyPr>
            <a:noAutofit/>
          </a:bodyPr>
          <a:lstStyle/>
          <a:p>
            <a:pPr>
              <a:buNone/>
            </a:pPr>
            <a:r>
              <a:rPr lang="en-US" sz="3200" b="1" dirty="0"/>
              <a:t>A  B  C  D  E ……………………………………………………..z</a:t>
            </a:r>
          </a:p>
          <a:p>
            <a:pPr marL="514350" indent="-514350">
              <a:buNone/>
            </a:pPr>
            <a:r>
              <a:rPr lang="en-US" sz="3200" b="1" dirty="0"/>
              <a:t>1  2  3  4  5  …………………………………………………….26</a:t>
            </a:r>
          </a:p>
          <a:p>
            <a:pPr marL="514350" indent="-514350">
              <a:buNone/>
            </a:pPr>
            <a:r>
              <a:rPr lang="en-US" sz="3200" b="1" dirty="0"/>
              <a:t>Hard work    8+1+18+4+23+15+18+11         =98 %</a:t>
            </a:r>
          </a:p>
          <a:p>
            <a:pPr marL="514350" indent="-514350">
              <a:buNone/>
            </a:pPr>
            <a:r>
              <a:rPr lang="en-US" sz="3200" b="1" dirty="0"/>
              <a:t>Leadership   12+5+1+4+5+18+19+8+9+16   =97 %</a:t>
            </a:r>
          </a:p>
          <a:p>
            <a:pPr marL="514350" indent="-514350">
              <a:buNone/>
            </a:pPr>
            <a:r>
              <a:rPr lang="en-US" sz="3200" b="1" dirty="0"/>
              <a:t>Knowledge   11+14+15+23+12+5+4+7+5      =96 %</a:t>
            </a:r>
          </a:p>
          <a:p>
            <a:pPr marL="514350" indent="-514350">
              <a:buNone/>
            </a:pPr>
            <a:r>
              <a:rPr lang="en-US" sz="3200" b="1" dirty="0"/>
              <a:t>Money           13+15+14+5+25                          =72 %</a:t>
            </a:r>
          </a:p>
          <a:p>
            <a:pPr marL="514350" indent="-514350">
              <a:buNone/>
            </a:pPr>
            <a:r>
              <a:rPr lang="en-US" sz="3200" b="1" dirty="0"/>
              <a:t>Love                12+15+22+5                                =54 %</a:t>
            </a:r>
          </a:p>
          <a:p>
            <a:pPr marL="514350" indent="-514350">
              <a:buNone/>
            </a:pPr>
            <a:r>
              <a:rPr lang="en-US" sz="3200" b="1" dirty="0"/>
              <a:t>Luck                12+21+3+11                                 =47 %</a:t>
            </a:r>
          </a:p>
          <a:p>
            <a:pPr marL="514350" indent="-514350">
              <a:buNone/>
            </a:pPr>
            <a:r>
              <a:rPr lang="en-US" sz="3200" b="1" dirty="0"/>
              <a:t>Attitude         1+20+20+9+20+21+4+5             =100 %</a:t>
            </a:r>
          </a:p>
          <a:p>
            <a:pPr marL="514350" indent="-514350">
              <a:buNone/>
            </a:pPr>
            <a:r>
              <a:rPr lang="en-US" sz="3200" b="1" dirty="0"/>
              <a:t>	</a:t>
            </a:r>
            <a:r>
              <a:rPr lang="en-US" sz="3200" b="1" dirty="0">
                <a:solidFill>
                  <a:srgbClr val="FF0000"/>
                </a:solidFill>
              </a:rPr>
              <a:t>With a negative attitude you can never have a positive day and with a positive attitude you can never have a bad day.</a:t>
            </a:r>
          </a:p>
          <a:p>
            <a:pPr marL="514350" indent="-514350">
              <a:buNone/>
            </a:pPr>
            <a:endParaRPr lang="en-US" sz="3200" b="1" dirty="0"/>
          </a:p>
        </p:txBody>
      </p:sp>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26</a:t>
            </a:fld>
            <a:endParaRPr lang="en-US">
              <a:solidFill>
                <a:prstClr val="black">
                  <a:tint val="75000"/>
                </a:prstClr>
              </a:solidFill>
              <a:latin typeface="Calibri"/>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anim calcmode="lin" valueType="num">
                                      <p:cBhvr additive="base">
                                        <p:cTn id="5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6FEC3-95AC-748D-ABCC-042C52A4D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7729A-85E4-A5C2-D1F3-9BADB8122FE2}"/>
              </a:ext>
            </a:extLst>
          </p:cNvPr>
          <p:cNvSpPr>
            <a:spLocks noGrp="1"/>
          </p:cNvSpPr>
          <p:nvPr>
            <p:ph type="title"/>
          </p:nvPr>
        </p:nvSpPr>
        <p:spPr>
          <a:xfrm>
            <a:off x="838200" y="104932"/>
            <a:ext cx="10515600" cy="329784"/>
          </a:xfrm>
        </p:spPr>
        <p:txBody>
          <a:bodyPr>
            <a:normAutofit fontScale="90000"/>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5AE23833-83BB-73C0-D91F-F4296B894DF0}"/>
              </a:ext>
            </a:extLst>
          </p:cNvPr>
          <p:cNvSpPr>
            <a:spLocks noGrp="1"/>
          </p:cNvSpPr>
          <p:nvPr>
            <p:ph idx="1"/>
          </p:nvPr>
        </p:nvSpPr>
        <p:spPr>
          <a:xfrm>
            <a:off x="194872" y="329785"/>
            <a:ext cx="11842230" cy="5847178"/>
          </a:xfrm>
        </p:spPr>
        <p:txBody>
          <a:bodyPr>
            <a:normAutofit/>
          </a:bodyPr>
          <a:lstStyle/>
          <a:p>
            <a:pPr marL="0" indent="0" algn="just">
              <a:buNone/>
            </a:pPr>
            <a:r>
              <a:rPr lang="en-US" sz="3200" dirty="0">
                <a:cs typeface="Kalimati" panose="00000400000000000000" pitchFamily="2"/>
              </a:rPr>
              <a:t> </a:t>
            </a:r>
            <a:endParaRPr lang="ne-NP" sz="3200" dirty="0">
              <a:cs typeface="Kalimati" panose="00000400000000000000" pitchFamily="2"/>
            </a:endParaRPr>
          </a:p>
          <a:p>
            <a:pPr algn="just">
              <a:buFont typeface="Wingdings" pitchFamily="2" charset="2"/>
              <a:buChar char="v"/>
            </a:pPr>
            <a:r>
              <a:rPr lang="ne-NP" sz="3200" dirty="0">
                <a:cs typeface="Kalimati" panose="00000400000000000000" pitchFamily="2"/>
              </a:rPr>
              <a:t>न्यायपालिकाको </a:t>
            </a:r>
            <a:r>
              <a:rPr lang="ne-NP" sz="3200" b="1" dirty="0">
                <a:solidFill>
                  <a:srgbClr val="FF0000"/>
                </a:solidFill>
                <a:cs typeface="Kalimati" panose="00000400000000000000" pitchFamily="2"/>
              </a:rPr>
              <a:t>मनोरथ</a:t>
            </a:r>
            <a:r>
              <a:rPr lang="ne-NP" sz="3200" dirty="0">
                <a:cs typeface="Kalimati" panose="00000400000000000000" pitchFamily="2"/>
              </a:rPr>
              <a:t> प्राप्त गर्न </a:t>
            </a:r>
            <a:r>
              <a:rPr lang="ne-NP" sz="3200" b="1" dirty="0">
                <a:solidFill>
                  <a:srgbClr val="FF0000"/>
                </a:solidFill>
                <a:cs typeface="Kalimati" panose="00000400000000000000" pitchFamily="2"/>
              </a:rPr>
              <a:t>रथ</a:t>
            </a:r>
            <a:r>
              <a:rPr lang="ne-NP" sz="3200" dirty="0">
                <a:solidFill>
                  <a:srgbClr val="FF0000"/>
                </a:solidFill>
                <a:cs typeface="Kalimati" panose="00000400000000000000" pitchFamily="2"/>
              </a:rPr>
              <a:t> </a:t>
            </a:r>
            <a:r>
              <a:rPr lang="ne-NP" sz="3200" dirty="0">
                <a:cs typeface="Kalimati" panose="00000400000000000000" pitchFamily="2"/>
              </a:rPr>
              <a:t>सञ्चालन गर्ने </a:t>
            </a:r>
            <a:r>
              <a:rPr lang="ne-NP" sz="3200" b="1" dirty="0">
                <a:solidFill>
                  <a:srgbClr val="FF0000"/>
                </a:solidFill>
                <a:cs typeface="Kalimati" panose="00000400000000000000" pitchFamily="2"/>
              </a:rPr>
              <a:t>सारथि</a:t>
            </a:r>
            <a:r>
              <a:rPr lang="ne-NP" sz="3200" dirty="0">
                <a:cs typeface="Kalimati" panose="00000400000000000000" pitchFamily="2"/>
              </a:rPr>
              <a:t>को भूमिकामा न्यायाधीश रहने हुँदा कुशल सारथिको भूमिका निर्वाह गरिए रथ दुर्घटना नभई मनोरथ प्राप्त होला ।</a:t>
            </a:r>
            <a:endParaRPr lang="en-US" sz="3200" dirty="0">
              <a:cs typeface="Kalimati" panose="00000400000000000000" pitchFamily="2"/>
            </a:endParaRPr>
          </a:p>
          <a:p>
            <a:pPr algn="just">
              <a:buFont typeface="Wingdings" pitchFamily="2" charset="2"/>
              <a:buChar char="v"/>
            </a:pPr>
            <a:r>
              <a:rPr lang="en-US" sz="3200" dirty="0"/>
              <a:t>Integrity is the hallmark of judicial discipline, apart from others. It is high time the judiciary took utmost care to see that the temple of justice does not crack from inside, which will lead to a catastrophe in the judicial–delivery system resulting in the failure of public confidence in the system. It must be remembered that woodpeckers inside pose a larger threat than the storm outside.</a:t>
            </a:r>
          </a:p>
          <a:p>
            <a:pPr algn="r">
              <a:buNone/>
            </a:pPr>
            <a:r>
              <a:rPr lang="en-US" sz="3200" dirty="0"/>
              <a:t>         </a:t>
            </a:r>
            <a:r>
              <a:rPr lang="ne-NP" sz="3200" dirty="0"/>
              <a:t>    </a:t>
            </a:r>
            <a:r>
              <a:rPr lang="en-US" sz="3200" dirty="0"/>
              <a:t>   -Indian SC in Tarak Singh v. Jyoti Basu   (2005)1  SC 201.</a:t>
            </a:r>
            <a:endParaRPr lang="ne-NP" sz="3200" dirty="0"/>
          </a:p>
          <a:p>
            <a:pPr algn="just">
              <a:buNone/>
            </a:pPr>
            <a:endParaRPr lang="ne-NP"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CC066306-0286-4997-0483-F637ED49F32A}"/>
              </a:ext>
            </a:extLst>
          </p:cNvPr>
          <p:cNvSpPr>
            <a:spLocks noGrp="1"/>
          </p:cNvSpPr>
          <p:nvPr>
            <p:ph type="sldNum" sz="quarter" idx="12"/>
          </p:nvPr>
        </p:nvSpPr>
        <p:spPr/>
        <p:txBody>
          <a:bodyPr/>
          <a:lstStyle/>
          <a:p>
            <a:fld id="{7622E865-B2C1-4A41-88CD-3656CF28B604}" type="slidenum">
              <a:rPr lang="en-US" smtClean="0"/>
              <a:t>27</a:t>
            </a:fld>
            <a:endParaRPr lang="en-US"/>
          </a:p>
        </p:txBody>
      </p:sp>
    </p:spTree>
    <p:extLst>
      <p:ext uri="{BB962C8B-B14F-4D97-AF65-F5344CB8AC3E}">
        <p14:creationId xmlns:p14="http://schemas.microsoft.com/office/powerpoint/2010/main" val="3339037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731AF-C498-6DB1-4D25-342C57B8E8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D0C64-60D4-DE30-2F0C-9F9166D2A1DB}"/>
              </a:ext>
            </a:extLst>
          </p:cNvPr>
          <p:cNvSpPr>
            <a:spLocks noGrp="1"/>
          </p:cNvSpPr>
          <p:nvPr>
            <p:ph type="title"/>
          </p:nvPr>
        </p:nvSpPr>
        <p:spPr>
          <a:xfrm>
            <a:off x="164892" y="136526"/>
            <a:ext cx="11188908" cy="544512"/>
          </a:xfrm>
        </p:spPr>
        <p:txBody>
          <a:bodyPr>
            <a:normAutofit/>
          </a:bodyPr>
          <a:lstStyle/>
          <a:p>
            <a:pPr algn="ctr"/>
            <a:r>
              <a:rPr lang="ne-NP" sz="3200" b="1" dirty="0">
                <a:cs typeface="Kalimati" panose="00000400000000000000" pitchFamily="2"/>
              </a:rPr>
              <a:t>२.</a:t>
            </a:r>
            <a:r>
              <a:rPr lang="en-US" sz="3200" b="1" dirty="0">
                <a:cs typeface="Kalimati" panose="00000400000000000000" pitchFamily="2"/>
              </a:rPr>
              <a:t> </a:t>
            </a:r>
            <a:r>
              <a:rPr lang="ne-NP" sz="3200" b="1" u="sng" dirty="0">
                <a:cs typeface="Kalimati" panose="00000400000000000000" pitchFamily="2"/>
              </a:rPr>
              <a:t>संवैधानिक भूमिका</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FF5493AF-A8DC-F17F-5BB3-3EF734BF0F60}"/>
              </a:ext>
            </a:extLst>
          </p:cNvPr>
          <p:cNvSpPr>
            <a:spLocks noGrp="1"/>
          </p:cNvSpPr>
          <p:nvPr>
            <p:ph idx="1"/>
          </p:nvPr>
        </p:nvSpPr>
        <p:spPr>
          <a:xfrm>
            <a:off x="164892" y="681038"/>
            <a:ext cx="11862216" cy="6040436"/>
          </a:xfrm>
        </p:spPr>
        <p:txBody>
          <a:bodyPr>
            <a:normAutofit lnSpcReduction="10000"/>
          </a:bodyPr>
          <a:lstStyle/>
          <a:p>
            <a:pPr marL="0" indent="0" algn="just">
              <a:buNone/>
            </a:pPr>
            <a:r>
              <a:rPr lang="ne-NP" sz="3200" b="1" dirty="0">
                <a:cs typeface="Kalimati" panose="00000400000000000000" pitchFamily="2"/>
              </a:rPr>
              <a:t>क. </a:t>
            </a:r>
            <a:r>
              <a:rPr lang="ne-NP" sz="3200" b="1" u="sng" dirty="0">
                <a:cs typeface="Kalimati" panose="00000400000000000000" pitchFamily="2"/>
              </a:rPr>
              <a:t>जाँचबुझ, अनुसन्धान अन्वेषण र निर्वाचनमा भूमिका</a:t>
            </a:r>
          </a:p>
          <a:p>
            <a:pPr marL="0" indent="0" algn="just">
              <a:buNone/>
            </a:pPr>
            <a:r>
              <a:rPr lang="ne-NP" sz="3200" dirty="0">
                <a:cs typeface="Kalimati" panose="00000400000000000000" pitchFamily="2"/>
              </a:rPr>
              <a:t>नेपालको संविधानको धारा १५० (१) </a:t>
            </a:r>
          </a:p>
          <a:p>
            <a:pPr marL="0" indent="0" algn="just">
              <a:buNone/>
            </a:pPr>
            <a:r>
              <a:rPr lang="ne-NP" sz="3200" dirty="0">
                <a:cs typeface="Kalimati" panose="00000400000000000000" pitchFamily="2"/>
              </a:rPr>
              <a:t>न्याय परिषदको सिफारिसमा नेपाल सरकारले जिल्ला न्यायाधीशलाई-</a:t>
            </a:r>
          </a:p>
          <a:p>
            <a:pPr marL="514350" indent="-514350" algn="just">
              <a:buAutoNum type="hindiNumPeriod"/>
            </a:pPr>
            <a:r>
              <a:rPr lang="ne-NP" sz="3200" dirty="0">
                <a:cs typeface="Kalimati" panose="00000400000000000000" pitchFamily="2"/>
              </a:rPr>
              <a:t>न्यायिक जाँचबुझको काममा,</a:t>
            </a:r>
          </a:p>
          <a:p>
            <a:pPr marL="514350" indent="-514350" algn="just">
              <a:buAutoNum type="hindiNumPeriod"/>
            </a:pPr>
            <a:r>
              <a:rPr lang="ne-NP" sz="3200" dirty="0" err="1">
                <a:cs typeface="Kalimati" panose="00000400000000000000" pitchFamily="2"/>
              </a:rPr>
              <a:t>कानून</a:t>
            </a:r>
            <a:r>
              <a:rPr lang="ne-NP" sz="3200" dirty="0">
                <a:cs typeface="Kalimati" panose="00000400000000000000" pitchFamily="2"/>
              </a:rPr>
              <a:t> वा न्याय सम्बन्धी अनुसन्धान वा अन्वेषणको काममा र</a:t>
            </a:r>
          </a:p>
          <a:p>
            <a:pPr marL="514350" indent="-514350" algn="just">
              <a:buAutoNum type="hindiNumPeriod"/>
            </a:pPr>
            <a:r>
              <a:rPr lang="ne-NP" sz="3200" dirty="0">
                <a:cs typeface="Kalimati" panose="00000400000000000000" pitchFamily="2"/>
              </a:rPr>
              <a:t>निर्वाचन काममा खटाउन सक्ने</a:t>
            </a:r>
            <a:r>
              <a:rPr lang="en-US" sz="3200" dirty="0">
                <a:cs typeface="Kalimati" panose="00000400000000000000" pitchFamily="2"/>
              </a:rPr>
              <a:t> </a:t>
            </a:r>
            <a:r>
              <a:rPr lang="ne-NP" sz="3200" dirty="0">
                <a:cs typeface="Kalimati" panose="00000400000000000000" pitchFamily="2"/>
              </a:rPr>
              <a:t>संवैधानिक प्रावधान रहेकोले सो कार्य सम्पन्न गर्न भूमिका निभाउनु पर्ने।</a:t>
            </a:r>
          </a:p>
          <a:p>
            <a:pPr marL="0" indent="0" algn="just">
              <a:buNone/>
            </a:pPr>
            <a:r>
              <a:rPr lang="ne-NP" sz="3200" b="1" dirty="0">
                <a:cs typeface="Kalimati" panose="00000400000000000000" pitchFamily="2"/>
              </a:rPr>
              <a:t>ख. </a:t>
            </a:r>
            <a:r>
              <a:rPr lang="ne-NP" sz="3200" b="1" u="sng" dirty="0">
                <a:cs typeface="Kalimati" panose="00000400000000000000" pitchFamily="2"/>
              </a:rPr>
              <a:t>निरीक्षण </a:t>
            </a:r>
            <a:r>
              <a:rPr lang="en-US" sz="3200" b="1" u="sng" dirty="0">
                <a:cs typeface="Kalimati" panose="00000400000000000000" pitchFamily="2"/>
              </a:rPr>
              <a:t>/ </a:t>
            </a:r>
            <a:r>
              <a:rPr lang="ne-NP" sz="3200" b="1" u="sng" dirty="0">
                <a:cs typeface="Kalimati" panose="00000400000000000000" pitchFamily="2"/>
              </a:rPr>
              <a:t> सुपरिवेक्षण कर्ताको भूमिका</a:t>
            </a:r>
          </a:p>
          <a:p>
            <a:pPr marL="0" indent="0" algn="just">
              <a:buNone/>
            </a:pPr>
            <a:r>
              <a:rPr lang="ne-NP" sz="3200" dirty="0">
                <a:cs typeface="Kalimati" panose="00000400000000000000" pitchFamily="2"/>
              </a:rPr>
              <a:t>१.नेपालको संविधानको धारा १४८- प्रदेश </a:t>
            </a:r>
            <a:r>
              <a:rPr lang="ne-NP" sz="3200" dirty="0" err="1">
                <a:cs typeface="Kalimati" panose="00000400000000000000" pitchFamily="2"/>
              </a:rPr>
              <a:t>कानून</a:t>
            </a:r>
            <a:r>
              <a:rPr lang="ne-NP" sz="3200" dirty="0">
                <a:cs typeface="Kalimati" panose="00000400000000000000" pitchFamily="2"/>
              </a:rPr>
              <a:t> बमोजिम स्थापित स्थानीय स्तरका न्यायिक निकाय जिल्ला अदालतको मातहतमा रहने </a:t>
            </a:r>
            <a:r>
              <a:rPr lang="ne-NP" sz="3200" dirty="0" err="1">
                <a:cs typeface="Kalimati" panose="00000400000000000000" pitchFamily="2"/>
              </a:rPr>
              <a:t>छन्।जिल्ला</a:t>
            </a:r>
            <a:r>
              <a:rPr lang="ne-NP" sz="3200" dirty="0">
                <a:cs typeface="Kalimati" panose="00000400000000000000" pitchFamily="2"/>
              </a:rPr>
              <a:t> अदालतले आफ्नो मातहतका न्यायिक निकायहरूको निरीक्षण एवं सुपरिवेक्षण गर्न र आवश्यक निर्देशन दिन सक्नेछ ।</a:t>
            </a:r>
          </a:p>
          <a:p>
            <a:pPr marL="0" indent="0" algn="just">
              <a:buNone/>
            </a:pPr>
            <a:endParaRPr lang="en-US" sz="3200" dirty="0">
              <a:cs typeface="Kalimati" panose="00000400000000000000" pitchFamily="2"/>
            </a:endParaRPr>
          </a:p>
          <a:p>
            <a:pPr algn="just">
              <a:buFont typeface="Wingdings" panose="05000000000000000000" pitchFamily="2" charset="2"/>
              <a:buChar char="v"/>
            </a:pPr>
            <a:endParaRPr lang="ne-NP" sz="3200" dirty="0">
              <a:cs typeface="Kalimati" panose="00000400000000000000" pitchFamily="2"/>
            </a:endParaRPr>
          </a:p>
        </p:txBody>
      </p:sp>
      <p:sp>
        <p:nvSpPr>
          <p:cNvPr id="4" name="Slide Number Placeholder 3">
            <a:extLst>
              <a:ext uri="{FF2B5EF4-FFF2-40B4-BE49-F238E27FC236}">
                <a16:creationId xmlns:a16="http://schemas.microsoft.com/office/drawing/2014/main" id="{F45AED79-DCDD-387C-4063-FB46B1F1AB16}"/>
              </a:ext>
            </a:extLst>
          </p:cNvPr>
          <p:cNvSpPr>
            <a:spLocks noGrp="1"/>
          </p:cNvSpPr>
          <p:nvPr>
            <p:ph type="sldNum" sz="quarter" idx="12"/>
          </p:nvPr>
        </p:nvSpPr>
        <p:spPr/>
        <p:txBody>
          <a:bodyPr/>
          <a:lstStyle/>
          <a:p>
            <a:fld id="{7622E865-B2C1-4A41-88CD-3656CF28B604}" type="slidenum">
              <a:rPr lang="en-US" smtClean="0"/>
              <a:t>28</a:t>
            </a:fld>
            <a:endParaRPr lang="en-US"/>
          </a:p>
        </p:txBody>
      </p:sp>
    </p:spTree>
    <p:extLst>
      <p:ext uri="{BB962C8B-B14F-4D97-AF65-F5344CB8AC3E}">
        <p14:creationId xmlns:p14="http://schemas.microsoft.com/office/powerpoint/2010/main" val="2204833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246AF-E791-05C1-6FB6-9A6FA1F42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3DF425-5B00-D405-C7C0-CCF26EC76E5B}"/>
              </a:ext>
            </a:extLst>
          </p:cNvPr>
          <p:cNvSpPr>
            <a:spLocks noGrp="1"/>
          </p:cNvSpPr>
          <p:nvPr>
            <p:ph type="title"/>
          </p:nvPr>
        </p:nvSpPr>
        <p:spPr>
          <a:xfrm>
            <a:off x="838200" y="136525"/>
            <a:ext cx="10515600" cy="418111"/>
          </a:xfrm>
        </p:spPr>
        <p:txBody>
          <a:bodyPr>
            <a:noAutofit/>
          </a:bodyPr>
          <a:lstStyle/>
          <a:p>
            <a:pPr algn="r"/>
            <a:r>
              <a:rPr lang="ne-NP" sz="2800" b="1" u="sng" dirty="0">
                <a:cs typeface="Kalimati" panose="00000400000000000000" pitchFamily="2"/>
              </a:rPr>
              <a:t>...</a:t>
            </a:r>
            <a:r>
              <a:rPr lang="ne-NP" sz="2800" b="1" u="sng" dirty="0" err="1">
                <a:cs typeface="Kalimati" panose="00000400000000000000" pitchFamily="2"/>
              </a:rPr>
              <a:t>क्रमश</a:t>
            </a:r>
            <a:endParaRPr lang="en-US" sz="2800" b="1" u="sng" dirty="0">
              <a:cs typeface="Kalimati" panose="00000400000000000000" pitchFamily="2"/>
            </a:endParaRPr>
          </a:p>
        </p:txBody>
      </p:sp>
      <p:sp>
        <p:nvSpPr>
          <p:cNvPr id="3" name="Content Placeholder 2">
            <a:extLst>
              <a:ext uri="{FF2B5EF4-FFF2-40B4-BE49-F238E27FC236}">
                <a16:creationId xmlns:a16="http://schemas.microsoft.com/office/drawing/2014/main" id="{98F42E8E-B35E-C263-1A9C-1B4CB3A0757E}"/>
              </a:ext>
            </a:extLst>
          </p:cNvPr>
          <p:cNvSpPr>
            <a:spLocks noGrp="1"/>
          </p:cNvSpPr>
          <p:nvPr>
            <p:ph idx="1"/>
          </p:nvPr>
        </p:nvSpPr>
        <p:spPr>
          <a:xfrm>
            <a:off x="164892" y="674557"/>
            <a:ext cx="11872210" cy="6046918"/>
          </a:xfrm>
        </p:spPr>
        <p:txBody>
          <a:bodyPr>
            <a:normAutofit/>
          </a:bodyPr>
          <a:lstStyle/>
          <a:p>
            <a:pPr marL="0" indent="0" algn="just">
              <a:buNone/>
            </a:pPr>
            <a:r>
              <a:rPr lang="ne-NP" sz="3200" b="1" dirty="0">
                <a:cs typeface="Kalimati" panose="00000400000000000000" pitchFamily="2"/>
              </a:rPr>
              <a:t>२. धारा १५१- </a:t>
            </a:r>
            <a:r>
              <a:rPr lang="ne-NP" sz="3200" dirty="0">
                <a:cs typeface="Kalimati" panose="00000400000000000000" pitchFamily="2"/>
              </a:rPr>
              <a:t>जिल्ला अदालतलाई ... आफ्नो अधिकारक्षेत्रभित्रका अर्ध न्यायिक निकायले गरेको निर्णय उपर </a:t>
            </a:r>
            <a:r>
              <a:rPr lang="ne-NP" sz="3200" dirty="0" err="1">
                <a:cs typeface="Kalimati" panose="00000400000000000000" pitchFamily="2"/>
              </a:rPr>
              <a:t>कानून</a:t>
            </a:r>
            <a:r>
              <a:rPr lang="ne-NP" sz="3200" dirty="0">
                <a:cs typeface="Kalimati" panose="00000400000000000000" pitchFamily="2"/>
              </a:rPr>
              <a:t> बमोजिम पुनरावेदन सुन्ने, ... स्थानीय स्तरका न्यायिक निकायले गरेको निर्णय उपर पुनरावेदन सुन्ने ... अधिकार हुनेछ ।</a:t>
            </a:r>
          </a:p>
          <a:p>
            <a:pPr algn="just">
              <a:buFont typeface="Wingdings" panose="05000000000000000000" pitchFamily="2" charset="2"/>
              <a:buChar char="v"/>
            </a:pPr>
            <a:r>
              <a:rPr lang="ne-NP" sz="3200" b="1" u="sng" dirty="0">
                <a:cs typeface="Kalimati" panose="00000400000000000000" pitchFamily="2"/>
              </a:rPr>
              <a:t>न्याय प्रशासन ऐन, २०७३ को दफा २१ </a:t>
            </a:r>
            <a:r>
              <a:rPr lang="ne-NP" sz="3200" dirty="0">
                <a:cs typeface="Kalimati" panose="00000400000000000000" pitchFamily="2"/>
              </a:rPr>
              <a:t>।</a:t>
            </a:r>
          </a:p>
          <a:p>
            <a:pPr algn="just">
              <a:buFont typeface="Wingdings" panose="05000000000000000000" pitchFamily="2" charset="2"/>
              <a:buChar char="v"/>
            </a:pPr>
            <a:r>
              <a:rPr lang="ne-NP" sz="3200" b="1" dirty="0">
                <a:cs typeface="Kalimati" panose="00000400000000000000" pitchFamily="2"/>
              </a:rPr>
              <a:t>जिल्ला अदालत नियमावली, २०७५ को नियम ९</a:t>
            </a:r>
            <a:r>
              <a:rPr lang="ne-NP" sz="3200" dirty="0">
                <a:cs typeface="Kalimati" panose="00000400000000000000" pitchFamily="2"/>
              </a:rPr>
              <a:t>४- अदालतले ऐनको दफा २१ को अधीनमा रही आफूले पुनरावेदन सुन्ने निकाय वा अधिकारीको कार्यालयको निरीक्षण गर्नेछ ।</a:t>
            </a: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7B5B43F0-B62C-BB42-6A98-997AE2737F75}"/>
              </a:ext>
            </a:extLst>
          </p:cNvPr>
          <p:cNvSpPr>
            <a:spLocks noGrp="1"/>
          </p:cNvSpPr>
          <p:nvPr>
            <p:ph type="sldNum" sz="quarter" idx="12"/>
          </p:nvPr>
        </p:nvSpPr>
        <p:spPr/>
        <p:txBody>
          <a:bodyPr/>
          <a:lstStyle/>
          <a:p>
            <a:fld id="{7622E865-B2C1-4A41-88CD-3656CF28B604}" type="slidenum">
              <a:rPr lang="en-US" smtClean="0"/>
              <a:t>29</a:t>
            </a:fld>
            <a:endParaRPr lang="en-US"/>
          </a:p>
        </p:txBody>
      </p:sp>
    </p:spTree>
    <p:extLst>
      <p:ext uri="{BB962C8B-B14F-4D97-AF65-F5344CB8AC3E}">
        <p14:creationId xmlns:p14="http://schemas.microsoft.com/office/powerpoint/2010/main" val="3572740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3C168-E85E-DC08-2B25-94C63FBC1A40}"/>
              </a:ext>
            </a:extLst>
          </p:cNvPr>
          <p:cNvSpPr>
            <a:spLocks noGrp="1"/>
          </p:cNvSpPr>
          <p:nvPr>
            <p:ph type="title"/>
          </p:nvPr>
        </p:nvSpPr>
        <p:spPr>
          <a:xfrm>
            <a:off x="389744" y="136525"/>
            <a:ext cx="10964056" cy="403121"/>
          </a:xfrm>
        </p:spPr>
        <p:txBody>
          <a:bodyPr>
            <a:noAutofit/>
          </a:bodyPr>
          <a:lstStyle/>
          <a:p>
            <a:r>
              <a:rPr lang="ne-NP" sz="3200" b="1" dirty="0">
                <a:cs typeface="Kalimati" panose="00000400000000000000" pitchFamily="2"/>
              </a:rPr>
              <a:t>३. </a:t>
            </a:r>
            <a:r>
              <a:rPr lang="ne-NP" sz="3200" b="1" u="sng" dirty="0" err="1">
                <a:cs typeface="Kalimati" panose="00000400000000000000" pitchFamily="2"/>
              </a:rPr>
              <a:t>कानूनी</a:t>
            </a:r>
            <a:r>
              <a:rPr lang="ne-NP" sz="3200" b="1" u="sng" dirty="0">
                <a:cs typeface="Kalimati" panose="00000400000000000000" pitchFamily="2"/>
              </a:rPr>
              <a:t> भूमिका</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8BED9278-7CAC-36F0-F8EC-1AACA4685521}"/>
              </a:ext>
            </a:extLst>
          </p:cNvPr>
          <p:cNvSpPr>
            <a:spLocks noGrp="1"/>
          </p:cNvSpPr>
          <p:nvPr>
            <p:ph idx="1"/>
          </p:nvPr>
        </p:nvSpPr>
        <p:spPr>
          <a:xfrm>
            <a:off x="134911" y="539646"/>
            <a:ext cx="11902191" cy="6181829"/>
          </a:xfrm>
        </p:spPr>
        <p:txBody>
          <a:bodyPr>
            <a:normAutofit/>
          </a:bodyPr>
          <a:lstStyle/>
          <a:p>
            <a:pPr marL="0" indent="0" algn="just">
              <a:buNone/>
            </a:pPr>
            <a:endParaRPr lang="ne-NP" sz="3200" b="1" dirty="0">
              <a:cs typeface="Kalimati" panose="00000400000000000000" pitchFamily="2"/>
            </a:endParaRPr>
          </a:p>
          <a:p>
            <a:pPr marL="0" indent="0" algn="just">
              <a:buNone/>
            </a:pPr>
            <a:r>
              <a:rPr lang="ne-NP" sz="3200" b="1" dirty="0">
                <a:cs typeface="Kalimati" panose="00000400000000000000" pitchFamily="2"/>
              </a:rPr>
              <a:t>क. </a:t>
            </a:r>
            <a:r>
              <a:rPr lang="ne-NP" sz="3200" b="1" u="sng" dirty="0" err="1">
                <a:cs typeface="Kalimati" panose="00000400000000000000" pitchFamily="2"/>
              </a:rPr>
              <a:t>नेतृत्वकर्ताको</a:t>
            </a:r>
            <a:r>
              <a:rPr lang="ne-NP" sz="3200" b="1" u="sng" dirty="0">
                <a:cs typeface="Kalimati" panose="00000400000000000000" pitchFamily="2"/>
              </a:rPr>
              <a:t> भूमिका</a:t>
            </a:r>
          </a:p>
          <a:p>
            <a:pPr marL="0" indent="0" algn="just">
              <a:buNone/>
            </a:pPr>
            <a:endParaRPr lang="ne-NP" sz="3200" dirty="0">
              <a:cs typeface="Kalimati" panose="00000400000000000000" pitchFamily="2"/>
            </a:endParaRPr>
          </a:p>
          <a:p>
            <a:pPr algn="just">
              <a:buFont typeface="Wingdings" panose="05000000000000000000" pitchFamily="2" charset="2"/>
              <a:buChar char="v"/>
            </a:pPr>
            <a:r>
              <a:rPr lang="ne-NP" sz="3200" dirty="0">
                <a:cs typeface="Kalimati" panose="00000400000000000000" pitchFamily="2"/>
              </a:rPr>
              <a:t>जिल्ला अदालत नियमावली, २०७५ को नियम ९६- अदालत व्यवस्थापन समिति।</a:t>
            </a:r>
          </a:p>
          <a:p>
            <a:pPr algn="just">
              <a:buFont typeface="Wingdings" panose="05000000000000000000" pitchFamily="2" charset="2"/>
              <a:buChar char="v"/>
            </a:pPr>
            <a:r>
              <a:rPr lang="ne-NP" sz="3200" dirty="0">
                <a:cs typeface="Kalimati" panose="00000400000000000000" pitchFamily="2"/>
              </a:rPr>
              <a:t>नियम-९७- जिल्ला न्याय क्षेत्र समन्वय समिति ।</a:t>
            </a:r>
          </a:p>
          <a:p>
            <a:pPr algn="just">
              <a:buFont typeface="Wingdings" panose="05000000000000000000" pitchFamily="2" charset="2"/>
              <a:buChar char="v"/>
            </a:pPr>
            <a:r>
              <a:rPr lang="ne-NP" sz="3200" dirty="0">
                <a:cs typeface="Kalimati" panose="00000400000000000000" pitchFamily="2"/>
              </a:rPr>
              <a:t>नियम ९८- पुस्तकालय समिति ।</a:t>
            </a:r>
          </a:p>
          <a:p>
            <a:pPr algn="just">
              <a:buFont typeface="Wingdings" panose="05000000000000000000" pitchFamily="2" charset="2"/>
              <a:buChar char="v"/>
            </a:pPr>
            <a:r>
              <a:rPr lang="ne-NP" sz="3200" dirty="0">
                <a:cs typeface="Kalimati" panose="00000400000000000000" pitchFamily="2"/>
              </a:rPr>
              <a:t>नियम ९९- योजना तर्जुमा तथा कार्यान्वयन समिति ।</a:t>
            </a:r>
          </a:p>
          <a:p>
            <a:pPr algn="just">
              <a:buFont typeface="Wingdings" panose="05000000000000000000" pitchFamily="2" charset="2"/>
              <a:buChar char="v"/>
            </a:pPr>
            <a:r>
              <a:rPr lang="ne-NP" sz="3200" dirty="0">
                <a:cs typeface="Kalimati" panose="00000400000000000000" pitchFamily="2"/>
              </a:rPr>
              <a:t>नियम १००- सूचना प्रविधि समिति ।</a:t>
            </a:r>
          </a:p>
          <a:p>
            <a:pPr algn="just">
              <a:buFont typeface="Wingdings" panose="05000000000000000000" pitchFamily="2" charset="2"/>
              <a:buChar char="Ø"/>
            </a:pPr>
            <a:r>
              <a:rPr lang="ne-NP" sz="3200" dirty="0">
                <a:cs typeface="Kalimati" panose="00000400000000000000" pitchFamily="2"/>
              </a:rPr>
              <a:t>असहाय, अशक्त, नाबालक, आर्थिक रूपमा विपन्न र थुनुवाको तर्फबाट प्रति- रक्षा गर्न वैतनिक </a:t>
            </a:r>
            <a:r>
              <a:rPr lang="ne-NP" sz="3200" dirty="0" err="1">
                <a:cs typeface="Kalimati" panose="00000400000000000000" pitchFamily="2"/>
              </a:rPr>
              <a:t>कानून</a:t>
            </a:r>
            <a:r>
              <a:rPr lang="ne-NP" sz="3200" dirty="0">
                <a:cs typeface="Kalimati" panose="00000400000000000000" pitchFamily="2"/>
              </a:rPr>
              <a:t> व्यवसायी नियुक्ति ।</a:t>
            </a: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8ACBF88B-B40E-BFF5-15F4-094BCD7B23AE}"/>
              </a:ext>
            </a:extLst>
          </p:cNvPr>
          <p:cNvSpPr>
            <a:spLocks noGrp="1"/>
          </p:cNvSpPr>
          <p:nvPr>
            <p:ph type="sldNum" sz="quarter" idx="12"/>
          </p:nvPr>
        </p:nvSpPr>
        <p:spPr/>
        <p:txBody>
          <a:bodyPr/>
          <a:lstStyle/>
          <a:p>
            <a:fld id="{7622E865-B2C1-4A41-88CD-3656CF28B604}" type="slidenum">
              <a:rPr lang="en-US" smtClean="0"/>
              <a:t>30</a:t>
            </a:fld>
            <a:endParaRPr lang="en-US"/>
          </a:p>
        </p:txBody>
      </p:sp>
    </p:spTree>
    <p:extLst>
      <p:ext uri="{BB962C8B-B14F-4D97-AF65-F5344CB8AC3E}">
        <p14:creationId xmlns:p14="http://schemas.microsoft.com/office/powerpoint/2010/main" val="2614298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FBE32-262F-446D-9DD5-41F33F585D56}"/>
              </a:ext>
            </a:extLst>
          </p:cNvPr>
          <p:cNvSpPr>
            <a:spLocks noGrp="1"/>
          </p:cNvSpPr>
          <p:nvPr>
            <p:ph type="title"/>
          </p:nvPr>
        </p:nvSpPr>
        <p:spPr>
          <a:xfrm>
            <a:off x="838200" y="202368"/>
            <a:ext cx="10515600" cy="246812"/>
          </a:xfrm>
        </p:spPr>
        <p:txBody>
          <a:bodyPr>
            <a:noAutofit/>
          </a:bodyPr>
          <a:lstStyle/>
          <a:p>
            <a:pPr algn="ctr"/>
            <a:br>
              <a:rPr lang="en-US" sz="3200" b="1" u="sng" dirty="0">
                <a:latin typeface="+mn-lt"/>
              </a:rPr>
            </a:br>
            <a:r>
              <a:rPr lang="en-US" sz="3200" b="1" u="sng" dirty="0">
                <a:latin typeface="+mn-lt"/>
              </a:rPr>
              <a:t>6 - 1 Rules for a leader</a:t>
            </a:r>
            <a:br>
              <a:rPr lang="en-US" sz="3200" dirty="0">
                <a:latin typeface="+mn-lt"/>
              </a:rPr>
            </a:br>
            <a:endParaRPr lang="en-US" sz="3200" dirty="0">
              <a:latin typeface="+mn-lt"/>
            </a:endParaRPr>
          </a:p>
        </p:txBody>
      </p:sp>
      <p:sp>
        <p:nvSpPr>
          <p:cNvPr id="3" name="Content Placeholder 2">
            <a:extLst>
              <a:ext uri="{FF2B5EF4-FFF2-40B4-BE49-F238E27FC236}">
                <a16:creationId xmlns:a16="http://schemas.microsoft.com/office/drawing/2014/main" id="{62A9B9ED-2F87-DA05-181B-0FED40238389}"/>
              </a:ext>
            </a:extLst>
          </p:cNvPr>
          <p:cNvSpPr>
            <a:spLocks noGrp="1"/>
          </p:cNvSpPr>
          <p:nvPr>
            <p:ph idx="1"/>
          </p:nvPr>
        </p:nvSpPr>
        <p:spPr>
          <a:xfrm>
            <a:off x="269823" y="593558"/>
            <a:ext cx="11767279" cy="6062075"/>
          </a:xfrm>
        </p:spPr>
        <p:txBody>
          <a:bodyPr>
            <a:noAutofit/>
          </a:bodyPr>
          <a:lstStyle/>
          <a:p>
            <a:pPr algn="just">
              <a:buFont typeface="Wingdings" panose="05000000000000000000" pitchFamily="2" charset="2"/>
              <a:buChar char="v"/>
            </a:pPr>
            <a:r>
              <a:rPr lang="en-US" sz="3000" dirty="0">
                <a:cs typeface="Kalimati" panose="00000400000000000000" pitchFamily="2"/>
              </a:rPr>
              <a:t>6. I admit I made a mistake </a:t>
            </a:r>
            <a:r>
              <a:rPr lang="ne-NP" sz="3000" dirty="0">
                <a:cs typeface="Kalimati" panose="00000400000000000000" pitchFamily="2"/>
              </a:rPr>
              <a:t>(अरूलाई दोष नदिएर आफूले गल्ती स्विकार्नु),</a:t>
            </a:r>
          </a:p>
          <a:p>
            <a:pPr algn="just">
              <a:buFont typeface="Wingdings" panose="05000000000000000000" pitchFamily="2" charset="2"/>
              <a:buChar char="v"/>
            </a:pPr>
            <a:r>
              <a:rPr lang="en-US" sz="3000" dirty="0">
                <a:cs typeface="Kalimati" panose="00000400000000000000" pitchFamily="2"/>
              </a:rPr>
              <a:t>5. You did a good job</a:t>
            </a:r>
            <a:r>
              <a:rPr lang="ne-NP" sz="3000" dirty="0">
                <a:cs typeface="Kalimati" panose="00000400000000000000" pitchFamily="2"/>
              </a:rPr>
              <a:t> (अरूको कामको प्रशंसा गर्नु),</a:t>
            </a:r>
          </a:p>
          <a:p>
            <a:pPr algn="just">
              <a:buFont typeface="Wingdings" panose="05000000000000000000" pitchFamily="2" charset="2"/>
              <a:buChar char="v"/>
            </a:pPr>
            <a:r>
              <a:rPr lang="en-US" sz="3000" dirty="0">
                <a:cs typeface="Kalimati" panose="00000400000000000000" pitchFamily="2"/>
              </a:rPr>
              <a:t>4. What is your opinion</a:t>
            </a:r>
            <a:r>
              <a:rPr lang="ne-NP" sz="3000" dirty="0">
                <a:cs typeface="Kalimati" panose="00000400000000000000" pitchFamily="2"/>
              </a:rPr>
              <a:t> (राय सल्लाह लिएर काम गर्नु),</a:t>
            </a:r>
          </a:p>
          <a:p>
            <a:pPr algn="just">
              <a:buFont typeface="Wingdings" panose="05000000000000000000" pitchFamily="2" charset="2"/>
              <a:buChar char="v"/>
            </a:pPr>
            <a:r>
              <a:rPr lang="en-US" sz="3000" dirty="0">
                <a:cs typeface="Kalimati" panose="00000400000000000000" pitchFamily="2"/>
              </a:rPr>
              <a:t>3. If you please</a:t>
            </a:r>
            <a:r>
              <a:rPr lang="ne-NP" sz="3000" dirty="0">
                <a:cs typeface="Kalimati" panose="00000400000000000000" pitchFamily="2"/>
              </a:rPr>
              <a:t> (नरम र मीठो बोल्नु),</a:t>
            </a:r>
          </a:p>
          <a:p>
            <a:pPr algn="just">
              <a:buFont typeface="Wingdings" panose="05000000000000000000" pitchFamily="2" charset="2"/>
              <a:buChar char="v"/>
            </a:pPr>
            <a:r>
              <a:rPr lang="en-US" sz="3000" dirty="0">
                <a:cs typeface="Kalimati" panose="00000400000000000000" pitchFamily="2"/>
              </a:rPr>
              <a:t>2. Thank you</a:t>
            </a:r>
            <a:r>
              <a:rPr lang="ne-NP" sz="3000" dirty="0">
                <a:cs typeface="Kalimati" panose="00000400000000000000" pitchFamily="2"/>
              </a:rPr>
              <a:t> (काम सकिए पछि धन्यवाद दिनु),</a:t>
            </a:r>
          </a:p>
          <a:p>
            <a:pPr algn="just">
              <a:buFont typeface="Wingdings" panose="05000000000000000000" pitchFamily="2" charset="2"/>
              <a:buChar char="v"/>
            </a:pPr>
            <a:r>
              <a:rPr lang="en-US" sz="3000" dirty="0">
                <a:cs typeface="Kalimati" panose="00000400000000000000" pitchFamily="2"/>
              </a:rPr>
              <a:t>1. We / I </a:t>
            </a:r>
            <a:r>
              <a:rPr lang="ne-NP" sz="3000" dirty="0">
                <a:cs typeface="Kalimati" panose="00000400000000000000" pitchFamily="2"/>
              </a:rPr>
              <a:t>(काम सफल भएमा जस सबैलाई दिनु</a:t>
            </a:r>
            <a:r>
              <a:rPr lang="en-US" sz="3000" dirty="0">
                <a:cs typeface="Kalimati" panose="00000400000000000000" pitchFamily="2"/>
              </a:rPr>
              <a:t> (We)</a:t>
            </a:r>
            <a:r>
              <a:rPr lang="ne-NP" sz="3000" dirty="0">
                <a:cs typeface="Kalimati" panose="00000400000000000000" pitchFamily="2"/>
              </a:rPr>
              <a:t> र गल्ती भएमा त्यसको जिम्मेवारी आफूले </a:t>
            </a:r>
            <a:r>
              <a:rPr lang="ne-NP" sz="3000" dirty="0" err="1">
                <a:cs typeface="Kalimati" panose="00000400000000000000" pitchFamily="2"/>
              </a:rPr>
              <a:t>लिनु</a:t>
            </a:r>
            <a:r>
              <a:rPr lang="en-US" sz="3000" dirty="0">
                <a:cs typeface="Kalimati" panose="00000400000000000000" pitchFamily="2"/>
              </a:rPr>
              <a:t> (I)</a:t>
            </a:r>
            <a:r>
              <a:rPr lang="ne-NP" sz="3000" dirty="0">
                <a:cs typeface="Kalimati" panose="00000400000000000000" pitchFamily="2"/>
              </a:rPr>
              <a:t>।</a:t>
            </a:r>
          </a:p>
          <a:p>
            <a:pPr algn="just">
              <a:buFont typeface="Wingdings" panose="05000000000000000000" pitchFamily="2" charset="2"/>
              <a:buChar char="v"/>
            </a:pPr>
            <a:r>
              <a:rPr lang="en-US" sz="3000" dirty="0">
                <a:cs typeface="Kalimati" panose="00000400000000000000" pitchFamily="2"/>
              </a:rPr>
              <a:t>A true leader doesn’t create separation. A true leader brings people together.</a:t>
            </a:r>
          </a:p>
          <a:p>
            <a:pPr marL="0" indent="0" algn="r">
              <a:buNone/>
            </a:pPr>
            <a:r>
              <a:rPr lang="en-US" sz="3000" b="1" dirty="0">
                <a:cs typeface="Kalimati" panose="00000400000000000000" pitchFamily="2"/>
              </a:rPr>
              <a:t>-Neale Donald Walsch, an US author.</a:t>
            </a:r>
          </a:p>
          <a:p>
            <a:pPr algn="just">
              <a:buFont typeface="Wingdings" panose="05000000000000000000" pitchFamily="2" charset="2"/>
              <a:buChar char="v"/>
            </a:pPr>
            <a:r>
              <a:rPr lang="en-US" sz="3000" dirty="0">
                <a:cs typeface="Kalimati" panose="00000400000000000000" pitchFamily="2"/>
              </a:rPr>
              <a:t>A leader is one who knows the way, goes the way and shows the way.</a:t>
            </a:r>
          </a:p>
          <a:p>
            <a:pPr marL="0" indent="0" algn="r">
              <a:buNone/>
            </a:pPr>
            <a:r>
              <a:rPr lang="en-US" sz="3000" dirty="0">
                <a:cs typeface="Kalimati" panose="00000400000000000000" pitchFamily="2"/>
              </a:rPr>
              <a:t> – </a:t>
            </a:r>
            <a:r>
              <a:rPr lang="en-US" sz="3000" b="1" dirty="0">
                <a:cs typeface="Kalimati" panose="00000400000000000000" pitchFamily="2"/>
              </a:rPr>
              <a:t>John C. Maxwell</a:t>
            </a:r>
            <a:endParaRPr lang="en-US" sz="3000" dirty="0">
              <a:cs typeface="Kalimati" panose="00000400000000000000" pitchFamily="2"/>
            </a:endParaRPr>
          </a:p>
          <a:p>
            <a:pPr algn="just"/>
            <a:endParaRPr lang="en-US" sz="3000" dirty="0">
              <a:cs typeface="Kalimati" panose="00000400000000000000" pitchFamily="2"/>
            </a:endParaRPr>
          </a:p>
        </p:txBody>
      </p:sp>
      <p:sp>
        <p:nvSpPr>
          <p:cNvPr id="4" name="Slide Number Placeholder 3">
            <a:extLst>
              <a:ext uri="{FF2B5EF4-FFF2-40B4-BE49-F238E27FC236}">
                <a16:creationId xmlns:a16="http://schemas.microsoft.com/office/drawing/2014/main" id="{E407E0AE-B9A4-695D-07CB-311DDD7AEF4F}"/>
              </a:ext>
            </a:extLst>
          </p:cNvPr>
          <p:cNvSpPr>
            <a:spLocks noGrp="1"/>
          </p:cNvSpPr>
          <p:nvPr>
            <p:ph type="sldNum" sz="quarter" idx="12"/>
          </p:nvPr>
        </p:nvSpPr>
        <p:spPr/>
        <p:txBody>
          <a:bodyPr/>
          <a:lstStyle/>
          <a:p>
            <a:fld id="{7622E865-B2C1-4A41-88CD-3656CF28B604}" type="slidenum">
              <a:rPr lang="en-US" smtClean="0"/>
              <a:t>31</a:t>
            </a:fld>
            <a:endParaRPr lang="en-US"/>
          </a:p>
        </p:txBody>
      </p:sp>
    </p:spTree>
    <p:extLst>
      <p:ext uri="{BB962C8B-B14F-4D97-AF65-F5344CB8AC3E}">
        <p14:creationId xmlns:p14="http://schemas.microsoft.com/office/powerpoint/2010/main" val="1482381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 calcmode="lin" valueType="num">
                                      <p:cBhvr additive="base">
                                        <p:cTn id="5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33C76-6A0E-3CF2-687A-1E2DCC0D4FBC}"/>
              </a:ext>
            </a:extLst>
          </p:cNvPr>
          <p:cNvSpPr>
            <a:spLocks noGrp="1"/>
          </p:cNvSpPr>
          <p:nvPr>
            <p:ph type="title"/>
          </p:nvPr>
        </p:nvSpPr>
        <p:spPr>
          <a:xfrm>
            <a:off x="838200" y="134912"/>
            <a:ext cx="10515600" cy="546126"/>
          </a:xfrm>
        </p:spPr>
        <p:txBody>
          <a:bodyPr>
            <a:normAutofit/>
          </a:bodyPr>
          <a:lstStyle/>
          <a:p>
            <a:pPr algn="ctr"/>
            <a:r>
              <a:rPr lang="en-US" sz="2800" b="1" u="sng" dirty="0">
                <a:latin typeface="+mn-lt"/>
              </a:rPr>
              <a:t>Differences between a Boss and a Leader</a:t>
            </a:r>
          </a:p>
        </p:txBody>
      </p:sp>
      <p:sp>
        <p:nvSpPr>
          <p:cNvPr id="3" name="Content Placeholder 2">
            <a:extLst>
              <a:ext uri="{FF2B5EF4-FFF2-40B4-BE49-F238E27FC236}">
                <a16:creationId xmlns:a16="http://schemas.microsoft.com/office/drawing/2014/main" id="{B3967B65-EECD-5FA7-34B6-82094420A4CB}"/>
              </a:ext>
            </a:extLst>
          </p:cNvPr>
          <p:cNvSpPr>
            <a:spLocks noGrp="1"/>
          </p:cNvSpPr>
          <p:nvPr>
            <p:ph idx="1"/>
          </p:nvPr>
        </p:nvSpPr>
        <p:spPr>
          <a:xfrm>
            <a:off x="179881" y="681038"/>
            <a:ext cx="11842229" cy="6040437"/>
          </a:xfrm>
        </p:spPr>
        <p:txBody>
          <a:bodyPr>
            <a:normAutofit/>
          </a:bodyPr>
          <a:lstStyle/>
          <a:p>
            <a:pPr algn="just">
              <a:buFont typeface="Wingdings" panose="05000000000000000000" pitchFamily="2" charset="2"/>
              <a:buChar char="v"/>
            </a:pPr>
            <a:r>
              <a:rPr lang="en-US" sz="3200" dirty="0"/>
              <a:t>The boss drives his men; the leader coaches them.</a:t>
            </a:r>
          </a:p>
          <a:p>
            <a:pPr algn="just">
              <a:buFont typeface="Wingdings" panose="05000000000000000000" pitchFamily="2" charset="2"/>
              <a:buChar char="v"/>
            </a:pPr>
            <a:r>
              <a:rPr lang="en-US" sz="3200" dirty="0"/>
              <a:t>The boss depends upon authority; the leader on goodwill.</a:t>
            </a:r>
          </a:p>
          <a:p>
            <a:pPr algn="just">
              <a:buFont typeface="Wingdings" panose="05000000000000000000" pitchFamily="2" charset="2"/>
              <a:buChar char="v"/>
            </a:pPr>
            <a:r>
              <a:rPr lang="en-US" sz="3200" dirty="0"/>
              <a:t>The boss inspires fear; the leader inspires enthusiasm.</a:t>
            </a:r>
          </a:p>
          <a:p>
            <a:pPr algn="just">
              <a:buFont typeface="Wingdings" panose="05000000000000000000" pitchFamily="2" charset="2"/>
              <a:buChar char="v"/>
            </a:pPr>
            <a:r>
              <a:rPr lang="en-US" sz="3200" dirty="0"/>
              <a:t>The boss says “I”; the leader says “WE.”</a:t>
            </a:r>
          </a:p>
          <a:p>
            <a:pPr algn="just">
              <a:buFont typeface="Wingdings" panose="05000000000000000000" pitchFamily="2" charset="2"/>
              <a:buChar char="v"/>
            </a:pPr>
            <a:r>
              <a:rPr lang="en-US" sz="3200" dirty="0"/>
              <a:t>The boss fixed the blame for breakdown; the leader fixed the breakdown.</a:t>
            </a:r>
          </a:p>
          <a:p>
            <a:pPr algn="just">
              <a:buFont typeface="Wingdings" panose="05000000000000000000" pitchFamily="2" charset="2"/>
              <a:buChar char="v"/>
            </a:pPr>
            <a:r>
              <a:rPr lang="en-US" sz="3200" dirty="0"/>
              <a:t>The boss says ‘go’; the leader says ‘let’s go.’</a:t>
            </a:r>
            <a:endParaRPr lang="ne-NP" sz="3200" dirty="0"/>
          </a:p>
          <a:p>
            <a:pPr marL="0" indent="0" algn="just">
              <a:buNone/>
            </a:pPr>
            <a:endParaRPr lang="ne-NP" sz="3200" dirty="0"/>
          </a:p>
          <a:p>
            <a:pPr algn="just">
              <a:buFont typeface="Wingdings" panose="05000000000000000000" pitchFamily="2" charset="2"/>
              <a:buChar char="v"/>
            </a:pPr>
            <a:endParaRPr lang="en-US" sz="3200" dirty="0">
              <a:cs typeface="Kalimati" panose="00000400000000000000" pitchFamily="2"/>
            </a:endParaRPr>
          </a:p>
          <a:p>
            <a:pPr marL="0" indent="0" algn="just">
              <a:buNone/>
            </a:pPr>
            <a:r>
              <a:rPr lang="ne-NP" sz="3200" b="1" dirty="0">
                <a:cs typeface="Kalimati" panose="00000400000000000000" pitchFamily="2"/>
              </a:rPr>
              <a:t> नेतृत्व पद होइन, कार्य र जिम्मेवारी हो ।</a:t>
            </a:r>
          </a:p>
          <a:p>
            <a:pPr marL="0" indent="0" algn="just">
              <a:buNone/>
            </a:pPr>
            <a:endParaRPr lang="en-US" sz="3200" dirty="0"/>
          </a:p>
        </p:txBody>
      </p:sp>
      <p:sp>
        <p:nvSpPr>
          <p:cNvPr id="4" name="Slide Number Placeholder 3">
            <a:extLst>
              <a:ext uri="{FF2B5EF4-FFF2-40B4-BE49-F238E27FC236}">
                <a16:creationId xmlns:a16="http://schemas.microsoft.com/office/drawing/2014/main" id="{67513D3E-6DD3-0B43-0BF7-F1A255F167AF}"/>
              </a:ext>
            </a:extLst>
          </p:cNvPr>
          <p:cNvSpPr>
            <a:spLocks noGrp="1"/>
          </p:cNvSpPr>
          <p:nvPr>
            <p:ph type="sldNum" sz="quarter" idx="12"/>
          </p:nvPr>
        </p:nvSpPr>
        <p:spPr/>
        <p:txBody>
          <a:bodyPr/>
          <a:lstStyle/>
          <a:p>
            <a:fld id="{7622E865-B2C1-4A41-88CD-3656CF28B604}" type="slidenum">
              <a:rPr lang="en-US" smtClean="0"/>
              <a:t>32</a:t>
            </a:fld>
            <a:endParaRPr lang="en-US"/>
          </a:p>
        </p:txBody>
      </p:sp>
    </p:spTree>
    <p:extLst>
      <p:ext uri="{BB962C8B-B14F-4D97-AF65-F5344CB8AC3E}">
        <p14:creationId xmlns:p14="http://schemas.microsoft.com/office/powerpoint/2010/main" val="291663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53A8D-A0B8-70E7-CEFE-13FFCDEB351C}"/>
              </a:ext>
            </a:extLst>
          </p:cNvPr>
          <p:cNvSpPr>
            <a:spLocks noGrp="1"/>
          </p:cNvSpPr>
          <p:nvPr>
            <p:ph type="title"/>
          </p:nvPr>
        </p:nvSpPr>
        <p:spPr>
          <a:xfrm>
            <a:off x="838200" y="136525"/>
            <a:ext cx="10515600" cy="523042"/>
          </a:xfrm>
        </p:spPr>
        <p:txBody>
          <a:bodyPr>
            <a:noAutofit/>
          </a:bodyPr>
          <a:lstStyle/>
          <a:p>
            <a:r>
              <a:rPr lang="ne-NP" sz="3200" b="1" dirty="0">
                <a:cs typeface="Kalimati" panose="00000400000000000000" pitchFamily="2"/>
              </a:rPr>
              <a:t>ख. </a:t>
            </a:r>
            <a:r>
              <a:rPr lang="ne-NP" sz="3200" b="1" u="sng" dirty="0">
                <a:cs typeface="Kalimati" panose="00000400000000000000" pitchFamily="2"/>
              </a:rPr>
              <a:t>विविध </a:t>
            </a:r>
            <a:r>
              <a:rPr lang="ne-NP" sz="3200" b="1" u="sng" dirty="0" err="1">
                <a:cs typeface="Kalimati" panose="00000400000000000000" pitchFamily="2"/>
              </a:rPr>
              <a:t>कानूनी</a:t>
            </a:r>
            <a:r>
              <a:rPr lang="ne-NP" sz="3200" b="1" u="sng" dirty="0">
                <a:cs typeface="Kalimati" panose="00000400000000000000" pitchFamily="2"/>
              </a:rPr>
              <a:t> भूमिका</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1744FC35-1281-9EEC-32D6-981569849957}"/>
              </a:ext>
            </a:extLst>
          </p:cNvPr>
          <p:cNvSpPr>
            <a:spLocks noGrp="1"/>
          </p:cNvSpPr>
          <p:nvPr>
            <p:ph idx="1"/>
          </p:nvPr>
        </p:nvSpPr>
        <p:spPr>
          <a:xfrm>
            <a:off x="194872" y="779489"/>
            <a:ext cx="11857220" cy="5941986"/>
          </a:xfrm>
        </p:spPr>
        <p:txBody>
          <a:bodyPr>
            <a:normAutofit/>
          </a:bodyPr>
          <a:lstStyle/>
          <a:p>
            <a:pPr algn="just">
              <a:buFont typeface="Wingdings" panose="05000000000000000000" pitchFamily="2" charset="2"/>
              <a:buChar char="v"/>
            </a:pPr>
            <a:r>
              <a:rPr lang="ne-NP" sz="3200" dirty="0">
                <a:cs typeface="Kalimati" panose="00000400000000000000" pitchFamily="2"/>
              </a:rPr>
              <a:t>विवाह दर्ता गराउने र प्रमाणपत्र दिने (मुलुकी देवानी (संहिता) ऐनको दफा ७७-८०),</a:t>
            </a:r>
          </a:p>
          <a:p>
            <a:pPr algn="just">
              <a:buFont typeface="Wingdings" panose="05000000000000000000" pitchFamily="2" charset="2"/>
              <a:buChar char="v"/>
            </a:pPr>
            <a:r>
              <a:rPr lang="ne-NP" sz="3200" dirty="0">
                <a:cs typeface="Kalimati" panose="00000400000000000000" pitchFamily="2"/>
              </a:rPr>
              <a:t>असक्षम र </a:t>
            </a:r>
            <a:r>
              <a:rPr lang="ne-NP" sz="3200" dirty="0" err="1">
                <a:cs typeface="Kalimati" panose="00000400000000000000" pitchFamily="2"/>
              </a:rPr>
              <a:t>अर्धसक्षम</a:t>
            </a:r>
            <a:r>
              <a:rPr lang="ne-NP" sz="3200" dirty="0">
                <a:cs typeface="Kalimati" panose="00000400000000000000" pitchFamily="2"/>
              </a:rPr>
              <a:t> व्यक्तिको संरक्षक नियुक्त गर्ने (ऐ को दफा १३९),</a:t>
            </a:r>
          </a:p>
          <a:p>
            <a:pPr algn="just">
              <a:buFont typeface="Wingdings" panose="05000000000000000000" pitchFamily="2" charset="2"/>
              <a:buChar char="v"/>
            </a:pPr>
            <a:r>
              <a:rPr lang="ne-NP" sz="3200" dirty="0">
                <a:cs typeface="Kalimati" panose="00000400000000000000" pitchFamily="2"/>
              </a:rPr>
              <a:t>असक्षम र </a:t>
            </a:r>
            <a:r>
              <a:rPr lang="ne-NP" sz="3200" dirty="0" err="1">
                <a:cs typeface="Kalimati" panose="00000400000000000000" pitchFamily="2"/>
              </a:rPr>
              <a:t>अर्धसक्षम</a:t>
            </a:r>
            <a:r>
              <a:rPr lang="ne-NP" sz="3200" dirty="0">
                <a:cs typeface="Kalimati" panose="00000400000000000000" pitchFamily="2"/>
              </a:rPr>
              <a:t> व्यक्तिको माथवर नियुक्त गर्ने (ऐ को दफा १५७),</a:t>
            </a:r>
          </a:p>
          <a:p>
            <a:pPr algn="just">
              <a:buFont typeface="Wingdings" panose="05000000000000000000" pitchFamily="2" charset="2"/>
              <a:buChar char="v"/>
            </a:pPr>
            <a:r>
              <a:rPr lang="ne-NP" sz="3200" dirty="0">
                <a:cs typeface="Kalimati" panose="00000400000000000000" pitchFamily="2"/>
              </a:rPr>
              <a:t>अधिकृत वारेसनामा प्रमाणित गर्ने (</a:t>
            </a:r>
            <a:r>
              <a:rPr lang="ne-NP" sz="3200" dirty="0" err="1">
                <a:cs typeface="Kalimati" panose="00000400000000000000" pitchFamily="2"/>
              </a:rPr>
              <a:t>मुदेकासं</a:t>
            </a:r>
            <a:r>
              <a:rPr lang="ne-NP" sz="3200" dirty="0">
                <a:cs typeface="Kalimati" panose="00000400000000000000" pitchFamily="2"/>
              </a:rPr>
              <a:t> ऐनको दफा १५३),</a:t>
            </a:r>
            <a:endParaRPr lang="en-US" sz="3200" dirty="0">
              <a:cs typeface="Kalimati" panose="00000400000000000000" pitchFamily="2"/>
            </a:endParaRPr>
          </a:p>
          <a:p>
            <a:pPr algn="just">
              <a:buFont typeface="Wingdings" panose="05000000000000000000" pitchFamily="2" charset="2"/>
              <a:buChar char="v"/>
            </a:pPr>
            <a:r>
              <a:rPr lang="ne-NP" sz="3200" dirty="0">
                <a:cs typeface="Kalimati" panose="00000400000000000000" pitchFamily="2"/>
              </a:rPr>
              <a:t>स्थानीय निकाय (</a:t>
            </a:r>
            <a:r>
              <a:rPr lang="ne-NP" sz="3200" dirty="0" err="1">
                <a:cs typeface="Kalimati" panose="00000400000000000000" pitchFamily="2"/>
              </a:rPr>
              <a:t>गाउँपालिकाको</a:t>
            </a:r>
            <a:r>
              <a:rPr lang="ne-NP" sz="3200" dirty="0">
                <a:cs typeface="Kalimati" panose="00000400000000000000" pitchFamily="2"/>
              </a:rPr>
              <a:t> अध्यक्ष र नगर</a:t>
            </a:r>
            <a:r>
              <a:rPr lang="en-US" sz="3200" dirty="0">
                <a:cs typeface="Kalimati" panose="00000400000000000000" pitchFamily="2"/>
              </a:rPr>
              <a:t> /</a:t>
            </a:r>
            <a:r>
              <a:rPr lang="ne-NP" sz="3200" dirty="0">
                <a:cs typeface="Kalimati" panose="00000400000000000000" pitchFamily="2"/>
              </a:rPr>
              <a:t> उप-</a:t>
            </a:r>
            <a:r>
              <a:rPr lang="ne-NP" sz="3200" dirty="0" err="1">
                <a:cs typeface="Kalimati" panose="00000400000000000000" pitchFamily="2"/>
              </a:rPr>
              <a:t>महानगर</a:t>
            </a:r>
            <a:r>
              <a:rPr lang="ne-NP" sz="3200" dirty="0">
                <a:cs typeface="Kalimati" panose="00000400000000000000" pitchFamily="2"/>
              </a:rPr>
              <a:t> र महा</a:t>
            </a:r>
            <a:r>
              <a:rPr lang="en-US" sz="3200" dirty="0">
                <a:cs typeface="Kalimati" panose="00000400000000000000" pitchFamily="2"/>
              </a:rPr>
              <a:t>-</a:t>
            </a:r>
            <a:r>
              <a:rPr lang="ne-NP" sz="3200" dirty="0">
                <a:cs typeface="Kalimati" panose="00000400000000000000" pitchFamily="2"/>
              </a:rPr>
              <a:t>नगरपालिकाको प्रमुख) को शपथग्रहण गराउने।(स्थानीय सरकार सञ्चालन ऐन, २०७४ को दफा १०९) ।</a:t>
            </a:r>
            <a:endParaRPr lang="en-US" sz="3200" dirty="0">
              <a:cs typeface="Kalimati" panose="00000400000000000000" pitchFamily="2"/>
            </a:endParaRPr>
          </a:p>
          <a:p>
            <a:pPr algn="just"/>
            <a:endParaRPr lang="en-US" sz="3200" dirty="0"/>
          </a:p>
        </p:txBody>
      </p:sp>
      <p:sp>
        <p:nvSpPr>
          <p:cNvPr id="4" name="Slide Number Placeholder 3">
            <a:extLst>
              <a:ext uri="{FF2B5EF4-FFF2-40B4-BE49-F238E27FC236}">
                <a16:creationId xmlns:a16="http://schemas.microsoft.com/office/drawing/2014/main" id="{C8778973-8AB2-D3F2-0F9D-CE1B85AEE4F4}"/>
              </a:ext>
            </a:extLst>
          </p:cNvPr>
          <p:cNvSpPr>
            <a:spLocks noGrp="1"/>
          </p:cNvSpPr>
          <p:nvPr>
            <p:ph type="sldNum" sz="quarter" idx="12"/>
          </p:nvPr>
        </p:nvSpPr>
        <p:spPr/>
        <p:txBody>
          <a:bodyPr/>
          <a:lstStyle/>
          <a:p>
            <a:fld id="{7622E865-B2C1-4A41-88CD-3656CF28B604}" type="slidenum">
              <a:rPr lang="en-US" smtClean="0"/>
              <a:t>33</a:t>
            </a:fld>
            <a:endParaRPr lang="en-US"/>
          </a:p>
        </p:txBody>
      </p:sp>
    </p:spTree>
    <p:extLst>
      <p:ext uri="{BB962C8B-B14F-4D97-AF65-F5344CB8AC3E}">
        <p14:creationId xmlns:p14="http://schemas.microsoft.com/office/powerpoint/2010/main" val="231787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7ECBE-5978-2C99-556C-4BC63047FA5C}"/>
              </a:ext>
            </a:extLst>
          </p:cNvPr>
          <p:cNvSpPr>
            <a:spLocks noGrp="1"/>
          </p:cNvSpPr>
          <p:nvPr>
            <p:ph type="title"/>
          </p:nvPr>
        </p:nvSpPr>
        <p:spPr>
          <a:xfrm>
            <a:off x="224589" y="136526"/>
            <a:ext cx="11129211" cy="544512"/>
          </a:xfrm>
        </p:spPr>
        <p:txBody>
          <a:bodyPr>
            <a:normAutofit/>
          </a:bodyPr>
          <a:lstStyle/>
          <a:p>
            <a:r>
              <a:rPr lang="ne-NP" sz="3200" b="1" dirty="0">
                <a:cs typeface="Kalimati" panose="00000400000000000000" pitchFamily="2"/>
              </a:rPr>
              <a:t>४. </a:t>
            </a:r>
            <a:r>
              <a:rPr lang="ne-NP" sz="3200" b="1" u="sng" dirty="0">
                <a:cs typeface="Kalimati" panose="00000400000000000000" pitchFamily="2"/>
              </a:rPr>
              <a:t>योजनाकारको भूमिका (</a:t>
            </a:r>
            <a:r>
              <a:rPr lang="ne-NP" sz="3200" b="1" u="sng" dirty="0" err="1">
                <a:cs typeface="Kalimati" panose="00000400000000000000" pitchFamily="2"/>
              </a:rPr>
              <a:t>रणनीतिक</a:t>
            </a:r>
            <a:r>
              <a:rPr lang="ne-NP" sz="3200" b="1" u="sng" dirty="0">
                <a:cs typeface="Kalimati" panose="00000400000000000000" pitchFamily="2"/>
              </a:rPr>
              <a:t> योजना)</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7F1C9404-20FB-76B4-CF9F-F01B9C042802}"/>
              </a:ext>
            </a:extLst>
          </p:cNvPr>
          <p:cNvSpPr>
            <a:spLocks noGrp="1"/>
          </p:cNvSpPr>
          <p:nvPr>
            <p:ph idx="1"/>
          </p:nvPr>
        </p:nvSpPr>
        <p:spPr>
          <a:xfrm>
            <a:off x="224589" y="681038"/>
            <a:ext cx="11790948" cy="6040436"/>
          </a:xfrm>
        </p:spPr>
        <p:txBody>
          <a:bodyPr>
            <a:normAutofit lnSpcReduction="10000"/>
          </a:bodyPr>
          <a:lstStyle/>
          <a:p>
            <a:pPr marL="0" indent="0" algn="just">
              <a:buNone/>
            </a:pPr>
            <a:endParaRPr lang="ne-NP" sz="3200" dirty="0">
              <a:cs typeface="Kalimati" panose="00000400000000000000" pitchFamily="2"/>
            </a:endParaRPr>
          </a:p>
          <a:p>
            <a:pPr algn="just">
              <a:buFont typeface="Wingdings" panose="05000000000000000000" pitchFamily="2" charset="2"/>
              <a:buChar char="v"/>
            </a:pPr>
            <a:r>
              <a:rPr lang="ne-NP" sz="3200" dirty="0">
                <a:cs typeface="Kalimati" panose="00000400000000000000" pitchFamily="2"/>
              </a:rPr>
              <a:t>योजना कार्यान्वयन सम्बन्धी समीक्षा र अन्तरक्रिया, </a:t>
            </a:r>
          </a:p>
          <a:p>
            <a:pPr algn="just">
              <a:buFont typeface="Wingdings" panose="05000000000000000000" pitchFamily="2" charset="2"/>
              <a:buChar char="v"/>
            </a:pPr>
            <a:r>
              <a:rPr lang="ne-NP" sz="3200" dirty="0">
                <a:cs typeface="Kalimati" panose="00000400000000000000" pitchFamily="2"/>
              </a:rPr>
              <a:t>फरक मुद्दा सम्बन्धी व्यवस्थापन कार्यक्रम,</a:t>
            </a:r>
          </a:p>
          <a:p>
            <a:pPr algn="just">
              <a:buFont typeface="Wingdings" panose="05000000000000000000" pitchFamily="2" charset="2"/>
              <a:buChar char="v"/>
            </a:pPr>
            <a:r>
              <a:rPr lang="ne-NP" sz="3200" dirty="0">
                <a:cs typeface="Kalimati" panose="00000400000000000000" pitchFamily="2"/>
              </a:rPr>
              <a:t>पूर्ण बैठक (फूल कोर्ट),</a:t>
            </a:r>
          </a:p>
          <a:p>
            <a:pPr algn="just">
              <a:buFont typeface="Wingdings" panose="05000000000000000000" pitchFamily="2" charset="2"/>
              <a:buChar char="v"/>
            </a:pPr>
            <a:r>
              <a:rPr lang="ne-NP" sz="3200" dirty="0">
                <a:cs typeface="Kalimati" panose="00000400000000000000" pitchFamily="2"/>
              </a:rPr>
              <a:t>वैतनिक </a:t>
            </a:r>
            <a:r>
              <a:rPr lang="ne-NP" sz="3200" dirty="0" err="1">
                <a:cs typeface="Kalimati" panose="00000400000000000000" pitchFamily="2"/>
              </a:rPr>
              <a:t>कानून</a:t>
            </a:r>
            <a:r>
              <a:rPr lang="ne-NP" sz="3200" dirty="0">
                <a:cs typeface="Kalimati" panose="00000400000000000000" pitchFamily="2"/>
              </a:rPr>
              <a:t> </a:t>
            </a:r>
            <a:r>
              <a:rPr lang="ne-NP" sz="3200" dirty="0" err="1">
                <a:cs typeface="Kalimati" panose="00000400000000000000" pitchFamily="2"/>
              </a:rPr>
              <a:t>व्यवसायीबाट</a:t>
            </a:r>
            <a:r>
              <a:rPr lang="ne-NP" sz="3200" dirty="0">
                <a:cs typeface="Kalimati" panose="00000400000000000000" pitchFamily="2"/>
              </a:rPr>
              <a:t> कारागार भ्रमण,</a:t>
            </a:r>
          </a:p>
          <a:p>
            <a:pPr algn="just">
              <a:buFont typeface="Wingdings" panose="05000000000000000000" pitchFamily="2" charset="2"/>
              <a:buChar char="v"/>
            </a:pPr>
            <a:r>
              <a:rPr lang="ne-NP" sz="3200" dirty="0">
                <a:cs typeface="Kalimati" panose="00000400000000000000" pitchFamily="2"/>
              </a:rPr>
              <a:t>वार-</a:t>
            </a:r>
            <a:r>
              <a:rPr lang="ne-NP" sz="3200" dirty="0" err="1">
                <a:cs typeface="Kalimati" panose="00000400000000000000" pitchFamily="2"/>
              </a:rPr>
              <a:t>बेञ्च</a:t>
            </a:r>
            <a:r>
              <a:rPr lang="ne-NP" sz="3200" dirty="0">
                <a:cs typeface="Kalimati" panose="00000400000000000000" pitchFamily="2"/>
              </a:rPr>
              <a:t> अन्तरक्रिया,</a:t>
            </a:r>
          </a:p>
          <a:p>
            <a:pPr algn="just">
              <a:buFont typeface="Wingdings" panose="05000000000000000000" pitchFamily="2" charset="2"/>
              <a:buChar char="v"/>
            </a:pPr>
            <a:r>
              <a:rPr lang="ne-NP" sz="3200" dirty="0">
                <a:cs typeface="Kalimati" panose="00000400000000000000" pitchFamily="2"/>
              </a:rPr>
              <a:t>मेलमिलाप सम्बन्धी कार्यक्रम,</a:t>
            </a:r>
          </a:p>
          <a:p>
            <a:pPr algn="just">
              <a:buFont typeface="Wingdings" panose="05000000000000000000" pitchFamily="2" charset="2"/>
              <a:buChar char="v"/>
            </a:pPr>
            <a:r>
              <a:rPr lang="ne-NP" sz="3200" dirty="0">
                <a:cs typeface="Kalimati" panose="00000400000000000000" pitchFamily="2"/>
              </a:rPr>
              <a:t>कर्मचारीसँग अन्तरक्रिया,</a:t>
            </a:r>
          </a:p>
          <a:p>
            <a:pPr algn="just">
              <a:buFont typeface="Wingdings" panose="05000000000000000000" pitchFamily="2" charset="2"/>
              <a:buChar char="v"/>
            </a:pPr>
            <a:r>
              <a:rPr lang="ne-NP" sz="3200" dirty="0">
                <a:cs typeface="Kalimati" panose="00000400000000000000" pitchFamily="2"/>
              </a:rPr>
              <a:t>कागजात सडाउने,</a:t>
            </a:r>
          </a:p>
          <a:p>
            <a:pPr algn="just">
              <a:buFont typeface="Wingdings" panose="05000000000000000000" pitchFamily="2" charset="2"/>
              <a:buChar char="v"/>
            </a:pPr>
            <a:r>
              <a:rPr lang="en-US" sz="3200" dirty="0">
                <a:cs typeface="Kalimati" panose="00000400000000000000" pitchFamily="2"/>
              </a:rPr>
              <a:t>Judicial outreach program</a:t>
            </a:r>
            <a:r>
              <a:rPr lang="ne-NP" sz="3200" dirty="0">
                <a:cs typeface="Kalimati" panose="00000400000000000000" pitchFamily="2"/>
              </a:rPr>
              <a:t>,</a:t>
            </a:r>
            <a:r>
              <a:rPr lang="en-US" sz="3200" dirty="0">
                <a:cs typeface="Kalimati" panose="00000400000000000000" pitchFamily="2"/>
              </a:rPr>
              <a:t> </a:t>
            </a:r>
          </a:p>
          <a:p>
            <a:pPr algn="just">
              <a:buFont typeface="Wingdings" panose="05000000000000000000" pitchFamily="2" charset="2"/>
              <a:buChar char="v"/>
            </a:pPr>
            <a:r>
              <a:rPr lang="en-US" sz="3200" dirty="0">
                <a:cs typeface="Kalimati" panose="00000400000000000000" pitchFamily="2"/>
              </a:rPr>
              <a:t>Meet the judge program.</a:t>
            </a:r>
            <a:r>
              <a:rPr lang="ne-NP" sz="3200" dirty="0">
                <a:cs typeface="Kalimati" panose="00000400000000000000" pitchFamily="2"/>
              </a:rPr>
              <a:t> </a:t>
            </a:r>
          </a:p>
          <a:p>
            <a:pPr algn="just">
              <a:buFont typeface="Wingdings" panose="05000000000000000000" pitchFamily="2" charset="2"/>
              <a:buChar char="v"/>
            </a:pPr>
            <a:endParaRPr lang="en-US" sz="3200" dirty="0"/>
          </a:p>
        </p:txBody>
      </p:sp>
      <p:sp>
        <p:nvSpPr>
          <p:cNvPr id="4" name="Slide Number Placeholder 3">
            <a:extLst>
              <a:ext uri="{FF2B5EF4-FFF2-40B4-BE49-F238E27FC236}">
                <a16:creationId xmlns:a16="http://schemas.microsoft.com/office/drawing/2014/main" id="{9D8E1A7A-7045-72B8-B8BA-88459269EAD7}"/>
              </a:ext>
            </a:extLst>
          </p:cNvPr>
          <p:cNvSpPr>
            <a:spLocks noGrp="1"/>
          </p:cNvSpPr>
          <p:nvPr>
            <p:ph type="sldNum" sz="quarter" idx="12"/>
          </p:nvPr>
        </p:nvSpPr>
        <p:spPr/>
        <p:txBody>
          <a:bodyPr/>
          <a:lstStyle/>
          <a:p>
            <a:fld id="{7622E865-B2C1-4A41-88CD-3656CF28B604}" type="slidenum">
              <a:rPr lang="en-US" smtClean="0"/>
              <a:t>34</a:t>
            </a:fld>
            <a:endParaRPr lang="en-US"/>
          </a:p>
        </p:txBody>
      </p:sp>
    </p:spTree>
    <p:extLst>
      <p:ext uri="{BB962C8B-B14F-4D97-AF65-F5344CB8AC3E}">
        <p14:creationId xmlns:p14="http://schemas.microsoft.com/office/powerpoint/2010/main" val="172101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 calcmode="lin" valueType="num">
                                      <p:cBhvr additive="base">
                                        <p:cTn id="6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F4D9B-9B58-C068-73EF-0F8A10DE8DF2}"/>
              </a:ext>
            </a:extLst>
          </p:cNvPr>
          <p:cNvSpPr>
            <a:spLocks noGrp="1"/>
          </p:cNvSpPr>
          <p:nvPr>
            <p:ph type="title"/>
          </p:nvPr>
        </p:nvSpPr>
        <p:spPr/>
        <p:txBody>
          <a:bodyPr>
            <a:normAutofit/>
          </a:bodyPr>
          <a:lstStyle/>
          <a:p>
            <a:pPr algn="ctr"/>
            <a:r>
              <a:rPr lang="ne-NP" sz="4000" b="1" dirty="0">
                <a:cs typeface="Kalimati" panose="00000400000000000000" pitchFamily="2"/>
              </a:rPr>
              <a:t>कुनै जिज्ञासा ?</a:t>
            </a:r>
            <a:endParaRPr lang="en-US" sz="4000" b="1" dirty="0">
              <a:cs typeface="Kalimati" panose="00000400000000000000" pitchFamily="2"/>
            </a:endParaRPr>
          </a:p>
        </p:txBody>
      </p:sp>
      <p:sp>
        <p:nvSpPr>
          <p:cNvPr id="3" name="Content Placeholder 2">
            <a:extLst>
              <a:ext uri="{FF2B5EF4-FFF2-40B4-BE49-F238E27FC236}">
                <a16:creationId xmlns:a16="http://schemas.microsoft.com/office/drawing/2014/main" id="{1FFF3E5F-338B-3B8C-CE99-F6578A174F76}"/>
              </a:ext>
            </a:extLst>
          </p:cNvPr>
          <p:cNvSpPr>
            <a:spLocks noGrp="1"/>
          </p:cNvSpPr>
          <p:nvPr>
            <p:ph idx="1"/>
          </p:nvPr>
        </p:nvSpPr>
        <p:spPr/>
        <p:txBody>
          <a:bodyPr>
            <a:normAutofit/>
          </a:bodyPr>
          <a:lstStyle/>
          <a:p>
            <a:pPr marL="0" indent="0" algn="ctr">
              <a:buNone/>
            </a:pPr>
            <a:endParaRPr lang="en-US" sz="3600" b="1" dirty="0">
              <a:cs typeface="Kalimati" panose="00000400000000000000" pitchFamily="2"/>
            </a:endParaRPr>
          </a:p>
          <a:p>
            <a:pPr marL="0" indent="0" algn="ctr">
              <a:buNone/>
            </a:pPr>
            <a:r>
              <a:rPr lang="ne-NP" sz="3600" b="1" dirty="0">
                <a:cs typeface="Kalimati" panose="00000400000000000000" pitchFamily="2"/>
              </a:rPr>
              <a:t>सक्रिय सहभागिताको लागि</a:t>
            </a:r>
            <a:endParaRPr lang="en-US" sz="3600" b="1" dirty="0">
              <a:cs typeface="Kalimati" panose="00000400000000000000" pitchFamily="2"/>
            </a:endParaRPr>
          </a:p>
          <a:p>
            <a:pPr marL="0" indent="0" algn="ctr">
              <a:buNone/>
            </a:pPr>
            <a:r>
              <a:rPr lang="ne-NP" sz="3600" b="1" dirty="0">
                <a:cs typeface="Kalimati" panose="00000400000000000000" pitchFamily="2"/>
              </a:rPr>
              <a:t> </a:t>
            </a:r>
          </a:p>
          <a:p>
            <a:pPr marL="0" indent="0" algn="ctr">
              <a:buNone/>
            </a:pPr>
            <a:r>
              <a:rPr lang="ne-NP" sz="3600" b="1" dirty="0">
                <a:cs typeface="Kalimati" panose="00000400000000000000" pitchFamily="2"/>
              </a:rPr>
              <a:t>सबै सहभागी ज्यूहरूलाई</a:t>
            </a:r>
            <a:endParaRPr lang="en-US" sz="3600" b="1" dirty="0">
              <a:cs typeface="Kalimati" panose="00000400000000000000" pitchFamily="2"/>
            </a:endParaRPr>
          </a:p>
          <a:p>
            <a:pPr marL="0" indent="0" algn="ctr">
              <a:buNone/>
            </a:pPr>
            <a:r>
              <a:rPr lang="ne-NP" sz="3600" b="1" dirty="0">
                <a:cs typeface="Kalimati" panose="00000400000000000000" pitchFamily="2"/>
              </a:rPr>
              <a:t> </a:t>
            </a:r>
          </a:p>
          <a:p>
            <a:pPr marL="0" indent="0" algn="ctr">
              <a:buNone/>
            </a:pPr>
            <a:r>
              <a:rPr lang="ne-NP" sz="3600" b="1" dirty="0">
                <a:cs typeface="Kalimati" panose="00000400000000000000" pitchFamily="2"/>
              </a:rPr>
              <a:t>धन्यवाद !!!</a:t>
            </a:r>
            <a:endParaRPr lang="en-US" sz="3600" b="1" dirty="0">
              <a:cs typeface="Kalimati" panose="00000400000000000000" pitchFamily="2"/>
            </a:endParaRPr>
          </a:p>
        </p:txBody>
      </p:sp>
      <p:sp>
        <p:nvSpPr>
          <p:cNvPr id="4" name="Slide Number Placeholder 3">
            <a:extLst>
              <a:ext uri="{FF2B5EF4-FFF2-40B4-BE49-F238E27FC236}">
                <a16:creationId xmlns:a16="http://schemas.microsoft.com/office/drawing/2014/main" id="{BE57D3F1-B997-7CDE-D39A-CB212BD2686A}"/>
              </a:ext>
            </a:extLst>
          </p:cNvPr>
          <p:cNvSpPr>
            <a:spLocks noGrp="1"/>
          </p:cNvSpPr>
          <p:nvPr>
            <p:ph type="sldNum" sz="quarter" idx="12"/>
          </p:nvPr>
        </p:nvSpPr>
        <p:spPr/>
        <p:txBody>
          <a:bodyPr/>
          <a:lstStyle/>
          <a:p>
            <a:fld id="{7622E865-B2C1-4A41-88CD-3656CF28B604}" type="slidenum">
              <a:rPr lang="en-US" smtClean="0"/>
              <a:t>35</a:t>
            </a:fld>
            <a:endParaRPr lang="en-US"/>
          </a:p>
        </p:txBody>
      </p:sp>
    </p:spTree>
    <p:extLst>
      <p:ext uri="{BB962C8B-B14F-4D97-AF65-F5344CB8AC3E}">
        <p14:creationId xmlns:p14="http://schemas.microsoft.com/office/powerpoint/2010/main" val="10211681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3592</Words>
  <Application>Microsoft Office PowerPoint</Application>
  <PresentationFormat>Widescreen</PresentationFormat>
  <Paragraphs>227</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Kalimati</vt:lpstr>
      <vt:lpstr>Times New Roman</vt:lpstr>
      <vt:lpstr>Wingdings</vt:lpstr>
      <vt:lpstr>Office Theme</vt:lpstr>
      <vt:lpstr>न्यायिक कार्य बाहेक जिल्ला न्यायाधीशको भूमिका र जिम्मेवारी  </vt:lpstr>
      <vt:lpstr>बधाई र शुभकामना ज्ञापन</vt:lpstr>
      <vt:lpstr>यस भित्र</vt:lpstr>
      <vt:lpstr> १. न्यायिक स्वतन्त्रता संरक्षक /  जनआस्था वृद्धि कर्ताको भूमिका </vt:lpstr>
      <vt:lpstr>किन स्वतन्त्र न्यायपालिका ?</vt:lpstr>
      <vt:lpstr>...क्रमश</vt:lpstr>
      <vt:lpstr>स्वतन्त्र, निष्पक्ष र सक्षम न्यायपालिका हाम्रो जरुवा विधिशास्त्र हो</vt:lpstr>
      <vt:lpstr>बाटोले बोकाएको जिम्मेवारी</vt:lpstr>
      <vt:lpstr> न्यायिक स्वतन्त्रता कायम राख्न न्यायाधीशमा चाहिने गुणहरू </vt:lpstr>
      <vt:lpstr>...क्रमश</vt:lpstr>
      <vt:lpstr>...क्रमश</vt:lpstr>
      <vt:lpstr>...क्रमश</vt:lpstr>
      <vt:lpstr>अर्का साहसी न्यायाधीश जगमोहन लाल सिंह</vt:lpstr>
      <vt:lpstr>आफ्नै उदाहरण</vt:lpstr>
      <vt:lpstr>ख. दूरदर्शीता </vt:lpstr>
      <vt:lpstr> न्यायाधीशको महानता </vt:lpstr>
      <vt:lpstr>...क्रमश</vt:lpstr>
      <vt:lpstr>ग. क्षमाशीलता / प्रतिशोध विहीनता (Forgiveness/ Revengeful less) </vt:lpstr>
      <vt:lpstr>...क्रमश</vt:lpstr>
      <vt:lpstr>...क्रमश</vt:lpstr>
      <vt:lpstr>...क्रमश</vt:lpstr>
      <vt:lpstr>घ. सदगुण (Virtuous) </vt:lpstr>
      <vt:lpstr>...क्रमश</vt:lpstr>
      <vt:lpstr>ङ. सकारात्मक सोच (Positive attitude)</vt:lpstr>
      <vt:lpstr>...क्रमश</vt:lpstr>
      <vt:lpstr> How should we make our life 100% success ? </vt:lpstr>
      <vt:lpstr>...क्रमश</vt:lpstr>
      <vt:lpstr>२. संवैधानिक भूमिका</vt:lpstr>
      <vt:lpstr>...क्रमश</vt:lpstr>
      <vt:lpstr>३. कानूनी भूमिका</vt:lpstr>
      <vt:lpstr> 6 - 1 Rules for a leader </vt:lpstr>
      <vt:lpstr>Differences between a Boss and a Leader</vt:lpstr>
      <vt:lpstr>ख. विविध कानूनी भूमिका</vt:lpstr>
      <vt:lpstr>४. योजनाकारको भूमिका (रणनीतिक योजना)</vt:lpstr>
      <vt:lpstr>कुनै जिज्ञासा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 Kumar Pokharel</dc:creator>
  <cp:lastModifiedBy>Hari Kumar Pokharel</cp:lastModifiedBy>
  <cp:revision>55</cp:revision>
  <dcterms:created xsi:type="dcterms:W3CDTF">2026-01-08T10:38:43Z</dcterms:created>
  <dcterms:modified xsi:type="dcterms:W3CDTF">2026-01-12T02:05:38Z</dcterms:modified>
</cp:coreProperties>
</file>