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28"/>
  </p:notesMasterIdLst>
  <p:handoutMasterIdLst>
    <p:handoutMasterId r:id="rId29"/>
  </p:handoutMasterIdLst>
  <p:sldIdLst>
    <p:sldId id="256" r:id="rId2"/>
    <p:sldId id="272" r:id="rId3"/>
    <p:sldId id="273" r:id="rId4"/>
    <p:sldId id="371" r:id="rId5"/>
    <p:sldId id="372" r:id="rId6"/>
    <p:sldId id="370" r:id="rId7"/>
    <p:sldId id="275" r:id="rId8"/>
    <p:sldId id="276" r:id="rId9"/>
    <p:sldId id="374" r:id="rId10"/>
    <p:sldId id="277" r:id="rId11"/>
    <p:sldId id="376" r:id="rId12"/>
    <p:sldId id="280" r:id="rId13"/>
    <p:sldId id="377" r:id="rId14"/>
    <p:sldId id="284" r:id="rId15"/>
    <p:sldId id="285" r:id="rId16"/>
    <p:sldId id="281" r:id="rId17"/>
    <p:sldId id="378" r:id="rId18"/>
    <p:sldId id="282" r:id="rId19"/>
    <p:sldId id="351" r:id="rId20"/>
    <p:sldId id="354" r:id="rId21"/>
    <p:sldId id="296" r:id="rId22"/>
    <p:sldId id="263" r:id="rId23"/>
    <p:sldId id="268" r:id="rId24"/>
    <p:sldId id="267" r:id="rId25"/>
    <p:sldId id="269" r:id="rId26"/>
    <p:sldId id="369"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5" d="100"/>
          <a:sy n="115" d="100"/>
        </p:scale>
        <p:origin x="141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wakar Bhatta" userId="1f837043fe92d76a" providerId="LiveId" clId="{87599D34-5EC6-4F4F-905E-A7F4CAC072FD}"/>
    <pc:docChg chg="undo custSel addSld delSld modSld">
      <pc:chgData name="Diwakar Bhatta" userId="1f837043fe92d76a" providerId="LiveId" clId="{87599D34-5EC6-4F4F-905E-A7F4CAC072FD}" dt="2026-01-10T08:31:19.770" v="800" actId="20577"/>
      <pc:docMkLst>
        <pc:docMk/>
      </pc:docMkLst>
      <pc:sldChg chg="modSp mod">
        <pc:chgData name="Diwakar Bhatta" userId="1f837043fe92d76a" providerId="LiveId" clId="{87599D34-5EC6-4F4F-905E-A7F4CAC072FD}" dt="2026-01-10T08:23:06.472" v="25" actId="27636"/>
        <pc:sldMkLst>
          <pc:docMk/>
          <pc:sldMk cId="0" sldId="256"/>
        </pc:sldMkLst>
        <pc:spChg chg="mod">
          <ac:chgData name="Diwakar Bhatta" userId="1f837043fe92d76a" providerId="LiveId" clId="{87599D34-5EC6-4F4F-905E-A7F4CAC072FD}" dt="2026-01-10T08:23:06.472" v="25" actId="27636"/>
          <ac:spMkLst>
            <pc:docMk/>
            <pc:sldMk cId="0" sldId="256"/>
            <ac:spMk id="2" creationId="{00000000-0000-0000-0000-000000000000}"/>
          </ac:spMkLst>
        </pc:spChg>
      </pc:sldChg>
      <pc:sldChg chg="modSp mod">
        <pc:chgData name="Diwakar Bhatta" userId="1f837043fe92d76a" providerId="LiveId" clId="{87599D34-5EC6-4F4F-905E-A7F4CAC072FD}" dt="2026-01-10T08:22:51.265" v="10" actId="14100"/>
        <pc:sldMkLst>
          <pc:docMk/>
          <pc:sldMk cId="0" sldId="263"/>
        </pc:sldMkLst>
        <pc:spChg chg="mod">
          <ac:chgData name="Diwakar Bhatta" userId="1f837043fe92d76a" providerId="LiveId" clId="{87599D34-5EC6-4F4F-905E-A7F4CAC072FD}" dt="2026-01-10T08:22:51.265" v="10" actId="14100"/>
          <ac:spMkLst>
            <pc:docMk/>
            <pc:sldMk cId="0" sldId="263"/>
            <ac:spMk id="2" creationId="{00000000-0000-0000-0000-000000000000}"/>
          </ac:spMkLst>
        </pc:spChg>
        <pc:spChg chg="mod">
          <ac:chgData name="Diwakar Bhatta" userId="1f837043fe92d76a" providerId="LiveId" clId="{87599D34-5EC6-4F4F-905E-A7F4CAC072FD}" dt="2026-01-10T08:22:36.183" v="2" actId="14100"/>
          <ac:spMkLst>
            <pc:docMk/>
            <pc:sldMk cId="0" sldId="263"/>
            <ac:spMk id="3" creationId="{00000000-0000-0000-0000-000000000000}"/>
          </ac:spMkLst>
        </pc:spChg>
      </pc:sldChg>
      <pc:sldChg chg="modSp mod">
        <pc:chgData name="Diwakar Bhatta" userId="1f837043fe92d76a" providerId="LiveId" clId="{87599D34-5EC6-4F4F-905E-A7F4CAC072FD}" dt="2026-01-10T08:30:24.743" v="759" actId="20577"/>
        <pc:sldMkLst>
          <pc:docMk/>
          <pc:sldMk cId="0" sldId="267"/>
        </pc:sldMkLst>
        <pc:spChg chg="mod">
          <ac:chgData name="Diwakar Bhatta" userId="1f837043fe92d76a" providerId="LiveId" clId="{87599D34-5EC6-4F4F-905E-A7F4CAC072FD}" dt="2026-01-10T08:23:12.049" v="48"/>
          <ac:spMkLst>
            <pc:docMk/>
            <pc:sldMk cId="0" sldId="267"/>
            <ac:spMk id="2" creationId="{00000000-0000-0000-0000-000000000000}"/>
          </ac:spMkLst>
        </pc:spChg>
        <pc:spChg chg="mod">
          <ac:chgData name="Diwakar Bhatta" userId="1f837043fe92d76a" providerId="LiveId" clId="{87599D34-5EC6-4F4F-905E-A7F4CAC072FD}" dt="2026-01-10T08:30:24.743" v="759" actId="20577"/>
          <ac:spMkLst>
            <pc:docMk/>
            <pc:sldMk cId="0" sldId="267"/>
            <ac:spMk id="3" creationId="{00000000-0000-0000-0000-000000000000}"/>
          </ac:spMkLst>
        </pc:spChg>
      </pc:sldChg>
      <pc:sldChg chg="modSp mod">
        <pc:chgData name="Diwakar Bhatta" userId="1f837043fe92d76a" providerId="LiveId" clId="{87599D34-5EC6-4F4F-905E-A7F4CAC072FD}" dt="2026-01-10T08:29:16.772" v="581" actId="27636"/>
        <pc:sldMkLst>
          <pc:docMk/>
          <pc:sldMk cId="0" sldId="268"/>
        </pc:sldMkLst>
        <pc:spChg chg="mod">
          <ac:chgData name="Diwakar Bhatta" userId="1f837043fe92d76a" providerId="LiveId" clId="{87599D34-5EC6-4F4F-905E-A7F4CAC072FD}" dt="2026-01-10T08:22:27.076" v="0" actId="14100"/>
          <ac:spMkLst>
            <pc:docMk/>
            <pc:sldMk cId="0" sldId="268"/>
            <ac:spMk id="2" creationId="{00000000-0000-0000-0000-000000000000}"/>
          </ac:spMkLst>
        </pc:spChg>
        <pc:spChg chg="mod">
          <ac:chgData name="Diwakar Bhatta" userId="1f837043fe92d76a" providerId="LiveId" clId="{87599D34-5EC6-4F4F-905E-A7F4CAC072FD}" dt="2026-01-10T08:29:16.772" v="581" actId="27636"/>
          <ac:spMkLst>
            <pc:docMk/>
            <pc:sldMk cId="0" sldId="268"/>
            <ac:spMk id="3" creationId="{00000000-0000-0000-0000-000000000000}"/>
          </ac:spMkLst>
        </pc:spChg>
      </pc:sldChg>
      <pc:sldChg chg="modSp mod">
        <pc:chgData name="Diwakar Bhatta" userId="1f837043fe92d76a" providerId="LiveId" clId="{87599D34-5EC6-4F4F-905E-A7F4CAC072FD}" dt="2026-01-10T08:23:12.599" v="62" actId="27636"/>
        <pc:sldMkLst>
          <pc:docMk/>
          <pc:sldMk cId="0" sldId="269"/>
        </pc:sldMkLst>
        <pc:spChg chg="mod">
          <ac:chgData name="Diwakar Bhatta" userId="1f837043fe92d76a" providerId="LiveId" clId="{87599D34-5EC6-4F4F-905E-A7F4CAC072FD}" dt="2026-01-10T08:23:12.599" v="62" actId="27636"/>
          <ac:spMkLst>
            <pc:docMk/>
            <pc:sldMk cId="0" sldId="269"/>
            <ac:spMk id="3" creationId="{00000000-0000-0000-0000-000000000000}"/>
          </ac:spMkLst>
        </pc:spChg>
      </pc:sldChg>
      <pc:sldChg chg="modSp mod">
        <pc:chgData name="Diwakar Bhatta" userId="1f837043fe92d76a" providerId="LiveId" clId="{87599D34-5EC6-4F4F-905E-A7F4CAC072FD}" dt="2026-01-10T08:31:19.770" v="800" actId="20577"/>
        <pc:sldMkLst>
          <pc:docMk/>
          <pc:sldMk cId="195808147" sldId="272"/>
        </pc:sldMkLst>
        <pc:spChg chg="mod">
          <ac:chgData name="Diwakar Bhatta" userId="1f837043fe92d76a" providerId="LiveId" clId="{87599D34-5EC6-4F4F-905E-A7F4CAC072FD}" dt="2026-01-10T08:31:19.770" v="800" actId="20577"/>
          <ac:spMkLst>
            <pc:docMk/>
            <pc:sldMk cId="195808147" sldId="272"/>
            <ac:spMk id="2" creationId="{E6BB14BA-B2BD-0707-C131-60B57A2B157D}"/>
          </ac:spMkLst>
        </pc:spChg>
        <pc:spChg chg="mod">
          <ac:chgData name="Diwakar Bhatta" userId="1f837043fe92d76a" providerId="LiveId" clId="{87599D34-5EC6-4F4F-905E-A7F4CAC072FD}" dt="2026-01-10T08:30:54.255" v="762" actId="113"/>
          <ac:spMkLst>
            <pc:docMk/>
            <pc:sldMk cId="195808147" sldId="272"/>
            <ac:spMk id="3" creationId="{603BEA95-852F-724B-1883-4DBDCB973FA4}"/>
          </ac:spMkLst>
        </pc:spChg>
      </pc:sldChg>
      <pc:sldChg chg="modSp mod">
        <pc:chgData name="Diwakar Bhatta" userId="1f837043fe92d76a" providerId="LiveId" clId="{87599D34-5EC6-4F4F-905E-A7F4CAC072FD}" dt="2026-01-10T08:23:12.333" v="53" actId="27636"/>
        <pc:sldMkLst>
          <pc:docMk/>
          <pc:sldMk cId="1749501511" sldId="275"/>
        </pc:sldMkLst>
        <pc:spChg chg="mod">
          <ac:chgData name="Diwakar Bhatta" userId="1f837043fe92d76a" providerId="LiveId" clId="{87599D34-5EC6-4F4F-905E-A7F4CAC072FD}" dt="2026-01-10T08:23:12.333" v="53" actId="27636"/>
          <ac:spMkLst>
            <pc:docMk/>
            <pc:sldMk cId="1749501511" sldId="275"/>
            <ac:spMk id="3" creationId="{FC655B86-D6FB-6E9D-7E45-F77FE578A0E8}"/>
          </ac:spMkLst>
        </pc:spChg>
      </pc:sldChg>
      <pc:sldChg chg="modSp mod">
        <pc:chgData name="Diwakar Bhatta" userId="1f837043fe92d76a" providerId="LiveId" clId="{87599D34-5EC6-4F4F-905E-A7F4CAC072FD}" dt="2026-01-10T08:23:12.424" v="55" actId="27636"/>
        <pc:sldMkLst>
          <pc:docMk/>
          <pc:sldMk cId="2773934755" sldId="277"/>
        </pc:sldMkLst>
        <pc:spChg chg="mod">
          <ac:chgData name="Diwakar Bhatta" userId="1f837043fe92d76a" providerId="LiveId" clId="{87599D34-5EC6-4F4F-905E-A7F4CAC072FD}" dt="2026-01-10T08:23:12.049" v="48"/>
          <ac:spMkLst>
            <pc:docMk/>
            <pc:sldMk cId="2773934755" sldId="277"/>
            <ac:spMk id="2" creationId="{62A60CC0-A574-8F47-045A-CCDF0A9CFCD6}"/>
          </ac:spMkLst>
        </pc:spChg>
        <pc:spChg chg="mod">
          <ac:chgData name="Diwakar Bhatta" userId="1f837043fe92d76a" providerId="LiveId" clId="{87599D34-5EC6-4F4F-905E-A7F4CAC072FD}" dt="2026-01-10T08:23:12.424" v="55" actId="27636"/>
          <ac:spMkLst>
            <pc:docMk/>
            <pc:sldMk cId="2773934755" sldId="277"/>
            <ac:spMk id="3" creationId="{A8A8D1F9-22AF-55E8-60EE-C4393C046AC1}"/>
          </ac:spMkLst>
        </pc:spChg>
      </pc:sldChg>
      <pc:sldChg chg="modSp">
        <pc:chgData name="Diwakar Bhatta" userId="1f837043fe92d76a" providerId="LiveId" clId="{87599D34-5EC6-4F4F-905E-A7F4CAC072FD}" dt="2026-01-10T08:23:12.049" v="48"/>
        <pc:sldMkLst>
          <pc:docMk/>
          <pc:sldMk cId="3527073423" sldId="281"/>
        </pc:sldMkLst>
        <pc:spChg chg="mod">
          <ac:chgData name="Diwakar Bhatta" userId="1f837043fe92d76a" providerId="LiveId" clId="{87599D34-5EC6-4F4F-905E-A7F4CAC072FD}" dt="2026-01-10T08:23:12.049" v="48"/>
          <ac:spMkLst>
            <pc:docMk/>
            <pc:sldMk cId="3527073423" sldId="281"/>
            <ac:spMk id="2" creationId="{B39EC148-08B8-31D4-287A-A65C2C0F7E3E}"/>
          </ac:spMkLst>
        </pc:spChg>
      </pc:sldChg>
      <pc:sldChg chg="modSp">
        <pc:chgData name="Diwakar Bhatta" userId="1f837043fe92d76a" providerId="LiveId" clId="{87599D34-5EC6-4F4F-905E-A7F4CAC072FD}" dt="2026-01-10T08:23:12.049" v="48"/>
        <pc:sldMkLst>
          <pc:docMk/>
          <pc:sldMk cId="3441535733" sldId="282"/>
        </pc:sldMkLst>
        <pc:spChg chg="mod">
          <ac:chgData name="Diwakar Bhatta" userId="1f837043fe92d76a" providerId="LiveId" clId="{87599D34-5EC6-4F4F-905E-A7F4CAC072FD}" dt="2026-01-10T08:23:12.049" v="48"/>
          <ac:spMkLst>
            <pc:docMk/>
            <pc:sldMk cId="3441535733" sldId="282"/>
            <ac:spMk id="2" creationId="{C19B1D07-F97B-95DE-1B95-1DDE5E570821}"/>
          </ac:spMkLst>
        </pc:spChg>
      </pc:sldChg>
      <pc:sldChg chg="modSp mod">
        <pc:chgData name="Diwakar Bhatta" userId="1f837043fe92d76a" providerId="LiveId" clId="{87599D34-5EC6-4F4F-905E-A7F4CAC072FD}" dt="2026-01-10T08:23:12.500" v="58" actId="27636"/>
        <pc:sldMkLst>
          <pc:docMk/>
          <pc:sldMk cId="1302975945" sldId="284"/>
        </pc:sldMkLst>
        <pc:spChg chg="mod">
          <ac:chgData name="Diwakar Bhatta" userId="1f837043fe92d76a" providerId="LiveId" clId="{87599D34-5EC6-4F4F-905E-A7F4CAC072FD}" dt="2026-01-10T08:23:12.500" v="58" actId="27636"/>
          <ac:spMkLst>
            <pc:docMk/>
            <pc:sldMk cId="1302975945" sldId="284"/>
            <ac:spMk id="3" creationId="{E9D20CC7-53CA-1CCC-9141-9A879DA6B2B8}"/>
          </ac:spMkLst>
        </pc:spChg>
      </pc:sldChg>
      <pc:sldChg chg="modSp">
        <pc:chgData name="Diwakar Bhatta" userId="1f837043fe92d76a" providerId="LiveId" clId="{87599D34-5EC6-4F4F-905E-A7F4CAC072FD}" dt="2026-01-10T08:23:12.049" v="48"/>
        <pc:sldMkLst>
          <pc:docMk/>
          <pc:sldMk cId="1012468705" sldId="285"/>
        </pc:sldMkLst>
        <pc:spChg chg="mod">
          <ac:chgData name="Diwakar Bhatta" userId="1f837043fe92d76a" providerId="LiveId" clId="{87599D34-5EC6-4F4F-905E-A7F4CAC072FD}" dt="2026-01-10T08:23:12.049" v="48"/>
          <ac:spMkLst>
            <pc:docMk/>
            <pc:sldMk cId="1012468705" sldId="285"/>
            <ac:spMk id="2" creationId="{165E37CF-8E13-D8FE-2A78-7C20C5EE9179}"/>
          </ac:spMkLst>
        </pc:spChg>
      </pc:sldChg>
      <pc:sldChg chg="modSp mod">
        <pc:chgData name="Diwakar Bhatta" userId="1f837043fe92d76a" providerId="LiveId" clId="{87599D34-5EC6-4F4F-905E-A7F4CAC072FD}" dt="2026-01-10T08:23:12.551" v="60" actId="27636"/>
        <pc:sldMkLst>
          <pc:docMk/>
          <pc:sldMk cId="0" sldId="296"/>
        </pc:sldMkLst>
        <pc:spChg chg="mod">
          <ac:chgData name="Diwakar Bhatta" userId="1f837043fe92d76a" providerId="LiveId" clId="{87599D34-5EC6-4F4F-905E-A7F4CAC072FD}" dt="2026-01-10T08:23:12.551" v="60" actId="27636"/>
          <ac:spMkLst>
            <pc:docMk/>
            <pc:sldMk cId="0" sldId="296"/>
            <ac:spMk id="25603" creationId="{D3D9F2F0-0020-BF92-ABBD-84EA162C5677}"/>
          </ac:spMkLst>
        </pc:spChg>
      </pc:sldChg>
      <pc:sldChg chg="modSp mod">
        <pc:chgData name="Diwakar Bhatta" userId="1f837043fe92d76a" providerId="LiveId" clId="{87599D34-5EC6-4F4F-905E-A7F4CAC072FD}" dt="2026-01-10T08:23:12.532" v="59" actId="27636"/>
        <pc:sldMkLst>
          <pc:docMk/>
          <pc:sldMk cId="0" sldId="351"/>
        </pc:sldMkLst>
        <pc:spChg chg="mod">
          <ac:chgData name="Diwakar Bhatta" userId="1f837043fe92d76a" providerId="LiveId" clId="{87599D34-5EC6-4F4F-905E-A7F4CAC072FD}" dt="2026-01-10T08:23:12.532" v="59" actId="27636"/>
          <ac:spMkLst>
            <pc:docMk/>
            <pc:sldMk cId="0" sldId="351"/>
            <ac:spMk id="16387" creationId="{A22D9CC3-155A-23EC-9B75-077DB597F964}"/>
          </ac:spMkLst>
        </pc:spChg>
      </pc:sldChg>
      <pc:sldChg chg="modSp mod">
        <pc:chgData name="Diwakar Bhatta" userId="1f837043fe92d76a" providerId="LiveId" clId="{87599D34-5EC6-4F4F-905E-A7F4CAC072FD}" dt="2026-01-10T08:23:06.811" v="33" actId="27636"/>
        <pc:sldMkLst>
          <pc:docMk/>
          <pc:sldMk cId="0" sldId="354"/>
        </pc:sldMkLst>
        <pc:spChg chg="mod">
          <ac:chgData name="Diwakar Bhatta" userId="1f837043fe92d76a" providerId="LiveId" clId="{87599D34-5EC6-4F4F-905E-A7F4CAC072FD}" dt="2026-01-10T08:23:06.811" v="33" actId="27636"/>
          <ac:spMkLst>
            <pc:docMk/>
            <pc:sldMk cId="0" sldId="354"/>
            <ac:spMk id="21506" creationId="{4B7246E2-E383-D2B9-4C3D-97CDADE428D9}"/>
          </ac:spMkLst>
        </pc:spChg>
      </pc:sldChg>
      <pc:sldChg chg="modSp">
        <pc:chgData name="Diwakar Bhatta" userId="1f837043fe92d76a" providerId="LiveId" clId="{87599D34-5EC6-4F4F-905E-A7F4CAC072FD}" dt="2026-01-10T08:23:12.049" v="48"/>
        <pc:sldMkLst>
          <pc:docMk/>
          <pc:sldMk cId="1551421804" sldId="369"/>
        </pc:sldMkLst>
        <pc:spChg chg="mod">
          <ac:chgData name="Diwakar Bhatta" userId="1f837043fe92d76a" providerId="LiveId" clId="{87599D34-5EC6-4F4F-905E-A7F4CAC072FD}" dt="2026-01-10T08:23:12.049" v="48"/>
          <ac:spMkLst>
            <pc:docMk/>
            <pc:sldMk cId="1551421804" sldId="369"/>
            <ac:spMk id="3" creationId="{FDB84936-9271-7081-BEC2-A55452AA3B30}"/>
          </ac:spMkLst>
        </pc:spChg>
      </pc:sldChg>
      <pc:sldChg chg="modSp mod">
        <pc:chgData name="Diwakar Bhatta" userId="1f837043fe92d76a" providerId="LiveId" clId="{87599D34-5EC6-4F4F-905E-A7F4CAC072FD}" dt="2026-01-10T08:23:12.281" v="52" actId="27636"/>
        <pc:sldMkLst>
          <pc:docMk/>
          <pc:sldMk cId="2956825259" sldId="370"/>
        </pc:sldMkLst>
        <pc:spChg chg="mod">
          <ac:chgData name="Diwakar Bhatta" userId="1f837043fe92d76a" providerId="LiveId" clId="{87599D34-5EC6-4F4F-905E-A7F4CAC072FD}" dt="2026-01-10T08:23:12.265" v="51" actId="27636"/>
          <ac:spMkLst>
            <pc:docMk/>
            <pc:sldMk cId="2956825259" sldId="370"/>
            <ac:spMk id="2" creationId="{C9C78649-D8CD-3F3A-4305-CC8ACD176F6B}"/>
          </ac:spMkLst>
        </pc:spChg>
        <pc:spChg chg="mod">
          <ac:chgData name="Diwakar Bhatta" userId="1f837043fe92d76a" providerId="LiveId" clId="{87599D34-5EC6-4F4F-905E-A7F4CAC072FD}" dt="2026-01-10T08:23:12.281" v="52" actId="27636"/>
          <ac:spMkLst>
            <pc:docMk/>
            <pc:sldMk cId="2956825259" sldId="370"/>
            <ac:spMk id="3" creationId="{7F55D90F-CA19-E508-7FA7-A82232CC5E68}"/>
          </ac:spMkLst>
        </pc:spChg>
      </pc:sldChg>
      <pc:sldChg chg="modSp mod">
        <pc:chgData name="Diwakar Bhatta" userId="1f837043fe92d76a" providerId="LiveId" clId="{87599D34-5EC6-4F4F-905E-A7F4CAC072FD}" dt="2026-01-10T08:23:12.250" v="50" actId="27636"/>
        <pc:sldMkLst>
          <pc:docMk/>
          <pc:sldMk cId="1244284915" sldId="372"/>
        </pc:sldMkLst>
        <pc:spChg chg="mod">
          <ac:chgData name="Diwakar Bhatta" userId="1f837043fe92d76a" providerId="LiveId" clId="{87599D34-5EC6-4F4F-905E-A7F4CAC072FD}" dt="2026-01-10T08:23:12.250" v="50" actId="27636"/>
          <ac:spMkLst>
            <pc:docMk/>
            <pc:sldMk cId="1244284915" sldId="372"/>
            <ac:spMk id="3" creationId="{68254F02-0582-F7D1-C2BE-465FE01AC6F2}"/>
          </ac:spMkLst>
        </pc:spChg>
      </pc:sldChg>
      <pc:sldChg chg="modSp mod">
        <pc:chgData name="Diwakar Bhatta" userId="1f837043fe92d76a" providerId="LiveId" clId="{87599D34-5EC6-4F4F-905E-A7F4CAC072FD}" dt="2026-01-10T08:23:12.376" v="54" actId="27636"/>
        <pc:sldMkLst>
          <pc:docMk/>
          <pc:sldMk cId="1704219685" sldId="374"/>
        </pc:sldMkLst>
        <pc:spChg chg="mod">
          <ac:chgData name="Diwakar Bhatta" userId="1f837043fe92d76a" providerId="LiveId" clId="{87599D34-5EC6-4F4F-905E-A7F4CAC072FD}" dt="2026-01-10T08:23:12.376" v="54" actId="27636"/>
          <ac:spMkLst>
            <pc:docMk/>
            <pc:sldMk cId="1704219685" sldId="374"/>
            <ac:spMk id="3" creationId="{8B01ECAB-D765-302D-205E-D6472922F842}"/>
          </ac:spMkLst>
        </pc:spChg>
      </pc:sldChg>
      <pc:sldChg chg="modSp mod">
        <pc:chgData name="Diwakar Bhatta" userId="1f837043fe92d76a" providerId="LiveId" clId="{87599D34-5EC6-4F4F-905E-A7F4CAC072FD}" dt="2026-01-10T08:23:12.440" v="57" actId="27636"/>
        <pc:sldMkLst>
          <pc:docMk/>
          <pc:sldMk cId="3346649530" sldId="376"/>
        </pc:sldMkLst>
        <pc:spChg chg="mod">
          <ac:chgData name="Diwakar Bhatta" userId="1f837043fe92d76a" providerId="LiveId" clId="{87599D34-5EC6-4F4F-905E-A7F4CAC072FD}" dt="2026-01-10T08:23:12.440" v="57" actId="27636"/>
          <ac:spMkLst>
            <pc:docMk/>
            <pc:sldMk cId="3346649530" sldId="376"/>
            <ac:spMk id="2" creationId="{80FEF47A-D706-7E7A-958A-5C171A7F69F8}"/>
          </ac:spMkLst>
        </pc:spChg>
        <pc:spChg chg="mod">
          <ac:chgData name="Diwakar Bhatta" userId="1f837043fe92d76a" providerId="LiveId" clId="{87599D34-5EC6-4F4F-905E-A7F4CAC072FD}" dt="2026-01-10T08:23:12.440" v="56" actId="27636"/>
          <ac:spMkLst>
            <pc:docMk/>
            <pc:sldMk cId="3346649530" sldId="376"/>
            <ac:spMk id="3" creationId="{2E6F08F3-6112-B725-6D87-69F2D23D5D7C}"/>
          </ac:spMkLst>
        </pc:spChg>
      </pc:sldChg>
      <pc:sldChg chg="modSp mod">
        <pc:chgData name="Diwakar Bhatta" userId="1f837043fe92d76a" providerId="LiveId" clId="{87599D34-5EC6-4F4F-905E-A7F4CAC072FD}" dt="2026-01-10T08:28:57.284" v="579" actId="20577"/>
        <pc:sldMkLst>
          <pc:docMk/>
          <pc:sldMk cId="1056264723" sldId="377"/>
        </pc:sldMkLst>
        <pc:spChg chg="mod">
          <ac:chgData name="Diwakar Bhatta" userId="1f837043fe92d76a" providerId="LiveId" clId="{87599D34-5EC6-4F4F-905E-A7F4CAC072FD}" dt="2026-01-10T08:27:34.185" v="324" actId="27636"/>
          <ac:spMkLst>
            <pc:docMk/>
            <pc:sldMk cId="1056264723" sldId="377"/>
            <ac:spMk id="2" creationId="{C980DDC1-8F0F-5410-126F-4811461A9790}"/>
          </ac:spMkLst>
        </pc:spChg>
        <pc:spChg chg="mod">
          <ac:chgData name="Diwakar Bhatta" userId="1f837043fe92d76a" providerId="LiveId" clId="{87599D34-5EC6-4F4F-905E-A7F4CAC072FD}" dt="2026-01-10T08:28:57.284" v="579" actId="20577"/>
          <ac:spMkLst>
            <pc:docMk/>
            <pc:sldMk cId="1056264723" sldId="377"/>
            <ac:spMk id="3" creationId="{121D5D6C-3D09-F63E-842A-33031CEDFD7B}"/>
          </ac:spMkLst>
        </pc:spChg>
      </pc:sldChg>
      <pc:sldChg chg="new del">
        <pc:chgData name="Diwakar Bhatta" userId="1f837043fe92d76a" providerId="LiveId" clId="{87599D34-5EC6-4F4F-905E-A7F4CAC072FD}" dt="2026-01-10T08:22:45.034" v="7" actId="680"/>
        <pc:sldMkLst>
          <pc:docMk/>
          <pc:sldMk cId="1365884228" sldId="37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89F573-A84C-42F8-BB00-F11AD769CD6F}" type="datetimeFigureOut">
              <a:rPr lang="en-US" smtClean="0"/>
              <a:pPr/>
              <a:t>1/10/2026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40E9B8-0C6F-4D26-9F21-D697D923466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83137E-FBAA-45CE-8E46-1FEC939C7698}" type="datetimeFigureOut">
              <a:rPr lang="en-US" smtClean="0"/>
              <a:t>1/10/2026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0482BA-4B33-4C8A-8A8C-C28D8D3F27F2}" type="slidenum">
              <a:rPr lang="en-US" smtClean="0"/>
              <a:t>‹#›</a:t>
            </a:fld>
            <a:endParaRPr lang="en-US"/>
          </a:p>
        </p:txBody>
      </p:sp>
    </p:spTree>
    <p:extLst>
      <p:ext uri="{BB962C8B-B14F-4D97-AF65-F5344CB8AC3E}">
        <p14:creationId xmlns:p14="http://schemas.microsoft.com/office/powerpoint/2010/main" val="4043822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0482BA-4B33-4C8A-8A8C-C28D8D3F27F2}" type="slidenum">
              <a:rPr lang="en-US" smtClean="0"/>
              <a:t>11</a:t>
            </a:fld>
            <a:endParaRPr lang="en-US"/>
          </a:p>
        </p:txBody>
      </p:sp>
    </p:spTree>
    <p:extLst>
      <p:ext uri="{BB962C8B-B14F-4D97-AF65-F5344CB8AC3E}">
        <p14:creationId xmlns:p14="http://schemas.microsoft.com/office/powerpoint/2010/main" val="4203769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85D9A8-F4FE-41F0-ADD9-CD7D86BCF26A}" type="datetimeFigureOut">
              <a:rPr lang="en-US" smtClean="0"/>
              <a:pPr/>
              <a:t>1/10/2026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A662E072-AD29-424E-9949-B3B8FD7BECF0}" type="slidenum">
              <a:rPr lang="en-US" smtClean="0"/>
              <a:pPr/>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6076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85D9A8-F4FE-41F0-ADD9-CD7D86BCF26A}"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62E072-AD29-424E-9949-B3B8FD7BECF0}" type="slidenum">
              <a:rPr lang="en-US" smtClean="0"/>
              <a:pPr/>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578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85D9A8-F4FE-41F0-ADD9-CD7D86BCF26A}"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62E072-AD29-424E-9949-B3B8FD7BECF0}" type="slidenum">
              <a:rPr lang="en-US" smtClean="0"/>
              <a:pPr/>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6988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85D9A8-F4FE-41F0-ADD9-CD7D86BCF26A}"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62E072-AD29-424E-9949-B3B8FD7BECF0}" type="slidenum">
              <a:rPr lang="en-US" smtClean="0"/>
              <a:pPr/>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415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85D9A8-F4FE-41F0-ADD9-CD7D86BCF26A}" type="datetimeFigureOut">
              <a:rPr lang="en-US" smtClean="0"/>
              <a:pPr/>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62E072-AD29-424E-9949-B3B8FD7BECF0}" type="slidenum">
              <a:rPr lang="en-US" smtClean="0"/>
              <a:pPr/>
              <a:t>‹#›</a:t>
            </a:fld>
            <a:endParaRPr lang="en-US"/>
          </a:p>
        </p:txBody>
      </p:sp>
    </p:spTree>
    <p:extLst>
      <p:ext uri="{BB962C8B-B14F-4D97-AF65-F5344CB8AC3E}">
        <p14:creationId xmlns:p14="http://schemas.microsoft.com/office/powerpoint/2010/main" val="809369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85D9A8-F4FE-41F0-ADD9-CD7D86BCF26A}" type="datetimeFigureOut">
              <a:rPr lang="en-US" smtClean="0"/>
              <a:pPr/>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62E072-AD29-424E-9949-B3B8FD7BECF0}" type="slidenum">
              <a:rPr lang="en-US" smtClean="0"/>
              <a:pPr/>
              <a:t>‹#›</a:t>
            </a:fld>
            <a:endParaRPr lang="en-US"/>
          </a:p>
        </p:txBody>
      </p:sp>
    </p:spTree>
    <p:extLst>
      <p:ext uri="{BB962C8B-B14F-4D97-AF65-F5344CB8AC3E}">
        <p14:creationId xmlns:p14="http://schemas.microsoft.com/office/powerpoint/2010/main" val="1256979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85D9A8-F4FE-41F0-ADD9-CD7D86BCF26A}" type="datetimeFigureOut">
              <a:rPr lang="en-US" smtClean="0"/>
              <a:pPr/>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62E072-AD29-424E-9949-B3B8FD7BECF0}" type="slidenum">
              <a:rPr lang="en-US" smtClean="0"/>
              <a:pPr/>
              <a:t>‹#›</a:t>
            </a:fld>
            <a:endParaRPr lang="en-US"/>
          </a:p>
        </p:txBody>
      </p:sp>
    </p:spTree>
    <p:extLst>
      <p:ext uri="{BB962C8B-B14F-4D97-AF65-F5344CB8AC3E}">
        <p14:creationId xmlns:p14="http://schemas.microsoft.com/office/powerpoint/2010/main" val="4025655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B85D9A8-F4FE-41F0-ADD9-CD7D86BCF26A}"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62E072-AD29-424E-9949-B3B8FD7BECF0}" type="slidenum">
              <a:rPr lang="en-US" smtClean="0"/>
              <a:pPr/>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4750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0B85D9A8-F4FE-41F0-ADD9-CD7D86BCF26A}" type="datetimeFigureOut">
              <a:rPr lang="en-US" smtClean="0"/>
              <a:pPr/>
              <a:t>1/10/2026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A662E072-AD29-424E-9949-B3B8FD7BECF0}" type="slidenum">
              <a:rPr lang="en-US" smtClean="0"/>
              <a:pPr/>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0072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85D9A8-F4FE-41F0-ADD9-CD7D86BCF26A}"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62E072-AD29-424E-9949-B3B8FD7BECF0}" type="slidenum">
              <a:rPr lang="en-US" smtClean="0"/>
              <a:pPr/>
              <a:t>‹#›</a:t>
            </a:fld>
            <a:endParaRPr lang="en-US"/>
          </a:p>
        </p:txBody>
      </p:sp>
    </p:spTree>
    <p:extLst>
      <p:ext uri="{BB962C8B-B14F-4D97-AF65-F5344CB8AC3E}">
        <p14:creationId xmlns:p14="http://schemas.microsoft.com/office/powerpoint/2010/main" val="2997360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85D9A8-F4FE-41F0-ADD9-CD7D86BCF26A}"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62E072-AD29-424E-9949-B3B8FD7BECF0}" type="slidenum">
              <a:rPr lang="en-US" smtClean="0"/>
              <a:pPr/>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697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B85D9A8-F4FE-41F0-ADD9-CD7D86BCF26A}" type="datetimeFigureOut">
              <a:rPr lang="en-US" smtClean="0"/>
              <a:pPr/>
              <a:t>1/10/2026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A662E072-AD29-424E-9949-B3B8FD7BECF0}" type="slidenum">
              <a:rPr lang="en-US" smtClean="0"/>
              <a:pPr/>
              <a:t>‹#›</a:t>
            </a:fld>
            <a:endParaRPr lang="en-US"/>
          </a:p>
        </p:txBody>
      </p:sp>
    </p:spTree>
    <p:extLst>
      <p:ext uri="{BB962C8B-B14F-4D97-AF65-F5344CB8AC3E}">
        <p14:creationId xmlns:p14="http://schemas.microsoft.com/office/powerpoint/2010/main" val="284314472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7800" y="762000"/>
            <a:ext cx="7162800" cy="1295400"/>
          </a:xfrm>
        </p:spPr>
        <p:txBody>
          <a:bodyPr>
            <a:normAutofit/>
          </a:bodyPr>
          <a:lstStyle/>
          <a:p>
            <a:pPr algn="ctr"/>
            <a:r>
              <a:rPr lang="ne-NP" sz="4000" b="1" dirty="0"/>
              <a:t>जिल्ला न्यायाधीशहरुको भूमिका र जिम्मेवारी</a:t>
            </a:r>
            <a:endParaRPr lang="en-US" sz="4000" b="1" dirty="0"/>
          </a:p>
        </p:txBody>
      </p:sp>
      <p:sp>
        <p:nvSpPr>
          <p:cNvPr id="3" name="Subtitle 2"/>
          <p:cNvSpPr>
            <a:spLocks noGrp="1"/>
          </p:cNvSpPr>
          <p:nvPr>
            <p:ph type="subTitle" idx="1"/>
          </p:nvPr>
        </p:nvSpPr>
        <p:spPr>
          <a:xfrm>
            <a:off x="3886200" y="3810000"/>
            <a:ext cx="4343400" cy="1371600"/>
          </a:xfrm>
        </p:spPr>
        <p:txBody>
          <a:bodyPr>
            <a:normAutofit/>
          </a:bodyPr>
          <a:lstStyle/>
          <a:p>
            <a:pPr algn="r"/>
            <a:endParaRPr lang="ne-NP" b="1" dirty="0"/>
          </a:p>
          <a:p>
            <a:pPr algn="r"/>
            <a:r>
              <a:rPr lang="ne-NP" b="1" dirty="0"/>
              <a:t>हरि फुयाल</a:t>
            </a:r>
          </a:p>
          <a:p>
            <a:pPr algn="r"/>
            <a:r>
              <a:rPr lang="ne-NP" b="1" dirty="0"/>
              <a:t>न्यायाधीश</a:t>
            </a:r>
            <a:r>
              <a:rPr lang="en-US" b="1" dirty="0"/>
              <a:t>,</a:t>
            </a:r>
            <a:r>
              <a:rPr lang="ne-NP" b="1" dirty="0"/>
              <a:t> सर्वोच्च अदालत</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B14BA-B2BD-0707-C131-60B57A2B157D}"/>
              </a:ext>
            </a:extLst>
          </p:cNvPr>
          <p:cNvSpPr>
            <a:spLocks noGrp="1"/>
          </p:cNvSpPr>
          <p:nvPr>
            <p:ph type="title"/>
          </p:nvPr>
        </p:nvSpPr>
        <p:spPr>
          <a:xfrm>
            <a:off x="685800" y="228600"/>
            <a:ext cx="3505200" cy="381000"/>
          </a:xfrm>
        </p:spPr>
        <p:txBody>
          <a:bodyPr>
            <a:normAutofit fontScale="90000"/>
          </a:bodyPr>
          <a:lstStyle/>
          <a:p>
            <a:r>
              <a:rPr lang="ne-NP" b="1"/>
              <a:t>प्रस्तुतीकरणको खाका</a:t>
            </a:r>
            <a:endParaRPr lang="en-US" b="1" dirty="0"/>
          </a:p>
        </p:txBody>
      </p:sp>
      <p:sp>
        <p:nvSpPr>
          <p:cNvPr id="3" name="Content Placeholder 2">
            <a:extLst>
              <a:ext uri="{FF2B5EF4-FFF2-40B4-BE49-F238E27FC236}">
                <a16:creationId xmlns:a16="http://schemas.microsoft.com/office/drawing/2014/main" id="{603BEA95-852F-724B-1883-4DBDCB973FA4}"/>
              </a:ext>
            </a:extLst>
          </p:cNvPr>
          <p:cNvSpPr>
            <a:spLocks noGrp="1"/>
          </p:cNvSpPr>
          <p:nvPr>
            <p:ph idx="1"/>
          </p:nvPr>
        </p:nvSpPr>
        <p:spPr>
          <a:xfrm>
            <a:off x="762000" y="838200"/>
            <a:ext cx="8229600" cy="5410200"/>
          </a:xfrm>
        </p:spPr>
        <p:txBody>
          <a:bodyPr>
            <a:normAutofit fontScale="55000" lnSpcReduction="20000"/>
          </a:bodyPr>
          <a:lstStyle/>
          <a:p>
            <a:r>
              <a:rPr lang="ne-NP" sz="2800" dirty="0"/>
              <a:t>विषय प्रबेश</a:t>
            </a:r>
          </a:p>
          <a:p>
            <a:r>
              <a:rPr lang="ne-NP" sz="2800" dirty="0"/>
              <a:t>जिल्ला अदालत र जिल्ला न्यायाधीश</a:t>
            </a:r>
            <a:r>
              <a:rPr lang="en-US" sz="2800" dirty="0"/>
              <a:t> </a:t>
            </a:r>
            <a:r>
              <a:rPr lang="ne-NP" sz="2800" dirty="0"/>
              <a:t>सम्बन्धमा संबैधानिक व्यवस्था</a:t>
            </a:r>
          </a:p>
          <a:p>
            <a:r>
              <a:rPr lang="ne-NP" sz="2800" dirty="0"/>
              <a:t>जिल्ला अदालत र जिल्ला न्यायाधीश सम्बन्धमा कानूनी व्यवस्था</a:t>
            </a:r>
          </a:p>
          <a:p>
            <a:r>
              <a:rPr lang="ne-NP" sz="2800" dirty="0"/>
              <a:t>देवानी मुद्दाका सन्दर्भमा</a:t>
            </a:r>
          </a:p>
          <a:p>
            <a:r>
              <a:rPr lang="ne-NP" sz="2800" dirty="0"/>
              <a:t>फौजदारी मुद्दाका सन्दर्भमा</a:t>
            </a:r>
          </a:p>
          <a:p>
            <a:r>
              <a:rPr lang="ne-NP" sz="2800" dirty="0"/>
              <a:t>न्याय निरोपणका सम्बन्धमा जिल्ला न्यायाधीशको भूमिका</a:t>
            </a:r>
          </a:p>
          <a:p>
            <a:r>
              <a:rPr lang="ne-NP" sz="2800" dirty="0"/>
              <a:t>निषेधाज्ञा र वन्दिप्रत्यक्षीकरणको निवेदन सम्बन्धमा</a:t>
            </a:r>
            <a:endParaRPr lang="en-US" sz="2800" dirty="0"/>
          </a:p>
          <a:p>
            <a:r>
              <a:rPr lang="ne-NP" sz="2800" dirty="0"/>
              <a:t>फैसला कार्यान्वयनका सन्दर्भमा</a:t>
            </a:r>
          </a:p>
          <a:p>
            <a:r>
              <a:rPr lang="ne-NP" sz="2800" dirty="0"/>
              <a:t>न्यायिक काम कारवाही बाहेक अन्य व्यवस्थापकीय कार्यका सम्बन्धमा</a:t>
            </a:r>
          </a:p>
          <a:p>
            <a:r>
              <a:rPr lang="ne-NP" sz="2800" dirty="0"/>
              <a:t>बार बेन्च समन्वय</a:t>
            </a:r>
          </a:p>
          <a:p>
            <a:r>
              <a:rPr lang="ne-NP" sz="2800" dirty="0"/>
              <a:t>न्याय क्षेत्र समन्वय </a:t>
            </a:r>
          </a:p>
          <a:p>
            <a:r>
              <a:rPr lang="ne-NP" sz="2800" dirty="0"/>
              <a:t>जिल्ला अदालतको व्यवस्थापन लगायतका कार्यहरुमा व्यवस्थापकीय भूमिका आदि।</a:t>
            </a:r>
          </a:p>
          <a:p>
            <a:r>
              <a:rPr lang="ne-NP" sz="2800" dirty="0"/>
              <a:t>न्याय सम्पादनमा जिल्ला अदालतको भूमिकाका व्यवहारिक पक्षहरू</a:t>
            </a:r>
          </a:p>
          <a:p>
            <a:r>
              <a:rPr lang="ne-NP" sz="2800" dirty="0"/>
              <a:t>चुनौति</a:t>
            </a:r>
          </a:p>
          <a:p>
            <a:r>
              <a:rPr lang="ne-NP" sz="2600" dirty="0"/>
              <a:t>अवको बाटो</a:t>
            </a:r>
          </a:p>
          <a:p>
            <a:pPr marL="82296" indent="0">
              <a:buNone/>
            </a:pPr>
            <a:endParaRPr lang="ne-NP" dirty="0"/>
          </a:p>
          <a:p>
            <a:endParaRPr lang="ne-NP" dirty="0"/>
          </a:p>
          <a:p>
            <a:endParaRPr lang="ne-NP" dirty="0"/>
          </a:p>
        </p:txBody>
      </p:sp>
    </p:spTree>
    <p:extLst>
      <p:ext uri="{BB962C8B-B14F-4D97-AF65-F5344CB8AC3E}">
        <p14:creationId xmlns:p14="http://schemas.microsoft.com/office/powerpoint/2010/main" val="195808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370F2-F101-DC64-845F-9ACB27236E33}"/>
              </a:ext>
            </a:extLst>
          </p:cNvPr>
          <p:cNvSpPr>
            <a:spLocks noGrp="1"/>
          </p:cNvSpPr>
          <p:nvPr>
            <p:ph type="title"/>
          </p:nvPr>
        </p:nvSpPr>
        <p:spPr>
          <a:xfrm>
            <a:off x="628650" y="365127"/>
            <a:ext cx="2114550" cy="244473"/>
          </a:xfrm>
        </p:spPr>
        <p:txBody>
          <a:bodyPr>
            <a:normAutofit fontScale="90000"/>
          </a:bodyPr>
          <a:lstStyle/>
          <a:p>
            <a:br>
              <a:rPr lang="ne-NP" dirty="0"/>
            </a:br>
            <a:r>
              <a:rPr lang="ne-NP" dirty="0"/>
              <a:t>विषय प्रबेश</a:t>
            </a:r>
            <a:br>
              <a:rPr lang="ne-NP" dirty="0"/>
            </a:br>
            <a:endParaRPr lang="en-US" dirty="0"/>
          </a:p>
        </p:txBody>
      </p:sp>
      <p:sp>
        <p:nvSpPr>
          <p:cNvPr id="3" name="Content Placeholder 2">
            <a:extLst>
              <a:ext uri="{FF2B5EF4-FFF2-40B4-BE49-F238E27FC236}">
                <a16:creationId xmlns:a16="http://schemas.microsoft.com/office/drawing/2014/main" id="{1CFE51FF-510B-8F3B-4217-FCD5F7E32829}"/>
              </a:ext>
            </a:extLst>
          </p:cNvPr>
          <p:cNvSpPr>
            <a:spLocks noGrp="1"/>
          </p:cNvSpPr>
          <p:nvPr>
            <p:ph idx="1"/>
          </p:nvPr>
        </p:nvSpPr>
        <p:spPr>
          <a:xfrm>
            <a:off x="457200" y="762000"/>
            <a:ext cx="7802880" cy="5486400"/>
          </a:xfrm>
        </p:spPr>
        <p:txBody>
          <a:bodyPr>
            <a:normAutofit fontScale="25000" lnSpcReduction="20000"/>
          </a:bodyPr>
          <a:lstStyle/>
          <a:p>
            <a:pPr marL="82296" indent="0">
              <a:buNone/>
            </a:pPr>
            <a:endParaRPr lang="ne-NP" sz="4800" dirty="0"/>
          </a:p>
          <a:p>
            <a:pPr marL="82296" indent="0">
              <a:buNone/>
            </a:pPr>
            <a:r>
              <a:rPr lang="ne-NP" sz="4800" dirty="0"/>
              <a:t>नेपालको संविधान २०७२ को प्रस्तावनाले </a:t>
            </a:r>
          </a:p>
          <a:p>
            <a:pPr marL="82296" indent="0">
              <a:buNone/>
            </a:pPr>
            <a:r>
              <a:rPr lang="en-US" sz="4800" i="1" dirty="0"/>
              <a:t>“… </a:t>
            </a:r>
            <a:r>
              <a:rPr lang="ne-NP" sz="4800" i="1" dirty="0"/>
              <a:t>स्वतन्त्र, निष्पक्ष र सक्षम न्यायपालिका र कानूनी राज्यको अवधारणा लगायतका लोकतान्त्रिक मूल्य र मान्यतामा आधारित समाजवादप्रति प्रतिबद्ध रही समृद्ध राष्ट्र निर्माण गर्न।</a:t>
            </a:r>
            <a:r>
              <a:rPr lang="en-US" sz="4800" i="1" dirty="0"/>
              <a:t>”</a:t>
            </a:r>
          </a:p>
          <a:p>
            <a:pPr marL="82296" indent="0">
              <a:buNone/>
            </a:pPr>
            <a:r>
              <a:rPr lang="ne-NP" sz="4800" i="1" dirty="0">
                <a:latin typeface="Preeti" pitchFamily="2" charset="0"/>
              </a:rPr>
              <a:t>धारा १२६. न्याय सम्बन्धी अधिकार अदालतबाट प्रयोग हुने</a:t>
            </a:r>
            <a:r>
              <a:rPr lang="en-US" sz="4800" i="1" dirty="0">
                <a:latin typeface="Preeti" pitchFamily="2" charset="0"/>
              </a:rPr>
              <a:t>]M</a:t>
            </a:r>
          </a:p>
          <a:p>
            <a:pPr marL="82296" indent="0">
              <a:buNone/>
            </a:pPr>
            <a:r>
              <a:rPr lang="ne-NP" sz="4800" i="1" dirty="0">
                <a:latin typeface="Preeti" pitchFamily="2" charset="0"/>
              </a:rPr>
              <a:t>(१) नेपालको न्याय सम्बन्धी अधिकार यो संविधान, अन्य कानून र न्यायका मान्य सिद्धान्त बमोजिम अदालत तथा न्यायिक निकायबाट प्रयोग गरिनेछ । </a:t>
            </a:r>
            <a:endParaRPr lang="en-US" sz="4800" i="1" dirty="0">
              <a:latin typeface="Preeti" pitchFamily="2" charset="0"/>
            </a:endParaRPr>
          </a:p>
          <a:p>
            <a:pPr marL="82296" indent="0">
              <a:buNone/>
            </a:pPr>
            <a:r>
              <a:rPr lang="ne-NP" sz="4800" i="1" dirty="0"/>
              <a:t>धारा १२७. अदालतहरूः (१) नेपालमा देहाय बमोजिमका अदालतहरू रहनेछन् ः– </a:t>
            </a:r>
          </a:p>
          <a:p>
            <a:pPr marL="82296" indent="0">
              <a:buNone/>
            </a:pPr>
            <a:r>
              <a:rPr lang="ne-NP" sz="4800" i="1" dirty="0"/>
              <a:t>(क) सर्वोच्च अदालत, </a:t>
            </a:r>
          </a:p>
          <a:p>
            <a:pPr marL="82296" indent="0">
              <a:buNone/>
            </a:pPr>
            <a:r>
              <a:rPr lang="ne-NP" sz="4800" i="1" dirty="0"/>
              <a:t> (ख) उच्च अदालत, र (ग) जिल्ला अदालत । </a:t>
            </a:r>
          </a:p>
          <a:p>
            <a:pPr marL="82296" indent="0">
              <a:buNone/>
            </a:pPr>
            <a:r>
              <a:rPr lang="ne-NP" sz="4800" i="1" dirty="0"/>
              <a:t>(२) उपधारा (१) मा लेखिएदेखि बाहेक कानून बमोजिम मुद्दा हेर्न स्थानीय स्तरमा न्यायिक निकाय वा विवाद समाधानका वैकल्पिक उपाय अवलम्बन गर्न आवश्यकता अनुसार अन्य निकाय गठन गर्न सकिनेछ । </a:t>
            </a:r>
          </a:p>
          <a:p>
            <a:pPr marL="82296" indent="0">
              <a:buNone/>
            </a:pPr>
            <a:endParaRPr lang="ne-NP" sz="4800" i="1" dirty="0"/>
          </a:p>
          <a:p>
            <a:pPr marL="82296" indent="0">
              <a:buNone/>
            </a:pPr>
            <a:r>
              <a:rPr lang="ne-NP" sz="4800" dirty="0">
                <a:latin typeface="Preeti" pitchFamily="2" charset="0"/>
              </a:rPr>
              <a:t>धारा १४९ मा जिल्ला अदालतको न्यायाधीशको नियुक्ति, योग्यता तथा पारिश्रमिक र सेवाका अन्य शर्त ः (१) जिल्ला अदालतका न्यायाधीशको नियुक्ति न्याय परिषदको सिफारिसमा प्रधान न्यायाधीशबाट  हुनेछ। </a:t>
            </a:r>
            <a:endParaRPr lang="en-US" sz="4800" dirty="0">
              <a:latin typeface="Preeti" pitchFamily="2" charset="0"/>
            </a:endParaRPr>
          </a:p>
          <a:p>
            <a:pPr marL="0" indent="0">
              <a:buNone/>
            </a:pPr>
            <a:r>
              <a:rPr lang="ne-NP" sz="4800" dirty="0">
                <a:latin typeface="Preeti" pitchFamily="2" charset="0"/>
              </a:rPr>
              <a:t>(४) जिल्ला अदालतको न्यायाधीशको पारिश्रमिक र सेवाका अन्य शर्त संघीय कानून बमोजिम हुनेछ । </a:t>
            </a:r>
          </a:p>
          <a:p>
            <a:pPr marL="0" indent="0">
              <a:buNone/>
            </a:pPr>
            <a:r>
              <a:rPr lang="ne-NP" sz="4800" dirty="0">
                <a:latin typeface="Preeti" pitchFamily="2" charset="0"/>
              </a:rPr>
              <a:t>(५) जिल्ला अदालतको न्यायाधीशलाई मर्का पर्ने गरी निजको पारिश्रमिक र सेवाका अन्य शर्त परिवर्तन गरिने छ्रैन । </a:t>
            </a:r>
            <a:endParaRPr lang="ne-NP" sz="4800" i="1" dirty="0"/>
          </a:p>
          <a:p>
            <a:pPr marL="82296" indent="0">
              <a:buNone/>
            </a:pPr>
            <a:r>
              <a:rPr lang="ne-NP" sz="4800" dirty="0"/>
              <a:t>जिल्ला अदालत संविधान तथा कानूनतः शुरु तहको अदालतको रुपमा स्वीकार गरिएको अबस्था गरिएको।</a:t>
            </a:r>
          </a:p>
          <a:p>
            <a:r>
              <a:rPr lang="ne-NP" sz="4800" dirty="0"/>
              <a:t>नेपालको प्रत्येक जिल्लामा एउटा जिल्ला अदालत रहने छ ।</a:t>
            </a:r>
          </a:p>
          <a:p>
            <a:r>
              <a:rPr lang="ne-NP" sz="4800" dirty="0"/>
              <a:t>जिल्ला अदालतमा जिल्ला न्यायाधीश र आवश्यकता अनुसार अतिरिक्त जिल्ला न्यायाधीशहरू रहने छन् । </a:t>
            </a:r>
            <a:endParaRPr lang="en-US" sz="4800" dirty="0"/>
          </a:p>
          <a:p>
            <a:pPr marL="82296" indent="0">
              <a:buNone/>
            </a:pPr>
            <a:r>
              <a:rPr lang="ne-NP" sz="4800" i="1" dirty="0"/>
              <a:t>जिल्ला अदालतले कानूनमा अन्य निकायले शुरु कारवाही र किनारा हुने भनी लेखिएको अबस्था बाहेक आफ्नो अधिकार क्षेत्र भित्रका प्रत्येक मुद्दाको शुरु कारवाही र किनारा हुने कानूनी व्यवस्था रहेको छ।</a:t>
            </a:r>
          </a:p>
          <a:p>
            <a:pPr marL="82296" indent="0">
              <a:buNone/>
            </a:pPr>
            <a:r>
              <a:rPr lang="ne-NP" sz="4800" i="1" dirty="0"/>
              <a:t>जिल्ला अदालतलाई खास गरी भौगोलिक क्षेत्राधिकार प्रदान गरिएको अबस्था छ।</a:t>
            </a:r>
          </a:p>
          <a:p>
            <a:pPr marL="82296" indent="0">
              <a:buNone/>
            </a:pPr>
            <a:endParaRPr lang="en-US" dirty="0"/>
          </a:p>
        </p:txBody>
      </p:sp>
    </p:spTree>
    <p:extLst>
      <p:ext uri="{BB962C8B-B14F-4D97-AF65-F5344CB8AC3E}">
        <p14:creationId xmlns:p14="http://schemas.microsoft.com/office/powerpoint/2010/main" val="278838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B54EA-CEF8-5706-9DE5-A59E843B6637}"/>
              </a:ext>
            </a:extLst>
          </p:cNvPr>
          <p:cNvSpPr>
            <a:spLocks noGrp="1"/>
          </p:cNvSpPr>
          <p:nvPr>
            <p:ph type="title"/>
          </p:nvPr>
        </p:nvSpPr>
        <p:spPr>
          <a:xfrm>
            <a:off x="609600" y="533399"/>
            <a:ext cx="6629400" cy="228601"/>
          </a:xfrm>
        </p:spPr>
        <p:txBody>
          <a:bodyPr>
            <a:normAutofit fontScale="90000"/>
          </a:bodyPr>
          <a:lstStyle/>
          <a:p>
            <a:r>
              <a:rPr lang="ne-NP" dirty="0"/>
              <a:t>न्याय प्रशासन ऐन, २०७३ को दफा ४</a:t>
            </a:r>
            <a:endParaRPr lang="en-US" dirty="0"/>
          </a:p>
        </p:txBody>
      </p:sp>
      <p:sp>
        <p:nvSpPr>
          <p:cNvPr id="3" name="Content Placeholder 2">
            <a:extLst>
              <a:ext uri="{FF2B5EF4-FFF2-40B4-BE49-F238E27FC236}">
                <a16:creationId xmlns:a16="http://schemas.microsoft.com/office/drawing/2014/main" id="{8735EBB6-6C0E-0D47-226B-2FB196628E88}"/>
              </a:ext>
            </a:extLst>
          </p:cNvPr>
          <p:cNvSpPr>
            <a:spLocks noGrp="1"/>
          </p:cNvSpPr>
          <p:nvPr>
            <p:ph idx="1"/>
          </p:nvPr>
        </p:nvSpPr>
        <p:spPr>
          <a:xfrm>
            <a:off x="609600" y="990600"/>
            <a:ext cx="7905750" cy="5186363"/>
          </a:xfrm>
        </p:spPr>
        <p:txBody>
          <a:bodyPr/>
          <a:lstStyle/>
          <a:p>
            <a:r>
              <a:rPr lang="ne-NP" dirty="0">
                <a:latin typeface="Preeti" pitchFamily="2" charset="0"/>
              </a:rPr>
              <a:t>न्याय परिषदले उपदफा (७) बमोजिम कायम भएको कूल दरबन्दीको अधीनमा रही कार्यबोझ अनुसार प्रत्येक जिल्ला अदालतमा रहने न्यायाधीशको सङ्ख्या निर्धारण गर्नेछ र त्यसरी निर्धारण गरेको न्यायाधीशको सङ्ख्या कार्यबोझको आधारमा थपघट गर्न सक्नेछ। </a:t>
            </a:r>
          </a:p>
          <a:p>
            <a:r>
              <a:rPr lang="ne-NP" dirty="0">
                <a:latin typeface="Preeti" pitchFamily="2" charset="0"/>
              </a:rPr>
              <a:t>कुनै जिल्ला अदालतमा एकभन्दा बढी जिल्ला न्यायाधीश रहेकोमा वरिष्ठतम जिल्ला न्यायाधीशले प्रमुख भई काम गर्नेछ। </a:t>
            </a:r>
          </a:p>
          <a:p>
            <a:r>
              <a:rPr lang="ne-NP" dirty="0">
                <a:latin typeface="Preeti" pitchFamily="2" charset="0"/>
              </a:rPr>
              <a:t>प्रधान न्यायाधीशले कुनै जिल्ला अदालतको जिल्ला न्यायाधीशलाई निश्चित अवधिको लागि अर्को जिल्ला अदालतको न्यायाधीशको रूपमा समेत काम गर्न तोक्न सक्नेछ। </a:t>
            </a:r>
          </a:p>
          <a:p>
            <a:r>
              <a:rPr lang="ne-NP" dirty="0">
                <a:latin typeface="Preeti" pitchFamily="2" charset="0"/>
              </a:rPr>
              <a:t>(६) उपदफा (५) बमोजिम तोकिएको जिल्ला न्यायाधीशले तोकेको अवधिभर सम्बन्धित जिल्लामा रही काम गर्नु पर्नेछ।</a:t>
            </a:r>
          </a:p>
          <a:p>
            <a:endParaRPr lang="en-US" dirty="0"/>
          </a:p>
        </p:txBody>
      </p:sp>
    </p:spTree>
    <p:extLst>
      <p:ext uri="{BB962C8B-B14F-4D97-AF65-F5344CB8AC3E}">
        <p14:creationId xmlns:p14="http://schemas.microsoft.com/office/powerpoint/2010/main" val="3218376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D73F-551D-DBAA-D7D2-B589687D80D0}"/>
              </a:ext>
            </a:extLst>
          </p:cNvPr>
          <p:cNvSpPr>
            <a:spLocks noGrp="1"/>
          </p:cNvSpPr>
          <p:nvPr>
            <p:ph type="title"/>
          </p:nvPr>
        </p:nvSpPr>
        <p:spPr>
          <a:xfrm>
            <a:off x="628650" y="365127"/>
            <a:ext cx="6762750" cy="396874"/>
          </a:xfrm>
        </p:spPr>
        <p:txBody>
          <a:bodyPr>
            <a:normAutofit fontScale="90000"/>
          </a:bodyPr>
          <a:lstStyle/>
          <a:p>
            <a:r>
              <a:rPr lang="ne-NP" dirty="0"/>
              <a:t>न्याय प्रशासन ऐन, २०७३ को दफा ७</a:t>
            </a:r>
            <a:endParaRPr lang="en-US" dirty="0"/>
          </a:p>
        </p:txBody>
      </p:sp>
      <p:sp>
        <p:nvSpPr>
          <p:cNvPr id="3" name="Content Placeholder 2">
            <a:extLst>
              <a:ext uri="{FF2B5EF4-FFF2-40B4-BE49-F238E27FC236}">
                <a16:creationId xmlns:a16="http://schemas.microsoft.com/office/drawing/2014/main" id="{68254F02-0582-F7D1-C2BE-465FE01AC6F2}"/>
              </a:ext>
            </a:extLst>
          </p:cNvPr>
          <p:cNvSpPr>
            <a:spLocks noGrp="1"/>
          </p:cNvSpPr>
          <p:nvPr>
            <p:ph idx="1"/>
          </p:nvPr>
        </p:nvSpPr>
        <p:spPr>
          <a:xfrm>
            <a:off x="628650" y="762001"/>
            <a:ext cx="7886700" cy="5414962"/>
          </a:xfrm>
        </p:spPr>
        <p:txBody>
          <a:bodyPr>
            <a:normAutofit fontScale="85000" lnSpcReduction="10000"/>
          </a:bodyPr>
          <a:lstStyle/>
          <a:p>
            <a:pPr marL="0" indent="0">
              <a:buNone/>
            </a:pPr>
            <a:r>
              <a:rPr lang="ne-NP" i="1" u="sng" dirty="0"/>
              <a:t>जिल्ला अदालतको अधिकारक्षेत्र सम्बन्धी कानूनी व्यवस्थाः </a:t>
            </a:r>
          </a:p>
          <a:p>
            <a:r>
              <a:rPr lang="ne-NP" dirty="0"/>
              <a:t>जिल्ला अदालतको अधिकारक्षेत्र (१) प्रचलित कानूनमा अन्यथा व्यवस्था भएकोमा बाहेक जिल्ला अदालतलाई आफ्नो जिल्ला भित्रको जुनसुकै प्रकृतिका मुद्दा र संविधानको धारा १४५ को उपधारा (२) बमोजिम उच्च अदालतले सुनुवाई गर्न आदेश दिएको मुद्दामा शुरू कारबाही र किनारा गर्ने अधिकार हुनेछ । </a:t>
            </a:r>
            <a:br>
              <a:rPr lang="ne-NP" dirty="0"/>
            </a:br>
            <a:r>
              <a:rPr lang="ne-NP" dirty="0"/>
              <a:t>(२) जिल्ला अदालतलाई आफ्नो जिल्ला भित्र कसैले कुनै व्यक्तिलाई गैरकानूनी रूपले थुनामा राखेमा त्यस्तो व्यक्तिको हकको प्रचलनको लागि बन्दीप्रत्यक्षीकरणको आदेश जारी गर्ने अधिकार हुनेछ। </a:t>
            </a:r>
            <a:endParaRPr lang="en-US" dirty="0"/>
          </a:p>
          <a:p>
            <a:r>
              <a:rPr lang="ne-NP" dirty="0"/>
              <a:t>(३) जिल्ला अदालतलाई आफ्नो जिल्ला भित्र कुनै व्यक्ति वा निकायले कुनै व्यक्तिको कानून प्रदत्त हकमा आघात पुरयाएमा वा आघात पुरयाउने आशङ्का भएमा त्यस्तो हकको प्रचलनको लागि निषेधाज्ञाको आदेश जारी गर्ने अधिकार हुनेछ।</a:t>
            </a:r>
            <a:endParaRPr lang="en-US" dirty="0"/>
          </a:p>
          <a:p>
            <a:r>
              <a:rPr lang="ne-NP" dirty="0"/>
              <a:t>(४) प्रचलित कानूनमा अन्यथा व्यवस्था भएकोमा बाहेक जिल्ला अदालतलाई आफ्नो जिल्लाभित्र संघीय कानून बमोजिम अर्धन्यायिक निकाय वा अधिकारीले गरेको निर्णय वा अन्तिम आदेश उपर र प्रदेश </a:t>
            </a:r>
          </a:p>
          <a:p>
            <a:pPr marL="233363" indent="-58738" algn="just">
              <a:buNone/>
            </a:pPr>
            <a:r>
              <a:rPr lang="ne-NP" dirty="0"/>
              <a:t> कानून बमोजिम गठित स्थानीयस्तरका न्यायिक निकायले गरेको       निर्णय वा अन्तिम आदेश उपर पुनरावेदन सुन्ने अधिकार हुनेछ ।</a:t>
            </a:r>
            <a:endParaRPr lang="en-US" dirty="0"/>
          </a:p>
        </p:txBody>
      </p:sp>
    </p:spTree>
    <p:extLst>
      <p:ext uri="{BB962C8B-B14F-4D97-AF65-F5344CB8AC3E}">
        <p14:creationId xmlns:p14="http://schemas.microsoft.com/office/powerpoint/2010/main" val="1244284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78649-D8CD-3F3A-4305-CC8ACD176F6B}"/>
              </a:ext>
            </a:extLst>
          </p:cNvPr>
          <p:cNvSpPr>
            <a:spLocks noGrp="1"/>
          </p:cNvSpPr>
          <p:nvPr>
            <p:ph type="title"/>
          </p:nvPr>
        </p:nvSpPr>
        <p:spPr/>
        <p:txBody>
          <a:bodyPr>
            <a:normAutofit/>
          </a:bodyPr>
          <a:lstStyle/>
          <a:p>
            <a:r>
              <a:rPr lang="ne-NP" dirty="0"/>
              <a:t>न्यायिक कारवाहीमा जिल्ला न्यायाधीशको संलग्नता र भूमिका </a:t>
            </a:r>
            <a:endParaRPr lang="en-US" dirty="0"/>
          </a:p>
        </p:txBody>
      </p:sp>
      <p:sp>
        <p:nvSpPr>
          <p:cNvPr id="3" name="Content Placeholder 2">
            <a:extLst>
              <a:ext uri="{FF2B5EF4-FFF2-40B4-BE49-F238E27FC236}">
                <a16:creationId xmlns:a16="http://schemas.microsoft.com/office/drawing/2014/main" id="{7F55D90F-CA19-E508-7FA7-A82232CC5E68}"/>
              </a:ext>
            </a:extLst>
          </p:cNvPr>
          <p:cNvSpPr>
            <a:spLocks noGrp="1"/>
          </p:cNvSpPr>
          <p:nvPr>
            <p:ph idx="1"/>
          </p:nvPr>
        </p:nvSpPr>
        <p:spPr>
          <a:xfrm>
            <a:off x="628650" y="1600200"/>
            <a:ext cx="7886700" cy="4576763"/>
          </a:xfrm>
        </p:spPr>
        <p:txBody>
          <a:bodyPr>
            <a:normAutofit fontScale="92500" lnSpcReduction="10000"/>
          </a:bodyPr>
          <a:lstStyle/>
          <a:p>
            <a:r>
              <a:rPr lang="ne-NP" sz="2400" i="1" u="sng" dirty="0"/>
              <a:t>देवानी मुद्दाका सन्दर्भमाः</a:t>
            </a:r>
            <a:br>
              <a:rPr lang="ne-NP" dirty="0"/>
            </a:br>
            <a:r>
              <a:rPr lang="ne-NP" dirty="0"/>
              <a:t>कानूनमा अन्यथा व्यवस्था भएकोमा बाहेक प्रत्येक देवानी मुद्दाको शुरु कारवाही र किनारा गर्ने क्षेत्राधिकार जिल्ला अदालतलाई हुने भन्ने व्यवस्था।</a:t>
            </a:r>
          </a:p>
          <a:p>
            <a:r>
              <a:rPr lang="ne-NP" i="1" dirty="0"/>
              <a:t>मुलुकी देवानी कार्यविधि संहिता</a:t>
            </a:r>
            <a:r>
              <a:rPr lang="en-US" i="1" dirty="0"/>
              <a:t>,</a:t>
            </a:r>
            <a:r>
              <a:rPr lang="ne-NP" i="1" dirty="0"/>
              <a:t> २०७४ को दफा १८ (१) बमोजिम मुद्दाको विषयबस्तुको प्रकृतिले स्थलगत रुपमा जाँचबुझ गर्नु पर्ने अबस्था भएको कुनै पनि अचल सम्पत्ति सम्बन्धी विषय सुविधाभार</a:t>
            </a:r>
            <a:r>
              <a:rPr lang="en-US" i="1" dirty="0"/>
              <a:t>,</a:t>
            </a:r>
            <a:r>
              <a:rPr lang="ne-NP" i="1" dirty="0"/>
              <a:t> कुलो</a:t>
            </a:r>
            <a:r>
              <a:rPr lang="en-US" i="1" dirty="0"/>
              <a:t>,</a:t>
            </a:r>
            <a:r>
              <a:rPr lang="ne-NP" i="1" dirty="0"/>
              <a:t> साँध सम्बन्धी मुद्दा र फिरादपत्रबाट घर जग्गा वा सम्पत्ति जाँच्नु पर्ने देखिएको मुद्दाको कारबाही सुनुवाई र किनारा गर्ने अधिकार त्यस्तो घर</a:t>
            </a:r>
            <a:r>
              <a:rPr lang="en-US" i="1" dirty="0"/>
              <a:t>,</a:t>
            </a:r>
            <a:r>
              <a:rPr lang="ne-NP" i="1" dirty="0"/>
              <a:t> जग्गा वा सम्पत्ति रहेको जिल्लाको जिल्ला अदालतलाई हुनेछ।</a:t>
            </a:r>
          </a:p>
          <a:p>
            <a:r>
              <a:rPr lang="ne-NP" i="1" dirty="0"/>
              <a:t>सोका आधारमा मुलुकी देवानी संहिता</a:t>
            </a:r>
            <a:r>
              <a:rPr lang="en-US" i="1" dirty="0"/>
              <a:t>,</a:t>
            </a:r>
            <a:r>
              <a:rPr lang="ne-NP" i="1" dirty="0"/>
              <a:t> २०७४ अन्तर्गतका कुनै विशेष कानूनले अन्य अदालत वा निकायलाई क्षेत्राधिकार नतोकिएको अबस्था बाहेक सम्पत्ति जाँचुबझ गरी मुद्दाको कारवाही किनारा गर्नु पर्ने अबस्थामा त्यसो सम्पत्ति रहेको जिल्ला अदालतलाई मुद्दा हेर्ने अधिकार जिल्ला अदालतलाई हुने।</a:t>
            </a:r>
            <a:endParaRPr lang="en-US" i="1" dirty="0"/>
          </a:p>
          <a:p>
            <a:endParaRPr lang="en-US" dirty="0"/>
          </a:p>
        </p:txBody>
      </p:sp>
    </p:spTree>
    <p:extLst>
      <p:ext uri="{BB962C8B-B14F-4D97-AF65-F5344CB8AC3E}">
        <p14:creationId xmlns:p14="http://schemas.microsoft.com/office/powerpoint/2010/main" val="2956825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C215-9D13-3117-4BC0-279205B0615F}"/>
              </a:ext>
            </a:extLst>
          </p:cNvPr>
          <p:cNvSpPr>
            <a:spLocks noGrp="1"/>
          </p:cNvSpPr>
          <p:nvPr>
            <p:ph type="title"/>
          </p:nvPr>
        </p:nvSpPr>
        <p:spPr>
          <a:xfrm>
            <a:off x="685800" y="228600"/>
            <a:ext cx="4876800" cy="381000"/>
          </a:xfrm>
        </p:spPr>
        <p:txBody>
          <a:bodyPr>
            <a:noAutofit/>
          </a:bodyPr>
          <a:lstStyle/>
          <a:p>
            <a:r>
              <a:rPr lang="ne-NP" sz="3200" dirty="0"/>
              <a:t>फौजदारी मुद्दाका सन्दर्भमा</a:t>
            </a:r>
            <a:endParaRPr lang="en-US" sz="3200" dirty="0"/>
          </a:p>
        </p:txBody>
      </p:sp>
      <p:sp>
        <p:nvSpPr>
          <p:cNvPr id="3" name="Content Placeholder 2">
            <a:extLst>
              <a:ext uri="{FF2B5EF4-FFF2-40B4-BE49-F238E27FC236}">
                <a16:creationId xmlns:a16="http://schemas.microsoft.com/office/drawing/2014/main" id="{FC655B86-D6FB-6E9D-7E45-F77FE578A0E8}"/>
              </a:ext>
            </a:extLst>
          </p:cNvPr>
          <p:cNvSpPr>
            <a:spLocks noGrp="1"/>
          </p:cNvSpPr>
          <p:nvPr>
            <p:ph idx="1"/>
          </p:nvPr>
        </p:nvSpPr>
        <p:spPr>
          <a:xfrm>
            <a:off x="533400" y="762000"/>
            <a:ext cx="8400288" cy="5486400"/>
          </a:xfrm>
        </p:spPr>
        <p:txBody>
          <a:bodyPr>
            <a:normAutofit fontScale="77500" lnSpcReduction="20000"/>
          </a:bodyPr>
          <a:lstStyle/>
          <a:p>
            <a:pPr algn="just"/>
            <a:r>
              <a:rPr lang="ne-NP" sz="2800" dirty="0">
                <a:solidFill>
                  <a:srgbClr val="00B0F0"/>
                </a:solidFill>
              </a:rPr>
              <a:t>मुलुकी फौजदारी कार्यविधि संहिता २०७४ को दफा ४५ बमोजिम कुनै कसुर सम्बन्धी मुद्दाको कारबाही र किनारा गर्ने अधिकार त्यस्तो कसुर भएको क्षेत्रको अदालतलाई हुनेछ भन्ने व्यवस्था छ।</a:t>
            </a:r>
          </a:p>
          <a:p>
            <a:pPr algn="just"/>
            <a:r>
              <a:rPr lang="ne-NP" sz="2800" dirty="0"/>
              <a:t>कुनै कसुर विभिन्न क्षेत्रहरुमा भई कुन क्षेत्रमा कसुर कायम हुने काम</a:t>
            </a:r>
            <a:r>
              <a:rPr lang="en-US" sz="2800" dirty="0"/>
              <a:t> </a:t>
            </a:r>
            <a:r>
              <a:rPr lang="ne-NP" sz="2800" dirty="0"/>
              <a:t>यकिन हुन नसकेमा काम शुरु भएको वा त्यस्तो काम सम्पन्न भएको क्षत्रेहरु मध्ये कुनै क्षेत्रको अदालतलाई हुने। (दफा ४५ (घ)</a:t>
            </a:r>
          </a:p>
          <a:p>
            <a:r>
              <a:rPr lang="ne-NP" sz="2800" i="1" dirty="0"/>
              <a:t>अधिकार क्षेत्र नतोकिएको स्थितिमा शुरू जिल्ला अदालतले आफ्नो इलाका भित्रको मुद्दाको शुरू कारवाही र किनारा गर्ने । (ने.का.प. २०४५, नि.नं. ३३५६, पृ. ११४)</a:t>
            </a:r>
          </a:p>
          <a:p>
            <a:r>
              <a:rPr lang="ne-NP" sz="2800" i="1" dirty="0"/>
              <a:t>कानूनी आधार उल्लेख नगरेको अवस्थामा क्षेत्राधिकार ग्रहण गर्न मिल्दैन ।</a:t>
            </a:r>
          </a:p>
          <a:p>
            <a:r>
              <a:rPr lang="ne-NP" sz="2800" i="1" dirty="0"/>
              <a:t>जिल्ला अदालतको इलाका भित्र भएपनि मुद्दा हेर्ने अर्को निकाय वा अधिकारी तोकिएको अवस्थामा क्षेत्राधिकार ग्रहण गर्न मिल्दैन।</a:t>
            </a:r>
            <a:endParaRPr lang="en-US" sz="2800" i="1" dirty="0"/>
          </a:p>
          <a:p>
            <a:pPr algn="just"/>
            <a:endParaRPr lang="ne-NP" sz="2800" dirty="0"/>
          </a:p>
          <a:p>
            <a:pPr marL="82296" indent="0" algn="just">
              <a:buNone/>
            </a:pPr>
            <a:endParaRPr lang="ne-NP" sz="2800" dirty="0"/>
          </a:p>
          <a:p>
            <a:endParaRPr lang="ne-NP" dirty="0"/>
          </a:p>
          <a:p>
            <a:endParaRPr lang="en-US" dirty="0"/>
          </a:p>
        </p:txBody>
      </p:sp>
    </p:spTree>
    <p:extLst>
      <p:ext uri="{BB962C8B-B14F-4D97-AF65-F5344CB8AC3E}">
        <p14:creationId xmlns:p14="http://schemas.microsoft.com/office/powerpoint/2010/main" val="1749501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AACB9-3A4B-A6A9-6F30-4A791399FA1C}"/>
              </a:ext>
            </a:extLst>
          </p:cNvPr>
          <p:cNvSpPr>
            <a:spLocks noGrp="1"/>
          </p:cNvSpPr>
          <p:nvPr>
            <p:ph type="title"/>
          </p:nvPr>
        </p:nvSpPr>
        <p:spPr>
          <a:xfrm>
            <a:off x="628650" y="365127"/>
            <a:ext cx="4476750" cy="473074"/>
          </a:xfrm>
        </p:spPr>
        <p:txBody>
          <a:bodyPr>
            <a:normAutofit fontScale="90000"/>
          </a:bodyPr>
          <a:lstStyle/>
          <a:p>
            <a:r>
              <a:rPr lang="ne-NP" dirty="0"/>
              <a:t>निषेधाज्ञाका सन्दर्भमा</a:t>
            </a:r>
            <a:endParaRPr lang="en-US" dirty="0"/>
          </a:p>
        </p:txBody>
      </p:sp>
      <p:sp>
        <p:nvSpPr>
          <p:cNvPr id="3" name="Content Placeholder 2">
            <a:extLst>
              <a:ext uri="{FF2B5EF4-FFF2-40B4-BE49-F238E27FC236}">
                <a16:creationId xmlns:a16="http://schemas.microsoft.com/office/drawing/2014/main" id="{A53AE38C-576D-4221-802E-03A8C1F88A26}"/>
              </a:ext>
            </a:extLst>
          </p:cNvPr>
          <p:cNvSpPr>
            <a:spLocks noGrp="1"/>
          </p:cNvSpPr>
          <p:nvPr>
            <p:ph idx="1"/>
          </p:nvPr>
        </p:nvSpPr>
        <p:spPr>
          <a:xfrm>
            <a:off x="457200" y="990600"/>
            <a:ext cx="8476488" cy="5257800"/>
          </a:xfrm>
        </p:spPr>
        <p:txBody>
          <a:bodyPr>
            <a:normAutofit/>
          </a:bodyPr>
          <a:lstStyle/>
          <a:p>
            <a:r>
              <a:rPr lang="ne-NP" dirty="0"/>
              <a:t>कुनै पनि व्यक्तिको कानून प्रदत्त नागरिक अधिकारमा आघात पर्न सक्ने आशंकाको  विद्यमानता भएको अबस्थामा कुनै कार्यलाई रोक्न वा नगर्न गराउनु भनी जारी गरिने आदेश</a:t>
            </a:r>
          </a:p>
          <a:p>
            <a:r>
              <a:rPr lang="ne-NP" b="1" dirty="0">
                <a:solidFill>
                  <a:srgbClr val="00B0F0"/>
                </a:solidFill>
              </a:rPr>
              <a:t>मुलुकी देवानी संहिता २०७४ को दफा २६ (३) बमोजिम कसैले संहिताको परिच्छेद ३ विपरित कुनै काम कारवाही गरेमा वा गर्न लागेको पर्याप्त आशंङ्का भएमा त्यस्तो काम कारवाहीबाट मर्का पर्न जाने व्यक्तिले आफ्नो अधिकारको प्रचलनका लागि प्रादेशिक क्षेत्राधिकार भएको उच्च वा जिल्ला अदालतमा उजुर गर्न सक्ने भन्ने व्यवस्था छ।</a:t>
            </a:r>
          </a:p>
          <a:p>
            <a:r>
              <a:rPr lang="ne-NP" b="1" dirty="0">
                <a:solidFill>
                  <a:srgbClr val="00B0F0"/>
                </a:solidFill>
              </a:rPr>
              <a:t>निषेधाज्ञाको निवेदनमा अन्तरिम आदेशको माग भएमा जारी हुने नहुने अबस्थाको यकिन गरी कुनै अवधि तोकि वा नतोकी त्यस्तो आदेश जारी गर्न सक्ने अबस्था रहन्छ।</a:t>
            </a:r>
          </a:p>
          <a:p>
            <a:endParaRPr lang="en-US" dirty="0"/>
          </a:p>
        </p:txBody>
      </p:sp>
    </p:spTree>
    <p:extLst>
      <p:ext uri="{BB962C8B-B14F-4D97-AF65-F5344CB8AC3E}">
        <p14:creationId xmlns:p14="http://schemas.microsoft.com/office/powerpoint/2010/main" val="251486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8B094-74DF-2EC3-6F1C-EC827D28E2C5}"/>
              </a:ext>
            </a:extLst>
          </p:cNvPr>
          <p:cNvSpPr>
            <a:spLocks noGrp="1"/>
          </p:cNvSpPr>
          <p:nvPr>
            <p:ph type="title"/>
          </p:nvPr>
        </p:nvSpPr>
        <p:spPr>
          <a:xfrm>
            <a:off x="628650" y="152400"/>
            <a:ext cx="7886700" cy="762001"/>
          </a:xfrm>
        </p:spPr>
        <p:txBody>
          <a:bodyPr/>
          <a:lstStyle/>
          <a:p>
            <a:r>
              <a:rPr lang="ne-NP" sz="2000" dirty="0"/>
              <a:t>क्रमशः निषेधाज्ञाको निवेदन (जिल्ला अदालत नियमावली २०७५ को नियम ३४)</a:t>
            </a:r>
            <a:endParaRPr lang="en-US" dirty="0"/>
          </a:p>
        </p:txBody>
      </p:sp>
      <p:sp>
        <p:nvSpPr>
          <p:cNvPr id="3" name="Content Placeholder 2">
            <a:extLst>
              <a:ext uri="{FF2B5EF4-FFF2-40B4-BE49-F238E27FC236}">
                <a16:creationId xmlns:a16="http://schemas.microsoft.com/office/drawing/2014/main" id="{8B01ECAB-D765-302D-205E-D6472922F842}"/>
              </a:ext>
            </a:extLst>
          </p:cNvPr>
          <p:cNvSpPr>
            <a:spLocks noGrp="1"/>
          </p:cNvSpPr>
          <p:nvPr>
            <p:ph idx="1"/>
          </p:nvPr>
        </p:nvSpPr>
        <p:spPr>
          <a:xfrm>
            <a:off x="628650" y="914402"/>
            <a:ext cx="7886700" cy="5262562"/>
          </a:xfrm>
        </p:spPr>
        <p:txBody>
          <a:bodyPr>
            <a:normAutofit fontScale="85000" lnSpcReduction="20000"/>
          </a:bodyPr>
          <a:lstStyle/>
          <a:p>
            <a:r>
              <a:rPr lang="ne-NP" dirty="0"/>
              <a:t>(१) न्याय प्रशासन ऐनको दफा ७ को उपदफा (३) अन्तर्गत निषेधाज्ञाको निवेदनपत्र दिंदा अन्य कुराका अन्य कुराहरुका अतिरिक्त देहायका कुराहरू समेत खुलाउनु पर्ने – (क) अदालतको अधिकार क्षेत्र कुरा, (ख) नागरिक अधिकारमा आघात हुने  कसरी आघात हुने सो कुरा, (ग) निवेदकले मागेको उपचार र (घ) सो उपचार पाउँन सक्ने आघारहरु ।</a:t>
            </a:r>
          </a:p>
          <a:p>
            <a:r>
              <a:rPr lang="ne-NP" sz="2200" dirty="0"/>
              <a:t>जिल्ला अदालत नियमावली २०७५ को नियम ३४ ले निवेदनपत्रको व्यहोराबाट अदालतले प्रथम दृष्टि (प्राइमाफेसी) मा नै गरे </a:t>
            </a:r>
            <a:r>
              <a:rPr lang="ne-NP" dirty="0"/>
              <a:t>विराए जस्तो देखिन आएमा तोकिएको तारेखका दिन निवेदन पत्रमा माग गरिए बमोजिमको आदेश जारी हुनु नपर्ने कुनै कारण भए सो कारण देखाउन लिखित जवाफ लिई आउन भनी प्रत्यर्थिका नाममा आदेश जारी गर्न सक्नेछ।</a:t>
            </a:r>
          </a:p>
          <a:p>
            <a:r>
              <a:rPr lang="ne-NP" dirty="0"/>
              <a:t>अदालतले निषेधाज्ञाको निवेदन उपर सुनुवाई गर्दा अदालतले आवश्यक देखेमा खास अवधि तोकी अन्तरिम आदेश जारी गर्न वा सो अन्तरिम आदेशलाई निरन्तरता दिनु पर्ने नपर्ने सम्बन्धमा अर्को पक्षलाई झिकाउन सक्ने।</a:t>
            </a:r>
          </a:p>
          <a:p>
            <a:r>
              <a:rPr lang="ne-NP" dirty="0"/>
              <a:t>अन्तरिम आदेशको सम्बन्धमा छलफल हुँदा आफ्नो हितमा अन्तरिम आदेश जारी भएको कारणले रिट निवेदनको अन्तिम निर्णय पश्चात अर्को पक्षलाई क्षति हुने अबस्था देखिएमा प्रचलित कानून बमोजिम क्षतिपूर्ति व्यहोर्ने लिखित प्रतिबद्धता व्यक्त गरेमा इजलासले शर्त सहित अन्तरिम आदेश जारी गर्न सक्ने।</a:t>
            </a:r>
          </a:p>
          <a:p>
            <a:endParaRPr lang="en-US" dirty="0"/>
          </a:p>
        </p:txBody>
      </p:sp>
    </p:spTree>
    <p:extLst>
      <p:ext uri="{BB962C8B-B14F-4D97-AF65-F5344CB8AC3E}">
        <p14:creationId xmlns:p14="http://schemas.microsoft.com/office/powerpoint/2010/main" val="1704219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60CC0-A574-8F47-045A-CCDF0A9CFCD6}"/>
              </a:ext>
            </a:extLst>
          </p:cNvPr>
          <p:cNvSpPr>
            <a:spLocks noGrp="1"/>
          </p:cNvSpPr>
          <p:nvPr>
            <p:ph type="title"/>
          </p:nvPr>
        </p:nvSpPr>
        <p:spPr/>
        <p:txBody>
          <a:bodyPr>
            <a:normAutofit/>
          </a:bodyPr>
          <a:lstStyle/>
          <a:p>
            <a:r>
              <a:rPr lang="ne-NP" dirty="0"/>
              <a:t>बन्दीप्रत्यक्षीकरणको रिट सुन्ने सन्दर्भ</a:t>
            </a:r>
            <a:endParaRPr lang="en-US" dirty="0"/>
          </a:p>
        </p:txBody>
      </p:sp>
      <p:sp>
        <p:nvSpPr>
          <p:cNvPr id="3" name="Content Placeholder 2">
            <a:extLst>
              <a:ext uri="{FF2B5EF4-FFF2-40B4-BE49-F238E27FC236}">
                <a16:creationId xmlns:a16="http://schemas.microsoft.com/office/drawing/2014/main" id="{A8A8D1F9-22AF-55E8-60EE-C4393C046AC1}"/>
              </a:ext>
            </a:extLst>
          </p:cNvPr>
          <p:cNvSpPr>
            <a:spLocks noGrp="1"/>
          </p:cNvSpPr>
          <p:nvPr>
            <p:ph idx="1"/>
          </p:nvPr>
        </p:nvSpPr>
        <p:spPr>
          <a:xfrm>
            <a:off x="628650" y="1371600"/>
            <a:ext cx="7886700" cy="4805363"/>
          </a:xfrm>
        </p:spPr>
        <p:txBody>
          <a:bodyPr>
            <a:normAutofit fontScale="92500" lnSpcReduction="20000"/>
          </a:bodyPr>
          <a:lstStyle/>
          <a:p>
            <a:r>
              <a:rPr lang="ne-NP" dirty="0"/>
              <a:t>न्याय प्रशासन ऐन, २०७३ को दफा ७ ले जिल्ला अदालतलाई बन्दीप्रत्यक्षीकरणको रिट सुन्ने अधिकारक्षेत्र प्रदान गरिएको अबस्था गरेको।</a:t>
            </a:r>
          </a:p>
          <a:p>
            <a:r>
              <a:rPr lang="ne-NP" dirty="0"/>
              <a:t>जिल्ला अदालत नियमावली</a:t>
            </a:r>
            <a:r>
              <a:rPr lang="en-US" dirty="0"/>
              <a:t>,</a:t>
            </a:r>
            <a:r>
              <a:rPr lang="ne-NP" dirty="0"/>
              <a:t> २०७५ को परिच्छेद ५ ले बन्दीप्रत्यक्षिकरण र निषेधाज्ञा सम्बन्धी मुद्दामा जिल्ला अदालतको भूमिकाको उल्लेख गरेको । </a:t>
            </a:r>
            <a:endParaRPr lang="en-US" dirty="0"/>
          </a:p>
          <a:p>
            <a:r>
              <a:rPr lang="ne-NP" i="1" dirty="0"/>
              <a:t>कुनै पनि व्यक्तिलाई गैरकानूनी वा कानून विपरित थुनामा राखेको अबस्थामा त्यस्तो व्यक्तिलाई अदालत समक्ष उपस्थित गराई निजको थुना कानून बमोजिम वा कानून विपरित हो भनी थुनाको परिक्षण गरी कानून विपरितको थुना भए थुना मुक्त गर्ने गरी जारी हुने आदेश</a:t>
            </a:r>
            <a:r>
              <a:rPr lang="en-US" i="1" dirty="0"/>
              <a:t> </a:t>
            </a:r>
            <a:r>
              <a:rPr lang="ne-NP" i="1" dirty="0"/>
              <a:t>नै बन्दीप्रत्यक्षीकरणको आदेश मानिने।</a:t>
            </a:r>
          </a:p>
          <a:p>
            <a:r>
              <a:rPr lang="ne-NP" i="1" dirty="0"/>
              <a:t>विपक्षीबाट निश्चित मिति तोकी बन्दी सहित उपस्थित हुन आदेश दिन सक्ने र आवश्यक भएका बन्दी रहे भएको स्थान समेत निरीक्षण गर्न सक्ने सम्मको अदालतले अधिकार राख्ने</a:t>
            </a:r>
          </a:p>
          <a:p>
            <a:r>
              <a:rPr lang="ne-NP" i="1" dirty="0"/>
              <a:t>गैर कानूनी वा कानून विपरित थुना भए बन्दीप्रत्यक्षीकरणको आदेश जारी हुने।</a:t>
            </a:r>
          </a:p>
        </p:txBody>
      </p:sp>
    </p:spTree>
    <p:extLst>
      <p:ext uri="{BB962C8B-B14F-4D97-AF65-F5344CB8AC3E}">
        <p14:creationId xmlns:p14="http://schemas.microsoft.com/office/powerpoint/2010/main" val="2773934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F47A-D706-7E7A-958A-5C171A7F69F8}"/>
              </a:ext>
            </a:extLst>
          </p:cNvPr>
          <p:cNvSpPr>
            <a:spLocks noGrp="1"/>
          </p:cNvSpPr>
          <p:nvPr>
            <p:ph type="title"/>
          </p:nvPr>
        </p:nvSpPr>
        <p:spPr/>
        <p:txBody>
          <a:bodyPr>
            <a:normAutofit/>
          </a:bodyPr>
          <a:lstStyle/>
          <a:p>
            <a:r>
              <a:rPr lang="ne-NP" dirty="0"/>
              <a:t>समग्रमा न्यायिक काम कारवाहीका सन्दर्भमा रहेको भूमिका</a:t>
            </a:r>
            <a:endParaRPr lang="en-US" dirty="0"/>
          </a:p>
        </p:txBody>
      </p:sp>
      <p:sp>
        <p:nvSpPr>
          <p:cNvPr id="3" name="Content Placeholder 2">
            <a:extLst>
              <a:ext uri="{FF2B5EF4-FFF2-40B4-BE49-F238E27FC236}">
                <a16:creationId xmlns:a16="http://schemas.microsoft.com/office/drawing/2014/main" id="{2E6F08F3-6112-B725-6D87-69F2D23D5D7C}"/>
              </a:ext>
            </a:extLst>
          </p:cNvPr>
          <p:cNvSpPr>
            <a:spLocks noGrp="1"/>
          </p:cNvSpPr>
          <p:nvPr>
            <p:ph idx="1"/>
          </p:nvPr>
        </p:nvSpPr>
        <p:spPr>
          <a:xfrm>
            <a:off x="628650" y="1690689"/>
            <a:ext cx="7886700" cy="4486274"/>
          </a:xfrm>
        </p:spPr>
        <p:txBody>
          <a:bodyPr>
            <a:normAutofit fontScale="70000" lnSpcReduction="20000"/>
          </a:bodyPr>
          <a:lstStyle/>
          <a:p>
            <a:r>
              <a:rPr lang="ne-NP" dirty="0"/>
              <a:t>फौजदारी मुद्दामा थुनछेक (मुलुकी फौजदारी कार्यविधि संहिताको दफा</a:t>
            </a:r>
            <a:r>
              <a:rPr lang="en-US" dirty="0"/>
              <a:t> </a:t>
            </a:r>
            <a:r>
              <a:rPr lang="ne-NP" dirty="0"/>
              <a:t>६७</a:t>
            </a:r>
            <a:r>
              <a:rPr lang="en-US" dirty="0"/>
              <a:t>,</a:t>
            </a:r>
            <a:r>
              <a:rPr lang="ne-NP" dirty="0"/>
              <a:t> ६८ र ६९)</a:t>
            </a:r>
          </a:p>
          <a:p>
            <a:r>
              <a:rPr lang="ne-NP" dirty="0"/>
              <a:t>रोक्का र रोक्का फुकुवाका सन्दर्भमा हुने अन्तरकालीन आदेश (देवानी र फौजदारी मुद्दामा) (मुलुकी देवानी कार्यविधि संहिता २०७४ को दफा १५६)</a:t>
            </a:r>
          </a:p>
          <a:p>
            <a:r>
              <a:rPr lang="ne-NP" dirty="0"/>
              <a:t>अन्तरकालीन आदेश उपरको निवेदन उपर पुनर्विचार</a:t>
            </a:r>
            <a:r>
              <a:rPr lang="en-US" dirty="0"/>
              <a:t> (</a:t>
            </a:r>
            <a:r>
              <a:rPr lang="ne-NP" dirty="0"/>
              <a:t>खास गरी देवानी मुददामा गरिएको एकपक्षीय सुनुवाईका क्रममा भएको आदेश उपर)</a:t>
            </a:r>
          </a:p>
          <a:p>
            <a:r>
              <a:rPr lang="ne-NP" dirty="0"/>
              <a:t>साक्षी विशेषज्ञ साक्षी प्रतिवेदक र अन्य प्रमाणहरु मुकरर सम्बन्धमा आदेश (देवानी र फौजदारी मुद्दामा)</a:t>
            </a:r>
          </a:p>
          <a:p>
            <a:r>
              <a:rPr lang="ne-NP" dirty="0"/>
              <a:t>साक्षी प्रमाणको परिक्षणका क्रममा न्यायाधीशको संलग्ना </a:t>
            </a:r>
          </a:p>
          <a:p>
            <a:r>
              <a:rPr lang="ne-NP" dirty="0"/>
              <a:t>बहस व्यवस्थापनमा न्यायाधीशको भूमिका</a:t>
            </a:r>
          </a:p>
          <a:p>
            <a:r>
              <a:rPr lang="ne-NP" dirty="0"/>
              <a:t>स्वच्छ र निष्पक्ष सुनुवाई कायम गर्ने सन्दर्भमा न्यायाधीशको भूमिका</a:t>
            </a:r>
          </a:p>
          <a:p>
            <a:r>
              <a:rPr lang="ne-NP" dirty="0"/>
              <a:t>फैसला र फैसला लेखन (तोकिएको समयमा फैसला तयारी र प्रमाणिकरण (२१ कार्यदिन भित्र फैसला तयार गरी प्रमाणिकरण गर्नु पर्ने</a:t>
            </a:r>
          </a:p>
          <a:p>
            <a:r>
              <a:rPr lang="ne-NP" dirty="0"/>
              <a:t>फैसलाको कार्यान्वयनका क्रममा हुने विभिन्न आदेश तथा सोको कार्यान्वयन</a:t>
            </a:r>
          </a:p>
          <a:p>
            <a:r>
              <a:rPr lang="ne-NP" dirty="0"/>
              <a:t>उपचार विनाको न्याय न्याय नहुने भन्ने मान्यताका आधारमा फैसला कार्यान्वयनमा भएको भूमिका।</a:t>
            </a:r>
            <a:endParaRPr lang="en-US" dirty="0"/>
          </a:p>
        </p:txBody>
      </p:sp>
    </p:spTree>
    <p:extLst>
      <p:ext uri="{BB962C8B-B14F-4D97-AF65-F5344CB8AC3E}">
        <p14:creationId xmlns:p14="http://schemas.microsoft.com/office/powerpoint/2010/main" val="334664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5F50-2A64-D3C3-22EB-65F6307B1988}"/>
              </a:ext>
            </a:extLst>
          </p:cNvPr>
          <p:cNvSpPr>
            <a:spLocks noGrp="1"/>
          </p:cNvSpPr>
          <p:nvPr>
            <p:ph type="title"/>
          </p:nvPr>
        </p:nvSpPr>
        <p:spPr>
          <a:xfrm>
            <a:off x="628650" y="365127"/>
            <a:ext cx="8362950" cy="315910"/>
          </a:xfrm>
        </p:spPr>
        <p:txBody>
          <a:bodyPr>
            <a:noAutofit/>
          </a:bodyPr>
          <a:lstStyle/>
          <a:p>
            <a:r>
              <a:rPr lang="ne-NP" sz="2400" dirty="0"/>
              <a:t>फैसला कार्यान्वयनका सन्दर्भमा जिल्ला न्यायाधीशको भूमिका </a:t>
            </a:r>
            <a:endParaRPr lang="en-US" sz="2400" dirty="0"/>
          </a:p>
        </p:txBody>
      </p:sp>
      <p:sp>
        <p:nvSpPr>
          <p:cNvPr id="3" name="Content Placeholder 2">
            <a:extLst>
              <a:ext uri="{FF2B5EF4-FFF2-40B4-BE49-F238E27FC236}">
                <a16:creationId xmlns:a16="http://schemas.microsoft.com/office/drawing/2014/main" id="{8F98612D-8E34-0A98-CA8E-10D2821DA569}"/>
              </a:ext>
            </a:extLst>
          </p:cNvPr>
          <p:cNvSpPr>
            <a:spLocks noGrp="1"/>
          </p:cNvSpPr>
          <p:nvPr>
            <p:ph idx="1"/>
          </p:nvPr>
        </p:nvSpPr>
        <p:spPr>
          <a:xfrm>
            <a:off x="533400" y="838200"/>
            <a:ext cx="7981950" cy="5338763"/>
          </a:xfrm>
        </p:spPr>
        <p:txBody>
          <a:bodyPr/>
          <a:lstStyle/>
          <a:p>
            <a:r>
              <a:rPr lang="ne-NP" dirty="0">
                <a:solidFill>
                  <a:srgbClr val="0070C0"/>
                </a:solidFill>
              </a:rPr>
              <a:t>मुलुकी देवानी कार्यविधि संहिता २०७४ दफा २३० बमोजिम कुनै मुददाको फैसला जुनसुकै तहको अदालतबाट भएपनि त्यस्तो मुद्दामा भएको फैसलाको कार्यान्वय फिरादपत्र वा उजुरी भएको जिल्ला अदालतले गर्नेछ।</a:t>
            </a:r>
          </a:p>
          <a:p>
            <a:r>
              <a:rPr lang="ne-NP" dirty="0">
                <a:solidFill>
                  <a:srgbClr val="0070C0"/>
                </a:solidFill>
              </a:rPr>
              <a:t>(२) पुनरावेदन सुन्ने अदालतले शुरु कारवाही र किनारा गरेको मुद्दाको फैसला कार्यान्वयन सम्बन्धित जिल्ला अदालतले गर्नेछ।</a:t>
            </a:r>
          </a:p>
          <a:p>
            <a:r>
              <a:rPr lang="ne-NP" dirty="0"/>
              <a:t>देवानी र फौजदारी मुद्दाको फैसलाको कार्यान्वयन गर्ने जिम्मेवारी जिल्ला अदालतलाई हुने हुनाले सो सन्दर्भमा जिल्ला न्यायाधीशको महत्वपूर्ण भूमिका रहन्छ।</a:t>
            </a:r>
          </a:p>
          <a:p>
            <a:r>
              <a:rPr lang="ne-NP" dirty="0"/>
              <a:t>सोही अनुरुप लगत कसिएको जिल्ला अदालतबाट फौजदारी मुद्दाको फैसला कार्यान्वयन हुने व्यवस्था।</a:t>
            </a:r>
          </a:p>
        </p:txBody>
      </p:sp>
    </p:spTree>
    <p:extLst>
      <p:ext uri="{BB962C8B-B14F-4D97-AF65-F5344CB8AC3E}">
        <p14:creationId xmlns:p14="http://schemas.microsoft.com/office/powerpoint/2010/main" val="3277765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0DDC1-8F0F-5410-126F-4811461A9790}"/>
              </a:ext>
            </a:extLst>
          </p:cNvPr>
          <p:cNvSpPr>
            <a:spLocks noGrp="1"/>
          </p:cNvSpPr>
          <p:nvPr>
            <p:ph type="title"/>
          </p:nvPr>
        </p:nvSpPr>
        <p:spPr>
          <a:xfrm>
            <a:off x="1066801" y="533401"/>
            <a:ext cx="6781799" cy="858254"/>
          </a:xfrm>
        </p:spPr>
        <p:txBody>
          <a:bodyPr>
            <a:normAutofit fontScale="90000"/>
          </a:bodyPr>
          <a:lstStyle/>
          <a:p>
            <a:r>
              <a:rPr lang="ne-NP" dirty="0"/>
              <a:t>मेलमिलापका सन्दर्भमा जिल्ला न्यायाधीशको भूमिका</a:t>
            </a:r>
            <a:endParaRPr lang="en-US" dirty="0"/>
          </a:p>
        </p:txBody>
      </p:sp>
      <p:sp>
        <p:nvSpPr>
          <p:cNvPr id="3" name="Content Placeholder 2">
            <a:extLst>
              <a:ext uri="{FF2B5EF4-FFF2-40B4-BE49-F238E27FC236}">
                <a16:creationId xmlns:a16="http://schemas.microsoft.com/office/drawing/2014/main" id="{121D5D6C-3D09-F63E-842A-33031CEDFD7B}"/>
              </a:ext>
            </a:extLst>
          </p:cNvPr>
          <p:cNvSpPr>
            <a:spLocks noGrp="1"/>
          </p:cNvSpPr>
          <p:nvPr>
            <p:ph idx="1"/>
          </p:nvPr>
        </p:nvSpPr>
        <p:spPr/>
        <p:txBody>
          <a:bodyPr>
            <a:normAutofit fontScale="92500" lnSpcReduction="20000"/>
          </a:bodyPr>
          <a:lstStyle/>
          <a:p>
            <a:r>
              <a:rPr lang="ne-NP" dirty="0">
                <a:solidFill>
                  <a:srgbClr val="00B0F0"/>
                </a:solidFill>
              </a:rPr>
              <a:t>मेलमिलाप परिषद  ऐन २०६८  र नियमावली २०७० बमोजिम खास गरी देवानी र दुनियाँवादी फौजदारी मुद्दामा पक्षहरुबीच मेलमिलाप हुन सक्ने अबस्था भएमा अनिवार्य रुपमा एक पटक मेलमिलापमा पठाउने अभ्यास रही </a:t>
            </a:r>
            <a:r>
              <a:rPr lang="ne-NP" dirty="0">
                <a:solidFill>
                  <a:srgbClr val="0070C0"/>
                </a:solidFill>
              </a:rPr>
              <a:t>आएको छ।</a:t>
            </a:r>
          </a:p>
          <a:p>
            <a:r>
              <a:rPr lang="ne-NP" dirty="0">
                <a:solidFill>
                  <a:srgbClr val="0070C0"/>
                </a:solidFill>
              </a:rPr>
              <a:t>तर व्यवहारमा निकै कम मुद्दाहरु मेलमिलापमा पठाइएको र पठाइएका मुद्दामा समेत मेलमिलाप प्रभावकारी हुन सकेको छैन।</a:t>
            </a:r>
          </a:p>
          <a:p>
            <a:r>
              <a:rPr lang="ne-NP" dirty="0">
                <a:solidFill>
                  <a:srgbClr val="0070C0"/>
                </a:solidFill>
              </a:rPr>
              <a:t>तथ्याङ्क अनुसार जम्मा २० प्रतिशत भन्दा कम मुददामा मात्रै मेलमिलाप हुन सकेकाले सोको न्यून प्रभावकारित देखिन्छ।</a:t>
            </a:r>
          </a:p>
          <a:p>
            <a:r>
              <a:rPr lang="ne-NP" dirty="0">
                <a:solidFill>
                  <a:srgbClr val="0070C0"/>
                </a:solidFill>
              </a:rPr>
              <a:t>लगानीको तुलनामा परिणाम न्यून छ।</a:t>
            </a:r>
          </a:p>
        </p:txBody>
      </p:sp>
    </p:spTree>
    <p:extLst>
      <p:ext uri="{BB962C8B-B14F-4D97-AF65-F5344CB8AC3E}">
        <p14:creationId xmlns:p14="http://schemas.microsoft.com/office/powerpoint/2010/main" val="1056264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89746-BE17-1C24-3C9C-3B63C3AE3148}"/>
              </a:ext>
            </a:extLst>
          </p:cNvPr>
          <p:cNvSpPr>
            <a:spLocks noGrp="1"/>
          </p:cNvSpPr>
          <p:nvPr>
            <p:ph type="title"/>
          </p:nvPr>
        </p:nvSpPr>
        <p:spPr>
          <a:xfrm>
            <a:off x="628650" y="228601"/>
            <a:ext cx="7753350" cy="533400"/>
          </a:xfrm>
        </p:spPr>
        <p:txBody>
          <a:bodyPr>
            <a:noAutofit/>
          </a:bodyPr>
          <a:lstStyle/>
          <a:p>
            <a:r>
              <a:rPr lang="ne-NP" sz="2000" dirty="0"/>
              <a:t>अर्ध न्यायिक निकाय वा स्थानीय न्यायिक समितिको पुनरावेदन सुन्ने सन्दर्भमा</a:t>
            </a:r>
            <a:endParaRPr lang="en-US" sz="2400" dirty="0"/>
          </a:p>
        </p:txBody>
      </p:sp>
      <p:sp>
        <p:nvSpPr>
          <p:cNvPr id="3" name="Content Placeholder 2">
            <a:extLst>
              <a:ext uri="{FF2B5EF4-FFF2-40B4-BE49-F238E27FC236}">
                <a16:creationId xmlns:a16="http://schemas.microsoft.com/office/drawing/2014/main" id="{E9D20CC7-53CA-1CCC-9141-9A879DA6B2B8}"/>
              </a:ext>
            </a:extLst>
          </p:cNvPr>
          <p:cNvSpPr>
            <a:spLocks noGrp="1"/>
          </p:cNvSpPr>
          <p:nvPr>
            <p:ph idx="1"/>
          </p:nvPr>
        </p:nvSpPr>
        <p:spPr>
          <a:xfrm>
            <a:off x="685800" y="914400"/>
            <a:ext cx="7829550" cy="5262563"/>
          </a:xfrm>
        </p:spPr>
        <p:txBody>
          <a:bodyPr>
            <a:normAutofit fontScale="92500" lnSpcReduction="10000"/>
          </a:bodyPr>
          <a:lstStyle/>
          <a:p>
            <a:pPr marL="0" indent="0">
              <a:buNone/>
            </a:pPr>
            <a:r>
              <a:rPr lang="ne-NP" b="1" dirty="0"/>
              <a:t>स्थानिय सरकार सञ्चालन ऐन</a:t>
            </a:r>
            <a:r>
              <a:rPr lang="en-US" b="1" dirty="0"/>
              <a:t>,</a:t>
            </a:r>
            <a:r>
              <a:rPr lang="ne-NP" b="1" dirty="0"/>
              <a:t> २०७४ को दफा ५१ ले न्यायिक समितिको निर्णय उपर चित्त नबुझ्ने पक्षले निर्णयको जानकारी प्राप्त गरेको ३५ दिन भित्र जिल्ला अदालतमा पुनरावेदन गर्न सक्ने छ भन्ने व्यवस्था गरेको छ।</a:t>
            </a:r>
            <a:endParaRPr lang="en-US" b="1" dirty="0"/>
          </a:p>
          <a:p>
            <a:r>
              <a:rPr lang="ne-NP" dirty="0">
                <a:solidFill>
                  <a:srgbClr val="00B0F0"/>
                </a:solidFill>
              </a:rPr>
              <a:t>एक वर्ष भन्दा कम कैदको सजाय हुने मुद्दामा अर्धन्यायिक निकायहरुले मुद्दामा गरेको निर्णय उपर जिल्ला अदालतमा पुनरावेदन लाग्ने</a:t>
            </a:r>
            <a:r>
              <a:rPr lang="en-US" dirty="0">
                <a:solidFill>
                  <a:srgbClr val="00B0F0"/>
                </a:solidFill>
              </a:rPr>
              <a:t> </a:t>
            </a:r>
            <a:r>
              <a:rPr lang="ne-NP" dirty="0">
                <a:solidFill>
                  <a:srgbClr val="00B0F0"/>
                </a:solidFill>
              </a:rPr>
              <a:t>संबैंधानिक र कानूनी व्यवस्था भए अनुरुप त्यस्ता अर्धन्यायिक निकायहरुले गरेको फैसला उपर जिल्ला अदालतमा पुनरावेदन लाग्ने व्यवस्था छ।</a:t>
            </a:r>
          </a:p>
          <a:p>
            <a:r>
              <a:rPr lang="ne-NP" dirty="0">
                <a:solidFill>
                  <a:srgbClr val="0070C0"/>
                </a:solidFill>
              </a:rPr>
              <a:t>स्थानीय न्यायिक समितिले आफ्नो क्षेत्राधिकार भित्र रही गरेका निर्णय उपरको पुनरावेदन जिल्ला अदालतले सुन्ने व्यवस्था छ।</a:t>
            </a:r>
          </a:p>
          <a:p>
            <a:r>
              <a:rPr lang="ne-NP" dirty="0"/>
              <a:t>जिल्ला अदालतको पुनरावेदकीय क्षेत्राधिकारको अन्तर्गत दायर भएका त्यस प्रकृतिका मुद्दामा जिल्ला अदालतले पुनरावेदन सुन्ने व्यवस्था रहे बमोजिम पुनरावेदन सुनी न्याय निरोपण गर्नु पर्ने हुन्छ।</a:t>
            </a:r>
          </a:p>
          <a:p>
            <a:r>
              <a:rPr lang="ne-NP" dirty="0">
                <a:solidFill>
                  <a:srgbClr val="00B0F0"/>
                </a:solidFill>
              </a:rPr>
              <a:t>पुनरावेदन सुन्ने क्रममा मातहत निकायहरुको फैसला सदर</a:t>
            </a:r>
            <a:r>
              <a:rPr lang="en-US" dirty="0">
                <a:solidFill>
                  <a:srgbClr val="00B0F0"/>
                </a:solidFill>
              </a:rPr>
              <a:t>,</a:t>
            </a:r>
            <a:r>
              <a:rPr lang="ne-NP" dirty="0">
                <a:solidFill>
                  <a:srgbClr val="00B0F0"/>
                </a:solidFill>
              </a:rPr>
              <a:t> उल्टी वा बदर गरी पुनः इन्साफका लागि पठाउन सक्ने अबस्था रहन्छ।</a:t>
            </a:r>
          </a:p>
        </p:txBody>
      </p:sp>
    </p:spTree>
    <p:extLst>
      <p:ext uri="{BB962C8B-B14F-4D97-AF65-F5344CB8AC3E}">
        <p14:creationId xmlns:p14="http://schemas.microsoft.com/office/powerpoint/2010/main" val="1302975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E37CF-8E13-D8FE-2A78-7C20C5EE9179}"/>
              </a:ext>
            </a:extLst>
          </p:cNvPr>
          <p:cNvSpPr>
            <a:spLocks noGrp="1"/>
          </p:cNvSpPr>
          <p:nvPr>
            <p:ph type="title"/>
          </p:nvPr>
        </p:nvSpPr>
        <p:spPr/>
        <p:txBody>
          <a:bodyPr>
            <a:noAutofit/>
          </a:bodyPr>
          <a:lstStyle/>
          <a:p>
            <a:r>
              <a:rPr lang="ne-NP" sz="2800" dirty="0"/>
              <a:t>अर्ध न्यायिक निकाय वा स्थानीय न्यायिक समितिको अनुगमन गर्ने सन्दर्भमा</a:t>
            </a:r>
            <a:endParaRPr lang="en-US" sz="2800" dirty="0"/>
          </a:p>
        </p:txBody>
      </p:sp>
      <p:sp>
        <p:nvSpPr>
          <p:cNvPr id="3" name="Content Placeholder 2">
            <a:extLst>
              <a:ext uri="{FF2B5EF4-FFF2-40B4-BE49-F238E27FC236}">
                <a16:creationId xmlns:a16="http://schemas.microsoft.com/office/drawing/2014/main" id="{17DD4CD6-78CE-63A9-9BD0-6539444F09B3}"/>
              </a:ext>
            </a:extLst>
          </p:cNvPr>
          <p:cNvSpPr>
            <a:spLocks noGrp="1"/>
          </p:cNvSpPr>
          <p:nvPr>
            <p:ph idx="1"/>
          </p:nvPr>
        </p:nvSpPr>
        <p:spPr>
          <a:xfrm>
            <a:off x="628650" y="1690689"/>
            <a:ext cx="7886700" cy="4486274"/>
          </a:xfrm>
        </p:spPr>
        <p:txBody>
          <a:bodyPr/>
          <a:lstStyle/>
          <a:p>
            <a:r>
              <a:rPr lang="ne-NP" dirty="0"/>
              <a:t>धारा १४८ बमोजिम प्रदेश कानून बमोजिम स्थापित स्थानीय स्तरका न्यायिक निकाय जिल्ला अदालतको मातहतमा रहनेछन् र जिल्ला अदालतले आफ्नो मातहतका न्यायिक निकायहरूको आफूले पुनरावेदन सुन्ने अर्ध न्यायिक निकायहरुः वन कार्यालय</a:t>
            </a:r>
            <a:r>
              <a:rPr lang="en-US" dirty="0"/>
              <a:t>,</a:t>
            </a:r>
            <a:r>
              <a:rPr lang="ne-NP" dirty="0"/>
              <a:t> राष्ट्रिय निकुञ्ज तथा वन्यजन्तु आरक्षको कार्यालय</a:t>
            </a:r>
            <a:r>
              <a:rPr lang="en-US" dirty="0"/>
              <a:t>,</a:t>
            </a:r>
            <a:r>
              <a:rPr lang="ne-NP" dirty="0"/>
              <a:t> जिल्ला प्रशासन कार्यालय र स्थानीय न्यायिक सिमितिहरुको कम्तिमा १ पटक जिल्ला न्यायाधीशले निरिक्षण र अनुगमन गर्ने व्यवस्था छ।</a:t>
            </a:r>
          </a:p>
          <a:p>
            <a:r>
              <a:rPr lang="ne-NP" dirty="0"/>
              <a:t>यसरी मातहत न्यायिक निकायको निरीक्षण र अनुगमनमा समेत जिल्ला न्यायाधीशको भूमिका रहन्छ।</a:t>
            </a:r>
            <a:endParaRPr lang="en-US" dirty="0"/>
          </a:p>
        </p:txBody>
      </p:sp>
    </p:spTree>
    <p:extLst>
      <p:ext uri="{BB962C8B-B14F-4D97-AF65-F5344CB8AC3E}">
        <p14:creationId xmlns:p14="http://schemas.microsoft.com/office/powerpoint/2010/main" val="1012468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EC148-08B8-31D4-287A-A65C2C0F7E3E}"/>
              </a:ext>
            </a:extLst>
          </p:cNvPr>
          <p:cNvSpPr>
            <a:spLocks noGrp="1"/>
          </p:cNvSpPr>
          <p:nvPr>
            <p:ph type="title"/>
          </p:nvPr>
        </p:nvSpPr>
        <p:spPr/>
        <p:txBody>
          <a:bodyPr>
            <a:normAutofit/>
          </a:bodyPr>
          <a:lstStyle/>
          <a:p>
            <a:r>
              <a:rPr lang="ne-NP" dirty="0"/>
              <a:t>सेवाग्राहीसँगको समन्धका सन्दर्भमा</a:t>
            </a:r>
            <a:endParaRPr lang="en-US" dirty="0"/>
          </a:p>
        </p:txBody>
      </p:sp>
      <p:sp>
        <p:nvSpPr>
          <p:cNvPr id="3" name="Content Placeholder 2">
            <a:extLst>
              <a:ext uri="{FF2B5EF4-FFF2-40B4-BE49-F238E27FC236}">
                <a16:creationId xmlns:a16="http://schemas.microsoft.com/office/drawing/2014/main" id="{DA74E23E-4AE2-6C09-1A2E-00CBC582FAE5}"/>
              </a:ext>
            </a:extLst>
          </p:cNvPr>
          <p:cNvSpPr>
            <a:spLocks noGrp="1"/>
          </p:cNvSpPr>
          <p:nvPr>
            <p:ph idx="1"/>
          </p:nvPr>
        </p:nvSpPr>
        <p:spPr>
          <a:xfrm>
            <a:off x="628650" y="1371600"/>
            <a:ext cx="7886700" cy="4805363"/>
          </a:xfrm>
        </p:spPr>
        <p:txBody>
          <a:bodyPr>
            <a:normAutofit/>
          </a:bodyPr>
          <a:lstStyle/>
          <a:p>
            <a:r>
              <a:rPr lang="ne-NP" dirty="0"/>
              <a:t>न्यायमा सजह पहुँच अभिबृद्धि गर्नका लागि अदालत व्यवस्थापनलाई प्रभावकारी बनाउनमा जिल्ला न्यायाधीशको भूमिका रहने</a:t>
            </a:r>
          </a:p>
          <a:p>
            <a:r>
              <a:rPr lang="ne-NP" dirty="0"/>
              <a:t>अदालतमा सेवाग्राहीको सरोकार वा गुनासो सुन्नका लागि उपयुक्त संयन्त्र कायम गर्ने</a:t>
            </a:r>
          </a:p>
          <a:p>
            <a:r>
              <a:rPr lang="ne-NP" dirty="0"/>
              <a:t>अदालतमा आउने सेवाग्राहीलाई छिटो छरितो सेवा प्रदान गर्न गराउने सन्दर्भमा आवश्यक निर्देशन दिने र कार्य गर्न लगाउने</a:t>
            </a:r>
          </a:p>
          <a:p>
            <a:r>
              <a:rPr lang="ne-NP" dirty="0"/>
              <a:t>अदालतका सेवाग्राहीको गुनासो सुन्नका लागि सेवाग्राहीको न्यायाधीशसँग भेटघाट वा न्यायिक वाह्य पहुँच कार्यक्रमको आयोजना गर्ने वा सेवाग्राही सर्वेक्षण फारामहरुको विकास गरी सर्वेक्षण गर्ने।</a:t>
            </a:r>
            <a:endParaRPr lang="en-US" dirty="0"/>
          </a:p>
        </p:txBody>
      </p:sp>
    </p:spTree>
    <p:extLst>
      <p:ext uri="{BB962C8B-B14F-4D97-AF65-F5344CB8AC3E}">
        <p14:creationId xmlns:p14="http://schemas.microsoft.com/office/powerpoint/2010/main" val="3527073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FB6C-64F9-5A4E-DC76-A4C14EBBAA17}"/>
              </a:ext>
            </a:extLst>
          </p:cNvPr>
          <p:cNvSpPr>
            <a:spLocks noGrp="1"/>
          </p:cNvSpPr>
          <p:nvPr>
            <p:ph type="title"/>
          </p:nvPr>
        </p:nvSpPr>
        <p:spPr>
          <a:xfrm>
            <a:off x="628650" y="365127"/>
            <a:ext cx="8210550" cy="625474"/>
          </a:xfrm>
        </p:spPr>
        <p:txBody>
          <a:bodyPr>
            <a:noAutofit/>
          </a:bodyPr>
          <a:lstStyle/>
          <a:p>
            <a:r>
              <a:rPr lang="ne-NP" sz="2000" dirty="0"/>
              <a:t>न्यायिक काम कारवाही बाहेकका अन्य व्यवस्थापकीय कार्यहरुको सम्बन्धमा जिल्ला न्यायाधीशको भूमिका</a:t>
            </a:r>
            <a:endParaRPr lang="en-US" sz="2000" dirty="0"/>
          </a:p>
        </p:txBody>
      </p:sp>
      <p:sp>
        <p:nvSpPr>
          <p:cNvPr id="3" name="Content Placeholder 2">
            <a:extLst>
              <a:ext uri="{FF2B5EF4-FFF2-40B4-BE49-F238E27FC236}">
                <a16:creationId xmlns:a16="http://schemas.microsoft.com/office/drawing/2014/main" id="{4E8671AE-6C2D-57AC-E5D6-2BED45332624}"/>
              </a:ext>
            </a:extLst>
          </p:cNvPr>
          <p:cNvSpPr>
            <a:spLocks noGrp="1"/>
          </p:cNvSpPr>
          <p:nvPr>
            <p:ph idx="1"/>
          </p:nvPr>
        </p:nvSpPr>
        <p:spPr>
          <a:xfrm>
            <a:off x="628650" y="1219200"/>
            <a:ext cx="7886700" cy="4957763"/>
          </a:xfrm>
        </p:spPr>
        <p:txBody>
          <a:bodyPr/>
          <a:lstStyle/>
          <a:p>
            <a:r>
              <a:rPr lang="ne-NP" dirty="0">
                <a:solidFill>
                  <a:srgbClr val="0070C0"/>
                </a:solidFill>
              </a:rPr>
              <a:t>बार र बेन्च बीचको समन्वयका सन्दर्भ</a:t>
            </a:r>
          </a:p>
          <a:p>
            <a:r>
              <a:rPr lang="ne-NP" dirty="0">
                <a:solidFill>
                  <a:srgbClr val="0070C0"/>
                </a:solidFill>
              </a:rPr>
              <a:t>न्याय क्षेत्रका सरोकारवालाहरु जस्तै सरकारी वकील प्रहरी वार र जिल्ला स्थित अन्य अर्धन्यायिक निकाय तथा कार्यालहरु एवं स्थानीय न्यायिक समितिहरुसँगको समन्वयका सन्दर्भमा</a:t>
            </a:r>
          </a:p>
          <a:p>
            <a:r>
              <a:rPr lang="ne-NP" dirty="0">
                <a:solidFill>
                  <a:srgbClr val="0070C0"/>
                </a:solidFill>
              </a:rPr>
              <a:t>पूर्ण बैठकले गर्नु पर्ने निर्णयका सन्दर्भमा</a:t>
            </a:r>
          </a:p>
          <a:p>
            <a:r>
              <a:rPr lang="ne-NP" dirty="0">
                <a:solidFill>
                  <a:srgbClr val="0070C0"/>
                </a:solidFill>
              </a:rPr>
              <a:t>अदालत व्यवस्थापन र मुद्दा व्यवस्थापनका सन्दर्भमा</a:t>
            </a:r>
          </a:p>
          <a:p>
            <a:r>
              <a:rPr lang="ne-NP" dirty="0">
                <a:solidFill>
                  <a:srgbClr val="0070C0"/>
                </a:solidFill>
              </a:rPr>
              <a:t>जिल्ला अदालतमा हुने विभिन्न समितिको संयोजक भई काम गर्ने सम्बन्धमा</a:t>
            </a:r>
            <a:endParaRPr lang="en-US" dirty="0">
              <a:solidFill>
                <a:srgbClr val="0070C0"/>
              </a:solidFill>
            </a:endParaRPr>
          </a:p>
          <a:p>
            <a:endParaRPr lang="en-US" dirty="0"/>
          </a:p>
        </p:txBody>
      </p:sp>
    </p:spTree>
    <p:extLst>
      <p:ext uri="{BB962C8B-B14F-4D97-AF65-F5344CB8AC3E}">
        <p14:creationId xmlns:p14="http://schemas.microsoft.com/office/powerpoint/2010/main" val="1476612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B1D07-F97B-95DE-1B95-1DDE5E570821}"/>
              </a:ext>
            </a:extLst>
          </p:cNvPr>
          <p:cNvSpPr>
            <a:spLocks noGrp="1"/>
          </p:cNvSpPr>
          <p:nvPr>
            <p:ph type="title"/>
          </p:nvPr>
        </p:nvSpPr>
        <p:spPr/>
        <p:txBody>
          <a:bodyPr>
            <a:normAutofit/>
          </a:bodyPr>
          <a:lstStyle/>
          <a:p>
            <a:r>
              <a:rPr lang="ne-NP" dirty="0"/>
              <a:t>बार र बेन्च बीचको समन्वयका सन्दर्भ</a:t>
            </a:r>
            <a:endParaRPr lang="en-US" dirty="0"/>
          </a:p>
        </p:txBody>
      </p:sp>
      <p:sp>
        <p:nvSpPr>
          <p:cNvPr id="3" name="Content Placeholder 2">
            <a:extLst>
              <a:ext uri="{FF2B5EF4-FFF2-40B4-BE49-F238E27FC236}">
                <a16:creationId xmlns:a16="http://schemas.microsoft.com/office/drawing/2014/main" id="{7FB7D030-B9E1-7BE5-75C5-C5050EEEEC63}"/>
              </a:ext>
            </a:extLst>
          </p:cNvPr>
          <p:cNvSpPr>
            <a:spLocks noGrp="1"/>
          </p:cNvSpPr>
          <p:nvPr>
            <p:ph idx="1"/>
          </p:nvPr>
        </p:nvSpPr>
        <p:spPr>
          <a:xfrm>
            <a:off x="628650" y="1371600"/>
            <a:ext cx="7886700" cy="4805363"/>
          </a:xfrm>
        </p:spPr>
        <p:txBody>
          <a:bodyPr>
            <a:normAutofit/>
          </a:bodyPr>
          <a:lstStyle/>
          <a:p>
            <a:r>
              <a:rPr lang="ne-NP" dirty="0"/>
              <a:t>वार र बेन्चको न्याय सम्पादनमा नजिकको सम्बन्ध छ।</a:t>
            </a:r>
          </a:p>
          <a:p>
            <a:r>
              <a:rPr lang="ne-NP" dirty="0"/>
              <a:t>बार अदालतको सुरक्षा कबज र सहयोगी हो।</a:t>
            </a:r>
          </a:p>
          <a:p>
            <a:r>
              <a:rPr lang="ne-NP" dirty="0"/>
              <a:t>अदालतको गरिमा र प्रतिष्ठा अगाडि बढाउने सन्दर्भमा बारको महत्वपूर्ण भूमिका छ।</a:t>
            </a:r>
          </a:p>
          <a:p>
            <a:r>
              <a:rPr lang="ne-NP" dirty="0"/>
              <a:t>सेवाग्राहीका अदालत प्रति रहेका सरोकारहरु संवोधन गर्नमा वारको ठूलो भूमिका हुन्छ।</a:t>
            </a:r>
          </a:p>
          <a:p>
            <a:r>
              <a:rPr lang="ne-NP" dirty="0"/>
              <a:t>वार र बेन्च बीचको समन्वयबाट सहज रुपमा न्याय सम्पादन हुन सक्ने हुनाले सोका लागि जिल्ला अदालतमा जिल्ला न्यायाधीशको अहं भूमिका रहेको छ।</a:t>
            </a:r>
            <a:endParaRPr lang="en-US" dirty="0"/>
          </a:p>
        </p:txBody>
      </p:sp>
    </p:spTree>
    <p:extLst>
      <p:ext uri="{BB962C8B-B14F-4D97-AF65-F5344CB8AC3E}">
        <p14:creationId xmlns:p14="http://schemas.microsoft.com/office/powerpoint/2010/main" val="3441535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7ECFB2C-F211-2593-453C-BA2C6436E91E}"/>
              </a:ext>
            </a:extLst>
          </p:cNvPr>
          <p:cNvSpPr>
            <a:spLocks noGrp="1"/>
          </p:cNvSpPr>
          <p:nvPr>
            <p:ph type="title"/>
          </p:nvPr>
        </p:nvSpPr>
        <p:spPr>
          <a:xfrm>
            <a:off x="457200" y="0"/>
            <a:ext cx="8229600" cy="838200"/>
          </a:xfrm>
        </p:spPr>
        <p:txBody>
          <a:bodyPr>
            <a:normAutofit/>
          </a:bodyPr>
          <a:lstStyle/>
          <a:p>
            <a:r>
              <a:rPr lang="ne-NP" altLang="en-US" dirty="0">
                <a:latin typeface="Preeti" pitchFamily="2" charset="0"/>
              </a:rPr>
              <a:t>व्यवस्थापकीय कार्यका सम्बन्धमा </a:t>
            </a:r>
            <a:endParaRPr lang="en-US" altLang="en-US" dirty="0">
              <a:latin typeface="Preeti" pitchFamily="2" charset="0"/>
            </a:endParaRPr>
          </a:p>
        </p:txBody>
      </p:sp>
      <p:sp>
        <p:nvSpPr>
          <p:cNvPr id="16387" name="Content Placeholder 2">
            <a:extLst>
              <a:ext uri="{FF2B5EF4-FFF2-40B4-BE49-F238E27FC236}">
                <a16:creationId xmlns:a16="http://schemas.microsoft.com/office/drawing/2014/main" id="{A22D9CC3-155A-23EC-9B75-077DB597F964}"/>
              </a:ext>
            </a:extLst>
          </p:cNvPr>
          <p:cNvSpPr>
            <a:spLocks noGrp="1"/>
          </p:cNvSpPr>
          <p:nvPr>
            <p:ph idx="1"/>
          </p:nvPr>
        </p:nvSpPr>
        <p:spPr>
          <a:xfrm>
            <a:off x="457200" y="990600"/>
            <a:ext cx="8534400" cy="5135563"/>
          </a:xfrm>
        </p:spPr>
        <p:txBody>
          <a:bodyPr>
            <a:normAutofit fontScale="85000" lnSpcReduction="20000"/>
          </a:bodyPr>
          <a:lstStyle/>
          <a:p>
            <a:r>
              <a:rPr lang="ne-NP" altLang="en-US" dirty="0">
                <a:latin typeface="Preeti" pitchFamily="2" charset="0"/>
              </a:rPr>
              <a:t>प्रमुख जिल्ला न्यायाधीश, अन्य जिल्ला न्यायाधीश</a:t>
            </a:r>
          </a:p>
          <a:p>
            <a:r>
              <a:rPr lang="ne-NP" altLang="en-US" dirty="0">
                <a:latin typeface="Preeti" pitchFamily="2" charset="0"/>
              </a:rPr>
              <a:t>श्रेस्तेदार तथा ब्यवस्थापनसंग सम्बन्धित अधिकृत तथा कर्मचारीहरु</a:t>
            </a:r>
          </a:p>
          <a:p>
            <a:pPr>
              <a:buFont typeface="Wingdings" panose="05000000000000000000" pitchFamily="2" charset="2"/>
              <a:buChar char="§"/>
            </a:pPr>
            <a:r>
              <a:rPr lang="ne-NP" altLang="en-US" dirty="0">
                <a:latin typeface="Preeti" pitchFamily="2" charset="0"/>
              </a:rPr>
              <a:t>सहायक र सहयोगी कर्मचारीहरु मुद्दा </a:t>
            </a:r>
          </a:p>
          <a:p>
            <a:pPr>
              <a:buFont typeface="Wingdings" panose="05000000000000000000" pitchFamily="2" charset="2"/>
              <a:buChar char="§"/>
            </a:pPr>
            <a:endParaRPr lang="ne-NP" altLang="en-US" dirty="0">
              <a:latin typeface="Preeti" pitchFamily="2" charset="0"/>
            </a:endParaRPr>
          </a:p>
          <a:p>
            <a:pPr marL="0" indent="0">
              <a:buNone/>
            </a:pPr>
            <a:r>
              <a:rPr lang="ne-NP" altLang="en-US" dirty="0">
                <a:latin typeface="Preeti" pitchFamily="2" charset="0"/>
              </a:rPr>
              <a:t>पूर्ण बैठक</a:t>
            </a:r>
          </a:p>
          <a:p>
            <a:pPr marL="0" indent="0">
              <a:buNone/>
            </a:pPr>
            <a:r>
              <a:rPr lang="ne-NP" altLang="en-US" dirty="0">
                <a:latin typeface="Preeti" pitchFamily="2" charset="0"/>
              </a:rPr>
              <a:t>मुद्दा मामिला हेरी इन्साफ गर्ने कामबाहेक अरु कामका लागि जिल्ला अदालतमा प्रमुख भई काम गर्ने न्यायाधीश र उपस्थित भएसम्मका सबै न्यायाधीशहरुको बैठक । </a:t>
            </a:r>
          </a:p>
          <a:p>
            <a:pPr>
              <a:buFont typeface="Wingdings" panose="05000000000000000000" pitchFamily="2" charset="2"/>
              <a:buChar char="§"/>
            </a:pPr>
            <a:r>
              <a:rPr lang="ne-NP" altLang="en-US" dirty="0">
                <a:latin typeface="Preeti" pitchFamily="2" charset="0"/>
              </a:rPr>
              <a:t>पूर्ण बैठकमा पेश हुने बिषय </a:t>
            </a:r>
          </a:p>
          <a:p>
            <a:pPr>
              <a:buFont typeface="Wingdings" panose="05000000000000000000" pitchFamily="2" charset="2"/>
              <a:buChar char="§"/>
            </a:pPr>
            <a:r>
              <a:rPr lang="ne-NP" altLang="en-US" dirty="0">
                <a:latin typeface="Preeti" pitchFamily="2" charset="0"/>
              </a:rPr>
              <a:t>अदालतको नीतिगत बिषयहरु</a:t>
            </a:r>
          </a:p>
          <a:p>
            <a:pPr>
              <a:buFont typeface="Wingdings" panose="05000000000000000000" pitchFamily="2" charset="2"/>
              <a:buChar char="§"/>
            </a:pPr>
            <a:r>
              <a:rPr lang="ne-NP" altLang="en-US" dirty="0">
                <a:latin typeface="Preeti" pitchFamily="2" charset="0"/>
              </a:rPr>
              <a:t>अदालत ब्यवस्थापनका बिषयहरु </a:t>
            </a:r>
          </a:p>
          <a:p>
            <a:pPr>
              <a:buFont typeface="Wingdings" panose="05000000000000000000" pitchFamily="2" charset="2"/>
              <a:buChar char="§"/>
            </a:pPr>
            <a:r>
              <a:rPr lang="ne-NP" altLang="en-US" dirty="0">
                <a:latin typeface="Preeti" pitchFamily="2" charset="0"/>
              </a:rPr>
              <a:t>अदालतको बार्षिक प्रतिवेदन, निरीक्षण प्रतिवेदन</a:t>
            </a:r>
          </a:p>
          <a:p>
            <a:pPr>
              <a:buFont typeface="Wingdings" panose="05000000000000000000" pitchFamily="2" charset="2"/>
              <a:buChar char="§"/>
            </a:pPr>
            <a:r>
              <a:rPr lang="ne-NP" altLang="en-US" dirty="0">
                <a:latin typeface="Preeti" pitchFamily="2" charset="0"/>
              </a:rPr>
              <a:t>अदालतलाई उपयोगी हुने अन्य समसामयिक बिषयमा। </a:t>
            </a:r>
          </a:p>
          <a:p>
            <a:pPr>
              <a:buFont typeface="Wingdings" panose="05000000000000000000" pitchFamily="2" charset="2"/>
              <a:buChar char="§"/>
            </a:pPr>
            <a:r>
              <a:rPr lang="ne-NP" altLang="en-US" dirty="0">
                <a:latin typeface="Preeti" pitchFamily="2" charset="0"/>
              </a:rPr>
              <a:t>छलफल गरी उपयुक्त निर्णय गर्ने सन्दर्भमा न्यायाधीशहरुको भूमिका रहन्छ।</a:t>
            </a:r>
          </a:p>
          <a:p>
            <a:pPr marL="0" indent="0">
              <a:buNone/>
            </a:pPr>
            <a:endParaRPr lang="ne-NP" altLang="en-US" dirty="0">
              <a:latin typeface="Preeti"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B7246E2-E383-D2B9-4C3D-97CDADE428D9}"/>
              </a:ext>
            </a:extLst>
          </p:cNvPr>
          <p:cNvSpPr>
            <a:spLocks noGrp="1"/>
          </p:cNvSpPr>
          <p:nvPr>
            <p:ph type="title"/>
          </p:nvPr>
        </p:nvSpPr>
        <p:spPr>
          <a:xfrm>
            <a:off x="457200" y="152400"/>
            <a:ext cx="8229600" cy="838200"/>
          </a:xfrm>
        </p:spPr>
        <p:txBody>
          <a:bodyPr>
            <a:normAutofit/>
          </a:bodyPr>
          <a:lstStyle/>
          <a:p>
            <a:r>
              <a:rPr lang="ne-NP" altLang="en-US" sz="2000" dirty="0">
                <a:latin typeface="Preeti" pitchFamily="2" charset="0"/>
              </a:rPr>
              <a:t>जिल्ला अदालतमा रहेन नियमावलीले व्यवस्था गरेका समितिहरुमा जिल्ला न्यायाधीशको भूमिका</a:t>
            </a:r>
            <a:r>
              <a:rPr lang="en-US" altLang="en-US" sz="3400" dirty="0">
                <a:latin typeface="Preeti" pitchFamily="2" charset="0"/>
              </a:rPr>
              <a:t> </a:t>
            </a:r>
          </a:p>
        </p:txBody>
      </p:sp>
      <p:sp>
        <p:nvSpPr>
          <p:cNvPr id="21507" name="Content Placeholder 2">
            <a:extLst>
              <a:ext uri="{FF2B5EF4-FFF2-40B4-BE49-F238E27FC236}">
                <a16:creationId xmlns:a16="http://schemas.microsoft.com/office/drawing/2014/main" id="{5D1BDB92-2C1D-C826-98AB-C1130CFFF521}"/>
              </a:ext>
            </a:extLst>
          </p:cNvPr>
          <p:cNvSpPr>
            <a:spLocks noGrp="1"/>
          </p:cNvSpPr>
          <p:nvPr>
            <p:ph idx="1"/>
          </p:nvPr>
        </p:nvSpPr>
        <p:spPr>
          <a:xfrm>
            <a:off x="457200" y="990600"/>
            <a:ext cx="8229600" cy="5135563"/>
          </a:xfrm>
        </p:spPr>
        <p:txBody>
          <a:bodyPr/>
          <a:lstStyle/>
          <a:p>
            <a:r>
              <a:rPr lang="ne-NP" altLang="en-US" dirty="0">
                <a:latin typeface="Preeti" pitchFamily="2" charset="0"/>
              </a:rPr>
              <a:t>अदालत ब्यवस्थापन समिति</a:t>
            </a:r>
          </a:p>
          <a:p>
            <a:r>
              <a:rPr lang="ne-NP" altLang="en-US" dirty="0">
                <a:latin typeface="Preeti" pitchFamily="2" charset="0"/>
              </a:rPr>
              <a:t>जिल्ला न्याय क्षेत्र समन्वय समिति</a:t>
            </a:r>
          </a:p>
          <a:p>
            <a:r>
              <a:rPr lang="ne-NP" altLang="en-US" dirty="0">
                <a:latin typeface="Preeti" pitchFamily="2" charset="0"/>
              </a:rPr>
              <a:t>योजना तर्जुमा तथा कार्यान्वयन समिति</a:t>
            </a:r>
          </a:p>
          <a:p>
            <a:r>
              <a:rPr lang="ne-NP" altLang="en-US" dirty="0">
                <a:latin typeface="Preeti" pitchFamily="2" charset="0"/>
              </a:rPr>
              <a:t>पुस्तकालय समिति</a:t>
            </a:r>
          </a:p>
          <a:p>
            <a:r>
              <a:rPr lang="ne-NP" altLang="en-US" dirty="0">
                <a:latin typeface="Preeti" pitchFamily="2" charset="0"/>
              </a:rPr>
              <a:t>सूचना प्रबिधि समिति</a:t>
            </a:r>
            <a:endParaRPr lang="en-US" altLang="en-US" dirty="0">
              <a:latin typeface="Preeti" pitchFamily="2" charset="0"/>
            </a:endParaRPr>
          </a:p>
          <a:p>
            <a:r>
              <a:rPr lang="ne-NP" altLang="en-US" dirty="0">
                <a:latin typeface="Preeti" pitchFamily="2" charset="0"/>
              </a:rPr>
              <a:t>आवश्यकतानुसार अन्य समितिहरु गठन हुन सक्ने।</a:t>
            </a:r>
          </a:p>
          <a:p>
            <a:r>
              <a:rPr lang="ne-NP" altLang="en-US" dirty="0">
                <a:latin typeface="Preeti" pitchFamily="2" charset="0"/>
              </a:rPr>
              <a:t>यी समितिहरुमा रही आवश्यक कार्य गरी उपयुक्त व्यवस्थापन र सुधार गर्ने सन्दर्भमा जिल्ला न्यायाधीशको भूमिका रहन्छ।</a:t>
            </a:r>
            <a:endParaRPr lang="en-US" altLang="en-US" dirty="0">
              <a:latin typeface="Preeti" pitchFamily="2"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FFAA699-DCEB-0CC7-C5D0-ECFD3D3DFEDF}"/>
              </a:ext>
            </a:extLst>
          </p:cNvPr>
          <p:cNvSpPr>
            <a:spLocks noGrp="1"/>
          </p:cNvSpPr>
          <p:nvPr>
            <p:ph type="title"/>
          </p:nvPr>
        </p:nvSpPr>
        <p:spPr>
          <a:xfrm>
            <a:off x="457200" y="152400"/>
            <a:ext cx="8458200" cy="533400"/>
          </a:xfrm>
        </p:spPr>
        <p:txBody>
          <a:bodyPr>
            <a:normAutofit/>
          </a:bodyPr>
          <a:lstStyle/>
          <a:p>
            <a:r>
              <a:rPr lang="ne-NP" altLang="en-US" sz="2400" dirty="0">
                <a:latin typeface="Preeti" pitchFamily="2" charset="0"/>
              </a:rPr>
              <a:t>अदालत व्यवस्थापनका सम्बन्धमा जिल्ला न्यायाधीशको भूमिका</a:t>
            </a:r>
            <a:endParaRPr lang="en-US" altLang="en-US" sz="2400" dirty="0">
              <a:latin typeface="Preeti" pitchFamily="2" charset="0"/>
            </a:endParaRPr>
          </a:p>
        </p:txBody>
      </p:sp>
      <p:sp>
        <p:nvSpPr>
          <p:cNvPr id="25603" name="Rectangle 3">
            <a:extLst>
              <a:ext uri="{FF2B5EF4-FFF2-40B4-BE49-F238E27FC236}">
                <a16:creationId xmlns:a16="http://schemas.microsoft.com/office/drawing/2014/main" id="{D3D9F2F0-0020-BF92-ABBD-84EA162C5677}"/>
              </a:ext>
            </a:extLst>
          </p:cNvPr>
          <p:cNvSpPr>
            <a:spLocks noGrp="1"/>
          </p:cNvSpPr>
          <p:nvPr>
            <p:ph idx="1"/>
          </p:nvPr>
        </p:nvSpPr>
        <p:spPr>
          <a:xfrm>
            <a:off x="457200" y="838200"/>
            <a:ext cx="8458200" cy="6019800"/>
          </a:xfrm>
        </p:spPr>
        <p:txBody>
          <a:bodyPr>
            <a:normAutofit fontScale="92500"/>
          </a:bodyPr>
          <a:lstStyle/>
          <a:p>
            <a:pPr algn="just">
              <a:lnSpc>
                <a:spcPct val="80000"/>
              </a:lnSpc>
            </a:pPr>
            <a:r>
              <a:rPr lang="ne-NP" altLang="en-US" sz="2800" dirty="0">
                <a:latin typeface="Preeti" pitchFamily="2" charset="0"/>
              </a:rPr>
              <a:t>सामान्यतया अदालतले दैनिक रुपमा गर्नुपर्ने काम कारबाहीहरु व्यवस्थित रुपले गर्ने पद्धति।</a:t>
            </a:r>
          </a:p>
          <a:p>
            <a:pPr algn="just">
              <a:lnSpc>
                <a:spcPct val="80000"/>
              </a:lnSpc>
            </a:pPr>
            <a:r>
              <a:rPr lang="ne-NP" altLang="en-US" sz="2800" dirty="0">
                <a:latin typeface="Preeti" pitchFamily="2" charset="0"/>
              </a:rPr>
              <a:t>मुद्दाको दर्तादेखि फैसला र फैसलाको कार्यान्वयनको अवस्थासम्म गरिने क्रियाकलापको व्यवस्थित रुप।</a:t>
            </a:r>
          </a:p>
          <a:p>
            <a:pPr algn="just">
              <a:lnSpc>
                <a:spcPct val="80000"/>
              </a:lnSpc>
            </a:pPr>
            <a:r>
              <a:rPr lang="ne-NP" altLang="en-US" sz="2800" dirty="0">
                <a:latin typeface="Preeti" pitchFamily="2" charset="0"/>
              </a:rPr>
              <a:t>उपलव्ध साधन र श्रोतको समुचित व्यवस्थापन, संचालन, नियन्त्रण र समन्वयद्वारा लक्ष प्राप्त गर्ने कार्य ।</a:t>
            </a:r>
          </a:p>
          <a:p>
            <a:pPr algn="just">
              <a:lnSpc>
                <a:spcPct val="80000"/>
              </a:lnSpc>
            </a:pPr>
            <a:r>
              <a:rPr lang="ne-NP" altLang="en-US" sz="2800" dirty="0">
                <a:latin typeface="Preeti" pitchFamily="2" charset="0"/>
              </a:rPr>
              <a:t>न्याय सम्पादन शीघ्र, सुलभ बनाउनु नै अदालत ब्यवस्थापनको मूल उद्देश्य रहने।</a:t>
            </a:r>
          </a:p>
          <a:p>
            <a:pPr algn="just">
              <a:lnSpc>
                <a:spcPct val="80000"/>
              </a:lnSpc>
            </a:pPr>
            <a:r>
              <a:rPr lang="ne-NP" altLang="en-US" sz="2800" dirty="0">
                <a:latin typeface="Preeti" pitchFamily="2" charset="0"/>
              </a:rPr>
              <a:t>अदालत ब्यवस्थापनको मूल कार्य मुद्दा ब्यवस्थापन । </a:t>
            </a:r>
          </a:p>
          <a:p>
            <a:pPr algn="just">
              <a:lnSpc>
                <a:spcPct val="80000"/>
              </a:lnSpc>
            </a:pPr>
            <a:r>
              <a:rPr lang="ne-NP" altLang="en-US" sz="2800" dirty="0">
                <a:latin typeface="Preeti" pitchFamily="2" charset="0"/>
              </a:rPr>
              <a:t>मुद्दा दर्ता देखि फैसला कार्यान्वयनको अवस्था भित्रका विभिन्न चरणहरुको काम कारबाहीमा लाग्ने आवश्यक समय निर्धारण गर्नु, दक्ष जनशक्तिको व्यवस्था गर्नु, प्रत्येक कर्मचारीलाई दिएको जिम्मेवारीको आवधिक मूल्यांकन अनुगमन र सुपरिवेक्षक गर्नु, साधन र श्रोतको समुचित प्रयोग गर्दै आधुनिक संयन्त्र समेतमा अभ्यस्त गराउनमा न्यायाधीश र श्रेष्तेदारको अहं भूमिका रहन्छ।</a:t>
            </a:r>
          </a:p>
          <a:p>
            <a:pPr algn="just" eaLnBrk="1" hangingPunct="1">
              <a:lnSpc>
                <a:spcPct val="80000"/>
              </a:lnSpc>
            </a:pPr>
            <a:endParaRPr lang="en-US" altLang="en-US" sz="2800" dirty="0">
              <a:latin typeface="Preeti" pitchFamily="2"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5924550" cy="930274"/>
          </a:xfrm>
        </p:spPr>
        <p:txBody>
          <a:bodyPr>
            <a:normAutofit/>
          </a:bodyPr>
          <a:lstStyle/>
          <a:p>
            <a:r>
              <a:rPr lang="ne-NP" sz="2400" b="1" dirty="0"/>
              <a:t>न्याय सम्पादनमा जिल्ला अदालतको भूमिकाका व्यवहारिक पक्षहरू</a:t>
            </a:r>
            <a:endParaRPr lang="en-US" sz="2400" b="1" dirty="0"/>
          </a:p>
        </p:txBody>
      </p:sp>
      <p:sp>
        <p:nvSpPr>
          <p:cNvPr id="3" name="Content Placeholder 2"/>
          <p:cNvSpPr>
            <a:spLocks noGrp="1"/>
          </p:cNvSpPr>
          <p:nvPr>
            <p:ph idx="1"/>
          </p:nvPr>
        </p:nvSpPr>
        <p:spPr>
          <a:xfrm>
            <a:off x="381000" y="1524000"/>
            <a:ext cx="8552688" cy="4724400"/>
          </a:xfrm>
        </p:spPr>
        <p:txBody>
          <a:bodyPr>
            <a:normAutofit/>
          </a:bodyPr>
          <a:lstStyle/>
          <a:p>
            <a:pPr>
              <a:buNone/>
            </a:pPr>
            <a:r>
              <a:rPr lang="ne-NP" sz="2500" b="1" u="sng" dirty="0">
                <a:effectLst>
                  <a:outerShdw blurRad="38100" dist="38100" dir="2700000" algn="tl">
                    <a:srgbClr val="000000">
                      <a:alpha val="43137"/>
                    </a:srgbClr>
                  </a:outerShdw>
                </a:effectLst>
              </a:rPr>
              <a:t>शुरू अदालतको कार्य सम्पादन मापदण्डहरू</a:t>
            </a:r>
          </a:p>
          <a:p>
            <a:pPr lvl="0"/>
            <a:r>
              <a:rPr lang="ne-NP" sz="2500" dirty="0"/>
              <a:t>न्यायमा सहज पहुँच </a:t>
            </a:r>
            <a:r>
              <a:rPr lang="en-US" sz="2500" dirty="0"/>
              <a:t>(Access to Justice)</a:t>
            </a:r>
          </a:p>
          <a:p>
            <a:pPr lvl="0"/>
            <a:r>
              <a:rPr lang="ne-NP" sz="2500" dirty="0"/>
              <a:t>गतिशीलता र समय निर्धारण </a:t>
            </a:r>
            <a:r>
              <a:rPr lang="en-US" sz="2500" dirty="0"/>
              <a:t>(Expedition and Timeliness)</a:t>
            </a:r>
          </a:p>
          <a:p>
            <a:pPr lvl="0"/>
            <a:r>
              <a:rPr lang="ne-NP" sz="2500" dirty="0"/>
              <a:t>समानता‚ स्वच्छता र निष्पक्षता </a:t>
            </a:r>
            <a:r>
              <a:rPr lang="en-US" sz="2500" dirty="0"/>
              <a:t>(Equality, Fairness and Integrity)</a:t>
            </a:r>
          </a:p>
          <a:p>
            <a:pPr lvl="0"/>
            <a:r>
              <a:rPr lang="ne-NP" sz="2500" dirty="0"/>
              <a:t>स्वतन्त्रता र उत्तरदायित्व </a:t>
            </a:r>
            <a:r>
              <a:rPr lang="en-US" sz="2500" dirty="0"/>
              <a:t>(Independence and Accountability)</a:t>
            </a:r>
          </a:p>
          <a:p>
            <a:r>
              <a:rPr lang="ne-NP" sz="2500" dirty="0"/>
              <a:t>जनताको आस्था र विश्वास </a:t>
            </a:r>
            <a:r>
              <a:rPr lang="en-US" sz="2500" dirty="0"/>
              <a:t>(Public Trust and Confidence)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2876550" cy="701674"/>
          </a:xfrm>
        </p:spPr>
        <p:txBody>
          <a:bodyPr/>
          <a:lstStyle/>
          <a:p>
            <a:pPr algn="ctr"/>
            <a:r>
              <a:rPr lang="ne-NP" b="1" dirty="0"/>
              <a:t>चुनौतीहरू</a:t>
            </a:r>
            <a:endParaRPr lang="en-US" b="1" dirty="0"/>
          </a:p>
        </p:txBody>
      </p:sp>
      <p:sp>
        <p:nvSpPr>
          <p:cNvPr id="3" name="Content Placeholder 2"/>
          <p:cNvSpPr>
            <a:spLocks noGrp="1"/>
          </p:cNvSpPr>
          <p:nvPr>
            <p:ph idx="1"/>
          </p:nvPr>
        </p:nvSpPr>
        <p:spPr>
          <a:xfrm>
            <a:off x="457200" y="838200"/>
            <a:ext cx="8476488" cy="5562600"/>
          </a:xfrm>
        </p:spPr>
        <p:txBody>
          <a:bodyPr>
            <a:normAutofit fontScale="85000" lnSpcReduction="10000"/>
          </a:bodyPr>
          <a:lstStyle/>
          <a:p>
            <a:pPr marL="457200" indent="-374650"/>
            <a:r>
              <a:rPr lang="ne-NP" sz="2500" dirty="0"/>
              <a:t>न्यायिक काम कारवाही जस्तै थुनछेक र अन्तरकालीन वा अन्तरिम आदेशमा एकरुपताको अभाव</a:t>
            </a:r>
          </a:p>
          <a:p>
            <a:pPr marL="457200" indent="-374650"/>
            <a:r>
              <a:rPr lang="ne-NP" sz="2500" dirty="0"/>
              <a:t>फैसलाको गुणस्तरीयता र तयारी</a:t>
            </a:r>
          </a:p>
          <a:p>
            <a:pPr marL="457200" indent="-374650"/>
            <a:r>
              <a:rPr lang="ne-NP" sz="2500" dirty="0"/>
              <a:t>सामुहिक कार्य (</a:t>
            </a:r>
            <a:r>
              <a:rPr lang="en-US" sz="2500" dirty="0"/>
              <a:t>Teamwork</a:t>
            </a:r>
            <a:r>
              <a:rPr lang="ne-NP" sz="2500" dirty="0"/>
              <a:t>) संस्कृतिको सवाल।</a:t>
            </a:r>
          </a:p>
          <a:p>
            <a:pPr marL="457200" indent="-374650"/>
            <a:r>
              <a:rPr lang="ne-NP" sz="2500" dirty="0"/>
              <a:t>आधुनिक गुणात्मक व्यवस्थापन सवाल ।</a:t>
            </a:r>
          </a:p>
          <a:p>
            <a:pPr marL="457200" indent="-374650"/>
            <a:r>
              <a:rPr lang="ne-NP" sz="2500" dirty="0"/>
              <a:t>न्यायाधीशको काम कारवाहीमा कार्यविधिगत एकरूपता सवाल ।</a:t>
            </a:r>
          </a:p>
          <a:p>
            <a:pPr marL="457200" indent="-374650"/>
            <a:r>
              <a:rPr lang="ne-NP" sz="2500" dirty="0"/>
              <a:t>हालसालै भएको आगजनी वा लुटपाटका कारण भौतिक पूर्वाधार जस्तै भवन सवारी साधन र अन्य उपकरण एवं साधन स्रोतको अभाव।</a:t>
            </a:r>
          </a:p>
          <a:p>
            <a:pPr marL="457200" indent="-374650"/>
            <a:r>
              <a:rPr lang="ne-NP" sz="2500" dirty="0"/>
              <a:t>जनशक्ति अनुरुपका कर्मचारीको अभाव।</a:t>
            </a:r>
          </a:p>
          <a:p>
            <a:pPr marL="457200" indent="-374650"/>
            <a:r>
              <a:rPr lang="ne-NP" sz="2500" dirty="0"/>
              <a:t>समन्वय र सहकार्यको अभाव ।</a:t>
            </a:r>
          </a:p>
          <a:p>
            <a:pPr marL="457200" indent="-374650"/>
            <a:r>
              <a:rPr lang="ne-NP" sz="2500" dirty="0"/>
              <a:t>न्यायाधीशको आचारसंहिताको उल्लङ्घनको प्रश्न उठिरहनु।</a:t>
            </a:r>
          </a:p>
          <a:p>
            <a:pPr marL="457200" indent="-374650"/>
            <a:r>
              <a:rPr lang="en-US" sz="2500" dirty="0"/>
              <a:t>Media Trial </a:t>
            </a:r>
            <a:r>
              <a:rPr lang="ne-NP" sz="2500" dirty="0"/>
              <a:t>बाट न्यायिक काम कारवाही पर्न सक्ने प्रभाव।</a:t>
            </a:r>
          </a:p>
          <a:p>
            <a:pPr marL="457200" indent="-374650"/>
            <a:endParaRPr lang="ne-NP"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ne-NP" b="1" dirty="0"/>
              <a:t>चुनौतीहरू</a:t>
            </a:r>
            <a:endParaRPr lang="en-US" b="1" dirty="0"/>
          </a:p>
        </p:txBody>
      </p:sp>
      <p:sp>
        <p:nvSpPr>
          <p:cNvPr id="3" name="Content Placeholder 2"/>
          <p:cNvSpPr>
            <a:spLocks noGrp="1"/>
          </p:cNvSpPr>
          <p:nvPr>
            <p:ph idx="1"/>
          </p:nvPr>
        </p:nvSpPr>
        <p:spPr>
          <a:xfrm>
            <a:off x="685800" y="1219200"/>
            <a:ext cx="8247888" cy="5181600"/>
          </a:xfrm>
        </p:spPr>
        <p:txBody>
          <a:bodyPr>
            <a:normAutofit/>
          </a:bodyPr>
          <a:lstStyle/>
          <a:p>
            <a:pPr marL="457200" indent="-374650"/>
            <a:r>
              <a:rPr lang="ne-NP" sz="2500" dirty="0"/>
              <a:t>ठूला अदालतमा २ वर्ष नाघेका मुद्दाहरुको संख्यामा बृद्धि</a:t>
            </a:r>
          </a:p>
          <a:p>
            <a:pPr marL="457200" indent="-374650"/>
            <a:r>
              <a:rPr lang="ne-NP" sz="2500" dirty="0"/>
              <a:t>मुद्दा व्यवस्थापन प्रणाली लागु हुन नसकेको अबस्था।</a:t>
            </a:r>
          </a:p>
          <a:p>
            <a:pPr marL="457200" indent="-374650"/>
            <a:r>
              <a:rPr lang="ne-NP" sz="2500" dirty="0"/>
              <a:t>अदालत/न्यायाधीश सम्बन्धी न्यून/गलत सूचना प्रवाह ।</a:t>
            </a:r>
          </a:p>
          <a:p>
            <a:pPr marL="457200" indent="-374650"/>
            <a:r>
              <a:rPr lang="ne-NP" sz="2500" dirty="0"/>
              <a:t>कानूनमा रहेका कमी</a:t>
            </a:r>
            <a:r>
              <a:rPr lang="en-US" sz="2500" dirty="0"/>
              <a:t>,</a:t>
            </a:r>
            <a:r>
              <a:rPr lang="ne-NP" sz="2500" dirty="0"/>
              <a:t> कमजोरी र जटिलताबाट न्याय सम्पादन गर्न कठिनाई उत्पन्न।</a:t>
            </a:r>
          </a:p>
          <a:p>
            <a:pPr marL="457200" indent="-374650"/>
            <a:r>
              <a:rPr lang="ne-NP" sz="2500" dirty="0"/>
              <a:t>न्यायिक कार्य सम्पादनमा उपयुक्त वातावरण ।</a:t>
            </a:r>
            <a:endParaRPr lang="en-US" sz="2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3181350" cy="777874"/>
          </a:xfrm>
        </p:spPr>
        <p:txBody>
          <a:bodyPr>
            <a:normAutofit/>
          </a:bodyPr>
          <a:lstStyle/>
          <a:p>
            <a:pPr algn="ctr"/>
            <a:r>
              <a:rPr lang="ne-NP" sz="4000" b="1" dirty="0"/>
              <a:t>अबको बाटो</a:t>
            </a:r>
            <a:endParaRPr lang="en-US" sz="4000" b="1" dirty="0"/>
          </a:p>
        </p:txBody>
      </p:sp>
      <p:sp>
        <p:nvSpPr>
          <p:cNvPr id="3" name="Content Placeholder 2"/>
          <p:cNvSpPr>
            <a:spLocks noGrp="1"/>
          </p:cNvSpPr>
          <p:nvPr>
            <p:ph idx="1"/>
          </p:nvPr>
        </p:nvSpPr>
        <p:spPr>
          <a:xfrm>
            <a:off x="628650" y="1143001"/>
            <a:ext cx="7219950" cy="4656137"/>
          </a:xfrm>
        </p:spPr>
        <p:txBody>
          <a:bodyPr>
            <a:normAutofit fontScale="62500" lnSpcReduction="20000"/>
          </a:bodyPr>
          <a:lstStyle/>
          <a:p>
            <a:r>
              <a:rPr lang="ne-NP" sz="2500" dirty="0"/>
              <a:t>न्यायाधीश/कर्मचारीको क्षमता विकास।</a:t>
            </a:r>
          </a:p>
          <a:p>
            <a:r>
              <a:rPr lang="ne-NP" sz="2500" dirty="0"/>
              <a:t>रणनीतिक योजनाको प्रभावकारी कार्यान्वयन।</a:t>
            </a:r>
          </a:p>
          <a:p>
            <a:r>
              <a:rPr lang="en-US" sz="2500" dirty="0"/>
              <a:t>Judicial Outreach </a:t>
            </a:r>
            <a:r>
              <a:rPr lang="ne-NP" sz="2500" dirty="0"/>
              <a:t>कार्यक्रमको प्रभावकारी ।</a:t>
            </a:r>
          </a:p>
          <a:p>
            <a:r>
              <a:rPr lang="ne-NP" sz="2500" dirty="0"/>
              <a:t>न्यायक्षेत्र समन्वय समितिको प्रभावकारीता।</a:t>
            </a:r>
          </a:p>
          <a:p>
            <a:r>
              <a:rPr lang="ne-NP" sz="2500" dirty="0"/>
              <a:t>सेवाग्राही मैत्री मुद्दा/अदालत व्यवस्थापन।</a:t>
            </a:r>
          </a:p>
          <a:p>
            <a:r>
              <a:rPr lang="ne-NP" sz="2500" dirty="0"/>
              <a:t>सूचना प्रविधिको प्रयोग।</a:t>
            </a:r>
          </a:p>
          <a:p>
            <a:r>
              <a:rPr lang="ne-NP" sz="2500" dirty="0"/>
              <a:t>अभिलेखहरुको डिजिटलाजेसन।</a:t>
            </a:r>
          </a:p>
          <a:p>
            <a:r>
              <a:rPr lang="ne-NP" sz="2500" dirty="0"/>
              <a:t>साधन र स्रोतको उपयुक्त र प्रभावकारी व्यवस्थापन।</a:t>
            </a:r>
          </a:p>
          <a:p>
            <a:r>
              <a:rPr lang="ne-NP" sz="2500" dirty="0"/>
              <a:t>जनआस्थामा अभिवृद्धि।</a:t>
            </a:r>
          </a:p>
          <a:p>
            <a:r>
              <a:rPr lang="ne-NP" sz="2500" dirty="0"/>
              <a:t>न्यायिक जनशक्तिको सुरक्षाको प्रत्याभूति</a:t>
            </a:r>
          </a:p>
          <a:p>
            <a:r>
              <a:rPr lang="ne-NP" sz="2500" dirty="0"/>
              <a:t>विद्यमान कानूनहरुमा परिमार्जन र सुधार</a:t>
            </a:r>
          </a:p>
          <a:p>
            <a:r>
              <a:rPr lang="ne-NP" sz="2500" dirty="0"/>
              <a:t>फैसला कार्यान्वयनलाई प्रभावकारी बनाइनु पर्ने।</a:t>
            </a:r>
            <a:endParaRPr lang="en-US" sz="2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B84936-9271-7081-BEC2-A55452AA3B30}"/>
              </a:ext>
            </a:extLst>
          </p:cNvPr>
          <p:cNvSpPr>
            <a:spLocks noGrp="1"/>
          </p:cNvSpPr>
          <p:nvPr>
            <p:ph idx="1"/>
          </p:nvPr>
        </p:nvSpPr>
        <p:spPr/>
        <p:txBody>
          <a:bodyPr/>
          <a:lstStyle/>
          <a:p>
            <a:pPr marL="82296" indent="0">
              <a:buNone/>
            </a:pPr>
            <a:endParaRPr lang="ne-NP" dirty="0"/>
          </a:p>
          <a:p>
            <a:pPr marL="82296" indent="0">
              <a:buNone/>
            </a:pPr>
            <a:endParaRPr lang="ne-NP" dirty="0"/>
          </a:p>
          <a:p>
            <a:pPr marL="82296" indent="0">
              <a:buNone/>
            </a:pPr>
            <a:endParaRPr lang="ne-NP" dirty="0"/>
          </a:p>
          <a:p>
            <a:pPr marL="82296" indent="0" algn="ctr">
              <a:buNone/>
            </a:pPr>
            <a:r>
              <a:rPr lang="ne-NP" sz="6000" b="1" dirty="0"/>
              <a:t>धन्यवाद </a:t>
            </a:r>
            <a:endParaRPr lang="en-US" sz="6000" b="1" dirty="0"/>
          </a:p>
        </p:txBody>
      </p:sp>
    </p:spTree>
    <p:extLst>
      <p:ext uri="{BB962C8B-B14F-4D97-AF65-F5344CB8AC3E}">
        <p14:creationId xmlns:p14="http://schemas.microsoft.com/office/powerpoint/2010/main" val="155142180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1425</TotalTime>
  <Words>2559</Words>
  <Application>Microsoft Office PowerPoint</Application>
  <PresentationFormat>On-screen Show (4:3)</PresentationFormat>
  <Paragraphs>195</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Gill Sans MT</vt:lpstr>
      <vt:lpstr>Preeti</vt:lpstr>
      <vt:lpstr>Wingdings</vt:lpstr>
      <vt:lpstr>Gallery</vt:lpstr>
      <vt:lpstr>जिल्ला न्यायाधीशहरुको भूमिका र जिम्मेवारी</vt:lpstr>
      <vt:lpstr>प्रस्तुतीकरणको खाका</vt:lpstr>
      <vt:lpstr> विषय प्रबेश </vt:lpstr>
      <vt:lpstr>न्याय प्रशासन ऐन, २०७३ को दफा ४</vt:lpstr>
      <vt:lpstr>न्याय प्रशासन ऐन, २०७३ को दफा ७</vt:lpstr>
      <vt:lpstr>न्यायिक कारवाहीमा जिल्ला न्यायाधीशको संलग्नता र भूमिका </vt:lpstr>
      <vt:lpstr>फौजदारी मुद्दाका सन्दर्भमा</vt:lpstr>
      <vt:lpstr>निषेधाज्ञाका सन्दर्भमा</vt:lpstr>
      <vt:lpstr>क्रमशः निषेधाज्ञाको निवेदन (जिल्ला अदालत नियमावली २०७५ को नियम ३४)</vt:lpstr>
      <vt:lpstr>बन्दीप्रत्यक्षीकरणको रिट सुन्ने सन्दर्भ</vt:lpstr>
      <vt:lpstr>समग्रमा न्यायिक काम कारवाहीका सन्दर्भमा रहेको भूमिका</vt:lpstr>
      <vt:lpstr>फैसला कार्यान्वयनका सन्दर्भमा जिल्ला न्यायाधीशको भूमिका </vt:lpstr>
      <vt:lpstr>मेलमिलापका सन्दर्भमा जिल्ला न्यायाधीशको भूमिका</vt:lpstr>
      <vt:lpstr>अर्ध न्यायिक निकाय वा स्थानीय न्यायिक समितिको पुनरावेदन सुन्ने सन्दर्भमा</vt:lpstr>
      <vt:lpstr>अर्ध न्यायिक निकाय वा स्थानीय न्यायिक समितिको अनुगमन गर्ने सन्दर्भमा</vt:lpstr>
      <vt:lpstr>सेवाग्राहीसँगको समन्धका सन्दर्भमा</vt:lpstr>
      <vt:lpstr>न्यायिक काम कारवाही बाहेकका अन्य व्यवस्थापकीय कार्यहरुको सम्बन्धमा जिल्ला न्यायाधीशको भूमिका</vt:lpstr>
      <vt:lpstr>बार र बेन्च बीचको समन्वयका सन्दर्भ</vt:lpstr>
      <vt:lpstr>व्यवस्थापकीय कार्यका सम्बन्धमा </vt:lpstr>
      <vt:lpstr>जिल्ला अदालतमा रहेन नियमावलीले व्यवस्था गरेका समितिहरुमा जिल्ला न्यायाधीशको भूमिका </vt:lpstr>
      <vt:lpstr>अदालत व्यवस्थापनका सम्बन्धमा जिल्ला न्यायाधीशको भूमिका</vt:lpstr>
      <vt:lpstr>न्याय सम्पादनमा जिल्ला अदालतको भूमिकाका व्यवहारिक पक्षहरू</vt:lpstr>
      <vt:lpstr>चुनौतीहरू</vt:lpstr>
      <vt:lpstr>चुनौतीहरू</vt:lpstr>
      <vt:lpstr>अबको बाटो</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न्याय सम्पादनमा जिल्ला अदालतको भूमिका</dc:title>
  <dc:creator>muddha3</dc:creator>
  <cp:lastModifiedBy>Diwakar Bhatta</cp:lastModifiedBy>
  <cp:revision>52</cp:revision>
  <dcterms:created xsi:type="dcterms:W3CDTF">2015-08-17T04:54:36Z</dcterms:created>
  <dcterms:modified xsi:type="dcterms:W3CDTF">2026-01-10T08:31:21Z</dcterms:modified>
</cp:coreProperties>
</file>