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61" r:id="rId18"/>
    <p:sldId id="257" r:id="rId19"/>
    <p:sldId id="259" r:id="rId20"/>
    <p:sldId id="258" r:id="rId21"/>
    <p:sldId id="260"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6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F03E348-F244-4654-89B4-D70FB6628543}"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106544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03E348-F244-4654-89B4-D70FB6628543}"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285781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F03E348-F244-4654-89B4-D70FB6628543}"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2799965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F03E348-F244-4654-89B4-D70FB6628543}"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2956225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F03E348-F244-4654-89B4-D70FB6628543}"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2358878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F03E348-F244-4654-89B4-D70FB6628543}"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2446747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3E348-F244-4654-89B4-D70FB6628543}"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3782238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F03E348-F244-4654-89B4-D70FB6628543}"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540708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F03E348-F244-4654-89B4-D70FB6628543}"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2652709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03E348-F244-4654-89B4-D70FB6628543}"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3194744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03E348-F244-4654-89B4-D70FB6628543}"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44F2F-2830-4710-A56B-045731E522CB}" type="slidenum">
              <a:rPr lang="en-US" smtClean="0"/>
              <a:t>‹#›</a:t>
            </a:fld>
            <a:endParaRPr lang="en-US"/>
          </a:p>
        </p:txBody>
      </p:sp>
    </p:spTree>
    <p:extLst>
      <p:ext uri="{BB962C8B-B14F-4D97-AF65-F5344CB8AC3E}">
        <p14:creationId xmlns:p14="http://schemas.microsoft.com/office/powerpoint/2010/main" val="706943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3E348-F244-4654-89B4-D70FB6628543}" type="datetimeFigureOut">
              <a:rPr lang="en-US" smtClean="0"/>
              <a:t>1/30/2026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144F2F-2830-4710-A56B-045731E522CB}" type="slidenum">
              <a:rPr lang="en-US" smtClean="0"/>
              <a:t>‹#›</a:t>
            </a:fld>
            <a:endParaRPr lang="en-US"/>
          </a:p>
        </p:txBody>
      </p:sp>
    </p:spTree>
    <p:extLst>
      <p:ext uri="{BB962C8B-B14F-4D97-AF65-F5344CB8AC3E}">
        <p14:creationId xmlns:p14="http://schemas.microsoft.com/office/powerpoint/2010/main" val="229163844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5429"/>
            <a:ext cx="10515600" cy="5866710"/>
          </a:xfrm>
        </p:spPr>
        <p:txBody>
          <a:bodyPr/>
          <a:lstStyle/>
          <a:p>
            <a:pPr algn="ctr"/>
            <a:r>
              <a:rPr lang="en-US" dirty="0" smtClean="0">
                <a:latin typeface="Times New Roman" panose="02020603050405020304" pitchFamily="18" charset="0"/>
                <a:cs typeface="Times New Roman" panose="02020603050405020304" pitchFamily="18" charset="0"/>
              </a:rPr>
              <a:t>Diversion, Suspension and Reduction of </a:t>
            </a:r>
            <a:br>
              <a:rPr lang="en-US" dirty="0" smtClean="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Sentence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730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Diversion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913105"/>
          </a:xfrm>
        </p:spPr>
        <p:txBody>
          <a:bodyPr>
            <a:normAutofit/>
          </a:bodyPr>
          <a:lstStyle/>
          <a:p>
            <a:pPr algn="just"/>
            <a:r>
              <a:rPr lang="en-US" sz="3600" dirty="0" smtClean="0">
                <a:latin typeface="Times New Roman" panose="02020603050405020304" pitchFamily="18" charset="0"/>
                <a:cs typeface="Times New Roman" panose="02020603050405020304" pitchFamily="18" charset="0"/>
              </a:rPr>
              <a:t>Diversion is the </a:t>
            </a:r>
            <a:r>
              <a:rPr lang="en-US" sz="3600" dirty="0">
                <a:latin typeface="Times New Roman" panose="02020603050405020304" pitchFamily="18" charset="0"/>
                <a:cs typeface="Times New Roman" panose="02020603050405020304" pitchFamily="18" charset="0"/>
              </a:rPr>
              <a:t>action of turning something aside from its </a:t>
            </a:r>
            <a:r>
              <a:rPr lang="en-US" sz="3600" dirty="0" smtClean="0">
                <a:latin typeface="Times New Roman" panose="02020603050405020304" pitchFamily="18" charset="0"/>
                <a:cs typeface="Times New Roman" panose="02020603050405020304" pitchFamily="18" charset="0"/>
              </a:rPr>
              <a:t>course.</a:t>
            </a:r>
          </a:p>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“Diversion” refers to an alternative, child-appropriate process of determining the responsibility and treatment of a child in conflict with the law on the basis of his/her social, cultural, economic, psychological or educational background without resorting to formal court proceedings.</a:t>
            </a:r>
          </a:p>
        </p:txBody>
      </p:sp>
    </p:spTree>
    <p:extLst>
      <p:ext uri="{BB962C8B-B14F-4D97-AF65-F5344CB8AC3E}">
        <p14:creationId xmlns:p14="http://schemas.microsoft.com/office/powerpoint/2010/main" val="1788390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Diversion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386333"/>
          </a:xfrm>
        </p:spPr>
        <p:txBody>
          <a:bodyPr>
            <a:normAutofit lnSpcReduction="10000"/>
          </a:bodyPr>
          <a:lstStyle/>
          <a:p>
            <a:pPr algn="just"/>
            <a:endParaRPr lang="ne-NP" sz="4000" dirty="0" smtClean="0">
              <a:latin typeface="Times New Roman" panose="02020603050405020304" pitchFamily="18" charset="0"/>
              <a:cs typeface="Times New Roman" panose="02020603050405020304" pitchFamily="18" charset="0"/>
            </a:endParaRPr>
          </a:p>
          <a:p>
            <a:pPr algn="just"/>
            <a:r>
              <a:rPr lang="ne-NP" sz="5400" dirty="0" smtClean="0">
                <a:latin typeface="Times New Roman" panose="02020603050405020304" pitchFamily="18" charset="0"/>
                <a:cs typeface="Times New Roman" panose="02020603050405020304" pitchFamily="18" charset="0"/>
              </a:rPr>
              <a:t>दिशान्तर भन्नाले कसूरजन्य कार्यको आरोप लागेका बालबालिकालाई दफा २९ मा उल्लिखित  कुनै प्रक्रिया अवलम्वन गरी औपचारिक न्यायिक प्रक्रियाभन्दा बाहिर लैजाने कार्य सम्झनु पर्छ – बालबालिका सम्बन्धी ऐनको दफा २(च)</a:t>
            </a:r>
            <a:endParaRPr lang="en-US"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2676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6597"/>
          </a:xfrm>
        </p:spPr>
        <p:txBody>
          <a:bodyPr/>
          <a:lstStyle/>
          <a:p>
            <a:pPr algn="ctr"/>
            <a:r>
              <a:rPr lang="ne-NP" dirty="0" smtClean="0">
                <a:cs typeface="Kalimati" panose="00000400000000000000" pitchFamily="2"/>
              </a:rPr>
              <a:t>दिशान्तर गर्ने अधिकार-बाबाऐन दफा २७</a:t>
            </a:r>
            <a:endParaRPr lang="en-US" dirty="0">
              <a:cs typeface="Kalimati" panose="00000400000000000000" pitchFamily="2"/>
            </a:endParaRPr>
          </a:p>
        </p:txBody>
      </p:sp>
      <p:sp>
        <p:nvSpPr>
          <p:cNvPr id="3" name="Content Placeholder 2"/>
          <p:cNvSpPr>
            <a:spLocks noGrp="1"/>
          </p:cNvSpPr>
          <p:nvPr>
            <p:ph idx="1"/>
          </p:nvPr>
        </p:nvSpPr>
        <p:spPr>
          <a:xfrm>
            <a:off x="838200" y="1550504"/>
            <a:ext cx="10515600" cy="5029201"/>
          </a:xfrm>
        </p:spPr>
        <p:txBody>
          <a:bodyPr>
            <a:normAutofit fontScale="85000" lnSpcReduction="10000"/>
          </a:bodyPr>
          <a:lstStyle/>
          <a:p>
            <a:pPr marL="0" indent="0" algn="just">
              <a:buNone/>
            </a:pPr>
            <a:r>
              <a:rPr lang="ne-NP" sz="3600" dirty="0" smtClean="0">
                <a:latin typeface="Kokila" pitchFamily="34" charset="0"/>
                <a:cs typeface="Kalimati" panose="00000400000000000000" pitchFamily="2"/>
              </a:rPr>
              <a:t>प्रचलित </a:t>
            </a:r>
            <a:r>
              <a:rPr lang="ne-NP" sz="3600" dirty="0">
                <a:latin typeface="Kokila" pitchFamily="34" charset="0"/>
                <a:cs typeface="Kalimati" panose="00000400000000000000" pitchFamily="2"/>
              </a:rPr>
              <a:t>कानूनमा जुनसुकै कुरा लेखिएको </a:t>
            </a:r>
            <a:r>
              <a:rPr lang="ne-NP" sz="3600" dirty="0" smtClean="0">
                <a:latin typeface="Kokila" pitchFamily="34" charset="0"/>
                <a:cs typeface="Kalimati" panose="00000400000000000000" pitchFamily="2"/>
              </a:rPr>
              <a:t>भए</a:t>
            </a:r>
            <a:r>
              <a:rPr lang="en-US" sz="3600" dirty="0" smtClean="0">
                <a:latin typeface="Kokila" pitchFamily="34" charset="0"/>
                <a:cs typeface="Kalimati" panose="00000400000000000000" pitchFamily="2"/>
              </a:rPr>
              <a:t> </a:t>
            </a:r>
            <a:r>
              <a:rPr lang="ne-NP" sz="3600" dirty="0" smtClean="0">
                <a:latin typeface="Kokila" pitchFamily="34" charset="0"/>
                <a:cs typeface="Kalimati" panose="00000400000000000000" pitchFamily="2"/>
              </a:rPr>
              <a:t>तापनि </a:t>
            </a:r>
            <a:r>
              <a:rPr lang="hi-IN" sz="3600" dirty="0" smtClean="0">
                <a:latin typeface="Kokila" pitchFamily="34" charset="0"/>
                <a:cs typeface="Kalimati" panose="00000400000000000000" pitchFamily="2"/>
              </a:rPr>
              <a:t>बालबालिकाको </a:t>
            </a:r>
            <a:r>
              <a:rPr lang="hi-IN" sz="3600" dirty="0">
                <a:latin typeface="Kokila" pitchFamily="34" charset="0"/>
                <a:cs typeface="Kalimati" panose="00000400000000000000" pitchFamily="2"/>
              </a:rPr>
              <a:t>सर्बोत्तम हितका लागि दिशान्तर गर्न मना</a:t>
            </a:r>
            <a:r>
              <a:rPr lang="ne-NP" sz="3600" dirty="0">
                <a:latin typeface="Kokila" pitchFamily="34" charset="0"/>
                <a:cs typeface="Kalimati" panose="00000400000000000000" pitchFamily="2"/>
              </a:rPr>
              <a:t>सि</a:t>
            </a:r>
            <a:r>
              <a:rPr lang="hi-IN" sz="3600" dirty="0">
                <a:latin typeface="Kokila" pitchFamily="34" charset="0"/>
                <a:cs typeface="Kalimati" panose="00000400000000000000" pitchFamily="2"/>
              </a:rPr>
              <a:t>ब देख</a:t>
            </a:r>
            <a:r>
              <a:rPr lang="ne-NP" sz="3600" dirty="0">
                <a:latin typeface="Kokila" pitchFamily="34" charset="0"/>
                <a:cs typeface="Kalimati" panose="00000400000000000000" pitchFamily="2"/>
              </a:rPr>
              <a:t>िए</a:t>
            </a:r>
            <a:r>
              <a:rPr lang="hi-IN" sz="3600" dirty="0" smtClean="0">
                <a:latin typeface="Kokila" pitchFamily="34" charset="0"/>
                <a:cs typeface="Kalimati" panose="00000400000000000000" pitchFamily="2"/>
              </a:rPr>
              <a:t>मा</a:t>
            </a:r>
            <a:r>
              <a:rPr lang="ne-NP" sz="3600" dirty="0" smtClean="0">
                <a:latin typeface="Kokila" pitchFamily="34" charset="0"/>
                <a:cs typeface="Kalimati" panose="00000400000000000000" pitchFamily="2"/>
              </a:rPr>
              <a:t> </a:t>
            </a:r>
            <a:r>
              <a:rPr lang="ne-NP" sz="3600" dirty="0">
                <a:latin typeface="Kokila" pitchFamily="34" charset="0"/>
                <a:cs typeface="Kalimati" panose="00000400000000000000" pitchFamily="2"/>
              </a:rPr>
              <a:t>देहायका </a:t>
            </a:r>
            <a:r>
              <a:rPr lang="ne-NP" sz="3600" dirty="0" smtClean="0">
                <a:latin typeface="Kokila" pitchFamily="34" charset="0"/>
                <a:cs typeface="Kalimati" panose="00000400000000000000" pitchFamily="2"/>
              </a:rPr>
              <a:t>मुद्द</a:t>
            </a:r>
            <a:r>
              <a:rPr lang="ne-NP" sz="3600" dirty="0">
                <a:latin typeface="Kokila" pitchFamily="34" charset="0"/>
                <a:cs typeface="Kalimati" panose="00000400000000000000" pitchFamily="2"/>
              </a:rPr>
              <a:t>ा</a:t>
            </a:r>
            <a:r>
              <a:rPr lang="ne-NP" sz="3600" dirty="0" smtClean="0">
                <a:latin typeface="Kokila" pitchFamily="34" charset="0"/>
                <a:cs typeface="Kalimati" panose="00000400000000000000" pitchFamily="2"/>
              </a:rPr>
              <a:t>मा </a:t>
            </a:r>
            <a:r>
              <a:rPr lang="ne-NP" sz="3600" dirty="0">
                <a:latin typeface="Kokila" pitchFamily="34" charset="0"/>
                <a:cs typeface="Kalimati" panose="00000400000000000000" pitchFamily="2"/>
              </a:rPr>
              <a:t>देहायका अधिकारीले दिशान्तरको निर्णय गर्न सक्ने</a:t>
            </a:r>
          </a:p>
          <a:p>
            <a:pPr lvl="1" algn="just">
              <a:buFont typeface="Wingdings" panose="05000000000000000000" pitchFamily="2" charset="2"/>
              <a:buChar char="Ø"/>
            </a:pPr>
            <a:r>
              <a:rPr lang="hi-IN" sz="3200" dirty="0">
                <a:latin typeface="Kokila" pitchFamily="34" charset="0"/>
                <a:cs typeface="Kalimati" panose="00000400000000000000" pitchFamily="2"/>
              </a:rPr>
              <a:t> पाँच हजार रूपैयाँसम्म बिगो भएको वा दुई हजार रुपैयाँसम्म जरिबाना वा एक महिनासम्म कैद हुन सक्ने</a:t>
            </a:r>
            <a:r>
              <a:rPr lang="ne-NP" sz="3200" dirty="0">
                <a:latin typeface="Kokila" pitchFamily="34" charset="0"/>
                <a:cs typeface="Kalimati" panose="00000400000000000000" pitchFamily="2"/>
              </a:rPr>
              <a:t> कसूर</a:t>
            </a:r>
            <a:r>
              <a:rPr lang="hi-IN" sz="3200" dirty="0">
                <a:latin typeface="Kokila" pitchFamily="34" charset="0"/>
                <a:cs typeface="Kalimati" panose="00000400000000000000" pitchFamily="2"/>
              </a:rPr>
              <a:t>मा अनुसन्धान अधिकारीले</a:t>
            </a:r>
            <a:r>
              <a:rPr lang="en-US" sz="3200" dirty="0">
                <a:latin typeface="Kokila" pitchFamily="34" charset="0"/>
                <a:cs typeface="Kalimati" panose="00000400000000000000" pitchFamily="2"/>
              </a:rPr>
              <a:t>,</a:t>
            </a:r>
            <a:endParaRPr lang="ne-NP" sz="3200" dirty="0">
              <a:latin typeface="Kokila" pitchFamily="34" charset="0"/>
              <a:cs typeface="Kalimati" panose="00000400000000000000" pitchFamily="2"/>
            </a:endParaRPr>
          </a:p>
          <a:p>
            <a:pPr lvl="1" algn="just">
              <a:buFont typeface="Wingdings" panose="05000000000000000000" pitchFamily="2" charset="2"/>
              <a:buChar char="Ø"/>
            </a:pP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दश हजार रूपैयाँसम्म बिगो भएको वा पाँच हजार रूपैयाँसम्म जरिबाना वा तीन वर्षसम्म कैद हुन सक्ने</a:t>
            </a:r>
            <a:r>
              <a:rPr lang="ne-NP" sz="3200" dirty="0">
                <a:latin typeface="Kokila" pitchFamily="34" charset="0"/>
                <a:cs typeface="Kalimati" panose="00000400000000000000" pitchFamily="2"/>
              </a:rPr>
              <a:t> कसूर</a:t>
            </a:r>
            <a:r>
              <a:rPr lang="hi-IN" sz="3200" dirty="0">
                <a:latin typeface="Kokila" pitchFamily="34" charset="0"/>
                <a:cs typeface="Kalimati" panose="00000400000000000000" pitchFamily="2"/>
              </a:rPr>
              <a:t>मा सरकारी वकीलले र </a:t>
            </a:r>
            <a:endParaRPr lang="ne-NP" sz="3200" dirty="0">
              <a:latin typeface="Kokila" pitchFamily="34" charset="0"/>
              <a:cs typeface="Kalimati" panose="00000400000000000000" pitchFamily="2"/>
            </a:endParaRPr>
          </a:p>
          <a:p>
            <a:pPr lvl="1" algn="just">
              <a:buFont typeface="Wingdings" panose="05000000000000000000" pitchFamily="2" charset="2"/>
              <a:buChar char="Ø"/>
            </a:pPr>
            <a:r>
              <a:rPr lang="hi-IN" sz="3200" dirty="0">
                <a:latin typeface="Kokila" pitchFamily="34" charset="0"/>
                <a:cs typeface="Kalimati" panose="00000400000000000000" pitchFamily="2"/>
              </a:rPr>
              <a:t> जतिसुकै बिगो भएको वा जतिसुकै जरिबाना </a:t>
            </a:r>
            <a:r>
              <a:rPr lang="ne-NP" sz="3200" dirty="0">
                <a:latin typeface="Kokila" pitchFamily="34" charset="0"/>
                <a:cs typeface="Kalimati" panose="00000400000000000000" pitchFamily="2"/>
              </a:rPr>
              <a:t>वा कैद </a:t>
            </a:r>
            <a:r>
              <a:rPr lang="hi-IN" sz="3200" dirty="0">
                <a:latin typeface="Kokila" pitchFamily="34" charset="0"/>
                <a:cs typeface="Kalimati" panose="00000400000000000000" pitchFamily="2"/>
              </a:rPr>
              <a:t>हुन सक्ने </a:t>
            </a:r>
            <a:r>
              <a:rPr lang="ne-NP" sz="3200" dirty="0">
                <a:latin typeface="Kokila" pitchFamily="34" charset="0"/>
                <a:cs typeface="Kalimati" panose="00000400000000000000" pitchFamily="2"/>
              </a:rPr>
              <a:t>कसूरमा</a:t>
            </a:r>
            <a:r>
              <a:rPr lang="hi-IN" sz="3200" dirty="0">
                <a:latin typeface="Kokila" pitchFamily="34" charset="0"/>
                <a:cs typeface="Kalimati" panose="00000400000000000000" pitchFamily="2"/>
              </a:rPr>
              <a:t> बाल अदालतले दिशान्तर गर्न सक्ने व्यवस्था</a:t>
            </a:r>
            <a:r>
              <a:rPr lang="ne-NP" sz="3200" dirty="0">
                <a:latin typeface="Kokila" pitchFamily="34" charset="0"/>
                <a:cs typeface="Kalimati" panose="00000400000000000000" pitchFamily="2"/>
              </a:rPr>
              <a:t>,</a:t>
            </a:r>
            <a:r>
              <a:rPr lang="hi-IN" sz="3200" dirty="0">
                <a:latin typeface="Kokila" pitchFamily="34" charset="0"/>
                <a:cs typeface="Kalimati" panose="00000400000000000000" pitchFamily="2"/>
              </a:rPr>
              <a:t> </a:t>
            </a:r>
            <a:endParaRPr lang="ne-NP" sz="3200" dirty="0">
              <a:latin typeface="Kokila" pitchFamily="34" charset="0"/>
              <a:cs typeface="Kalimati" panose="00000400000000000000" pitchFamily="2"/>
            </a:endParaRPr>
          </a:p>
          <a:p>
            <a:pPr algn="just"/>
            <a:r>
              <a:rPr lang="ne-NP" sz="3600" dirty="0">
                <a:latin typeface="Kokila" pitchFamily="34" charset="0"/>
                <a:cs typeface="Kalimati" panose="00000400000000000000" pitchFamily="2"/>
              </a:rPr>
              <a:t>तर </a:t>
            </a:r>
            <a:r>
              <a:rPr lang="hi-IN" sz="3600" dirty="0">
                <a:latin typeface="Kokila" pitchFamily="34" charset="0"/>
                <a:cs typeface="Kalimati" panose="00000400000000000000" pitchFamily="2"/>
              </a:rPr>
              <a:t> तीन बर्ष</a:t>
            </a:r>
            <a:r>
              <a:rPr lang="ne-NP" sz="3600" dirty="0">
                <a:latin typeface="Kokila" pitchFamily="34" charset="0"/>
                <a:cs typeface="Kalimati" panose="00000400000000000000" pitchFamily="2"/>
              </a:rPr>
              <a:t> वा सोभन्दा बढी कैद सजाय  हुने मुद्दामा दिशान्तर गर्न नसकिने</a:t>
            </a:r>
          </a:p>
          <a:p>
            <a:pPr marL="0" indent="0" algn="just">
              <a:buNone/>
            </a:pPr>
            <a:endParaRPr lang="en-US" dirty="0"/>
          </a:p>
        </p:txBody>
      </p:sp>
    </p:spTree>
    <p:extLst>
      <p:ext uri="{BB962C8B-B14F-4D97-AF65-F5344CB8AC3E}">
        <p14:creationId xmlns:p14="http://schemas.microsoft.com/office/powerpoint/2010/main" val="530251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i-IN" b="1" dirty="0">
                <a:latin typeface="Kokila" pitchFamily="34" charset="0"/>
                <a:cs typeface="Kalimati" panose="00000400000000000000" pitchFamily="2"/>
              </a:rPr>
              <a:t>दिशान्तर</a:t>
            </a:r>
            <a:r>
              <a:rPr lang="ne-NP" b="1" dirty="0">
                <a:latin typeface="Kokila" pitchFamily="34" charset="0"/>
                <a:cs typeface="Kalimati" panose="00000400000000000000" pitchFamily="2"/>
              </a:rPr>
              <a:t>को निर्णय गर्दा विचार गर्नुपर्ने </a:t>
            </a:r>
            <a:r>
              <a:rPr lang="ne-NP" b="1" dirty="0" smtClean="0">
                <a:latin typeface="Kokila" pitchFamily="34" charset="0"/>
                <a:cs typeface="Kalimati" panose="00000400000000000000" pitchFamily="2"/>
              </a:rPr>
              <a:t>कुराहरू</a:t>
            </a:r>
            <a:r>
              <a:rPr lang="ne-NP" b="1" dirty="0">
                <a:latin typeface="Kokila" pitchFamily="34" charset="0"/>
                <a:cs typeface="Kalimati" panose="00000400000000000000" pitchFamily="2"/>
              </a:rPr>
              <a:t> </a:t>
            </a:r>
            <a:r>
              <a:rPr lang="ne-NP" b="1" dirty="0" smtClean="0">
                <a:latin typeface="Kokila" pitchFamily="34" charset="0"/>
                <a:cs typeface="Kalimati" panose="00000400000000000000" pitchFamily="2"/>
              </a:rPr>
              <a:t>- दफा २८</a:t>
            </a:r>
            <a:endParaRPr lang="en-US" dirty="0">
              <a:cs typeface="Kalimati" panose="00000400000000000000" pitchFamily="2"/>
            </a:endParaRPr>
          </a:p>
        </p:txBody>
      </p:sp>
      <p:sp>
        <p:nvSpPr>
          <p:cNvPr id="3" name="Content Placeholder 2"/>
          <p:cNvSpPr>
            <a:spLocks noGrp="1"/>
          </p:cNvSpPr>
          <p:nvPr>
            <p:ph idx="1"/>
          </p:nvPr>
        </p:nvSpPr>
        <p:spPr>
          <a:xfrm>
            <a:off x="477078" y="1825625"/>
            <a:ext cx="11251096" cy="4764018"/>
          </a:xfrm>
        </p:spPr>
        <p:txBody>
          <a:bodyPr>
            <a:normAutofit lnSpcReduction="10000"/>
          </a:bodyPr>
          <a:lstStyle/>
          <a:p>
            <a:pPr marL="457200" indent="-338138" algn="just"/>
            <a:r>
              <a:rPr lang="hi-IN" sz="3600" dirty="0" smtClean="0">
                <a:latin typeface="Kokila" pitchFamily="34" charset="0"/>
                <a:cs typeface="Kalimati" panose="00000400000000000000" pitchFamily="2"/>
              </a:rPr>
              <a:t>बालबालिकाले </a:t>
            </a:r>
            <a:r>
              <a:rPr lang="hi-IN" sz="3600" dirty="0">
                <a:latin typeface="Kokila" pitchFamily="34" charset="0"/>
                <a:cs typeface="Kalimati" panose="00000400000000000000" pitchFamily="2"/>
              </a:rPr>
              <a:t>कसूरजन्य कार्य गरेको स्वीकार गरेको</a:t>
            </a:r>
            <a:r>
              <a:rPr lang="en-US" sz="3600" dirty="0">
                <a:latin typeface="Kokila" pitchFamily="34" charset="0"/>
                <a:cs typeface="Kalimati" panose="00000400000000000000" pitchFamily="2"/>
              </a:rPr>
              <a:t>,</a:t>
            </a:r>
            <a:r>
              <a:rPr lang="ne-NP" sz="3600" dirty="0">
                <a:latin typeface="Kokila" pitchFamily="34" charset="0"/>
                <a:cs typeface="Kalimati" panose="00000400000000000000" pitchFamily="2"/>
              </a:rPr>
              <a:t> </a:t>
            </a:r>
          </a:p>
          <a:p>
            <a:pPr marL="457200" indent="-338138" algn="just"/>
            <a:r>
              <a:rPr lang="hi-IN" sz="3600" dirty="0" smtClean="0">
                <a:latin typeface="Kokila" pitchFamily="34" charset="0"/>
                <a:cs typeface="Kalimati" panose="00000400000000000000" pitchFamily="2"/>
              </a:rPr>
              <a:t>सम्बन्धित </a:t>
            </a:r>
            <a:r>
              <a:rPr lang="hi-IN" sz="3600" dirty="0">
                <a:latin typeface="Kokila" pitchFamily="34" charset="0"/>
                <a:cs typeface="Kalimati" panose="00000400000000000000" pitchFamily="2"/>
              </a:rPr>
              <a:t>बालबालिका</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निजको बाबु</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आमा र बाबु आमा नभए परिवारका अन्य सदस्य वा संरक्षकको सहमति</a:t>
            </a:r>
            <a:r>
              <a:rPr lang="ne-NP" sz="3600" dirty="0">
                <a:latin typeface="Kokila" pitchFamily="34" charset="0"/>
                <a:cs typeface="Kalimati" panose="00000400000000000000" pitchFamily="2"/>
              </a:rPr>
              <a:t> भएको</a:t>
            </a:r>
            <a:r>
              <a:rPr lang="en-US" sz="3600" dirty="0">
                <a:latin typeface="Kokila" pitchFamily="34" charset="0"/>
                <a:cs typeface="Kalimati" panose="00000400000000000000" pitchFamily="2"/>
              </a:rPr>
              <a:t>,</a:t>
            </a:r>
            <a:r>
              <a:rPr lang="ne-NP" sz="3600" dirty="0">
                <a:latin typeface="Kokila" pitchFamily="34" charset="0"/>
                <a:cs typeface="Kalimati" panose="00000400000000000000" pitchFamily="2"/>
              </a:rPr>
              <a:t> </a:t>
            </a:r>
          </a:p>
          <a:p>
            <a:pPr marL="457200" indent="-338138" algn="just"/>
            <a:r>
              <a:rPr lang="hi-IN" sz="3600" dirty="0" smtClean="0">
                <a:latin typeface="Kokila" pitchFamily="34" charset="0"/>
                <a:cs typeface="Kalimati" panose="00000400000000000000" pitchFamily="2"/>
              </a:rPr>
              <a:t>पीडित </a:t>
            </a:r>
            <a:r>
              <a:rPr lang="hi-IN" sz="3600" dirty="0">
                <a:latin typeface="Kokila" pitchFamily="34" charset="0"/>
                <a:cs typeface="Kalimati" panose="00000400000000000000" pitchFamily="2"/>
              </a:rPr>
              <a:t>पक्षको यथासम्भव पुनर्स्थापना हुने गरी निजको सहमति प्राप्त भएको</a:t>
            </a:r>
            <a:r>
              <a:rPr lang="ne-NP" sz="3600" dirty="0" smtClean="0">
                <a:latin typeface="Kokila" pitchFamily="34" charset="0"/>
                <a:cs typeface="Kalimati" panose="00000400000000000000" pitchFamily="2"/>
              </a:rPr>
              <a:t>,</a:t>
            </a:r>
          </a:p>
          <a:p>
            <a:pPr marL="457200" indent="-338138" algn="just"/>
            <a:r>
              <a:rPr lang="hi-IN" sz="3600" dirty="0" smtClean="0">
                <a:latin typeface="Kokila" pitchFamily="34" charset="0"/>
                <a:cs typeface="Kalimati" panose="00000400000000000000" pitchFamily="2"/>
              </a:rPr>
              <a:t>कसूरजन्य </a:t>
            </a:r>
            <a:r>
              <a:rPr lang="hi-IN" sz="3600" dirty="0">
                <a:latin typeface="Kokila" pitchFamily="34" charset="0"/>
                <a:cs typeface="Kalimati" panose="00000400000000000000" pitchFamily="2"/>
              </a:rPr>
              <a:t>कार्यको प्रकृति र सो कार्य गर्दाको परिस्थिति</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घटनाको गाम्भीर्यता</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बालबालिकाको उमेर</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परिपक्वता र बौद्धिक स्तर</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पारिवारिक वातावरण तथा पीडितलाई पुगेको क्षति र निजको पुनर्स्थापनालाई आधार लिनु पर्ने</a:t>
            </a:r>
            <a:r>
              <a:rPr lang="ne-NP" sz="3600" dirty="0">
                <a:latin typeface="Kokila" pitchFamily="34" charset="0"/>
                <a:cs typeface="Kalimati" panose="00000400000000000000" pitchFamily="2"/>
              </a:rPr>
              <a:t>,</a:t>
            </a:r>
            <a:endParaRPr lang="en-US" sz="3600" dirty="0">
              <a:latin typeface="Kokila" pitchFamily="34" charset="0"/>
              <a:cs typeface="Kalimati" panose="00000400000000000000" pitchFamily="2"/>
            </a:endParaRPr>
          </a:p>
          <a:p>
            <a:pPr algn="just"/>
            <a:endParaRPr lang="en-US" sz="3600" dirty="0">
              <a:latin typeface="Kokila" pitchFamily="34" charset="0"/>
              <a:cs typeface="Kokila" pitchFamily="34" charset="0"/>
            </a:endParaRPr>
          </a:p>
          <a:p>
            <a:endParaRPr lang="en-US" dirty="0"/>
          </a:p>
        </p:txBody>
      </p:sp>
    </p:spTree>
    <p:extLst>
      <p:ext uri="{BB962C8B-B14F-4D97-AF65-F5344CB8AC3E}">
        <p14:creationId xmlns:p14="http://schemas.microsoft.com/office/powerpoint/2010/main" val="2055224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21009" cy="1056171"/>
          </a:xfrm>
        </p:spPr>
        <p:txBody>
          <a:bodyPr>
            <a:normAutofit fontScale="90000"/>
          </a:bodyPr>
          <a:lstStyle/>
          <a:p>
            <a:pPr algn="ctr"/>
            <a:r>
              <a:rPr lang="hi-IN" dirty="0">
                <a:latin typeface="Kokila" pitchFamily="34" charset="0"/>
                <a:cs typeface="Kalimati" panose="00000400000000000000" pitchFamily="2"/>
              </a:rPr>
              <a:t>दिशान्तर गर्दा अवलम्बन गरिने प्रक्रिय</a:t>
            </a:r>
            <a:r>
              <a:rPr lang="ne-NP" dirty="0">
                <a:latin typeface="Kokila" pitchFamily="34" charset="0"/>
                <a:cs typeface="Kalimati" panose="00000400000000000000" pitchFamily="2"/>
              </a:rPr>
              <a:t>ा </a:t>
            </a:r>
            <a:r>
              <a:rPr lang="en-US" dirty="0">
                <a:latin typeface="Kokila" pitchFamily="34" charset="0"/>
                <a:cs typeface="Kalimati" panose="00000400000000000000" pitchFamily="2"/>
              </a:rPr>
              <a:t>-</a:t>
            </a:r>
            <a:r>
              <a:rPr lang="ne-NP" dirty="0" smtClean="0">
                <a:latin typeface="Kokila" pitchFamily="34" charset="0"/>
                <a:cs typeface="Kalimati" panose="00000400000000000000" pitchFamily="2"/>
              </a:rPr>
              <a:t>दफा </a:t>
            </a:r>
            <a:r>
              <a:rPr lang="ne-NP" dirty="0">
                <a:latin typeface="Kokila" pitchFamily="34" charset="0"/>
                <a:cs typeface="Kalimati" panose="00000400000000000000" pitchFamily="2"/>
              </a:rPr>
              <a:t>२९ </a:t>
            </a:r>
            <a:endParaRPr lang="en-US" dirty="0">
              <a:cs typeface="Kalimati" panose="00000400000000000000" pitchFamily="2"/>
            </a:endParaRPr>
          </a:p>
        </p:txBody>
      </p:sp>
      <p:sp>
        <p:nvSpPr>
          <p:cNvPr id="3" name="Content Placeholder 2"/>
          <p:cNvSpPr>
            <a:spLocks noGrp="1"/>
          </p:cNvSpPr>
          <p:nvPr>
            <p:ph idx="1"/>
          </p:nvPr>
        </p:nvSpPr>
        <p:spPr>
          <a:xfrm>
            <a:off x="546652" y="1560443"/>
            <a:ext cx="11131826" cy="5029200"/>
          </a:xfrm>
        </p:spPr>
        <p:txBody>
          <a:bodyPr>
            <a:normAutofit fontScale="92500"/>
          </a:bodyPr>
          <a:lstStyle/>
          <a:p>
            <a:pPr marL="0" indent="0" algn="just">
              <a:buNone/>
            </a:pPr>
            <a:r>
              <a:rPr lang="hi-IN" sz="3200" dirty="0">
                <a:latin typeface="Kokila" pitchFamily="34" charset="0"/>
                <a:cs typeface="Kalimati" panose="00000400000000000000" pitchFamily="2"/>
              </a:rPr>
              <a:t>दिशान्तर गर्दा बालबालिकाको इच्छा समेतलाई विचार गरी देहाय बमोजिमको एक वा एकभन्दा बढी उपयुक्त प्रक्रिया अवलम्बन </a:t>
            </a:r>
            <a:r>
              <a:rPr lang="ne-NP" sz="3200" dirty="0">
                <a:latin typeface="Kokila" pitchFamily="34" charset="0"/>
                <a:cs typeface="Kalimati" panose="00000400000000000000" pitchFamily="2"/>
              </a:rPr>
              <a:t>गर्नुपर्दछ</a:t>
            </a:r>
            <a:r>
              <a:rPr lang="ar-SA" sz="3200" dirty="0">
                <a:latin typeface="Kokila" pitchFamily="34" charset="0"/>
                <a:cs typeface="Kokila" pitchFamily="34" charset="0"/>
              </a:rPr>
              <a:t> :</a:t>
            </a:r>
            <a:r>
              <a:rPr lang="en-US" sz="3200" dirty="0">
                <a:latin typeface="Kokila" pitchFamily="34" charset="0"/>
                <a:cs typeface="Kalimati" panose="00000400000000000000" pitchFamily="2"/>
              </a:rPr>
              <a:t>–</a:t>
            </a:r>
            <a:r>
              <a:rPr lang="ne-NP" sz="3200" dirty="0">
                <a:latin typeface="Kokila" pitchFamily="34" charset="0"/>
                <a:cs typeface="Kalimati" panose="00000400000000000000" pitchFamily="2"/>
              </a:rPr>
              <a:t> </a:t>
            </a:r>
            <a:endParaRPr lang="en-US" sz="3200" dirty="0">
              <a:latin typeface="Kokila" pitchFamily="34" charset="0"/>
              <a:cs typeface="Kalimati" panose="00000400000000000000" pitchFamily="2"/>
            </a:endParaRPr>
          </a:p>
          <a:p>
            <a:pPr marL="514350" indent="-514350" algn="just">
              <a:buAutoNum type="hindiAlpha1Period"/>
            </a:pPr>
            <a:r>
              <a:rPr lang="hi-IN" sz="3200" dirty="0" smtClean="0">
                <a:latin typeface="Kokila" pitchFamily="34" charset="0"/>
                <a:cs typeface="Kalimati" panose="00000400000000000000" pitchFamily="2"/>
              </a:rPr>
              <a:t>बालबालिकालाई </a:t>
            </a:r>
            <a:r>
              <a:rPr lang="hi-IN" sz="3200" dirty="0">
                <a:latin typeface="Kokila" pitchFamily="34" charset="0"/>
                <a:cs typeface="Kalimati" panose="00000400000000000000" pitchFamily="2"/>
              </a:rPr>
              <a:t>पीडितसँग मेलमिलाप वा समझदारी कायम गराउने</a:t>
            </a:r>
            <a:r>
              <a:rPr lang="en-US" sz="3200" dirty="0" smtClean="0">
                <a:latin typeface="Kokila" pitchFamily="34" charset="0"/>
                <a:cs typeface="Kalimati" panose="00000400000000000000" pitchFamily="2"/>
              </a:rPr>
              <a:t>,</a:t>
            </a:r>
            <a:endParaRPr lang="ne-NP" sz="3200" dirty="0">
              <a:latin typeface="Kokila" pitchFamily="34" charset="0"/>
              <a:cs typeface="Kalimati" panose="00000400000000000000" pitchFamily="2"/>
            </a:endParaRPr>
          </a:p>
          <a:p>
            <a:pPr marL="514350" indent="-514350" algn="just">
              <a:buAutoNum type="hindiAlpha1Period"/>
            </a:pPr>
            <a:r>
              <a:rPr lang="hi-IN" sz="3200" dirty="0" smtClean="0">
                <a:latin typeface="Kokila" pitchFamily="34" charset="0"/>
                <a:cs typeface="Kalimati" panose="00000400000000000000" pitchFamily="2"/>
              </a:rPr>
              <a:t>बालबालिकालाई </a:t>
            </a:r>
            <a:r>
              <a:rPr lang="hi-IN" sz="3200" dirty="0">
                <a:latin typeface="Kokila" pitchFamily="34" charset="0"/>
                <a:cs typeface="Kalimati" panose="00000400000000000000" pitchFamily="2"/>
              </a:rPr>
              <a:t>गल्ती महसूस गर्न लगाउने</a:t>
            </a:r>
            <a:r>
              <a:rPr lang="en-US" sz="3200" dirty="0" smtClean="0">
                <a:latin typeface="Kokila" pitchFamily="34" charset="0"/>
                <a:cs typeface="Kalimati" panose="00000400000000000000" pitchFamily="2"/>
              </a:rPr>
              <a:t>,</a:t>
            </a:r>
            <a:endParaRPr lang="ne-NP" sz="3200" dirty="0" smtClean="0">
              <a:latin typeface="Kokila" pitchFamily="34" charset="0"/>
              <a:cs typeface="Kalimati" panose="00000400000000000000" pitchFamily="2"/>
            </a:endParaRPr>
          </a:p>
          <a:p>
            <a:pPr marL="514350" indent="-514350" algn="just">
              <a:buAutoNum type="hindiAlpha1Period"/>
            </a:pPr>
            <a:r>
              <a:rPr lang="hi-IN" sz="3200" dirty="0" smtClean="0">
                <a:latin typeface="Kokila" pitchFamily="34" charset="0"/>
                <a:cs typeface="Kalimati" panose="00000400000000000000" pitchFamily="2"/>
              </a:rPr>
              <a:t>बालबालिका </a:t>
            </a:r>
            <a:r>
              <a:rPr lang="hi-IN" sz="3200" dirty="0">
                <a:latin typeface="Kokila" pitchFamily="34" charset="0"/>
                <a:cs typeface="Kalimati" panose="00000400000000000000" pitchFamily="2"/>
              </a:rPr>
              <a:t>र निजको परिवारलाई आवश्यक परामर्श दिने</a:t>
            </a:r>
            <a:r>
              <a:rPr lang="en-US" sz="3200" dirty="0" smtClean="0">
                <a:latin typeface="Kokila" pitchFamily="34" charset="0"/>
                <a:cs typeface="Kalimati" panose="00000400000000000000" pitchFamily="2"/>
              </a:rPr>
              <a:t>,</a:t>
            </a:r>
            <a:endParaRPr lang="ne-NP" sz="3200" dirty="0">
              <a:latin typeface="Kokila" pitchFamily="34" charset="0"/>
              <a:cs typeface="Kalimati" panose="00000400000000000000" pitchFamily="2"/>
            </a:endParaRPr>
          </a:p>
          <a:p>
            <a:pPr marL="514350" indent="-514350" algn="just">
              <a:buAutoNum type="hindiAlpha1Period"/>
            </a:pPr>
            <a:r>
              <a:rPr lang="hi-IN" sz="3200" dirty="0" smtClean="0">
                <a:latin typeface="Kokila" pitchFamily="34" charset="0"/>
                <a:cs typeface="Kalimati" panose="00000400000000000000" pitchFamily="2"/>
              </a:rPr>
              <a:t>बालबालिकालाई </a:t>
            </a:r>
            <a:r>
              <a:rPr lang="hi-IN" sz="3200" dirty="0">
                <a:latin typeface="Kokila" pitchFamily="34" charset="0"/>
                <a:cs typeface="Kalimati" panose="00000400000000000000" pitchFamily="2"/>
              </a:rPr>
              <a:t>कुनै सामुदायिक सेवामा पठाउने</a:t>
            </a:r>
            <a:r>
              <a:rPr lang="en-US" sz="3200" dirty="0" smtClean="0">
                <a:latin typeface="Kokila" pitchFamily="34" charset="0"/>
                <a:cs typeface="Kalimati" panose="00000400000000000000" pitchFamily="2"/>
              </a:rPr>
              <a:t>,</a:t>
            </a:r>
            <a:endParaRPr lang="ne-NP" sz="3200" dirty="0" smtClean="0">
              <a:latin typeface="Kokila" pitchFamily="34" charset="0"/>
              <a:cs typeface="Kalimati" panose="00000400000000000000" pitchFamily="2"/>
            </a:endParaRPr>
          </a:p>
          <a:p>
            <a:pPr marL="514350" indent="-514350" algn="just">
              <a:buAutoNum type="hindiAlpha1Period"/>
            </a:pPr>
            <a:r>
              <a:rPr lang="hi-IN" sz="3200" dirty="0" smtClean="0">
                <a:latin typeface="Kokila" pitchFamily="34" charset="0"/>
                <a:cs typeface="Kalimati" panose="00000400000000000000" pitchFamily="2"/>
              </a:rPr>
              <a:t>बालबालिकाको </a:t>
            </a:r>
            <a:r>
              <a:rPr lang="hi-IN" sz="3200" dirty="0">
                <a:latin typeface="Kokila" pitchFamily="34" charset="0"/>
                <a:cs typeface="Kalimati" panose="00000400000000000000" pitchFamily="2"/>
              </a:rPr>
              <a:t>हेरचाह र संरक्षण गर्न कुनै संस्थामा पठाउने</a:t>
            </a:r>
            <a:r>
              <a:rPr lang="en-US" sz="3200" dirty="0" smtClean="0">
                <a:latin typeface="Kokila" pitchFamily="34" charset="0"/>
                <a:cs typeface="Kalimati" panose="00000400000000000000" pitchFamily="2"/>
              </a:rPr>
              <a:t>,</a:t>
            </a:r>
            <a:endParaRPr lang="ne-NP" sz="3200" dirty="0" smtClean="0">
              <a:latin typeface="Kokila" pitchFamily="34" charset="0"/>
              <a:cs typeface="Kalimati" panose="00000400000000000000" pitchFamily="2"/>
            </a:endParaRPr>
          </a:p>
          <a:p>
            <a:pPr marL="514350" indent="-514350" algn="just">
              <a:buAutoNum type="hindiAlpha1Period"/>
            </a:pPr>
            <a:r>
              <a:rPr lang="hi-IN" sz="3200" dirty="0" smtClean="0">
                <a:latin typeface="Kokila" pitchFamily="34" charset="0"/>
                <a:cs typeface="Kalimati" panose="00000400000000000000" pitchFamily="2"/>
              </a:rPr>
              <a:t>बाल </a:t>
            </a:r>
            <a:r>
              <a:rPr lang="hi-IN" sz="3200" dirty="0">
                <a:latin typeface="Kokila" pitchFamily="34" charset="0"/>
                <a:cs typeface="Kalimati" panose="00000400000000000000" pitchFamily="2"/>
              </a:rPr>
              <a:t>कल्याण अधिकारीको सुपरिवेक्षण र निर्देशनमा रहने गरी बालबालिकालाई छाड्ने</a:t>
            </a:r>
            <a:r>
              <a:rPr lang="en-US" sz="3200" dirty="0">
                <a:latin typeface="Kokila" pitchFamily="34" charset="0"/>
                <a:cs typeface="Kalimati" panose="00000400000000000000" pitchFamily="2"/>
              </a:rPr>
              <a:t>,</a:t>
            </a:r>
          </a:p>
          <a:p>
            <a:pPr marL="0" indent="0">
              <a:buNone/>
            </a:pPr>
            <a:endParaRPr lang="en-US" dirty="0">
              <a:latin typeface="Kokila" pitchFamily="34" charset="0"/>
              <a:cs typeface="Kokila" pitchFamily="34" charset="0"/>
            </a:endParaRPr>
          </a:p>
          <a:p>
            <a:endParaRPr lang="en-US" dirty="0"/>
          </a:p>
        </p:txBody>
      </p:sp>
    </p:spTree>
    <p:extLst>
      <p:ext uri="{BB962C8B-B14F-4D97-AF65-F5344CB8AC3E}">
        <p14:creationId xmlns:p14="http://schemas.microsoft.com/office/powerpoint/2010/main" val="3609585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713" y="355187"/>
            <a:ext cx="11141765" cy="718240"/>
          </a:xfrm>
        </p:spPr>
        <p:txBody>
          <a:bodyPr/>
          <a:lstStyle/>
          <a:p>
            <a:pPr algn="ctr"/>
            <a:r>
              <a:rPr lang="hi-IN" dirty="0">
                <a:latin typeface="Kokila" pitchFamily="34" charset="0"/>
                <a:cs typeface="Kalimati" panose="00000400000000000000" pitchFamily="2"/>
              </a:rPr>
              <a:t>दिशान्तर गर्दा अवलम्बन गरिने प्रक्रिय</a:t>
            </a:r>
            <a:r>
              <a:rPr lang="ne-NP" dirty="0">
                <a:latin typeface="Kokila" pitchFamily="34" charset="0"/>
                <a:cs typeface="Kalimati" panose="00000400000000000000" pitchFamily="2"/>
              </a:rPr>
              <a:t>ा </a:t>
            </a:r>
            <a:r>
              <a:rPr lang="en-US" dirty="0">
                <a:latin typeface="Kokila" pitchFamily="34" charset="0"/>
                <a:cs typeface="Kalimati" panose="00000400000000000000" pitchFamily="2"/>
              </a:rPr>
              <a:t>-</a:t>
            </a:r>
            <a:r>
              <a:rPr lang="ne-NP" dirty="0">
                <a:latin typeface="Kokila" pitchFamily="34" charset="0"/>
                <a:cs typeface="Kalimati" panose="00000400000000000000" pitchFamily="2"/>
              </a:rPr>
              <a:t>दफा २९ </a:t>
            </a:r>
            <a:endParaRPr lang="en-US" dirty="0"/>
          </a:p>
        </p:txBody>
      </p:sp>
      <p:sp>
        <p:nvSpPr>
          <p:cNvPr id="3" name="Content Placeholder 2"/>
          <p:cNvSpPr>
            <a:spLocks noGrp="1"/>
          </p:cNvSpPr>
          <p:nvPr>
            <p:ph idx="1"/>
          </p:nvPr>
        </p:nvSpPr>
        <p:spPr>
          <a:xfrm>
            <a:off x="536713" y="1381538"/>
            <a:ext cx="11221278" cy="5227983"/>
          </a:xfrm>
        </p:spPr>
        <p:txBody>
          <a:bodyPr>
            <a:normAutofit fontScale="85000" lnSpcReduction="20000"/>
          </a:bodyPr>
          <a:lstStyle/>
          <a:p>
            <a:pPr marL="576263" indent="-576263" algn="just">
              <a:buNone/>
            </a:pPr>
            <a:r>
              <a:rPr lang="ne-NP" sz="3600" dirty="0" smtClean="0">
                <a:latin typeface="Kokila" pitchFamily="34" charset="0"/>
                <a:cs typeface="Kalimati" panose="00000400000000000000" pitchFamily="2"/>
              </a:rPr>
              <a:t>छ. </a:t>
            </a:r>
            <a:r>
              <a:rPr lang="hi-IN" sz="3600" dirty="0" smtClean="0">
                <a:latin typeface="Kokila" pitchFamily="34" charset="0"/>
                <a:cs typeface="Kalimati" panose="00000400000000000000" pitchFamily="2"/>
              </a:rPr>
              <a:t>बालबालिकालाई </a:t>
            </a:r>
            <a:r>
              <a:rPr lang="hi-IN" sz="3600" dirty="0">
                <a:latin typeface="Kokila" pitchFamily="34" charset="0"/>
                <a:cs typeface="Kalimati" panose="00000400000000000000" pitchFamily="2"/>
              </a:rPr>
              <a:t>बाबु</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आमा</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परिवारको अन्य सदस्य वा संरक्षकको जिम्मा लगाउने</a:t>
            </a:r>
            <a:r>
              <a:rPr lang="en-US" sz="3600" dirty="0" smtClean="0">
                <a:latin typeface="Kokila" pitchFamily="34" charset="0"/>
                <a:cs typeface="Kalimati" panose="00000400000000000000" pitchFamily="2"/>
              </a:rPr>
              <a:t>,</a:t>
            </a:r>
            <a:endParaRPr lang="ne-NP" sz="3600" dirty="0" smtClean="0">
              <a:latin typeface="Kokila" pitchFamily="34" charset="0"/>
              <a:cs typeface="Kalimati" panose="00000400000000000000" pitchFamily="2"/>
            </a:endParaRPr>
          </a:p>
          <a:p>
            <a:pPr marL="576263" indent="-576263" algn="just">
              <a:buNone/>
            </a:pPr>
            <a:r>
              <a:rPr lang="ne-NP" sz="3600" dirty="0" smtClean="0">
                <a:latin typeface="Kokila" pitchFamily="34" charset="0"/>
                <a:cs typeface="Kalimati" panose="00000400000000000000" pitchFamily="2"/>
              </a:rPr>
              <a:t>ज. </a:t>
            </a:r>
            <a:r>
              <a:rPr lang="hi-IN" sz="3600" dirty="0" smtClean="0">
                <a:latin typeface="Kokila" pitchFamily="34" charset="0"/>
                <a:cs typeface="Kalimati" panose="00000400000000000000" pitchFamily="2"/>
              </a:rPr>
              <a:t>बालबालिकालाई </a:t>
            </a:r>
            <a:r>
              <a:rPr lang="hi-IN" sz="3600" dirty="0">
                <a:latin typeface="Kokila" pitchFamily="34" charset="0"/>
                <a:cs typeface="Kalimati" panose="00000400000000000000" pitchFamily="2"/>
              </a:rPr>
              <a:t>कुनै तालीम वा शैक्षिक कार्यक्रममा सहभागी गराउने</a:t>
            </a:r>
            <a:r>
              <a:rPr lang="ne-NP" sz="3600" dirty="0">
                <a:latin typeface="Kokila" pitchFamily="34" charset="0"/>
                <a:cs typeface="Kalimati" panose="00000400000000000000" pitchFamily="2"/>
              </a:rPr>
              <a:t>,</a:t>
            </a:r>
          </a:p>
          <a:p>
            <a:pPr algn="just">
              <a:buFont typeface="Kalimati" panose="00000400000000000000" pitchFamily="2"/>
              <a:buChar char="-"/>
            </a:pPr>
            <a:r>
              <a:rPr lang="hi-IN" sz="3600" dirty="0" smtClean="0">
                <a:latin typeface="Kokila" pitchFamily="34" charset="0"/>
                <a:cs typeface="Kalimati" panose="00000400000000000000" pitchFamily="2"/>
              </a:rPr>
              <a:t>माथी </a:t>
            </a:r>
            <a:r>
              <a:rPr lang="hi-IN" sz="3600" dirty="0">
                <a:latin typeface="Kokila" pitchFamily="34" charset="0"/>
                <a:cs typeface="Kalimati" panose="00000400000000000000" pitchFamily="2"/>
              </a:rPr>
              <a:t>खण्ड (घ)</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ङ)</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च)</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छ) र (ज) बमोजिमको कुनै प्रक्रिया अवलम्बन गरी दिशान्तर गर्दा अवधि समेत तोक्नु पर्ने ताकि कसूरजन्य कार्य गरे बापत बालबालिकालाई हुन सक्ने अधिकतम सजायभन्दा बढी अवधि </a:t>
            </a:r>
            <a:r>
              <a:rPr lang="ne-NP" sz="3600" dirty="0">
                <a:latin typeface="Kokila" pitchFamily="34" charset="0"/>
                <a:cs typeface="Kalimati" panose="00000400000000000000" pitchFamily="2"/>
              </a:rPr>
              <a:t>हुन न</a:t>
            </a:r>
            <a:r>
              <a:rPr lang="hi-IN" sz="3600" dirty="0">
                <a:latin typeface="Kokila" pitchFamily="34" charset="0"/>
                <a:cs typeface="Kalimati" panose="00000400000000000000" pitchFamily="2"/>
              </a:rPr>
              <a:t>हुने</a:t>
            </a:r>
            <a:r>
              <a:rPr lang="ne-NP" sz="3600" dirty="0" smtClean="0">
                <a:latin typeface="Kokila" pitchFamily="34" charset="0"/>
                <a:cs typeface="Kalimati" panose="00000400000000000000" pitchFamily="2"/>
              </a:rPr>
              <a:t>,</a:t>
            </a:r>
            <a:endParaRPr lang="ne-NP" sz="3600" dirty="0">
              <a:latin typeface="Kokila" pitchFamily="34" charset="0"/>
              <a:cs typeface="Kalimati" panose="00000400000000000000" pitchFamily="2"/>
            </a:endParaRPr>
          </a:p>
          <a:p>
            <a:pPr algn="just">
              <a:buFont typeface="Kalimati" panose="00000400000000000000" pitchFamily="2"/>
              <a:buChar char="-"/>
            </a:pPr>
            <a:r>
              <a:rPr lang="hi-IN" sz="3600" dirty="0" smtClean="0">
                <a:latin typeface="Kokila" pitchFamily="34" charset="0"/>
                <a:cs typeface="Kalimati" panose="00000400000000000000" pitchFamily="2"/>
              </a:rPr>
              <a:t>अनुसन्धान </a:t>
            </a:r>
            <a:r>
              <a:rPr lang="hi-IN" sz="3600" dirty="0">
                <a:latin typeface="Kokila" pitchFamily="34" charset="0"/>
                <a:cs typeface="Kalimati" panose="00000400000000000000" pitchFamily="2"/>
              </a:rPr>
              <a:t>अधिकारी वा सरकारी वकीलले बालबालिकालाई दिशान्तर गर्नु अघि बाल मनोविज्ञ र बाल विशेषज्ञबाट बालबालिकाको शारीरिक तथा मानसिक अवस्था र समाजसेवीबाट बालबालिकाको आर्थिक</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सांस्कृतिक अवस्था तथा परिवेशको अध्ययन र विश्लेषण गर्न लगाई प्रतिवेदन लिनु पर्ने र दिशान्तर गरेको जानकारी आफ्नो माथिल्लो निकाय र बाल अदालतलाई दिनु पर्ने</a:t>
            </a:r>
            <a:r>
              <a:rPr lang="ne-NP" sz="3600" dirty="0">
                <a:latin typeface="Kokila" pitchFamily="34" charset="0"/>
                <a:cs typeface="Kalimati" panose="00000400000000000000" pitchFamily="2"/>
              </a:rPr>
              <a:t>,</a:t>
            </a:r>
            <a:endParaRPr lang="en-US" sz="3600" dirty="0">
              <a:latin typeface="Kokila" pitchFamily="34" charset="0"/>
              <a:cs typeface="Kalimati" panose="00000400000000000000" pitchFamily="2"/>
            </a:endParaRPr>
          </a:p>
          <a:p>
            <a:pPr algn="just"/>
            <a:endParaRPr lang="en-US" sz="3600" dirty="0">
              <a:latin typeface="Kokila" pitchFamily="34" charset="0"/>
              <a:cs typeface="Kokila" pitchFamily="34" charset="0"/>
            </a:endParaRPr>
          </a:p>
          <a:p>
            <a:endParaRPr lang="en-US" dirty="0"/>
          </a:p>
        </p:txBody>
      </p:sp>
    </p:spTree>
    <p:extLst>
      <p:ext uri="{BB962C8B-B14F-4D97-AF65-F5344CB8AC3E}">
        <p14:creationId xmlns:p14="http://schemas.microsoft.com/office/powerpoint/2010/main" val="1955796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409" y="365125"/>
            <a:ext cx="11082129" cy="1006475"/>
          </a:xfrm>
        </p:spPr>
        <p:txBody>
          <a:bodyPr/>
          <a:lstStyle/>
          <a:p>
            <a:r>
              <a:rPr lang="hi-IN" dirty="0">
                <a:latin typeface="Kokila" pitchFamily="34" charset="0"/>
                <a:cs typeface="Kalimati" panose="00000400000000000000" pitchFamily="2"/>
              </a:rPr>
              <a:t>दिशान्तर गर्दा अवलम्बन गरिने प्रक्रिय</a:t>
            </a:r>
            <a:r>
              <a:rPr lang="ne-NP" dirty="0" smtClean="0">
                <a:latin typeface="Kokila" pitchFamily="34" charset="0"/>
                <a:cs typeface="Kalimati" panose="00000400000000000000" pitchFamily="2"/>
              </a:rPr>
              <a:t>ा</a:t>
            </a:r>
            <a:r>
              <a:rPr lang="en-US" dirty="0" smtClean="0">
                <a:latin typeface="Kokila" pitchFamily="34" charset="0"/>
                <a:cs typeface="Kalimati" panose="00000400000000000000" pitchFamily="2"/>
              </a:rPr>
              <a:t>-</a:t>
            </a:r>
            <a:r>
              <a:rPr lang="ne-NP" dirty="0">
                <a:latin typeface="Kokila" pitchFamily="34" charset="0"/>
                <a:cs typeface="Kalimati" panose="00000400000000000000" pitchFamily="2"/>
              </a:rPr>
              <a:t>दफा २९ </a:t>
            </a:r>
            <a:endParaRPr lang="en-US" dirty="0"/>
          </a:p>
        </p:txBody>
      </p:sp>
      <p:sp>
        <p:nvSpPr>
          <p:cNvPr id="3" name="Content Placeholder 2"/>
          <p:cNvSpPr>
            <a:spLocks noGrp="1"/>
          </p:cNvSpPr>
          <p:nvPr>
            <p:ph idx="1"/>
          </p:nvPr>
        </p:nvSpPr>
        <p:spPr>
          <a:xfrm>
            <a:off x="308113" y="1825625"/>
            <a:ext cx="11529391" cy="4764018"/>
          </a:xfrm>
        </p:spPr>
        <p:txBody>
          <a:bodyPr>
            <a:normAutofit fontScale="92500" lnSpcReduction="10000"/>
          </a:bodyPr>
          <a:lstStyle/>
          <a:p>
            <a:pPr algn="just">
              <a:buFont typeface="Kokila" panose="020B0604020202020204" pitchFamily="34" charset="0"/>
              <a:buChar char="-"/>
            </a:pPr>
            <a:r>
              <a:rPr lang="hi-IN" sz="3200" dirty="0">
                <a:latin typeface="Kokila" pitchFamily="34" charset="0"/>
                <a:cs typeface="Kalimati" panose="00000400000000000000" pitchFamily="2"/>
              </a:rPr>
              <a:t>कसूरजन्य कार्यको आरोप लागेका बालबालिकालाई दिशान्तर गरिएमा त्यस्तो विवादको अन्त्य हुने र सोको औपचारिक न्यायिक प्रक्रिया समाप्त भएको मान</a:t>
            </a:r>
            <a:r>
              <a:rPr lang="ne-NP" sz="3200" dirty="0">
                <a:latin typeface="Kokila" pitchFamily="34" charset="0"/>
                <a:cs typeface="Kalimati" panose="00000400000000000000" pitchFamily="2"/>
              </a:rPr>
              <a:t>िने, </a:t>
            </a:r>
            <a:endParaRPr lang="ne-NP" sz="3200" dirty="0" smtClean="0">
              <a:latin typeface="Kokila" pitchFamily="34" charset="0"/>
              <a:cs typeface="Kalimati" panose="00000400000000000000" pitchFamily="2"/>
            </a:endParaRPr>
          </a:p>
          <a:p>
            <a:pPr algn="just">
              <a:buFont typeface="Kokila" panose="020B0604020202020204" pitchFamily="34" charset="0"/>
              <a:buChar char="-"/>
            </a:pPr>
            <a:r>
              <a:rPr lang="hi-IN" sz="3200" dirty="0" smtClean="0">
                <a:latin typeface="Kokila" pitchFamily="34" charset="0"/>
                <a:cs typeface="Kalimati" panose="00000400000000000000" pitchFamily="2"/>
              </a:rPr>
              <a:t>दिशान्तर </a:t>
            </a:r>
            <a:r>
              <a:rPr lang="hi-IN" sz="3200" dirty="0">
                <a:latin typeface="Kokila" pitchFamily="34" charset="0"/>
                <a:cs typeface="Kalimati" panose="00000400000000000000" pitchFamily="2"/>
              </a:rPr>
              <a:t>गर्ने अनुसन्धान अधिकारी</a:t>
            </a: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सरकारी वकील वा बाल अदालतले दिशान्तर गरिएको बालबालिका दिशान्तर प्रक्रियामा निरन्तर रूपमा सहभागी भए नभएको कुराको अनुगमन प्रोवेशन अधिकारी मार्फत् गर्ने व्यवस्था मिलाउनु पर</a:t>
            </a:r>
            <a:r>
              <a:rPr lang="ne-NP" sz="3200" dirty="0">
                <a:latin typeface="Kokila" pitchFamily="34" charset="0"/>
                <a:cs typeface="Kalimati" panose="00000400000000000000" pitchFamily="2"/>
              </a:rPr>
              <a:t>्ने, </a:t>
            </a:r>
            <a:endParaRPr lang="ne-NP" sz="3200" dirty="0" smtClean="0">
              <a:latin typeface="Kokila" pitchFamily="34" charset="0"/>
              <a:cs typeface="Kalimati" panose="00000400000000000000" pitchFamily="2"/>
            </a:endParaRPr>
          </a:p>
          <a:p>
            <a:pPr algn="just">
              <a:buFont typeface="Kokila" panose="020B0604020202020204" pitchFamily="34" charset="0"/>
              <a:buChar char="-"/>
            </a:pPr>
            <a:r>
              <a:rPr lang="hi-IN" sz="3200" dirty="0" smtClean="0">
                <a:latin typeface="Kokila" pitchFamily="34" charset="0"/>
                <a:cs typeface="Kalimati" panose="00000400000000000000" pitchFamily="2"/>
              </a:rPr>
              <a:t>बालबालिकालाई </a:t>
            </a:r>
            <a:r>
              <a:rPr lang="hi-IN" sz="3200" dirty="0">
                <a:latin typeface="Kokila" pitchFamily="34" charset="0"/>
                <a:cs typeface="Kalimati" panose="00000400000000000000" pitchFamily="2"/>
              </a:rPr>
              <a:t>दिशान्तर गर्दा पीडितलाई भएको हानि नोक्सानी बापत समेत विचार गर्नुपर्ने</a:t>
            </a:r>
            <a:r>
              <a:rPr lang="ne-NP"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यसमा पीडितलाई क्षतिपूर्ति दिने वा वास्तविक हानि नोक्सानी भराई दिने</a:t>
            </a:r>
            <a:r>
              <a:rPr lang="en-US" sz="3200" dirty="0">
                <a:latin typeface="Kokila" pitchFamily="34" charset="0"/>
                <a:cs typeface="Kalimati" panose="00000400000000000000" pitchFamily="2"/>
              </a:rPr>
              <a:t>,</a:t>
            </a:r>
            <a:r>
              <a:rPr lang="hi-IN" sz="3200" dirty="0">
                <a:latin typeface="Kokila" pitchFamily="34" charset="0"/>
                <a:cs typeface="Kalimati" panose="00000400000000000000" pitchFamily="2"/>
              </a:rPr>
              <a:t> कसूरजन्य कार्यबाट प्राप्त सम्पत्ति</a:t>
            </a: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मुनाफा वा सामग्री सम्बन्धित धनीलाई फिर्ता गर्न लगाउने समेतका कार्य प</a:t>
            </a:r>
            <a:r>
              <a:rPr lang="ne-NP" sz="3200" dirty="0">
                <a:latin typeface="Kokila" pitchFamily="34" charset="0"/>
                <a:cs typeface="Kalimati" panose="00000400000000000000" pitchFamily="2"/>
              </a:rPr>
              <a:t>र्ने,</a:t>
            </a:r>
          </a:p>
          <a:p>
            <a:pPr marL="0" indent="0" algn="just">
              <a:buNone/>
            </a:pPr>
            <a:endParaRPr lang="en-US" sz="3200" dirty="0">
              <a:latin typeface="Kokila" pitchFamily="34" charset="0"/>
              <a:cs typeface="Kokila" pitchFamily="34" charset="0"/>
            </a:endParaRPr>
          </a:p>
          <a:p>
            <a:pPr marL="0" indent="0">
              <a:buNone/>
            </a:pPr>
            <a:endParaRPr lang="en-US" dirty="0"/>
          </a:p>
        </p:txBody>
      </p:sp>
    </p:spTree>
    <p:extLst>
      <p:ext uri="{BB962C8B-B14F-4D97-AF65-F5344CB8AC3E}">
        <p14:creationId xmlns:p14="http://schemas.microsoft.com/office/powerpoint/2010/main" val="3757633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hi-IN" sz="4000" dirty="0" smtClean="0">
                <a:latin typeface="Kokila" pitchFamily="34" charset="0"/>
                <a:cs typeface="Kalimati" panose="00000400000000000000" pitchFamily="2"/>
              </a:rPr>
              <a:t>बाल </a:t>
            </a:r>
            <a:r>
              <a:rPr lang="hi-IN" sz="4000" dirty="0">
                <a:latin typeface="Kokila" pitchFamily="34" charset="0"/>
                <a:cs typeface="Kalimati" panose="00000400000000000000" pitchFamily="2"/>
              </a:rPr>
              <a:t>न्याय सम्पादन (कार्यविधि) नियमावली</a:t>
            </a:r>
            <a:r>
              <a:rPr lang="en-US" sz="4000" dirty="0">
                <a:latin typeface="Kokila" pitchFamily="34" charset="0"/>
                <a:cs typeface="Kalimati" panose="00000400000000000000" pitchFamily="2"/>
              </a:rPr>
              <a:t>, </a:t>
            </a:r>
            <a:r>
              <a:rPr lang="hi-IN" sz="4000" dirty="0" smtClean="0">
                <a:latin typeface="Kokila" pitchFamily="34" charset="0"/>
                <a:cs typeface="Kalimati" panose="00000400000000000000" pitchFamily="2"/>
              </a:rPr>
              <a:t>२०७६</a:t>
            </a:r>
            <a:r>
              <a:rPr lang="ne-NP" sz="4000" dirty="0" smtClean="0">
                <a:latin typeface="Kokila" pitchFamily="34" charset="0"/>
                <a:cs typeface="Kalimati" panose="00000400000000000000" pitchFamily="2"/>
              </a:rPr>
              <a:t> मा </a:t>
            </a:r>
            <a:r>
              <a:rPr lang="ne-NP" sz="4000" dirty="0" smtClean="0">
                <a:latin typeface="Kokila" pitchFamily="34" charset="0"/>
                <a:cs typeface="Kalimati" panose="00000400000000000000" pitchFamily="2"/>
              </a:rPr>
              <a:t>दिशान्तर (नियम ९)</a:t>
            </a:r>
            <a:endParaRPr lang="en-US" sz="4000" dirty="0">
              <a:cs typeface="Kalimati" panose="00000400000000000000" pitchFamily="2"/>
            </a:endParaRPr>
          </a:p>
        </p:txBody>
      </p:sp>
      <p:sp>
        <p:nvSpPr>
          <p:cNvPr id="3" name="Content Placeholder 2"/>
          <p:cNvSpPr>
            <a:spLocks noGrp="1"/>
          </p:cNvSpPr>
          <p:nvPr>
            <p:ph idx="1"/>
          </p:nvPr>
        </p:nvSpPr>
        <p:spPr>
          <a:xfrm>
            <a:off x="218661" y="1825625"/>
            <a:ext cx="11390243" cy="4843532"/>
          </a:xfrm>
        </p:spPr>
        <p:txBody>
          <a:bodyPr>
            <a:normAutofit lnSpcReduction="10000"/>
          </a:bodyPr>
          <a:lstStyle/>
          <a:p>
            <a:pPr marL="347663" indent="-287338" algn="just">
              <a:buFont typeface="Kokila" panose="020B0604020202020204" pitchFamily="34" charset="0"/>
              <a:buChar char="-"/>
            </a:pPr>
            <a:r>
              <a:rPr lang="hi-IN" dirty="0">
                <a:latin typeface="Kokila" pitchFamily="34" charset="0"/>
                <a:cs typeface="Kalimati" panose="00000400000000000000" pitchFamily="2"/>
              </a:rPr>
              <a:t>नियम ९ ले कसूरजन्य कार्यको अभियोगमा अनुसन्धान वा अभियोजनको क्रममा बालबालिकाको सर्वोत्तम हितको लागि कसूरजन्य कार्यको आरोप लागेको बालबालिकालाई ऐनको दफा २७ को उपदफा (१) को खण्ड (क) वा (ख) बमोजिम दिशान्तर गर्न सकिने अवस्था भएमा अनुसन्धान अधिकारी वा सरकारी वकिलले ऐनको दफा २९ को उपदफा (४) बमोजिम बालबालिकाको आर्थिक</a:t>
            </a:r>
            <a:r>
              <a:rPr lang="en-US" dirty="0">
                <a:latin typeface="Kokila" pitchFamily="34" charset="0"/>
                <a:cs typeface="Kalimati" panose="00000400000000000000" pitchFamily="2"/>
              </a:rPr>
              <a:t>, </a:t>
            </a:r>
            <a:r>
              <a:rPr lang="hi-IN" dirty="0">
                <a:latin typeface="Kokila" pitchFamily="34" charset="0"/>
                <a:cs typeface="Kalimati" panose="00000400000000000000" pitchFamily="2"/>
              </a:rPr>
              <a:t>सांस्कृतिक अवस्था तथा परिवेशको अध्ययन र विश्लेषण गर्न लगाइ प्रतिवेदन लिई प्राप्त प्रतिवेदन तथा ऐनको दफा २८ मा उल्लिखित अवस्था विचार गरी दफा २७ को उपदफा (१) को खण्ड (क) बमोजिम दिशान्तर गर्ने अवस्था भएमा दिशान्तर गर्ने निर्णय गर्न</a:t>
            </a:r>
            <a:r>
              <a:rPr lang="ne-NP" dirty="0">
                <a:latin typeface="Kokila" pitchFamily="34" charset="0"/>
                <a:cs typeface="Kalimati" panose="00000400000000000000" pitchFamily="2"/>
              </a:rPr>
              <a:t> </a:t>
            </a:r>
            <a:r>
              <a:rPr lang="ne-NP" dirty="0" smtClean="0">
                <a:latin typeface="Kokila" pitchFamily="34" charset="0"/>
                <a:cs typeface="Kalimati" panose="00000400000000000000" pitchFamily="2"/>
              </a:rPr>
              <a:t>सक्ने,</a:t>
            </a:r>
            <a:endParaRPr lang="ne-NP" dirty="0">
              <a:latin typeface="Kokila" pitchFamily="34" charset="0"/>
              <a:cs typeface="Kalimati" panose="00000400000000000000" pitchFamily="2"/>
            </a:endParaRPr>
          </a:p>
          <a:p>
            <a:pPr marL="347663" indent="-287338" algn="just">
              <a:buFont typeface="Kokila" panose="020B0604020202020204" pitchFamily="34" charset="0"/>
              <a:buChar char="-"/>
            </a:pPr>
            <a:r>
              <a:rPr lang="hi-IN" dirty="0" smtClean="0">
                <a:latin typeface="Kokila" pitchFamily="34" charset="0"/>
                <a:cs typeface="Kalimati" panose="00000400000000000000" pitchFamily="2"/>
              </a:rPr>
              <a:t>अनुसन्धान </a:t>
            </a:r>
            <a:r>
              <a:rPr lang="hi-IN" dirty="0">
                <a:latin typeface="Kokila" pitchFamily="34" charset="0"/>
                <a:cs typeface="Kalimati" panose="00000400000000000000" pitchFamily="2"/>
              </a:rPr>
              <a:t>अधिकारीले गरेको दिशान्तरको निर्णयको </a:t>
            </a:r>
            <a:r>
              <a:rPr lang="ne-NP" dirty="0">
                <a:latin typeface="Kokila" pitchFamily="34" charset="0"/>
                <a:cs typeface="Kalimati" panose="00000400000000000000" pitchFamily="2"/>
              </a:rPr>
              <a:t>जानकारी </a:t>
            </a:r>
            <a:r>
              <a:rPr lang="ne-NP" dirty="0" smtClean="0">
                <a:latin typeface="Kokila" pitchFamily="34" charset="0"/>
                <a:cs typeface="Kalimati" panose="00000400000000000000" pitchFamily="2"/>
              </a:rPr>
              <a:t>केन्द्रीय वाल न्याय </a:t>
            </a:r>
            <a:r>
              <a:rPr lang="hi-IN" dirty="0" smtClean="0">
                <a:latin typeface="Kokila" pitchFamily="34" charset="0"/>
                <a:cs typeface="Kalimati" panose="00000400000000000000" pitchFamily="2"/>
              </a:rPr>
              <a:t>समिति</a:t>
            </a:r>
            <a:r>
              <a:rPr lang="en-US" dirty="0">
                <a:latin typeface="Kokila" pitchFamily="34" charset="0"/>
                <a:cs typeface="Kalimati" panose="00000400000000000000" pitchFamily="2"/>
              </a:rPr>
              <a:t>,  </a:t>
            </a:r>
            <a:r>
              <a:rPr lang="hi-IN" dirty="0">
                <a:latin typeface="Kokila" pitchFamily="34" charset="0"/>
                <a:cs typeface="Kalimati" panose="00000400000000000000" pitchFamily="2"/>
              </a:rPr>
              <a:t>सरकारी वकील र बाल अदालतलाई दिनु पर्ने</a:t>
            </a:r>
            <a:r>
              <a:rPr lang="ne-NP" dirty="0" smtClean="0">
                <a:latin typeface="Kokila" pitchFamily="34" charset="0"/>
                <a:cs typeface="Kalimati" panose="00000400000000000000" pitchFamily="2"/>
              </a:rPr>
              <a:t>,</a:t>
            </a:r>
          </a:p>
          <a:p>
            <a:pPr marL="347663" indent="-287338" algn="just">
              <a:buFont typeface="Kokila" panose="020B0604020202020204" pitchFamily="34" charset="0"/>
              <a:buChar char="-"/>
            </a:pPr>
            <a:r>
              <a:rPr lang="hi-IN" dirty="0" smtClean="0">
                <a:latin typeface="Kokila" pitchFamily="34" charset="0"/>
                <a:cs typeface="Kalimati" panose="00000400000000000000" pitchFamily="2"/>
              </a:rPr>
              <a:t>सामुदायिक </a:t>
            </a:r>
            <a:r>
              <a:rPr lang="hi-IN" dirty="0">
                <a:latin typeface="Kokila" pitchFamily="34" charset="0"/>
                <a:cs typeface="Kalimati" panose="00000400000000000000" pitchFamily="2"/>
              </a:rPr>
              <a:t>सेवामा पठाउने गरी दिशान्तरको निर्णय गर्दा भने सोह्र बर्ष पूरा भएका बालबालिकालाई मात्र पठाउनु पर्ने</a:t>
            </a:r>
            <a:r>
              <a:rPr lang="ne-NP" dirty="0">
                <a:latin typeface="Kokila" pitchFamily="34" charset="0"/>
                <a:cs typeface="Kalimati" panose="00000400000000000000" pitchFamily="2"/>
              </a:rPr>
              <a:t>,</a:t>
            </a:r>
          </a:p>
          <a:p>
            <a:pPr marL="971550" indent="-457200" algn="just">
              <a:buFont typeface="Wingdings" panose="05000000000000000000" pitchFamily="2" charset="2"/>
              <a:buChar char="ü"/>
            </a:pPr>
            <a:endParaRPr lang="en-US" dirty="0">
              <a:latin typeface="Kokila" pitchFamily="34" charset="0"/>
              <a:cs typeface="Kokila" pitchFamily="34" charset="0"/>
            </a:endParaRPr>
          </a:p>
          <a:p>
            <a:endParaRPr lang="en-US" dirty="0"/>
          </a:p>
        </p:txBody>
      </p:sp>
    </p:spTree>
    <p:extLst>
      <p:ext uri="{BB962C8B-B14F-4D97-AF65-F5344CB8AC3E}">
        <p14:creationId xmlns:p14="http://schemas.microsoft.com/office/powerpoint/2010/main" val="3915450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7871" y="673768"/>
            <a:ext cx="11515266" cy="5919537"/>
          </a:xfrm>
        </p:spPr>
        <p:txBody>
          <a:bodyPr>
            <a:normAutofit fontScale="92500" lnSpcReduction="10000"/>
          </a:bodyPr>
          <a:lstStyle/>
          <a:p>
            <a:pPr marL="347663" indent="-287338" algn="just">
              <a:buFont typeface="Kokila" panose="020B0604020202020204" pitchFamily="34" charset="0"/>
              <a:buChar char="-"/>
            </a:pPr>
            <a:r>
              <a:rPr lang="hi-IN" sz="3200" dirty="0">
                <a:latin typeface="Kokila" pitchFamily="34" charset="0"/>
                <a:cs typeface="Kalimati" panose="00000400000000000000" pitchFamily="2"/>
              </a:rPr>
              <a:t>सामुदायिक सेवामा पठाउँदा बालबालिकालाई अध्ययन गर्ने</a:t>
            </a: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विद्यालयको सरसफाई गर्ने</a:t>
            </a: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धार्मिक स्थलहरूमा आउने श्रद्धालुहरूलाई सहयोग गर्ने</a:t>
            </a: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बृद्धाश्रममा गई बृद्धबृद्धालाई सहयोग गर्ने जस्ता काममा लगाउने निर्णय गर्न सकिने</a:t>
            </a:r>
            <a:r>
              <a:rPr lang="ne-NP" sz="3200" dirty="0" smtClean="0">
                <a:latin typeface="Kokila" pitchFamily="34" charset="0"/>
                <a:cs typeface="Kalimati" panose="00000400000000000000" pitchFamily="2"/>
              </a:rPr>
              <a:t>,</a:t>
            </a:r>
          </a:p>
          <a:p>
            <a:pPr marL="347663" indent="-287338" algn="just">
              <a:buFont typeface="Kokila" panose="020B0604020202020204" pitchFamily="34" charset="0"/>
              <a:buChar char="-"/>
            </a:pPr>
            <a:r>
              <a:rPr lang="hi-IN" sz="3200" dirty="0" smtClean="0">
                <a:latin typeface="Kokila" pitchFamily="34" charset="0"/>
                <a:cs typeface="Kalimati" panose="00000400000000000000" pitchFamily="2"/>
              </a:rPr>
              <a:t>तर </a:t>
            </a:r>
            <a:r>
              <a:rPr lang="hi-IN" sz="3200" dirty="0">
                <a:latin typeface="Kokila" pitchFamily="34" charset="0"/>
                <a:cs typeface="Kalimati" panose="00000400000000000000" pitchFamily="2"/>
              </a:rPr>
              <a:t>त्यस्तो काममा लगाउँदा दैनिक दुई घण्टा भन्दा बढी वा सामुदायिक सेवाको अवधिभर एक सय घण्टाभन्दा बढी काममा लगाउने गरी निर्णय गर्न </a:t>
            </a:r>
            <a:r>
              <a:rPr lang="ne-NP" sz="3200" dirty="0" smtClean="0">
                <a:latin typeface="Kokila" pitchFamily="34" charset="0"/>
                <a:cs typeface="Kalimati" panose="00000400000000000000" pitchFamily="2"/>
              </a:rPr>
              <a:t>नहुने,</a:t>
            </a:r>
          </a:p>
          <a:p>
            <a:pPr marL="347663" indent="-287338" algn="just">
              <a:buFont typeface="Kokila" panose="020B0604020202020204" pitchFamily="34" charset="0"/>
              <a:buChar char="-"/>
            </a:pPr>
            <a:r>
              <a:rPr lang="hi-IN" sz="3200" dirty="0" smtClean="0">
                <a:latin typeface="Kokila" pitchFamily="34" charset="0"/>
                <a:cs typeface="Kalimati" panose="00000400000000000000" pitchFamily="2"/>
              </a:rPr>
              <a:t>त्यसै </a:t>
            </a:r>
            <a:r>
              <a:rPr lang="hi-IN" sz="3200" dirty="0">
                <a:latin typeface="Kokila" pitchFamily="34" charset="0"/>
                <a:cs typeface="Kalimati" panose="00000400000000000000" pitchFamily="2"/>
              </a:rPr>
              <a:t>गरी दिशान्तर गरी बालबालिकालाई बाल कल्याण अधिकारीको सुपरीवेक्षण र निर्देशनमा रहने गरी छाड्दा आवश्यक शर्तहरूसमेत तोकी सम्बन्धित बाल कल्याण अधिकारीवाट त्यसको पालना भए नभएको सुपरिवेक्षण गर्ने व्यवस्था मिलाउनु </a:t>
            </a:r>
            <a:r>
              <a:rPr lang="ne-NP" sz="3200" dirty="0" smtClean="0">
                <a:latin typeface="Kokila" pitchFamily="34" charset="0"/>
                <a:cs typeface="Kalimati" panose="00000400000000000000" pitchFamily="2"/>
              </a:rPr>
              <a:t>पर्ने,</a:t>
            </a:r>
          </a:p>
          <a:p>
            <a:pPr marL="347663" indent="-287338" algn="just">
              <a:buFont typeface="Kokila" panose="020B0604020202020204" pitchFamily="34" charset="0"/>
              <a:buChar char="-"/>
            </a:pPr>
            <a:r>
              <a:rPr lang="ne-NP" sz="3200" dirty="0" smtClean="0">
                <a:latin typeface="Kokila" pitchFamily="34" charset="0"/>
                <a:cs typeface="Kalimati" panose="00000400000000000000" pitchFamily="2"/>
              </a:rPr>
              <a:t>बा</a:t>
            </a:r>
            <a:r>
              <a:rPr lang="hi-IN" sz="3200" dirty="0">
                <a:latin typeface="Kokila" pitchFamily="34" charset="0"/>
                <a:cs typeface="Kalimati" panose="00000400000000000000" pitchFamily="2"/>
              </a:rPr>
              <a:t>लबालिकालाई बाबु</a:t>
            </a: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आमा</a:t>
            </a:r>
            <a:r>
              <a:rPr lang="en-US" sz="3200" dirty="0">
                <a:latin typeface="Kokila" pitchFamily="34" charset="0"/>
                <a:cs typeface="Kalimati" panose="00000400000000000000" pitchFamily="2"/>
              </a:rPr>
              <a:t>, </a:t>
            </a:r>
            <a:r>
              <a:rPr lang="hi-IN" sz="3200" dirty="0">
                <a:latin typeface="Kokila" pitchFamily="34" charset="0"/>
                <a:cs typeface="Kalimati" panose="00000400000000000000" pitchFamily="2"/>
              </a:rPr>
              <a:t>परिवारको अन्य सदस्य वा संरक्षकको जिम्मा लगाउँदा बालबालिकाले गर्न हुने र नहुने कुराहरू खुलाइ सहमतिको कागज गराउनु पर</a:t>
            </a:r>
            <a:r>
              <a:rPr lang="ne-NP" sz="3200" dirty="0">
                <a:latin typeface="Kokila" pitchFamily="34" charset="0"/>
                <a:cs typeface="Kalimati" panose="00000400000000000000" pitchFamily="2"/>
              </a:rPr>
              <a:t>्ने,</a:t>
            </a:r>
            <a:endParaRPr lang="en-US" sz="3200" dirty="0">
              <a:latin typeface="Kokila" pitchFamily="34" charset="0"/>
              <a:cs typeface="Kalimati" panose="00000400000000000000" pitchFamily="2"/>
            </a:endParaRPr>
          </a:p>
          <a:p>
            <a:pPr marL="0" indent="0" algn="just">
              <a:buNone/>
            </a:pPr>
            <a:endParaRPr lang="en-US" sz="3200" dirty="0">
              <a:latin typeface="Kokila" pitchFamily="34" charset="0"/>
              <a:cs typeface="Kokila" pitchFamily="34" charset="0"/>
            </a:endParaRPr>
          </a:p>
          <a:p>
            <a:pPr marL="0" indent="0">
              <a:buNone/>
            </a:pPr>
            <a:endParaRPr lang="en-US" dirty="0"/>
          </a:p>
        </p:txBody>
      </p:sp>
    </p:spTree>
    <p:extLst>
      <p:ext uri="{BB962C8B-B14F-4D97-AF65-F5344CB8AC3E}">
        <p14:creationId xmlns:p14="http://schemas.microsoft.com/office/powerpoint/2010/main" val="609848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hi-IN" dirty="0">
                <a:latin typeface="Kokila" pitchFamily="34" charset="0"/>
                <a:cs typeface="Kalimati" panose="00000400000000000000" pitchFamily="2"/>
              </a:rPr>
              <a:t>अदालतले गर्ने दिशान्तरका </a:t>
            </a:r>
            <a:r>
              <a:rPr lang="hi-IN" dirty="0" smtClean="0">
                <a:latin typeface="Kokila" pitchFamily="34" charset="0"/>
                <a:cs typeface="Kalimati" panose="00000400000000000000" pitchFamily="2"/>
              </a:rPr>
              <a:t>सम्बन्धमा</a:t>
            </a:r>
            <a:r>
              <a:rPr lang="ne-NP" dirty="0" smtClean="0">
                <a:latin typeface="Kokila" pitchFamily="34" charset="0"/>
                <a:cs typeface="Kalimati" panose="00000400000000000000" pitchFamily="2"/>
              </a:rPr>
              <a:t> </a:t>
            </a:r>
            <a:r>
              <a:rPr lang="ne-NP" dirty="0" smtClean="0">
                <a:latin typeface="Kokila" pitchFamily="34" charset="0"/>
                <a:cs typeface="Kalimati" panose="00000400000000000000" pitchFamily="2"/>
              </a:rPr>
              <a:t>व्यवस्था</a:t>
            </a:r>
            <a:br>
              <a:rPr lang="ne-NP" dirty="0" smtClean="0">
                <a:latin typeface="Kokila" pitchFamily="34" charset="0"/>
                <a:cs typeface="Kalimati" panose="00000400000000000000" pitchFamily="2"/>
              </a:rPr>
            </a:br>
            <a:r>
              <a:rPr lang="ne-NP" dirty="0" smtClean="0">
                <a:latin typeface="Kokila" pitchFamily="34" charset="0"/>
                <a:cs typeface="Kalimati" panose="00000400000000000000" pitchFamily="2"/>
              </a:rPr>
              <a:t>(नियम १९)</a:t>
            </a:r>
            <a:endParaRPr lang="en-US" dirty="0">
              <a:cs typeface="Kalimati" panose="00000400000000000000" pitchFamily="2"/>
            </a:endParaRPr>
          </a:p>
        </p:txBody>
      </p:sp>
      <p:sp>
        <p:nvSpPr>
          <p:cNvPr id="3" name="Content Placeholder 2"/>
          <p:cNvSpPr>
            <a:spLocks noGrp="1"/>
          </p:cNvSpPr>
          <p:nvPr>
            <p:ph idx="1"/>
          </p:nvPr>
        </p:nvSpPr>
        <p:spPr>
          <a:xfrm>
            <a:off x="337930" y="1798983"/>
            <a:ext cx="11499574" cy="4860234"/>
          </a:xfrm>
        </p:spPr>
        <p:txBody>
          <a:bodyPr>
            <a:normAutofit fontScale="92500" lnSpcReduction="20000"/>
          </a:bodyPr>
          <a:lstStyle/>
          <a:p>
            <a:pPr marL="396875" indent="-279400" algn="just">
              <a:buFont typeface="Kokila" panose="020B0604020202020204" pitchFamily="34" charset="0"/>
              <a:buChar char="-"/>
            </a:pPr>
            <a:r>
              <a:rPr lang="hi-IN" sz="3600" dirty="0" smtClean="0">
                <a:latin typeface="Kokila" pitchFamily="34" charset="0"/>
                <a:cs typeface="Kalimati" panose="00000400000000000000" pitchFamily="2"/>
              </a:rPr>
              <a:t>बाल </a:t>
            </a:r>
            <a:r>
              <a:rPr lang="hi-IN" sz="3600" dirty="0">
                <a:latin typeface="Kokila" pitchFamily="34" charset="0"/>
                <a:cs typeface="Kalimati" panose="00000400000000000000" pitchFamily="2"/>
              </a:rPr>
              <a:t>अदालतले ऐनको दफा २७ बमोजिम कसूरजन्य कार्यको अभियोग लागेको बालबालिकाको सर्वोत्तम हितको लागि दिशान्तर गर्न मनासिब देखेमा मुद्दाको कारबाही जुनसुकै अवस्थामा रहेको भएपनि ऐनको दफा २८ को अवस्था विचार गरी दफा २९ को कुनै प्रक्रिया अवलम्बन गर्ने गरी अनुसूची</a:t>
            </a:r>
            <a:r>
              <a:rPr lang="ar-SA" sz="3600" dirty="0">
                <a:latin typeface="Kokila" pitchFamily="34" charset="0"/>
              </a:rPr>
              <a:t>- </a:t>
            </a:r>
            <a:r>
              <a:rPr lang="hi-IN" sz="3600" dirty="0">
                <a:latin typeface="Kokila" pitchFamily="34" charset="0"/>
                <a:cs typeface="Kalimati" panose="00000400000000000000" pitchFamily="2"/>
              </a:rPr>
              <a:t>७ बमोजिमको ढाँचामा दिशान्तरको निर्णय गर्न सक्ने</a:t>
            </a:r>
            <a:r>
              <a:rPr lang="ne-NP" sz="3600" dirty="0" smtClean="0">
                <a:latin typeface="Kokila" pitchFamily="34" charset="0"/>
                <a:cs typeface="Kalimati" panose="00000400000000000000" pitchFamily="2"/>
              </a:rPr>
              <a:t>,</a:t>
            </a:r>
          </a:p>
          <a:p>
            <a:pPr marL="396875" indent="-279400" algn="just">
              <a:buFont typeface="Kokila" panose="020B0604020202020204" pitchFamily="34" charset="0"/>
              <a:buChar char="-"/>
            </a:pPr>
            <a:r>
              <a:rPr lang="hi-IN" sz="3600" dirty="0" smtClean="0">
                <a:latin typeface="Kokila" pitchFamily="34" charset="0"/>
                <a:cs typeface="Kalimati" panose="00000400000000000000" pitchFamily="2"/>
              </a:rPr>
              <a:t>यसरी </a:t>
            </a:r>
            <a:r>
              <a:rPr lang="hi-IN" sz="3600" dirty="0">
                <a:latin typeface="Kokila" pitchFamily="34" charset="0"/>
                <a:cs typeface="Kalimati" panose="00000400000000000000" pitchFamily="2"/>
              </a:rPr>
              <a:t>दिशान्तर गर्ने निर्णय गर्दा त्यसको आधार</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कारण तथा दिशान्तरको प्रक्रिया</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पीडितलाई भएको हानि नोक्सानी बापतको क्षतिपूर्ति</a:t>
            </a:r>
            <a:r>
              <a:rPr lang="en-US" sz="3600" dirty="0">
                <a:latin typeface="Kokila" pitchFamily="34" charset="0"/>
                <a:cs typeface="Kalimati" panose="00000400000000000000" pitchFamily="2"/>
              </a:rPr>
              <a:t>, </a:t>
            </a:r>
            <a:r>
              <a:rPr lang="hi-IN" sz="3600" dirty="0">
                <a:latin typeface="Kokila" pitchFamily="34" charset="0"/>
                <a:cs typeface="Kalimati" panose="00000400000000000000" pitchFamily="2"/>
              </a:rPr>
              <a:t>दिशान्तर गरिएको बालबालिका दिशान्तर प्रक्रियामा निरन्तर रहे नरहेको अनुगमन गर्ने प्रक्रिया खुलाइ नियम ९ को उपनियम </a:t>
            </a:r>
            <a:r>
              <a:rPr lang="hi-IN" sz="3600" dirty="0" smtClean="0">
                <a:latin typeface="Kokila" pitchFamily="34" charset="0"/>
                <a:cs typeface="Kalimati" panose="00000400000000000000" pitchFamily="2"/>
              </a:rPr>
              <a:t>(</a:t>
            </a:r>
            <a:r>
              <a:rPr lang="ne-NP" sz="3600" dirty="0" smtClean="0">
                <a:latin typeface="Kokila" pitchFamily="34" charset="0"/>
                <a:cs typeface="Kalimati" panose="00000400000000000000" pitchFamily="2"/>
              </a:rPr>
              <a:t>७</a:t>
            </a:r>
            <a:r>
              <a:rPr lang="hi-IN" sz="3600" dirty="0" smtClean="0">
                <a:latin typeface="Kokila" pitchFamily="34" charset="0"/>
                <a:cs typeface="Kalimati" panose="00000400000000000000" pitchFamily="2"/>
              </a:rPr>
              <a:t>)</a:t>
            </a:r>
            <a:r>
              <a:rPr lang="en-US" sz="3600" dirty="0">
                <a:latin typeface="Kokila" pitchFamily="34" charset="0"/>
                <a:cs typeface="Kalimati" panose="00000400000000000000" pitchFamily="2"/>
              </a:rPr>
              <a:t>, </a:t>
            </a:r>
            <a:r>
              <a:rPr lang="hi-IN" sz="3600" dirty="0" smtClean="0">
                <a:latin typeface="Kokila" pitchFamily="34" charset="0"/>
                <a:cs typeface="Kalimati" panose="00000400000000000000" pitchFamily="2"/>
              </a:rPr>
              <a:t>(</a:t>
            </a:r>
            <a:r>
              <a:rPr lang="ne-NP" sz="3600" dirty="0" smtClean="0">
                <a:latin typeface="Kokila" pitchFamily="34" charset="0"/>
                <a:cs typeface="Kalimati" panose="00000400000000000000" pitchFamily="2"/>
              </a:rPr>
              <a:t>८</a:t>
            </a:r>
            <a:r>
              <a:rPr lang="hi-IN" sz="3600" dirty="0" smtClean="0">
                <a:latin typeface="Kokila" pitchFamily="34" charset="0"/>
                <a:cs typeface="Kalimati" panose="00000400000000000000" pitchFamily="2"/>
              </a:rPr>
              <a:t>) </a:t>
            </a:r>
            <a:r>
              <a:rPr lang="hi-IN" sz="3600" dirty="0">
                <a:latin typeface="Kokila" pitchFamily="34" charset="0"/>
                <a:cs typeface="Kalimati" panose="00000400000000000000" pitchFamily="2"/>
              </a:rPr>
              <a:t>र (९) को व्यबस्थाको अधीनमा रही निर्णय गर्नु पर्ने</a:t>
            </a:r>
            <a:r>
              <a:rPr lang="ne-NP" sz="3600" dirty="0">
                <a:latin typeface="Kokila" pitchFamily="34" charset="0"/>
                <a:cs typeface="Kalimati" panose="00000400000000000000" pitchFamily="2"/>
              </a:rPr>
              <a:t>, </a:t>
            </a:r>
            <a:endParaRPr lang="en-US" sz="3600" dirty="0">
              <a:latin typeface="Kokila" pitchFamily="34" charset="0"/>
              <a:cs typeface="Kalimati" panose="00000400000000000000" pitchFamily="2"/>
            </a:endParaRPr>
          </a:p>
          <a:p>
            <a:pPr marL="0" indent="0">
              <a:buNone/>
            </a:pPr>
            <a:endParaRPr lang="en-US" dirty="0"/>
          </a:p>
        </p:txBody>
      </p:sp>
    </p:spTree>
    <p:extLst>
      <p:ext uri="{BB962C8B-B14F-4D97-AF65-F5344CB8AC3E}">
        <p14:creationId xmlns:p14="http://schemas.microsoft.com/office/powerpoint/2010/main" val="1669278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dirty="0" smtClean="0">
                <a:cs typeface="Kalimati" panose="00000400000000000000" pitchFamily="2"/>
              </a:rPr>
              <a:t>दिशान्तर सम्बन्धी निर्णयको ढाँचा</a:t>
            </a:r>
            <a:endParaRPr lang="en-US" dirty="0">
              <a:cs typeface="Kalimati" panose="00000400000000000000" pitchFamily="2"/>
            </a:endParaRPr>
          </a:p>
        </p:txBody>
      </p:sp>
      <p:sp>
        <p:nvSpPr>
          <p:cNvPr id="3" name="Content Placeholder 2"/>
          <p:cNvSpPr>
            <a:spLocks noGrp="1"/>
          </p:cNvSpPr>
          <p:nvPr>
            <p:ph idx="1"/>
          </p:nvPr>
        </p:nvSpPr>
        <p:spPr>
          <a:xfrm>
            <a:off x="838199" y="1825624"/>
            <a:ext cx="10949609" cy="4853471"/>
          </a:xfrm>
        </p:spPr>
        <p:txBody>
          <a:bodyPr>
            <a:normAutofit lnSpcReduction="10000"/>
          </a:bodyPr>
          <a:lstStyle/>
          <a:p>
            <a:pPr marL="0" indent="0" algn="just">
              <a:buNone/>
            </a:pPr>
            <a:r>
              <a:rPr lang="ne-NP" sz="3600" dirty="0" smtClean="0">
                <a:cs typeface="Kalimati" panose="00000400000000000000" pitchFamily="2"/>
              </a:rPr>
              <a:t>अनुसूची-६</a:t>
            </a:r>
            <a:r>
              <a:rPr lang="ne-NP" sz="3600" dirty="0">
                <a:cs typeface="Kalimati" panose="00000400000000000000" pitchFamily="2"/>
              </a:rPr>
              <a:t>	</a:t>
            </a:r>
            <a:r>
              <a:rPr lang="ne-NP" sz="3600" dirty="0" smtClean="0">
                <a:cs typeface="Kalimati" panose="00000400000000000000" pitchFamily="2"/>
              </a:rPr>
              <a:t>: अनुसन्धान अधिकारी वा सरकारी    				  वकीलले दिशान्तर गर्दा गर्ने निर्णयको 				  ढाँचा</a:t>
            </a:r>
          </a:p>
          <a:p>
            <a:pPr algn="just"/>
            <a:endParaRPr lang="ne-NP" sz="3600" dirty="0">
              <a:cs typeface="Kalimati" panose="00000400000000000000" pitchFamily="2"/>
            </a:endParaRPr>
          </a:p>
          <a:p>
            <a:pPr algn="just"/>
            <a:endParaRPr lang="ne-NP" sz="3600" dirty="0" smtClean="0">
              <a:cs typeface="Kalimati" panose="00000400000000000000" pitchFamily="2"/>
            </a:endParaRPr>
          </a:p>
          <a:p>
            <a:pPr algn="just"/>
            <a:r>
              <a:rPr lang="ne-NP" sz="3600" dirty="0" smtClean="0">
                <a:cs typeface="Kalimati" panose="00000400000000000000" pitchFamily="2"/>
              </a:rPr>
              <a:t>अनुसूची-७	: बाल अदालतले दिशान्तर गर्दा गर्ने 				  निर्णयको ढाँचा</a:t>
            </a:r>
          </a:p>
          <a:p>
            <a:pPr algn="just"/>
            <a:r>
              <a:rPr lang="ne-NP" sz="3600" dirty="0">
                <a:cs typeface="Kalimati" panose="00000400000000000000" pitchFamily="2"/>
              </a:rPr>
              <a:t>कानूनको </a:t>
            </a:r>
            <a:r>
              <a:rPr lang="ne-NP" sz="3600" dirty="0" smtClean="0">
                <a:cs typeface="Kalimati" panose="00000400000000000000" pitchFamily="2"/>
              </a:rPr>
              <a:t>विवादमा </a:t>
            </a:r>
            <a:r>
              <a:rPr lang="ne-NP" sz="3600" dirty="0">
                <a:cs typeface="Kalimati" panose="00000400000000000000" pitchFamily="2"/>
              </a:rPr>
              <a:t>परेका </a:t>
            </a:r>
            <a:r>
              <a:rPr lang="ne-NP" sz="3600" dirty="0" smtClean="0">
                <a:cs typeface="Kalimati" panose="00000400000000000000" pitchFamily="2"/>
              </a:rPr>
              <a:t>बालबालिकाको दिशान्तर कार्यविधि सम्बन्धी निर्देशिका, </a:t>
            </a:r>
            <a:r>
              <a:rPr lang="ne-NP" sz="3600" dirty="0">
                <a:cs typeface="Kalimati" panose="00000400000000000000" pitchFamily="2"/>
              </a:rPr>
              <a:t>२०८० </a:t>
            </a:r>
            <a:r>
              <a:rPr lang="ne-NP" sz="3600" dirty="0" smtClean="0">
                <a:cs typeface="Kalimati" panose="00000400000000000000" pitchFamily="2"/>
              </a:rPr>
              <a:t>पनि बनेको छ</a:t>
            </a:r>
            <a:endParaRPr lang="en-US" sz="3600" dirty="0">
              <a:cs typeface="Kalimati" panose="00000400000000000000" pitchFamily="2"/>
            </a:endParaRPr>
          </a:p>
        </p:txBody>
      </p:sp>
    </p:spTree>
    <p:extLst>
      <p:ext uri="{BB962C8B-B14F-4D97-AF65-F5344CB8AC3E}">
        <p14:creationId xmlns:p14="http://schemas.microsoft.com/office/powerpoint/2010/main" val="1950174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68689-A6E9-C6CE-BE73-E6DB0E1700D8}"/>
              </a:ext>
            </a:extLst>
          </p:cNvPr>
          <p:cNvSpPr>
            <a:spLocks noGrp="1"/>
          </p:cNvSpPr>
          <p:nvPr>
            <p:ph type="title"/>
          </p:nvPr>
        </p:nvSpPr>
        <p:spPr>
          <a:xfrm>
            <a:off x="838200" y="37869"/>
            <a:ext cx="10515600" cy="946106"/>
          </a:xfrm>
        </p:spPr>
        <p:txBody>
          <a:bodyPr/>
          <a:lstStyle/>
          <a:p>
            <a:pPr algn="ctr"/>
            <a:r>
              <a:rPr lang="ne-NP" dirty="0">
                <a:cs typeface="Kalimati" panose="00000400000000000000" pitchFamily="2"/>
              </a:rPr>
              <a:t>नेपालमा यसको प्रयोग</a:t>
            </a:r>
            <a:endParaRPr lang="en-US" dirty="0">
              <a:cs typeface="Kalimati" panose="00000400000000000000" pitchFamily="2"/>
            </a:endParaRPr>
          </a:p>
        </p:txBody>
      </p:sp>
      <p:sp>
        <p:nvSpPr>
          <p:cNvPr id="3" name="Content Placeholder 2">
            <a:extLst>
              <a:ext uri="{FF2B5EF4-FFF2-40B4-BE49-F238E27FC236}">
                <a16:creationId xmlns:a16="http://schemas.microsoft.com/office/drawing/2014/main" id="{25733455-C9DD-41CE-37DA-2A5101BC2C74}"/>
              </a:ext>
            </a:extLst>
          </p:cNvPr>
          <p:cNvSpPr>
            <a:spLocks noGrp="1"/>
          </p:cNvSpPr>
          <p:nvPr>
            <p:ph idx="1"/>
          </p:nvPr>
        </p:nvSpPr>
        <p:spPr>
          <a:xfrm>
            <a:off x="231006" y="983975"/>
            <a:ext cx="11685070" cy="5595728"/>
          </a:xfrm>
        </p:spPr>
        <p:txBody>
          <a:bodyPr>
            <a:noAutofit/>
          </a:bodyPr>
          <a:lstStyle/>
          <a:p>
            <a:pPr algn="just">
              <a:lnSpc>
                <a:spcPct val="160000"/>
              </a:lnSpc>
            </a:pPr>
            <a:r>
              <a:rPr lang="ne-NP" dirty="0">
                <a:cs typeface="Kalimati" panose="00000400000000000000" pitchFamily="2"/>
              </a:rPr>
              <a:t>केन्द्रीय बाल न्याय समितिको सचिवलयलाई प्राप्त भएको पत्रको आधारमा हालसम्म ३ वटा जिल्ला सरकारी वकिल कार्यालयबाट दिशान्तरको निर्णय भएको देखिन्छ।</a:t>
            </a:r>
          </a:p>
          <a:p>
            <a:pPr algn="just">
              <a:lnSpc>
                <a:spcPct val="160000"/>
              </a:lnSpc>
            </a:pPr>
            <a:r>
              <a:rPr lang="ne-NP" dirty="0">
                <a:cs typeface="Kalimati" panose="00000400000000000000" pitchFamily="2"/>
              </a:rPr>
              <a:t>जिल्ला सरकारी वकिल कार्यालय बर्दीयाबाट अभद्र व्यबहार मुद्दामा दिशान्तरको आदेशबाट ७ बालकहरूलाई बालबालिका सम्बन्धी ऐनको दफा २९ को उपदफा १ को खण्ड (क) (ख) (ग) र (छ) बमोजिमको प्रक्रिया अवलम्बन गरी दिशान्तर गर्ने निर्णय गरिएको। (जिल्ला न्यायाधिवक्ता नगेन्द्र लम्साल)    </a:t>
            </a:r>
          </a:p>
        </p:txBody>
      </p:sp>
    </p:spTree>
    <p:extLst>
      <p:ext uri="{BB962C8B-B14F-4D97-AF65-F5344CB8AC3E}">
        <p14:creationId xmlns:p14="http://schemas.microsoft.com/office/powerpoint/2010/main" val="1492548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6171"/>
          </a:xfrm>
        </p:spPr>
        <p:txBody>
          <a:bodyPr/>
          <a:lstStyle/>
          <a:p>
            <a:pPr algn="ctr"/>
            <a:r>
              <a:rPr lang="ne-NP" dirty="0">
                <a:cs typeface="Kalimati" panose="00000400000000000000" pitchFamily="2"/>
              </a:rPr>
              <a:t>नेपालमा यसको प्रयोग</a:t>
            </a:r>
            <a:endParaRPr lang="en-US" dirty="0"/>
          </a:p>
        </p:txBody>
      </p:sp>
      <p:sp>
        <p:nvSpPr>
          <p:cNvPr id="3" name="Content Placeholder 2"/>
          <p:cNvSpPr>
            <a:spLocks noGrp="1"/>
          </p:cNvSpPr>
          <p:nvPr>
            <p:ph idx="1"/>
          </p:nvPr>
        </p:nvSpPr>
        <p:spPr>
          <a:xfrm>
            <a:off x="496957" y="1530626"/>
            <a:ext cx="10856843" cy="5168347"/>
          </a:xfrm>
        </p:spPr>
        <p:txBody>
          <a:bodyPr>
            <a:normAutofit fontScale="25000" lnSpcReduction="20000"/>
          </a:bodyPr>
          <a:lstStyle/>
          <a:p>
            <a:pPr algn="just">
              <a:lnSpc>
                <a:spcPct val="160000"/>
              </a:lnSpc>
            </a:pPr>
            <a:r>
              <a:rPr lang="ne-NP" sz="11200" dirty="0">
                <a:cs typeface="Kalimati" panose="00000400000000000000" pitchFamily="2"/>
              </a:rPr>
              <a:t>जिल्ला सरकारी वकिल कार्यालय कैलालीबाट सवारी ज्यान मुद्दा र लागू औषध मुद्दामा दिशान्तरको आदेश भएको। बालबालिका सम्बन्धी ऐनको दफा २९ को उपदफा १ को खण्ड (ख) (ग) (छ) र (ज) बमोजिमको निम्न लिखित प्रक्रिया अवलम्बन गर्ने गरी दिशान्तरको निर्णय गरिएको।(जिल्ला न्यायाधिवक्ता राजेन्द्र सिंह भण्डारी)</a:t>
            </a:r>
          </a:p>
          <a:p>
            <a:pPr algn="just">
              <a:lnSpc>
                <a:spcPct val="160000"/>
              </a:lnSpc>
              <a:buFont typeface="Wingdings" panose="05000000000000000000" pitchFamily="2" charset="2"/>
              <a:buChar char="ü"/>
            </a:pPr>
            <a:r>
              <a:rPr lang="ne-NP" sz="11200" dirty="0">
                <a:cs typeface="Kalimati" panose="00000400000000000000" pitchFamily="2"/>
              </a:rPr>
              <a:t>नियमित विद्यालयमा हाजिर भई उत्कृष्ट अंक ल्याउने गरी अध्ययन गर्ने</a:t>
            </a:r>
          </a:p>
          <a:p>
            <a:pPr algn="just">
              <a:lnSpc>
                <a:spcPct val="160000"/>
              </a:lnSpc>
              <a:buFont typeface="Wingdings" panose="05000000000000000000" pitchFamily="2" charset="2"/>
              <a:buChar char="ü"/>
            </a:pPr>
            <a:r>
              <a:rPr lang="ne-NP" sz="11200" dirty="0">
                <a:cs typeface="Kalimati" panose="00000400000000000000" pitchFamily="2"/>
              </a:rPr>
              <a:t>निजको विद्यालयमा अध्ययन गर्दाको चालचलनबारे यस कार्यालयलाई जानकारी दिने</a:t>
            </a:r>
          </a:p>
          <a:p>
            <a:pPr algn="just">
              <a:lnSpc>
                <a:spcPct val="160000"/>
              </a:lnSpc>
              <a:buFont typeface="Wingdings" panose="05000000000000000000" pitchFamily="2" charset="2"/>
              <a:buChar char="ü"/>
            </a:pPr>
            <a:r>
              <a:rPr lang="ne-NP" sz="11200" dirty="0">
                <a:cs typeface="Kalimati" panose="00000400000000000000" pitchFamily="2"/>
              </a:rPr>
              <a:t>अब उप्रान्त अभिभावकको नियन्त्रण र निर्देशनमा रही असल कार्य गर्ने।    </a:t>
            </a:r>
            <a:endParaRPr lang="en-US" sz="11200" dirty="0">
              <a:cs typeface="Kalimati" panose="00000400000000000000" pitchFamily="2"/>
            </a:endParaRPr>
          </a:p>
          <a:p>
            <a:endParaRPr lang="en-US" dirty="0"/>
          </a:p>
        </p:txBody>
      </p:sp>
    </p:spTree>
    <p:extLst>
      <p:ext uri="{BB962C8B-B14F-4D97-AF65-F5344CB8AC3E}">
        <p14:creationId xmlns:p14="http://schemas.microsoft.com/office/powerpoint/2010/main" val="233575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lstStyle/>
          <a:p>
            <a:pPr algn="ctr"/>
            <a:r>
              <a:rPr lang="ne-NP" dirty="0" smtClean="0">
                <a:cs typeface="Kalimati" panose="00000400000000000000" pitchFamily="2"/>
              </a:rPr>
              <a:t>सजाय स्थगन र छुट</a:t>
            </a:r>
            <a:endParaRPr lang="en-US" dirty="0">
              <a:cs typeface="Kalimati" panose="00000400000000000000" pitchFamily="2"/>
            </a:endParaRPr>
          </a:p>
        </p:txBody>
      </p:sp>
      <p:sp>
        <p:nvSpPr>
          <p:cNvPr id="3" name="Content Placeholder 2"/>
          <p:cNvSpPr>
            <a:spLocks noGrp="1"/>
          </p:cNvSpPr>
          <p:nvPr>
            <p:ph idx="1"/>
          </p:nvPr>
        </p:nvSpPr>
        <p:spPr>
          <a:xfrm>
            <a:off x="288235" y="1490870"/>
            <a:ext cx="11065565" cy="5158407"/>
          </a:xfrm>
        </p:spPr>
        <p:txBody>
          <a:bodyPr>
            <a:normAutofit/>
          </a:bodyPr>
          <a:lstStyle/>
          <a:p>
            <a:pPr algn="just"/>
            <a:r>
              <a:rPr lang="ne-NP" sz="3200" dirty="0" smtClean="0">
                <a:cs typeface="Kalimati" panose="00000400000000000000" pitchFamily="2"/>
              </a:rPr>
              <a:t>वाल अदालतले सजाय हुने ठहर भएको बालबालिकाको उमेर, लिङ्ग, परिपक्वता, कसूरजन्य कार्यको प्रकृति र त्यस्तो कार्य गर्दाको परिस्थिति समेतलाई बिचार गरी शर्त तोकी वा नतोकी निजलाई भएको सजाय </a:t>
            </a:r>
            <a:r>
              <a:rPr lang="ne-NP" sz="3200" dirty="0" smtClean="0">
                <a:solidFill>
                  <a:srgbClr val="FF0000"/>
                </a:solidFill>
                <a:cs typeface="Kalimati" panose="00000400000000000000" pitchFamily="2"/>
              </a:rPr>
              <a:t>स्थगन</a:t>
            </a:r>
            <a:r>
              <a:rPr lang="ne-NP" sz="3200" dirty="0" smtClean="0">
                <a:cs typeface="Kalimati" panose="00000400000000000000" pitchFamily="2"/>
              </a:rPr>
              <a:t> गर्न वा सजाय स्वरुप कुनै उपयुक्त निर्णय गर्न सक्ने- दफा ३६(५)</a:t>
            </a:r>
          </a:p>
          <a:p>
            <a:pPr algn="just"/>
            <a:r>
              <a:rPr lang="ne-NP" sz="3200" dirty="0" smtClean="0">
                <a:cs typeface="Kalimati" panose="00000400000000000000" pitchFamily="2"/>
              </a:rPr>
              <a:t>वाल सुधार गृह वा कुनै संस्था वा व्यक्तिको संरक्षणमा रहेका बालबालिकाको व्यवहारमा सुधार आएमा बाल कल्याण अधिकारीले सुधार अवधि </a:t>
            </a:r>
            <a:r>
              <a:rPr lang="ne-NP" sz="3200" dirty="0" smtClean="0">
                <a:solidFill>
                  <a:srgbClr val="FF0000"/>
                </a:solidFill>
                <a:cs typeface="Kalimati" panose="00000400000000000000" pitchFamily="2"/>
              </a:rPr>
              <a:t>घटाउन वा छुट </a:t>
            </a:r>
            <a:r>
              <a:rPr lang="ne-NP" sz="3200" dirty="0" smtClean="0">
                <a:cs typeface="Kalimati" panose="00000400000000000000" pitchFamily="2"/>
              </a:rPr>
              <a:t>दिन वाल अदालत समक्ष सिफारिश गर्ने सक्ने र सिफारिश जाँचबुझ गर्दा मनासिब देखिएमा वाल अदालतले बालबालिकाको बाँकी सुधार अवधि घटाउन वा छुट दिन सक्ने – वाल ऐनको दफा ३८</a:t>
            </a:r>
          </a:p>
          <a:p>
            <a:pPr algn="just"/>
            <a:endParaRPr lang="en-US" dirty="0">
              <a:cs typeface="Kalimati" panose="00000400000000000000" pitchFamily="2"/>
            </a:endParaRPr>
          </a:p>
        </p:txBody>
      </p:sp>
    </p:spTree>
    <p:extLst>
      <p:ext uri="{BB962C8B-B14F-4D97-AF65-F5344CB8AC3E}">
        <p14:creationId xmlns:p14="http://schemas.microsoft.com/office/powerpoint/2010/main" val="3041820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dirty="0" smtClean="0">
                <a:cs typeface="Kalimati" panose="00000400000000000000" pitchFamily="2"/>
              </a:rPr>
              <a:t>दफा ३६(५) मा तोकिएका सजायका स्वरुपहरु</a:t>
            </a:r>
            <a:endParaRPr lang="en-US" dirty="0">
              <a:cs typeface="Kalimati" panose="00000400000000000000" pitchFamily="2"/>
            </a:endParaRPr>
          </a:p>
        </p:txBody>
      </p:sp>
      <p:sp>
        <p:nvSpPr>
          <p:cNvPr id="3" name="Content Placeholder 2"/>
          <p:cNvSpPr>
            <a:spLocks noGrp="1"/>
          </p:cNvSpPr>
          <p:nvPr>
            <p:ph idx="1"/>
          </p:nvPr>
        </p:nvSpPr>
        <p:spPr>
          <a:xfrm>
            <a:off x="427383" y="1825624"/>
            <a:ext cx="10926417" cy="4873349"/>
          </a:xfrm>
        </p:spPr>
        <p:txBody>
          <a:bodyPr>
            <a:normAutofit/>
          </a:bodyPr>
          <a:lstStyle/>
          <a:p>
            <a:pPr algn="just"/>
            <a:r>
              <a:rPr lang="ne-NP" sz="3600" dirty="0" smtClean="0">
                <a:cs typeface="Kalimati" panose="00000400000000000000" pitchFamily="2"/>
              </a:rPr>
              <a:t>असल मानवीय व्यवहारका सम्बन्धमा सम्झाउने बुझाउने</a:t>
            </a:r>
          </a:p>
          <a:p>
            <a:pPr algn="just"/>
            <a:r>
              <a:rPr lang="ne-NP" sz="3600" dirty="0" smtClean="0">
                <a:cs typeface="Kalimati" panose="00000400000000000000" pitchFamily="2"/>
              </a:rPr>
              <a:t>अभिमुखीकरण गराउन लगाउने</a:t>
            </a:r>
          </a:p>
          <a:p>
            <a:pPr algn="just"/>
            <a:r>
              <a:rPr lang="ne-NP" sz="3600" dirty="0" smtClean="0">
                <a:cs typeface="Kalimati" panose="00000400000000000000" pitchFamily="2"/>
              </a:rPr>
              <a:t>मनोसामाजिक परामर्श सेवा उपलब्ध गराउने</a:t>
            </a:r>
          </a:p>
          <a:p>
            <a:pPr algn="just"/>
            <a:r>
              <a:rPr lang="ne-NP" sz="3600" dirty="0" smtClean="0">
                <a:cs typeface="Kalimati" panose="00000400000000000000" pitchFamily="2"/>
              </a:rPr>
              <a:t>निश्चित शर्त पालन गर्ने गरी निश्चिक अवधिका लागि कुनै व्यक्ति वा संस्थाको निगरानीमा राख्न लगाउने</a:t>
            </a:r>
          </a:p>
          <a:p>
            <a:pPr algn="just"/>
            <a:r>
              <a:rPr lang="ne-NP" sz="3600" dirty="0" smtClean="0">
                <a:cs typeface="Kalimati" panose="00000400000000000000" pitchFamily="2"/>
              </a:rPr>
              <a:t>सामुदायिक सेवामा पठाउने</a:t>
            </a:r>
          </a:p>
          <a:p>
            <a:pPr algn="just"/>
            <a:r>
              <a:rPr lang="ne-NP" sz="3600" dirty="0" smtClean="0">
                <a:cs typeface="Kalimati" panose="00000400000000000000" pitchFamily="2"/>
              </a:rPr>
              <a:t>निजलाई भएको सजायको अवधि भन्दा बढी नहुने गरी वाल सुधार गृहमा पठाउने</a:t>
            </a:r>
            <a:endParaRPr lang="en-US" sz="3600" dirty="0">
              <a:cs typeface="Kalimati" panose="00000400000000000000" pitchFamily="2"/>
            </a:endParaRPr>
          </a:p>
        </p:txBody>
      </p:sp>
    </p:spTree>
    <p:extLst>
      <p:ext uri="{BB962C8B-B14F-4D97-AF65-F5344CB8AC3E}">
        <p14:creationId xmlns:p14="http://schemas.microsoft.com/office/powerpoint/2010/main" val="565394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15429"/>
            <a:ext cx="10515600" cy="5866710"/>
          </a:xfrm>
        </p:spPr>
        <p:txBody>
          <a:bodyPr/>
          <a:lstStyle/>
          <a:p>
            <a:pPr algn="ctr"/>
            <a:r>
              <a:rPr lang="ne-NP" dirty="0" smtClean="0">
                <a:cs typeface="Kalimati" panose="00000400000000000000" pitchFamily="2"/>
              </a:rPr>
              <a:t>बालबालिका सम्बन्धी कानूनको प्रयोगमा </a:t>
            </a:r>
            <a:br>
              <a:rPr lang="ne-NP" dirty="0" smtClean="0">
                <a:cs typeface="Kalimati" panose="00000400000000000000" pitchFamily="2"/>
              </a:rPr>
            </a:br>
            <a:r>
              <a:rPr lang="ne-NP" dirty="0">
                <a:cs typeface="Kalimati" panose="00000400000000000000" pitchFamily="2"/>
              </a:rPr>
              <a:t/>
            </a:r>
            <a:br>
              <a:rPr lang="ne-NP" dirty="0">
                <a:cs typeface="Kalimati" panose="00000400000000000000" pitchFamily="2"/>
              </a:rPr>
            </a:br>
            <a:r>
              <a:rPr lang="ne-NP" dirty="0" smtClean="0">
                <a:cs typeface="Kalimati" panose="00000400000000000000" pitchFamily="2"/>
              </a:rPr>
              <a:t>सर्वोच्च अदालत</a:t>
            </a:r>
            <a:endParaRPr lang="en-US" dirty="0">
              <a:cs typeface="Kalimati" panose="00000400000000000000" pitchFamily="2"/>
            </a:endParaRPr>
          </a:p>
        </p:txBody>
      </p:sp>
    </p:spTree>
    <p:extLst>
      <p:ext uri="{BB962C8B-B14F-4D97-AF65-F5344CB8AC3E}">
        <p14:creationId xmlns:p14="http://schemas.microsoft.com/office/powerpoint/2010/main" val="449555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dirty="0" smtClean="0">
                <a:cs typeface="Kalimati" panose="00000400000000000000" pitchFamily="2"/>
              </a:rPr>
              <a:t>कानूनी व्यवस्था</a:t>
            </a:r>
            <a:endParaRPr lang="en-US" dirty="0">
              <a:cs typeface="Kalimati" panose="00000400000000000000" pitchFamily="2"/>
            </a:endParaRPr>
          </a:p>
        </p:txBody>
      </p:sp>
      <p:sp>
        <p:nvSpPr>
          <p:cNvPr id="3" name="Content Placeholder 2"/>
          <p:cNvSpPr>
            <a:spLocks noGrp="1"/>
          </p:cNvSpPr>
          <p:nvPr>
            <p:ph idx="1"/>
          </p:nvPr>
        </p:nvSpPr>
        <p:spPr>
          <a:xfrm>
            <a:off x="437322" y="1825624"/>
            <a:ext cx="11290852" cy="4863411"/>
          </a:xfrm>
        </p:spPr>
        <p:txBody>
          <a:bodyPr>
            <a:normAutofit/>
          </a:bodyPr>
          <a:lstStyle/>
          <a:p>
            <a:pPr algn="just"/>
            <a:r>
              <a:rPr lang="ne-NP" sz="3000" dirty="0" smtClean="0">
                <a:cs typeface="Kalimati" panose="00000400000000000000" pitchFamily="2"/>
              </a:rPr>
              <a:t>दशवर्ष भन्दा माथि र चौध वर्षभन्दा कम उमेरको बालिबालिकाले जरिवाना हुने कसूरजन्य कार्य गरेको भए सम्झाइ बुझाइ छाडिने र कैद हुने कसूरजन्य कार्य गरेको भए ६ महिनसम्म कैद सजाय गर्न वा कैद नगरी एकवर्ष सम्म वाल सुधार गृहमा राखिने छ – दफा ३६(२)</a:t>
            </a:r>
          </a:p>
          <a:p>
            <a:pPr algn="just"/>
            <a:r>
              <a:rPr lang="ne-NP" sz="3000" dirty="0" smtClean="0">
                <a:cs typeface="Kalimati" panose="00000400000000000000" pitchFamily="2"/>
              </a:rPr>
              <a:t>सोह्र वर्ष उमेर नपुगेकालाई जघन्य वा गम्भीर वा पटके कसूर गरेकोमा बाहेक कैदको सजाय गरिने छैन – वाल ऐन दफा ३६(७), मुअसं दफा ४५(५) तथा सजाय निर्धारण ऐनको दफा १६(२)</a:t>
            </a:r>
          </a:p>
          <a:p>
            <a:pPr algn="just"/>
            <a:r>
              <a:rPr lang="ne-NP" sz="3000" dirty="0" smtClean="0">
                <a:cs typeface="Kalimati" panose="00000400000000000000" pitchFamily="2"/>
              </a:rPr>
              <a:t>जघन्य भन्नाले जन्मकैद वा दशवर्ष भन्दा बढी कैद सजाय हुने कसूर र गम्भीर भन्नाले तीन वर्ष भन्दा बढी दश वर्षसम्म कैद सजाय हुने कसूर मानिने – मुअसं दफा ३ (च) र (छ)</a:t>
            </a:r>
            <a:endParaRPr lang="en-US" sz="3000" dirty="0">
              <a:cs typeface="Kalimati" panose="00000400000000000000" pitchFamily="2"/>
            </a:endParaRPr>
          </a:p>
        </p:txBody>
      </p:sp>
    </p:spTree>
    <p:extLst>
      <p:ext uri="{BB962C8B-B14F-4D97-AF65-F5344CB8AC3E}">
        <p14:creationId xmlns:p14="http://schemas.microsoft.com/office/powerpoint/2010/main" val="2433708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dirty="0" smtClean="0">
                <a:cs typeface="Kalimati" panose="00000400000000000000" pitchFamily="2"/>
              </a:rPr>
              <a:t>कानूनी व्यवस्था</a:t>
            </a:r>
            <a:endParaRPr lang="en-US" dirty="0">
              <a:cs typeface="Kalimati" panose="00000400000000000000" pitchFamily="2"/>
            </a:endParaRPr>
          </a:p>
        </p:txBody>
      </p:sp>
      <p:sp>
        <p:nvSpPr>
          <p:cNvPr id="3" name="Content Placeholder 2"/>
          <p:cNvSpPr>
            <a:spLocks noGrp="1"/>
          </p:cNvSpPr>
          <p:nvPr>
            <p:ph idx="1"/>
          </p:nvPr>
        </p:nvSpPr>
        <p:spPr>
          <a:xfrm>
            <a:off x="318052" y="1690688"/>
            <a:ext cx="11410122" cy="5057981"/>
          </a:xfrm>
        </p:spPr>
        <p:txBody>
          <a:bodyPr>
            <a:noAutofit/>
          </a:bodyPr>
          <a:lstStyle/>
          <a:p>
            <a:pPr algn="just"/>
            <a:r>
              <a:rPr lang="ne-NP" sz="3000" dirty="0" smtClean="0">
                <a:cs typeface="Kalimati" panose="00000400000000000000" pitchFamily="2"/>
              </a:rPr>
              <a:t>तीन वर्ष वा सो भन्दा बढी कैद सजाय गर्नु पर्ने कसूरजन्य कार्यको अभियोग लागेको बालबालिका तत्काल प्राप्त प्रमाणबाट कसूरदार देखिने भएमा पुर्पक्षको लागि वाल सुधार गृहमा राख्न सकिने – वाल ऐनको दफा २४(२)(ख) </a:t>
            </a:r>
          </a:p>
          <a:p>
            <a:pPr algn="just"/>
            <a:r>
              <a:rPr lang="ne-NP" sz="3000" dirty="0" smtClean="0">
                <a:cs typeface="Kalimati" panose="00000400000000000000" pitchFamily="2"/>
              </a:rPr>
              <a:t>उपदफा (२) को अवस्थामा बाहेक कसूरजन्य कार्यको अभियोग लागेका अन्य बालबालिकालाई चाहिएको बखत उपस्थित गराउने शर्तमा बाबु आमा वा परिवारको अन्य सदस्या वा संरक्षकको जिम्मा लगाउन सकिने छ – वाल ऐन दफा २४(३)</a:t>
            </a:r>
          </a:p>
          <a:p>
            <a:pPr algn="just"/>
            <a:r>
              <a:rPr lang="ne-NP" sz="3000" dirty="0" smtClean="0">
                <a:cs typeface="Kalimati" panose="00000400000000000000" pitchFamily="2"/>
              </a:rPr>
              <a:t>उपदफा (२) बमोजिमको बालबालिकालाई पनि वाल सुधार गृहमा राख्न उपयुक्त नहुने भएमा शर्त तोकी बाबु आमा वा परिवारको सदस्यको जिम्मा लगाउन सकिने-दफा २४(३) को प्रतिवन्धात्मक वाक्याँश</a:t>
            </a:r>
            <a:endParaRPr lang="en-US" sz="3000" dirty="0">
              <a:cs typeface="Kalimati" panose="00000400000000000000" pitchFamily="2"/>
            </a:endParaRPr>
          </a:p>
        </p:txBody>
      </p:sp>
    </p:spTree>
    <p:extLst>
      <p:ext uri="{BB962C8B-B14F-4D97-AF65-F5344CB8AC3E}">
        <p14:creationId xmlns:p14="http://schemas.microsoft.com/office/powerpoint/2010/main" val="4178376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dirty="0" smtClean="0">
                <a:cs typeface="Kalimati" panose="00000400000000000000" pitchFamily="2"/>
              </a:rPr>
              <a:t>रिदमा विष्ट विरुद्ध जिल्ला स व का झापा</a:t>
            </a:r>
            <a:br>
              <a:rPr lang="ne-NP" dirty="0" smtClean="0">
                <a:cs typeface="Kalimati" panose="00000400000000000000" pitchFamily="2"/>
              </a:rPr>
            </a:br>
            <a:r>
              <a:rPr lang="ne-NP" sz="3200" dirty="0" smtClean="0">
                <a:cs typeface="Kalimati" panose="00000400000000000000" pitchFamily="2"/>
              </a:rPr>
              <a:t>ने का प २०८० नि नं ११०६४ वृहत पू इ</a:t>
            </a:r>
            <a:endParaRPr lang="en-US" sz="3200" dirty="0">
              <a:cs typeface="Kalimati" panose="00000400000000000000" pitchFamily="2"/>
            </a:endParaRPr>
          </a:p>
        </p:txBody>
      </p:sp>
      <p:sp>
        <p:nvSpPr>
          <p:cNvPr id="3" name="Content Placeholder 2"/>
          <p:cNvSpPr>
            <a:spLocks noGrp="1"/>
          </p:cNvSpPr>
          <p:nvPr>
            <p:ph idx="1"/>
          </p:nvPr>
        </p:nvSpPr>
        <p:spPr>
          <a:xfrm>
            <a:off x="367748" y="1825625"/>
            <a:ext cx="11539330" cy="4833592"/>
          </a:xfrm>
        </p:spPr>
        <p:txBody>
          <a:bodyPr>
            <a:noAutofit/>
          </a:bodyPr>
          <a:lstStyle/>
          <a:p>
            <a:pPr algn="just"/>
            <a:r>
              <a:rPr lang="ne-NP" sz="3200" dirty="0" smtClean="0">
                <a:cs typeface="Kalimati" panose="00000400000000000000" pitchFamily="2"/>
              </a:rPr>
              <a:t>थुनामा राखिने व्यवस्थालाई अन्तिम उपायको रुपमा प्रयोग गरिनु पर्ने</a:t>
            </a:r>
          </a:p>
          <a:p>
            <a:pPr algn="just"/>
            <a:r>
              <a:rPr lang="ne-NP" sz="3200" dirty="0" smtClean="0">
                <a:cs typeface="Kalimati" panose="00000400000000000000" pitchFamily="2"/>
              </a:rPr>
              <a:t>६ महिना कैद भनिए पनि ६ महिना वाल सुधार गृहमा राखिने भनी बुझ्नु पर्ने।१ वर्ष वाल सुधार गृहमा राख्न नहुने।कैद शब्दलाई वाल सुधार गृहमा बस्नु पर्ने अवधिको रुपमा बुझिनु पर्ने</a:t>
            </a:r>
          </a:p>
          <a:p>
            <a:pPr algn="just"/>
            <a:r>
              <a:rPr lang="ne-NP" sz="3200" dirty="0" smtClean="0">
                <a:cs typeface="Kalimati" panose="00000400000000000000" pitchFamily="2"/>
              </a:rPr>
              <a:t>गम्भीर र जघन्य कसूरलाई बुझ्दा कसूरदारलाई भएको वास्तविक कैद सजायको आधारमा होइन कि निजलाई हुन सक्ने सजायको मात्राको हिसाबले बुझिनु पर्ने (अधिवक्ता नवल किशोर साहको मुद्दामा वास्तविक भएको सजायको मात्राको आधारमा गम्भीर र जघन्य कसूरलाई बुझिनु पर्ने गरी पूर्ण इजलासबाट भएको व्याख्या अमान्य हुने)</a:t>
            </a:r>
          </a:p>
        </p:txBody>
      </p:sp>
    </p:spTree>
    <p:extLst>
      <p:ext uri="{BB962C8B-B14F-4D97-AF65-F5344CB8AC3E}">
        <p14:creationId xmlns:p14="http://schemas.microsoft.com/office/powerpoint/2010/main" val="3611794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95318"/>
          </a:xfrm>
        </p:spPr>
        <p:txBody>
          <a:bodyPr/>
          <a:lstStyle/>
          <a:p>
            <a:pPr algn="ctr"/>
            <a:r>
              <a:rPr lang="ne-NP" dirty="0">
                <a:cs typeface="Kalimati" panose="00000400000000000000" pitchFamily="2"/>
              </a:rPr>
              <a:t>रिदमा विष्ट विरुद्ध जिल्ला स व का झापा</a:t>
            </a:r>
            <a:br>
              <a:rPr lang="ne-NP" dirty="0">
                <a:cs typeface="Kalimati" panose="00000400000000000000" pitchFamily="2"/>
              </a:rPr>
            </a:br>
            <a:r>
              <a:rPr lang="ne-NP" sz="3200" dirty="0">
                <a:cs typeface="Kalimati" panose="00000400000000000000" pitchFamily="2"/>
              </a:rPr>
              <a:t>ने का प २०८० नि नं ११०६४ वृहत पू इ</a:t>
            </a:r>
            <a:endParaRPr lang="en-US" dirty="0"/>
          </a:p>
        </p:txBody>
      </p:sp>
      <p:sp>
        <p:nvSpPr>
          <p:cNvPr id="3" name="Content Placeholder 2"/>
          <p:cNvSpPr>
            <a:spLocks noGrp="1"/>
          </p:cNvSpPr>
          <p:nvPr>
            <p:ph idx="1"/>
          </p:nvPr>
        </p:nvSpPr>
        <p:spPr>
          <a:xfrm>
            <a:off x="377687" y="1825624"/>
            <a:ext cx="11648661" cy="4893227"/>
          </a:xfrm>
        </p:spPr>
        <p:txBody>
          <a:bodyPr>
            <a:noAutofit/>
          </a:bodyPr>
          <a:lstStyle/>
          <a:p>
            <a:pPr algn="just"/>
            <a:r>
              <a:rPr lang="ne-NP" sz="3600" dirty="0">
                <a:cs typeface="Kalimati" panose="00000400000000000000" pitchFamily="2"/>
              </a:rPr>
              <a:t>दफा २४(२)(ख) मा परेको तीन वर्ष वा सो भन्दा बढी कैद सजाय हुने भन्नाले वास्तविक रुपमा हुने सजाय नभइ हुन सक्ने सजायको रुपमा बुझिनु </a:t>
            </a:r>
            <a:r>
              <a:rPr lang="ne-NP" sz="3600" dirty="0" smtClean="0">
                <a:cs typeface="Kalimati" panose="00000400000000000000" pitchFamily="2"/>
              </a:rPr>
              <a:t>पर्ने</a:t>
            </a:r>
          </a:p>
          <a:p>
            <a:pPr algn="just"/>
            <a:r>
              <a:rPr lang="ne-NP" sz="3600" dirty="0" smtClean="0">
                <a:cs typeface="Kalimati" panose="00000400000000000000" pitchFamily="2"/>
              </a:rPr>
              <a:t>वाल ऐनको दफा २४(३) को प्रतिवन्धात्मक वाक्याँश बमोजिम शर्त तोकी अभिभावकको जिम्मा लगाएकोमा त्यस्तो अवधि वाल सुधार गृहमा बसेको अवधिमा कट्टि हुने तर २४(३) बमोजिम चाहिएको बखत उपस्थित गराउने शर्तमा जिम्मा लगाइएको अवधि कट्टि नहुने।किनभने यस्तो अवधि पुर्पक्षको लागि साधारण तारेखमा बसे सरहको अवधि मानिने </a:t>
            </a:r>
            <a:endParaRPr lang="en-US" sz="3600" dirty="0">
              <a:cs typeface="Kalimati" panose="00000400000000000000" pitchFamily="2"/>
            </a:endParaRPr>
          </a:p>
        </p:txBody>
      </p:sp>
    </p:spTree>
    <p:extLst>
      <p:ext uri="{BB962C8B-B14F-4D97-AF65-F5344CB8AC3E}">
        <p14:creationId xmlns:p14="http://schemas.microsoft.com/office/powerpoint/2010/main" val="1790752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5736"/>
          </a:xfrm>
        </p:spPr>
        <p:txBody>
          <a:bodyPr>
            <a:normAutofit/>
          </a:bodyPr>
          <a:lstStyle/>
          <a:p>
            <a:pPr algn="ctr"/>
            <a:r>
              <a:rPr lang="ne-NP" sz="6000" dirty="0" smtClean="0">
                <a:cs typeface="Kalimati" panose="00000400000000000000" pitchFamily="2"/>
              </a:rPr>
              <a:t>धन्यवाद</a:t>
            </a:r>
            <a:endParaRPr lang="en-US" sz="6000" dirty="0">
              <a:cs typeface="Kalimati" panose="00000400000000000000" pitchFamily="2"/>
            </a:endParaRPr>
          </a:p>
        </p:txBody>
      </p:sp>
    </p:spTree>
    <p:extLst>
      <p:ext uri="{BB962C8B-B14F-4D97-AF65-F5344CB8AC3E}">
        <p14:creationId xmlns:p14="http://schemas.microsoft.com/office/powerpoint/2010/main" val="283176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167</TotalTime>
  <Words>1776</Words>
  <Application>Microsoft Office PowerPoint</Application>
  <PresentationFormat>Widescreen</PresentationFormat>
  <Paragraphs>88</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Calibri Light</vt:lpstr>
      <vt:lpstr>Kalimati</vt:lpstr>
      <vt:lpstr>Kokila</vt:lpstr>
      <vt:lpstr>Times New Roman</vt:lpstr>
      <vt:lpstr>Wingdings</vt:lpstr>
      <vt:lpstr>Office Theme</vt:lpstr>
      <vt:lpstr>Diversion, Suspension and Reduction of   Sentence</vt:lpstr>
      <vt:lpstr>Diversion</vt:lpstr>
      <vt:lpstr>Diversion</vt:lpstr>
      <vt:lpstr>दिशान्तर गर्ने अधिकार-बाबाऐन दफा २७</vt:lpstr>
      <vt:lpstr>दिशान्तरको निर्णय गर्दा विचार गर्नुपर्ने कुराहरू - दफा २८</vt:lpstr>
      <vt:lpstr>दिशान्तर गर्दा अवलम्बन गरिने प्रक्रिया -दफा २९ </vt:lpstr>
      <vt:lpstr>दिशान्तर गर्दा अवलम्बन गरिने प्रक्रिया -दफा २९ </vt:lpstr>
      <vt:lpstr>दिशान्तर गर्दा अवलम्बन गरिने प्रक्रिया-दफा २९ </vt:lpstr>
      <vt:lpstr>बाल न्याय सम्पादन (कार्यविधि) नियमावली, २०७६ मा दिशान्तर (नियम ९)</vt:lpstr>
      <vt:lpstr>PowerPoint Presentation</vt:lpstr>
      <vt:lpstr>अदालतले गर्ने दिशान्तरका सम्बन्धमा व्यवस्था (नियम १९)</vt:lpstr>
      <vt:lpstr>दिशान्तर सम्बन्धी निर्णयको ढाँचा</vt:lpstr>
      <vt:lpstr>नेपालमा यसको प्रयोग</vt:lpstr>
      <vt:lpstr>नेपालमा यसको प्रयोग</vt:lpstr>
      <vt:lpstr>सजाय स्थगन र छुट</vt:lpstr>
      <vt:lpstr>दफा ३६(५) मा तोकिएका सजायका स्वरुपहरु</vt:lpstr>
      <vt:lpstr>बालबालिका सम्बन्धी कानूनको प्रयोगमा   सर्वोच्च अदालत</vt:lpstr>
      <vt:lpstr>कानूनी व्यवस्था</vt:lpstr>
      <vt:lpstr>कानूनी व्यवस्था</vt:lpstr>
      <vt:lpstr>रिदमा विष्ट विरुद्ध जिल्ला स व का झापा ने का प २०८० नि नं ११०६४ वृहत पू इ</vt:lpstr>
      <vt:lpstr>रिदमा विष्ट विरुद्ध जिल्ला स व का झापा ने का प २०८० नि नं ११०६४ वृहत पू इ</vt:lpstr>
      <vt:lpstr>धन्यवाद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बालबालिका सम्बन्धी कानूनको प्रयोगमा   सर्वोच्च अदालत</dc:title>
  <dc:creator>acer</dc:creator>
  <cp:lastModifiedBy>acer</cp:lastModifiedBy>
  <cp:revision>28</cp:revision>
  <dcterms:created xsi:type="dcterms:W3CDTF">2026-01-29T13:07:34Z</dcterms:created>
  <dcterms:modified xsi:type="dcterms:W3CDTF">2026-01-30T01:00:51Z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