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256" r:id="rId2"/>
    <p:sldId id="257" r:id="rId3"/>
    <p:sldId id="407" r:id="rId4"/>
    <p:sldId id="327" r:id="rId5"/>
    <p:sldId id="406" r:id="rId6"/>
    <p:sldId id="266" r:id="rId7"/>
    <p:sldId id="308" r:id="rId8"/>
    <p:sldId id="397" r:id="rId9"/>
    <p:sldId id="398" r:id="rId10"/>
    <p:sldId id="368" r:id="rId11"/>
    <p:sldId id="369" r:id="rId12"/>
    <p:sldId id="370" r:id="rId13"/>
    <p:sldId id="371" r:id="rId14"/>
    <p:sldId id="372" r:id="rId15"/>
    <p:sldId id="399" r:id="rId16"/>
    <p:sldId id="400" r:id="rId17"/>
    <p:sldId id="404" r:id="rId18"/>
    <p:sldId id="409" r:id="rId19"/>
    <p:sldId id="405" r:id="rId20"/>
    <p:sldId id="410" r:id="rId21"/>
    <p:sldId id="411" r:id="rId22"/>
    <p:sldId id="412" r:id="rId23"/>
    <p:sldId id="413" r:id="rId24"/>
    <p:sldId id="414" r:id="rId25"/>
    <p:sldId id="415" r:id="rId26"/>
    <p:sldId id="416" r:id="rId27"/>
    <p:sldId id="347" r:id="rId28"/>
    <p:sldId id="270" r:id="rId29"/>
    <p:sldId id="401" r:id="rId30"/>
    <p:sldId id="402" r:id="rId31"/>
    <p:sldId id="348" r:id="rId32"/>
    <p:sldId id="349" r:id="rId33"/>
    <p:sldId id="358" r:id="rId34"/>
    <p:sldId id="359" r:id="rId35"/>
    <p:sldId id="346" r:id="rId36"/>
    <p:sldId id="362" r:id="rId37"/>
    <p:sldId id="408" r:id="rId38"/>
    <p:sldId id="273" r:id="rId39"/>
    <p:sldId id="317" r:id="rId40"/>
    <p:sldId id="318" r:id="rId41"/>
    <p:sldId id="319" r:id="rId42"/>
    <p:sldId id="314" r:id="rId43"/>
    <p:sldId id="396" r:id="rId44"/>
    <p:sldId id="309" r:id="rId45"/>
    <p:sldId id="365" r:id="rId46"/>
    <p:sldId id="366" r:id="rId47"/>
    <p:sldId id="363" r:id="rId48"/>
    <p:sldId id="284" r:id="rId49"/>
    <p:sldId id="285" r:id="rId50"/>
    <p:sldId id="286" r:id="rId51"/>
    <p:sldId id="360" r:id="rId52"/>
    <p:sldId id="403" r:id="rId53"/>
    <p:sldId id="374" r:id="rId54"/>
    <p:sldId id="375" r:id="rId55"/>
    <p:sldId id="394" r:id="rId56"/>
    <p:sldId id="376" r:id="rId57"/>
    <p:sldId id="377" r:id="rId58"/>
    <p:sldId id="378" r:id="rId59"/>
    <p:sldId id="379" r:id="rId60"/>
    <p:sldId id="380" r:id="rId61"/>
    <p:sldId id="381" r:id="rId62"/>
    <p:sldId id="382" r:id="rId63"/>
    <p:sldId id="384" r:id="rId64"/>
    <p:sldId id="383" r:id="rId65"/>
    <p:sldId id="385" r:id="rId66"/>
    <p:sldId id="386" r:id="rId67"/>
    <p:sldId id="387" r:id="rId68"/>
    <p:sldId id="388" r:id="rId69"/>
    <p:sldId id="389" r:id="rId70"/>
    <p:sldId id="390" r:id="rId71"/>
    <p:sldId id="391" r:id="rId72"/>
    <p:sldId id="392" r:id="rId73"/>
    <p:sldId id="393" r:id="rId74"/>
    <p:sldId id="395" r:id="rId75"/>
    <p:sldId id="307"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15A3C-0A37-4F73-9791-8802F33EC135}"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1B8DF3-F9BC-4BD1-91D4-80CFF11BFC4E}" type="slidenum">
              <a:rPr lang="en-US" smtClean="0"/>
              <a:t>‹#›</a:t>
            </a:fld>
            <a:endParaRPr lang="en-US"/>
          </a:p>
        </p:txBody>
      </p:sp>
    </p:spTree>
    <p:extLst>
      <p:ext uri="{BB962C8B-B14F-4D97-AF65-F5344CB8AC3E}">
        <p14:creationId xmlns:p14="http://schemas.microsoft.com/office/powerpoint/2010/main" val="1302619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10B4CB-91FE-4D00-81CE-3B64DAA9CB1B}" type="slidenum">
              <a:rPr lang="en-US" smtClean="0"/>
              <a:pPr/>
              <a:t>63</a:t>
            </a:fld>
            <a:endParaRPr lang="en-US"/>
          </a:p>
        </p:txBody>
      </p:sp>
    </p:spTree>
    <p:extLst>
      <p:ext uri="{BB962C8B-B14F-4D97-AF65-F5344CB8AC3E}">
        <p14:creationId xmlns:p14="http://schemas.microsoft.com/office/powerpoint/2010/main" val="35138009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CC977932-2A72-4E27-AE63-A4A0CDB41967}" type="datetimeFigureOut">
              <a:rPr lang="en-US" smtClean="0"/>
              <a:t>1/25/2026</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F6E5C7F3-3E3B-4EA1-965E-DCC17FFF37EF}" type="slidenum">
              <a:rPr lang="en-US" smtClean="0"/>
              <a:t>‹#›</a:t>
            </a:fld>
            <a:endParaRPr lang="en-US"/>
          </a:p>
        </p:txBody>
      </p:sp>
    </p:spTree>
    <p:extLst>
      <p:ext uri="{BB962C8B-B14F-4D97-AF65-F5344CB8AC3E}">
        <p14:creationId xmlns:p14="http://schemas.microsoft.com/office/powerpoint/2010/main" val="373556878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977932-2A72-4E27-AE63-A4A0CDB41967}" type="datetimeFigureOut">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3860834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C977932-2A72-4E27-AE63-A4A0CDB41967}" type="datetimeFigureOut">
              <a:rPr lang="en-US" smtClean="0"/>
              <a:t>1/25/2026</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64322028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977932-2A72-4E27-AE63-A4A0CDB41967}"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1826856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977932-2A72-4E27-AE63-A4A0CDB41967}" type="datetimeFigureOut">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397780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977932-2A72-4E27-AE63-A4A0CDB41967}" type="datetimeFigureOut">
              <a:rPr lang="en-US" smtClean="0"/>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3783893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977932-2A72-4E27-AE63-A4A0CDB41967}" type="datetimeFigureOut">
              <a:rPr lang="en-US" smtClean="0"/>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2286164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C977932-2A72-4E27-AE63-A4A0CDB41967}" type="datetimeFigureOut">
              <a:rPr lang="en-US" smtClean="0"/>
              <a:t>1/25/2026</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F6E5C7F3-3E3B-4EA1-965E-DCC17FFF37EF}"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69089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C977932-2A72-4E27-AE63-A4A0CDB41967}" type="datetimeFigureOut">
              <a:rPr lang="en-US" smtClean="0"/>
              <a:t>1/25/2026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F6E5C7F3-3E3B-4EA1-965E-DCC17FFF37EF}"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98197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77932-2A72-4E27-AE63-A4A0CDB41967}"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3511842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77932-2A72-4E27-AE63-A4A0CDB41967}"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5C7F3-3E3B-4EA1-965E-DCC17FFF37EF}" type="slidenum">
              <a:rPr lang="en-US" smtClean="0"/>
              <a:t>‹#›</a:t>
            </a:fld>
            <a:endParaRPr lang="en-US"/>
          </a:p>
        </p:txBody>
      </p:sp>
    </p:spTree>
    <p:extLst>
      <p:ext uri="{BB962C8B-B14F-4D97-AF65-F5344CB8AC3E}">
        <p14:creationId xmlns:p14="http://schemas.microsoft.com/office/powerpoint/2010/main" val="487344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C977932-2A72-4E27-AE63-A4A0CDB41967}" type="datetimeFigureOut">
              <a:rPr lang="en-US" smtClean="0"/>
              <a:t>1/25/2026</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E5C7F3-3E3B-4EA1-965E-DCC17FFF37EF}" type="slidenum">
              <a:rPr lang="en-US" smtClean="0"/>
              <a:t>‹#›</a:t>
            </a:fld>
            <a:endParaRPr lang="en-US"/>
          </a:p>
        </p:txBody>
      </p:sp>
    </p:spTree>
    <p:extLst>
      <p:ext uri="{BB962C8B-B14F-4D97-AF65-F5344CB8AC3E}">
        <p14:creationId xmlns:p14="http://schemas.microsoft.com/office/powerpoint/2010/main" val="2890647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mailto:minadhital@gmail.com" TargetMode="External"/><Relationship Id="rId2" Type="http://schemas.openxmlformats.org/officeDocument/2006/relationships/hyperlink" Target="mailto:asmin@yahoo.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www.sivaholida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mailto:scchu@bit.kuas.edu.tw" TargetMode="External"/><Relationship Id="rId2" Type="http://schemas.openxmlformats.org/officeDocument/2006/relationships/hyperlink" Target="mailto:bhupal22@gmail.com" TargetMode="External"/><Relationship Id="rId1" Type="http://schemas.openxmlformats.org/officeDocument/2006/relationships/slideLayout" Target="../slideLayouts/slideLayout2.xml"/><Relationship Id="rId4" Type="http://schemas.openxmlformats.org/officeDocument/2006/relationships/hyperlink" Target="mailto:sagritali15@gmail.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espncricinfo.com/ci/content/player/36597.html" TargetMode="External"/><Relationship Id="rId2" Type="http://schemas.openxmlformats.org/officeDocument/2006/relationships/hyperlink" Target="https://www.judiciary.uk/wp-content/uploads/JCO/Documents/Judgments/cairns-v-modi-judgment.pdf" TargetMode="External"/><Relationship Id="rId1" Type="http://schemas.openxmlformats.org/officeDocument/2006/relationships/slideLayout" Target="../slideLayouts/slideLayout2.xml"/><Relationship Id="rId4" Type="http://schemas.openxmlformats.org/officeDocument/2006/relationships/hyperlink" Target="http://www.espncricinfo.com/ci/content/player/242443.html" TargetMode="External"/></Relationships>
</file>

<file path=ppt/slides/_rels/slide41.xml.rels><?xml version="1.0" encoding="UTF-8" standalone="yes"?>
<Relationships xmlns="http://schemas.openxmlformats.org/package/2006/relationships"><Relationship Id="rId2" Type="http://schemas.openxmlformats.org/officeDocument/2006/relationships/hyperlink" Target="http://www.gdnonline.com/Details/217882/Swiss-court-fines-man-for-liking-defamatory-comments-on-Facebook-"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hash-file.online/"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6F8A2C-B8CF-4B20-9A73-2ADCF6302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gradFill>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180C23B1-7427-4DF4-BFF1-60CD7E93B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14" name="Rectangle 13">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solidFill>
            <a:schemeClr val="bg1"/>
          </a:solidFill>
          <a:ln w="6350" cap="sq" cmpd="sng" algn="ctr">
            <a:solidFill>
              <a:schemeClr val="tx1">
                <a:lumMod val="75000"/>
                <a:lumOff val="2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491C74E1-A0CF-C609-49F5-97D3BB104EDB}"/>
              </a:ext>
            </a:extLst>
          </p:cNvPr>
          <p:cNvSpPr>
            <a:spLocks noGrp="1"/>
          </p:cNvSpPr>
          <p:nvPr>
            <p:ph type="ctrTitle"/>
          </p:nvPr>
        </p:nvSpPr>
        <p:spPr>
          <a:xfrm>
            <a:off x="1263520" y="1272800"/>
            <a:ext cx="6544620" cy="4312402"/>
          </a:xfrm>
        </p:spPr>
        <p:txBody>
          <a:bodyPr anchor="ctr">
            <a:normAutofit/>
          </a:bodyPr>
          <a:lstStyle/>
          <a:p>
            <a:pPr algn="r"/>
            <a:r>
              <a:rPr lang="ne-NP" sz="6800" b="1" dirty="0">
                <a:solidFill>
                  <a:schemeClr val="tx1"/>
                </a:solidFill>
              </a:rPr>
              <a:t>साइबर अपराध</a:t>
            </a:r>
            <a:r>
              <a:rPr lang="en-US" sz="6800" b="1" dirty="0">
                <a:solidFill>
                  <a:schemeClr val="tx1"/>
                </a:solidFill>
              </a:rPr>
              <a:t>,</a:t>
            </a:r>
            <a:r>
              <a:rPr lang="ne-NP" sz="6800" b="1" dirty="0">
                <a:solidFill>
                  <a:schemeClr val="tx1"/>
                </a:solidFill>
              </a:rPr>
              <a:t> कानून र प्रयोग</a:t>
            </a:r>
            <a:endParaRPr lang="en-US" sz="6800" b="1" dirty="0">
              <a:solidFill>
                <a:schemeClr val="tx1"/>
              </a:solidFill>
            </a:endParaRPr>
          </a:p>
        </p:txBody>
      </p:sp>
      <p:sp>
        <p:nvSpPr>
          <p:cNvPr id="3" name="Subtitle 2">
            <a:extLst>
              <a:ext uri="{FF2B5EF4-FFF2-40B4-BE49-F238E27FC236}">
                <a16:creationId xmlns:a16="http://schemas.microsoft.com/office/drawing/2014/main" id="{4B435D9E-DE72-818D-4E87-75CBCD666327}"/>
              </a:ext>
            </a:extLst>
          </p:cNvPr>
          <p:cNvSpPr>
            <a:spLocks noGrp="1"/>
          </p:cNvSpPr>
          <p:nvPr>
            <p:ph type="subTitle" idx="1"/>
          </p:nvPr>
        </p:nvSpPr>
        <p:spPr>
          <a:xfrm>
            <a:off x="8473440" y="1272800"/>
            <a:ext cx="2481307" cy="4312402"/>
          </a:xfrm>
        </p:spPr>
        <p:txBody>
          <a:bodyPr anchor="ctr">
            <a:normAutofit/>
          </a:bodyPr>
          <a:lstStyle/>
          <a:p>
            <a:pPr algn="l"/>
            <a:r>
              <a:rPr lang="en-US" sz="2000" dirty="0"/>
              <a:t>-Kedar Ghimire</a:t>
            </a:r>
          </a:p>
          <a:p>
            <a:pPr algn="l"/>
            <a:r>
              <a:rPr lang="en-US" sz="2000" dirty="0"/>
              <a:t>LLM, Cyber Law and Cyber Security</a:t>
            </a:r>
          </a:p>
        </p:txBody>
      </p:sp>
      <p:cxnSp>
        <p:nvCxnSpPr>
          <p:cNvPr id="16" name="Straight Connector 15">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37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EE232-52AE-4534-9FE1-1C55203776EC}"/>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What is Cybercrime?</a:t>
            </a:r>
          </a:p>
        </p:txBody>
      </p:sp>
      <p:sp>
        <p:nvSpPr>
          <p:cNvPr id="3" name="Content Placeholder 2">
            <a:extLst>
              <a:ext uri="{FF2B5EF4-FFF2-40B4-BE49-F238E27FC236}">
                <a16:creationId xmlns:a16="http://schemas.microsoft.com/office/drawing/2014/main" id="{AA4C7FA4-169C-4322-B54B-A66E5642E8E0}"/>
              </a:ext>
            </a:extLst>
          </p:cNvPr>
          <p:cNvSpPr>
            <a:spLocks noGrp="1"/>
          </p:cNvSpPr>
          <p:nvPr>
            <p:ph idx="1"/>
          </p:nvPr>
        </p:nvSpPr>
        <p:spPr/>
        <p:txBody>
          <a:bodyPr>
            <a:normAutofit fontScale="92500" lnSpcReduction="20000"/>
          </a:bodyPr>
          <a:lstStyle/>
          <a:p>
            <a:pPr algn="just"/>
            <a:r>
              <a:rPr lang="en-US" sz="3200" dirty="0">
                <a:latin typeface="Times New Roman" panose="02020603050405020304" pitchFamily="18" charset="0"/>
                <a:cs typeface="Times New Roman" panose="02020603050405020304" pitchFamily="18" charset="0"/>
              </a:rPr>
              <a:t>Unlawful acts wherein the computer is either a tool or a target or both which is committed in the </a:t>
            </a:r>
            <a:r>
              <a:rPr lang="en-US" sz="3200" b="1" dirty="0">
                <a:latin typeface="Times New Roman" panose="02020603050405020304" pitchFamily="18" charset="0"/>
                <a:cs typeface="Times New Roman" panose="02020603050405020304" pitchFamily="18" charset="0"/>
              </a:rPr>
              <a:t>Cyberspace.</a:t>
            </a:r>
          </a:p>
          <a:p>
            <a:pPr algn="just"/>
            <a:r>
              <a:rPr lang="en-US" sz="3200" dirty="0">
                <a:latin typeface="Times New Roman" panose="02020603050405020304" pitchFamily="18" charset="0"/>
                <a:cs typeface="Times New Roman" panose="02020603050405020304" pitchFamily="18" charset="0"/>
              </a:rPr>
              <a:t>Cyberspace is the domain generated from the interconnection between computers and telecommunication networks in order to store, modify, and exchange data </a:t>
            </a:r>
            <a:r>
              <a:rPr lang="en-US" sz="3200" b="1" dirty="0">
                <a:latin typeface="Times New Roman" panose="02020603050405020304" pitchFamily="18" charset="0"/>
                <a:cs typeface="Times New Roman" panose="02020603050405020304" pitchFamily="18" charset="0"/>
              </a:rPr>
              <a:t>via networked systems</a:t>
            </a:r>
            <a:r>
              <a:rPr lang="en-US" sz="3200" dirty="0">
                <a:latin typeface="Times New Roman" panose="02020603050405020304" pitchFamily="18" charset="0"/>
                <a:cs typeface="Times New Roman" panose="02020603050405020304" pitchFamily="18" charset="0"/>
              </a:rPr>
              <a:t> and associated physical infrastructures without regard to physical geography.</a:t>
            </a:r>
          </a:p>
          <a:p>
            <a:pPr algn="just"/>
            <a:r>
              <a:rPr lang="en-US" sz="3200" b="1" dirty="0">
                <a:latin typeface="Times New Roman" panose="02020603050405020304" pitchFamily="18" charset="0"/>
                <a:cs typeface="Times New Roman" panose="02020603050405020304" pitchFamily="18" charset="0"/>
              </a:rPr>
              <a:t>Internet or Intranet </a:t>
            </a:r>
            <a:r>
              <a:rPr lang="en-US" sz="3200" dirty="0">
                <a:latin typeface="Times New Roman" panose="02020603050405020304" pitchFamily="18" charset="0"/>
                <a:cs typeface="Times New Roman" panose="02020603050405020304" pitchFamily="18" charset="0"/>
              </a:rPr>
              <a:t>is the compulsory requirement of the cyberspace.</a:t>
            </a:r>
          </a:p>
        </p:txBody>
      </p:sp>
      <p:sp>
        <p:nvSpPr>
          <p:cNvPr id="4" name="Footer Placeholder 3">
            <a:extLst>
              <a:ext uri="{FF2B5EF4-FFF2-40B4-BE49-F238E27FC236}">
                <a16:creationId xmlns:a16="http://schemas.microsoft.com/office/drawing/2014/main" id="{3B0F9607-6DD7-1F7C-3484-E94E1654F8D7}"/>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082ECA6C-0C5A-B8CA-3A2A-E85A8A40EE88}"/>
              </a:ext>
            </a:extLst>
          </p:cNvPr>
          <p:cNvSpPr>
            <a:spLocks noGrp="1"/>
          </p:cNvSpPr>
          <p:nvPr>
            <p:ph type="sldNum" sz="quarter" idx="12"/>
          </p:nvPr>
        </p:nvSpPr>
        <p:spPr/>
        <p:txBody>
          <a:bodyPr/>
          <a:lstStyle/>
          <a:p>
            <a:fld id="{206048C0-C8B7-4832-8A8D-D83BA7A49C27}" type="slidenum">
              <a:rPr lang="en-US" smtClean="0"/>
              <a:pPr/>
              <a:t>2</a:t>
            </a:fld>
            <a:endParaRPr lang="en-US"/>
          </a:p>
        </p:txBody>
      </p:sp>
    </p:spTree>
    <p:extLst>
      <p:ext uri="{BB962C8B-B14F-4D97-AF65-F5344CB8AC3E}">
        <p14:creationId xmlns:p14="http://schemas.microsoft.com/office/powerpoint/2010/main" val="4217644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loud computing network&#10;&#10;Description automatically generated">
            <a:extLst>
              <a:ext uri="{FF2B5EF4-FFF2-40B4-BE49-F238E27FC236}">
                <a16:creationId xmlns:a16="http://schemas.microsoft.com/office/drawing/2014/main" id="{62625EEC-1F51-F9F9-5379-D6AC562EFD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0115" y="555171"/>
            <a:ext cx="11038114" cy="5714999"/>
          </a:xfrm>
        </p:spPr>
      </p:pic>
    </p:spTree>
    <p:extLst>
      <p:ext uri="{BB962C8B-B14F-4D97-AF65-F5344CB8AC3E}">
        <p14:creationId xmlns:p14="http://schemas.microsoft.com/office/powerpoint/2010/main" val="332883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Definition by US Department of Justice</a:t>
            </a:r>
          </a:p>
        </p:txBody>
      </p:sp>
      <p:sp>
        <p:nvSpPr>
          <p:cNvPr id="3" name="Content Placeholder 2"/>
          <p:cNvSpPr>
            <a:spLocks noGrp="1"/>
          </p:cNvSpPr>
          <p:nvPr>
            <p:ph idx="1"/>
          </p:nvPr>
        </p:nvSpPr>
        <p:spPr/>
        <p:txBody>
          <a:bodyPr>
            <a:noAutofit/>
          </a:bodyPr>
          <a:lstStyle/>
          <a:p>
            <a:pPr marL="514350" indent="-514350">
              <a:buNone/>
            </a:pPr>
            <a:r>
              <a:rPr lang="en-US" sz="3200" b="1" dirty="0">
                <a:solidFill>
                  <a:srgbClr val="002060"/>
                </a:solidFill>
                <a:latin typeface="Times New Roman" pitchFamily="18" charset="0"/>
                <a:cs typeface="Times New Roman" pitchFamily="18" charset="0"/>
              </a:rPr>
              <a:t>Cyber Crime is Act </a:t>
            </a:r>
            <a:r>
              <a:rPr lang="en-US" sz="3200" b="1" dirty="0">
                <a:latin typeface="Times New Roman" pitchFamily="18" charset="0"/>
                <a:cs typeface="Times New Roman" pitchFamily="18" charset="0"/>
              </a:rPr>
              <a:t>of</a:t>
            </a:r>
          </a:p>
          <a:p>
            <a:pPr algn="just">
              <a:buNone/>
            </a:pPr>
            <a:r>
              <a:rPr lang="en-US" sz="3200" dirty="0">
                <a:latin typeface="Times New Roman" pitchFamily="18" charset="0"/>
                <a:cs typeface="Times New Roman" pitchFamily="18" charset="0"/>
              </a:rPr>
              <a:t>	1) Creating, 2) Distributing, 3) Altering, 4) Stealing, 5) Misusing &amp; 6) Destroying </a:t>
            </a:r>
            <a:r>
              <a:rPr lang="en-US" sz="3200" b="1" dirty="0">
                <a:solidFill>
                  <a:schemeClr val="accent1"/>
                </a:solidFill>
                <a:latin typeface="Times New Roman" pitchFamily="18" charset="0"/>
                <a:cs typeface="Times New Roman" pitchFamily="18" charset="0"/>
              </a:rPr>
              <a:t>Information</a:t>
            </a:r>
            <a:r>
              <a:rPr lang="en-US" sz="3200" dirty="0">
                <a:latin typeface="Times New Roman" pitchFamily="18" charset="0"/>
                <a:cs typeface="Times New Roman" pitchFamily="18" charset="0"/>
              </a:rPr>
              <a:t> through the </a:t>
            </a:r>
            <a:r>
              <a:rPr lang="en-US" sz="3200" b="1" dirty="0">
                <a:solidFill>
                  <a:srgbClr val="002060"/>
                </a:solidFill>
                <a:latin typeface="Times New Roman" pitchFamily="18" charset="0"/>
                <a:cs typeface="Times New Roman" pitchFamily="18" charset="0"/>
              </a:rPr>
              <a:t>computer by </a:t>
            </a:r>
            <a:r>
              <a:rPr lang="en-US" sz="3200" b="1" dirty="0">
                <a:latin typeface="Times New Roman" pitchFamily="18" charset="0"/>
                <a:cs typeface="Times New Roman" pitchFamily="18" charset="0"/>
              </a:rPr>
              <a:t>Manipulation of cyberspace </a:t>
            </a:r>
            <a:r>
              <a:rPr lang="en-US" sz="3200" dirty="0">
                <a:latin typeface="Times New Roman" pitchFamily="18" charset="0"/>
                <a:cs typeface="Times New Roman" pitchFamily="18" charset="0"/>
              </a:rPr>
              <a:t>without the use of physical force &amp; </a:t>
            </a:r>
            <a:r>
              <a:rPr lang="en-US" sz="3200" b="1" dirty="0">
                <a:latin typeface="Times New Roman" pitchFamily="18" charset="0"/>
                <a:cs typeface="Times New Roman" pitchFamily="18" charset="0"/>
              </a:rPr>
              <a:t>a</a:t>
            </a:r>
            <a:r>
              <a:rPr lang="en-US" sz="3200" b="1" dirty="0">
                <a:solidFill>
                  <a:srgbClr val="002060"/>
                </a:solidFill>
                <a:latin typeface="Times New Roman" pitchFamily="18" charset="0"/>
                <a:cs typeface="Times New Roman" pitchFamily="18" charset="0"/>
              </a:rPr>
              <a:t>gainst the will or interest </a:t>
            </a:r>
            <a:r>
              <a:rPr lang="en-US" sz="3200" dirty="0">
                <a:solidFill>
                  <a:srgbClr val="002060"/>
                </a:solidFill>
                <a:latin typeface="Times New Roman" pitchFamily="18" charset="0"/>
                <a:cs typeface="Times New Roman" pitchFamily="18" charset="0"/>
              </a:rPr>
              <a:t>of the victim</a:t>
            </a:r>
            <a:r>
              <a:rPr lang="en-US" sz="3200" dirty="0">
                <a:latin typeface="Times New Roman" pitchFamily="18" charset="0"/>
                <a:cs typeface="Times New Roman" pitchFamily="18" charset="0"/>
              </a:rPr>
              <a:t>.</a:t>
            </a:r>
          </a:p>
          <a:p>
            <a:endParaRPr lang="en-US" sz="3200" dirty="0"/>
          </a:p>
        </p:txBody>
      </p:sp>
      <p:sp>
        <p:nvSpPr>
          <p:cNvPr id="4" name="Footer Placeholder 3">
            <a:extLst>
              <a:ext uri="{FF2B5EF4-FFF2-40B4-BE49-F238E27FC236}">
                <a16:creationId xmlns:a16="http://schemas.microsoft.com/office/drawing/2014/main" id="{8131DEA6-378E-2419-D388-145E2DBA22AA}"/>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442AA67F-5CE5-52C1-1583-54318096857C}"/>
              </a:ext>
            </a:extLst>
          </p:cNvPr>
          <p:cNvSpPr>
            <a:spLocks noGrp="1"/>
          </p:cNvSpPr>
          <p:nvPr>
            <p:ph type="sldNum" sz="quarter" idx="12"/>
          </p:nvPr>
        </p:nvSpPr>
        <p:spPr/>
        <p:txBody>
          <a:bodyPr/>
          <a:lstStyle/>
          <a:p>
            <a:fld id="{206048C0-C8B7-4832-8A8D-D83BA7A49C27}"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DA764-855B-E873-4747-200EF4676867}"/>
              </a:ext>
            </a:extLst>
          </p:cNvPr>
          <p:cNvSpPr>
            <a:spLocks noGrp="1"/>
          </p:cNvSpPr>
          <p:nvPr>
            <p:ph idx="1"/>
          </p:nvPr>
        </p:nvSpPr>
        <p:spPr>
          <a:xfrm>
            <a:off x="838200" y="533400"/>
            <a:ext cx="10515600" cy="5643563"/>
          </a:xfrm>
        </p:spPr>
        <p:txBody>
          <a:bodyPr>
            <a:normAutofit fontScale="92500" lnSpcReduction="10000"/>
          </a:bodyPr>
          <a:lstStyle/>
          <a:p>
            <a:pPr marL="0" indent="0">
              <a:buNone/>
            </a:pPr>
            <a:r>
              <a:rPr lang="en-US" sz="8000" dirty="0">
                <a:latin typeface="Times New Roman" panose="02020603050405020304" pitchFamily="18" charset="0"/>
                <a:cs typeface="Times New Roman" panose="02020603050405020304" pitchFamily="18" charset="0"/>
              </a:rPr>
              <a:t>Most striking feature of cybercrime is that they are </a:t>
            </a:r>
            <a:r>
              <a:rPr lang="en-US" sz="8000" b="1" dirty="0">
                <a:latin typeface="Times New Roman" panose="02020603050405020304" pitchFamily="18" charset="0"/>
                <a:cs typeface="Times New Roman" panose="02020603050405020304" pitchFamily="18" charset="0"/>
              </a:rPr>
              <a:t>relatively easy to commit, difficult to detect and even harder to prove.</a:t>
            </a:r>
          </a:p>
          <a:p>
            <a:endParaRPr lang="en-US" dirty="0"/>
          </a:p>
        </p:txBody>
      </p:sp>
    </p:spTree>
    <p:extLst>
      <p:ext uri="{BB962C8B-B14F-4D97-AF65-F5344CB8AC3E}">
        <p14:creationId xmlns:p14="http://schemas.microsoft.com/office/powerpoint/2010/main" val="92888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09A923-AD8A-4BA1-B90E-72BC8143781D}"/>
              </a:ext>
            </a:extLst>
          </p:cNvPr>
          <p:cNvSpPr>
            <a:spLocks noGrp="1"/>
          </p:cNvSpPr>
          <p:nvPr>
            <p:ph idx="1"/>
          </p:nvPr>
        </p:nvSpPr>
        <p:spPr>
          <a:xfrm>
            <a:off x="838200" y="1003691"/>
            <a:ext cx="10515600" cy="5505965"/>
          </a:xfrm>
        </p:spPr>
        <p:txBody>
          <a:bodyPr>
            <a:normAutofit/>
          </a:bodyPr>
          <a:lstStyle/>
          <a:p>
            <a:pPr marL="0" indent="0" algn="just">
              <a:buNone/>
            </a:pPr>
            <a:r>
              <a:rPr lang="en-US" sz="4000" b="1" dirty="0">
                <a:latin typeface="Times New Roman" panose="02020603050405020304" pitchFamily="18" charset="0"/>
                <a:cs typeface="Times New Roman" panose="02020603050405020304" pitchFamily="18" charset="0"/>
              </a:rPr>
              <a:t>Computer Related Crime/Cyber Crime</a:t>
            </a:r>
          </a:p>
          <a:p>
            <a:pPr marL="0" indent="0" algn="just">
              <a:buFont typeface="Wingdings" pitchFamily="2" charset="2"/>
              <a:buChar char="Ø"/>
            </a:pPr>
            <a:r>
              <a:rPr lang="en-US" sz="3600" dirty="0">
                <a:latin typeface="Times New Roman" panose="02020603050405020304" pitchFamily="18" charset="0"/>
                <a:cs typeface="Times New Roman" panose="02020603050405020304" pitchFamily="18" charset="0"/>
              </a:rPr>
              <a:t>The basic thing of the computer related crime is the 	involvement of computer or computer related 	technology in the crime.</a:t>
            </a:r>
          </a:p>
          <a:p>
            <a:pPr marL="0" indent="0" algn="just">
              <a:buFont typeface="Wingdings" pitchFamily="2" charset="2"/>
              <a:buChar char="Ø"/>
            </a:pPr>
            <a:r>
              <a:rPr lang="en-US" sz="3600" dirty="0">
                <a:latin typeface="Times New Roman" panose="02020603050405020304" pitchFamily="18" charset="0"/>
                <a:cs typeface="Times New Roman" panose="02020603050405020304" pitchFamily="18" charset="0"/>
              </a:rPr>
              <a:t>Cybercrimes are made possible by the </a:t>
            </a:r>
            <a:r>
              <a:rPr lang="en-US" sz="3600" b="1" dirty="0">
                <a:latin typeface="Times New Roman" panose="02020603050405020304" pitchFamily="18" charset="0"/>
                <a:cs typeface="Times New Roman" panose="02020603050405020304" pitchFamily="18" charset="0"/>
              </a:rPr>
              <a:t>combination 	of 	computers with internet or networks.</a:t>
            </a:r>
          </a:p>
          <a:p>
            <a:pPr marL="0" indent="0" algn="just">
              <a:buFont typeface="Wingdings" pitchFamily="2" charset="2"/>
              <a:buChar char="Ø"/>
            </a:pPr>
            <a:r>
              <a:rPr lang="en-US" sz="3600" dirty="0">
                <a:latin typeface="Times New Roman" panose="02020603050405020304" pitchFamily="18" charset="0"/>
                <a:cs typeface="Times New Roman" panose="02020603050405020304" pitchFamily="18" charset="0"/>
              </a:rPr>
              <a:t>The central or focal point of cybercrime is </a:t>
            </a:r>
            <a:r>
              <a:rPr lang="en-US" sz="3600" b="1" dirty="0">
                <a:latin typeface="Times New Roman" panose="02020603050405020304" pitchFamily="18" charset="0"/>
                <a:cs typeface="Times New Roman" panose="02020603050405020304" pitchFamily="18" charset="0"/>
              </a:rPr>
              <a:t>data </a:t>
            </a:r>
            <a:r>
              <a:rPr lang="en-US" sz="3600" dirty="0">
                <a:latin typeface="Times New Roman" panose="02020603050405020304" pitchFamily="18" charset="0"/>
                <a:cs typeface="Times New Roman" panose="02020603050405020304" pitchFamily="18" charset="0"/>
              </a:rPr>
              <a:t>with 	application of communication technology. </a:t>
            </a:r>
          </a:p>
        </p:txBody>
      </p:sp>
      <p:sp>
        <p:nvSpPr>
          <p:cNvPr id="2" name="Footer Placeholder 1">
            <a:extLst>
              <a:ext uri="{FF2B5EF4-FFF2-40B4-BE49-F238E27FC236}">
                <a16:creationId xmlns:a16="http://schemas.microsoft.com/office/drawing/2014/main" id="{39633486-8A37-89D5-4BE2-CAE6065F740C}"/>
              </a:ext>
            </a:extLst>
          </p:cNvPr>
          <p:cNvSpPr>
            <a:spLocks noGrp="1"/>
          </p:cNvSpPr>
          <p:nvPr>
            <p:ph type="ftr" sz="quarter" idx="11"/>
          </p:nvPr>
        </p:nvSpPr>
        <p:spPr/>
        <p:txBody>
          <a:bodyPr/>
          <a:lstStyle/>
          <a:p>
            <a:r>
              <a:rPr lang="en-US"/>
              <a:t>Cybercrime and Cyber Security</a:t>
            </a:r>
          </a:p>
        </p:txBody>
      </p:sp>
      <p:sp>
        <p:nvSpPr>
          <p:cNvPr id="4" name="Slide Number Placeholder 3">
            <a:extLst>
              <a:ext uri="{FF2B5EF4-FFF2-40B4-BE49-F238E27FC236}">
                <a16:creationId xmlns:a16="http://schemas.microsoft.com/office/drawing/2014/main" id="{022F60E1-AE4B-C607-A9CD-F7733358C402}"/>
              </a:ext>
            </a:extLst>
          </p:cNvPr>
          <p:cNvSpPr>
            <a:spLocks noGrp="1"/>
          </p:cNvSpPr>
          <p:nvPr>
            <p:ph type="sldNum" sz="quarter" idx="12"/>
          </p:nvPr>
        </p:nvSpPr>
        <p:spPr/>
        <p:txBody>
          <a:bodyPr/>
          <a:lstStyle/>
          <a:p>
            <a:fld id="{206048C0-C8B7-4832-8A8D-D83BA7A49C27}" type="slidenum">
              <a:rPr lang="en-US" smtClean="0"/>
              <a:pPr/>
              <a:t>6</a:t>
            </a:fld>
            <a:endParaRPr lang="en-US"/>
          </a:p>
        </p:txBody>
      </p:sp>
    </p:spTree>
    <p:extLst>
      <p:ext uri="{BB962C8B-B14F-4D97-AF65-F5344CB8AC3E}">
        <p14:creationId xmlns:p14="http://schemas.microsoft.com/office/powerpoint/2010/main" val="1226125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17714"/>
            <a:ext cx="8596668" cy="6654799"/>
          </a:xfrm>
        </p:spPr>
        <p:txBody>
          <a:bodyPr>
            <a:noAutofit/>
          </a:bodyPr>
          <a:lstStyle/>
          <a:p>
            <a:pPr marL="514350" indent="-514350">
              <a:buNone/>
            </a:pPr>
            <a:r>
              <a:rPr lang="en-US" sz="2800" b="1" dirty="0"/>
              <a:t>1. Cyber Dependent Crime</a:t>
            </a:r>
          </a:p>
          <a:p>
            <a:pPr marL="514350" indent="-514350">
              <a:buNone/>
            </a:pPr>
            <a:r>
              <a:rPr lang="en-US" sz="2800" b="1" dirty="0"/>
              <a:t>W</a:t>
            </a:r>
            <a:r>
              <a:rPr lang="en-US" sz="2800" dirty="0"/>
              <a:t>here a digital system is the target as well as the means of attack. </a:t>
            </a:r>
            <a:r>
              <a:rPr lang="en-US" sz="2800" dirty="0" err="1"/>
              <a:t>Eg</a:t>
            </a:r>
            <a:r>
              <a:rPr lang="en-US" sz="2800" dirty="0"/>
              <a:t>.</a:t>
            </a:r>
          </a:p>
          <a:p>
            <a:pPr marL="1314450" lvl="2" indent="-514350">
              <a:buFont typeface="Wingdings" pitchFamily="2" charset="2"/>
              <a:buChar char="§"/>
            </a:pPr>
            <a:r>
              <a:rPr lang="en-US" sz="2400" dirty="0"/>
              <a:t>	DOS</a:t>
            </a:r>
          </a:p>
          <a:p>
            <a:pPr marL="1314450" lvl="2" indent="-514350">
              <a:buFont typeface="Wingdings" pitchFamily="2" charset="2"/>
              <a:buChar char="§"/>
            </a:pPr>
            <a:r>
              <a:rPr lang="en-US" sz="2400" dirty="0"/>
              <a:t>	DDOS </a:t>
            </a:r>
            <a:endParaRPr lang="en-US" sz="2000" dirty="0"/>
          </a:p>
          <a:p>
            <a:pPr>
              <a:buNone/>
            </a:pPr>
            <a:r>
              <a:rPr lang="en-US" sz="2800" b="1" dirty="0"/>
              <a:t>2. Cyber Enabled Crime </a:t>
            </a:r>
          </a:p>
          <a:p>
            <a:pPr>
              <a:buNone/>
            </a:pPr>
            <a:r>
              <a:rPr lang="en-US" sz="2800" dirty="0"/>
              <a:t>	Use of cyber technology to commit other traditional crimes.  </a:t>
            </a:r>
          </a:p>
          <a:p>
            <a:pPr>
              <a:buNone/>
            </a:pPr>
            <a:r>
              <a:rPr lang="en-US" sz="2800" dirty="0"/>
              <a:t>	The use of the internet to facilitate drug dealing, people smuggling and many other 'traditional' crime.</a:t>
            </a:r>
          </a:p>
        </p:txBody>
      </p:sp>
      <p:sp>
        <p:nvSpPr>
          <p:cNvPr id="2" name="Footer Placeholder 1">
            <a:extLst>
              <a:ext uri="{FF2B5EF4-FFF2-40B4-BE49-F238E27FC236}">
                <a16:creationId xmlns:a16="http://schemas.microsoft.com/office/drawing/2014/main" id="{3ECE14EB-E00C-CE13-9888-F1825A5E0DB1}"/>
              </a:ext>
            </a:extLst>
          </p:cNvPr>
          <p:cNvSpPr>
            <a:spLocks noGrp="1"/>
          </p:cNvSpPr>
          <p:nvPr>
            <p:ph type="ftr" sz="quarter" idx="11"/>
          </p:nvPr>
        </p:nvSpPr>
        <p:spPr/>
        <p:txBody>
          <a:bodyPr/>
          <a:lstStyle/>
          <a:p>
            <a:r>
              <a:rPr lang="en-US"/>
              <a:t>Cybercrime and Cyber Security</a:t>
            </a:r>
          </a:p>
        </p:txBody>
      </p:sp>
      <p:sp>
        <p:nvSpPr>
          <p:cNvPr id="4" name="Slide Number Placeholder 3">
            <a:extLst>
              <a:ext uri="{FF2B5EF4-FFF2-40B4-BE49-F238E27FC236}">
                <a16:creationId xmlns:a16="http://schemas.microsoft.com/office/drawing/2014/main" id="{18705C5E-5B32-9B62-B96A-4AF7E61A9877}"/>
              </a:ext>
            </a:extLst>
          </p:cNvPr>
          <p:cNvSpPr>
            <a:spLocks noGrp="1"/>
          </p:cNvSpPr>
          <p:nvPr>
            <p:ph type="sldNum" sz="quarter" idx="12"/>
          </p:nvPr>
        </p:nvSpPr>
        <p:spPr/>
        <p:txBody>
          <a:bodyPr/>
          <a:lstStyle/>
          <a:p>
            <a:fld id="{206048C0-C8B7-4832-8A8D-D83BA7A49C27}"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1936A44-CDFB-3F8F-CA6A-28A4C6741415}"/>
              </a:ext>
            </a:extLst>
          </p:cNvPr>
          <p:cNvPicPr>
            <a:picLocks noGrp="1" noChangeAspect="1"/>
          </p:cNvPicPr>
          <p:nvPr>
            <p:ph idx="1"/>
          </p:nvPr>
        </p:nvPicPr>
        <p:blipFill>
          <a:blip r:embed="rId2"/>
          <a:stretch>
            <a:fillRect/>
          </a:stretch>
        </p:blipFill>
        <p:spPr>
          <a:xfrm>
            <a:off x="859971" y="682111"/>
            <a:ext cx="8850086" cy="1277318"/>
          </a:xfrm>
        </p:spPr>
      </p:pic>
      <p:sp>
        <p:nvSpPr>
          <p:cNvPr id="4" name="Footer Placeholder 3">
            <a:extLst>
              <a:ext uri="{FF2B5EF4-FFF2-40B4-BE49-F238E27FC236}">
                <a16:creationId xmlns:a16="http://schemas.microsoft.com/office/drawing/2014/main" id="{3DB9E107-05BF-6817-1D7B-29B6CD904183}"/>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43A52845-C54B-534A-B326-1AC273A9D31C}"/>
              </a:ext>
            </a:extLst>
          </p:cNvPr>
          <p:cNvSpPr>
            <a:spLocks noGrp="1"/>
          </p:cNvSpPr>
          <p:nvPr>
            <p:ph type="sldNum" sz="quarter" idx="12"/>
          </p:nvPr>
        </p:nvSpPr>
        <p:spPr/>
        <p:txBody>
          <a:bodyPr/>
          <a:lstStyle/>
          <a:p>
            <a:fld id="{206048C0-C8B7-4832-8A8D-D83BA7A49C27}" type="slidenum">
              <a:rPr lang="en-US" smtClean="0"/>
              <a:pPr/>
              <a:t>8</a:t>
            </a:fld>
            <a:endParaRPr lang="en-US"/>
          </a:p>
        </p:txBody>
      </p:sp>
      <p:pic>
        <p:nvPicPr>
          <p:cNvPr id="9" name="Picture 8">
            <a:extLst>
              <a:ext uri="{FF2B5EF4-FFF2-40B4-BE49-F238E27FC236}">
                <a16:creationId xmlns:a16="http://schemas.microsoft.com/office/drawing/2014/main" id="{C799452B-E6DD-1F62-79F4-566CDB82019C}"/>
              </a:ext>
            </a:extLst>
          </p:cNvPr>
          <p:cNvPicPr>
            <a:picLocks noChangeAspect="1"/>
          </p:cNvPicPr>
          <p:nvPr/>
        </p:nvPicPr>
        <p:blipFill>
          <a:blip r:embed="rId3"/>
          <a:stretch>
            <a:fillRect/>
          </a:stretch>
        </p:blipFill>
        <p:spPr>
          <a:xfrm>
            <a:off x="859972" y="1696272"/>
            <a:ext cx="8850086" cy="4791614"/>
          </a:xfrm>
          <a:prstGeom prst="rect">
            <a:avLst/>
          </a:prstGeom>
        </p:spPr>
      </p:pic>
    </p:spTree>
    <p:extLst>
      <p:ext uri="{BB962C8B-B14F-4D97-AF65-F5344CB8AC3E}">
        <p14:creationId xmlns:p14="http://schemas.microsoft.com/office/powerpoint/2010/main" val="2070394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E0D55FC-B2C1-1B95-65C9-036A5CBB7C24}"/>
              </a:ext>
            </a:extLst>
          </p:cNvPr>
          <p:cNvPicPr>
            <a:picLocks noGrp="1" noChangeAspect="1"/>
          </p:cNvPicPr>
          <p:nvPr>
            <p:ph idx="1"/>
          </p:nvPr>
        </p:nvPicPr>
        <p:blipFill>
          <a:blip r:embed="rId2"/>
          <a:stretch>
            <a:fillRect/>
          </a:stretch>
        </p:blipFill>
        <p:spPr>
          <a:xfrm>
            <a:off x="1164771" y="1349829"/>
            <a:ext cx="8392886" cy="4343400"/>
          </a:xfrm>
        </p:spPr>
      </p:pic>
      <p:sp>
        <p:nvSpPr>
          <p:cNvPr id="4" name="Footer Placeholder 3">
            <a:extLst>
              <a:ext uri="{FF2B5EF4-FFF2-40B4-BE49-F238E27FC236}">
                <a16:creationId xmlns:a16="http://schemas.microsoft.com/office/drawing/2014/main" id="{3BA7B130-C34F-9F20-41DC-CF9D61DD30D4}"/>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62A64C8C-FD91-C3E8-4BCB-8C4B703E1A9B}"/>
              </a:ext>
            </a:extLst>
          </p:cNvPr>
          <p:cNvSpPr>
            <a:spLocks noGrp="1"/>
          </p:cNvSpPr>
          <p:nvPr>
            <p:ph type="sldNum" sz="quarter" idx="12"/>
          </p:nvPr>
        </p:nvSpPr>
        <p:spPr/>
        <p:txBody>
          <a:bodyPr/>
          <a:lstStyle/>
          <a:p>
            <a:fld id="{206048C0-C8B7-4832-8A8D-D83BA7A49C27}" type="slidenum">
              <a:rPr lang="en-US" smtClean="0"/>
              <a:pPr/>
              <a:t>9</a:t>
            </a:fld>
            <a:endParaRPr lang="en-US"/>
          </a:p>
        </p:txBody>
      </p:sp>
      <p:sp>
        <p:nvSpPr>
          <p:cNvPr id="9" name="TextBox 8">
            <a:extLst>
              <a:ext uri="{FF2B5EF4-FFF2-40B4-BE49-F238E27FC236}">
                <a16:creationId xmlns:a16="http://schemas.microsoft.com/office/drawing/2014/main" id="{A62FD9D4-391C-30BE-ACA9-F0EEC9B415C4}"/>
              </a:ext>
            </a:extLst>
          </p:cNvPr>
          <p:cNvSpPr txBox="1"/>
          <p:nvPr/>
        </p:nvSpPr>
        <p:spPr>
          <a:xfrm>
            <a:off x="2329543" y="653143"/>
            <a:ext cx="5715000" cy="584775"/>
          </a:xfrm>
          <a:prstGeom prst="rect">
            <a:avLst/>
          </a:prstGeom>
          <a:noFill/>
        </p:spPr>
        <p:txBody>
          <a:bodyPr wrap="square" rtlCol="0">
            <a:spAutoFit/>
          </a:bodyPr>
          <a:lstStyle/>
          <a:p>
            <a:r>
              <a:rPr lang="en-GB" sz="1600" b="1" dirty="0"/>
              <a:t>Numbers of  Cybercrime Application on Cyber Bureau </a:t>
            </a:r>
          </a:p>
          <a:p>
            <a:pPr algn="ctr"/>
            <a:r>
              <a:rPr lang="en-GB" sz="1600" b="1" dirty="0"/>
              <a:t>Year Wise</a:t>
            </a:r>
            <a:endParaRPr lang="en-US" sz="1600" b="1" dirty="0"/>
          </a:p>
        </p:txBody>
      </p:sp>
    </p:spTree>
    <p:extLst>
      <p:ext uri="{BB962C8B-B14F-4D97-AF65-F5344CB8AC3E}">
        <p14:creationId xmlns:p14="http://schemas.microsoft.com/office/powerpoint/2010/main" val="3675901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F6C9C-E9C2-D564-0E2E-3418838CA1CC}"/>
              </a:ext>
            </a:extLst>
          </p:cNvPr>
          <p:cNvSpPr>
            <a:spLocks noGrp="1"/>
          </p:cNvSpPr>
          <p:nvPr>
            <p:ph type="title"/>
          </p:nvPr>
        </p:nvSpPr>
        <p:spPr/>
        <p:txBody>
          <a:bodyPr>
            <a:normAutofit fontScale="90000"/>
          </a:bodyPr>
          <a:lstStyle/>
          <a:p>
            <a:r>
              <a:rPr lang="ne-NP" dirty="0"/>
              <a:t>साइवर अपराधसँग सम्बन्धित मुख्य कानूनि व्यवस्थाहरु</a:t>
            </a:r>
            <a:endParaRPr lang="en-US" dirty="0"/>
          </a:p>
        </p:txBody>
      </p:sp>
      <p:sp>
        <p:nvSpPr>
          <p:cNvPr id="3" name="Content Placeholder 2">
            <a:extLst>
              <a:ext uri="{FF2B5EF4-FFF2-40B4-BE49-F238E27FC236}">
                <a16:creationId xmlns:a16="http://schemas.microsoft.com/office/drawing/2014/main" id="{20B7B21C-45E0-F879-E96A-FC15F12511AA}"/>
              </a:ext>
            </a:extLst>
          </p:cNvPr>
          <p:cNvSpPr>
            <a:spLocks noGrp="1"/>
          </p:cNvSpPr>
          <p:nvPr>
            <p:ph idx="1"/>
          </p:nvPr>
        </p:nvSpPr>
        <p:spPr/>
        <p:txBody>
          <a:bodyPr>
            <a:normAutofit/>
          </a:bodyPr>
          <a:lstStyle/>
          <a:p>
            <a:pPr marL="0" indent="0">
              <a:buNone/>
            </a:pPr>
            <a:r>
              <a:rPr lang="ne-NP" sz="3600" dirty="0">
                <a:cs typeface="Kalimati" panose="00000400000000000000" pitchFamily="2"/>
              </a:rPr>
              <a:t>विद्युतीय (इलेक्ट्रोनिक) कारोबार ऐन, २०६३</a:t>
            </a:r>
            <a:endParaRPr lang="en-US" sz="3600" dirty="0">
              <a:cs typeface="Kalimati" panose="00000400000000000000" pitchFamily="2"/>
            </a:endParaRPr>
          </a:p>
        </p:txBody>
      </p:sp>
      <p:sp>
        <p:nvSpPr>
          <p:cNvPr id="4" name="Footer Placeholder 3">
            <a:extLst>
              <a:ext uri="{FF2B5EF4-FFF2-40B4-BE49-F238E27FC236}">
                <a16:creationId xmlns:a16="http://schemas.microsoft.com/office/drawing/2014/main" id="{7495E0A1-B2C1-F6CE-ADBB-282B94B1C67B}"/>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F4E9D896-E5C3-1317-1346-0727B4D215F8}"/>
              </a:ext>
            </a:extLst>
          </p:cNvPr>
          <p:cNvSpPr>
            <a:spLocks noGrp="1"/>
          </p:cNvSpPr>
          <p:nvPr>
            <p:ph type="sldNum" sz="quarter" idx="12"/>
          </p:nvPr>
        </p:nvSpPr>
        <p:spPr/>
        <p:txBody>
          <a:bodyPr/>
          <a:lstStyle/>
          <a:p>
            <a:fld id="{206048C0-C8B7-4832-8A8D-D83BA7A49C27}" type="slidenum">
              <a:rPr lang="en-US" smtClean="0"/>
              <a:pPr/>
              <a:t>10</a:t>
            </a:fld>
            <a:endParaRPr lang="en-US"/>
          </a:p>
        </p:txBody>
      </p:sp>
    </p:spTree>
    <p:extLst>
      <p:ext uri="{BB962C8B-B14F-4D97-AF65-F5344CB8AC3E}">
        <p14:creationId xmlns:p14="http://schemas.microsoft.com/office/powerpoint/2010/main" val="385647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5A8D-3256-7307-9E80-B33CFEECCFE1}"/>
              </a:ext>
            </a:extLst>
          </p:cNvPr>
          <p:cNvSpPr>
            <a:spLocks noGrp="1"/>
          </p:cNvSpPr>
          <p:nvPr>
            <p:ph type="title"/>
          </p:nvPr>
        </p:nvSpPr>
        <p:spPr/>
        <p:txBody>
          <a:bodyPr>
            <a:normAutofit fontScale="90000"/>
          </a:bodyPr>
          <a:lstStyle/>
          <a:p>
            <a:r>
              <a:rPr lang="ne-NP" b="1" dirty="0"/>
              <a:t>कम्प्युटर स्रोत सङ्केतको चोरी, नष्ट वा परिवर्तन गर्ने</a:t>
            </a:r>
            <a:r>
              <a:rPr lang="en-US" b="1" dirty="0"/>
              <a:t> </a:t>
            </a:r>
            <a:r>
              <a:rPr lang="ne-NP" b="1" dirty="0"/>
              <a:t>(दफा ४४)</a:t>
            </a:r>
            <a:endParaRPr lang="en-US" b="1" dirty="0"/>
          </a:p>
        </p:txBody>
      </p:sp>
      <p:sp>
        <p:nvSpPr>
          <p:cNvPr id="3" name="Content Placeholder 2">
            <a:extLst>
              <a:ext uri="{FF2B5EF4-FFF2-40B4-BE49-F238E27FC236}">
                <a16:creationId xmlns:a16="http://schemas.microsoft.com/office/drawing/2014/main" id="{E681E7F1-2533-51FF-ADFB-EB9A884FA386}"/>
              </a:ext>
            </a:extLst>
          </p:cNvPr>
          <p:cNvSpPr>
            <a:spLocks noGrp="1"/>
          </p:cNvSpPr>
          <p:nvPr>
            <p:ph idx="1"/>
          </p:nvPr>
        </p:nvSpPr>
        <p:spPr>
          <a:xfrm>
            <a:off x="677334" y="2160589"/>
            <a:ext cx="11255586" cy="4425268"/>
          </a:xfrm>
        </p:spPr>
        <p:txBody>
          <a:bodyPr>
            <a:normAutofit lnSpcReduction="10000"/>
          </a:bodyPr>
          <a:lstStyle/>
          <a:p>
            <a:pPr marL="0" indent="0">
              <a:buNone/>
            </a:pPr>
            <a:r>
              <a:rPr lang="ne-NP" sz="3200" dirty="0"/>
              <a:t>प्रचलित कानूनले</a:t>
            </a:r>
            <a:r>
              <a:rPr lang="en-US" sz="3200" dirty="0"/>
              <a:t> </a:t>
            </a:r>
            <a:r>
              <a:rPr lang="ne-NP" sz="3200" dirty="0"/>
              <a:t>कम्प्युटर स्रोतको सङ्केत (सोर्स कोड) लाई यथाअवस्थामा राख्ने गरी तत्काल व्यवस्था</a:t>
            </a:r>
            <a:r>
              <a:rPr lang="en-US" sz="3200" dirty="0"/>
              <a:t> </a:t>
            </a:r>
            <a:r>
              <a:rPr lang="ne-NP" sz="3200" dirty="0"/>
              <a:t>गरेको अवस्थामा कुनै व्यक्तिले कुनै कम्प्युटर, कम्प्युटर कार्यक्रम, कम्प्युटर</a:t>
            </a:r>
            <a:r>
              <a:rPr lang="en-US" sz="3200" dirty="0"/>
              <a:t> </a:t>
            </a:r>
            <a:r>
              <a:rPr lang="ne-NP" sz="3200" dirty="0"/>
              <a:t>प्रणाली वा कम्प्युटर नेटवर्कका लागि प्रयोग हुने </a:t>
            </a:r>
            <a:r>
              <a:rPr lang="ne-NP" sz="3200" dirty="0">
                <a:solidFill>
                  <a:schemeClr val="accent5"/>
                </a:solidFill>
              </a:rPr>
              <a:t>कम्प्युटर स्रोतको सङ्केत (सोर्सकोड) लाई जानी जानी वा बद्नियत राखी </a:t>
            </a:r>
            <a:r>
              <a:rPr lang="ne-NP" sz="3200" dirty="0">
                <a:solidFill>
                  <a:srgbClr val="C00000"/>
                </a:solidFill>
              </a:rPr>
              <a:t>चोरी गरेमा</a:t>
            </a:r>
            <a:r>
              <a:rPr lang="ne-NP" sz="3200" dirty="0">
                <a:solidFill>
                  <a:schemeClr val="accent5"/>
                </a:solidFill>
              </a:rPr>
              <a:t>, नष्ट गरेमा, परिवर्तन</a:t>
            </a:r>
            <a:r>
              <a:rPr lang="en-US" sz="3200" dirty="0">
                <a:solidFill>
                  <a:schemeClr val="accent5"/>
                </a:solidFill>
              </a:rPr>
              <a:t> </a:t>
            </a:r>
            <a:r>
              <a:rPr lang="ne-NP" sz="3200" dirty="0">
                <a:solidFill>
                  <a:schemeClr val="accent5"/>
                </a:solidFill>
              </a:rPr>
              <a:t>गरेमा</a:t>
            </a:r>
            <a:r>
              <a:rPr lang="ne-NP" sz="3200" dirty="0"/>
              <a:t> वा त्यस्तो काम गर्न लगाएमा निजलाई तीन वर्षसम्म कैद वा दुई लाखरुपैयाँ सम्म जरिबाना वा दुवै सजाय हुनेछ । </a:t>
            </a:r>
            <a:endParaRPr lang="en-US" sz="3200" dirty="0"/>
          </a:p>
          <a:p>
            <a:pPr marL="0" indent="0">
              <a:buNone/>
            </a:pPr>
            <a:r>
              <a:rPr lang="en-US" sz="3200" b="1" dirty="0"/>
              <a:t>Open and secret source code </a:t>
            </a:r>
          </a:p>
        </p:txBody>
      </p:sp>
      <p:sp>
        <p:nvSpPr>
          <p:cNvPr id="4" name="Footer Placeholder 3">
            <a:extLst>
              <a:ext uri="{FF2B5EF4-FFF2-40B4-BE49-F238E27FC236}">
                <a16:creationId xmlns:a16="http://schemas.microsoft.com/office/drawing/2014/main" id="{61224F03-A877-D491-F1F2-24CD64A75722}"/>
              </a:ext>
            </a:extLst>
          </p:cNvPr>
          <p:cNvSpPr>
            <a:spLocks noGrp="1"/>
          </p:cNvSpPr>
          <p:nvPr>
            <p:ph type="ftr" sz="quarter" idx="11"/>
          </p:nvPr>
        </p:nvSpPr>
        <p:spPr/>
        <p:txBody>
          <a:bodyPr/>
          <a:lstStyle/>
          <a:p>
            <a:r>
              <a:rPr lang="en-US" dirty="0"/>
              <a:t>Cybercrime and Cyber Security</a:t>
            </a:r>
          </a:p>
        </p:txBody>
      </p:sp>
      <p:sp>
        <p:nvSpPr>
          <p:cNvPr id="5" name="Slide Number Placeholder 4">
            <a:extLst>
              <a:ext uri="{FF2B5EF4-FFF2-40B4-BE49-F238E27FC236}">
                <a16:creationId xmlns:a16="http://schemas.microsoft.com/office/drawing/2014/main" id="{9C776590-ABED-749E-E990-16974A3483B7}"/>
              </a:ext>
            </a:extLst>
          </p:cNvPr>
          <p:cNvSpPr>
            <a:spLocks noGrp="1"/>
          </p:cNvSpPr>
          <p:nvPr>
            <p:ph type="sldNum" sz="quarter" idx="12"/>
          </p:nvPr>
        </p:nvSpPr>
        <p:spPr/>
        <p:txBody>
          <a:bodyPr/>
          <a:lstStyle/>
          <a:p>
            <a:fld id="{206048C0-C8B7-4832-8A8D-D83BA7A49C27}" type="slidenum">
              <a:rPr lang="en-US" smtClean="0"/>
              <a:pPr/>
              <a:t>11</a:t>
            </a:fld>
            <a:endParaRPr lang="en-US"/>
          </a:p>
        </p:txBody>
      </p:sp>
    </p:spTree>
    <p:extLst>
      <p:ext uri="{BB962C8B-B14F-4D97-AF65-F5344CB8AC3E}">
        <p14:creationId xmlns:p14="http://schemas.microsoft.com/office/powerpoint/2010/main" val="3704241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42EF4-B02F-8839-C388-E6AE602B396A}"/>
              </a:ext>
            </a:extLst>
          </p:cNvPr>
          <p:cNvSpPr>
            <a:spLocks noGrp="1"/>
          </p:cNvSpPr>
          <p:nvPr>
            <p:ph type="title"/>
          </p:nvPr>
        </p:nvSpPr>
        <p:spPr/>
        <p:txBody>
          <a:bodyPr>
            <a:normAutofit fontScale="90000"/>
          </a:bodyPr>
          <a:lstStyle/>
          <a:p>
            <a:r>
              <a:rPr lang="ne-NP" b="1" dirty="0"/>
              <a:t>कम्प्युटर सामग्रीमा अनधिकृत पहुँच (दफा ४५)</a:t>
            </a:r>
            <a:endParaRPr lang="en-US" b="1" dirty="0"/>
          </a:p>
        </p:txBody>
      </p:sp>
      <p:sp>
        <p:nvSpPr>
          <p:cNvPr id="3" name="Content Placeholder 2">
            <a:extLst>
              <a:ext uri="{FF2B5EF4-FFF2-40B4-BE49-F238E27FC236}">
                <a16:creationId xmlns:a16="http://schemas.microsoft.com/office/drawing/2014/main" id="{FC728B5B-6184-F084-1312-D4629D41B021}"/>
              </a:ext>
            </a:extLst>
          </p:cNvPr>
          <p:cNvSpPr>
            <a:spLocks noGrp="1"/>
          </p:cNvSpPr>
          <p:nvPr>
            <p:ph idx="1"/>
          </p:nvPr>
        </p:nvSpPr>
        <p:spPr>
          <a:xfrm>
            <a:off x="677334" y="1807029"/>
            <a:ext cx="11255586" cy="4887684"/>
          </a:xfrm>
        </p:spPr>
        <p:txBody>
          <a:bodyPr>
            <a:normAutofit/>
          </a:bodyPr>
          <a:lstStyle/>
          <a:p>
            <a:pPr marL="0" indent="0">
              <a:buNone/>
            </a:pPr>
            <a:r>
              <a:rPr lang="ne-NP" sz="3200" dirty="0"/>
              <a:t>कुनै व्यक्तिले कुनै कम्प्युटरमा रहेको कुनै </a:t>
            </a:r>
            <a:r>
              <a:rPr lang="ne-NP" sz="3200" dirty="0">
                <a:solidFill>
                  <a:srgbClr val="C00000"/>
                </a:solidFill>
              </a:rPr>
              <a:t>कार्यक्रम, सूचना वा तथ्याङ्कमा पहुँच प्राप्त गर्ने मनसायबाट</a:t>
            </a:r>
            <a:r>
              <a:rPr lang="ne-NP" sz="3200" dirty="0"/>
              <a:t> सो </a:t>
            </a:r>
            <a:r>
              <a:rPr lang="ne-NP" sz="3200" dirty="0">
                <a:solidFill>
                  <a:srgbClr val="C00000"/>
                </a:solidFill>
              </a:rPr>
              <a:t>कम्प्युटरको धनी वा जिम्मेवार व्यक्तिबाट कुनै अख्तियारी नलिई </a:t>
            </a:r>
            <a:r>
              <a:rPr lang="ne-NP" sz="3200" dirty="0"/>
              <a:t>सो </a:t>
            </a:r>
            <a:r>
              <a:rPr lang="ne-NP" sz="3200" dirty="0">
                <a:solidFill>
                  <a:srgbClr val="C00000"/>
                </a:solidFill>
              </a:rPr>
              <a:t>कम्प्युटरको प्रयोग गरेमा </a:t>
            </a:r>
            <a:r>
              <a:rPr lang="ne-NP" sz="3200" dirty="0"/>
              <a:t>वा </a:t>
            </a:r>
            <a:r>
              <a:rPr lang="ne-NP" sz="3200" dirty="0">
                <a:solidFill>
                  <a:srgbClr val="C00000"/>
                </a:solidFill>
              </a:rPr>
              <a:t>अख्तियारी लिएको अवस्थामा पनि अख्तियारी दिइएको भन्दा भिन्न कुनै कार्यक्रम, सूचना वा तथ्याङ्कमा पहुँच प्राप्त गर्ने उद्देश्यले कुनै कार्य गरेमा</a:t>
            </a:r>
            <a:r>
              <a:rPr lang="ne-NP" sz="3200" dirty="0"/>
              <a:t> निजलाई कसूरको गम्भीरता हेरी दुई लाख रुपैयाँ सम्म जरिबाना वा तीन वर्षसम्म कैद वा दुवै सजाय हुनेछ ।</a:t>
            </a:r>
            <a:endParaRPr lang="en-US" sz="3200" dirty="0"/>
          </a:p>
        </p:txBody>
      </p:sp>
      <p:sp>
        <p:nvSpPr>
          <p:cNvPr id="4" name="Footer Placeholder 3">
            <a:extLst>
              <a:ext uri="{FF2B5EF4-FFF2-40B4-BE49-F238E27FC236}">
                <a16:creationId xmlns:a16="http://schemas.microsoft.com/office/drawing/2014/main" id="{EE11DC07-28F5-2A50-0C0A-9CAD464F0D12}"/>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D687EC22-637D-5A62-629D-C44558F1F1AD}"/>
              </a:ext>
            </a:extLst>
          </p:cNvPr>
          <p:cNvSpPr>
            <a:spLocks noGrp="1"/>
          </p:cNvSpPr>
          <p:nvPr>
            <p:ph type="sldNum" sz="quarter" idx="12"/>
          </p:nvPr>
        </p:nvSpPr>
        <p:spPr/>
        <p:txBody>
          <a:bodyPr/>
          <a:lstStyle/>
          <a:p>
            <a:fld id="{206048C0-C8B7-4832-8A8D-D83BA7A49C27}" type="slidenum">
              <a:rPr lang="en-US" smtClean="0"/>
              <a:pPr/>
              <a:t>12</a:t>
            </a:fld>
            <a:endParaRPr lang="en-US"/>
          </a:p>
        </p:txBody>
      </p:sp>
    </p:spTree>
    <p:extLst>
      <p:ext uri="{BB962C8B-B14F-4D97-AF65-F5344CB8AC3E}">
        <p14:creationId xmlns:p14="http://schemas.microsoft.com/office/powerpoint/2010/main" val="2088854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3D061-E26F-3334-1CB1-4317AB15F1E5}"/>
              </a:ext>
            </a:extLst>
          </p:cNvPr>
          <p:cNvSpPr>
            <a:spLocks noGrp="1"/>
          </p:cNvSpPr>
          <p:nvPr>
            <p:ph type="title"/>
          </p:nvPr>
        </p:nvSpPr>
        <p:spPr/>
        <p:txBody>
          <a:bodyPr>
            <a:normAutofit fontScale="90000"/>
          </a:bodyPr>
          <a:lstStyle/>
          <a:p>
            <a:r>
              <a:rPr lang="ne-NP" b="1" dirty="0"/>
              <a:t>कम्प्युटर र सूचना प्रणालीमा क्षति </a:t>
            </a:r>
            <a:r>
              <a:rPr lang="ne-NP" b="1" i="0" dirty="0">
                <a:effectLst/>
                <a:latin typeface="system-ui"/>
              </a:rPr>
              <a:t>पुर्‍याउने</a:t>
            </a:r>
            <a:br>
              <a:rPr lang="ne-NP" b="1" i="0" dirty="0">
                <a:effectLst/>
                <a:latin typeface="system-ui"/>
              </a:rPr>
            </a:br>
            <a:r>
              <a:rPr lang="ne-NP" b="1" dirty="0"/>
              <a:t>(दफा ४६)</a:t>
            </a:r>
            <a:endParaRPr lang="en-US" b="1" dirty="0"/>
          </a:p>
        </p:txBody>
      </p:sp>
      <p:sp>
        <p:nvSpPr>
          <p:cNvPr id="3" name="Content Placeholder 2">
            <a:extLst>
              <a:ext uri="{FF2B5EF4-FFF2-40B4-BE49-F238E27FC236}">
                <a16:creationId xmlns:a16="http://schemas.microsoft.com/office/drawing/2014/main" id="{ADD01E92-9286-A05B-EDCE-9069E3519A80}"/>
              </a:ext>
            </a:extLst>
          </p:cNvPr>
          <p:cNvSpPr>
            <a:spLocks noGrp="1"/>
          </p:cNvSpPr>
          <p:nvPr>
            <p:ph idx="1"/>
          </p:nvPr>
        </p:nvSpPr>
        <p:spPr>
          <a:xfrm>
            <a:off x="677334" y="2160589"/>
            <a:ext cx="11255586" cy="4621211"/>
          </a:xfrm>
        </p:spPr>
        <p:txBody>
          <a:bodyPr>
            <a:normAutofit/>
          </a:bodyPr>
          <a:lstStyle/>
          <a:p>
            <a:pPr marL="0" indent="0">
              <a:buNone/>
            </a:pPr>
            <a:r>
              <a:rPr lang="ne-NP" sz="3200" dirty="0"/>
              <a:t>कुनै व्यक्तिले कुनै संस्थालाई गलत तरिकाले हानि नोक्सानी </a:t>
            </a:r>
            <a:r>
              <a:rPr lang="ne-NP" sz="3500" b="0" i="0" dirty="0">
                <a:effectLst/>
                <a:latin typeface="system-ui"/>
              </a:rPr>
              <a:t>पुर्‍याउने</a:t>
            </a:r>
            <a:r>
              <a:rPr lang="ne-NP" sz="5400" b="0" i="0" dirty="0">
                <a:effectLst/>
                <a:latin typeface="system-ui"/>
              </a:rPr>
              <a:t> </a:t>
            </a:r>
            <a:r>
              <a:rPr lang="ne-NP" sz="3200" dirty="0"/>
              <a:t>मनसाय राखी जानी जानी कम्प्युटर सम्पदामा रहेको कुनै सूचनालाई कुनै पनि व्यहोराबाट </a:t>
            </a:r>
            <a:r>
              <a:rPr lang="ne-NP" sz="3200" dirty="0">
                <a:solidFill>
                  <a:srgbClr val="C00000"/>
                </a:solidFill>
              </a:rPr>
              <a:t>नष्ट गरेमा, क्षति </a:t>
            </a:r>
            <a:r>
              <a:rPr lang="ne-NP" sz="3200" b="0" i="0" dirty="0">
                <a:solidFill>
                  <a:srgbClr val="C00000"/>
                </a:solidFill>
                <a:effectLst/>
                <a:latin typeface="system-ui"/>
              </a:rPr>
              <a:t>पुर्‍याएमा</a:t>
            </a:r>
            <a:r>
              <a:rPr lang="ne-NP" sz="3200" dirty="0">
                <a:solidFill>
                  <a:srgbClr val="C00000"/>
                </a:solidFill>
              </a:rPr>
              <a:t>, मेटाएमा, हेरफेर गरेमा, काम नलाग्ने बनाएमा वा त्यस्तो सूचनाको मूल्य र प्रयोगको महत्वलाई ह्रास गराएमा वा हानिकारक प्रभाव पारेमा वा कसैलाई त्यस्तो काम गर्न लगाएमा</a:t>
            </a:r>
            <a:r>
              <a:rPr lang="ne-NP" sz="3200" dirty="0"/>
              <a:t> निजलाई दुई लाख रुपैया“सम्म जरिबाना वा तीन वर्षसम्म कैद वा दुवै सजाय हुनेछ ।</a:t>
            </a:r>
            <a:endParaRPr lang="en-US" sz="3200" dirty="0"/>
          </a:p>
        </p:txBody>
      </p:sp>
      <p:sp>
        <p:nvSpPr>
          <p:cNvPr id="4" name="Footer Placeholder 3">
            <a:extLst>
              <a:ext uri="{FF2B5EF4-FFF2-40B4-BE49-F238E27FC236}">
                <a16:creationId xmlns:a16="http://schemas.microsoft.com/office/drawing/2014/main" id="{69C72308-7944-DD9C-3A7E-7F9BCD9EC49C}"/>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2FF9F19B-6B5A-F3E7-3B7F-EBBCAC125AE2}"/>
              </a:ext>
            </a:extLst>
          </p:cNvPr>
          <p:cNvSpPr>
            <a:spLocks noGrp="1"/>
          </p:cNvSpPr>
          <p:nvPr>
            <p:ph type="sldNum" sz="quarter" idx="12"/>
          </p:nvPr>
        </p:nvSpPr>
        <p:spPr/>
        <p:txBody>
          <a:bodyPr/>
          <a:lstStyle/>
          <a:p>
            <a:fld id="{206048C0-C8B7-4832-8A8D-D83BA7A49C27}" type="slidenum">
              <a:rPr lang="en-US" smtClean="0"/>
              <a:pPr/>
              <a:t>13</a:t>
            </a:fld>
            <a:endParaRPr lang="en-US"/>
          </a:p>
        </p:txBody>
      </p:sp>
    </p:spTree>
    <p:extLst>
      <p:ext uri="{BB962C8B-B14F-4D97-AF65-F5344CB8AC3E}">
        <p14:creationId xmlns:p14="http://schemas.microsoft.com/office/powerpoint/2010/main" val="876307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777BC-51C5-9774-7A47-18F4A215D387}"/>
              </a:ext>
            </a:extLst>
          </p:cNvPr>
          <p:cNvSpPr>
            <a:spLocks noGrp="1"/>
          </p:cNvSpPr>
          <p:nvPr>
            <p:ph type="title"/>
          </p:nvPr>
        </p:nvSpPr>
        <p:spPr/>
        <p:txBody>
          <a:bodyPr>
            <a:normAutofit fontScale="90000"/>
          </a:bodyPr>
          <a:lstStyle/>
          <a:p>
            <a:r>
              <a:rPr lang="ne-NP" b="1" dirty="0"/>
              <a:t>विद्युतीय स्वरुपमा गैरकानूनी कुरा प्रकाशन गर्ने (दफा ४७)</a:t>
            </a:r>
            <a:endParaRPr lang="en-US" b="1" dirty="0"/>
          </a:p>
        </p:txBody>
      </p:sp>
      <p:sp>
        <p:nvSpPr>
          <p:cNvPr id="3" name="Content Placeholder 2">
            <a:extLst>
              <a:ext uri="{FF2B5EF4-FFF2-40B4-BE49-F238E27FC236}">
                <a16:creationId xmlns:a16="http://schemas.microsoft.com/office/drawing/2014/main" id="{BC1C3281-90EC-AFAF-4CCA-8D02DD4F66F2}"/>
              </a:ext>
            </a:extLst>
          </p:cNvPr>
          <p:cNvSpPr>
            <a:spLocks noGrp="1"/>
          </p:cNvSpPr>
          <p:nvPr>
            <p:ph idx="1"/>
          </p:nvPr>
        </p:nvSpPr>
        <p:spPr>
          <a:xfrm>
            <a:off x="677334" y="1774371"/>
            <a:ext cx="11255586" cy="5083629"/>
          </a:xfrm>
        </p:spPr>
        <p:txBody>
          <a:bodyPr>
            <a:normAutofit/>
          </a:bodyPr>
          <a:lstStyle/>
          <a:p>
            <a:pPr marL="0" indent="0">
              <a:buNone/>
            </a:pPr>
            <a:r>
              <a:rPr lang="ne-NP" sz="3200" dirty="0">
                <a:cs typeface="Kalimati" pitchFamily="2"/>
              </a:rPr>
              <a:t>कम्प्युटर, इन्टरनेट लगायतका विद्युतीय सञ्चार माध्यमहरुमा प्रचलित कानूनले प्रकाशन तथा प्रर्दशन गर्न नहुने भनी रोक लगाएका सामग्रीहरु वा सार्वजनिक नैतिकता, शिष्टाचार विरुद्धका सामग्री वा कसैप्रति घृणा वा द्वेष फैलाउने वा विभिन्न जात जाति र सम्प्रदायबीचको सुमधुर सम्बन्धलाई खलल पार्ने किसिमका सामग्रीहरु प्रकाशन वा प्रदर्शन गर्ने, </a:t>
            </a:r>
            <a:r>
              <a:rPr lang="ne-NP" sz="3200" b="1" i="1" dirty="0">
                <a:cs typeface="Kalimati" pitchFamily="2"/>
              </a:rPr>
              <a:t>महिलालाई जिस्क्याउने, हैरानी गर्ने, अपमान गर्ने वा यस्तै अन्य कुनै किसिमको अमर्यादित कार्य गर्ने </a:t>
            </a:r>
            <a:r>
              <a:rPr lang="en-US" sz="3200" b="1" i="1" dirty="0">
                <a:cs typeface="Kalimati" pitchFamily="2"/>
              </a:rPr>
              <a:t>(</a:t>
            </a:r>
            <a:r>
              <a:rPr lang="ne-NP" sz="3200" b="1" i="1" dirty="0">
                <a:cs typeface="Kalimati" pitchFamily="2"/>
              </a:rPr>
              <a:t>२०७२।६।१४ मा थप</a:t>
            </a:r>
            <a:r>
              <a:rPr lang="en-US" sz="3200" b="1" i="1" dirty="0">
                <a:cs typeface="Kalimati" pitchFamily="2"/>
              </a:rPr>
              <a:t>) </a:t>
            </a:r>
            <a:r>
              <a:rPr lang="ne-NP" sz="3200" dirty="0">
                <a:cs typeface="Kalimati" pitchFamily="2"/>
              </a:rPr>
              <a:t>वा गर्न लगाउने व्यक्तिलाई एक लाख रुपैयाँसम्म जरिबाना वा पाँच वर्षसम्म कैद वा दुवै सजाय हुनेछ ।</a:t>
            </a:r>
            <a:endParaRPr lang="en-US" sz="3200" dirty="0"/>
          </a:p>
        </p:txBody>
      </p:sp>
      <p:sp>
        <p:nvSpPr>
          <p:cNvPr id="4" name="Footer Placeholder 3">
            <a:extLst>
              <a:ext uri="{FF2B5EF4-FFF2-40B4-BE49-F238E27FC236}">
                <a16:creationId xmlns:a16="http://schemas.microsoft.com/office/drawing/2014/main" id="{A6C5F72F-42A5-3FA3-F9D9-7524590A108E}"/>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29CD512B-D17E-94BB-3963-2B2414D8A627}"/>
              </a:ext>
            </a:extLst>
          </p:cNvPr>
          <p:cNvSpPr>
            <a:spLocks noGrp="1"/>
          </p:cNvSpPr>
          <p:nvPr>
            <p:ph type="sldNum" sz="quarter" idx="12"/>
          </p:nvPr>
        </p:nvSpPr>
        <p:spPr/>
        <p:txBody>
          <a:bodyPr/>
          <a:lstStyle/>
          <a:p>
            <a:fld id="{206048C0-C8B7-4832-8A8D-D83BA7A49C27}" type="slidenum">
              <a:rPr lang="en-US" smtClean="0"/>
              <a:pPr/>
              <a:t>14</a:t>
            </a:fld>
            <a:endParaRPr lang="en-US"/>
          </a:p>
        </p:txBody>
      </p:sp>
    </p:spTree>
    <p:extLst>
      <p:ext uri="{BB962C8B-B14F-4D97-AF65-F5344CB8AC3E}">
        <p14:creationId xmlns:p14="http://schemas.microsoft.com/office/powerpoint/2010/main" val="3667353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AA75C28-C539-0703-78B7-C06B389F19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572" y="489858"/>
            <a:ext cx="7717971" cy="6281056"/>
          </a:xfrm>
        </p:spPr>
      </p:pic>
    </p:spTree>
    <p:extLst>
      <p:ext uri="{BB962C8B-B14F-4D97-AF65-F5344CB8AC3E}">
        <p14:creationId xmlns:p14="http://schemas.microsoft.com/office/powerpoint/2010/main" val="2202991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A24C-38B5-83A8-4E9D-2C09A821101A}"/>
              </a:ext>
            </a:extLst>
          </p:cNvPr>
          <p:cNvSpPr>
            <a:spLocks noGrp="1"/>
          </p:cNvSpPr>
          <p:nvPr>
            <p:ph type="title"/>
          </p:nvPr>
        </p:nvSpPr>
        <p:spPr/>
        <p:txBody>
          <a:bodyPr/>
          <a:lstStyle/>
          <a:p>
            <a:r>
              <a:rPr lang="ne-NP" b="1" dirty="0">
                <a:cs typeface="Kalimati" panose="00000400000000000000" pitchFamily="2"/>
              </a:rPr>
              <a:t>के हो त उक्त अपाराध ?</a:t>
            </a:r>
            <a:endParaRPr lang="en-US" b="1" dirty="0">
              <a:cs typeface="Kalimati" panose="00000400000000000000" pitchFamily="2"/>
            </a:endParaRPr>
          </a:p>
        </p:txBody>
      </p:sp>
      <p:sp>
        <p:nvSpPr>
          <p:cNvPr id="3" name="Content Placeholder 2">
            <a:extLst>
              <a:ext uri="{FF2B5EF4-FFF2-40B4-BE49-F238E27FC236}">
                <a16:creationId xmlns:a16="http://schemas.microsoft.com/office/drawing/2014/main" id="{4A62E294-EF78-CB2F-93E5-D9444DC47D67}"/>
              </a:ext>
            </a:extLst>
          </p:cNvPr>
          <p:cNvSpPr>
            <a:spLocks noGrp="1"/>
          </p:cNvSpPr>
          <p:nvPr>
            <p:ph idx="1"/>
          </p:nvPr>
        </p:nvSpPr>
        <p:spPr/>
        <p:txBody>
          <a:bodyPr>
            <a:normAutofit/>
          </a:bodyPr>
          <a:lstStyle/>
          <a:p>
            <a:pPr marL="0" indent="0">
              <a:buNone/>
            </a:pPr>
            <a:r>
              <a:rPr lang="en-GB" sz="4000" dirty="0"/>
              <a:t>Unauthorized Access?</a:t>
            </a:r>
          </a:p>
          <a:p>
            <a:pPr marL="0" indent="0">
              <a:buNone/>
            </a:pPr>
            <a:r>
              <a:rPr lang="en-GB" sz="4000" dirty="0"/>
              <a:t>Fishing?</a:t>
            </a:r>
          </a:p>
          <a:p>
            <a:pPr marL="0" indent="0">
              <a:buNone/>
            </a:pPr>
            <a:r>
              <a:rPr lang="en-GB" sz="4000" dirty="0"/>
              <a:t>Link Manipulation?</a:t>
            </a:r>
          </a:p>
          <a:p>
            <a:pPr marL="0" indent="0">
              <a:buNone/>
            </a:pPr>
            <a:endParaRPr lang="en-GB" sz="4000" dirty="0"/>
          </a:p>
          <a:p>
            <a:pPr marL="0" indent="0">
              <a:buNone/>
            </a:pPr>
            <a:r>
              <a:rPr lang="en-GB" sz="4000" dirty="0"/>
              <a:t>Or  other?</a:t>
            </a:r>
            <a:endParaRPr lang="en-US" sz="4000" dirty="0"/>
          </a:p>
        </p:txBody>
      </p:sp>
    </p:spTree>
    <p:extLst>
      <p:ext uri="{BB962C8B-B14F-4D97-AF65-F5344CB8AC3E}">
        <p14:creationId xmlns:p14="http://schemas.microsoft.com/office/powerpoint/2010/main" val="2740116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CFDE-B921-D933-358B-806AA500D60E}"/>
              </a:ext>
            </a:extLst>
          </p:cNvPr>
          <p:cNvSpPr>
            <a:spLocks noGrp="1"/>
          </p:cNvSpPr>
          <p:nvPr>
            <p:ph type="title"/>
          </p:nvPr>
        </p:nvSpPr>
        <p:spPr/>
        <p:txBody>
          <a:bodyPr/>
          <a:lstStyle/>
          <a:p>
            <a:r>
              <a:rPr lang="ne-NP" b="1" dirty="0">
                <a:cs typeface="Kalimati" panose="00000400000000000000" pitchFamily="2"/>
              </a:rPr>
              <a:t>केहि मुद्दाहरु </a:t>
            </a:r>
            <a:endParaRPr lang="en-US" b="1" dirty="0">
              <a:cs typeface="Kalimati" panose="00000400000000000000" pitchFamily="2"/>
            </a:endParaRPr>
          </a:p>
        </p:txBody>
      </p:sp>
      <p:sp>
        <p:nvSpPr>
          <p:cNvPr id="3" name="Content Placeholder 2">
            <a:extLst>
              <a:ext uri="{FF2B5EF4-FFF2-40B4-BE49-F238E27FC236}">
                <a16:creationId xmlns:a16="http://schemas.microsoft.com/office/drawing/2014/main" id="{7C72D0B5-A768-06CC-ACCC-5C836F3B1920}"/>
              </a:ext>
            </a:extLst>
          </p:cNvPr>
          <p:cNvSpPr>
            <a:spLocks noGrp="1"/>
          </p:cNvSpPr>
          <p:nvPr>
            <p:ph idx="1"/>
          </p:nvPr>
        </p:nvSpPr>
        <p:spPr>
          <a:xfrm>
            <a:off x="1066800" y="2103119"/>
            <a:ext cx="10058400" cy="4504509"/>
          </a:xfrm>
        </p:spPr>
        <p:txBody>
          <a:bodyPr>
            <a:normAutofit fontScale="92500" lnSpcReduction="20000"/>
          </a:bodyPr>
          <a:lstStyle/>
          <a:p>
            <a:r>
              <a:rPr lang="ne-NP" sz="3300" dirty="0"/>
              <a:t>२०६७।१०।१० मा </a:t>
            </a:r>
            <a:r>
              <a:rPr lang="en-US" sz="3300" dirty="0">
                <a:hlinkClick r:id="rId2"/>
              </a:rPr>
              <a:t>asmin@yahoo.com</a:t>
            </a:r>
            <a:r>
              <a:rPr lang="en-US" sz="3300" dirty="0"/>
              <a:t> </a:t>
            </a:r>
            <a:r>
              <a:rPr lang="ne-NP" sz="3300" dirty="0"/>
              <a:t>नामको इमेलबाट </a:t>
            </a:r>
            <a:r>
              <a:rPr lang="en-US" sz="3300" dirty="0">
                <a:hlinkClick r:id="rId3"/>
              </a:rPr>
              <a:t>minadhital@gmail.com</a:t>
            </a:r>
            <a:r>
              <a:rPr lang="en-US" sz="3300" dirty="0"/>
              <a:t> </a:t>
            </a:r>
            <a:r>
              <a:rPr lang="ne-NP" sz="3300" dirty="0"/>
              <a:t>मा कानूनले प्रदर्शन गर्न नहुने भनि रोक लगाएको फोटो र वाक्य समेत भएका इमेल मलाइ पठाएको</a:t>
            </a:r>
          </a:p>
          <a:p>
            <a:r>
              <a:rPr lang="ne-NP" sz="3300" dirty="0"/>
              <a:t>२०६७।११।०५ मा फेरी सोहि फोटो र ब्यहोरा भएको मेरो ईमेल ठेगानामा आएको </a:t>
            </a:r>
          </a:p>
          <a:p>
            <a:r>
              <a:rPr lang="ne-NP" sz="3300" dirty="0"/>
              <a:t>प्रतिवादिले अदालत समक्ष इन्कारी वयान दिएको भए</a:t>
            </a:r>
            <a:r>
              <a:rPr lang="en-US" sz="3300" dirty="0"/>
              <a:t> </a:t>
            </a:r>
            <a:r>
              <a:rPr lang="ne-NP" sz="3300" dirty="0"/>
              <a:t>तापनि अनुसन्धानबाट सो इमेल प्रतिबादिकै घरमा प्रयोग भएको </a:t>
            </a:r>
            <a:r>
              <a:rPr lang="en-US" sz="3300" dirty="0"/>
              <a:t>world link </a:t>
            </a:r>
            <a:r>
              <a:rPr lang="ne-NP" sz="3300" dirty="0"/>
              <a:t>को </a:t>
            </a:r>
            <a:r>
              <a:rPr lang="en-US" sz="3300" dirty="0"/>
              <a:t>182.02.200.15 IP address </a:t>
            </a:r>
            <a:r>
              <a:rPr lang="ne-NP" sz="3300" dirty="0"/>
              <a:t>बाट आएको अनुसन्धान बाट खुलेको  ।</a:t>
            </a:r>
          </a:p>
          <a:p>
            <a:pPr marL="0" indent="0">
              <a:buNone/>
            </a:pPr>
            <a:endParaRPr lang="ne-NP" dirty="0"/>
          </a:p>
          <a:p>
            <a:endParaRPr lang="en-US" dirty="0"/>
          </a:p>
        </p:txBody>
      </p:sp>
    </p:spTree>
    <p:extLst>
      <p:ext uri="{BB962C8B-B14F-4D97-AF65-F5344CB8AC3E}">
        <p14:creationId xmlns:p14="http://schemas.microsoft.com/office/powerpoint/2010/main" val="2021445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140A1-9BA5-0237-CD3D-B01626EB12CD}"/>
              </a:ext>
            </a:extLst>
          </p:cNvPr>
          <p:cNvSpPr>
            <a:spLocks noGrp="1"/>
          </p:cNvSpPr>
          <p:nvPr>
            <p:ph idx="1"/>
          </p:nvPr>
        </p:nvSpPr>
        <p:spPr>
          <a:xfrm>
            <a:off x="511629" y="457199"/>
            <a:ext cx="11419114" cy="6074229"/>
          </a:xfrm>
        </p:spPr>
        <p:txBody>
          <a:bodyPr>
            <a:normAutofit fontScale="70000" lnSpcReduction="20000"/>
          </a:bodyPr>
          <a:lstStyle/>
          <a:p>
            <a:pPr algn="just">
              <a:lnSpc>
                <a:spcPct val="150000"/>
              </a:lnSpc>
            </a:pPr>
            <a:r>
              <a:rPr lang="ne-NP" sz="3600" dirty="0">
                <a:solidFill>
                  <a:srgbClr val="000000"/>
                </a:solidFill>
                <a:cs typeface="Kalimati" panose="00000400000000000000" pitchFamily="2"/>
              </a:rPr>
              <a:t>म जाहेरवाला विवाहित महिला भएको र मैले सामाजिक संजाल फेसबुकमा आफ्नो नाम </a:t>
            </a:r>
            <a:r>
              <a:rPr lang="en-US" sz="3600" b="1" dirty="0">
                <a:solidFill>
                  <a:srgbClr val="000000"/>
                </a:solidFill>
                <a:latin typeface="Times New Roman" panose="02020603050405020304" pitchFamily="18" charset="0"/>
                <a:cs typeface="Kalimati" panose="00000400000000000000" pitchFamily="2"/>
              </a:rPr>
              <a:t>Januka Karki </a:t>
            </a:r>
            <a:r>
              <a:rPr lang="ne-NP" sz="3600" dirty="0">
                <a:solidFill>
                  <a:srgbClr val="000000"/>
                </a:solidFill>
                <a:latin typeface="Times New Roman" panose="02020603050405020304" pitchFamily="18" charset="0"/>
                <a:cs typeface="Kalimati" panose="00000400000000000000" pitchFamily="2"/>
              </a:rPr>
              <a:t>राखी संचालन गरी आएकोमा केही पहिला देखि मोवाईल नं. ९८२६१००९२० प्रयोग गर्ने ब्यक्तिले म्यासेन्जरबाट मलाई फोन गर्ने गरेकोमा पछि सोही ब्यक्तिले फेसबुक आई डी </a:t>
            </a:r>
            <a:r>
              <a:rPr lang="en-US" sz="3600" b="1" dirty="0" err="1">
                <a:solidFill>
                  <a:srgbClr val="000000"/>
                </a:solidFill>
                <a:latin typeface="Times New Roman" panose="02020603050405020304" pitchFamily="18" charset="0"/>
                <a:cs typeface="Kalimati" panose="00000400000000000000" pitchFamily="2"/>
              </a:rPr>
              <a:t>Pratpa</a:t>
            </a:r>
            <a:r>
              <a:rPr lang="en-US" sz="3600" b="1" dirty="0">
                <a:solidFill>
                  <a:srgbClr val="000000"/>
                </a:solidFill>
                <a:latin typeface="Times New Roman" panose="02020603050405020304" pitchFamily="18" charset="0"/>
                <a:cs typeface="Kalimati" panose="00000400000000000000" pitchFamily="2"/>
              </a:rPr>
              <a:t> KC </a:t>
            </a:r>
            <a:r>
              <a:rPr lang="ne-NP" sz="3600" dirty="0">
                <a:solidFill>
                  <a:srgbClr val="000000"/>
                </a:solidFill>
                <a:latin typeface="Times New Roman" panose="02020603050405020304" pitchFamily="18" charset="0"/>
                <a:cs typeface="Kalimati" panose="00000400000000000000" pitchFamily="2"/>
              </a:rPr>
              <a:t>नामबाट मलाई अश्लिल म्यासेज </a:t>
            </a:r>
            <a:r>
              <a:rPr lang="ne-NP" sz="3600" dirty="0">
                <a:solidFill>
                  <a:srgbClr val="000000"/>
                </a:solidFill>
                <a:cs typeface="Kalimati" panose="00000400000000000000" pitchFamily="2"/>
              </a:rPr>
              <a:t>म्यासेन्जरबाट पठाउने</a:t>
            </a:r>
            <a:r>
              <a:rPr lang="ne-NP" sz="3600" b="1" dirty="0">
                <a:solidFill>
                  <a:srgbClr val="000000"/>
                </a:solidFill>
                <a:latin typeface="Times New Roman" panose="02020603050405020304" pitchFamily="18" charset="0"/>
                <a:cs typeface="Kalimati" panose="00000400000000000000" pitchFamily="2"/>
              </a:rPr>
              <a:t>, </a:t>
            </a:r>
            <a:r>
              <a:rPr lang="ne-NP" sz="3600" dirty="0">
                <a:solidFill>
                  <a:srgbClr val="000000"/>
                </a:solidFill>
                <a:latin typeface="Times New Roman" panose="02020603050405020304" pitchFamily="18" charset="0"/>
                <a:cs typeface="Kalimati" panose="00000400000000000000" pitchFamily="2"/>
              </a:rPr>
              <a:t>अश्लिल फोटो पठाई मेरो चरित्रहत्या गर्ने गरेकोले २०७५।०७।१२ गते महानगरीय अपराध महाशाखामा उल्लेखित कार्य गर्ने मानिस पत्ता लगाई कारवाही गरी पाउँ भनी निवेदन दिएकोमा सो गर्ने ब्यक्ति पक्राउमा परेको प्रहरीद्वारा जानकारी पाई आई हेर्दा ठाकुर बहादुर के.सी.ले फेसबुक आईडीमा आफ्नो नाम </a:t>
            </a:r>
            <a:r>
              <a:rPr lang="en-US" sz="3600" b="1" dirty="0" err="1">
                <a:solidFill>
                  <a:srgbClr val="000000"/>
                </a:solidFill>
                <a:latin typeface="Times New Roman" panose="02020603050405020304" pitchFamily="18" charset="0"/>
                <a:cs typeface="Kalimati" panose="00000400000000000000" pitchFamily="2"/>
              </a:rPr>
              <a:t>Pratpa</a:t>
            </a:r>
            <a:r>
              <a:rPr lang="en-US" sz="3600" b="1" dirty="0">
                <a:solidFill>
                  <a:srgbClr val="000000"/>
                </a:solidFill>
                <a:latin typeface="Times New Roman" panose="02020603050405020304" pitchFamily="18" charset="0"/>
                <a:cs typeface="Kalimati" panose="00000400000000000000" pitchFamily="2"/>
              </a:rPr>
              <a:t> KC </a:t>
            </a:r>
            <a:r>
              <a:rPr lang="ne-NP" sz="3600" dirty="0">
                <a:solidFill>
                  <a:srgbClr val="000000"/>
                </a:solidFill>
                <a:latin typeface="Times New Roman" panose="02020603050405020304" pitchFamily="18" charset="0"/>
                <a:cs typeface="Kalimati" panose="00000400000000000000" pitchFamily="2"/>
              </a:rPr>
              <a:t>राखी मेरो चरित्रहत्या हुने गरी अश्लिल फोटो</a:t>
            </a:r>
            <a:r>
              <a:rPr lang="ne-NP" sz="3600" b="1" dirty="0">
                <a:solidFill>
                  <a:srgbClr val="000000"/>
                </a:solidFill>
                <a:latin typeface="Times New Roman" panose="02020603050405020304" pitchFamily="18" charset="0"/>
                <a:cs typeface="Kalimati" panose="00000400000000000000" pitchFamily="2"/>
              </a:rPr>
              <a:t>, </a:t>
            </a:r>
            <a:r>
              <a:rPr lang="ne-NP" sz="3600" dirty="0">
                <a:solidFill>
                  <a:srgbClr val="000000"/>
                </a:solidFill>
                <a:latin typeface="Times New Roman" panose="02020603050405020304" pitchFamily="18" charset="0"/>
                <a:cs typeface="Kalimati" panose="00000400000000000000" pitchFamily="2"/>
              </a:rPr>
              <a:t>अश्लिल म्यासेज निजको मोवाईल नं.९८२६१००९२० बाट पठाएकोले कारवाही गरी पाउँ भन्ने जाहेरी।</a:t>
            </a:r>
            <a:endParaRPr lang="en-US" sz="3600" dirty="0">
              <a:solidFill>
                <a:srgbClr val="000000"/>
              </a:solidFill>
              <a:latin typeface="Times New Roman" panose="02020603050405020304" pitchFamily="18" charset="0"/>
              <a:cs typeface="Kalimati" panose="00000400000000000000" pitchFamily="2"/>
            </a:endParaRPr>
          </a:p>
          <a:p>
            <a:endParaRPr lang="en-US" dirty="0"/>
          </a:p>
        </p:txBody>
      </p:sp>
    </p:spTree>
    <p:extLst>
      <p:ext uri="{BB962C8B-B14F-4D97-AF65-F5344CB8AC3E}">
        <p14:creationId xmlns:p14="http://schemas.microsoft.com/office/powerpoint/2010/main" val="3948497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375C55-490B-CF08-0822-F8A41D1DA67B}"/>
              </a:ext>
            </a:extLst>
          </p:cNvPr>
          <p:cNvSpPr>
            <a:spLocks noGrp="1"/>
          </p:cNvSpPr>
          <p:nvPr>
            <p:ph idx="1"/>
          </p:nvPr>
        </p:nvSpPr>
        <p:spPr>
          <a:xfrm>
            <a:off x="326571" y="522514"/>
            <a:ext cx="11538857" cy="5812971"/>
          </a:xfrm>
        </p:spPr>
        <p:txBody>
          <a:bodyPr>
            <a:normAutofit fontScale="77500" lnSpcReduction="20000"/>
          </a:bodyPr>
          <a:lstStyle/>
          <a:p>
            <a:pPr algn="just">
              <a:lnSpc>
                <a:spcPct val="150000"/>
              </a:lnSpc>
            </a:pPr>
            <a:r>
              <a:rPr lang="ne-NP" sz="3600" dirty="0">
                <a:solidFill>
                  <a:srgbClr val="000000"/>
                </a:solidFill>
                <a:cs typeface="Kalimati" panose="00000400000000000000" pitchFamily="2"/>
              </a:rPr>
              <a:t>विपक्षी प्रकास बुढाथोकीसंग जिनजान भई हामीहरु वीचमा मायाप्रेम बसी संगै हिँड्ने</a:t>
            </a:r>
            <a:r>
              <a:rPr lang="ne-NP" sz="3600" dirty="0">
                <a:solidFill>
                  <a:srgbClr val="000000"/>
                </a:solidFill>
                <a:latin typeface="Preeti" pitchFamily="2" charset="0"/>
                <a:cs typeface="Kalimati" panose="00000400000000000000" pitchFamily="2"/>
              </a:rPr>
              <a:t>, बस्ने गरेका थियौं । हामीहरु रिलेसनमा रहँदाको अवस्थामा शारीरिक सम्वन्ध भएको अवस्थामा मैले थाहा जानकारी नपाउने गरी </a:t>
            </a:r>
            <a:r>
              <a:rPr lang="ne-NP" sz="3600" dirty="0">
                <a:solidFill>
                  <a:srgbClr val="000000"/>
                </a:solidFill>
                <a:cs typeface="Kalimati" panose="00000400000000000000" pitchFamily="2"/>
              </a:rPr>
              <a:t>खिेचेको मेरो गोप्य अङ्गहरुको फोटो मेरो </a:t>
            </a:r>
            <a:r>
              <a:rPr lang="en-US" sz="3600" dirty="0">
                <a:solidFill>
                  <a:srgbClr val="000000"/>
                </a:solidFill>
                <a:latin typeface="Times New Roman" panose="02020603050405020304" pitchFamily="18" charset="0"/>
                <a:cs typeface="Kalimati" panose="00000400000000000000" pitchFamily="2"/>
              </a:rPr>
              <a:t>princess </a:t>
            </a:r>
            <a:r>
              <a:rPr lang="en-US" sz="3600" dirty="0" err="1">
                <a:solidFill>
                  <a:srgbClr val="000000"/>
                </a:solidFill>
                <a:latin typeface="Times New Roman" panose="02020603050405020304" pitchFamily="18" charset="0"/>
                <a:cs typeface="Kalimati" panose="00000400000000000000" pitchFamily="2"/>
              </a:rPr>
              <a:t>Sapplea</a:t>
            </a:r>
            <a:r>
              <a:rPr lang="en-US" sz="3600" dirty="0">
                <a:solidFill>
                  <a:srgbClr val="000000"/>
                </a:solidFill>
                <a:latin typeface="Times New Roman" panose="02020603050405020304" pitchFamily="18" charset="0"/>
                <a:cs typeface="Kalimati" panose="00000400000000000000" pitchFamily="2"/>
              </a:rPr>
              <a:t> Profile Name </a:t>
            </a:r>
            <a:r>
              <a:rPr lang="ne-NP" sz="3600" dirty="0">
                <a:solidFill>
                  <a:srgbClr val="000000"/>
                </a:solidFill>
                <a:latin typeface="Times New Roman" panose="02020603050405020304" pitchFamily="18" charset="0"/>
                <a:cs typeface="Kalimati" panose="00000400000000000000" pitchFamily="2"/>
              </a:rPr>
              <a:t>भएको </a:t>
            </a:r>
            <a:r>
              <a:rPr lang="en-US" sz="3600" dirty="0">
                <a:solidFill>
                  <a:srgbClr val="000000"/>
                </a:solidFill>
                <a:latin typeface="Times New Roman" panose="02020603050405020304" pitchFamily="18" charset="0"/>
                <a:cs typeface="Kalimati" panose="00000400000000000000" pitchFamily="2"/>
              </a:rPr>
              <a:t>Facebook ID </a:t>
            </a:r>
            <a:r>
              <a:rPr lang="ne-NP" sz="3600" dirty="0">
                <a:solidFill>
                  <a:srgbClr val="000000"/>
                </a:solidFill>
                <a:latin typeface="Times New Roman" panose="02020603050405020304" pitchFamily="18" charset="0"/>
                <a:cs typeface="Kalimati" panose="00000400000000000000" pitchFamily="2"/>
              </a:rPr>
              <a:t>लाई ह्याक गरी मिलाई सो </a:t>
            </a:r>
            <a:r>
              <a:rPr lang="en-US" sz="3600" dirty="0">
                <a:solidFill>
                  <a:srgbClr val="000000"/>
                </a:solidFill>
                <a:latin typeface="Times New Roman" panose="02020603050405020304" pitchFamily="18" charset="0"/>
                <a:cs typeface="Kalimati" panose="00000400000000000000" pitchFamily="2"/>
              </a:rPr>
              <a:t>Facebook ID </a:t>
            </a:r>
            <a:r>
              <a:rPr lang="ne-NP" sz="3600" dirty="0">
                <a:solidFill>
                  <a:srgbClr val="000000"/>
                </a:solidFill>
                <a:latin typeface="Times New Roman" panose="02020603050405020304" pitchFamily="18" charset="0"/>
                <a:cs typeface="Kalimati" panose="00000400000000000000" pitchFamily="2"/>
              </a:rPr>
              <a:t>मा पोष्ट</a:t>
            </a:r>
            <a:r>
              <a:rPr lang="en-US" sz="3600" dirty="0">
                <a:solidFill>
                  <a:srgbClr val="000000"/>
                </a:solidFill>
                <a:latin typeface="Times New Roman" panose="02020603050405020304" pitchFamily="18" charset="0"/>
                <a:cs typeface="Kalimati" panose="00000400000000000000" pitchFamily="2"/>
              </a:rPr>
              <a:t> </a:t>
            </a:r>
            <a:r>
              <a:rPr lang="ne-NP" sz="3600" dirty="0">
                <a:solidFill>
                  <a:srgbClr val="000000"/>
                </a:solidFill>
                <a:latin typeface="Times New Roman" panose="02020603050405020304" pitchFamily="18" charset="0"/>
                <a:cs typeface="Kalimati" panose="00000400000000000000" pitchFamily="2"/>
              </a:rPr>
              <a:t>गर्ने</a:t>
            </a:r>
            <a:r>
              <a:rPr lang="ne-NP" sz="3600" dirty="0">
                <a:solidFill>
                  <a:srgbClr val="000000"/>
                </a:solidFill>
                <a:latin typeface="Preeti" pitchFamily="2" charset="0"/>
                <a:cs typeface="Kalimati" panose="00000400000000000000" pitchFamily="2"/>
              </a:rPr>
              <a:t>, पव्लिक शेयर गर्ने, उक्त भिडियो सुरक्षित छ भनी व्ल्याकमेल गदै, मेरो चरित्रहत्या गर्ने, बदनाम गराउने, बेईज्जती गरी मलाई दुख हैरानी दिने, </a:t>
            </a:r>
            <a:r>
              <a:rPr lang="ne-NP" sz="3600" dirty="0">
                <a:solidFill>
                  <a:srgbClr val="000000"/>
                </a:solidFill>
                <a:cs typeface="Kalimati" panose="00000400000000000000" pitchFamily="2"/>
              </a:rPr>
              <a:t>मोवाईल नं. ९८०३०४९७८२ बाट मलाई फोन गरी</a:t>
            </a:r>
            <a:r>
              <a:rPr lang="ne-NP" sz="3600" dirty="0">
                <a:solidFill>
                  <a:srgbClr val="000000"/>
                </a:solidFill>
                <a:latin typeface="Preeti" pitchFamily="2" charset="0"/>
                <a:cs typeface="Kalimati" panose="00000400000000000000" pitchFamily="2"/>
              </a:rPr>
              <a:t>, म्यासेज समेत पठाउने</a:t>
            </a:r>
            <a:r>
              <a:rPr lang="en-US" sz="3600" dirty="0">
                <a:solidFill>
                  <a:srgbClr val="000000"/>
                </a:solidFill>
                <a:latin typeface="Preeti" pitchFamily="2" charset="0"/>
                <a:cs typeface="Kalimati" panose="00000400000000000000" pitchFamily="2"/>
              </a:rPr>
              <a:t>, </a:t>
            </a:r>
            <a:r>
              <a:rPr lang="ne-NP" sz="3600" dirty="0">
                <a:solidFill>
                  <a:srgbClr val="000000"/>
                </a:solidFill>
                <a:latin typeface="Preeti" pitchFamily="2" charset="0"/>
                <a:cs typeface="Kalimati" panose="00000400000000000000" pitchFamily="2"/>
              </a:rPr>
              <a:t>अमर्यादित कार्य गरी सामाजिक संजाल फेसबुकको समेत दुरुपयोग गरेकोले कारवाही गरी पाउँ भन्ने जाहेरी।</a:t>
            </a:r>
          </a:p>
        </p:txBody>
      </p:sp>
    </p:spTree>
    <p:extLst>
      <p:ext uri="{BB962C8B-B14F-4D97-AF65-F5344CB8AC3E}">
        <p14:creationId xmlns:p14="http://schemas.microsoft.com/office/powerpoint/2010/main" val="1394746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28B077-A78C-C9B0-034C-6E31FC4CB4B2}"/>
              </a:ext>
            </a:extLst>
          </p:cNvPr>
          <p:cNvSpPr>
            <a:spLocks noGrp="1"/>
          </p:cNvSpPr>
          <p:nvPr>
            <p:ph idx="1"/>
          </p:nvPr>
        </p:nvSpPr>
        <p:spPr>
          <a:xfrm>
            <a:off x="413657" y="446313"/>
            <a:ext cx="11549743" cy="6052457"/>
          </a:xfrm>
        </p:spPr>
        <p:txBody>
          <a:bodyPr>
            <a:normAutofit fontScale="62500" lnSpcReduction="20000"/>
          </a:bodyPr>
          <a:lstStyle/>
          <a:p>
            <a:pPr algn="just">
              <a:lnSpc>
                <a:spcPct val="150000"/>
              </a:lnSpc>
            </a:pPr>
            <a:r>
              <a:rPr lang="ne-NP" sz="3600" b="1" dirty="0">
                <a:cs typeface="Kalimati" panose="00000400000000000000" pitchFamily="2"/>
              </a:rPr>
              <a:t>तथ्य</a:t>
            </a:r>
            <a:r>
              <a:rPr lang="en-US" sz="3600" b="1" dirty="0">
                <a:cs typeface="Kalimati" panose="00000400000000000000" pitchFamily="2"/>
              </a:rPr>
              <a:t>-</a:t>
            </a:r>
            <a:r>
              <a:rPr lang="ne-NP" sz="3600" b="1" dirty="0">
                <a:cs typeface="Kalimati" panose="00000400000000000000" pitchFamily="2"/>
              </a:rPr>
              <a:t> </a:t>
            </a:r>
            <a:r>
              <a:rPr lang="ne-NP" sz="3600" dirty="0">
                <a:cs typeface="Kalimati" panose="00000400000000000000" pitchFamily="2"/>
              </a:rPr>
              <a:t>म जाहेरवालालाई विशाल भन्ने मनोज कार्कीले आफूसँग दुबईमा श्रीमति लान पाउने भिषा छ</a:t>
            </a:r>
            <a:r>
              <a:rPr lang="ne-NP" sz="3600" dirty="0">
                <a:latin typeface="Calibri" panose="020F0502020204030204" pitchFamily="34" charset="0"/>
                <a:cs typeface="Kalimati" panose="00000400000000000000" pitchFamily="2"/>
              </a:rPr>
              <a:t>, विवाह गरी दुबई जाऊँ भनी प्रेमजालमा पारी मिति २०७५।०१।१२ मा प्रेम विवाह गरी विराटनर् म.न.पा., वडा नं. ३ स्थित डेरा कोठामा राखेको । विवाहपश्चात हामी श्रीमान श्रीमतिको रूपमा रहँदा, बस्दा, सुत्दाको अिस्थामा म निदाएको बेलामा निजले मेरो शरीरको कपडा हटाई मेरो नग्न फोटो खिचेको रहेछ, सो कुरा थाहा भएन ।</a:t>
            </a:r>
            <a:r>
              <a:rPr lang="ne-NP" sz="3600" dirty="0">
                <a:cs typeface="Kalimati" panose="00000400000000000000" pitchFamily="2"/>
              </a:rPr>
              <a:t>मेरो मोबाईल समेत कब्जामा लिई मेरो </a:t>
            </a:r>
            <a:r>
              <a:rPr lang="en-US" sz="3600" dirty="0">
                <a:latin typeface="Kokila" panose="020B0604020202020204" pitchFamily="34" charset="0"/>
                <a:cs typeface="Kalimati" panose="00000400000000000000" pitchFamily="2"/>
              </a:rPr>
              <a:t>Kanchan </a:t>
            </a:r>
            <a:r>
              <a:rPr lang="en-US" sz="3600" dirty="0" err="1">
                <a:latin typeface="Kokila" panose="020B0604020202020204" pitchFamily="34" charset="0"/>
                <a:cs typeface="Kalimati" panose="00000400000000000000" pitchFamily="2"/>
              </a:rPr>
              <a:t>Bishal</a:t>
            </a:r>
            <a:r>
              <a:rPr lang="en-US" sz="3600" dirty="0">
                <a:latin typeface="Kokila" panose="020B0604020202020204" pitchFamily="34" charset="0"/>
                <a:cs typeface="Kalimati" panose="00000400000000000000" pitchFamily="2"/>
              </a:rPr>
              <a:t> Kanchan </a:t>
            </a:r>
            <a:r>
              <a:rPr lang="en-US" sz="3600" dirty="0" err="1">
                <a:latin typeface="Kokila" panose="020B0604020202020204" pitchFamily="34" charset="0"/>
                <a:cs typeface="Kalimati" panose="00000400000000000000" pitchFamily="2"/>
              </a:rPr>
              <a:t>Bishal</a:t>
            </a:r>
            <a:r>
              <a:rPr lang="en-US" sz="3600" dirty="0">
                <a:latin typeface="Kokila" panose="020B0604020202020204" pitchFamily="34" charset="0"/>
                <a:cs typeface="Kalimati" panose="00000400000000000000" pitchFamily="2"/>
              </a:rPr>
              <a:t> </a:t>
            </a:r>
            <a:r>
              <a:rPr lang="ne-NP" sz="3600" dirty="0">
                <a:latin typeface="Kokila" panose="020B0604020202020204" pitchFamily="34" charset="0"/>
                <a:cs typeface="Kalimati" panose="00000400000000000000" pitchFamily="2"/>
              </a:rPr>
              <a:t>नामबाट फेसबुक चलाउने गरेको आई.डी.बाटै निजले मेरो नग्न फोटो विभिन्न व्यक्तिलाई पठाई दिने भनी धम्की दिने गर्दथ्यो । मिति २०७५।०२।०५ मा निज विपक्षीले मलाई सार्वजनिक ठाउँमा कुटपिट गरेकाले निजलाई जि.प्र.का. मोरङमा जाहेरी दिई सार्वजनिक मुद्दामा थुनामा रहेको छ । हाल २०७५।०४। ०९मा मैले आफ्नो फेसबुक खोली हेर्दा मेरो नग्न फोटोहरू विभिन्न व्यक्तिहरूलाई पठाएको जानकारी पाएकोले निजले मलाई प्रेम विवाह गरी सँगै रहँदा बस्दा मैले थाहा नपाउने गरी खिची राखेको नाङ्गो फोटोहरू सामाजिक संजाल फेसबुकमा अपलोड गरी पोष्ट गरेकाले कारवाही गरीपाउँ भन्ने जाहेरी।</a:t>
            </a:r>
          </a:p>
          <a:p>
            <a:endParaRPr lang="en-US" dirty="0"/>
          </a:p>
        </p:txBody>
      </p:sp>
    </p:spTree>
    <p:extLst>
      <p:ext uri="{BB962C8B-B14F-4D97-AF65-F5344CB8AC3E}">
        <p14:creationId xmlns:p14="http://schemas.microsoft.com/office/powerpoint/2010/main" val="2673400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334B5-1801-B82E-F31E-73BE2B4AAB62}"/>
              </a:ext>
            </a:extLst>
          </p:cNvPr>
          <p:cNvSpPr>
            <a:spLocks noGrp="1"/>
          </p:cNvSpPr>
          <p:nvPr>
            <p:ph idx="1"/>
          </p:nvPr>
        </p:nvSpPr>
        <p:spPr>
          <a:xfrm>
            <a:off x="1066800" y="533400"/>
            <a:ext cx="10058400" cy="5501640"/>
          </a:xfrm>
        </p:spPr>
        <p:txBody>
          <a:bodyPr>
            <a:normAutofit fontScale="92500" lnSpcReduction="10000"/>
          </a:bodyPr>
          <a:lstStyle/>
          <a:p>
            <a:r>
              <a:rPr lang="ne-NP" sz="2800" b="1" dirty="0">
                <a:solidFill>
                  <a:srgbClr val="000000"/>
                </a:solidFill>
                <a:cs typeface="Kalimati" panose="00000400000000000000" pitchFamily="2"/>
              </a:rPr>
              <a:t>तथ्य</a:t>
            </a:r>
            <a:r>
              <a:rPr lang="en-US" sz="2800" b="1" dirty="0">
                <a:solidFill>
                  <a:srgbClr val="000000"/>
                </a:solidFill>
                <a:cs typeface="Kalimati" panose="00000400000000000000" pitchFamily="2"/>
              </a:rPr>
              <a:t>-</a:t>
            </a:r>
            <a:r>
              <a:rPr lang="ne-NP" sz="2800" dirty="0">
                <a:solidFill>
                  <a:srgbClr val="000000"/>
                </a:solidFill>
                <a:cs typeface="Kalimati" panose="00000400000000000000" pitchFamily="2"/>
              </a:rPr>
              <a:t>सुन्दर ठकुरीले विगत ३।४ वर्ष अगाडीदेखि नक्कली फेसबुक आईडी बनाई मेरो इज्जत प्रतिष्ठामा आँच आउने किसिमको क्रियाकलाप गरेको थाहा पाई यस भन्दा अगाडी पनि प्रहरी प्रभाग कपनमा मैले निेवेदन दिई निजलाई प्रहरीमा बोलाई ल्याई सम्झाई बुझाई गर्दा निजले अब आइन्दा सो कार्य नगर्ने भनी एक पटकको लागी निजले सुध्रने मौका पाउ भनी अनुरोध गरेकोले मानिसमा गल्ती कमी कमजोरी हुन्छ एक पटक गल्ती सुध्रने मौका दिन उचित ठानी कारवाहीको प्रक्रियामा नगई सम्झाई बुझाई छाडी दिएकोमा हाल आएर पनि निजले सोही प्रक्रिया दोहोर्याई सेर्पेनी नानी नामको नक्कली फेसबुक आईडी खोली मेरो इज्जत प्रतिष्टामा आँच आउने कार्य गरेको कुरा मैले मिति २०७५।४।१८ गते थाहा पाई मैले सो कार्य नगर्न अनुरोध गर्दा निजले उल्टै धम्की दिई तेरो फोटो अरु ब्यक्तिको नाँगो फोटोसंग जोडी राखी फेसबुकमा अरुलाई पोष्ट</a:t>
            </a:r>
            <a:r>
              <a:rPr lang="en-US" sz="2800" dirty="0">
                <a:solidFill>
                  <a:srgbClr val="000000"/>
                </a:solidFill>
                <a:cs typeface="Kalimati" panose="00000400000000000000" pitchFamily="2"/>
              </a:rPr>
              <a:t> </a:t>
            </a:r>
            <a:r>
              <a:rPr lang="ne-NP" sz="2800" dirty="0">
                <a:solidFill>
                  <a:srgbClr val="000000"/>
                </a:solidFill>
                <a:cs typeface="Kalimati" panose="00000400000000000000" pitchFamily="2"/>
              </a:rPr>
              <a:t>गरी पठाई तेरो बेइज्जति गरी दिन्छु भनी धम्की दिएकोले सुन्दर ठकुरीले फेसबुकमा नक्कली आईडी बनाई संचालन गरी मेरो चरित्र हत्या गर्ने कार्य गरेकोले निजलाई कारवाही गरीपाउँ भन्ने व्यहोराको फुरलामु शेर्पाको जाहेरी दरखास्।</a:t>
            </a:r>
          </a:p>
          <a:p>
            <a:endParaRPr lang="en-US" dirty="0"/>
          </a:p>
        </p:txBody>
      </p:sp>
    </p:spTree>
    <p:extLst>
      <p:ext uri="{BB962C8B-B14F-4D97-AF65-F5344CB8AC3E}">
        <p14:creationId xmlns:p14="http://schemas.microsoft.com/office/powerpoint/2010/main" val="4023850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BEB209-684A-D460-E433-E41430637FEE}"/>
              </a:ext>
            </a:extLst>
          </p:cNvPr>
          <p:cNvSpPr>
            <a:spLocks noGrp="1"/>
          </p:cNvSpPr>
          <p:nvPr>
            <p:ph idx="1"/>
          </p:nvPr>
        </p:nvSpPr>
        <p:spPr>
          <a:xfrm>
            <a:off x="272143" y="478971"/>
            <a:ext cx="11702143" cy="6117772"/>
          </a:xfrm>
        </p:spPr>
        <p:txBody>
          <a:bodyPr>
            <a:normAutofit fontScale="92500" lnSpcReduction="10000"/>
          </a:bodyPr>
          <a:lstStyle/>
          <a:p>
            <a:r>
              <a:rPr lang="ne-NP" sz="3600" b="1" dirty="0">
                <a:solidFill>
                  <a:srgbClr val="000000"/>
                </a:solidFill>
                <a:cs typeface="Kalimati" panose="00000400000000000000" pitchFamily="2"/>
              </a:rPr>
              <a:t>तथ्य</a:t>
            </a:r>
            <a:r>
              <a:rPr lang="en-US" sz="3600" dirty="0">
                <a:solidFill>
                  <a:srgbClr val="000000"/>
                </a:solidFill>
                <a:cs typeface="Kalimati" panose="00000400000000000000" pitchFamily="2"/>
              </a:rPr>
              <a:t>-</a:t>
            </a:r>
            <a:r>
              <a:rPr lang="ne-NP" sz="3600" dirty="0">
                <a:solidFill>
                  <a:srgbClr val="000000"/>
                </a:solidFill>
                <a:cs typeface="Kalimati" panose="00000400000000000000" pitchFamily="2"/>
              </a:rPr>
              <a:t>सामाजिक संजाल फेसबुकमा अपरिचित ब्यक्तिको मृत लाशलाई श्रद्धान्जली दिईरहेको फोटोमा </a:t>
            </a:r>
            <a:r>
              <a:rPr lang="ne-NP" sz="3600" dirty="0">
                <a:solidFill>
                  <a:srgbClr val="000000"/>
                </a:solidFill>
                <a:latin typeface="Times New Roman" panose="02020603050405020304" pitchFamily="18" charset="0"/>
                <a:cs typeface="Kalimati" panose="00000400000000000000" pitchFamily="2"/>
              </a:rPr>
              <a:t>“दुखद खबर: प्रधानमन्त्री केपी वलीको अस्पतालमा निधन” भन्ने जस्ता भ्रामक स्टाटस लेखी पोष्ट</a:t>
            </a:r>
            <a:r>
              <a:rPr lang="en-US" sz="3600" dirty="0">
                <a:solidFill>
                  <a:srgbClr val="000000"/>
                </a:solidFill>
                <a:latin typeface="Times New Roman" panose="02020603050405020304" pitchFamily="18" charset="0"/>
                <a:cs typeface="Kalimati" panose="00000400000000000000" pitchFamily="2"/>
              </a:rPr>
              <a:t> </a:t>
            </a:r>
            <a:r>
              <a:rPr lang="ne-NP" sz="3600" dirty="0">
                <a:solidFill>
                  <a:srgbClr val="000000"/>
                </a:solidFill>
                <a:latin typeface="Times New Roman" panose="02020603050405020304" pitchFamily="18" charset="0"/>
                <a:cs typeface="Kalimati" panose="00000400000000000000" pitchFamily="2"/>
              </a:rPr>
              <a:t>गरी </a:t>
            </a:r>
            <a:r>
              <a:rPr lang="en-US" sz="3600" dirty="0">
                <a:solidFill>
                  <a:srgbClr val="000000"/>
                </a:solidFill>
                <a:latin typeface="Times New Roman" panose="02020603050405020304" pitchFamily="18" charset="0"/>
                <a:cs typeface="Kalimati" panose="00000400000000000000" pitchFamily="2"/>
              </a:rPr>
              <a:t>pahilonepalikhabar.com </a:t>
            </a:r>
            <a:r>
              <a:rPr lang="ne-NP" sz="3600" dirty="0">
                <a:solidFill>
                  <a:srgbClr val="000000"/>
                </a:solidFill>
                <a:latin typeface="Times New Roman" panose="02020603050405020304" pitchFamily="18" charset="0"/>
                <a:cs typeface="Kalimati" panose="00000400000000000000" pitchFamily="2"/>
              </a:rPr>
              <a:t>र </a:t>
            </a:r>
            <a:r>
              <a:rPr lang="en-US" sz="3600" dirty="0">
                <a:solidFill>
                  <a:srgbClr val="000000"/>
                </a:solidFill>
                <a:latin typeface="Times New Roman" panose="02020603050405020304" pitchFamily="18" charset="0"/>
                <a:cs typeface="Kalimati" panose="00000400000000000000" pitchFamily="2"/>
              </a:rPr>
              <a:t>pathivaraonline.com (</a:t>
            </a:r>
            <a:r>
              <a:rPr lang="ne-NP" sz="3600" dirty="0">
                <a:solidFill>
                  <a:srgbClr val="000000"/>
                </a:solidFill>
                <a:latin typeface="Times New Roman" panose="02020603050405020304" pitchFamily="18" charset="0"/>
                <a:cs typeface="Kalimati" panose="00000400000000000000" pitchFamily="2"/>
              </a:rPr>
              <a:t>खबरटाईम मिडिया प्रा.लि.) ले प्रेस काउन्सिलबाट अनुमति नलिई सामाजिक सञ्जाल फेसबुकमा कम्पयूटर, ईन्टरनेट, लगायत विद्युतीय सञ्चार माध्यमबाट सार्वजनिक नैतिकता शिष्टाचार विरुद्दका </a:t>
            </a:r>
            <a:r>
              <a:rPr lang="ne-NP" sz="3600" dirty="0">
                <a:cs typeface="Kalimati" panose="00000400000000000000" pitchFamily="2"/>
              </a:rPr>
              <a:t>सामाग्री</a:t>
            </a:r>
            <a:r>
              <a:rPr lang="ne-NP" sz="3600" dirty="0">
                <a:solidFill>
                  <a:srgbClr val="000000"/>
                </a:solidFill>
                <a:latin typeface="Times New Roman" panose="02020603050405020304" pitchFamily="18" charset="0"/>
                <a:cs typeface="Kalimati" panose="00000400000000000000" pitchFamily="2"/>
              </a:rPr>
              <a:t> प्रकासन गरी सम्मानित प्रधानमन्त्रीज्यू र सर्वसाधारण जनता तथा सम्प्रदाय वीचको सुमधुर सम्बन्धलाई खलल पार्ने उद्धेश्यले झुट्ठा </a:t>
            </a:r>
            <a:r>
              <a:rPr lang="ne-NP" sz="3600" dirty="0">
                <a:cs typeface="Kalimati" panose="00000400000000000000" pitchFamily="2"/>
              </a:rPr>
              <a:t>सामाग्री</a:t>
            </a:r>
            <a:r>
              <a:rPr lang="ne-NP" sz="3600" dirty="0">
                <a:solidFill>
                  <a:srgbClr val="000000"/>
                </a:solidFill>
                <a:latin typeface="Times New Roman" panose="02020603050405020304" pitchFamily="18" charset="0"/>
                <a:cs typeface="Kalimati" panose="00000400000000000000" pitchFamily="2"/>
              </a:rPr>
              <a:t> सम्प्रेशण गरी भ्रम, अफबाह फैलाउने </a:t>
            </a:r>
            <a:r>
              <a:rPr lang="en-US" sz="3600" dirty="0">
                <a:solidFill>
                  <a:srgbClr val="000000"/>
                </a:solidFill>
                <a:latin typeface="Times New Roman" panose="02020603050405020304" pitchFamily="18" charset="0"/>
                <a:cs typeface="Kalimati" panose="00000400000000000000" pitchFamily="2"/>
              </a:rPr>
              <a:t>pahilonepalikhabar.com </a:t>
            </a:r>
            <a:r>
              <a:rPr lang="ne-NP" sz="3600" dirty="0">
                <a:solidFill>
                  <a:srgbClr val="000000"/>
                </a:solidFill>
                <a:latin typeface="Times New Roman" panose="02020603050405020304" pitchFamily="18" charset="0"/>
                <a:cs typeface="Kalimati" panose="00000400000000000000" pitchFamily="2"/>
              </a:rPr>
              <a:t>र</a:t>
            </a:r>
            <a:r>
              <a:rPr lang="en-US" sz="3600" dirty="0">
                <a:cs typeface="Kalimati" panose="00000400000000000000" pitchFamily="2"/>
              </a:rPr>
              <a:t> </a:t>
            </a:r>
            <a:r>
              <a:rPr lang="en-US" sz="3600" dirty="0">
                <a:latin typeface="Times New Roman" pitchFamily="18" charset="0"/>
                <a:cs typeface="Times New Roman" pitchFamily="18" charset="0"/>
              </a:rPr>
              <a:t>pathivaraonline.com</a:t>
            </a:r>
            <a:r>
              <a:rPr lang="en-US" sz="3600" dirty="0">
                <a:cs typeface="Kalimati" panose="00000400000000000000" pitchFamily="2"/>
              </a:rPr>
              <a:t> (</a:t>
            </a:r>
            <a:r>
              <a:rPr lang="ne-NP" sz="3600" dirty="0">
                <a:cs typeface="Kalimati" panose="00000400000000000000" pitchFamily="2"/>
              </a:rPr>
              <a:t>खबरटाईम मिडिया प्रा.लि.) का संञ्चालकहरु हरी प्रसाद मानन्धर समेतलाई विद्युतीय कारोवार ऐन, २०६३ को दफा ४७ बमोजिम कारिाही गरी पाऊँ।</a:t>
            </a:r>
          </a:p>
          <a:p>
            <a:endParaRPr lang="en-US" dirty="0"/>
          </a:p>
        </p:txBody>
      </p:sp>
    </p:spTree>
    <p:extLst>
      <p:ext uri="{BB962C8B-B14F-4D97-AF65-F5344CB8AC3E}">
        <p14:creationId xmlns:p14="http://schemas.microsoft.com/office/powerpoint/2010/main" val="405019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5C718-225F-3F4E-8C46-E55A667F94AA}"/>
              </a:ext>
            </a:extLst>
          </p:cNvPr>
          <p:cNvSpPr>
            <a:spLocks noGrp="1"/>
          </p:cNvSpPr>
          <p:nvPr>
            <p:ph idx="1"/>
          </p:nvPr>
        </p:nvSpPr>
        <p:spPr>
          <a:xfrm>
            <a:off x="348343" y="576943"/>
            <a:ext cx="11625943" cy="5976257"/>
          </a:xfrm>
        </p:spPr>
        <p:txBody>
          <a:bodyPr>
            <a:normAutofit fontScale="85000" lnSpcReduction="20000"/>
          </a:bodyPr>
          <a:lstStyle/>
          <a:p>
            <a:r>
              <a:rPr lang="ne-NP" sz="3600" dirty="0">
                <a:solidFill>
                  <a:srgbClr val="000000"/>
                </a:solidFill>
                <a:cs typeface="Kalimati" panose="00000400000000000000" pitchFamily="2"/>
              </a:rPr>
              <a:t>तथ्य</a:t>
            </a:r>
            <a:r>
              <a:rPr lang="en-US" sz="3600" dirty="0">
                <a:solidFill>
                  <a:srgbClr val="000000"/>
                </a:solidFill>
                <a:cs typeface="Kalimati" panose="00000400000000000000" pitchFamily="2"/>
              </a:rPr>
              <a:t>- </a:t>
            </a:r>
            <a:r>
              <a:rPr lang="ne-NP" sz="3600" dirty="0">
                <a:solidFill>
                  <a:srgbClr val="000000"/>
                </a:solidFill>
                <a:cs typeface="Kalimati" panose="00000400000000000000" pitchFamily="2"/>
              </a:rPr>
              <a:t>वर्ष १३ कि निर्मला पन्त मिति २०७५।०४।११ गते विहान मृत अवस्थामा फेला परेको घटनाको सम्बन्धमा जबरजस्ती करणी र कर्तब्य गरेको मुद्दामा अनुसन्धान कार्य भई रहेको र संलग्न प्रतिवादी हालसम्म खुल्न नआ्एको अवस्थामा सामाजिक सञ्जाल फेसवुकमा नेपाल प्रहरीको बदनाम हुने तरिकाले </a:t>
            </a:r>
            <a:r>
              <a:rPr lang="ne-NP" sz="3600" dirty="0">
                <a:solidFill>
                  <a:srgbClr val="000000"/>
                </a:solidFill>
                <a:latin typeface="Times New Roman" panose="02020603050405020304" pitchFamily="18" charset="0"/>
                <a:cs typeface="Kalimati" panose="00000400000000000000" pitchFamily="2"/>
              </a:rPr>
              <a:t>“यिनै हुन १४ बर्षीया बालिकालाई जबरजस्ती करणी गरी बलात्कार गरी हत्या गर्ने प्रहरी । सक्‍दो शेयर गर्नु होला” भनी पोष्ट गरी प्रहरी पोशाक लगा्एको ब्यक्तिको फोटो र मृतकको फोटो फेसबुकमा अपलोड गरेको हुँदा सामाजिक सञ्जालमा गलत समाचार सम्प्रेशण गरी बदनियत तरिकाले फोटो अपलोड गरी अनुसन्धान कार्यमा बाधा पुर्याई प्रहरी संगठनको बदनाम गरेको हुँदा यसरी गलत समाचार सामाजिक सञ्जालमा सम्प्रेषण गर्ने दोषी ब्यक्ति पत्ता लगाई आबश्यक कारबाहीको लागि समाचारको लिङ्क सहितको बिबररण पठाई्एको भन्ने समेत व्यहोराको मिति २०७५।०४।१४ गतेको जिल्ला प्रहरी कायाणलय कञ्चनपुरको पत्र । </a:t>
            </a:r>
            <a:endParaRPr lang="en-US" sz="3600" dirty="0">
              <a:solidFill>
                <a:srgbClr val="000000"/>
              </a:solidFill>
              <a:latin typeface="Times New Roman" panose="02020603050405020304" pitchFamily="18" charset="0"/>
              <a:cs typeface="Kalimati" panose="00000400000000000000" pitchFamily="2"/>
            </a:endParaRPr>
          </a:p>
          <a:p>
            <a:endParaRPr lang="en-US" dirty="0"/>
          </a:p>
        </p:txBody>
      </p:sp>
    </p:spTree>
    <p:extLst>
      <p:ext uri="{BB962C8B-B14F-4D97-AF65-F5344CB8AC3E}">
        <p14:creationId xmlns:p14="http://schemas.microsoft.com/office/powerpoint/2010/main" val="3578428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C2B6CF-7945-C9E3-A29A-34B29D7B91AD}"/>
              </a:ext>
            </a:extLst>
          </p:cNvPr>
          <p:cNvSpPr>
            <a:spLocks noGrp="1"/>
          </p:cNvSpPr>
          <p:nvPr>
            <p:ph idx="1"/>
          </p:nvPr>
        </p:nvSpPr>
        <p:spPr>
          <a:xfrm>
            <a:off x="1066799" y="544285"/>
            <a:ext cx="10842171" cy="5976257"/>
          </a:xfrm>
        </p:spPr>
        <p:txBody>
          <a:bodyPr>
            <a:noAutofit/>
          </a:bodyPr>
          <a:lstStyle/>
          <a:p>
            <a:r>
              <a:rPr lang="ne-NP" sz="2800" dirty="0"/>
              <a:t>प्रतिवादीले हाम्रो अनुमति बिना हाम्रो </a:t>
            </a:r>
            <a:r>
              <a:rPr lang="en-US" sz="2800" dirty="0"/>
              <a:t>Domain Name </a:t>
            </a:r>
            <a:r>
              <a:rPr lang="en-US" sz="2800" dirty="0">
                <a:hlinkClick r:id="rId2"/>
              </a:rPr>
              <a:t>www.sivaholiday</a:t>
            </a:r>
            <a:r>
              <a:rPr lang="en-US" sz="2800" dirty="0"/>
              <a:t>.com </a:t>
            </a:r>
            <a:r>
              <a:rPr lang="ne-NP" sz="2800" dirty="0"/>
              <a:t>सँग मिल्दोजुल्दो नामको डोमेन नेम </a:t>
            </a:r>
            <a:r>
              <a:rPr lang="en-US" sz="2800" dirty="0"/>
              <a:t>www.shivaholiday.com </a:t>
            </a:r>
            <a:r>
              <a:rPr lang="ne-NP" sz="2800" dirty="0"/>
              <a:t>दर्ता गरी प्रयोगमा ल्याएको छ। उक्त डोमेन नेम प्रयोग गर्दा सर्वसाधारण तथा ग्राहकहरूमा भ्रम उत्पन्न भएको छ र हाम्रो व्यवसायिक प्रतिष्ठामा गम्भीर क्षति पुगेको छ। प्रतिवादीले सो डोमेन नेम प्रयोग गरी गलत सूचना प्रवाह गर्ने, हाम्रो नाम र पहिचानको दुरुपयोग गर्ने तथा अनुचित आर्थिक लाभ लिने कार्य गरेको छ, जसका कारण हाम्रो संस्थालाई आर्थिक, व्यवसायिक तथा मानसिक क्षति भएको छ। यस प्रकारको कार्य प्रचलित साइबर कानुन, विद्युतीय कारोबार</a:t>
            </a:r>
            <a:r>
              <a:rPr lang="en-US" sz="2800" dirty="0"/>
              <a:t> </a:t>
            </a:r>
            <a:r>
              <a:rPr lang="ne-NP" sz="2800" dirty="0"/>
              <a:t>ऐन विपरीत भएको हुँदा प्रतिवादीद्वारा दर्ता गरिएको विवादित डोमेन नेम तत्काल रद्द वा निलम्बन गरी विद्युतीय कारोबार</a:t>
            </a:r>
            <a:r>
              <a:rPr lang="en-US" sz="2800" dirty="0"/>
              <a:t> </a:t>
            </a:r>
            <a:r>
              <a:rPr lang="ne-NP" sz="2800" dirty="0"/>
              <a:t>ऐनको दफा ४४ बमोजिम आवश्यक कारबाही गरि पाउँ भन्ने जाहेरी।</a:t>
            </a:r>
            <a:endParaRPr lang="en-US" sz="2800" dirty="0"/>
          </a:p>
        </p:txBody>
      </p:sp>
    </p:spTree>
    <p:extLst>
      <p:ext uri="{BB962C8B-B14F-4D97-AF65-F5344CB8AC3E}">
        <p14:creationId xmlns:p14="http://schemas.microsoft.com/office/powerpoint/2010/main" val="3362830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2B8969-6875-BDD0-EC3F-F1D1FFA49FE0}"/>
              </a:ext>
            </a:extLst>
          </p:cNvPr>
          <p:cNvSpPr>
            <a:spLocks noGrp="1"/>
          </p:cNvSpPr>
          <p:nvPr>
            <p:ph idx="1"/>
          </p:nvPr>
        </p:nvSpPr>
        <p:spPr>
          <a:xfrm>
            <a:off x="315686" y="435429"/>
            <a:ext cx="11506200" cy="6259285"/>
          </a:xfrm>
        </p:spPr>
        <p:txBody>
          <a:bodyPr>
            <a:normAutofit fontScale="92500" lnSpcReduction="10000"/>
          </a:bodyPr>
          <a:lstStyle/>
          <a:p>
            <a:r>
              <a:rPr lang="ne-NP" sz="4000" dirty="0"/>
              <a:t>हाम्रो संस्था </a:t>
            </a:r>
            <a:r>
              <a:rPr lang="en-US" sz="4000" dirty="0"/>
              <a:t>jobsnepal.com </a:t>
            </a:r>
            <a:r>
              <a:rPr lang="ne-NP" sz="4000" dirty="0"/>
              <a:t>ले प्रयोग गर्दै आएको कम्प्युटर प्रणाली/सर्भर/नेटवर्कमा मिति  २०७८।१२।१२ मा अनुमति बिना कम्प्युटर प्रणालीमा प्रवेश गरी महत्वपूर्ण डाटा तथा फाइलहरू इन्क्रिप्ट गरेको र ती डाटा पुनः प्राप्त गराउन रकम रु तीन लाख फिरौति मागेको ।</a:t>
            </a:r>
          </a:p>
          <a:p>
            <a:r>
              <a:rPr lang="en-US" sz="4000" dirty="0"/>
              <a:t>sachin.12@yahoo.com </a:t>
            </a:r>
            <a:r>
              <a:rPr lang="ne-NP" sz="4000" dirty="0"/>
              <a:t>नामको</a:t>
            </a:r>
            <a:r>
              <a:rPr lang="en-US" sz="4000" dirty="0"/>
              <a:t> email</a:t>
            </a:r>
            <a:r>
              <a:rPr lang="ne-NP" sz="4000" dirty="0"/>
              <a:t> </a:t>
            </a:r>
            <a:r>
              <a:rPr lang="en-US" sz="4000" dirty="0"/>
              <a:t>ID </a:t>
            </a:r>
            <a:r>
              <a:rPr lang="ne-NP" sz="4000" dirty="0"/>
              <a:t>बाट तिन दिन भित्र सो फिरौति नदिए सबै </a:t>
            </a:r>
            <a:r>
              <a:rPr lang="en-US" sz="4000" dirty="0"/>
              <a:t>Data</a:t>
            </a:r>
            <a:r>
              <a:rPr lang="ne-NP" sz="4000" dirty="0"/>
              <a:t> हरु </a:t>
            </a:r>
            <a:r>
              <a:rPr lang="en-US" sz="4000" dirty="0"/>
              <a:t>Permanent </a:t>
            </a:r>
            <a:r>
              <a:rPr lang="ne-NP" sz="4000" dirty="0"/>
              <a:t>रुपमा </a:t>
            </a:r>
            <a:r>
              <a:rPr lang="en-US" sz="4000" dirty="0"/>
              <a:t>Delete </a:t>
            </a:r>
            <a:r>
              <a:rPr lang="ne-NP" sz="4000" dirty="0"/>
              <a:t>गर्ने धम्कि आएको ।</a:t>
            </a:r>
          </a:p>
          <a:p>
            <a:r>
              <a:rPr lang="ne-NP" sz="4000" dirty="0"/>
              <a:t>अनुसन्धानका क्रममा</a:t>
            </a:r>
            <a:r>
              <a:rPr lang="en-US" sz="4000" dirty="0"/>
              <a:t> sachin.12@yahoo.com  </a:t>
            </a:r>
            <a:r>
              <a:rPr lang="ne-NP" sz="4000" dirty="0"/>
              <a:t>इमेल ठेगाना 124.41.204.21</a:t>
            </a:r>
            <a:r>
              <a:rPr lang="en-US" sz="4000" dirty="0"/>
              <a:t> </a:t>
            </a:r>
            <a:r>
              <a:rPr lang="ne-NP" sz="4000" dirty="0"/>
              <a:t>नामक </a:t>
            </a:r>
            <a:r>
              <a:rPr lang="en-US" sz="4000" dirty="0"/>
              <a:t>IP </a:t>
            </a:r>
            <a:r>
              <a:rPr lang="ne-NP" sz="4000" dirty="0"/>
              <a:t>बाट प्राप्त भएको खुलेको</a:t>
            </a:r>
          </a:p>
          <a:p>
            <a:endParaRPr lang="ne-NP" sz="3600" dirty="0"/>
          </a:p>
          <a:p>
            <a:endParaRPr lang="en-US" sz="3600" dirty="0"/>
          </a:p>
          <a:p>
            <a:endParaRPr lang="en-US" dirty="0"/>
          </a:p>
        </p:txBody>
      </p:sp>
    </p:spTree>
    <p:extLst>
      <p:ext uri="{BB962C8B-B14F-4D97-AF65-F5344CB8AC3E}">
        <p14:creationId xmlns:p14="http://schemas.microsoft.com/office/powerpoint/2010/main" val="2266411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62164-77DE-B000-2C9D-59D7D236D858}"/>
              </a:ext>
            </a:extLst>
          </p:cNvPr>
          <p:cNvSpPr>
            <a:spLocks noGrp="1"/>
          </p:cNvSpPr>
          <p:nvPr>
            <p:ph idx="1"/>
          </p:nvPr>
        </p:nvSpPr>
        <p:spPr>
          <a:xfrm>
            <a:off x="250371" y="359229"/>
            <a:ext cx="11658599" cy="6128657"/>
          </a:xfrm>
        </p:spPr>
        <p:txBody>
          <a:bodyPr>
            <a:normAutofit fontScale="77500" lnSpcReduction="20000"/>
          </a:bodyPr>
          <a:lstStyle/>
          <a:p>
            <a:r>
              <a:rPr lang="ne-NP" sz="3600" dirty="0"/>
              <a:t>मेरो इमेल ठेगाना</a:t>
            </a:r>
            <a:r>
              <a:rPr lang="en-US" sz="3600" dirty="0"/>
              <a:t> </a:t>
            </a:r>
            <a:r>
              <a:rPr lang="en-US" sz="3600" dirty="0">
                <a:hlinkClick r:id="rId2"/>
              </a:rPr>
              <a:t>bhupal22@gmail.com</a:t>
            </a:r>
            <a:r>
              <a:rPr lang="en-US" sz="3600" dirty="0"/>
              <a:t> </a:t>
            </a:r>
            <a:r>
              <a:rPr lang="ne-NP" sz="3600" dirty="0"/>
              <a:t> मा </a:t>
            </a:r>
            <a:r>
              <a:rPr lang="en-US" sz="3600" b="0" i="0" dirty="0">
                <a:solidFill>
                  <a:srgbClr val="0F69FF"/>
                </a:solidFill>
                <a:effectLst/>
                <a:latin typeface="Helvetica Neue"/>
                <a:hlinkClick r:id="rId3"/>
              </a:rPr>
              <a:t>scchu@bit.kuas.edu.tw</a:t>
            </a:r>
            <a:r>
              <a:rPr lang="ne-NP" sz="3600" b="0" i="0" dirty="0">
                <a:solidFill>
                  <a:srgbClr val="0F69FF"/>
                </a:solidFill>
                <a:effectLst/>
                <a:latin typeface="Helvetica Neue"/>
              </a:rPr>
              <a:t> ठेगानाबाट</a:t>
            </a:r>
            <a:r>
              <a:rPr lang="ne-NP" sz="3600" dirty="0"/>
              <a:t> मिति २०८१।०२।१७ देखि निरन्तर रूपमा अवाञ्छित, अनधिकृत तथा भ्रामक इमेलहरू प्राप्त भइरहेका छन्। ती इमेलहरूमा कुनै पनि प्रकारको अनुमति नलिइ विज्ञापन, लिंक, अफर तथा कहिलेकाहीँ शंकास्पद सामग्री पठाइँदै आएको छ, जसले मेरो व्यक्तिगत गोपनीयता उल्लङ्घन हुनुका साथै मानसिक तनाव र कार्यसम्पादनमा असर पुर्‍याएको छ। मिति २०८१।०२।२३ का दिन एकैपटकमा १००० भन्दा बठि त्यस्ता </a:t>
            </a:r>
            <a:r>
              <a:rPr lang="en-US" sz="3600" dirty="0"/>
              <a:t>email </a:t>
            </a:r>
            <a:r>
              <a:rPr lang="ne-NP" sz="3600" dirty="0"/>
              <a:t>आएपछि मेरो </a:t>
            </a:r>
            <a:r>
              <a:rPr lang="en-US" sz="3600" dirty="0"/>
              <a:t>email </a:t>
            </a:r>
            <a:r>
              <a:rPr lang="ne-NP" sz="3600" dirty="0"/>
              <a:t>को </a:t>
            </a:r>
            <a:r>
              <a:rPr lang="en-US" sz="3600" dirty="0"/>
              <a:t>inbox </a:t>
            </a:r>
            <a:r>
              <a:rPr lang="ne-NP" sz="3600" dirty="0"/>
              <a:t>भरिन गइ अत्यन्न महत्वपूर्ण सूचाहरुबाट बञ्चित हुनुपरेकोले सो इमेल पठाउने ब्यक्ति लाइ पक्राउ गरी</a:t>
            </a:r>
            <a:r>
              <a:rPr lang="ne-NP" sz="3600" dirty="0">
                <a:cs typeface="Kalimati" panose="00000400000000000000" pitchFamily="2"/>
              </a:rPr>
              <a:t> विद्युतीय कारोवार ऐन, २०६३ को दफा ४६ बमोजिम कारवाहि गरी पाऊँ भन्ने जाहेरी दरखास्त ।</a:t>
            </a:r>
          </a:p>
          <a:p>
            <a:r>
              <a:rPr lang="en-US" sz="3600" b="0" i="0" dirty="0">
                <a:solidFill>
                  <a:srgbClr val="0F69FF"/>
                </a:solidFill>
                <a:effectLst/>
                <a:latin typeface="Helvetica Neue"/>
                <a:hlinkClick r:id="rId3"/>
              </a:rPr>
              <a:t>scchu@bit.kuas.edu.tw</a:t>
            </a:r>
            <a:r>
              <a:rPr lang="ne-NP" sz="3600" b="0" i="0" dirty="0">
                <a:solidFill>
                  <a:srgbClr val="0F69FF"/>
                </a:solidFill>
                <a:effectLst/>
                <a:latin typeface="Helvetica Neue"/>
              </a:rPr>
              <a:t> भन्ने </a:t>
            </a:r>
            <a:r>
              <a:rPr lang="en-US" sz="3600" b="0" i="0" dirty="0">
                <a:solidFill>
                  <a:srgbClr val="0F69FF"/>
                </a:solidFill>
                <a:effectLst/>
                <a:latin typeface="Helvetica Neue"/>
              </a:rPr>
              <a:t>email inbox </a:t>
            </a:r>
            <a:r>
              <a:rPr lang="ne-NP" sz="3600" b="0" i="0" dirty="0">
                <a:solidFill>
                  <a:srgbClr val="0F69FF"/>
                </a:solidFill>
                <a:effectLst/>
                <a:latin typeface="Helvetica Neue"/>
              </a:rPr>
              <a:t>मा देखिए तापनि इमेल प्राप्त भएको बास्तविक ठेगाना </a:t>
            </a:r>
            <a:r>
              <a:rPr lang="en-US" sz="3600" b="0" i="0" dirty="0">
                <a:solidFill>
                  <a:srgbClr val="0F69FF"/>
                </a:solidFill>
                <a:effectLst/>
                <a:latin typeface="Helvetica Neue"/>
                <a:hlinkClick r:id="rId4"/>
              </a:rPr>
              <a:t>sagri</a:t>
            </a:r>
            <a:r>
              <a:rPr lang="en-US" sz="3600" dirty="0">
                <a:solidFill>
                  <a:srgbClr val="0F69FF"/>
                </a:solidFill>
                <a:latin typeface="Helvetica Neue"/>
                <a:hlinkClick r:id="rId4"/>
              </a:rPr>
              <a:t>tali15@gmail.com</a:t>
            </a:r>
            <a:r>
              <a:rPr lang="en-US" sz="3600" dirty="0">
                <a:solidFill>
                  <a:srgbClr val="0F69FF"/>
                </a:solidFill>
                <a:latin typeface="Helvetica Neue"/>
              </a:rPr>
              <a:t> </a:t>
            </a:r>
            <a:r>
              <a:rPr lang="ne-NP" sz="3600" dirty="0">
                <a:solidFill>
                  <a:srgbClr val="0F69FF"/>
                </a:solidFill>
                <a:latin typeface="Helvetica Neue"/>
              </a:rPr>
              <a:t>सहित सो इमेलका पेशक प्रतिवादि सङ्ग्राम पाठक लाइ </a:t>
            </a:r>
            <a:r>
              <a:rPr lang="ne-NP" sz="3600" dirty="0">
                <a:cs typeface="Kalimati" panose="00000400000000000000" pitchFamily="2"/>
              </a:rPr>
              <a:t>विद्युतीय कारोवार ऐन, २०६३ को दफा ४६ बमोजिम सजाय मागदाबि गरिएको ।</a:t>
            </a:r>
          </a:p>
          <a:p>
            <a:endParaRPr lang="ne-NP" sz="3600" dirty="0">
              <a:cs typeface="Kalimati" panose="00000400000000000000" pitchFamily="2"/>
            </a:endParaRPr>
          </a:p>
          <a:p>
            <a:pPr marL="0" indent="0">
              <a:buNone/>
            </a:pPr>
            <a:endParaRPr lang="en-US" dirty="0"/>
          </a:p>
        </p:txBody>
      </p:sp>
    </p:spTree>
    <p:extLst>
      <p:ext uri="{BB962C8B-B14F-4D97-AF65-F5344CB8AC3E}">
        <p14:creationId xmlns:p14="http://schemas.microsoft.com/office/powerpoint/2010/main" val="341376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000" b="1" dirty="0"/>
              <a:t>Unauthorized access to computer systems or networks (Sec 45)</a:t>
            </a:r>
            <a:endParaRPr lang="en-US" sz="4000" dirty="0"/>
          </a:p>
        </p:txBody>
      </p:sp>
      <p:sp>
        <p:nvSpPr>
          <p:cNvPr id="3" name="Content Placeholder 2"/>
          <p:cNvSpPr>
            <a:spLocks noGrp="1"/>
          </p:cNvSpPr>
          <p:nvPr>
            <p:ph idx="1"/>
          </p:nvPr>
        </p:nvSpPr>
        <p:spPr>
          <a:xfrm>
            <a:off x="259080" y="2160589"/>
            <a:ext cx="11673840" cy="4341811"/>
          </a:xfrm>
        </p:spPr>
        <p:txBody>
          <a:bodyPr>
            <a:normAutofit/>
          </a:bodyPr>
          <a:lstStyle/>
          <a:p>
            <a:r>
              <a:rPr lang="en-US" sz="4000" dirty="0"/>
              <a:t>This activity is commonly referred to as hacking.</a:t>
            </a:r>
          </a:p>
          <a:p>
            <a:r>
              <a:rPr lang="en-US" sz="4000" dirty="0"/>
              <a:t>Different connotation to the term hacking, so we will not use the term "unauthorized access" interchangeably with the term hacking.</a:t>
            </a:r>
          </a:p>
          <a:p>
            <a:endParaRPr lang="en-US" dirty="0"/>
          </a:p>
        </p:txBody>
      </p:sp>
      <p:sp>
        <p:nvSpPr>
          <p:cNvPr id="4" name="Footer Placeholder 3">
            <a:extLst>
              <a:ext uri="{FF2B5EF4-FFF2-40B4-BE49-F238E27FC236}">
                <a16:creationId xmlns:a16="http://schemas.microsoft.com/office/drawing/2014/main" id="{8FC3BB02-7667-2D6B-D560-5CADC200488F}"/>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9A8E0C48-B1BF-0D72-2DFB-41A869D6BC47}"/>
              </a:ext>
            </a:extLst>
          </p:cNvPr>
          <p:cNvSpPr>
            <a:spLocks noGrp="1"/>
          </p:cNvSpPr>
          <p:nvPr>
            <p:ph type="sldNum" sz="quarter" idx="12"/>
          </p:nvPr>
        </p:nvSpPr>
        <p:spPr/>
        <p:txBody>
          <a:bodyPr/>
          <a:lstStyle/>
          <a:p>
            <a:fld id="{206048C0-C8B7-4832-8A8D-D83BA7A49C27}"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B770E-0809-433C-840C-2E4C3BAED73C}"/>
              </a:ext>
            </a:extLst>
          </p:cNvPr>
          <p:cNvSpPr>
            <a:spLocks noGrp="1"/>
          </p:cNvSpPr>
          <p:nvPr>
            <p:ph type="title"/>
          </p:nvPr>
        </p:nvSpPr>
        <p:spPr>
          <a:xfrm>
            <a:off x="838200" y="365125"/>
            <a:ext cx="10515600" cy="1126217"/>
          </a:xfrm>
        </p:spPr>
        <p:txBody>
          <a:bodyPr>
            <a:normAutofit/>
          </a:bodyPr>
          <a:lstStyle/>
          <a:p>
            <a:r>
              <a:rPr lang="en-US" sz="4800" b="1" dirty="0">
                <a:latin typeface="Times New Roman" panose="02020603050405020304" pitchFamily="18" charset="0"/>
                <a:cs typeface="Times New Roman" panose="02020603050405020304" pitchFamily="18" charset="0"/>
              </a:rPr>
              <a:t>Phishing </a:t>
            </a:r>
            <a:br>
              <a:rPr lang="en-US" sz="4800" dirty="0">
                <a:latin typeface="Times New Roman" panose="02020603050405020304" pitchFamily="18" charset="0"/>
                <a:cs typeface="Times New Roman" panose="02020603050405020304" pitchFamily="18" charset="0"/>
              </a:rPr>
            </a:br>
            <a:r>
              <a:rPr lang="en-US" sz="2400" b="1" dirty="0"/>
              <a:t>(No exact provisions on ETA but we can relate it with sec. 45)</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1D8A3F-A5A9-470E-9A4A-0C41F2B8A13E}"/>
              </a:ext>
            </a:extLst>
          </p:cNvPr>
          <p:cNvSpPr>
            <a:spLocks noGrp="1"/>
          </p:cNvSpPr>
          <p:nvPr>
            <p:ph idx="1"/>
          </p:nvPr>
        </p:nvSpPr>
        <p:spPr>
          <a:xfrm>
            <a:off x="838200" y="2235199"/>
            <a:ext cx="10515600" cy="3941763"/>
          </a:xfrm>
        </p:spPr>
        <p:txBody>
          <a:bodyPr>
            <a:normAutofit fontScale="85000" lnSpcReduction="20000"/>
          </a:bodyPr>
          <a:lstStyle/>
          <a:p>
            <a:pPr marL="0" indent="0">
              <a:buNone/>
            </a:pPr>
            <a:r>
              <a:rPr lang="en-US" sz="3200" dirty="0">
                <a:latin typeface="Times New Roman" panose="02020603050405020304" pitchFamily="18" charset="0"/>
                <a:cs typeface="Times New Roman" panose="02020603050405020304" pitchFamily="18" charset="0"/>
              </a:rPr>
              <a:t>Phishing is </a:t>
            </a:r>
            <a:r>
              <a:rPr lang="en-US" sz="3200" b="1" dirty="0">
                <a:latin typeface="Times New Roman" panose="02020603050405020304" pitchFamily="18" charset="0"/>
                <a:cs typeface="Times New Roman" panose="02020603050405020304" pitchFamily="18" charset="0"/>
              </a:rPr>
              <a:t>fraudulent attempt </a:t>
            </a:r>
            <a:r>
              <a:rPr lang="en-US" sz="3200" dirty="0">
                <a:latin typeface="Times New Roman" panose="02020603050405020304" pitchFamily="18" charset="0"/>
                <a:cs typeface="Times New Roman" panose="02020603050405020304" pitchFamily="18" charset="0"/>
              </a:rPr>
              <a:t>to </a:t>
            </a:r>
            <a:r>
              <a:rPr lang="en-US" sz="3200" b="1" dirty="0">
                <a:latin typeface="Times New Roman" panose="02020603050405020304" pitchFamily="18" charset="0"/>
                <a:cs typeface="Times New Roman" panose="02020603050405020304" pitchFamily="18" charset="0"/>
              </a:rPr>
              <a:t>obtain sensitive information </a:t>
            </a:r>
            <a:r>
              <a:rPr lang="en-US" sz="3200" dirty="0">
                <a:latin typeface="Times New Roman" panose="02020603050405020304" pitchFamily="18" charset="0"/>
                <a:cs typeface="Times New Roman" panose="02020603050405020304" pitchFamily="18" charset="0"/>
              </a:rPr>
              <a:t>such as username, password, credit card details by means of electronic communications. </a:t>
            </a:r>
          </a:p>
          <a:p>
            <a:pPr marL="0" indent="0">
              <a:buNone/>
            </a:pPr>
            <a:r>
              <a:rPr lang="en-US" sz="3200" dirty="0">
                <a:latin typeface="Times New Roman" panose="02020603050405020304" pitchFamily="18" charset="0"/>
                <a:cs typeface="Times New Roman" panose="02020603050405020304" pitchFamily="18" charset="0"/>
              </a:rPr>
              <a:t>	- by means of forms.</a:t>
            </a:r>
          </a:p>
          <a:p>
            <a:pPr marL="0" indent="0">
              <a:buNone/>
            </a:pPr>
            <a:r>
              <a:rPr lang="en-US" sz="3200" dirty="0">
                <a:latin typeface="Times New Roman" panose="02020603050405020304" pitchFamily="18" charset="0"/>
                <a:cs typeface="Times New Roman" panose="02020603050405020304" pitchFamily="18" charset="0"/>
              </a:rPr>
              <a:t>	- link manipulation.</a:t>
            </a:r>
          </a:p>
          <a:p>
            <a:pPr marL="0" indent="0">
              <a:buNone/>
            </a:pPr>
            <a:r>
              <a:rPr lang="en-US" sz="3200" dirty="0">
                <a:latin typeface="Times New Roman" panose="02020603050405020304" pitchFamily="18" charset="0"/>
                <a:cs typeface="Times New Roman" panose="02020603050405020304" pitchFamily="18" charset="0"/>
              </a:rPr>
              <a:t>	- key loggers</a:t>
            </a:r>
          </a:p>
          <a:p>
            <a:pPr marL="0" indent="0">
              <a:buNone/>
            </a:pPr>
            <a:r>
              <a:rPr lang="en-US" sz="3200" dirty="0">
                <a:latin typeface="Times New Roman" panose="02020603050405020304" pitchFamily="18" charset="0"/>
                <a:cs typeface="Times New Roman" panose="02020603050405020304" pitchFamily="18" charset="0"/>
              </a:rPr>
              <a:t>	- Content Injection</a:t>
            </a:r>
          </a:p>
          <a:p>
            <a:pPr marL="0" indent="0">
              <a:buNone/>
            </a:pPr>
            <a:r>
              <a:rPr lang="en-US" sz="3200" dirty="0">
                <a:latin typeface="Times New Roman" panose="02020603050405020304" pitchFamily="18" charset="0"/>
                <a:cs typeface="Times New Roman" panose="02020603050405020304" pitchFamily="18" charset="0"/>
              </a:rPr>
              <a:t>	</a:t>
            </a:r>
          </a:p>
          <a:p>
            <a:pPr marL="0" indent="0">
              <a:buNone/>
            </a:pPr>
            <a:r>
              <a:rPr lang="en-US" sz="3200" dirty="0">
                <a:latin typeface="Times New Roman" panose="02020603050405020304" pitchFamily="18" charset="0"/>
                <a:cs typeface="Times New Roman" panose="02020603050405020304" pitchFamily="18" charset="0"/>
              </a:rPr>
              <a:t>	</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F1658C8-1BDF-EA56-64A7-044425CC624C}"/>
              </a:ext>
            </a:extLst>
          </p:cNvPr>
          <p:cNvSpPr>
            <a:spLocks noGrp="1"/>
          </p:cNvSpPr>
          <p:nvPr>
            <p:ph type="ftr" sz="quarter" idx="11"/>
          </p:nvPr>
        </p:nvSpPr>
        <p:spPr/>
        <p:txBody>
          <a:bodyPr/>
          <a:lstStyle/>
          <a:p>
            <a:r>
              <a:rPr lang="en-US"/>
              <a:t>Cybercrime and Cyber Security</a:t>
            </a:r>
          </a:p>
        </p:txBody>
      </p:sp>
      <p:sp>
        <p:nvSpPr>
          <p:cNvPr id="6" name="Slide Number Placeholder 5">
            <a:extLst>
              <a:ext uri="{FF2B5EF4-FFF2-40B4-BE49-F238E27FC236}">
                <a16:creationId xmlns:a16="http://schemas.microsoft.com/office/drawing/2014/main" id="{61B9DE8D-0307-D090-677A-F010EDBE022B}"/>
              </a:ext>
            </a:extLst>
          </p:cNvPr>
          <p:cNvSpPr>
            <a:spLocks noGrp="1"/>
          </p:cNvSpPr>
          <p:nvPr>
            <p:ph type="sldNum" sz="quarter" idx="12"/>
          </p:nvPr>
        </p:nvSpPr>
        <p:spPr/>
        <p:txBody>
          <a:bodyPr/>
          <a:lstStyle/>
          <a:p>
            <a:fld id="{206048C0-C8B7-4832-8A8D-D83BA7A49C27}" type="slidenum">
              <a:rPr lang="en-US" smtClean="0"/>
              <a:pPr/>
              <a:t>28</a:t>
            </a:fld>
            <a:endParaRPr lang="en-US"/>
          </a:p>
        </p:txBody>
      </p:sp>
      <p:pic>
        <p:nvPicPr>
          <p:cNvPr id="5" name="Picture 4">
            <a:extLst>
              <a:ext uri="{FF2B5EF4-FFF2-40B4-BE49-F238E27FC236}">
                <a16:creationId xmlns:a16="http://schemas.microsoft.com/office/drawing/2014/main" id="{54AC527E-5E7E-4C0E-863F-DF7FFAAE7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7981" y="3146323"/>
            <a:ext cx="5899453" cy="3030640"/>
          </a:xfrm>
          <a:prstGeom prst="rect">
            <a:avLst/>
          </a:prstGeom>
        </p:spPr>
      </p:pic>
    </p:spTree>
    <p:extLst>
      <p:ext uri="{BB962C8B-B14F-4D97-AF65-F5344CB8AC3E}">
        <p14:creationId xmlns:p14="http://schemas.microsoft.com/office/powerpoint/2010/main" val="3090458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ypes of Phishing: A Comprehensive Guide">
            <a:extLst>
              <a:ext uri="{FF2B5EF4-FFF2-40B4-BE49-F238E27FC236}">
                <a16:creationId xmlns:a16="http://schemas.microsoft.com/office/drawing/2014/main" id="{220FE0D0-EDD0-BB43-EF9E-6139255E31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4657" y="587829"/>
            <a:ext cx="8763000" cy="5725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146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99E14-CB1E-7BA4-09F9-1F55A7E9EA49}"/>
              </a:ext>
            </a:extLst>
          </p:cNvPr>
          <p:cNvSpPr>
            <a:spLocks noGrp="1"/>
          </p:cNvSpPr>
          <p:nvPr>
            <p:ph idx="1"/>
          </p:nvPr>
        </p:nvSpPr>
        <p:spPr>
          <a:xfrm>
            <a:off x="544285" y="957943"/>
            <a:ext cx="11244943" cy="5077097"/>
          </a:xfrm>
        </p:spPr>
        <p:txBody>
          <a:bodyPr>
            <a:normAutofit lnSpcReduction="10000"/>
          </a:bodyPr>
          <a:lstStyle/>
          <a:p>
            <a:pPr marL="0" indent="0">
              <a:buNone/>
            </a:pPr>
            <a:r>
              <a:rPr lang="en-GB" sz="6600" dirty="0"/>
              <a:t>Crime may be the same. But punishment might be different on the basis of which door is used by the criminals.</a:t>
            </a:r>
            <a:endParaRPr lang="en-US" sz="6600" dirty="0"/>
          </a:p>
        </p:txBody>
      </p:sp>
    </p:spTree>
    <p:extLst>
      <p:ext uri="{BB962C8B-B14F-4D97-AF65-F5344CB8AC3E}">
        <p14:creationId xmlns:p14="http://schemas.microsoft.com/office/powerpoint/2010/main" val="504763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t>Internet Time Thefts</a:t>
            </a:r>
            <a:br>
              <a:rPr lang="en-US" sz="6000" b="1" dirty="0"/>
            </a:br>
            <a:r>
              <a:rPr lang="en-US" sz="2700" b="1" dirty="0"/>
              <a:t>(No exact provisions on ETA)</a:t>
            </a:r>
            <a:endParaRPr lang="en-US" sz="2700" dirty="0"/>
          </a:p>
        </p:txBody>
      </p:sp>
      <p:sp>
        <p:nvSpPr>
          <p:cNvPr id="3" name="Content Placeholder 2"/>
          <p:cNvSpPr>
            <a:spLocks noGrp="1"/>
          </p:cNvSpPr>
          <p:nvPr>
            <p:ph idx="1"/>
          </p:nvPr>
        </p:nvSpPr>
        <p:spPr>
          <a:xfrm>
            <a:off x="677334" y="1959429"/>
            <a:ext cx="11255586" cy="4348243"/>
          </a:xfrm>
        </p:spPr>
        <p:txBody>
          <a:bodyPr>
            <a:normAutofit fontScale="92500"/>
          </a:bodyPr>
          <a:lstStyle/>
          <a:p>
            <a:pPr>
              <a:buFont typeface="Wingdings" pitchFamily="2" charset="2"/>
              <a:buChar char="Ø"/>
            </a:pPr>
            <a:r>
              <a:rPr lang="en-US" sz="5400" dirty="0"/>
              <a:t>This connotes the usage by an unauthorized person of the </a:t>
            </a:r>
            <a:r>
              <a:rPr lang="en-US" sz="5400" dirty="0">
                <a:solidFill>
                  <a:srgbClr val="FF0000"/>
                </a:solidFill>
              </a:rPr>
              <a:t>Internet hours paid  by another person</a:t>
            </a:r>
            <a:r>
              <a:rPr lang="en-US" sz="5400" dirty="0"/>
              <a:t>.</a:t>
            </a:r>
          </a:p>
          <a:p>
            <a:pPr>
              <a:buFont typeface="Wingdings" pitchFamily="2" charset="2"/>
              <a:buChar char="Ø"/>
            </a:pPr>
            <a:r>
              <a:rPr lang="en-US" sz="5400" dirty="0"/>
              <a:t>The Router is in control of unauthorized person.</a:t>
            </a:r>
          </a:p>
        </p:txBody>
      </p:sp>
      <p:sp>
        <p:nvSpPr>
          <p:cNvPr id="4" name="Footer Placeholder 3">
            <a:extLst>
              <a:ext uri="{FF2B5EF4-FFF2-40B4-BE49-F238E27FC236}">
                <a16:creationId xmlns:a16="http://schemas.microsoft.com/office/drawing/2014/main" id="{421D48C2-C82B-AA3E-358A-ABF28B922A15}"/>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5432A213-BCEE-61B5-9799-3C90EC9B11A3}"/>
              </a:ext>
            </a:extLst>
          </p:cNvPr>
          <p:cNvSpPr>
            <a:spLocks noGrp="1"/>
          </p:cNvSpPr>
          <p:nvPr>
            <p:ph type="sldNum" sz="quarter" idx="12"/>
          </p:nvPr>
        </p:nvSpPr>
        <p:spPr/>
        <p:txBody>
          <a:bodyPr/>
          <a:lstStyle/>
          <a:p>
            <a:fld id="{206048C0-C8B7-4832-8A8D-D83BA7A49C27}"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233714"/>
          </a:xfrm>
        </p:spPr>
        <p:txBody>
          <a:bodyPr>
            <a:noAutofit/>
          </a:bodyPr>
          <a:lstStyle/>
          <a:p>
            <a:pPr algn="ctr"/>
            <a:r>
              <a:rPr lang="en-US" sz="4400" b="1" dirty="0"/>
              <a:t>Logic Bombs</a:t>
            </a:r>
            <a:br>
              <a:rPr lang="en-US" sz="2800" dirty="0"/>
            </a:br>
            <a:r>
              <a:rPr lang="en-US" sz="2800" b="1" dirty="0"/>
              <a:t>(No exact provisions on ETA)</a:t>
            </a:r>
            <a:endParaRPr lang="en-US" sz="2800" dirty="0"/>
          </a:p>
        </p:txBody>
      </p:sp>
      <p:sp>
        <p:nvSpPr>
          <p:cNvPr id="3" name="Content Placeholder 2"/>
          <p:cNvSpPr>
            <a:spLocks noGrp="1"/>
          </p:cNvSpPr>
          <p:nvPr>
            <p:ph idx="1"/>
          </p:nvPr>
        </p:nvSpPr>
        <p:spPr>
          <a:xfrm>
            <a:off x="348343" y="1843313"/>
            <a:ext cx="11584577" cy="4579258"/>
          </a:xfrm>
        </p:spPr>
        <p:txBody>
          <a:bodyPr>
            <a:normAutofit fontScale="70000" lnSpcReduction="20000"/>
          </a:bodyPr>
          <a:lstStyle/>
          <a:p>
            <a:pPr algn="just">
              <a:buNone/>
            </a:pPr>
            <a:r>
              <a:rPr lang="en-US" sz="3600" dirty="0"/>
              <a:t>	These are event dependent programs. This implies that these programs are created to do something </a:t>
            </a:r>
            <a:r>
              <a:rPr lang="en-US" sz="3600" dirty="0">
                <a:solidFill>
                  <a:srgbClr val="FF0000"/>
                </a:solidFill>
              </a:rPr>
              <a:t>only when a certain event occurs</a:t>
            </a:r>
            <a:r>
              <a:rPr lang="en-US" sz="3600" dirty="0"/>
              <a:t>. Even some viruses may be termed logic bombs because they lie dormant all through the year and become active only on a particular date (</a:t>
            </a:r>
            <a:r>
              <a:rPr lang="en-US" sz="3600" b="1" dirty="0" err="1"/>
              <a:t>Eg</a:t>
            </a:r>
            <a:r>
              <a:rPr lang="en-US" sz="3600" b="1" dirty="0"/>
              <a:t>. Chernobyl virus, 1998</a:t>
            </a:r>
            <a:r>
              <a:rPr lang="en-US" sz="3600" dirty="0"/>
              <a:t>).</a:t>
            </a:r>
          </a:p>
          <a:p>
            <a:pPr algn="just"/>
            <a:r>
              <a:rPr lang="en-US" sz="3600" dirty="0"/>
              <a:t>26</a:t>
            </a:r>
            <a:r>
              <a:rPr lang="en-US" sz="3600" baseline="30000" dirty="0"/>
              <a:t>th</a:t>
            </a:r>
            <a:r>
              <a:rPr lang="en-US" sz="3600" dirty="0"/>
              <a:t> Day of each months. Most destructive on April and June 26</a:t>
            </a:r>
          </a:p>
          <a:p>
            <a:pPr algn="just"/>
            <a:r>
              <a:rPr lang="en-US" sz="3600" dirty="0"/>
              <a:t>Also called </a:t>
            </a:r>
            <a:r>
              <a:rPr lang="en-US" sz="3600" b="1" dirty="0"/>
              <a:t>CHI Virus, Created by Taiwanese student Chen Ing-</a:t>
            </a:r>
            <a:r>
              <a:rPr lang="en-US" sz="3600" b="1" dirty="0" err="1"/>
              <a:t>hau</a:t>
            </a:r>
            <a:r>
              <a:rPr lang="en-US" sz="3600" b="1" dirty="0"/>
              <a:t>.</a:t>
            </a:r>
          </a:p>
          <a:p>
            <a:pPr algn="just"/>
            <a:r>
              <a:rPr lang="en-US" sz="3600" b="1" dirty="0"/>
              <a:t>Overwrite hard drives and damage BIOS of motherboard.</a:t>
            </a:r>
          </a:p>
          <a:p>
            <a:pPr algn="just"/>
            <a:r>
              <a:rPr lang="en-US" sz="3600" b="1" dirty="0"/>
              <a:t>Damage 60 million computers worldwide, causing over $1 billion in total damages.</a:t>
            </a:r>
          </a:p>
          <a:p>
            <a:pPr algn="just"/>
            <a:r>
              <a:rPr lang="en-US" sz="3600" b="1" dirty="0"/>
              <a:t>Affected Country: South Korea, Turkey, China</a:t>
            </a:r>
          </a:p>
          <a:p>
            <a:endParaRPr lang="en-US" dirty="0"/>
          </a:p>
        </p:txBody>
      </p:sp>
      <p:sp>
        <p:nvSpPr>
          <p:cNvPr id="4" name="Footer Placeholder 3">
            <a:extLst>
              <a:ext uri="{FF2B5EF4-FFF2-40B4-BE49-F238E27FC236}">
                <a16:creationId xmlns:a16="http://schemas.microsoft.com/office/drawing/2014/main" id="{92B67B5B-2CF0-4A94-D02B-48D8C661028C}"/>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7A5A8B09-4C51-06E8-C6AB-31FA7AB2143E}"/>
              </a:ext>
            </a:extLst>
          </p:cNvPr>
          <p:cNvSpPr>
            <a:spLocks noGrp="1"/>
          </p:cNvSpPr>
          <p:nvPr>
            <p:ph type="sldNum" sz="quarter" idx="12"/>
          </p:nvPr>
        </p:nvSpPr>
        <p:spPr/>
        <p:txBody>
          <a:bodyPr/>
          <a:lstStyle/>
          <a:p>
            <a:fld id="{206048C0-C8B7-4832-8A8D-D83BA7A49C27}"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538514"/>
          </a:xfrm>
        </p:spPr>
        <p:txBody>
          <a:bodyPr>
            <a:noAutofit/>
          </a:bodyPr>
          <a:lstStyle/>
          <a:p>
            <a:r>
              <a:rPr lang="en-US" sz="5400" b="1" dirty="0"/>
              <a:t>Virus / worm attacks</a:t>
            </a:r>
            <a:br>
              <a:rPr lang="en-US" sz="5400" b="1" dirty="0"/>
            </a:br>
            <a:r>
              <a:rPr lang="en-US" b="1" dirty="0"/>
              <a:t>(No exact provisions on ETA)</a:t>
            </a:r>
            <a:endParaRPr lang="en-US" dirty="0"/>
          </a:p>
        </p:txBody>
      </p:sp>
      <p:sp>
        <p:nvSpPr>
          <p:cNvPr id="3" name="Content Placeholder 2"/>
          <p:cNvSpPr>
            <a:spLocks noGrp="1"/>
          </p:cNvSpPr>
          <p:nvPr>
            <p:ph idx="1"/>
          </p:nvPr>
        </p:nvSpPr>
        <p:spPr>
          <a:xfrm>
            <a:off x="677334" y="2148113"/>
            <a:ext cx="11255586" cy="4285343"/>
          </a:xfrm>
        </p:spPr>
        <p:txBody>
          <a:bodyPr>
            <a:normAutofit/>
          </a:bodyPr>
          <a:lstStyle/>
          <a:p>
            <a:pPr>
              <a:buNone/>
            </a:pPr>
            <a:r>
              <a:rPr lang="en-US" dirty="0"/>
              <a:t>	</a:t>
            </a:r>
            <a:r>
              <a:rPr lang="en-US" sz="3600" dirty="0"/>
              <a:t>Viruses are programs that attach themselves to a computer or a file and then circulate themselves to other files and to other computers on a network. They usually affect the data on a computer, either by </a:t>
            </a:r>
            <a:r>
              <a:rPr lang="en-US" sz="3600" dirty="0">
                <a:solidFill>
                  <a:srgbClr val="FF0000"/>
                </a:solidFill>
              </a:rPr>
              <a:t>altering or deleting </a:t>
            </a:r>
            <a:r>
              <a:rPr lang="en-US" sz="3600" dirty="0"/>
              <a:t>it. Worms, unlike viruses do not need the host to attach themselves .</a:t>
            </a:r>
            <a:endParaRPr lang="en-US" dirty="0"/>
          </a:p>
        </p:txBody>
      </p:sp>
      <p:sp>
        <p:nvSpPr>
          <p:cNvPr id="4" name="Footer Placeholder 3">
            <a:extLst>
              <a:ext uri="{FF2B5EF4-FFF2-40B4-BE49-F238E27FC236}">
                <a16:creationId xmlns:a16="http://schemas.microsoft.com/office/drawing/2014/main" id="{01A756A6-24DC-63BB-7DBE-B52A88D4FF23}"/>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0E9AD80A-43E8-C58B-B6E3-4BDC64798C54}"/>
              </a:ext>
            </a:extLst>
          </p:cNvPr>
          <p:cNvSpPr>
            <a:spLocks noGrp="1"/>
          </p:cNvSpPr>
          <p:nvPr>
            <p:ph type="sldNum" sz="quarter" idx="12"/>
          </p:nvPr>
        </p:nvSpPr>
        <p:spPr/>
        <p:txBody>
          <a:bodyPr/>
          <a:lstStyle/>
          <a:p>
            <a:fld id="{206048C0-C8B7-4832-8A8D-D83BA7A49C27}"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98286"/>
          </a:xfrm>
        </p:spPr>
        <p:txBody>
          <a:bodyPr>
            <a:noAutofit/>
          </a:bodyPr>
          <a:lstStyle/>
          <a:p>
            <a:r>
              <a:rPr lang="en-US" sz="5400" b="1" dirty="0"/>
              <a:t>Data diddling</a:t>
            </a:r>
            <a:br>
              <a:rPr lang="en-US" b="1" dirty="0"/>
            </a:br>
            <a:r>
              <a:rPr lang="en-US" b="1" dirty="0"/>
              <a:t>(No exact provisions on ETA)</a:t>
            </a:r>
            <a:endParaRPr lang="en-US" dirty="0"/>
          </a:p>
        </p:txBody>
      </p:sp>
      <p:sp>
        <p:nvSpPr>
          <p:cNvPr id="3" name="Content Placeholder 2"/>
          <p:cNvSpPr>
            <a:spLocks noGrp="1"/>
          </p:cNvSpPr>
          <p:nvPr>
            <p:ph idx="1"/>
          </p:nvPr>
        </p:nvSpPr>
        <p:spPr>
          <a:xfrm>
            <a:off x="391886" y="1839686"/>
            <a:ext cx="11541034" cy="4648199"/>
          </a:xfrm>
        </p:spPr>
        <p:txBody>
          <a:bodyPr>
            <a:normAutofit/>
          </a:bodyPr>
          <a:lstStyle/>
          <a:p>
            <a:pPr>
              <a:buNone/>
            </a:pPr>
            <a:r>
              <a:rPr lang="en-US" dirty="0"/>
              <a:t>	</a:t>
            </a:r>
            <a:r>
              <a:rPr lang="en-US" sz="4000" dirty="0"/>
              <a:t>This kind of an attack involves </a:t>
            </a:r>
            <a:r>
              <a:rPr lang="en-US" sz="4000" dirty="0">
                <a:solidFill>
                  <a:srgbClr val="FF0000"/>
                </a:solidFill>
              </a:rPr>
              <a:t>altering raw data just before it is processed </a:t>
            </a:r>
            <a:r>
              <a:rPr lang="en-US" sz="4000" dirty="0"/>
              <a:t>by a computer and then changing it back after the processing is completed. Electricity Boards in India have been victims to data diddling programs inserted when private parties were computerizing their systems.</a:t>
            </a:r>
            <a:endParaRPr lang="en-US" dirty="0"/>
          </a:p>
        </p:txBody>
      </p:sp>
      <p:sp>
        <p:nvSpPr>
          <p:cNvPr id="4" name="Footer Placeholder 3">
            <a:extLst>
              <a:ext uri="{FF2B5EF4-FFF2-40B4-BE49-F238E27FC236}">
                <a16:creationId xmlns:a16="http://schemas.microsoft.com/office/drawing/2014/main" id="{C4C31401-F486-E73C-C7A9-745A94D9EE5D}"/>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92379EDD-B49B-8D71-B4E8-22AB0D96CA30}"/>
              </a:ext>
            </a:extLst>
          </p:cNvPr>
          <p:cNvSpPr>
            <a:spLocks noGrp="1"/>
          </p:cNvSpPr>
          <p:nvPr>
            <p:ph type="sldNum" sz="quarter" idx="12"/>
          </p:nvPr>
        </p:nvSpPr>
        <p:spPr/>
        <p:txBody>
          <a:bodyPr/>
          <a:lstStyle/>
          <a:p>
            <a:fld id="{206048C0-C8B7-4832-8A8D-D83BA7A49C27}"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1829"/>
          </a:xfrm>
        </p:spPr>
        <p:txBody>
          <a:bodyPr>
            <a:noAutofit/>
          </a:bodyPr>
          <a:lstStyle/>
          <a:p>
            <a:r>
              <a:rPr lang="en-US" sz="5400" b="1" dirty="0"/>
              <a:t>Ransomware and Malware</a:t>
            </a:r>
            <a:endParaRPr lang="en-US" sz="5400" dirty="0"/>
          </a:p>
        </p:txBody>
      </p:sp>
      <p:sp>
        <p:nvSpPr>
          <p:cNvPr id="3" name="Content Placeholder 2"/>
          <p:cNvSpPr>
            <a:spLocks noGrp="1"/>
          </p:cNvSpPr>
          <p:nvPr>
            <p:ph idx="1"/>
          </p:nvPr>
        </p:nvSpPr>
        <p:spPr>
          <a:xfrm>
            <a:off x="259080" y="1719943"/>
            <a:ext cx="11673840" cy="4753428"/>
          </a:xfrm>
        </p:spPr>
        <p:txBody>
          <a:bodyPr>
            <a:normAutofit/>
          </a:bodyPr>
          <a:lstStyle/>
          <a:p>
            <a:r>
              <a:rPr lang="en-US" sz="4000" dirty="0"/>
              <a:t>Malware or “malicious software” is an umbrella term that describes any malicious program or code that is harmful to systems.</a:t>
            </a:r>
          </a:p>
          <a:p>
            <a:r>
              <a:rPr lang="en-US" sz="4000" dirty="0"/>
              <a:t>The malware that </a:t>
            </a:r>
            <a:r>
              <a:rPr lang="en-US" sz="4000" dirty="0">
                <a:solidFill>
                  <a:srgbClr val="FF0000"/>
                </a:solidFill>
              </a:rPr>
              <a:t>asks for data to be recovered by paying the </a:t>
            </a:r>
            <a:r>
              <a:rPr lang="en-US" sz="4000" b="1" dirty="0">
                <a:solidFill>
                  <a:srgbClr val="FF0000"/>
                </a:solidFill>
              </a:rPr>
              <a:t>ransom</a:t>
            </a:r>
            <a:r>
              <a:rPr lang="en-US" sz="4000" b="1" dirty="0"/>
              <a:t> </a:t>
            </a:r>
            <a:r>
              <a:rPr lang="en-US" sz="4000" dirty="0"/>
              <a:t>generally in the form of </a:t>
            </a:r>
            <a:r>
              <a:rPr lang="en-US" sz="4000" dirty="0" err="1"/>
              <a:t>bitcoins</a:t>
            </a:r>
            <a:r>
              <a:rPr lang="en-US" sz="4000" dirty="0"/>
              <a:t>.</a:t>
            </a:r>
          </a:p>
          <a:p>
            <a:endParaRPr lang="en-US" dirty="0"/>
          </a:p>
        </p:txBody>
      </p:sp>
      <p:sp>
        <p:nvSpPr>
          <p:cNvPr id="4" name="Footer Placeholder 3">
            <a:extLst>
              <a:ext uri="{FF2B5EF4-FFF2-40B4-BE49-F238E27FC236}">
                <a16:creationId xmlns:a16="http://schemas.microsoft.com/office/drawing/2014/main" id="{14E7831F-FF6C-1DCA-19AF-075A373B332F}"/>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23807B25-09F7-758B-F9E5-4C74E9C2582A}"/>
              </a:ext>
            </a:extLst>
          </p:cNvPr>
          <p:cNvSpPr>
            <a:spLocks noGrp="1"/>
          </p:cNvSpPr>
          <p:nvPr>
            <p:ph type="sldNum" sz="quarter" idx="12"/>
          </p:nvPr>
        </p:nvSpPr>
        <p:spPr/>
        <p:txBody>
          <a:bodyPr/>
          <a:lstStyle/>
          <a:p>
            <a:fld id="{206048C0-C8B7-4832-8A8D-D83BA7A49C27}"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35429"/>
            <a:ext cx="8596668" cy="1304881"/>
          </a:xfrm>
        </p:spPr>
        <p:txBody>
          <a:bodyPr>
            <a:noAutofit/>
          </a:bodyPr>
          <a:lstStyle/>
          <a:p>
            <a:r>
              <a:rPr lang="en-US" sz="4400" b="1" dirty="0"/>
              <a:t>Brute Force Attack and Dictionary Attack</a:t>
            </a:r>
          </a:p>
        </p:txBody>
      </p:sp>
      <p:sp>
        <p:nvSpPr>
          <p:cNvPr id="3" name="Content Placeholder 2"/>
          <p:cNvSpPr>
            <a:spLocks noGrp="1"/>
          </p:cNvSpPr>
          <p:nvPr>
            <p:ph idx="1"/>
          </p:nvPr>
        </p:nvSpPr>
        <p:spPr>
          <a:xfrm>
            <a:off x="677334" y="1740310"/>
            <a:ext cx="11255586" cy="4921747"/>
          </a:xfrm>
        </p:spPr>
        <p:txBody>
          <a:bodyPr>
            <a:noAutofit/>
          </a:bodyPr>
          <a:lstStyle/>
          <a:p>
            <a:r>
              <a:rPr lang="en-US" sz="2800" dirty="0"/>
              <a:t>A brute force attack is a hacking method that uses trial and error to crack passwords, login credentials, and encryption keys.</a:t>
            </a:r>
          </a:p>
          <a:p>
            <a:r>
              <a:rPr lang="en-US" sz="2800" dirty="0"/>
              <a:t>This is an old attack method, but it's still effective and popular with hackers. Because depending on the length and complexity of the password, cracking it can take anywhere from a few seconds to many years.</a:t>
            </a:r>
          </a:p>
          <a:p>
            <a:r>
              <a:rPr lang="en-US" sz="2800" dirty="0"/>
              <a:t>“A type of brute force attack where an intruder attempts to crack a password-protected security system with a “dictionary list” of common words and phrases used by businesses and individuals.”</a:t>
            </a:r>
          </a:p>
        </p:txBody>
      </p:sp>
      <p:sp>
        <p:nvSpPr>
          <p:cNvPr id="4" name="Footer Placeholder 3">
            <a:extLst>
              <a:ext uri="{FF2B5EF4-FFF2-40B4-BE49-F238E27FC236}">
                <a16:creationId xmlns:a16="http://schemas.microsoft.com/office/drawing/2014/main" id="{6E4B16C7-B264-83D2-88C2-AD3B5471CD17}"/>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279520DD-1AFC-8F2F-7C88-BCAF7E37AFC8}"/>
              </a:ext>
            </a:extLst>
          </p:cNvPr>
          <p:cNvSpPr>
            <a:spLocks noGrp="1"/>
          </p:cNvSpPr>
          <p:nvPr>
            <p:ph type="sldNum" sz="quarter" idx="12"/>
          </p:nvPr>
        </p:nvSpPr>
        <p:spPr/>
        <p:txBody>
          <a:bodyPr/>
          <a:lstStyle/>
          <a:p>
            <a:fld id="{206048C0-C8B7-4832-8A8D-D83BA7A49C27}"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5B01A-4490-693D-0141-1CC80B09C122}"/>
              </a:ext>
            </a:extLst>
          </p:cNvPr>
          <p:cNvSpPr>
            <a:spLocks noGrp="1"/>
          </p:cNvSpPr>
          <p:nvPr>
            <p:ph type="title"/>
          </p:nvPr>
        </p:nvSpPr>
        <p:spPr>
          <a:xfrm>
            <a:off x="1066800" y="642594"/>
            <a:ext cx="10058400" cy="685463"/>
          </a:xfrm>
        </p:spPr>
        <p:txBody>
          <a:bodyPr>
            <a:normAutofit fontScale="90000"/>
          </a:bodyPr>
          <a:lstStyle/>
          <a:p>
            <a:r>
              <a:rPr lang="en-US" b="1" dirty="0"/>
              <a:t>Spamming</a:t>
            </a:r>
          </a:p>
        </p:txBody>
      </p:sp>
      <p:sp>
        <p:nvSpPr>
          <p:cNvPr id="3" name="Content Placeholder 2">
            <a:extLst>
              <a:ext uri="{FF2B5EF4-FFF2-40B4-BE49-F238E27FC236}">
                <a16:creationId xmlns:a16="http://schemas.microsoft.com/office/drawing/2014/main" id="{30E3F439-3996-B970-B1F7-DB782EE74FEF}"/>
              </a:ext>
            </a:extLst>
          </p:cNvPr>
          <p:cNvSpPr>
            <a:spLocks noGrp="1"/>
          </p:cNvSpPr>
          <p:nvPr>
            <p:ph idx="1"/>
          </p:nvPr>
        </p:nvSpPr>
        <p:spPr>
          <a:xfrm>
            <a:off x="707571" y="1447799"/>
            <a:ext cx="10744200" cy="5083630"/>
          </a:xfrm>
        </p:spPr>
        <p:txBody>
          <a:bodyPr>
            <a:normAutofit/>
          </a:bodyPr>
          <a:lstStyle/>
          <a:p>
            <a:pPr>
              <a:buFont typeface="Wingdings" panose="05000000000000000000" pitchFamily="2" charset="2"/>
              <a:buChar char="§"/>
            </a:pPr>
            <a:r>
              <a:rPr lang="en-US" sz="4000" dirty="0"/>
              <a:t>Spamming refers to the practice of sending unsolicited and often irrelevant messages over the internet to a large number of users. These messages are typically sent for advertising purposes, phishing, spreading malware, or other malicious activities.</a:t>
            </a:r>
          </a:p>
          <a:p>
            <a:pPr marL="0" indent="0">
              <a:buNone/>
            </a:pPr>
            <a:endParaRPr lang="en-US" sz="4000" dirty="0"/>
          </a:p>
        </p:txBody>
      </p:sp>
    </p:spTree>
    <p:extLst>
      <p:ext uri="{BB962C8B-B14F-4D97-AF65-F5344CB8AC3E}">
        <p14:creationId xmlns:p14="http://schemas.microsoft.com/office/powerpoint/2010/main" val="18471743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712A0-77C6-4591-8FD8-E9B6BE1ABA78}"/>
              </a:ext>
            </a:extLst>
          </p:cNvPr>
          <p:cNvSpPr>
            <a:spLocks noGrp="1"/>
          </p:cNvSpPr>
          <p:nvPr>
            <p:ph type="title"/>
          </p:nvPr>
        </p:nvSpPr>
        <p:spPr>
          <a:xfrm>
            <a:off x="1066800" y="642594"/>
            <a:ext cx="10058400" cy="1047650"/>
          </a:xfrm>
        </p:spPr>
        <p:txBody>
          <a:bodyPr>
            <a:normAutofit fontScale="90000"/>
          </a:bodyPr>
          <a:lstStyle/>
          <a:p>
            <a:r>
              <a:rPr lang="en-US" sz="4800" b="1" dirty="0">
                <a:latin typeface="Times New Roman" panose="02020603050405020304" pitchFamily="18" charset="0"/>
                <a:cs typeface="Times New Roman" panose="02020603050405020304" pitchFamily="18" charset="0"/>
              </a:rPr>
              <a:t>Cyber Defamation </a:t>
            </a:r>
            <a:br>
              <a:rPr lang="en-US" sz="4800" dirty="0">
                <a:latin typeface="Times New Roman" panose="02020603050405020304" pitchFamily="18" charset="0"/>
                <a:cs typeface="Times New Roman" panose="02020603050405020304" pitchFamily="18" charset="0"/>
              </a:rPr>
            </a:br>
            <a:r>
              <a:rPr lang="en-US" b="1" dirty="0"/>
              <a:t>(Section 47)</a:t>
            </a:r>
            <a:r>
              <a:rPr 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293B6BF8-76B9-4012-A6B7-6C4B08C777F1}"/>
              </a:ext>
            </a:extLst>
          </p:cNvPr>
          <p:cNvSpPr>
            <a:spLocks noGrp="1"/>
          </p:cNvSpPr>
          <p:nvPr>
            <p:ph idx="1"/>
          </p:nvPr>
        </p:nvSpPr>
        <p:spPr>
          <a:xfrm>
            <a:off x="677334" y="1915886"/>
            <a:ext cx="11255586" cy="4440464"/>
          </a:xfrm>
        </p:spPr>
        <p:txBody>
          <a:bodyPr>
            <a:normAutofit fontScale="92500"/>
          </a:bodyPr>
          <a:lstStyle/>
          <a:p>
            <a:r>
              <a:rPr kumimoji="0" lang="hi-IN" altLang="en-US" sz="3200" b="0" i="0" u="none" strike="noStrike" cap="none" normalizeH="0" baseline="0" dirty="0">
                <a:ln>
                  <a:noFill/>
                </a:ln>
                <a:solidFill>
                  <a:srgbClr val="1F1F1F"/>
                </a:solidFill>
                <a:effectLst/>
                <a:latin typeface="inherit"/>
                <a:cs typeface="Kalimati" panose="00000400000000000000" pitchFamily="2"/>
              </a:rPr>
              <a:t>कम्प्युटर र इन्टरनेटको माध्यमबाट </a:t>
            </a:r>
            <a:r>
              <a:rPr lang="ne-NP" altLang="en-US" sz="3200" dirty="0">
                <a:solidFill>
                  <a:srgbClr val="1F1F1F"/>
                </a:solidFill>
                <a:latin typeface="inherit"/>
                <a:cs typeface="Kalimati" panose="00000400000000000000" pitchFamily="2"/>
              </a:rPr>
              <a:t>कुनैपनि </a:t>
            </a:r>
            <a:r>
              <a:rPr kumimoji="0" lang="hi-IN" altLang="en-US" sz="3200" b="0" i="0" u="none" strike="noStrike" cap="none" normalizeH="0" baseline="0" dirty="0">
                <a:ln>
                  <a:noFill/>
                </a:ln>
                <a:solidFill>
                  <a:srgbClr val="1F1F1F"/>
                </a:solidFill>
                <a:effectLst/>
                <a:latin typeface="inherit"/>
                <a:cs typeface="Kalimati" panose="00000400000000000000" pitchFamily="2"/>
              </a:rPr>
              <a:t>व्यक्तिको प्रतिष्ठा</a:t>
            </a:r>
            <a:r>
              <a:rPr kumimoji="0" lang="en-US" altLang="en-US" sz="3200" b="0" i="0" u="none" strike="noStrike" cap="none" normalizeH="0" baseline="0" dirty="0">
                <a:ln>
                  <a:noFill/>
                </a:ln>
                <a:solidFill>
                  <a:srgbClr val="1F1F1F"/>
                </a:solidFill>
                <a:effectLst/>
                <a:latin typeface="inherit"/>
                <a:cs typeface="Kalimati" panose="00000400000000000000" pitchFamily="2"/>
              </a:rPr>
              <a:t> </a:t>
            </a:r>
            <a:r>
              <a:rPr kumimoji="0" lang="ne-NP" altLang="en-US" sz="3200" b="0" i="0" u="none" strike="noStrike" cap="none" normalizeH="0" baseline="0" dirty="0">
                <a:ln>
                  <a:noFill/>
                </a:ln>
                <a:solidFill>
                  <a:srgbClr val="1F1F1F"/>
                </a:solidFill>
                <a:effectLst/>
                <a:latin typeface="inherit"/>
                <a:cs typeface="Kalimati" panose="00000400000000000000" pitchFamily="2"/>
              </a:rPr>
              <a:t> तथा </a:t>
            </a:r>
            <a:r>
              <a:rPr lang="ne-NP" altLang="en-US" sz="3200" dirty="0">
                <a:solidFill>
                  <a:srgbClr val="1F1F1F"/>
                </a:solidFill>
                <a:latin typeface="inherit"/>
                <a:cs typeface="Kalimati" panose="00000400000000000000" pitchFamily="2"/>
              </a:rPr>
              <a:t>ख्याति</a:t>
            </a:r>
            <a:r>
              <a:rPr kumimoji="0" lang="hi-IN" altLang="en-US" sz="3200" b="0" i="0" u="none" strike="noStrike" cap="none" normalizeH="0" baseline="0" dirty="0">
                <a:ln>
                  <a:noFill/>
                </a:ln>
                <a:solidFill>
                  <a:srgbClr val="1F1F1F"/>
                </a:solidFill>
                <a:effectLst/>
                <a:latin typeface="inherit"/>
                <a:cs typeface="Kalimati" panose="00000400000000000000" pitchFamily="2"/>
              </a:rPr>
              <a:t>मा चोट पुर्‍याउन</a:t>
            </a:r>
            <a:r>
              <a:rPr kumimoji="0" lang="ne-NP" altLang="en-US" sz="3200" b="0" i="0" u="none" strike="noStrike" cap="none" normalizeH="0" baseline="0" dirty="0">
                <a:ln>
                  <a:noFill/>
                </a:ln>
                <a:solidFill>
                  <a:srgbClr val="1F1F1F"/>
                </a:solidFill>
                <a:effectLst/>
                <a:latin typeface="inherit"/>
                <a:cs typeface="Kalimati" panose="00000400000000000000" pitchFamily="2"/>
              </a:rPr>
              <a:t>े कार्यलाई </a:t>
            </a:r>
            <a:r>
              <a:rPr kumimoji="0" lang="en-GB" altLang="en-US" sz="3200" b="0" i="0" u="none" strike="noStrike" cap="none" normalizeH="0" baseline="0" dirty="0">
                <a:ln>
                  <a:noFill/>
                </a:ln>
                <a:solidFill>
                  <a:srgbClr val="1F1F1F"/>
                </a:solidFill>
                <a:effectLst/>
                <a:latin typeface="inherit"/>
                <a:cs typeface="Kalimati" panose="00000400000000000000" pitchFamily="2"/>
              </a:rPr>
              <a:t>Cyber Defamation </a:t>
            </a:r>
            <a:r>
              <a:rPr lang="ne-NP" altLang="en-US" sz="3200" dirty="0">
                <a:solidFill>
                  <a:srgbClr val="1F1F1F"/>
                </a:solidFill>
                <a:latin typeface="inherit"/>
                <a:cs typeface="Kalimati" panose="00000400000000000000" pitchFamily="2"/>
              </a:rPr>
              <a:t>भनिन्छ</a:t>
            </a:r>
            <a:r>
              <a:rPr kumimoji="0" lang="hi-IN" altLang="en-US" sz="3200" b="0" i="0" u="none" strike="noStrike" cap="none" normalizeH="0" baseline="0" dirty="0">
                <a:ln>
                  <a:noFill/>
                </a:ln>
                <a:solidFill>
                  <a:srgbClr val="1F1F1F"/>
                </a:solidFill>
                <a:effectLst/>
                <a:latin typeface="inherit"/>
                <a:cs typeface="Kalimati" panose="00000400000000000000" pitchFamily="2"/>
              </a:rPr>
              <a:t>।</a:t>
            </a:r>
            <a:r>
              <a:rPr lang="en-GB" altLang="en-US" sz="3200" dirty="0">
                <a:solidFill>
                  <a:srgbClr val="1F1F1F"/>
                </a:solidFill>
                <a:latin typeface="inherit"/>
                <a:cs typeface="Kalimati" panose="00000400000000000000" pitchFamily="2"/>
              </a:rPr>
              <a:t>(Means: Audio, video, text, graphics and other multimedia )</a:t>
            </a:r>
            <a:r>
              <a:rPr kumimoji="0" lang="en-US" altLang="en-US" sz="1000" b="0" i="0" u="none" strike="noStrike" cap="none" normalizeH="0" baseline="0" dirty="0">
                <a:ln>
                  <a:noFill/>
                </a:ln>
                <a:solidFill>
                  <a:schemeClr val="tx1"/>
                </a:solidFill>
                <a:effectLst/>
                <a:cs typeface="Kalimati" panose="00000400000000000000" pitchFamily="2"/>
              </a:rPr>
              <a:t> </a:t>
            </a:r>
            <a:endParaRPr kumimoji="0" lang="en-US" altLang="en-US" sz="2400"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indent="0">
              <a:buNone/>
            </a:pPr>
            <a:r>
              <a:rPr lang="en-US" sz="3600" b="1" dirty="0">
                <a:latin typeface="Times New Roman" panose="02020603050405020304" pitchFamily="18" charset="0"/>
                <a:cs typeface="Times New Roman" panose="02020603050405020304" pitchFamily="18" charset="0"/>
              </a:rPr>
              <a:t>Conditions</a:t>
            </a:r>
          </a:p>
          <a:p>
            <a:pPr>
              <a:buFontTx/>
              <a:buChar char="-"/>
            </a:pPr>
            <a:r>
              <a:rPr lang="en-US" sz="3200" dirty="0">
                <a:latin typeface="Times New Roman" panose="02020603050405020304" pitchFamily="18" charset="0"/>
                <a:cs typeface="Times New Roman" panose="02020603050405020304" pitchFamily="18" charset="0"/>
              </a:rPr>
              <a:t>The statement musts be </a:t>
            </a:r>
            <a:r>
              <a:rPr lang="en-US" sz="3200" b="1" dirty="0">
                <a:latin typeface="Times New Roman" panose="02020603050405020304" pitchFamily="18" charset="0"/>
                <a:cs typeface="Times New Roman" panose="02020603050405020304" pitchFamily="18" charset="0"/>
              </a:rPr>
              <a:t>false and defamatory</a:t>
            </a:r>
            <a:r>
              <a:rPr lang="en-US" sz="3200" dirty="0">
                <a:latin typeface="Times New Roman" panose="02020603050405020304" pitchFamily="18" charset="0"/>
                <a:cs typeface="Times New Roman" panose="02020603050405020304" pitchFamily="18" charset="0"/>
              </a:rPr>
              <a:t>.</a:t>
            </a:r>
          </a:p>
          <a:p>
            <a:pPr>
              <a:buFontTx/>
              <a:buChar char="-"/>
            </a:pPr>
            <a:r>
              <a:rPr lang="en-US" sz="3200" dirty="0">
                <a:latin typeface="Times New Roman" panose="02020603050405020304" pitchFamily="18" charset="0"/>
                <a:cs typeface="Times New Roman" panose="02020603050405020304" pitchFamily="18" charset="0"/>
              </a:rPr>
              <a:t>The said statement must refer to the </a:t>
            </a:r>
            <a:r>
              <a:rPr lang="en-US" sz="3200" b="1" dirty="0">
                <a:latin typeface="Times New Roman" panose="02020603050405020304" pitchFamily="18" charset="0"/>
                <a:cs typeface="Times New Roman" panose="02020603050405020304" pitchFamily="18" charset="0"/>
              </a:rPr>
              <a:t>victim.</a:t>
            </a:r>
          </a:p>
          <a:p>
            <a:pPr>
              <a:buFontTx/>
              <a:buChar char="-"/>
            </a:pPr>
            <a:r>
              <a:rPr lang="en-US" sz="3200" dirty="0">
                <a:latin typeface="Times New Roman" panose="02020603050405020304" pitchFamily="18" charset="0"/>
                <a:cs typeface="Times New Roman" panose="02020603050405020304" pitchFamily="18" charset="0"/>
              </a:rPr>
              <a:t>The statement must be </a:t>
            </a:r>
            <a:r>
              <a:rPr lang="en-US" sz="3200" b="1" dirty="0">
                <a:latin typeface="Times New Roman" panose="02020603050405020304" pitchFamily="18" charset="0"/>
                <a:cs typeface="Times New Roman" panose="02020603050405020304" pitchFamily="18" charset="0"/>
              </a:rPr>
              <a:t>published through the electronic medium by means of Internet or Intranet</a:t>
            </a:r>
            <a:r>
              <a:rPr lang="en-US" sz="3200" dirty="0">
                <a:latin typeface="Times New Roman" panose="02020603050405020304" pitchFamily="18" charset="0"/>
                <a:cs typeface="Times New Roman" panose="02020603050405020304" pitchFamily="18" charset="0"/>
              </a:rPr>
              <a:t>.</a:t>
            </a:r>
          </a:p>
          <a:p>
            <a:pPr>
              <a:buFontTx/>
              <a:buChar char="-"/>
            </a:pP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3016546-54A9-3D01-D159-D50BE5ECF477}"/>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C4815651-327A-636E-3FAD-D7F2A3CBC154}"/>
              </a:ext>
            </a:extLst>
          </p:cNvPr>
          <p:cNvSpPr>
            <a:spLocks noGrp="1"/>
          </p:cNvSpPr>
          <p:nvPr>
            <p:ph type="sldNum" sz="quarter" idx="12"/>
          </p:nvPr>
        </p:nvSpPr>
        <p:spPr/>
        <p:txBody>
          <a:bodyPr/>
          <a:lstStyle/>
          <a:p>
            <a:fld id="{206048C0-C8B7-4832-8A8D-D83BA7A49C27}" type="slidenum">
              <a:rPr lang="en-US" smtClean="0"/>
              <a:pPr/>
              <a:t>38</a:t>
            </a:fld>
            <a:endParaRPr lang="en-US"/>
          </a:p>
        </p:txBody>
      </p:sp>
    </p:spTree>
    <p:extLst>
      <p:ext uri="{BB962C8B-B14F-4D97-AF65-F5344CB8AC3E}">
        <p14:creationId xmlns:p14="http://schemas.microsoft.com/office/powerpoint/2010/main" val="221648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924949"/>
          </a:xfrm>
        </p:spPr>
        <p:txBody>
          <a:bodyPr/>
          <a:lstStyle/>
          <a:p>
            <a:r>
              <a:rPr lang="en-US" b="1" dirty="0"/>
              <a:t>Some Cases</a:t>
            </a:r>
          </a:p>
        </p:txBody>
      </p:sp>
      <p:sp>
        <p:nvSpPr>
          <p:cNvPr id="3" name="Content Placeholder 2"/>
          <p:cNvSpPr>
            <a:spLocks noGrp="1"/>
          </p:cNvSpPr>
          <p:nvPr>
            <p:ph idx="1"/>
          </p:nvPr>
        </p:nvSpPr>
        <p:spPr>
          <a:xfrm>
            <a:off x="677334" y="1752600"/>
            <a:ext cx="11255586" cy="4851400"/>
          </a:xfrm>
        </p:spPr>
        <p:txBody>
          <a:bodyPr>
            <a:normAutofit/>
          </a:bodyPr>
          <a:lstStyle/>
          <a:p>
            <a:pPr>
              <a:buFontTx/>
              <a:buChar char="-"/>
            </a:pPr>
            <a:r>
              <a:rPr lang="en-US" sz="2400" b="1" dirty="0">
                <a:latin typeface="Times New Roman" panose="02020603050405020304" pitchFamily="18" charset="0"/>
                <a:cs typeface="Times New Roman" panose="02020603050405020304" pitchFamily="18" charset="0"/>
              </a:rPr>
              <a:t>V-</a:t>
            </a:r>
            <a:r>
              <a:rPr lang="en-US" sz="2400" b="1" dirty="0" err="1">
                <a:latin typeface="Times New Roman" panose="02020603050405020304" pitchFamily="18" charset="0"/>
                <a:cs typeface="Times New Roman" panose="02020603050405020304" pitchFamily="18" charset="0"/>
              </a:rPr>
              <a:t>Shekhara</a:t>
            </a:r>
            <a:r>
              <a:rPr lang="en-US" sz="2400" b="1" dirty="0">
                <a:latin typeface="Times New Roman" panose="02020603050405020304" pitchFamily="18" charset="0"/>
                <a:cs typeface="Times New Roman" panose="02020603050405020304" pitchFamily="18" charset="0"/>
              </a:rPr>
              <a:t> Case </a:t>
            </a:r>
          </a:p>
          <a:p>
            <a:pPr>
              <a:buFontTx/>
              <a:buChar char="-"/>
            </a:pPr>
            <a:r>
              <a:rPr lang="en-US" sz="2400" dirty="0">
                <a:latin typeface="Times New Roman" panose="02020603050405020304" pitchFamily="18" charset="0"/>
                <a:cs typeface="Times New Roman" panose="02020603050405020304" pitchFamily="18" charset="0"/>
              </a:rPr>
              <a:t>Share to whom?</a:t>
            </a:r>
          </a:p>
          <a:p>
            <a:pPr>
              <a:buNone/>
            </a:pPr>
            <a:r>
              <a:rPr lang="en-US" sz="2400" i="1" dirty="0"/>
              <a:t>	</a:t>
            </a:r>
            <a:r>
              <a:rPr lang="en-US" sz="2400" b="1" i="1" dirty="0"/>
              <a:t>Content of Forwarded Message/shared message:</a:t>
            </a:r>
            <a:endParaRPr lang="ne-NP" sz="2400" b="1" i="1" dirty="0"/>
          </a:p>
          <a:p>
            <a:pPr>
              <a:buFont typeface="Wingdings" pitchFamily="2" charset="2"/>
              <a:buChar char="Ø"/>
            </a:pPr>
            <a:r>
              <a:rPr lang="en-US" sz="2400" i="1" dirty="0">
                <a:solidFill>
                  <a:schemeClr val="accent6">
                    <a:lumMod val="50000"/>
                  </a:schemeClr>
                </a:solidFill>
              </a:rPr>
              <a:t>Recently this disgusting fact has come out through complaints that </a:t>
            </a:r>
            <a:r>
              <a:rPr lang="en-US" sz="3200" b="1" i="1" dirty="0">
                <a:solidFill>
                  <a:srgbClr val="7030A0"/>
                </a:solidFill>
              </a:rPr>
              <a:t>women cannot become reporters or anchors unless they sleep with top bosses </a:t>
            </a:r>
            <a:r>
              <a:rPr lang="en-US" sz="2400" i="1" dirty="0">
                <a:solidFill>
                  <a:schemeClr val="accent6">
                    <a:lumMod val="50000"/>
                  </a:schemeClr>
                </a:solidFill>
              </a:rPr>
              <a:t>and </a:t>
            </a:r>
            <a:r>
              <a:rPr lang="en-US" sz="3000" b="1" i="1" dirty="0">
                <a:solidFill>
                  <a:srgbClr val="00B0F0"/>
                </a:solidFill>
              </a:rPr>
              <a:t>with these faces they come out to ask questions to the Governors.</a:t>
            </a:r>
            <a:endParaRPr lang="en-US" sz="2400" b="1" i="1" dirty="0">
              <a:solidFill>
                <a:srgbClr val="00B0F0"/>
              </a:solidFill>
            </a:endParaRPr>
          </a:p>
          <a:p>
            <a:pPr>
              <a:buFont typeface="Wingdings" pitchFamily="2" charset="2"/>
              <a:buChar char="Ø"/>
            </a:pPr>
            <a:r>
              <a:rPr lang="en-US" sz="2400" i="1" dirty="0"/>
              <a:t>Madras high court said that </a:t>
            </a:r>
            <a:r>
              <a:rPr lang="en-US" sz="3200" b="1" i="1" dirty="0"/>
              <a:t>“</a:t>
            </a:r>
            <a:r>
              <a:rPr lang="en-US" sz="3200" b="1" dirty="0"/>
              <a:t>forwarded message is equal to accepting the message and endorsing the message”</a:t>
            </a:r>
            <a:endParaRPr lang="en-US" sz="2400" b="1" dirty="0">
              <a:latin typeface="Times New Roman" panose="02020603050405020304" pitchFamily="18" charset="0"/>
              <a:cs typeface="Times New Roman" panose="02020603050405020304" pitchFamily="18" charset="0"/>
            </a:endParaRPr>
          </a:p>
          <a:p>
            <a:pPr>
              <a:buNone/>
            </a:pPr>
            <a:endParaRPr lang="en-US" dirty="0"/>
          </a:p>
        </p:txBody>
      </p:sp>
      <p:sp>
        <p:nvSpPr>
          <p:cNvPr id="4" name="Footer Placeholder 3">
            <a:extLst>
              <a:ext uri="{FF2B5EF4-FFF2-40B4-BE49-F238E27FC236}">
                <a16:creationId xmlns:a16="http://schemas.microsoft.com/office/drawing/2014/main" id="{3A9304F7-1873-0BF0-4162-BF52CC2E3F17}"/>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A86F5ECF-CE24-27BA-CDF3-F9C2BD17CBDB}"/>
              </a:ext>
            </a:extLst>
          </p:cNvPr>
          <p:cNvSpPr>
            <a:spLocks noGrp="1"/>
          </p:cNvSpPr>
          <p:nvPr>
            <p:ph type="sldNum" sz="quarter" idx="12"/>
          </p:nvPr>
        </p:nvSpPr>
        <p:spPr/>
        <p:txBody>
          <a:bodyPr/>
          <a:lstStyle/>
          <a:p>
            <a:fld id="{206048C0-C8B7-4832-8A8D-D83BA7A49C27}"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674577"/>
          </a:xfrm>
        </p:spPr>
        <p:txBody>
          <a:bodyPr>
            <a:normAutofit fontScale="90000"/>
          </a:bodyPr>
          <a:lstStyle/>
          <a:p>
            <a:r>
              <a:rPr lang="fr-FR" b="1" dirty="0">
                <a:hlinkClick r:id="rId2"/>
              </a:rPr>
              <a:t>Chris Cairns v </a:t>
            </a:r>
            <a:r>
              <a:rPr lang="fr-FR" b="1" dirty="0" err="1">
                <a:hlinkClick r:id="rId2"/>
              </a:rPr>
              <a:t>Lalit</a:t>
            </a:r>
            <a:r>
              <a:rPr lang="fr-FR" b="1" dirty="0">
                <a:hlinkClick r:id="rId2"/>
              </a:rPr>
              <a:t> </a:t>
            </a:r>
            <a:r>
              <a:rPr lang="fr-FR" b="1" dirty="0" err="1">
                <a:hlinkClick r:id="rId2"/>
              </a:rPr>
              <a:t>Modi</a:t>
            </a:r>
            <a:endParaRPr lang="en-US" b="1" dirty="0"/>
          </a:p>
        </p:txBody>
      </p:sp>
      <p:sp>
        <p:nvSpPr>
          <p:cNvPr id="3" name="Content Placeholder 2"/>
          <p:cNvSpPr>
            <a:spLocks noGrp="1"/>
          </p:cNvSpPr>
          <p:nvPr>
            <p:ph idx="1"/>
          </p:nvPr>
        </p:nvSpPr>
        <p:spPr>
          <a:xfrm>
            <a:off x="677334" y="1422400"/>
            <a:ext cx="11255586" cy="5000171"/>
          </a:xfrm>
        </p:spPr>
        <p:txBody>
          <a:bodyPr>
            <a:normAutofit fontScale="85000" lnSpcReduction="20000"/>
          </a:bodyPr>
          <a:lstStyle/>
          <a:p>
            <a:pPr>
              <a:buNone/>
            </a:pPr>
            <a:r>
              <a:rPr lang="en-US" dirty="0"/>
              <a:t>	</a:t>
            </a:r>
            <a:r>
              <a:rPr lang="en-US" sz="3600" b="1" dirty="0"/>
              <a:t>The re-tweet constitutes an act of independent speech relaying information afresh, possibly to a new and different audience than of the original tweet. </a:t>
            </a:r>
            <a:r>
              <a:rPr lang="en-US" sz="3600" dirty="0"/>
              <a:t>The re-tweeter is considered a principal actor rather than as an intermediary enabling content to be relayed to others.</a:t>
            </a:r>
          </a:p>
          <a:p>
            <a:pPr>
              <a:buNone/>
            </a:pPr>
            <a:r>
              <a:rPr lang="en-US" sz="3600" dirty="0"/>
              <a:t>“Chris Cairns removed from the IPL auction list due to his past record in match fixing. This was done by the Governing Council today.” </a:t>
            </a:r>
          </a:p>
          <a:p>
            <a:pPr>
              <a:buNone/>
            </a:pPr>
            <a:r>
              <a:rPr lang="en-US" sz="3800" dirty="0">
                <a:solidFill>
                  <a:schemeClr val="tx1"/>
                </a:solidFill>
                <a:hlinkClick r:id="rId3"/>
              </a:rPr>
              <a:t>Chris Cairns</a:t>
            </a:r>
            <a:r>
              <a:rPr lang="en-US" sz="3800" dirty="0">
                <a:solidFill>
                  <a:schemeClr val="tx1"/>
                </a:solidFill>
              </a:rPr>
              <a:t>, the former New Zealand all-rounder, has won his libel case against </a:t>
            </a:r>
            <a:r>
              <a:rPr lang="en-US" sz="3800" dirty="0" err="1">
                <a:solidFill>
                  <a:schemeClr val="tx1"/>
                </a:solidFill>
                <a:hlinkClick r:id="rId4"/>
              </a:rPr>
              <a:t>Lalit</a:t>
            </a:r>
            <a:r>
              <a:rPr lang="en-US" sz="3800" dirty="0">
                <a:solidFill>
                  <a:schemeClr val="tx1"/>
                </a:solidFill>
                <a:hlinkClick r:id="rId4"/>
              </a:rPr>
              <a:t> </a:t>
            </a:r>
            <a:r>
              <a:rPr lang="en-US" sz="3800" dirty="0" err="1">
                <a:solidFill>
                  <a:schemeClr val="tx1"/>
                </a:solidFill>
                <a:hlinkClick r:id="rId4"/>
              </a:rPr>
              <a:t>Modi</a:t>
            </a:r>
            <a:r>
              <a:rPr lang="en-US" sz="3800" dirty="0">
                <a:solidFill>
                  <a:schemeClr val="tx1"/>
                </a:solidFill>
              </a:rPr>
              <a:t> and has been awarded damages of £90,000 ($142,000). </a:t>
            </a:r>
          </a:p>
        </p:txBody>
      </p:sp>
      <p:sp>
        <p:nvSpPr>
          <p:cNvPr id="4" name="Footer Placeholder 3">
            <a:extLst>
              <a:ext uri="{FF2B5EF4-FFF2-40B4-BE49-F238E27FC236}">
                <a16:creationId xmlns:a16="http://schemas.microsoft.com/office/drawing/2014/main" id="{AB59CBE9-B7C3-34F0-4CE7-018B0835F19B}"/>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9C323311-7C79-B852-B357-D63BACA56BD7}"/>
              </a:ext>
            </a:extLst>
          </p:cNvPr>
          <p:cNvSpPr>
            <a:spLocks noGrp="1"/>
          </p:cNvSpPr>
          <p:nvPr>
            <p:ph type="sldNum" sz="quarter" idx="12"/>
          </p:nvPr>
        </p:nvSpPr>
        <p:spPr/>
        <p:txBody>
          <a:bodyPr/>
          <a:lstStyle/>
          <a:p>
            <a:fld id="{206048C0-C8B7-4832-8A8D-D83BA7A49C27}"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79714"/>
            <a:ext cx="8596668" cy="399144"/>
          </a:xfrm>
        </p:spPr>
        <p:txBody>
          <a:bodyPr>
            <a:normAutofit fontScale="90000"/>
          </a:bodyPr>
          <a:lstStyle/>
          <a:p>
            <a:br>
              <a:rPr lang="en-US" b="1" dirty="0"/>
            </a:br>
            <a:r>
              <a:rPr lang="en-US" b="1" dirty="0"/>
              <a:t>Swiss court fines man for 'liking' defamatory comments on Facebook</a:t>
            </a:r>
            <a:br>
              <a:rPr lang="en-US" b="1" dirty="0"/>
            </a:br>
            <a:endParaRPr lang="en-US" dirty="0"/>
          </a:p>
        </p:txBody>
      </p:sp>
      <p:sp>
        <p:nvSpPr>
          <p:cNvPr id="3" name="Content Placeholder 2"/>
          <p:cNvSpPr>
            <a:spLocks noGrp="1"/>
          </p:cNvSpPr>
          <p:nvPr>
            <p:ph idx="1"/>
          </p:nvPr>
        </p:nvSpPr>
        <p:spPr>
          <a:xfrm>
            <a:off x="677334" y="1937657"/>
            <a:ext cx="11255586" cy="4695372"/>
          </a:xfrm>
        </p:spPr>
        <p:txBody>
          <a:bodyPr>
            <a:noAutofit/>
          </a:bodyPr>
          <a:lstStyle/>
          <a:p>
            <a:pPr>
              <a:buNone/>
            </a:pPr>
            <a:r>
              <a:rPr lang="en-US" sz="2400" dirty="0">
                <a:hlinkClick r:id="rId2"/>
              </a:rPr>
              <a:t>Zurich District Court in a case charged a man for liking a defamatory comment on </a:t>
            </a:r>
            <a:r>
              <a:rPr lang="en-US" sz="2400" dirty="0" err="1">
                <a:hlinkClick r:id="rId2"/>
              </a:rPr>
              <a:t>Facebook</a:t>
            </a:r>
            <a:r>
              <a:rPr lang="en-US" sz="2400" dirty="0"/>
              <a:t>. </a:t>
            </a:r>
          </a:p>
          <a:p>
            <a:pPr>
              <a:buNone/>
            </a:pPr>
            <a:r>
              <a:rPr lang="ne-NP" sz="2400" dirty="0"/>
              <a:t>		</a:t>
            </a:r>
            <a:r>
              <a:rPr lang="en-US" sz="2400" dirty="0"/>
              <a:t>The court held </a:t>
            </a:r>
            <a:r>
              <a:rPr lang="en-US" sz="2800" b="1" dirty="0"/>
              <a:t>that by liking defamatory statements </a:t>
            </a:r>
            <a:r>
              <a:rPr lang="en-US" sz="2400" dirty="0"/>
              <a:t>which included content contrary to the interests of the animal rights activist Erwin Kessler and his animal rights group, </a:t>
            </a:r>
            <a:r>
              <a:rPr lang="en-US" sz="2800" b="1" dirty="0"/>
              <a:t>the accused had adopted those statements as his own and had disseminated them making it accessible to a multitude of people.</a:t>
            </a:r>
            <a:endParaRPr lang="en-US" sz="2400" b="1" dirty="0"/>
          </a:p>
          <a:p>
            <a:pPr>
              <a:buNone/>
            </a:pPr>
            <a:r>
              <a:rPr lang="ne-NP" sz="2400" b="1" dirty="0"/>
              <a:t>		</a:t>
            </a:r>
            <a:r>
              <a:rPr lang="en-US" sz="2400" b="1" dirty="0"/>
              <a:t>Anti Comments: "If the courts want to prosecute people for 'Likes' on Facebook, we could easily need to triple the number of judges in this country,"</a:t>
            </a:r>
          </a:p>
        </p:txBody>
      </p:sp>
      <p:sp>
        <p:nvSpPr>
          <p:cNvPr id="4" name="Footer Placeholder 3">
            <a:extLst>
              <a:ext uri="{FF2B5EF4-FFF2-40B4-BE49-F238E27FC236}">
                <a16:creationId xmlns:a16="http://schemas.microsoft.com/office/drawing/2014/main" id="{D9073306-E605-46C1-5202-F457A3298D33}"/>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75E3506C-C46E-E8A7-A4C4-B3DB28024CDC}"/>
              </a:ext>
            </a:extLst>
          </p:cNvPr>
          <p:cNvSpPr>
            <a:spLocks noGrp="1"/>
          </p:cNvSpPr>
          <p:nvPr>
            <p:ph type="sldNum" sz="quarter" idx="12"/>
          </p:nvPr>
        </p:nvSpPr>
        <p:spPr/>
        <p:txBody>
          <a:bodyPr/>
          <a:lstStyle/>
          <a:p>
            <a:fld id="{206048C0-C8B7-4832-8A8D-D83BA7A49C27}"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848749"/>
          </a:xfrm>
        </p:spPr>
        <p:txBody>
          <a:bodyPr>
            <a:noAutofit/>
          </a:bodyPr>
          <a:lstStyle/>
          <a:p>
            <a:r>
              <a:rPr lang="en-US" sz="4400" b="1" dirty="0"/>
              <a:t>Dark Web and other Webs</a:t>
            </a:r>
          </a:p>
        </p:txBody>
      </p:sp>
      <p:sp>
        <p:nvSpPr>
          <p:cNvPr id="3" name="Content Placeholder 2"/>
          <p:cNvSpPr>
            <a:spLocks noGrp="1"/>
          </p:cNvSpPr>
          <p:nvPr>
            <p:ph idx="1"/>
          </p:nvPr>
        </p:nvSpPr>
        <p:spPr>
          <a:xfrm>
            <a:off x="446314" y="1578429"/>
            <a:ext cx="11223172" cy="4938485"/>
          </a:xfrm>
        </p:spPr>
        <p:txBody>
          <a:bodyPr>
            <a:normAutofit/>
          </a:bodyPr>
          <a:lstStyle/>
          <a:p>
            <a:r>
              <a:rPr lang="en-US" sz="3200" dirty="0"/>
              <a:t>The dark web is part of the internet that isn't visible to search engines and requires the use of an </a:t>
            </a:r>
            <a:r>
              <a:rPr lang="en-US" sz="3200" b="1" dirty="0"/>
              <a:t>anonymizing browser </a:t>
            </a:r>
            <a:r>
              <a:rPr lang="en-US" sz="3200" dirty="0"/>
              <a:t>called </a:t>
            </a:r>
            <a:r>
              <a:rPr lang="en-US" sz="3200" b="1" dirty="0" err="1"/>
              <a:t>ToR</a:t>
            </a:r>
            <a:r>
              <a:rPr lang="en-US" sz="3200" b="1" dirty="0"/>
              <a:t> </a:t>
            </a:r>
            <a:r>
              <a:rPr lang="en-US" sz="3200" dirty="0"/>
              <a:t>to be accessed.</a:t>
            </a:r>
          </a:p>
          <a:p>
            <a:r>
              <a:rPr lang="en-US" sz="3200" dirty="0"/>
              <a:t>Surface web is around only 4% of the total web.</a:t>
            </a:r>
          </a:p>
          <a:p>
            <a:r>
              <a:rPr lang="en-US" sz="3200" dirty="0"/>
              <a:t>Around 90% of the web is deep web.</a:t>
            </a:r>
          </a:p>
          <a:p>
            <a:r>
              <a:rPr lang="en-US" sz="3200" dirty="0"/>
              <a:t>Instead of ending in .com or .co, dark web sites end in </a:t>
            </a:r>
            <a:r>
              <a:rPr lang="en-US" sz="3200" b="1" dirty="0"/>
              <a:t>.onion.</a:t>
            </a:r>
          </a:p>
          <a:p>
            <a:r>
              <a:rPr lang="en-US" sz="3200" b="1" dirty="0"/>
              <a:t>Bitcoin / Cryptocurrencies </a:t>
            </a:r>
            <a:r>
              <a:rPr lang="en-US" sz="3200" dirty="0"/>
              <a:t>are used for transaction in the dark web. </a:t>
            </a:r>
          </a:p>
          <a:p>
            <a:endParaRPr lang="en-US" dirty="0"/>
          </a:p>
        </p:txBody>
      </p:sp>
      <p:sp>
        <p:nvSpPr>
          <p:cNvPr id="4" name="Footer Placeholder 3">
            <a:extLst>
              <a:ext uri="{FF2B5EF4-FFF2-40B4-BE49-F238E27FC236}">
                <a16:creationId xmlns:a16="http://schemas.microsoft.com/office/drawing/2014/main" id="{C8C15D11-84E8-CA8E-8FEE-13A6A72E4488}"/>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DD2A81A1-4B3B-C422-7D19-DB9821D2A001}"/>
              </a:ext>
            </a:extLst>
          </p:cNvPr>
          <p:cNvSpPr>
            <a:spLocks noGrp="1"/>
          </p:cNvSpPr>
          <p:nvPr>
            <p:ph type="sldNum" sz="quarter" idx="12"/>
          </p:nvPr>
        </p:nvSpPr>
        <p:spPr/>
        <p:txBody>
          <a:bodyPr/>
          <a:lstStyle/>
          <a:p>
            <a:fld id="{206048C0-C8B7-4832-8A8D-D83BA7A49C27}"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84EA-7F6D-2F80-05F2-64E052BC3D48}"/>
              </a:ext>
            </a:extLst>
          </p:cNvPr>
          <p:cNvSpPr>
            <a:spLocks noGrp="1"/>
          </p:cNvSpPr>
          <p:nvPr>
            <p:ph type="title"/>
          </p:nvPr>
        </p:nvSpPr>
        <p:spPr/>
        <p:txBody>
          <a:bodyPr>
            <a:normAutofit fontScale="90000"/>
          </a:bodyPr>
          <a:lstStyle/>
          <a:p>
            <a:r>
              <a:rPr lang="en-GB" dirty="0"/>
              <a:t>Sample view of  Onion Search Engine </a:t>
            </a:r>
            <a:endParaRPr lang="en-US" dirty="0"/>
          </a:p>
        </p:txBody>
      </p:sp>
      <p:pic>
        <p:nvPicPr>
          <p:cNvPr id="7" name="Content Placeholder 6">
            <a:extLst>
              <a:ext uri="{FF2B5EF4-FFF2-40B4-BE49-F238E27FC236}">
                <a16:creationId xmlns:a16="http://schemas.microsoft.com/office/drawing/2014/main" id="{B79C67A5-AB3B-6ADC-5784-15313021D010}"/>
              </a:ext>
            </a:extLst>
          </p:cNvPr>
          <p:cNvPicPr>
            <a:picLocks noGrp="1" noChangeAspect="1"/>
          </p:cNvPicPr>
          <p:nvPr>
            <p:ph idx="1"/>
          </p:nvPr>
        </p:nvPicPr>
        <p:blipFill>
          <a:blip r:embed="rId2"/>
          <a:stretch>
            <a:fillRect/>
          </a:stretch>
        </p:blipFill>
        <p:spPr>
          <a:xfrm>
            <a:off x="762000" y="2160588"/>
            <a:ext cx="8596667" cy="3881437"/>
          </a:xfrm>
        </p:spPr>
      </p:pic>
      <p:sp>
        <p:nvSpPr>
          <p:cNvPr id="4" name="Footer Placeholder 3">
            <a:extLst>
              <a:ext uri="{FF2B5EF4-FFF2-40B4-BE49-F238E27FC236}">
                <a16:creationId xmlns:a16="http://schemas.microsoft.com/office/drawing/2014/main" id="{FCFD1503-306F-1399-8804-84F8E9B76B3E}"/>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9846593B-63D3-6EEA-4718-06E829337FCB}"/>
              </a:ext>
            </a:extLst>
          </p:cNvPr>
          <p:cNvSpPr>
            <a:spLocks noGrp="1"/>
          </p:cNvSpPr>
          <p:nvPr>
            <p:ph type="sldNum" sz="quarter" idx="12"/>
          </p:nvPr>
        </p:nvSpPr>
        <p:spPr/>
        <p:txBody>
          <a:bodyPr/>
          <a:lstStyle/>
          <a:p>
            <a:fld id="{206048C0-C8B7-4832-8A8D-D83BA7A49C27}" type="slidenum">
              <a:rPr lang="en-US" smtClean="0"/>
              <a:pPr/>
              <a:t>43</a:t>
            </a:fld>
            <a:endParaRPr lang="en-US"/>
          </a:p>
        </p:txBody>
      </p:sp>
    </p:spTree>
    <p:extLst>
      <p:ext uri="{BB962C8B-B14F-4D97-AF65-F5344CB8AC3E}">
        <p14:creationId xmlns:p14="http://schemas.microsoft.com/office/powerpoint/2010/main" val="12485031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a:t>DoS</a:t>
            </a:r>
            <a:r>
              <a:rPr lang="en-US" sz="5400" b="1" dirty="0"/>
              <a:t> and </a:t>
            </a:r>
            <a:r>
              <a:rPr lang="en-US" sz="5400" b="1" dirty="0" err="1"/>
              <a:t>DDoS</a:t>
            </a:r>
            <a:endParaRPr lang="en-US" sz="5400" b="1" dirty="0"/>
          </a:p>
        </p:txBody>
      </p:sp>
      <p:sp>
        <p:nvSpPr>
          <p:cNvPr id="3" name="Content Placeholder 2"/>
          <p:cNvSpPr>
            <a:spLocks noGrp="1"/>
          </p:cNvSpPr>
          <p:nvPr>
            <p:ph idx="1"/>
          </p:nvPr>
        </p:nvSpPr>
        <p:spPr/>
        <p:txBody>
          <a:bodyPr>
            <a:normAutofit lnSpcReduction="10000"/>
          </a:bodyPr>
          <a:lstStyle/>
          <a:p>
            <a:pPr>
              <a:buNone/>
            </a:pPr>
            <a:r>
              <a:rPr lang="en-US" sz="3200" dirty="0"/>
              <a:t>	A “denial of service” or </a:t>
            </a:r>
            <a:r>
              <a:rPr lang="en-US" sz="3200" dirty="0" err="1"/>
              <a:t>DoS</a:t>
            </a:r>
            <a:r>
              <a:rPr lang="en-US" sz="3200" dirty="0"/>
              <a:t> attack is used to tie up a website’s resources so that users who need to access the site cannot do so.</a:t>
            </a:r>
          </a:p>
          <a:p>
            <a:pPr>
              <a:buNone/>
            </a:pPr>
            <a:endParaRPr lang="en-US" sz="3200" dirty="0"/>
          </a:p>
          <a:p>
            <a:pPr>
              <a:buNone/>
            </a:pPr>
            <a:r>
              <a:rPr lang="en-US" sz="3200" dirty="0"/>
              <a:t>	A distributed denial-of-service (</a:t>
            </a:r>
            <a:r>
              <a:rPr lang="en-US" sz="3200" dirty="0" err="1"/>
              <a:t>DDoS</a:t>
            </a:r>
            <a:r>
              <a:rPr lang="en-US" sz="3200" dirty="0"/>
              <a:t>) attack is a malicious attempt to disrupt normal traffic of a targeted server, service or network  form more than one sources. </a:t>
            </a:r>
          </a:p>
          <a:p>
            <a:pPr>
              <a:buNone/>
            </a:pPr>
            <a:endParaRPr lang="en-US" sz="3200" dirty="0"/>
          </a:p>
        </p:txBody>
      </p:sp>
      <p:sp>
        <p:nvSpPr>
          <p:cNvPr id="4" name="Footer Placeholder 3">
            <a:extLst>
              <a:ext uri="{FF2B5EF4-FFF2-40B4-BE49-F238E27FC236}">
                <a16:creationId xmlns:a16="http://schemas.microsoft.com/office/drawing/2014/main" id="{E5E78734-1326-BC26-22C7-E81DC03C480C}"/>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E798504C-018F-5853-A484-563EB7D4B691}"/>
              </a:ext>
            </a:extLst>
          </p:cNvPr>
          <p:cNvSpPr>
            <a:spLocks noGrp="1"/>
          </p:cNvSpPr>
          <p:nvPr>
            <p:ph type="sldNum" sz="quarter" idx="12"/>
          </p:nvPr>
        </p:nvSpPr>
        <p:spPr/>
        <p:txBody>
          <a:bodyPr/>
          <a:lstStyle/>
          <a:p>
            <a:fld id="{206048C0-C8B7-4832-8A8D-D83BA7A49C27}"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4A76E-6759-46FB-A3D6-C4FED72D9BA8}"/>
              </a:ext>
            </a:extLst>
          </p:cNvPr>
          <p:cNvSpPr>
            <a:spLocks noGrp="1"/>
          </p:cNvSpPr>
          <p:nvPr>
            <p:ph type="title"/>
          </p:nvPr>
        </p:nvSpPr>
        <p:spPr>
          <a:xfrm>
            <a:off x="1066800" y="642594"/>
            <a:ext cx="10058400" cy="445977"/>
          </a:xfrm>
        </p:spPr>
        <p:txBody>
          <a:bodyPr>
            <a:normAutofit fontScale="90000"/>
          </a:bodyPr>
          <a:lstStyle/>
          <a:p>
            <a:r>
              <a:rPr lang="en-US" sz="4800" b="1" dirty="0">
                <a:latin typeface="Times New Roman" panose="02020603050405020304" pitchFamily="18" charset="0"/>
                <a:cs typeface="Times New Roman" panose="02020603050405020304" pitchFamily="18" charset="0"/>
              </a:rPr>
              <a:t>Cyber Stalking </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5E3204-9AF5-4661-8522-0F256E6A92A9}"/>
              </a:ext>
            </a:extLst>
          </p:cNvPr>
          <p:cNvSpPr>
            <a:spLocks noGrp="1"/>
          </p:cNvSpPr>
          <p:nvPr>
            <p:ph idx="1"/>
          </p:nvPr>
        </p:nvSpPr>
        <p:spPr>
          <a:xfrm>
            <a:off x="259080" y="1378857"/>
            <a:ext cx="11802291" cy="5268686"/>
          </a:xfrm>
        </p:spPr>
        <p:txBody>
          <a:bodyPr>
            <a:normAutofit fontScale="92500" lnSpcReduction="20000"/>
          </a:bodyPr>
          <a:lstStyle/>
          <a:p>
            <a:pPr algn="just">
              <a:buFontTx/>
              <a:buChar char="-"/>
            </a:pPr>
            <a:r>
              <a:rPr lang="en-US" sz="3600" dirty="0">
                <a:latin typeface="Times New Roman" pitchFamily="18" charset="0"/>
                <a:cs typeface="Times New Roman" pitchFamily="18" charset="0"/>
              </a:rPr>
              <a:t>Use of internet, email and other communication means to stalk another person.</a:t>
            </a:r>
          </a:p>
          <a:p>
            <a:pPr algn="just">
              <a:buFontTx/>
              <a:buChar char="-"/>
            </a:pPr>
            <a:r>
              <a:rPr lang="en-US" sz="3600" b="1" dirty="0">
                <a:latin typeface="Times New Roman" pitchFamily="18" charset="0"/>
                <a:cs typeface="Times New Roman" pitchFamily="18" charset="0"/>
              </a:rPr>
              <a:t>Virtually</a:t>
            </a:r>
            <a:r>
              <a:rPr lang="en-US" sz="3600" dirty="0">
                <a:latin typeface="Times New Roman" pitchFamily="18" charset="0"/>
                <a:cs typeface="Times New Roman" pitchFamily="18" charset="0"/>
              </a:rPr>
              <a:t> any </a:t>
            </a:r>
            <a:r>
              <a:rPr lang="en-US" sz="3600" b="1" dirty="0">
                <a:latin typeface="Times New Roman" pitchFamily="18" charset="0"/>
                <a:cs typeface="Times New Roman" pitchFamily="18" charset="0"/>
              </a:rPr>
              <a:t>unwanted contact between two people </a:t>
            </a:r>
            <a:r>
              <a:rPr lang="en-US" sz="3600" dirty="0">
                <a:latin typeface="Times New Roman" pitchFamily="18" charset="0"/>
                <a:cs typeface="Times New Roman" pitchFamily="18" charset="0"/>
              </a:rPr>
              <a:t>that directly or indirectly </a:t>
            </a:r>
            <a:r>
              <a:rPr lang="en-US" sz="3600" b="1" dirty="0">
                <a:latin typeface="Times New Roman" pitchFamily="18" charset="0"/>
                <a:cs typeface="Times New Roman" pitchFamily="18" charset="0"/>
              </a:rPr>
              <a:t>communicates a threat </a:t>
            </a:r>
            <a:r>
              <a:rPr lang="en-US" sz="3600" dirty="0">
                <a:latin typeface="Times New Roman" pitchFamily="18" charset="0"/>
                <a:cs typeface="Times New Roman" pitchFamily="18" charset="0"/>
              </a:rPr>
              <a:t>or </a:t>
            </a:r>
            <a:r>
              <a:rPr lang="en-US" sz="3600" b="1" dirty="0">
                <a:latin typeface="Times New Roman" pitchFamily="18" charset="0"/>
                <a:cs typeface="Times New Roman" pitchFamily="18" charset="0"/>
              </a:rPr>
              <a:t>places the victim in fear</a:t>
            </a:r>
            <a:r>
              <a:rPr lang="en-US" sz="3600" dirty="0">
                <a:latin typeface="Times New Roman" pitchFamily="18" charset="0"/>
                <a:cs typeface="Times New Roman" pitchFamily="18" charset="0"/>
              </a:rPr>
              <a:t> can be considered stalking.</a:t>
            </a:r>
          </a:p>
          <a:p>
            <a:pPr algn="just">
              <a:buFontTx/>
              <a:buChar char="-"/>
            </a:pPr>
            <a:r>
              <a:rPr lang="en-US" sz="3600" b="1" dirty="0"/>
              <a:t>Features: </a:t>
            </a:r>
            <a:r>
              <a:rPr lang="en-US" sz="3600" dirty="0">
                <a:latin typeface="Times New Roman" pitchFamily="18" charset="0"/>
                <a:cs typeface="Times New Roman" pitchFamily="18" charset="0"/>
              </a:rPr>
              <a:t>Harass, intimidate, spy or establish unwanted communication or contact, engaging in harmful </a:t>
            </a:r>
            <a:r>
              <a:rPr lang="en-US" sz="3600" dirty="0" err="1">
                <a:latin typeface="Times New Roman" pitchFamily="18" charset="0"/>
                <a:cs typeface="Times New Roman" pitchFamily="18" charset="0"/>
              </a:rPr>
              <a:t>behaviours</a:t>
            </a:r>
            <a:r>
              <a:rPr lang="en-US" sz="3600" dirty="0">
                <a:latin typeface="Times New Roman" pitchFamily="18" charset="0"/>
                <a:cs typeface="Times New Roman" pitchFamily="18" charset="0"/>
              </a:rPr>
              <a:t> that make the victim feel threatened, distressed or unsafe in any way.</a:t>
            </a:r>
          </a:p>
          <a:p>
            <a:pPr algn="just">
              <a:buFontTx/>
              <a:buChar char="-"/>
            </a:pPr>
            <a:r>
              <a:rPr lang="en-US" sz="3600" b="1" dirty="0">
                <a:latin typeface="Times New Roman" pitchFamily="18" charset="0"/>
                <a:cs typeface="Times New Roman" pitchFamily="18" charset="0"/>
              </a:rPr>
              <a:t>Repeatedly use electronic communication </a:t>
            </a:r>
            <a:r>
              <a:rPr lang="en-US" sz="3600" dirty="0">
                <a:latin typeface="Times New Roman" pitchFamily="18" charset="0"/>
                <a:cs typeface="Times New Roman" pitchFamily="18" charset="0"/>
              </a:rPr>
              <a:t>to harsh or frighten someone.</a:t>
            </a:r>
          </a:p>
          <a:p>
            <a:pPr algn="just">
              <a:buFontTx/>
              <a:buChar char="-"/>
            </a:pPr>
            <a:r>
              <a:rPr lang="en-US" sz="3600" dirty="0">
                <a:latin typeface="Times New Roman" pitchFamily="18" charset="0"/>
                <a:cs typeface="Times New Roman" pitchFamily="18" charset="0"/>
              </a:rPr>
              <a:t>It  is  referred to as online harassment and online abuse. </a:t>
            </a:r>
            <a:endParaRPr lang="ne-NP" sz="3600" dirty="0">
              <a:latin typeface="Times New Roman" pitchFamily="18" charset="0"/>
              <a:cs typeface="Times New Roman" panose="02020603050405020304" pitchFamily="18" charset="0"/>
            </a:endParaRPr>
          </a:p>
          <a:p>
            <a:pPr algn="just">
              <a:buFontTx/>
              <a:buChar char="-"/>
            </a:pPr>
            <a:endParaRPr lang="en-US" sz="3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16A57F4-7D25-5E0E-817F-58EF54571EAE}"/>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07352272-1E99-FE38-3F9B-845A63853CF1}"/>
              </a:ext>
            </a:extLst>
          </p:cNvPr>
          <p:cNvSpPr>
            <a:spLocks noGrp="1"/>
          </p:cNvSpPr>
          <p:nvPr>
            <p:ph type="sldNum" sz="quarter" idx="12"/>
          </p:nvPr>
        </p:nvSpPr>
        <p:spPr/>
        <p:txBody>
          <a:bodyPr/>
          <a:lstStyle/>
          <a:p>
            <a:fld id="{206048C0-C8B7-4832-8A8D-D83BA7A49C27}" type="slidenum">
              <a:rPr lang="en-US" smtClean="0"/>
              <a:pPr/>
              <a:t>45</a:t>
            </a:fld>
            <a:endParaRPr lang="en-US"/>
          </a:p>
        </p:txBody>
      </p:sp>
    </p:spTree>
    <p:extLst>
      <p:ext uri="{BB962C8B-B14F-4D97-AF65-F5344CB8AC3E}">
        <p14:creationId xmlns:p14="http://schemas.microsoft.com/office/powerpoint/2010/main" val="27111058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33830"/>
            <a:ext cx="8596668" cy="696684"/>
          </a:xfrm>
        </p:spPr>
        <p:txBody>
          <a:bodyPr>
            <a:normAutofit fontScale="90000"/>
          </a:bodyPr>
          <a:lstStyle/>
          <a:p>
            <a:pPr algn="ctr"/>
            <a:r>
              <a:rPr lang="en-US" b="1" dirty="0"/>
              <a:t>Cyberbullying </a:t>
            </a:r>
            <a:r>
              <a:rPr lang="en-US" sz="2800" b="1" dirty="0"/>
              <a:t>(Section 47)</a:t>
            </a:r>
          </a:p>
        </p:txBody>
      </p:sp>
      <p:sp>
        <p:nvSpPr>
          <p:cNvPr id="3" name="Content Placeholder 2"/>
          <p:cNvSpPr>
            <a:spLocks noGrp="1"/>
          </p:cNvSpPr>
          <p:nvPr>
            <p:ph idx="1"/>
          </p:nvPr>
        </p:nvSpPr>
        <p:spPr>
          <a:xfrm>
            <a:off x="259081" y="1190171"/>
            <a:ext cx="11673840" cy="5334000"/>
          </a:xfrm>
        </p:spPr>
        <p:txBody>
          <a:bodyPr>
            <a:noAutofit/>
          </a:bodyPr>
          <a:lstStyle/>
          <a:p>
            <a:r>
              <a:rPr lang="en-US" sz="3200" dirty="0"/>
              <a:t>The use of digital technology to bully someone is known as </a:t>
            </a:r>
            <a:r>
              <a:rPr lang="en-US" sz="3200" dirty="0" err="1"/>
              <a:t>cyberbullying</a:t>
            </a:r>
            <a:r>
              <a:rPr lang="en-US" sz="3200" dirty="0"/>
              <a:t>. It involves using text, SMS, certain apps, different social media platforms, and games through which individuals can chat, contact and exchange data with one another.</a:t>
            </a:r>
          </a:p>
          <a:p>
            <a:pPr lvl="2" fontAlgn="base"/>
            <a:r>
              <a:rPr lang="en-US" sz="2400" dirty="0"/>
              <a:t>Recording any audio or video of someone in their private place without their consent and spreading it.</a:t>
            </a:r>
          </a:p>
          <a:p>
            <a:pPr lvl="2" fontAlgn="base"/>
            <a:r>
              <a:rPr lang="en-US" sz="2400" dirty="0" err="1"/>
              <a:t>Sextortion</a:t>
            </a:r>
            <a:r>
              <a:rPr lang="en-US" sz="2400" dirty="0"/>
              <a:t> (threats to expose sexual images) </a:t>
            </a:r>
          </a:p>
          <a:p>
            <a:pPr lvl="2" fontAlgn="base"/>
            <a:r>
              <a:rPr lang="en-US" sz="2400" dirty="0"/>
              <a:t>Child pornography</a:t>
            </a:r>
          </a:p>
          <a:p>
            <a:pPr lvl="2" fontAlgn="base"/>
            <a:r>
              <a:rPr lang="en-US" sz="2400" dirty="0"/>
              <a:t>Giving death threats</a:t>
            </a:r>
          </a:p>
          <a:p>
            <a:pPr lvl="2" fontAlgn="base"/>
            <a:r>
              <a:rPr lang="en-US" sz="2400" dirty="0"/>
              <a:t>Giving violent threats</a:t>
            </a:r>
            <a:endParaRPr lang="en-US" sz="1800" dirty="0"/>
          </a:p>
        </p:txBody>
      </p:sp>
      <p:sp>
        <p:nvSpPr>
          <p:cNvPr id="4" name="Footer Placeholder 3">
            <a:extLst>
              <a:ext uri="{FF2B5EF4-FFF2-40B4-BE49-F238E27FC236}">
                <a16:creationId xmlns:a16="http://schemas.microsoft.com/office/drawing/2014/main" id="{13A22664-2C9D-BA36-722F-98E6F9EE991C}"/>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9A9C1D03-830F-BBCE-009A-BE9A733D46AB}"/>
              </a:ext>
            </a:extLst>
          </p:cNvPr>
          <p:cNvSpPr>
            <a:spLocks noGrp="1"/>
          </p:cNvSpPr>
          <p:nvPr>
            <p:ph type="sldNum" sz="quarter" idx="12"/>
          </p:nvPr>
        </p:nvSpPr>
        <p:spPr/>
        <p:txBody>
          <a:bodyPr/>
          <a:lstStyle/>
          <a:p>
            <a:fld id="{206048C0-C8B7-4832-8A8D-D83BA7A49C27}" type="slidenum">
              <a:rPr lang="en-US" smtClean="0"/>
              <a:pPr/>
              <a:t>46</a:t>
            </a:fld>
            <a:endParaRPr lang="en-US"/>
          </a:p>
        </p:txBody>
      </p:sp>
    </p:spTree>
    <p:extLst>
      <p:ext uri="{BB962C8B-B14F-4D97-AF65-F5344CB8AC3E}">
        <p14:creationId xmlns:p14="http://schemas.microsoft.com/office/powerpoint/2010/main" val="10469497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32230"/>
            <a:ext cx="8596668" cy="1219200"/>
          </a:xfrm>
        </p:spPr>
        <p:txBody>
          <a:bodyPr>
            <a:noAutofit/>
          </a:bodyPr>
          <a:lstStyle/>
          <a:p>
            <a:pPr algn="ctr"/>
            <a:r>
              <a:rPr lang="en-US" sz="6000" b="1" dirty="0"/>
              <a:t>Cryptography Attack </a:t>
            </a:r>
          </a:p>
        </p:txBody>
      </p:sp>
      <p:sp>
        <p:nvSpPr>
          <p:cNvPr id="3" name="Content Placeholder 2"/>
          <p:cNvSpPr>
            <a:spLocks noGrp="1"/>
          </p:cNvSpPr>
          <p:nvPr>
            <p:ph idx="1"/>
          </p:nvPr>
        </p:nvSpPr>
        <p:spPr>
          <a:xfrm>
            <a:off x="677334" y="1465943"/>
            <a:ext cx="11255586" cy="4841729"/>
          </a:xfrm>
        </p:spPr>
        <p:txBody>
          <a:bodyPr>
            <a:normAutofit/>
          </a:bodyPr>
          <a:lstStyle/>
          <a:p>
            <a:pPr>
              <a:buFont typeface="Wingdings" panose="05000000000000000000" pitchFamily="2" charset="2"/>
              <a:buChar char="v"/>
            </a:pPr>
            <a:r>
              <a:rPr lang="en-US" sz="4000" dirty="0"/>
              <a:t>A cryptographic attack is a method used by hackers to target cryptographic solutions like ciphertext, encryption keys, etc.</a:t>
            </a:r>
          </a:p>
          <a:p>
            <a:pPr>
              <a:buFont typeface="Wingdings" panose="05000000000000000000" pitchFamily="2" charset="2"/>
              <a:buChar char="v"/>
            </a:pPr>
            <a:r>
              <a:rPr lang="en-US" sz="4000" dirty="0"/>
              <a:t>These attacks aim to </a:t>
            </a:r>
            <a:r>
              <a:rPr lang="en-US" sz="4000" dirty="0">
                <a:solidFill>
                  <a:srgbClr val="FF0000"/>
                </a:solidFill>
              </a:rPr>
              <a:t>retrieve the plaintext from the </a:t>
            </a:r>
            <a:r>
              <a:rPr lang="en-US" sz="4000" dirty="0" err="1">
                <a:solidFill>
                  <a:srgbClr val="FF0000"/>
                </a:solidFill>
              </a:rPr>
              <a:t>ciphertext</a:t>
            </a:r>
            <a:r>
              <a:rPr lang="en-US" sz="4000" dirty="0">
                <a:solidFill>
                  <a:srgbClr val="FF0000"/>
                </a:solidFill>
              </a:rPr>
              <a:t> </a:t>
            </a:r>
            <a:r>
              <a:rPr lang="en-US" sz="4000" dirty="0"/>
              <a:t>or decode the encrypted data.</a:t>
            </a:r>
          </a:p>
        </p:txBody>
      </p:sp>
      <p:sp>
        <p:nvSpPr>
          <p:cNvPr id="4" name="Footer Placeholder 3">
            <a:extLst>
              <a:ext uri="{FF2B5EF4-FFF2-40B4-BE49-F238E27FC236}">
                <a16:creationId xmlns:a16="http://schemas.microsoft.com/office/drawing/2014/main" id="{21214109-3727-5A6B-6E37-983CB33B7415}"/>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3A0DF399-3843-EF9F-2843-40B78851EBB2}"/>
              </a:ext>
            </a:extLst>
          </p:cNvPr>
          <p:cNvSpPr>
            <a:spLocks noGrp="1"/>
          </p:cNvSpPr>
          <p:nvPr>
            <p:ph type="sldNum" sz="quarter" idx="12"/>
          </p:nvPr>
        </p:nvSpPr>
        <p:spPr/>
        <p:txBody>
          <a:bodyPr/>
          <a:lstStyle/>
          <a:p>
            <a:fld id="{206048C0-C8B7-4832-8A8D-D83BA7A49C27}"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53F4-569B-4C79-89A4-7856AEAC3AD4}"/>
              </a:ext>
            </a:extLst>
          </p:cNvPr>
          <p:cNvSpPr>
            <a:spLocks noGrp="1"/>
          </p:cNvSpPr>
          <p:nvPr>
            <p:ph type="title"/>
          </p:nvPr>
        </p:nvSpPr>
        <p:spPr/>
        <p:txBody>
          <a:bodyPr>
            <a:noAutofit/>
          </a:bodyPr>
          <a:lstStyle/>
          <a:p>
            <a:r>
              <a:rPr lang="en-US" sz="4800" dirty="0">
                <a:latin typeface="Times New Roman" panose="02020603050405020304" pitchFamily="18" charset="0"/>
                <a:cs typeface="Times New Roman" panose="02020603050405020304" pitchFamily="18" charset="0"/>
              </a:rPr>
              <a:t>Dispute related to domain names</a:t>
            </a:r>
          </a:p>
        </p:txBody>
      </p:sp>
      <p:sp>
        <p:nvSpPr>
          <p:cNvPr id="3" name="Content Placeholder 2">
            <a:extLst>
              <a:ext uri="{FF2B5EF4-FFF2-40B4-BE49-F238E27FC236}">
                <a16:creationId xmlns:a16="http://schemas.microsoft.com/office/drawing/2014/main" id="{0C67B175-A79C-46EC-9393-46F77E23E672}"/>
              </a:ext>
            </a:extLst>
          </p:cNvPr>
          <p:cNvSpPr>
            <a:spLocks noGrp="1"/>
          </p:cNvSpPr>
          <p:nvPr>
            <p:ph idx="1"/>
          </p:nvPr>
        </p:nvSpPr>
        <p:spPr/>
        <p:txBody>
          <a:bodyPr>
            <a:normAutofit/>
          </a:bodyPr>
          <a:lstStyle/>
          <a:p>
            <a:pPr marL="571500" indent="-571500">
              <a:buAutoNum type="romanLcParenBoth"/>
            </a:pPr>
            <a:r>
              <a:rPr lang="en-US" sz="7200" dirty="0">
                <a:latin typeface="Times New Roman" panose="02020603050405020304" pitchFamily="18" charset="0"/>
                <a:cs typeface="Times New Roman" panose="02020603050405020304" pitchFamily="18" charset="0"/>
              </a:rPr>
              <a:t>cyber squatters,</a:t>
            </a:r>
          </a:p>
          <a:p>
            <a:pPr marL="571500" indent="-571500">
              <a:buAutoNum type="romanLcParenBoth"/>
            </a:pPr>
            <a:r>
              <a:rPr lang="en-US" sz="7200" dirty="0">
                <a:latin typeface="Times New Roman" panose="02020603050405020304" pitchFamily="18" charset="0"/>
                <a:cs typeface="Times New Roman" panose="02020603050405020304" pitchFamily="18" charset="0"/>
              </a:rPr>
              <a:t> cyber parasites,</a:t>
            </a:r>
          </a:p>
        </p:txBody>
      </p:sp>
      <p:sp>
        <p:nvSpPr>
          <p:cNvPr id="4" name="Footer Placeholder 3">
            <a:extLst>
              <a:ext uri="{FF2B5EF4-FFF2-40B4-BE49-F238E27FC236}">
                <a16:creationId xmlns:a16="http://schemas.microsoft.com/office/drawing/2014/main" id="{517B3EA1-75A2-2980-4C72-639647B88E18}"/>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C68CF0EE-66A5-7CD0-10DB-BAD32648DCC9}"/>
              </a:ext>
            </a:extLst>
          </p:cNvPr>
          <p:cNvSpPr>
            <a:spLocks noGrp="1"/>
          </p:cNvSpPr>
          <p:nvPr>
            <p:ph type="sldNum" sz="quarter" idx="12"/>
          </p:nvPr>
        </p:nvSpPr>
        <p:spPr/>
        <p:txBody>
          <a:bodyPr/>
          <a:lstStyle/>
          <a:p>
            <a:fld id="{206048C0-C8B7-4832-8A8D-D83BA7A49C27}" type="slidenum">
              <a:rPr lang="en-US" smtClean="0"/>
              <a:pPr/>
              <a:t>48</a:t>
            </a:fld>
            <a:endParaRPr lang="en-US"/>
          </a:p>
        </p:txBody>
      </p:sp>
    </p:spTree>
    <p:extLst>
      <p:ext uri="{BB962C8B-B14F-4D97-AF65-F5344CB8AC3E}">
        <p14:creationId xmlns:p14="http://schemas.microsoft.com/office/powerpoint/2010/main" val="24578221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2023-4052-408B-9BD1-28ABE2C0152C}"/>
              </a:ext>
            </a:extLst>
          </p:cNvPr>
          <p:cNvSpPr>
            <a:spLocks noGrp="1"/>
          </p:cNvSpPr>
          <p:nvPr>
            <p:ph type="title"/>
          </p:nvPr>
        </p:nvSpPr>
        <p:spPr/>
        <p:txBody>
          <a:bodyPr>
            <a:normAutofit fontScale="90000"/>
          </a:bodyPr>
          <a:lstStyle/>
          <a:p>
            <a:r>
              <a:rPr lang="en-US" sz="6000" b="1" dirty="0">
                <a:latin typeface="Times New Roman" panose="02020603050405020304" pitchFamily="18" charset="0"/>
                <a:cs typeface="Times New Roman" panose="02020603050405020304" pitchFamily="18" charset="0"/>
              </a:rPr>
              <a:t>Cybersquatting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0E7199-2994-4CB3-9E2A-9DAD1DB662E9}"/>
              </a:ext>
            </a:extLst>
          </p:cNvPr>
          <p:cNvSpPr>
            <a:spLocks noGrp="1"/>
          </p:cNvSpPr>
          <p:nvPr>
            <p:ph idx="1"/>
          </p:nvPr>
        </p:nvSpPr>
        <p:spPr>
          <a:xfrm>
            <a:off x="283029" y="2231571"/>
            <a:ext cx="11649891" cy="4076101"/>
          </a:xfrm>
        </p:spPr>
        <p:txBody>
          <a:bodyPr>
            <a:normAutofit/>
          </a:bodyPr>
          <a:lstStyle/>
          <a:p>
            <a:pPr marL="0" indent="0" algn="just">
              <a:buNone/>
            </a:pPr>
            <a:r>
              <a:rPr lang="ne-NP" sz="4800" dirty="0">
                <a:latin typeface="Times New Roman" panose="02020603050405020304" pitchFamily="18" charset="0"/>
                <a:cs typeface="Times New Roman" panose="02020603050405020304" pitchFamily="18" charset="0"/>
              </a:rPr>
              <a:t>कुनैपनि </a:t>
            </a:r>
            <a:r>
              <a:rPr lang="en-US" sz="4800" dirty="0">
                <a:latin typeface="Times New Roman" panose="02020603050405020304" pitchFamily="18" charset="0"/>
                <a:cs typeface="Times New Roman" panose="02020603050405020304" pitchFamily="18" charset="0"/>
              </a:rPr>
              <a:t>Domain Name </a:t>
            </a:r>
            <a:r>
              <a:rPr lang="ne-NP" sz="4800" dirty="0">
                <a:latin typeface="Times New Roman" panose="02020603050405020304" pitchFamily="18" charset="0"/>
                <a:cs typeface="Times New Roman" panose="02020603050405020304" pitchFamily="18" charset="0"/>
              </a:rPr>
              <a:t>लाइ बेच्ने वा भाडामा दिने प्रयोजनार्थ दर्ता गरी बेच्ने वा भाडामा दिने कार्य गर्नु लाइ </a:t>
            </a:r>
            <a:r>
              <a:rPr lang="en-US" sz="4800" dirty="0">
                <a:latin typeface="Times New Roman" panose="02020603050405020304" pitchFamily="18" charset="0"/>
                <a:cs typeface="Times New Roman" panose="02020603050405020304" pitchFamily="18" charset="0"/>
              </a:rPr>
              <a:t>Cybersquatting </a:t>
            </a:r>
            <a:r>
              <a:rPr lang="ne-NP" sz="4800" dirty="0">
                <a:latin typeface="Times New Roman" panose="02020603050405020304" pitchFamily="18" charset="0"/>
                <a:cs typeface="Times New Roman" panose="02020603050405020304" pitchFamily="18" charset="0"/>
              </a:rPr>
              <a:t>भनिन्छ भने त्यस्तो कार्य गराउने व्यक्तिलाइ </a:t>
            </a:r>
            <a:r>
              <a:rPr lang="en-US" sz="4800" dirty="0">
                <a:latin typeface="Times New Roman" panose="02020603050405020304" pitchFamily="18" charset="0"/>
                <a:cs typeface="Times New Roman" panose="02020603050405020304" pitchFamily="18" charset="0"/>
              </a:rPr>
              <a:t>Cyber</a:t>
            </a:r>
            <a:r>
              <a:rPr lang="ne-NP" sz="4800" dirty="0">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Squatters </a:t>
            </a:r>
            <a:r>
              <a:rPr lang="ne-NP" sz="4800" dirty="0">
                <a:latin typeface="Times New Roman" panose="02020603050405020304" pitchFamily="18" charset="0"/>
                <a:cs typeface="Times New Roman" panose="02020603050405020304" pitchFamily="18" charset="0"/>
              </a:rPr>
              <a:t>भनिन्छ ।</a:t>
            </a:r>
            <a:endParaRPr lang="en-US" sz="4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27A278C-E355-D94A-FD8C-F6B4AD83A5EA}"/>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A9FA4002-8C28-D8D3-F7BB-B4371A4DC461}"/>
              </a:ext>
            </a:extLst>
          </p:cNvPr>
          <p:cNvSpPr>
            <a:spLocks noGrp="1"/>
          </p:cNvSpPr>
          <p:nvPr>
            <p:ph type="sldNum" sz="quarter" idx="12"/>
          </p:nvPr>
        </p:nvSpPr>
        <p:spPr/>
        <p:txBody>
          <a:bodyPr/>
          <a:lstStyle/>
          <a:p>
            <a:fld id="{206048C0-C8B7-4832-8A8D-D83BA7A49C27}" type="slidenum">
              <a:rPr lang="en-US" smtClean="0"/>
              <a:pPr/>
              <a:t>49</a:t>
            </a:fld>
            <a:endParaRPr lang="en-US"/>
          </a:p>
        </p:txBody>
      </p:sp>
    </p:spTree>
    <p:extLst>
      <p:ext uri="{BB962C8B-B14F-4D97-AF65-F5344CB8AC3E}">
        <p14:creationId xmlns:p14="http://schemas.microsoft.com/office/powerpoint/2010/main" val="727105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806CB-043A-4441-8838-FC911B3590F2}"/>
              </a:ext>
            </a:extLst>
          </p:cNvPr>
          <p:cNvSpPr>
            <a:spLocks noGrp="1"/>
          </p:cNvSpPr>
          <p:nvPr>
            <p:ph type="title"/>
          </p:nvPr>
        </p:nvSpPr>
        <p:spPr>
          <a:xfrm>
            <a:off x="1066800" y="642594"/>
            <a:ext cx="10058400" cy="750777"/>
          </a:xfrm>
        </p:spPr>
        <p:txBody>
          <a:bodyPr>
            <a:normAutofit/>
          </a:bodyPr>
          <a:lstStyle/>
          <a:p>
            <a:r>
              <a:rPr lang="en-US" sz="4800" b="1" dirty="0">
                <a:latin typeface="Times New Roman" panose="02020603050405020304" pitchFamily="18" charset="0"/>
                <a:cs typeface="Times New Roman" panose="02020603050405020304" pitchFamily="18" charset="0"/>
              </a:rPr>
              <a:t>Cyber Parasites</a:t>
            </a:r>
          </a:p>
        </p:txBody>
      </p:sp>
      <p:sp>
        <p:nvSpPr>
          <p:cNvPr id="3" name="Content Placeholder 2">
            <a:extLst>
              <a:ext uri="{FF2B5EF4-FFF2-40B4-BE49-F238E27FC236}">
                <a16:creationId xmlns:a16="http://schemas.microsoft.com/office/drawing/2014/main" id="{DE00D427-82D8-4F56-811C-975EE914E297}"/>
              </a:ext>
            </a:extLst>
          </p:cNvPr>
          <p:cNvSpPr>
            <a:spLocks noGrp="1"/>
          </p:cNvSpPr>
          <p:nvPr>
            <p:ph idx="1"/>
          </p:nvPr>
        </p:nvSpPr>
        <p:spPr>
          <a:xfrm>
            <a:off x="677334" y="1509487"/>
            <a:ext cx="11255586" cy="4531876"/>
          </a:xfrm>
        </p:spPr>
        <p:txBody>
          <a:bodyPr>
            <a:normAutofit fontScale="92500"/>
          </a:bodyPr>
          <a:lstStyle/>
          <a:p>
            <a:pPr algn="just"/>
            <a:r>
              <a:rPr lang="ne-NP" sz="2800" dirty="0">
                <a:solidFill>
                  <a:schemeClr val="tx1"/>
                </a:solidFill>
                <a:latin typeface="+mj-lt"/>
                <a:cs typeface="Kalimati" panose="00000400000000000000" pitchFamily="2"/>
              </a:rPr>
              <a:t>आफ्नो </a:t>
            </a:r>
            <a:r>
              <a:rPr lang="en-US" sz="2800" dirty="0">
                <a:solidFill>
                  <a:schemeClr val="tx1"/>
                </a:solidFill>
                <a:latin typeface="+mj-lt"/>
                <a:cs typeface="Kalimati" panose="00000400000000000000" pitchFamily="2"/>
              </a:rPr>
              <a:t>website </a:t>
            </a:r>
            <a:r>
              <a:rPr lang="ne-NP" sz="2800" dirty="0">
                <a:solidFill>
                  <a:schemeClr val="tx1"/>
                </a:solidFill>
                <a:latin typeface="+mj-lt"/>
                <a:cs typeface="Kalimati" panose="00000400000000000000" pitchFamily="2"/>
              </a:rPr>
              <a:t>को </a:t>
            </a:r>
            <a:r>
              <a:rPr lang="ne-NP" sz="2800" b="0" i="0" dirty="0">
                <a:solidFill>
                  <a:schemeClr val="tx1"/>
                </a:solidFill>
                <a:effectLst/>
                <a:latin typeface="+mj-lt"/>
                <a:cs typeface="Kalimati" panose="00000400000000000000" pitchFamily="2"/>
              </a:rPr>
              <a:t> </a:t>
            </a:r>
            <a:r>
              <a:rPr lang="en-US" sz="2800" b="0" i="0" dirty="0">
                <a:solidFill>
                  <a:schemeClr val="tx1"/>
                </a:solidFill>
                <a:effectLst/>
                <a:latin typeface="+mj-lt"/>
                <a:cs typeface="Kalimati" panose="00000400000000000000" pitchFamily="2"/>
              </a:rPr>
              <a:t>visit </a:t>
            </a:r>
            <a:r>
              <a:rPr lang="ne-NP" sz="2800" b="0" i="0" dirty="0">
                <a:solidFill>
                  <a:schemeClr val="tx1"/>
                </a:solidFill>
                <a:effectLst/>
                <a:latin typeface="+mj-lt"/>
                <a:cs typeface="Kalimati" panose="00000400000000000000" pitchFamily="2"/>
              </a:rPr>
              <a:t>सङ्ख्या  बढाइ  आफ्नो वेबसाइटबाट हुने  आम्दानी बढाउनको लागि कुनैपनि प्रशिद्ध ब्रान्ड तथा </a:t>
            </a:r>
            <a:r>
              <a:rPr lang="en-US" sz="2800" b="0" i="0" dirty="0">
                <a:solidFill>
                  <a:schemeClr val="tx1"/>
                </a:solidFill>
                <a:effectLst/>
                <a:latin typeface="+mj-lt"/>
                <a:cs typeface="Kalimati" panose="00000400000000000000" pitchFamily="2"/>
              </a:rPr>
              <a:t>Business </a:t>
            </a:r>
            <a:r>
              <a:rPr lang="ne-NP" sz="2800" b="0" i="0" dirty="0">
                <a:solidFill>
                  <a:schemeClr val="tx1"/>
                </a:solidFill>
                <a:effectLst/>
                <a:latin typeface="+mj-lt"/>
                <a:cs typeface="Kalimati" panose="00000400000000000000" pitchFamily="2"/>
              </a:rPr>
              <a:t>लाइ थोरै परिवर्तन गरि  डोमेन नामको रूपमा दर्ता गर्ने गैरकानूनी अभ्यासलाई</a:t>
            </a:r>
            <a:r>
              <a:rPr lang="en-US" sz="2800" b="0" i="0" dirty="0">
                <a:solidFill>
                  <a:schemeClr val="tx1"/>
                </a:solidFill>
                <a:effectLst/>
                <a:latin typeface="+mj-lt"/>
                <a:cs typeface="Kalimati" panose="00000400000000000000" pitchFamily="2"/>
              </a:rPr>
              <a:t> Cyber Parasites</a:t>
            </a:r>
            <a:r>
              <a:rPr lang="ne-NP" sz="2800" b="0" i="0" dirty="0">
                <a:solidFill>
                  <a:schemeClr val="tx1"/>
                </a:solidFill>
                <a:effectLst/>
                <a:latin typeface="+mj-lt"/>
                <a:cs typeface="Kalimati" panose="00000400000000000000" pitchFamily="2"/>
              </a:rPr>
              <a:t> भनिन्छ।</a:t>
            </a:r>
            <a:endParaRPr lang="en-GB" sz="2800" b="0" i="0" dirty="0">
              <a:solidFill>
                <a:schemeClr val="tx1"/>
              </a:solidFill>
              <a:effectLst/>
              <a:latin typeface="+mj-lt"/>
              <a:cs typeface="Kalimati" panose="00000400000000000000" pitchFamily="2"/>
            </a:endParaRPr>
          </a:p>
          <a:p>
            <a:pPr algn="just"/>
            <a:r>
              <a:rPr lang="en-GB" sz="2800" b="0" i="0" dirty="0">
                <a:solidFill>
                  <a:schemeClr val="tx1"/>
                </a:solidFill>
                <a:effectLst/>
                <a:latin typeface="+mj-lt"/>
              </a:rPr>
              <a:t>Registering domain names that are slightly misspelled versions of well-known trademarks.</a:t>
            </a:r>
            <a:endParaRPr lang="en-US" sz="2800" dirty="0">
              <a:solidFill>
                <a:schemeClr val="tx1"/>
              </a:solidFill>
              <a:latin typeface="+mj-lt"/>
            </a:endParaRPr>
          </a:p>
          <a:p>
            <a:pPr marL="0" indent="0" algn="just">
              <a:buNone/>
            </a:pPr>
            <a:r>
              <a:rPr lang="en-US" sz="3200" b="1" i="1" dirty="0" err="1"/>
              <a:t>Rediff</a:t>
            </a:r>
            <a:r>
              <a:rPr lang="en-US" sz="3200" b="1" i="1" dirty="0"/>
              <a:t> Communication Ltd. v. </a:t>
            </a:r>
            <a:r>
              <a:rPr lang="en-US" sz="3200" b="1" i="1" dirty="0" err="1"/>
              <a:t>Cyberbooth</a:t>
            </a:r>
            <a:r>
              <a:rPr lang="en-US" sz="3200" b="1" i="1" dirty="0"/>
              <a:t> and </a:t>
            </a:r>
            <a:r>
              <a:rPr lang="en-US" sz="3200" b="1" i="1" dirty="0" err="1"/>
              <a:t>Anothers</a:t>
            </a: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	</a:t>
            </a:r>
            <a:r>
              <a:rPr lang="en-US" sz="3200" dirty="0"/>
              <a:t>In this case the defendant had registered a domain name radiff.com which was similar to rediff.com. The court gave a decision in </a:t>
            </a:r>
            <a:r>
              <a:rPr lang="en-US" sz="3200" dirty="0" err="1"/>
              <a:t>favour</a:t>
            </a:r>
            <a:r>
              <a:rPr lang="en-US" sz="3200" dirty="0"/>
              <a:t> of the plaintiff.</a:t>
            </a:r>
          </a:p>
        </p:txBody>
      </p:sp>
      <p:sp>
        <p:nvSpPr>
          <p:cNvPr id="4" name="Footer Placeholder 3">
            <a:extLst>
              <a:ext uri="{FF2B5EF4-FFF2-40B4-BE49-F238E27FC236}">
                <a16:creationId xmlns:a16="http://schemas.microsoft.com/office/drawing/2014/main" id="{14F210CF-49FB-A40F-7973-F8B13F078268}"/>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693CAA1D-1A6D-5C76-EEE4-68D651F64F6F}"/>
              </a:ext>
            </a:extLst>
          </p:cNvPr>
          <p:cNvSpPr>
            <a:spLocks noGrp="1"/>
          </p:cNvSpPr>
          <p:nvPr>
            <p:ph type="sldNum" sz="quarter" idx="12"/>
          </p:nvPr>
        </p:nvSpPr>
        <p:spPr/>
        <p:txBody>
          <a:bodyPr/>
          <a:lstStyle/>
          <a:p>
            <a:fld id="{206048C0-C8B7-4832-8A8D-D83BA7A49C27}" type="slidenum">
              <a:rPr lang="en-US" smtClean="0"/>
              <a:pPr/>
              <a:t>50</a:t>
            </a:fld>
            <a:endParaRPr lang="en-US"/>
          </a:p>
        </p:txBody>
      </p:sp>
    </p:spTree>
    <p:extLst>
      <p:ext uri="{BB962C8B-B14F-4D97-AF65-F5344CB8AC3E}">
        <p14:creationId xmlns:p14="http://schemas.microsoft.com/office/powerpoint/2010/main" val="8556389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19314"/>
            <a:ext cx="8596668" cy="928915"/>
          </a:xfrm>
        </p:spPr>
        <p:txBody>
          <a:bodyPr>
            <a:normAutofit/>
          </a:bodyPr>
          <a:lstStyle/>
          <a:p>
            <a:pPr algn="ctr"/>
            <a:r>
              <a:rPr lang="en-US" sz="5400" b="1" dirty="0"/>
              <a:t>Cyber parasites</a:t>
            </a:r>
          </a:p>
        </p:txBody>
      </p:sp>
      <p:sp>
        <p:nvSpPr>
          <p:cNvPr id="3" name="Content Placeholder 2"/>
          <p:cNvSpPr>
            <a:spLocks noGrp="1"/>
          </p:cNvSpPr>
          <p:nvPr>
            <p:ph idx="1"/>
          </p:nvPr>
        </p:nvSpPr>
        <p:spPr>
          <a:xfrm>
            <a:off x="677334" y="1611086"/>
            <a:ext cx="11255586" cy="4804227"/>
          </a:xfrm>
        </p:spPr>
        <p:txBody>
          <a:bodyPr>
            <a:normAutofit/>
          </a:bodyPr>
          <a:lstStyle/>
          <a:p>
            <a:pPr>
              <a:buNone/>
            </a:pPr>
            <a:r>
              <a:rPr lang="en-US" sz="2800" b="1" dirty="0"/>
              <a:t>Yahoo! Inc. v. </a:t>
            </a:r>
            <a:r>
              <a:rPr lang="en-US" sz="2800" b="1" dirty="0" err="1"/>
              <a:t>Akash</a:t>
            </a:r>
            <a:r>
              <a:rPr lang="en-US" sz="2800" b="1" dirty="0"/>
              <a:t> </a:t>
            </a:r>
            <a:r>
              <a:rPr lang="en-US" sz="2800" b="1" dirty="0" err="1"/>
              <a:t>Arora</a:t>
            </a:r>
            <a:r>
              <a:rPr lang="en-US" sz="2800" b="1" dirty="0"/>
              <a:t> </a:t>
            </a:r>
          </a:p>
          <a:p>
            <a:pPr>
              <a:buNone/>
            </a:pPr>
            <a:r>
              <a:rPr lang="en-US" sz="2800" b="1" dirty="0"/>
              <a:t>or Yahoo vs. </a:t>
            </a:r>
            <a:r>
              <a:rPr lang="en-US" sz="2800" b="1" dirty="0" err="1"/>
              <a:t>yahooindia</a:t>
            </a:r>
            <a:endParaRPr lang="en-US" sz="2800" b="1" dirty="0">
              <a:latin typeface="Times New Roman" panose="02020603050405020304" pitchFamily="18" charset="0"/>
              <a:cs typeface="Times New Roman" panose="02020603050405020304" pitchFamily="18" charset="0"/>
            </a:endParaRPr>
          </a:p>
          <a:p>
            <a:pPr>
              <a:buNone/>
            </a:pPr>
            <a:endParaRPr lang="en-US" dirty="0"/>
          </a:p>
          <a:p>
            <a:pPr>
              <a:buNone/>
            </a:pPr>
            <a:r>
              <a:rPr lang="en-US" b="1" dirty="0"/>
              <a:t>Judgment of Delhi High Court</a:t>
            </a:r>
          </a:p>
          <a:p>
            <a:r>
              <a:rPr lang="en-US" dirty="0" err="1"/>
              <a:t>Yahooindia</a:t>
            </a:r>
            <a:r>
              <a:rPr lang="en-US" dirty="0"/>
              <a:t> was engaging in cyber parasites by using a domain name that was confusingly similar to that of Yahoo INC.</a:t>
            </a:r>
          </a:p>
          <a:p>
            <a:r>
              <a:rPr lang="en-US" dirty="0"/>
              <a:t>The word “Yahoo” had built up its reputation, and that the defendant needed to stop using the domain name “yahooindia.com” permanently.</a:t>
            </a:r>
          </a:p>
          <a:p>
            <a:r>
              <a:rPr lang="en-US" dirty="0"/>
              <a:t>A domain name is entitled to the same degree of legal protection as a trademark. </a:t>
            </a:r>
          </a:p>
          <a:p>
            <a:r>
              <a:rPr lang="en-US" dirty="0"/>
              <a:t>As of August 26th, 2021 Yahoo India  is no longer be publishing content. But the account and email created on that base are operating as usual.</a:t>
            </a:r>
          </a:p>
          <a:p>
            <a:r>
              <a:rPr lang="en-US" dirty="0"/>
              <a:t>In this judgment the </a:t>
            </a:r>
            <a:r>
              <a:rPr lang="en-US" b="1" dirty="0"/>
              <a:t>terms cyber squatting and cyber parasites are used synonymously.</a:t>
            </a:r>
          </a:p>
          <a:p>
            <a:endParaRPr lang="en-US" dirty="0"/>
          </a:p>
        </p:txBody>
      </p:sp>
      <p:sp>
        <p:nvSpPr>
          <p:cNvPr id="4" name="Footer Placeholder 3">
            <a:extLst>
              <a:ext uri="{FF2B5EF4-FFF2-40B4-BE49-F238E27FC236}">
                <a16:creationId xmlns:a16="http://schemas.microsoft.com/office/drawing/2014/main" id="{C7B66B35-1178-5F77-F724-16FF4A302F0B}"/>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3ED6E351-EBD0-FF6C-1137-EE1E2850DF08}"/>
              </a:ext>
            </a:extLst>
          </p:cNvPr>
          <p:cNvSpPr>
            <a:spLocks noGrp="1"/>
          </p:cNvSpPr>
          <p:nvPr>
            <p:ph type="sldNum" sz="quarter" idx="12"/>
          </p:nvPr>
        </p:nvSpPr>
        <p:spPr/>
        <p:txBody>
          <a:bodyPr/>
          <a:lstStyle/>
          <a:p>
            <a:fld id="{206048C0-C8B7-4832-8A8D-D83BA7A49C27}"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DFFE0-754C-B674-77B0-B446D9A4C33A}"/>
              </a:ext>
            </a:extLst>
          </p:cNvPr>
          <p:cNvSpPr>
            <a:spLocks noGrp="1"/>
          </p:cNvSpPr>
          <p:nvPr>
            <p:ph type="title"/>
          </p:nvPr>
        </p:nvSpPr>
        <p:spPr/>
        <p:txBody>
          <a:bodyPr>
            <a:normAutofit fontScale="90000"/>
          </a:bodyPr>
          <a:lstStyle/>
          <a:p>
            <a:r>
              <a:rPr lang="en-US" b="1" dirty="0"/>
              <a:t>Very important thing of Digital Evidence</a:t>
            </a:r>
          </a:p>
        </p:txBody>
      </p:sp>
      <p:sp>
        <p:nvSpPr>
          <p:cNvPr id="3" name="Content Placeholder 2">
            <a:extLst>
              <a:ext uri="{FF2B5EF4-FFF2-40B4-BE49-F238E27FC236}">
                <a16:creationId xmlns:a16="http://schemas.microsoft.com/office/drawing/2014/main" id="{FF8970AD-5B12-56FC-28A3-75650D5119AA}"/>
              </a:ext>
            </a:extLst>
          </p:cNvPr>
          <p:cNvSpPr>
            <a:spLocks noGrp="1"/>
          </p:cNvSpPr>
          <p:nvPr>
            <p:ph idx="1"/>
          </p:nvPr>
        </p:nvSpPr>
        <p:spPr>
          <a:xfrm>
            <a:off x="1066799" y="2103120"/>
            <a:ext cx="10265229" cy="4362994"/>
          </a:xfrm>
        </p:spPr>
        <p:txBody>
          <a:bodyPr>
            <a:normAutofit fontScale="92500" lnSpcReduction="20000"/>
          </a:bodyPr>
          <a:lstStyle/>
          <a:p>
            <a:pPr>
              <a:buFont typeface="Wingdings" panose="05000000000000000000" pitchFamily="2" charset="2"/>
              <a:buChar char="Ø"/>
            </a:pPr>
            <a:r>
              <a:rPr lang="en-US" sz="3900" dirty="0"/>
              <a:t>DNA of the Digital evidence is its hash value.</a:t>
            </a:r>
          </a:p>
          <a:p>
            <a:pPr>
              <a:buFont typeface="Wingdings" panose="05000000000000000000" pitchFamily="2" charset="2"/>
              <a:buChar char="Ø"/>
            </a:pPr>
            <a:r>
              <a:rPr lang="en-US" sz="3900" dirty="0"/>
              <a:t>Just as biological DNA uniquely identifies individuals, hash values ensure that digital evidence has not been altered since collection, making them crucial for forensic admissibility.</a:t>
            </a:r>
          </a:p>
          <a:p>
            <a:pPr>
              <a:buFont typeface="Wingdings" panose="05000000000000000000" pitchFamily="2" charset="2"/>
              <a:buChar char="Ø"/>
            </a:pPr>
            <a:r>
              <a:rPr lang="en-US" sz="3900" dirty="0"/>
              <a:t>For example</a:t>
            </a:r>
          </a:p>
          <a:p>
            <a:pPr lvl="1">
              <a:buFont typeface="Wingdings" panose="05000000000000000000" pitchFamily="2" charset="2"/>
              <a:buChar char="Ø"/>
            </a:pPr>
            <a:r>
              <a:rPr lang="en-US" sz="3500" dirty="0">
                <a:hlinkClick r:id="rId2"/>
              </a:rPr>
              <a:t>https://hash-file.online/</a:t>
            </a:r>
            <a:endParaRPr lang="en-US" sz="3500" dirty="0"/>
          </a:p>
          <a:p>
            <a:pPr marL="457200" lvl="1" indent="0">
              <a:buNone/>
            </a:pPr>
            <a:endParaRPr lang="en-US" dirty="0"/>
          </a:p>
        </p:txBody>
      </p:sp>
    </p:spTree>
    <p:extLst>
      <p:ext uri="{BB962C8B-B14F-4D97-AF65-F5344CB8AC3E}">
        <p14:creationId xmlns:p14="http://schemas.microsoft.com/office/powerpoint/2010/main" val="690656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06260-7E04-D28D-4536-911B9BB8622C}"/>
              </a:ext>
            </a:extLst>
          </p:cNvPr>
          <p:cNvSpPr>
            <a:spLocks noGrp="1"/>
          </p:cNvSpPr>
          <p:nvPr>
            <p:ph idx="1"/>
          </p:nvPr>
        </p:nvSpPr>
        <p:spPr/>
        <p:txBody>
          <a:bodyPr>
            <a:normAutofit/>
          </a:bodyPr>
          <a:lstStyle/>
          <a:p>
            <a:pPr marL="0" indent="0" algn="ctr">
              <a:buNone/>
            </a:pPr>
            <a:r>
              <a:rPr lang="en-US" sz="9600" dirty="0">
                <a:solidFill>
                  <a:schemeClr val="accent5"/>
                </a:solidFill>
              </a:rPr>
              <a:t>Cyber Security</a:t>
            </a:r>
          </a:p>
        </p:txBody>
      </p:sp>
      <p:sp>
        <p:nvSpPr>
          <p:cNvPr id="2" name="Footer Placeholder 1">
            <a:extLst>
              <a:ext uri="{FF2B5EF4-FFF2-40B4-BE49-F238E27FC236}">
                <a16:creationId xmlns:a16="http://schemas.microsoft.com/office/drawing/2014/main" id="{DB47517B-F5D2-87BF-F570-E142EDC0E70F}"/>
              </a:ext>
            </a:extLst>
          </p:cNvPr>
          <p:cNvSpPr>
            <a:spLocks noGrp="1"/>
          </p:cNvSpPr>
          <p:nvPr>
            <p:ph type="ftr" sz="quarter" idx="11"/>
          </p:nvPr>
        </p:nvSpPr>
        <p:spPr/>
        <p:txBody>
          <a:bodyPr/>
          <a:lstStyle/>
          <a:p>
            <a:r>
              <a:rPr lang="en-US"/>
              <a:t>Cybercrime and Cyber Security</a:t>
            </a:r>
          </a:p>
        </p:txBody>
      </p:sp>
      <p:sp>
        <p:nvSpPr>
          <p:cNvPr id="4" name="Slide Number Placeholder 3">
            <a:extLst>
              <a:ext uri="{FF2B5EF4-FFF2-40B4-BE49-F238E27FC236}">
                <a16:creationId xmlns:a16="http://schemas.microsoft.com/office/drawing/2014/main" id="{7EE55DBD-166A-0655-038E-BB7CF3DD8329}"/>
              </a:ext>
            </a:extLst>
          </p:cNvPr>
          <p:cNvSpPr>
            <a:spLocks noGrp="1"/>
          </p:cNvSpPr>
          <p:nvPr>
            <p:ph type="sldNum" sz="quarter" idx="12"/>
          </p:nvPr>
        </p:nvSpPr>
        <p:spPr/>
        <p:txBody>
          <a:bodyPr/>
          <a:lstStyle/>
          <a:p>
            <a:fld id="{206048C0-C8B7-4832-8A8D-D83BA7A49C27}" type="slidenum">
              <a:rPr lang="en-US" smtClean="0"/>
              <a:pPr/>
              <a:t>53</a:t>
            </a:fld>
            <a:endParaRPr lang="en-US"/>
          </a:p>
        </p:txBody>
      </p:sp>
    </p:spTree>
    <p:extLst>
      <p:ext uri="{BB962C8B-B14F-4D97-AF65-F5344CB8AC3E}">
        <p14:creationId xmlns:p14="http://schemas.microsoft.com/office/powerpoint/2010/main" val="1839943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E040A-C372-819D-A57A-5CB474B275DE}"/>
              </a:ext>
            </a:extLst>
          </p:cNvPr>
          <p:cNvSpPr>
            <a:spLocks noGrp="1"/>
          </p:cNvSpPr>
          <p:nvPr>
            <p:ph type="title"/>
          </p:nvPr>
        </p:nvSpPr>
        <p:spPr/>
        <p:txBody>
          <a:bodyPr>
            <a:normAutofit fontScale="90000"/>
          </a:bodyPr>
          <a:lstStyle/>
          <a:p>
            <a:r>
              <a:rPr lang="ne-NP" sz="5300" b="1" dirty="0"/>
              <a:t>के हो त साइवर सुरक्षा</a:t>
            </a:r>
            <a:r>
              <a:rPr lang="ne-NP" sz="5300" b="1" dirty="0">
                <a:cs typeface="Kalimati" panose="00000400000000000000" pitchFamily="2"/>
              </a:rPr>
              <a:t>?</a:t>
            </a:r>
            <a:r>
              <a:rPr lang="ne-NP" sz="5300" b="1" dirty="0"/>
              <a:t> </a:t>
            </a:r>
            <a:br>
              <a:rPr lang="ne-NP" sz="5300" dirty="0"/>
            </a:br>
            <a:br>
              <a:rPr lang="ne-NP" dirty="0"/>
            </a:br>
            <a:br>
              <a:rPr lang="ne-NP" dirty="0"/>
            </a:br>
            <a:endParaRPr lang="en-US" dirty="0"/>
          </a:p>
        </p:txBody>
      </p:sp>
      <p:pic>
        <p:nvPicPr>
          <p:cNvPr id="1026" name="Picture 2" descr="Kratikal Blogs - Information Hub For Cyber Security Experts">
            <a:extLst>
              <a:ext uri="{FF2B5EF4-FFF2-40B4-BE49-F238E27FC236}">
                <a16:creationId xmlns:a16="http://schemas.microsoft.com/office/drawing/2014/main" id="{D0BF445D-6E75-926F-9201-C06E71A228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71620" y="2103438"/>
            <a:ext cx="8248760" cy="3932237"/>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CE9AD024-A159-73F6-4B2A-80DA407B61CB}"/>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C1DF75B9-792C-F1A4-C694-DBCB8301F85E}"/>
              </a:ext>
            </a:extLst>
          </p:cNvPr>
          <p:cNvSpPr>
            <a:spLocks noGrp="1"/>
          </p:cNvSpPr>
          <p:nvPr>
            <p:ph type="sldNum" sz="quarter" idx="12"/>
          </p:nvPr>
        </p:nvSpPr>
        <p:spPr/>
        <p:txBody>
          <a:bodyPr/>
          <a:lstStyle/>
          <a:p>
            <a:fld id="{206048C0-C8B7-4832-8A8D-D83BA7A49C27}" type="slidenum">
              <a:rPr lang="en-US" smtClean="0"/>
              <a:pPr/>
              <a:t>54</a:t>
            </a:fld>
            <a:endParaRPr lang="en-US"/>
          </a:p>
        </p:txBody>
      </p:sp>
      <p:sp>
        <p:nvSpPr>
          <p:cNvPr id="4" name="TextBox 3">
            <a:extLst>
              <a:ext uri="{FF2B5EF4-FFF2-40B4-BE49-F238E27FC236}">
                <a16:creationId xmlns:a16="http://schemas.microsoft.com/office/drawing/2014/main" id="{3746B4FB-7C20-83E8-20FC-D0E1557206EF}"/>
              </a:ext>
            </a:extLst>
          </p:cNvPr>
          <p:cNvSpPr txBox="1"/>
          <p:nvPr/>
        </p:nvSpPr>
        <p:spPr>
          <a:xfrm>
            <a:off x="458916" y="1930400"/>
            <a:ext cx="3396342" cy="3539430"/>
          </a:xfrm>
          <a:prstGeom prst="rect">
            <a:avLst/>
          </a:prstGeom>
          <a:noFill/>
        </p:spPr>
        <p:txBody>
          <a:bodyPr wrap="square" rtlCol="0">
            <a:spAutoFit/>
          </a:bodyPr>
          <a:lstStyle/>
          <a:p>
            <a:r>
              <a:rPr lang="ne-NP" sz="2800" dirty="0">
                <a:solidFill>
                  <a:srgbClr val="C00000"/>
                </a:solidFill>
              </a:rPr>
              <a:t>कम्प्यूटर</a:t>
            </a:r>
            <a:r>
              <a:rPr lang="ne-NP" sz="2800" dirty="0">
                <a:solidFill>
                  <a:srgbClr val="C00000"/>
                </a:solidFill>
                <a:cs typeface="Kalimati" panose="00000400000000000000" pitchFamily="2"/>
              </a:rPr>
              <a:t>,</a:t>
            </a:r>
            <a:r>
              <a:rPr lang="ne-NP" sz="2800" dirty="0">
                <a:solidFill>
                  <a:srgbClr val="C00000"/>
                </a:solidFill>
              </a:rPr>
              <a:t> मोबाइल</a:t>
            </a:r>
            <a:r>
              <a:rPr lang="ne-NP" sz="2800" dirty="0">
                <a:solidFill>
                  <a:srgbClr val="C00000"/>
                </a:solidFill>
                <a:cs typeface="Kalimati" panose="00000400000000000000" pitchFamily="2"/>
              </a:rPr>
              <a:t>,</a:t>
            </a:r>
            <a:r>
              <a:rPr lang="ne-NP" sz="2800" dirty="0">
                <a:solidFill>
                  <a:srgbClr val="C00000"/>
                </a:solidFill>
              </a:rPr>
              <a:t> </a:t>
            </a:r>
            <a:br>
              <a:rPr lang="ne-NP" sz="2800" dirty="0">
                <a:solidFill>
                  <a:srgbClr val="C00000"/>
                </a:solidFill>
              </a:rPr>
            </a:br>
            <a:r>
              <a:rPr lang="ne-NP" sz="2800" dirty="0">
                <a:solidFill>
                  <a:srgbClr val="C00000"/>
                </a:solidFill>
              </a:rPr>
              <a:t>सर्भर</a:t>
            </a:r>
            <a:r>
              <a:rPr lang="ne-NP" sz="2800" dirty="0">
                <a:solidFill>
                  <a:srgbClr val="C00000"/>
                </a:solidFill>
                <a:cs typeface="Kalimati" panose="00000400000000000000" pitchFamily="2"/>
              </a:rPr>
              <a:t>,</a:t>
            </a:r>
            <a:r>
              <a:rPr lang="ne-NP" sz="2800" dirty="0">
                <a:solidFill>
                  <a:srgbClr val="C00000"/>
                </a:solidFill>
              </a:rPr>
              <a:t> नेटवर्क</a:t>
            </a:r>
            <a:r>
              <a:rPr lang="ne-NP" sz="2800" dirty="0">
                <a:solidFill>
                  <a:srgbClr val="C00000"/>
                </a:solidFill>
                <a:cs typeface="Kalimati" panose="00000400000000000000" pitchFamily="2"/>
              </a:rPr>
              <a:t>,</a:t>
            </a:r>
            <a:r>
              <a:rPr lang="ne-NP" sz="2800" dirty="0">
                <a:solidFill>
                  <a:srgbClr val="C00000"/>
                </a:solidFill>
              </a:rPr>
              <a:t> ईलेक्ट्रोनिक्स सिस्टम</a:t>
            </a:r>
            <a:r>
              <a:rPr lang="ne-NP" sz="2800" dirty="0">
                <a:solidFill>
                  <a:srgbClr val="C00000"/>
                </a:solidFill>
                <a:cs typeface="Kalimati" panose="00000400000000000000" pitchFamily="2"/>
              </a:rPr>
              <a:t>,</a:t>
            </a:r>
            <a:r>
              <a:rPr lang="ne-NP" sz="2800" dirty="0">
                <a:solidFill>
                  <a:srgbClr val="C00000"/>
                </a:solidFill>
              </a:rPr>
              <a:t> डेटा आदिलाइ विभिन्न किसिमका आक्रमणबाट बचाउने अभ्यास लाइ साइबर सुरक्षा भनिन्छ ।</a:t>
            </a:r>
            <a:endParaRPr lang="en-US" sz="2800" dirty="0">
              <a:solidFill>
                <a:srgbClr val="C00000"/>
              </a:solidFill>
            </a:endParaRPr>
          </a:p>
        </p:txBody>
      </p:sp>
    </p:spTree>
    <p:extLst>
      <p:ext uri="{BB962C8B-B14F-4D97-AF65-F5344CB8AC3E}">
        <p14:creationId xmlns:p14="http://schemas.microsoft.com/office/powerpoint/2010/main" val="2677708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AFA22-3FC0-4017-D5C9-6A9A99C6B276}"/>
              </a:ext>
            </a:extLst>
          </p:cNvPr>
          <p:cNvSpPr>
            <a:spLocks noGrp="1"/>
          </p:cNvSpPr>
          <p:nvPr>
            <p:ph type="title"/>
          </p:nvPr>
        </p:nvSpPr>
        <p:spPr>
          <a:xfrm>
            <a:off x="677334" y="609600"/>
            <a:ext cx="8596668" cy="550863"/>
          </a:xfrm>
        </p:spPr>
        <p:txBody>
          <a:bodyPr>
            <a:normAutofit fontScale="90000"/>
          </a:bodyPr>
          <a:lstStyle/>
          <a:p>
            <a:r>
              <a:rPr lang="en-US" b="1" dirty="0"/>
              <a:t>Issues of Cyber Security</a:t>
            </a:r>
          </a:p>
        </p:txBody>
      </p:sp>
      <p:sp>
        <p:nvSpPr>
          <p:cNvPr id="3" name="Content Placeholder 2">
            <a:extLst>
              <a:ext uri="{FF2B5EF4-FFF2-40B4-BE49-F238E27FC236}">
                <a16:creationId xmlns:a16="http://schemas.microsoft.com/office/drawing/2014/main" id="{8F266224-7D7B-6DF0-C95F-6DDAABFA8CE1}"/>
              </a:ext>
            </a:extLst>
          </p:cNvPr>
          <p:cNvSpPr>
            <a:spLocks noGrp="1"/>
          </p:cNvSpPr>
          <p:nvPr>
            <p:ph idx="1"/>
          </p:nvPr>
        </p:nvSpPr>
        <p:spPr>
          <a:xfrm>
            <a:off x="677334" y="1295400"/>
            <a:ext cx="8596668" cy="5562599"/>
          </a:xfrm>
        </p:spPr>
        <p:txBody>
          <a:bodyPr/>
          <a:lstStyle/>
          <a:p>
            <a:endParaRPr lang="en-US" dirty="0"/>
          </a:p>
          <a:p>
            <a:endParaRPr lang="en-US" dirty="0"/>
          </a:p>
          <a:p>
            <a:endParaRPr lang="en-US" dirty="0"/>
          </a:p>
          <a:p>
            <a:endParaRPr lang="en-US" dirty="0"/>
          </a:p>
          <a:p>
            <a:endParaRPr lang="en-US" dirty="0"/>
          </a:p>
          <a:p>
            <a:endParaRPr lang="en-US" b="1" dirty="0"/>
          </a:p>
        </p:txBody>
      </p:sp>
      <p:sp>
        <p:nvSpPr>
          <p:cNvPr id="109" name="Footer Placeholder 108">
            <a:extLst>
              <a:ext uri="{FF2B5EF4-FFF2-40B4-BE49-F238E27FC236}">
                <a16:creationId xmlns:a16="http://schemas.microsoft.com/office/drawing/2014/main" id="{14AB988E-CF27-025E-3C11-08331588887E}"/>
              </a:ext>
            </a:extLst>
          </p:cNvPr>
          <p:cNvSpPr>
            <a:spLocks noGrp="1"/>
          </p:cNvSpPr>
          <p:nvPr>
            <p:ph type="ftr" sz="quarter" idx="11"/>
          </p:nvPr>
        </p:nvSpPr>
        <p:spPr/>
        <p:txBody>
          <a:bodyPr/>
          <a:lstStyle/>
          <a:p>
            <a:r>
              <a:rPr lang="en-US"/>
              <a:t>Cybercrime and Cyber Security</a:t>
            </a:r>
          </a:p>
        </p:txBody>
      </p:sp>
      <p:sp>
        <p:nvSpPr>
          <p:cNvPr id="110" name="Slide Number Placeholder 109">
            <a:extLst>
              <a:ext uri="{FF2B5EF4-FFF2-40B4-BE49-F238E27FC236}">
                <a16:creationId xmlns:a16="http://schemas.microsoft.com/office/drawing/2014/main" id="{81F97F61-0D91-740E-6FFE-A7EC6D167B56}"/>
              </a:ext>
            </a:extLst>
          </p:cNvPr>
          <p:cNvSpPr>
            <a:spLocks noGrp="1"/>
          </p:cNvSpPr>
          <p:nvPr>
            <p:ph type="sldNum" sz="quarter" idx="12"/>
          </p:nvPr>
        </p:nvSpPr>
        <p:spPr/>
        <p:txBody>
          <a:bodyPr/>
          <a:lstStyle/>
          <a:p>
            <a:fld id="{206048C0-C8B7-4832-8A8D-D83BA7A49C27}" type="slidenum">
              <a:rPr lang="en-US" smtClean="0"/>
              <a:pPr/>
              <a:t>55</a:t>
            </a:fld>
            <a:endParaRPr lang="en-US"/>
          </a:p>
        </p:txBody>
      </p:sp>
      <p:grpSp>
        <p:nvGrpSpPr>
          <p:cNvPr id="108" name="Group 107">
            <a:extLst>
              <a:ext uri="{FF2B5EF4-FFF2-40B4-BE49-F238E27FC236}">
                <a16:creationId xmlns:a16="http://schemas.microsoft.com/office/drawing/2014/main" id="{1E9C07B9-881B-DF95-42B0-06C9181ABDCF}"/>
              </a:ext>
            </a:extLst>
          </p:cNvPr>
          <p:cNvGrpSpPr/>
          <p:nvPr/>
        </p:nvGrpSpPr>
        <p:grpSpPr>
          <a:xfrm>
            <a:off x="1133475" y="1439634"/>
            <a:ext cx="7173913" cy="5051655"/>
            <a:chOff x="1133475" y="1504950"/>
            <a:chExt cx="7173913" cy="5051655"/>
          </a:xfrm>
        </p:grpSpPr>
        <p:sp>
          <p:nvSpPr>
            <p:cNvPr id="6" name="Text Box 1">
              <a:extLst>
                <a:ext uri="{FF2B5EF4-FFF2-40B4-BE49-F238E27FC236}">
                  <a16:creationId xmlns:a16="http://schemas.microsoft.com/office/drawing/2014/main" id="{5E6AC0DC-819C-F857-708A-534F2F30965A}"/>
                </a:ext>
              </a:extLst>
            </p:cNvPr>
            <p:cNvSpPr txBox="1">
              <a:spLocks noChangeArrowheads="1"/>
            </p:cNvSpPr>
            <p:nvPr/>
          </p:nvSpPr>
          <p:spPr bwMode="auto">
            <a:xfrm>
              <a:off x="1257300" y="1581150"/>
              <a:ext cx="609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dirty="0">
                  <a:solidFill>
                    <a:srgbClr val="000000"/>
                  </a:solidFill>
                  <a:latin typeface="Wingdings" panose="05000000000000000000" pitchFamily="2" charset="2"/>
                </a:rPr>
                <a:t></a:t>
              </a:r>
            </a:p>
          </p:txBody>
        </p:sp>
        <p:sp>
          <p:nvSpPr>
            <p:cNvPr id="7" name="Rectangle 2">
              <a:extLst>
                <a:ext uri="{FF2B5EF4-FFF2-40B4-BE49-F238E27FC236}">
                  <a16:creationId xmlns:a16="http://schemas.microsoft.com/office/drawing/2014/main" id="{56BAF7AB-5E30-0077-6F6E-CB32C7FE0885}"/>
                </a:ext>
              </a:extLst>
            </p:cNvPr>
            <p:cNvSpPr>
              <a:spLocks noChangeArrowheads="1"/>
            </p:cNvSpPr>
            <p:nvPr/>
          </p:nvSpPr>
          <p:spPr bwMode="auto">
            <a:xfrm>
              <a:off x="6248400" y="2667000"/>
              <a:ext cx="19812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8" name="Rectangle 3">
              <a:extLst>
                <a:ext uri="{FF2B5EF4-FFF2-40B4-BE49-F238E27FC236}">
                  <a16:creationId xmlns:a16="http://schemas.microsoft.com/office/drawing/2014/main" id="{693C669E-0318-5C8E-43BA-17F8A8730A12}"/>
                </a:ext>
              </a:extLst>
            </p:cNvPr>
            <p:cNvSpPr>
              <a:spLocks noChangeArrowheads="1"/>
            </p:cNvSpPr>
            <p:nvPr/>
          </p:nvSpPr>
          <p:spPr bwMode="auto">
            <a:xfrm>
              <a:off x="1970088" y="2614613"/>
              <a:ext cx="17970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 pos="1312863"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 pos="1312863"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 pos="1312863"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 pos="1312863"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 pos="13128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dirty="0">
                  <a:solidFill>
                    <a:srgbClr val="000000"/>
                  </a:solidFill>
                  <a:latin typeface="Times New Roman" panose="02020603050405020304" pitchFamily="18" charset="0"/>
                </a:rPr>
                <a:t>Normal Flow</a:t>
              </a:r>
            </a:p>
          </p:txBody>
        </p:sp>
        <p:sp>
          <p:nvSpPr>
            <p:cNvPr id="9" name="Rectangle 4">
              <a:extLst>
                <a:ext uri="{FF2B5EF4-FFF2-40B4-BE49-F238E27FC236}">
                  <a16:creationId xmlns:a16="http://schemas.microsoft.com/office/drawing/2014/main" id="{484F22F7-6CDD-837C-30AD-2B3D59CCFCA6}"/>
                </a:ext>
              </a:extLst>
            </p:cNvPr>
            <p:cNvSpPr>
              <a:spLocks noChangeArrowheads="1"/>
            </p:cNvSpPr>
            <p:nvPr/>
          </p:nvSpPr>
          <p:spPr bwMode="auto">
            <a:xfrm>
              <a:off x="1141413" y="1570038"/>
              <a:ext cx="3159125" cy="1554162"/>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10" name="Line 5">
              <a:extLst>
                <a:ext uri="{FF2B5EF4-FFF2-40B4-BE49-F238E27FC236}">
                  <a16:creationId xmlns:a16="http://schemas.microsoft.com/office/drawing/2014/main" id="{8F545D5F-EA7D-9D0E-72C2-D96DE04371B7}"/>
                </a:ext>
              </a:extLst>
            </p:cNvPr>
            <p:cNvSpPr>
              <a:spLocks noChangeShapeType="1"/>
            </p:cNvSpPr>
            <p:nvPr/>
          </p:nvSpPr>
          <p:spPr bwMode="auto">
            <a:xfrm>
              <a:off x="1944688" y="2012950"/>
              <a:ext cx="1519237"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1" name="Rectangle 6">
              <a:extLst>
                <a:ext uri="{FF2B5EF4-FFF2-40B4-BE49-F238E27FC236}">
                  <a16:creationId xmlns:a16="http://schemas.microsoft.com/office/drawing/2014/main" id="{6EA3E733-FD08-BCBF-F606-171EC390F2BE}"/>
                </a:ext>
              </a:extLst>
            </p:cNvPr>
            <p:cNvSpPr>
              <a:spLocks noChangeArrowheads="1"/>
            </p:cNvSpPr>
            <p:nvPr/>
          </p:nvSpPr>
          <p:spPr bwMode="auto">
            <a:xfrm>
              <a:off x="6037263" y="2813050"/>
              <a:ext cx="19081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 pos="1312863"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 pos="1312863"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 pos="1312863"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 pos="1312863"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 pos="13128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dirty="0">
                  <a:solidFill>
                    <a:srgbClr val="000000"/>
                  </a:solidFill>
                  <a:latin typeface="Times New Roman" panose="02020603050405020304" pitchFamily="18" charset="0"/>
                </a:rPr>
                <a:t>Interruption</a:t>
              </a:r>
            </a:p>
          </p:txBody>
        </p:sp>
        <p:sp>
          <p:nvSpPr>
            <p:cNvPr id="12" name="Rectangle 7">
              <a:extLst>
                <a:ext uri="{FF2B5EF4-FFF2-40B4-BE49-F238E27FC236}">
                  <a16:creationId xmlns:a16="http://schemas.microsoft.com/office/drawing/2014/main" id="{A8C4F081-D1B4-7CE7-48CB-88AB2A4BE1D0}"/>
                </a:ext>
              </a:extLst>
            </p:cNvPr>
            <p:cNvSpPr>
              <a:spLocks noChangeArrowheads="1"/>
            </p:cNvSpPr>
            <p:nvPr/>
          </p:nvSpPr>
          <p:spPr bwMode="auto">
            <a:xfrm>
              <a:off x="5060950" y="1558925"/>
              <a:ext cx="3159125" cy="1571625"/>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13" name="Line 8">
              <a:extLst>
                <a:ext uri="{FF2B5EF4-FFF2-40B4-BE49-F238E27FC236}">
                  <a16:creationId xmlns:a16="http://schemas.microsoft.com/office/drawing/2014/main" id="{B9422C93-EF05-6085-370B-16A71053244F}"/>
                </a:ext>
              </a:extLst>
            </p:cNvPr>
            <p:cNvSpPr>
              <a:spLocks noChangeShapeType="1"/>
            </p:cNvSpPr>
            <p:nvPr/>
          </p:nvSpPr>
          <p:spPr bwMode="auto">
            <a:xfrm>
              <a:off x="6657975" y="1885950"/>
              <a:ext cx="4763" cy="1651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4" name="Line 9">
              <a:extLst>
                <a:ext uri="{FF2B5EF4-FFF2-40B4-BE49-F238E27FC236}">
                  <a16:creationId xmlns:a16="http://schemas.microsoft.com/office/drawing/2014/main" id="{2EBAF3B8-B35C-3EC8-4696-D692427B478F}"/>
                </a:ext>
              </a:extLst>
            </p:cNvPr>
            <p:cNvSpPr>
              <a:spLocks noChangeShapeType="1"/>
            </p:cNvSpPr>
            <p:nvPr/>
          </p:nvSpPr>
          <p:spPr bwMode="auto">
            <a:xfrm>
              <a:off x="5845175" y="1963738"/>
              <a:ext cx="811213" cy="1587"/>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5" name="Rectangle 10">
              <a:extLst>
                <a:ext uri="{FF2B5EF4-FFF2-40B4-BE49-F238E27FC236}">
                  <a16:creationId xmlns:a16="http://schemas.microsoft.com/office/drawing/2014/main" id="{ABAE8040-FAE3-9AC5-7CD0-E451EDB90C94}"/>
                </a:ext>
              </a:extLst>
            </p:cNvPr>
            <p:cNvSpPr>
              <a:spLocks noChangeArrowheads="1"/>
            </p:cNvSpPr>
            <p:nvPr/>
          </p:nvSpPr>
          <p:spPr bwMode="auto">
            <a:xfrm>
              <a:off x="6357938" y="1973263"/>
              <a:ext cx="5794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wrap="none"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16" name="Text Box 11">
              <a:extLst>
                <a:ext uri="{FF2B5EF4-FFF2-40B4-BE49-F238E27FC236}">
                  <a16:creationId xmlns:a16="http://schemas.microsoft.com/office/drawing/2014/main" id="{5858C8E7-8B29-054C-0C34-3A0F1E18F34E}"/>
                </a:ext>
              </a:extLst>
            </p:cNvPr>
            <p:cNvSpPr txBox="1">
              <a:spLocks noChangeArrowheads="1"/>
            </p:cNvSpPr>
            <p:nvPr/>
          </p:nvSpPr>
          <p:spPr bwMode="auto">
            <a:xfrm>
              <a:off x="3352800" y="1581150"/>
              <a:ext cx="609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dirty="0">
                  <a:solidFill>
                    <a:srgbClr val="000000"/>
                  </a:solidFill>
                  <a:latin typeface="Wingdings" panose="05000000000000000000" pitchFamily="2" charset="2"/>
                </a:rPr>
                <a:t></a:t>
              </a:r>
            </a:p>
          </p:txBody>
        </p:sp>
        <p:sp>
          <p:nvSpPr>
            <p:cNvPr id="17" name="Text Box 12">
              <a:extLst>
                <a:ext uri="{FF2B5EF4-FFF2-40B4-BE49-F238E27FC236}">
                  <a16:creationId xmlns:a16="http://schemas.microsoft.com/office/drawing/2014/main" id="{B6C457FA-03BE-B3AA-517D-7F2F8C92A887}"/>
                </a:ext>
              </a:extLst>
            </p:cNvPr>
            <p:cNvSpPr txBox="1">
              <a:spLocks noChangeArrowheads="1"/>
            </p:cNvSpPr>
            <p:nvPr/>
          </p:nvSpPr>
          <p:spPr bwMode="auto">
            <a:xfrm>
              <a:off x="7258050" y="1524000"/>
              <a:ext cx="68421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dirty="0">
                  <a:solidFill>
                    <a:srgbClr val="000000"/>
                  </a:solidFill>
                  <a:latin typeface="Wingdings" panose="05000000000000000000" pitchFamily="2" charset="2"/>
                </a:rPr>
                <a:t></a:t>
              </a:r>
            </a:p>
          </p:txBody>
        </p:sp>
        <p:sp>
          <p:nvSpPr>
            <p:cNvPr id="18" name="Text Box 13">
              <a:extLst>
                <a:ext uri="{FF2B5EF4-FFF2-40B4-BE49-F238E27FC236}">
                  <a16:creationId xmlns:a16="http://schemas.microsoft.com/office/drawing/2014/main" id="{FC2819B6-3435-7CED-A8F9-88354ABB360F}"/>
                </a:ext>
              </a:extLst>
            </p:cNvPr>
            <p:cNvSpPr txBox="1">
              <a:spLocks noChangeArrowheads="1"/>
            </p:cNvSpPr>
            <p:nvPr/>
          </p:nvSpPr>
          <p:spPr bwMode="auto">
            <a:xfrm>
              <a:off x="5143500" y="1504950"/>
              <a:ext cx="685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70" name="Rectangle 3">
              <a:extLst>
                <a:ext uri="{FF2B5EF4-FFF2-40B4-BE49-F238E27FC236}">
                  <a16:creationId xmlns:a16="http://schemas.microsoft.com/office/drawing/2014/main" id="{A88A8203-1FEC-1A7B-7FA0-F1C4CAC25342}"/>
                </a:ext>
              </a:extLst>
            </p:cNvPr>
            <p:cNvSpPr>
              <a:spLocks noChangeArrowheads="1"/>
            </p:cNvSpPr>
            <p:nvPr/>
          </p:nvSpPr>
          <p:spPr bwMode="auto">
            <a:xfrm>
              <a:off x="2301875" y="3790270"/>
              <a:ext cx="579438"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wrap="none"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71" name="Rectangle 15">
              <a:extLst>
                <a:ext uri="{FF2B5EF4-FFF2-40B4-BE49-F238E27FC236}">
                  <a16:creationId xmlns:a16="http://schemas.microsoft.com/office/drawing/2014/main" id="{968F4543-5DBD-AAF0-D85C-0D33ED36ECFD}"/>
                </a:ext>
              </a:extLst>
            </p:cNvPr>
            <p:cNvSpPr>
              <a:spLocks noChangeArrowheads="1"/>
            </p:cNvSpPr>
            <p:nvPr/>
          </p:nvSpPr>
          <p:spPr bwMode="auto">
            <a:xfrm>
              <a:off x="1995488" y="4520520"/>
              <a:ext cx="191928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 pos="1312863"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 pos="1312863"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 pos="1312863"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 pos="1312863"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 pos="13128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Modification</a:t>
              </a:r>
            </a:p>
          </p:txBody>
        </p:sp>
        <p:sp>
          <p:nvSpPr>
            <p:cNvPr id="72" name="Rectangle 16">
              <a:extLst>
                <a:ext uri="{FF2B5EF4-FFF2-40B4-BE49-F238E27FC236}">
                  <a16:creationId xmlns:a16="http://schemas.microsoft.com/office/drawing/2014/main" id="{B52B4CD4-B721-D896-C17B-3DBB40CB097D}"/>
                </a:ext>
              </a:extLst>
            </p:cNvPr>
            <p:cNvSpPr>
              <a:spLocks noChangeArrowheads="1"/>
            </p:cNvSpPr>
            <p:nvPr/>
          </p:nvSpPr>
          <p:spPr bwMode="auto">
            <a:xfrm>
              <a:off x="1136650" y="3272745"/>
              <a:ext cx="3157538" cy="1571625"/>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73" name="Line 17">
              <a:extLst>
                <a:ext uri="{FF2B5EF4-FFF2-40B4-BE49-F238E27FC236}">
                  <a16:creationId xmlns:a16="http://schemas.microsoft.com/office/drawing/2014/main" id="{B4C8636F-45F7-996D-16FE-56F0876CA1E2}"/>
                </a:ext>
              </a:extLst>
            </p:cNvPr>
            <p:cNvSpPr>
              <a:spLocks noChangeShapeType="1"/>
            </p:cNvSpPr>
            <p:nvPr/>
          </p:nvSpPr>
          <p:spPr bwMode="auto">
            <a:xfrm>
              <a:off x="2840038" y="3675970"/>
              <a:ext cx="642937" cy="1587"/>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74" name="Line 18">
              <a:extLst>
                <a:ext uri="{FF2B5EF4-FFF2-40B4-BE49-F238E27FC236}">
                  <a16:creationId xmlns:a16="http://schemas.microsoft.com/office/drawing/2014/main" id="{F38967C2-E2D2-2CC1-66B9-FBFAAD84DC39}"/>
                </a:ext>
              </a:extLst>
            </p:cNvPr>
            <p:cNvSpPr>
              <a:spLocks noChangeShapeType="1"/>
            </p:cNvSpPr>
            <p:nvPr/>
          </p:nvSpPr>
          <p:spPr bwMode="auto">
            <a:xfrm>
              <a:off x="2708275" y="3742645"/>
              <a:ext cx="7938" cy="255587"/>
            </a:xfrm>
            <a:prstGeom prst="line">
              <a:avLst/>
            </a:prstGeom>
            <a:noFill/>
            <a:ln w="76320">
              <a:solidFill>
                <a:srgbClr val="000000"/>
              </a:solidFill>
              <a:miter lim="800000"/>
              <a:headEnd/>
              <a:tailEn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75" name="AutoShape 19">
              <a:extLst>
                <a:ext uri="{FF2B5EF4-FFF2-40B4-BE49-F238E27FC236}">
                  <a16:creationId xmlns:a16="http://schemas.microsoft.com/office/drawing/2014/main" id="{FD822769-F083-79A3-C687-A018F7AAA19D}"/>
                </a:ext>
              </a:extLst>
            </p:cNvPr>
            <p:cNvSpPr>
              <a:spLocks noChangeArrowheads="1"/>
            </p:cNvSpPr>
            <p:nvPr/>
          </p:nvSpPr>
          <p:spPr bwMode="auto">
            <a:xfrm>
              <a:off x="2716213" y="3672795"/>
              <a:ext cx="238125" cy="1206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1 h 21600"/>
                <a:gd name="T20" fmla="*/ 10799 w 21600"/>
                <a:gd name="T21" fmla="*/ 10799 h 21600"/>
              </a:gdLst>
              <a:ahLst/>
              <a:cxnLst>
                <a:cxn ang="T12">
                  <a:pos x="T0" y="T1"/>
                </a:cxn>
                <a:cxn ang="T13">
                  <a:pos x="T2" y="T3"/>
                </a:cxn>
                <a:cxn ang="T14">
                  <a:pos x="T4" y="T5"/>
                </a:cxn>
                <a:cxn ang="T15">
                  <a:pos x="T6" y="T7"/>
                </a:cxn>
                <a:cxn ang="T16">
                  <a:pos x="T8" y="T9"/>
                </a:cxn>
                <a:cxn ang="T17">
                  <a:pos x="T10" y="T11"/>
                </a:cxn>
              </a:cxnLst>
              <a:rect l="T18" t="T19" r="T20" b="T21"/>
              <a:pathLst>
                <a:path w="21600" h="21600" stroke="0">
                  <a:moveTo>
                    <a:pt x="0" y="10800"/>
                  </a:moveTo>
                  <a:cubicBezTo>
                    <a:pt x="0" y="4891"/>
                    <a:pt x="4748" y="79"/>
                    <a:pt x="10656" y="0"/>
                  </a:cubicBezTo>
                  <a:lnTo>
                    <a:pt x="10800" y="10800"/>
                  </a:lnTo>
                  <a:lnTo>
                    <a:pt x="0" y="10800"/>
                  </a:lnTo>
                  <a:close/>
                </a:path>
                <a:path w="21600" h="21600" fill="none">
                  <a:moveTo>
                    <a:pt x="0" y="10800"/>
                  </a:moveTo>
                  <a:cubicBezTo>
                    <a:pt x="0" y="4891"/>
                    <a:pt x="4748" y="79"/>
                    <a:pt x="10656" y="0"/>
                  </a:cubicBezTo>
                </a:path>
              </a:pathLst>
            </a:custGeom>
            <a:noFill/>
            <a:ln w="7632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76" name="Line 20">
              <a:extLst>
                <a:ext uri="{FF2B5EF4-FFF2-40B4-BE49-F238E27FC236}">
                  <a16:creationId xmlns:a16="http://schemas.microsoft.com/office/drawing/2014/main" id="{A517E689-68C6-CBEC-ADB8-F2584678F19B}"/>
                </a:ext>
              </a:extLst>
            </p:cNvPr>
            <p:cNvSpPr>
              <a:spLocks noChangeShapeType="1"/>
            </p:cNvSpPr>
            <p:nvPr/>
          </p:nvSpPr>
          <p:spPr bwMode="auto">
            <a:xfrm>
              <a:off x="2482850" y="3745820"/>
              <a:ext cx="4763" cy="244475"/>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77" name="Line 21">
              <a:extLst>
                <a:ext uri="{FF2B5EF4-FFF2-40B4-BE49-F238E27FC236}">
                  <a16:creationId xmlns:a16="http://schemas.microsoft.com/office/drawing/2014/main" id="{63B57680-B811-693A-5E9D-90B145BB3446}"/>
                </a:ext>
              </a:extLst>
            </p:cNvPr>
            <p:cNvSpPr>
              <a:spLocks noChangeShapeType="1"/>
            </p:cNvSpPr>
            <p:nvPr/>
          </p:nvSpPr>
          <p:spPr bwMode="auto">
            <a:xfrm>
              <a:off x="1911350" y="3644220"/>
              <a:ext cx="450850" cy="20637"/>
            </a:xfrm>
            <a:prstGeom prst="line">
              <a:avLst/>
            </a:prstGeom>
            <a:noFill/>
            <a:ln w="76320">
              <a:solidFill>
                <a:srgbClr val="000000"/>
              </a:solidFill>
              <a:miter lim="800000"/>
              <a:headEnd/>
              <a:tailEn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78" name="AutoShape 22">
              <a:extLst>
                <a:ext uri="{FF2B5EF4-FFF2-40B4-BE49-F238E27FC236}">
                  <a16:creationId xmlns:a16="http://schemas.microsoft.com/office/drawing/2014/main" id="{AB78AAAF-5029-B722-1443-09E1B2C248A3}"/>
                </a:ext>
              </a:extLst>
            </p:cNvPr>
            <p:cNvSpPr>
              <a:spLocks noChangeArrowheads="1"/>
            </p:cNvSpPr>
            <p:nvPr/>
          </p:nvSpPr>
          <p:spPr bwMode="auto">
            <a:xfrm>
              <a:off x="2266950" y="3647395"/>
              <a:ext cx="200025" cy="18891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10799 w 21600"/>
                <a:gd name="T19" fmla="*/ 0 h 21600"/>
                <a:gd name="T20" fmla="*/ 21599 w 21600"/>
                <a:gd name="T21" fmla="*/ 10799 h 21600"/>
              </a:gdLst>
              <a:ahLst/>
              <a:cxnLst>
                <a:cxn ang="T12">
                  <a:pos x="T0" y="T1"/>
                </a:cxn>
                <a:cxn ang="T13">
                  <a:pos x="T2" y="T3"/>
                </a:cxn>
                <a:cxn ang="T14">
                  <a:pos x="T4" y="T5"/>
                </a:cxn>
                <a:cxn ang="T15">
                  <a:pos x="T6" y="T7"/>
                </a:cxn>
                <a:cxn ang="T16">
                  <a:pos x="T8" y="T9"/>
                </a:cxn>
                <a:cxn ang="T17">
                  <a:pos x="T10" y="T11"/>
                </a:cxn>
              </a:cxnLst>
              <a:rect l="T18" t="T19" r="T20" b="T21"/>
              <a:pathLst>
                <a:path w="21600" h="21600" stroke="0">
                  <a:moveTo>
                    <a:pt x="10799" y="0"/>
                  </a:moveTo>
                  <a:cubicBezTo>
                    <a:pt x="10799" y="0"/>
                    <a:pt x="10799" y="-1"/>
                    <a:pt x="10800" y="0"/>
                  </a:cubicBezTo>
                  <a:cubicBezTo>
                    <a:pt x="16764" y="0"/>
                    <a:pt x="21600" y="4835"/>
                    <a:pt x="21600" y="10800"/>
                  </a:cubicBezTo>
                  <a:lnTo>
                    <a:pt x="10800" y="10800"/>
                  </a:lnTo>
                  <a:lnTo>
                    <a:pt x="10799" y="0"/>
                  </a:lnTo>
                  <a:close/>
                </a:path>
                <a:path w="21600" h="21600" fill="none">
                  <a:moveTo>
                    <a:pt x="10799" y="0"/>
                  </a:moveTo>
                  <a:cubicBezTo>
                    <a:pt x="10799" y="0"/>
                    <a:pt x="10799" y="-1"/>
                    <a:pt x="10800" y="0"/>
                  </a:cubicBezTo>
                  <a:cubicBezTo>
                    <a:pt x="16764" y="0"/>
                    <a:pt x="21600" y="4835"/>
                    <a:pt x="21600" y="10800"/>
                  </a:cubicBezTo>
                </a:path>
              </a:pathLst>
            </a:custGeom>
            <a:noFill/>
            <a:ln w="7632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79" name="Rectangle 23">
              <a:extLst>
                <a:ext uri="{FF2B5EF4-FFF2-40B4-BE49-F238E27FC236}">
                  <a16:creationId xmlns:a16="http://schemas.microsoft.com/office/drawing/2014/main" id="{95F21A0D-4199-8F22-CFFE-BA6F45BF26F8}"/>
                </a:ext>
              </a:extLst>
            </p:cNvPr>
            <p:cNvSpPr>
              <a:spLocks noChangeArrowheads="1"/>
            </p:cNvSpPr>
            <p:nvPr/>
          </p:nvSpPr>
          <p:spPr bwMode="auto">
            <a:xfrm>
              <a:off x="6018213" y="4528457"/>
              <a:ext cx="1643062"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 pos="1312863"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 pos="1312863"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 pos="1312863"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 pos="1312863"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 pos="13128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Interception</a:t>
              </a:r>
            </a:p>
          </p:txBody>
        </p:sp>
        <p:sp>
          <p:nvSpPr>
            <p:cNvPr id="80" name="Rectangle 24">
              <a:extLst>
                <a:ext uri="{FF2B5EF4-FFF2-40B4-BE49-F238E27FC236}">
                  <a16:creationId xmlns:a16="http://schemas.microsoft.com/office/drawing/2014/main" id="{7A5BD48D-6D1D-E75E-7CCA-534AEDAD8FBC}"/>
                </a:ext>
              </a:extLst>
            </p:cNvPr>
            <p:cNvSpPr>
              <a:spLocks noChangeArrowheads="1"/>
            </p:cNvSpPr>
            <p:nvPr/>
          </p:nvSpPr>
          <p:spPr bwMode="auto">
            <a:xfrm>
              <a:off x="5097463" y="3282270"/>
              <a:ext cx="3157537" cy="1571625"/>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81" name="Line 25">
              <a:extLst>
                <a:ext uri="{FF2B5EF4-FFF2-40B4-BE49-F238E27FC236}">
                  <a16:creationId xmlns:a16="http://schemas.microsoft.com/office/drawing/2014/main" id="{9710B0FD-214D-C491-34E7-80AF5A11A459}"/>
                </a:ext>
              </a:extLst>
            </p:cNvPr>
            <p:cNvSpPr>
              <a:spLocks noChangeShapeType="1"/>
            </p:cNvSpPr>
            <p:nvPr/>
          </p:nvSpPr>
          <p:spPr bwMode="auto">
            <a:xfrm>
              <a:off x="5915025" y="3663270"/>
              <a:ext cx="1519238" cy="1587"/>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82" name="Line 26">
              <a:extLst>
                <a:ext uri="{FF2B5EF4-FFF2-40B4-BE49-F238E27FC236}">
                  <a16:creationId xmlns:a16="http://schemas.microsoft.com/office/drawing/2014/main" id="{83D0A091-AF67-2ADB-5406-D143FA73D559}"/>
                </a:ext>
              </a:extLst>
            </p:cNvPr>
            <p:cNvSpPr>
              <a:spLocks noChangeShapeType="1"/>
            </p:cNvSpPr>
            <p:nvPr/>
          </p:nvSpPr>
          <p:spPr bwMode="auto">
            <a:xfrm>
              <a:off x="6648450" y="3775982"/>
              <a:ext cx="1588" cy="390525"/>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83" name="AutoShape 27">
              <a:extLst>
                <a:ext uri="{FF2B5EF4-FFF2-40B4-BE49-F238E27FC236}">
                  <a16:creationId xmlns:a16="http://schemas.microsoft.com/office/drawing/2014/main" id="{C26CBBFB-BF8C-EEAA-A1AC-1CEECD55715B}"/>
                </a:ext>
              </a:extLst>
            </p:cNvPr>
            <p:cNvSpPr>
              <a:spLocks noChangeArrowheads="1"/>
            </p:cNvSpPr>
            <p:nvPr/>
          </p:nvSpPr>
          <p:spPr bwMode="auto">
            <a:xfrm>
              <a:off x="6440488" y="3666445"/>
              <a:ext cx="200025" cy="18891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10799 w 21600"/>
                <a:gd name="T19" fmla="*/ 0 h 21600"/>
                <a:gd name="T20" fmla="*/ 21599 w 21600"/>
                <a:gd name="T21" fmla="*/ 10799 h 21600"/>
              </a:gdLst>
              <a:ahLst/>
              <a:cxnLst>
                <a:cxn ang="T12">
                  <a:pos x="T0" y="T1"/>
                </a:cxn>
                <a:cxn ang="T13">
                  <a:pos x="T2" y="T3"/>
                </a:cxn>
                <a:cxn ang="T14">
                  <a:pos x="T4" y="T5"/>
                </a:cxn>
                <a:cxn ang="T15">
                  <a:pos x="T6" y="T7"/>
                </a:cxn>
                <a:cxn ang="T16">
                  <a:pos x="T8" y="T9"/>
                </a:cxn>
                <a:cxn ang="T17">
                  <a:pos x="T10" y="T11"/>
                </a:cxn>
              </a:cxnLst>
              <a:rect l="T18" t="T19" r="T20" b="T21"/>
              <a:pathLst>
                <a:path w="21600" h="21600" stroke="0">
                  <a:moveTo>
                    <a:pt x="10799" y="0"/>
                  </a:moveTo>
                  <a:cubicBezTo>
                    <a:pt x="10799" y="0"/>
                    <a:pt x="10799" y="-1"/>
                    <a:pt x="10800" y="0"/>
                  </a:cubicBezTo>
                  <a:cubicBezTo>
                    <a:pt x="16764" y="0"/>
                    <a:pt x="21600" y="4835"/>
                    <a:pt x="21600" y="10800"/>
                  </a:cubicBezTo>
                  <a:lnTo>
                    <a:pt x="10800" y="10800"/>
                  </a:lnTo>
                  <a:lnTo>
                    <a:pt x="10799" y="0"/>
                  </a:lnTo>
                  <a:close/>
                </a:path>
                <a:path w="21600" h="21600" fill="none">
                  <a:moveTo>
                    <a:pt x="10799" y="0"/>
                  </a:moveTo>
                  <a:cubicBezTo>
                    <a:pt x="10799" y="0"/>
                    <a:pt x="10799" y="-1"/>
                    <a:pt x="10800" y="0"/>
                  </a:cubicBezTo>
                  <a:cubicBezTo>
                    <a:pt x="16764" y="0"/>
                    <a:pt x="21600" y="4835"/>
                    <a:pt x="21600" y="10800"/>
                  </a:cubicBezTo>
                </a:path>
              </a:pathLst>
            </a:custGeom>
            <a:noFill/>
            <a:ln w="7632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84" name="Rectangle 34">
              <a:extLst>
                <a:ext uri="{FF2B5EF4-FFF2-40B4-BE49-F238E27FC236}">
                  <a16:creationId xmlns:a16="http://schemas.microsoft.com/office/drawing/2014/main" id="{B73BDA4D-132C-1175-2F9F-4569FD13DEA8}"/>
                </a:ext>
              </a:extLst>
            </p:cNvPr>
            <p:cNvSpPr>
              <a:spLocks noChangeArrowheads="1"/>
            </p:cNvSpPr>
            <p:nvPr/>
          </p:nvSpPr>
          <p:spPr bwMode="auto">
            <a:xfrm>
              <a:off x="6281738" y="3904570"/>
              <a:ext cx="5794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wrap="none"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85" name="Text Box 35">
              <a:extLst>
                <a:ext uri="{FF2B5EF4-FFF2-40B4-BE49-F238E27FC236}">
                  <a16:creationId xmlns:a16="http://schemas.microsoft.com/office/drawing/2014/main" id="{8A859248-19FE-A2E6-125D-9EB58FF12FEC}"/>
                </a:ext>
              </a:extLst>
            </p:cNvPr>
            <p:cNvSpPr txBox="1">
              <a:spLocks noChangeArrowheads="1"/>
            </p:cNvSpPr>
            <p:nvPr/>
          </p:nvSpPr>
          <p:spPr bwMode="auto">
            <a:xfrm>
              <a:off x="5276850" y="3245757"/>
              <a:ext cx="68421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86" name="Text Box 37">
              <a:extLst>
                <a:ext uri="{FF2B5EF4-FFF2-40B4-BE49-F238E27FC236}">
                  <a16:creationId xmlns:a16="http://schemas.microsoft.com/office/drawing/2014/main" id="{63E4CAE1-63D6-9FA1-11B0-D4AA724611F1}"/>
                </a:ext>
              </a:extLst>
            </p:cNvPr>
            <p:cNvSpPr txBox="1">
              <a:spLocks noChangeArrowheads="1"/>
            </p:cNvSpPr>
            <p:nvPr/>
          </p:nvSpPr>
          <p:spPr bwMode="auto">
            <a:xfrm>
              <a:off x="7315200" y="3226707"/>
              <a:ext cx="685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87" name="Text Box 40">
              <a:extLst>
                <a:ext uri="{FF2B5EF4-FFF2-40B4-BE49-F238E27FC236}">
                  <a16:creationId xmlns:a16="http://schemas.microsoft.com/office/drawing/2014/main" id="{5D89E996-A729-AE3F-99F3-CA4BBC09C39E}"/>
                </a:ext>
              </a:extLst>
            </p:cNvPr>
            <p:cNvSpPr txBox="1">
              <a:spLocks noChangeArrowheads="1"/>
            </p:cNvSpPr>
            <p:nvPr/>
          </p:nvSpPr>
          <p:spPr bwMode="auto">
            <a:xfrm>
              <a:off x="3370263" y="3245757"/>
              <a:ext cx="685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88" name="Text Box 41">
              <a:extLst>
                <a:ext uri="{FF2B5EF4-FFF2-40B4-BE49-F238E27FC236}">
                  <a16:creationId xmlns:a16="http://schemas.microsoft.com/office/drawing/2014/main" id="{DC22FD44-7F47-2502-C889-7D2283A5CE88}"/>
                </a:ext>
              </a:extLst>
            </p:cNvPr>
            <p:cNvSpPr txBox="1">
              <a:spLocks noChangeArrowheads="1"/>
            </p:cNvSpPr>
            <p:nvPr/>
          </p:nvSpPr>
          <p:spPr bwMode="auto">
            <a:xfrm>
              <a:off x="1219200" y="3226707"/>
              <a:ext cx="685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89" name="Rectangle 2">
              <a:extLst>
                <a:ext uri="{FF2B5EF4-FFF2-40B4-BE49-F238E27FC236}">
                  <a16:creationId xmlns:a16="http://schemas.microsoft.com/office/drawing/2014/main" id="{7F709923-17CF-72CD-ED50-FDB5B8C5A08C}"/>
                </a:ext>
              </a:extLst>
            </p:cNvPr>
            <p:cNvSpPr>
              <a:spLocks noChangeArrowheads="1"/>
            </p:cNvSpPr>
            <p:nvPr/>
          </p:nvSpPr>
          <p:spPr bwMode="auto">
            <a:xfrm>
              <a:off x="2281238" y="5575530"/>
              <a:ext cx="5794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wrap="none"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90" name="Text Box 4">
              <a:extLst>
                <a:ext uri="{FF2B5EF4-FFF2-40B4-BE49-F238E27FC236}">
                  <a16:creationId xmlns:a16="http://schemas.microsoft.com/office/drawing/2014/main" id="{E5CB1570-9D9D-3738-26F6-017F9F94A1AE}"/>
                </a:ext>
              </a:extLst>
            </p:cNvPr>
            <p:cNvSpPr txBox="1">
              <a:spLocks noChangeArrowheads="1"/>
            </p:cNvSpPr>
            <p:nvPr/>
          </p:nvSpPr>
          <p:spPr bwMode="auto">
            <a:xfrm>
              <a:off x="7315200" y="4973867"/>
              <a:ext cx="62865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91" name="Text Box 5">
              <a:extLst>
                <a:ext uri="{FF2B5EF4-FFF2-40B4-BE49-F238E27FC236}">
                  <a16:creationId xmlns:a16="http://schemas.microsoft.com/office/drawing/2014/main" id="{9BDB0FA6-69D7-3931-4651-D973AC75A974}"/>
                </a:ext>
              </a:extLst>
            </p:cNvPr>
            <p:cNvSpPr txBox="1">
              <a:spLocks noChangeArrowheads="1"/>
            </p:cNvSpPr>
            <p:nvPr/>
          </p:nvSpPr>
          <p:spPr bwMode="auto">
            <a:xfrm>
              <a:off x="5238750" y="5011967"/>
              <a:ext cx="62865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92" name="Rectangle 10">
              <a:extLst>
                <a:ext uri="{FF2B5EF4-FFF2-40B4-BE49-F238E27FC236}">
                  <a16:creationId xmlns:a16="http://schemas.microsoft.com/office/drawing/2014/main" id="{D001D1F5-F48D-2AA3-A566-F8FB3234014D}"/>
                </a:ext>
              </a:extLst>
            </p:cNvPr>
            <p:cNvSpPr>
              <a:spLocks noChangeArrowheads="1"/>
            </p:cNvSpPr>
            <p:nvPr/>
          </p:nvSpPr>
          <p:spPr bwMode="auto">
            <a:xfrm>
              <a:off x="2100263" y="6229580"/>
              <a:ext cx="186213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 pos="1312863"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 pos="1312863"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 pos="1312863"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 pos="1312863"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 pos="13128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dirty="0">
                  <a:solidFill>
                    <a:srgbClr val="000000"/>
                  </a:solidFill>
                  <a:latin typeface="Times New Roman" panose="02020603050405020304" pitchFamily="18" charset="0"/>
                </a:rPr>
                <a:t>Fabrication</a:t>
              </a:r>
            </a:p>
          </p:txBody>
        </p:sp>
        <p:sp>
          <p:nvSpPr>
            <p:cNvPr id="93" name="Rectangle 11">
              <a:extLst>
                <a:ext uri="{FF2B5EF4-FFF2-40B4-BE49-F238E27FC236}">
                  <a16:creationId xmlns:a16="http://schemas.microsoft.com/office/drawing/2014/main" id="{E2137233-C063-3BAB-37C9-FD01A4ABFB6A}"/>
                </a:ext>
              </a:extLst>
            </p:cNvPr>
            <p:cNvSpPr>
              <a:spLocks noChangeArrowheads="1"/>
            </p:cNvSpPr>
            <p:nvPr/>
          </p:nvSpPr>
          <p:spPr bwMode="auto">
            <a:xfrm>
              <a:off x="1133475" y="4983392"/>
              <a:ext cx="3157538" cy="1573213"/>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94" name="Line 12">
              <a:extLst>
                <a:ext uri="{FF2B5EF4-FFF2-40B4-BE49-F238E27FC236}">
                  <a16:creationId xmlns:a16="http://schemas.microsoft.com/office/drawing/2014/main" id="{77F3EB33-A308-D2C0-7E1E-0152FF23A410}"/>
                </a:ext>
              </a:extLst>
            </p:cNvPr>
            <p:cNvSpPr>
              <a:spLocks noChangeShapeType="1"/>
            </p:cNvSpPr>
            <p:nvPr/>
          </p:nvSpPr>
          <p:spPr bwMode="auto">
            <a:xfrm>
              <a:off x="2768600" y="5421542"/>
              <a:ext cx="784225"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95" name="Line 13">
              <a:extLst>
                <a:ext uri="{FF2B5EF4-FFF2-40B4-BE49-F238E27FC236}">
                  <a16:creationId xmlns:a16="http://schemas.microsoft.com/office/drawing/2014/main" id="{634F8463-BE5D-1D19-E68E-EBECB9255CA2}"/>
                </a:ext>
              </a:extLst>
            </p:cNvPr>
            <p:cNvSpPr>
              <a:spLocks noChangeShapeType="1"/>
            </p:cNvSpPr>
            <p:nvPr/>
          </p:nvSpPr>
          <p:spPr bwMode="auto">
            <a:xfrm>
              <a:off x="2636838" y="5494567"/>
              <a:ext cx="6350" cy="255588"/>
            </a:xfrm>
            <a:prstGeom prst="line">
              <a:avLst/>
            </a:prstGeom>
            <a:noFill/>
            <a:ln w="76320">
              <a:solidFill>
                <a:srgbClr val="000000"/>
              </a:solidFill>
              <a:miter lim="800000"/>
              <a:headEnd/>
              <a:tailEn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96" name="AutoShape 14">
              <a:extLst>
                <a:ext uri="{FF2B5EF4-FFF2-40B4-BE49-F238E27FC236}">
                  <a16:creationId xmlns:a16="http://schemas.microsoft.com/office/drawing/2014/main" id="{BCD85F01-3763-60FB-7E83-5E60834E4B1B}"/>
                </a:ext>
              </a:extLst>
            </p:cNvPr>
            <p:cNvSpPr>
              <a:spLocks noChangeArrowheads="1"/>
            </p:cNvSpPr>
            <p:nvPr/>
          </p:nvSpPr>
          <p:spPr bwMode="auto">
            <a:xfrm>
              <a:off x="2644775" y="5424717"/>
              <a:ext cx="238125" cy="1206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1 h 21600"/>
                <a:gd name="T20" fmla="*/ 10799 w 21600"/>
                <a:gd name="T21" fmla="*/ 10799 h 21600"/>
              </a:gdLst>
              <a:ahLst/>
              <a:cxnLst>
                <a:cxn ang="T12">
                  <a:pos x="T0" y="T1"/>
                </a:cxn>
                <a:cxn ang="T13">
                  <a:pos x="T2" y="T3"/>
                </a:cxn>
                <a:cxn ang="T14">
                  <a:pos x="T4" y="T5"/>
                </a:cxn>
                <a:cxn ang="T15">
                  <a:pos x="T6" y="T7"/>
                </a:cxn>
                <a:cxn ang="T16">
                  <a:pos x="T8" y="T9"/>
                </a:cxn>
                <a:cxn ang="T17">
                  <a:pos x="T10" y="T11"/>
                </a:cxn>
              </a:cxnLst>
              <a:rect l="T18" t="T19" r="T20" b="T21"/>
              <a:pathLst>
                <a:path w="21600" h="21600" stroke="0">
                  <a:moveTo>
                    <a:pt x="0" y="10800"/>
                  </a:moveTo>
                  <a:cubicBezTo>
                    <a:pt x="0" y="4891"/>
                    <a:pt x="4748" y="79"/>
                    <a:pt x="10656" y="0"/>
                  </a:cubicBezTo>
                  <a:lnTo>
                    <a:pt x="10800" y="10800"/>
                  </a:lnTo>
                  <a:lnTo>
                    <a:pt x="0" y="10800"/>
                  </a:lnTo>
                  <a:close/>
                </a:path>
                <a:path w="21600" h="21600" fill="none">
                  <a:moveTo>
                    <a:pt x="0" y="10800"/>
                  </a:moveTo>
                  <a:cubicBezTo>
                    <a:pt x="0" y="4891"/>
                    <a:pt x="4748" y="79"/>
                    <a:pt x="10656" y="0"/>
                  </a:cubicBezTo>
                </a:path>
              </a:pathLst>
            </a:custGeom>
            <a:noFill/>
            <a:ln w="7632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97" name="Rectangle 29">
              <a:extLst>
                <a:ext uri="{FF2B5EF4-FFF2-40B4-BE49-F238E27FC236}">
                  <a16:creationId xmlns:a16="http://schemas.microsoft.com/office/drawing/2014/main" id="{0374FC4C-3EA4-519C-A70F-D6D49A34B8E5}"/>
                </a:ext>
              </a:extLst>
            </p:cNvPr>
            <p:cNvSpPr>
              <a:spLocks noChangeArrowheads="1"/>
            </p:cNvSpPr>
            <p:nvPr/>
          </p:nvSpPr>
          <p:spPr bwMode="auto">
            <a:xfrm>
              <a:off x="5327650" y="4953230"/>
              <a:ext cx="9032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Get it?</a:t>
              </a:r>
            </a:p>
          </p:txBody>
        </p:sp>
        <p:sp>
          <p:nvSpPr>
            <p:cNvPr id="98" name="Rectangle 30">
              <a:extLst>
                <a:ext uri="{FF2B5EF4-FFF2-40B4-BE49-F238E27FC236}">
                  <a16:creationId xmlns:a16="http://schemas.microsoft.com/office/drawing/2014/main" id="{B10C6CFC-A3BF-CB52-F99F-E3BDEC5D259C}"/>
                </a:ext>
              </a:extLst>
            </p:cNvPr>
            <p:cNvSpPr>
              <a:spLocks noChangeArrowheads="1"/>
            </p:cNvSpPr>
            <p:nvPr/>
          </p:nvSpPr>
          <p:spPr bwMode="auto">
            <a:xfrm>
              <a:off x="5951538" y="6180367"/>
              <a:ext cx="179705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 pos="1312863"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 pos="1312863"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 pos="1312863"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 pos="1312863"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 pos="13128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 pos="1312863"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Repudiation</a:t>
              </a:r>
            </a:p>
          </p:txBody>
        </p:sp>
        <p:sp>
          <p:nvSpPr>
            <p:cNvPr id="99" name="Rectangle 31">
              <a:extLst>
                <a:ext uri="{FF2B5EF4-FFF2-40B4-BE49-F238E27FC236}">
                  <a16:creationId xmlns:a16="http://schemas.microsoft.com/office/drawing/2014/main" id="{AC011C96-93FA-99ED-E022-579939589169}"/>
                </a:ext>
              </a:extLst>
            </p:cNvPr>
            <p:cNvSpPr>
              <a:spLocks noChangeArrowheads="1"/>
            </p:cNvSpPr>
            <p:nvPr/>
          </p:nvSpPr>
          <p:spPr bwMode="auto">
            <a:xfrm>
              <a:off x="5103813" y="4981805"/>
              <a:ext cx="3157537" cy="1554162"/>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rgbClr val="000000"/>
                </a:buClr>
                <a:buSzPct val="100000"/>
                <a:buFont typeface="Times New Roman" panose="02020603050405020304" pitchFamily="18" charset="0"/>
                <a:buNone/>
              </a:pPr>
              <a:endParaRPr lang="en-US" altLang="en-US">
                <a:latin typeface="Calibri" panose="020F0502020204030204" pitchFamily="34" charset="0"/>
              </a:endParaRPr>
            </a:p>
          </p:txBody>
        </p:sp>
        <p:sp>
          <p:nvSpPr>
            <p:cNvPr id="100" name="Line 32">
              <a:extLst>
                <a:ext uri="{FF2B5EF4-FFF2-40B4-BE49-F238E27FC236}">
                  <a16:creationId xmlns:a16="http://schemas.microsoft.com/office/drawing/2014/main" id="{689ED9D5-B396-EEEC-5505-1A4FF28A17F4}"/>
                </a:ext>
              </a:extLst>
            </p:cNvPr>
            <p:cNvSpPr>
              <a:spLocks noChangeShapeType="1"/>
            </p:cNvSpPr>
            <p:nvPr/>
          </p:nvSpPr>
          <p:spPr bwMode="auto">
            <a:xfrm>
              <a:off x="5889625" y="5445355"/>
              <a:ext cx="1519238" cy="0"/>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01" name="Rectangle 33">
              <a:extLst>
                <a:ext uri="{FF2B5EF4-FFF2-40B4-BE49-F238E27FC236}">
                  <a16:creationId xmlns:a16="http://schemas.microsoft.com/office/drawing/2014/main" id="{FE986421-C13F-01CA-2FEB-2C68DC1DEBC4}"/>
                </a:ext>
              </a:extLst>
            </p:cNvPr>
            <p:cNvSpPr>
              <a:spLocks noChangeArrowheads="1"/>
            </p:cNvSpPr>
            <p:nvPr/>
          </p:nvSpPr>
          <p:spPr bwMode="auto">
            <a:xfrm>
              <a:off x="5462588" y="5715230"/>
              <a:ext cx="61595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No!</a:t>
              </a:r>
            </a:p>
          </p:txBody>
        </p:sp>
        <p:sp>
          <p:nvSpPr>
            <p:cNvPr id="102" name="Text Box 38">
              <a:extLst>
                <a:ext uri="{FF2B5EF4-FFF2-40B4-BE49-F238E27FC236}">
                  <a16:creationId xmlns:a16="http://schemas.microsoft.com/office/drawing/2014/main" id="{842D3877-5AA4-FC45-E7F3-07845A74AC61}"/>
                </a:ext>
              </a:extLst>
            </p:cNvPr>
            <p:cNvSpPr txBox="1">
              <a:spLocks noChangeArrowheads="1"/>
            </p:cNvSpPr>
            <p:nvPr/>
          </p:nvSpPr>
          <p:spPr bwMode="auto">
            <a:xfrm>
              <a:off x="3429000" y="4973867"/>
              <a:ext cx="685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103" name="Text Box 39">
              <a:extLst>
                <a:ext uri="{FF2B5EF4-FFF2-40B4-BE49-F238E27FC236}">
                  <a16:creationId xmlns:a16="http://schemas.microsoft.com/office/drawing/2014/main" id="{4D828447-5BE4-C295-C283-828443AA351D}"/>
                </a:ext>
              </a:extLst>
            </p:cNvPr>
            <p:cNvSpPr txBox="1">
              <a:spLocks noChangeArrowheads="1"/>
            </p:cNvSpPr>
            <p:nvPr/>
          </p:nvSpPr>
          <p:spPr bwMode="auto">
            <a:xfrm>
              <a:off x="1276350" y="4992917"/>
              <a:ext cx="68421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81639" tIns="42452" rIns="81639" bIns="42452">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2000"/>
                </a:lnSpc>
                <a:spcBef>
                  <a:spcPts val="3063"/>
                </a:spcBef>
                <a:buClr>
                  <a:srgbClr val="000000"/>
                </a:buClr>
                <a:buSzPct val="100000"/>
                <a:buFont typeface="Times New Roman" panose="02020603050405020304" pitchFamily="18" charset="0"/>
                <a:buNone/>
              </a:pPr>
              <a:r>
                <a:rPr lang="en-GB" altLang="en-US" sz="4900" b="1">
                  <a:solidFill>
                    <a:srgbClr val="000000"/>
                  </a:solidFill>
                  <a:latin typeface="Wingdings" panose="05000000000000000000" pitchFamily="2" charset="2"/>
                </a:rPr>
                <a:t></a:t>
              </a:r>
            </a:p>
          </p:txBody>
        </p:sp>
        <p:sp>
          <p:nvSpPr>
            <p:cNvPr id="104" name="Rectangle 42">
              <a:extLst>
                <a:ext uri="{FF2B5EF4-FFF2-40B4-BE49-F238E27FC236}">
                  <a16:creationId xmlns:a16="http://schemas.microsoft.com/office/drawing/2014/main" id="{AA137FC7-208B-6D38-ECEA-222DF94B552C}"/>
                </a:ext>
              </a:extLst>
            </p:cNvPr>
            <p:cNvSpPr>
              <a:spLocks noChangeArrowheads="1"/>
            </p:cNvSpPr>
            <p:nvPr/>
          </p:nvSpPr>
          <p:spPr bwMode="auto">
            <a:xfrm>
              <a:off x="7480300" y="4896080"/>
              <a:ext cx="61753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No!</a:t>
              </a:r>
            </a:p>
          </p:txBody>
        </p:sp>
        <p:sp>
          <p:nvSpPr>
            <p:cNvPr id="105" name="Rectangle 43">
              <a:extLst>
                <a:ext uri="{FF2B5EF4-FFF2-40B4-BE49-F238E27FC236}">
                  <a16:creationId xmlns:a16="http://schemas.microsoft.com/office/drawing/2014/main" id="{C5142BB7-1716-D48B-E723-DBFF40D0B84F}"/>
                </a:ext>
              </a:extLst>
            </p:cNvPr>
            <p:cNvSpPr>
              <a:spLocks noChangeArrowheads="1"/>
            </p:cNvSpPr>
            <p:nvPr/>
          </p:nvSpPr>
          <p:spPr bwMode="auto">
            <a:xfrm>
              <a:off x="7348538" y="5677130"/>
              <a:ext cx="958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6720">
                  <a:solidFill>
                    <a:srgbClr val="000000"/>
                  </a:solidFill>
                  <a:round/>
                  <a:headEnd/>
                  <a:tailEnd/>
                </a14:hiddenLine>
              </a:ext>
            </a:extLst>
          </p:spPr>
          <p:txBody>
            <a:bodyPr lIns="63352" tIns="31676" rIns="63352" bIns="31676">
              <a:spAutoFit/>
            </a:bodyPr>
            <a:lstStyle>
              <a:lvl1pPr>
                <a:tabLst>
                  <a:tab pos="655638" algn="l"/>
                </a:tabLst>
                <a:defRPr>
                  <a:solidFill>
                    <a:schemeClr val="tx1"/>
                  </a:solidFill>
                  <a:latin typeface="Arial" panose="020B0604020202020204" pitchFamily="34" charset="0"/>
                  <a:cs typeface="Arial" panose="020B0604020202020204" pitchFamily="34" charset="0"/>
                </a:defRPr>
              </a:lvl1pPr>
              <a:lvl2pPr marL="742950" indent="-285750">
                <a:tabLst>
                  <a:tab pos="655638" algn="l"/>
                </a:tabLst>
                <a:defRPr>
                  <a:solidFill>
                    <a:schemeClr val="tx1"/>
                  </a:solidFill>
                  <a:latin typeface="Arial" panose="020B0604020202020204" pitchFamily="34" charset="0"/>
                  <a:cs typeface="Arial" panose="020B0604020202020204" pitchFamily="34" charset="0"/>
                </a:defRPr>
              </a:lvl2pPr>
              <a:lvl3pPr marL="1143000" indent="-228600">
                <a:tabLst>
                  <a:tab pos="655638" algn="l"/>
                </a:tabLst>
                <a:defRPr>
                  <a:solidFill>
                    <a:schemeClr val="tx1"/>
                  </a:solidFill>
                  <a:latin typeface="Arial" panose="020B0604020202020204" pitchFamily="34" charset="0"/>
                  <a:cs typeface="Arial" panose="020B0604020202020204" pitchFamily="34" charset="0"/>
                </a:defRPr>
              </a:lvl3pPr>
              <a:lvl4pPr marL="1600200" indent="-228600">
                <a:tabLst>
                  <a:tab pos="655638" algn="l"/>
                </a:tabLst>
                <a:defRPr>
                  <a:solidFill>
                    <a:schemeClr val="tx1"/>
                  </a:solidFill>
                  <a:latin typeface="Arial" panose="020B0604020202020204" pitchFamily="34" charset="0"/>
                  <a:cs typeface="Arial" panose="020B0604020202020204" pitchFamily="34" charset="0"/>
                </a:defRPr>
              </a:lvl4pPr>
              <a:lvl5pPr marL="2057400" indent="-228600">
                <a:tabLst>
                  <a:tab pos="65563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655638" algn="l"/>
                </a:tabLst>
                <a:defRPr>
                  <a:solidFill>
                    <a:schemeClr val="tx1"/>
                  </a:solidFill>
                  <a:latin typeface="Arial" panose="020B0604020202020204" pitchFamily="34" charset="0"/>
                  <a:cs typeface="Arial" panose="020B0604020202020204" pitchFamily="34" charset="0"/>
                </a:defRPr>
              </a:lvl9pPr>
            </a:lstStyle>
            <a:p>
              <a:pPr hangingPunct="1">
                <a:lnSpc>
                  <a:spcPct val="95000"/>
                </a:lnSpc>
                <a:spcBef>
                  <a:spcPts val="1025"/>
                </a:spcBef>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rPr>
                <a:t>Sent it?</a:t>
              </a:r>
            </a:p>
          </p:txBody>
        </p:sp>
        <p:sp>
          <p:nvSpPr>
            <p:cNvPr id="106" name="Line 44">
              <a:extLst>
                <a:ext uri="{FF2B5EF4-FFF2-40B4-BE49-F238E27FC236}">
                  <a16:creationId xmlns:a16="http://schemas.microsoft.com/office/drawing/2014/main" id="{9E025A33-0B77-F162-D370-EDB4E72291D6}"/>
                </a:ext>
              </a:extLst>
            </p:cNvPr>
            <p:cNvSpPr>
              <a:spLocks noChangeShapeType="1"/>
            </p:cNvSpPr>
            <p:nvPr/>
          </p:nvSpPr>
          <p:spPr bwMode="auto">
            <a:xfrm>
              <a:off x="6061075" y="5100867"/>
              <a:ext cx="1462088" cy="1588"/>
            </a:xfrm>
            <a:prstGeom prst="line">
              <a:avLst/>
            </a:prstGeom>
            <a:noFill/>
            <a:ln w="126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07" name="Line 45">
              <a:extLst>
                <a:ext uri="{FF2B5EF4-FFF2-40B4-BE49-F238E27FC236}">
                  <a16:creationId xmlns:a16="http://schemas.microsoft.com/office/drawing/2014/main" id="{8AAE0D9E-C91D-EB65-296C-ADEEB21080A9}"/>
                </a:ext>
              </a:extLst>
            </p:cNvPr>
            <p:cNvSpPr>
              <a:spLocks noChangeShapeType="1"/>
            </p:cNvSpPr>
            <p:nvPr/>
          </p:nvSpPr>
          <p:spPr bwMode="auto">
            <a:xfrm>
              <a:off x="5945188" y="5843817"/>
              <a:ext cx="1347787" cy="1588"/>
            </a:xfrm>
            <a:prstGeom prst="line">
              <a:avLst/>
            </a:prstGeom>
            <a:noFill/>
            <a:ln w="12600">
              <a:solidFill>
                <a:srgbClr val="000000"/>
              </a:solidFill>
              <a:miter lim="800000"/>
              <a:headEnd type="triangle" w="med" len="med"/>
              <a:tailEnd/>
            </a:ln>
            <a:extLst>
              <a:ext uri="{909E8E84-426E-40DD-AFC4-6F175D3DCCD1}">
                <a14:hiddenFill xmlns:a14="http://schemas.microsoft.com/office/drawing/2010/main">
                  <a:noFill/>
                </a14:hiddenFill>
              </a:ext>
            </a:extLst>
          </p:spPr>
          <p:txBody>
            <a:bodyPr lIns="82945" tIns="41473" rIns="82945" bIns="41473"/>
            <a:lstStyle/>
            <a:p>
              <a:endParaRPr lang="en-US"/>
            </a:p>
          </p:txBody>
        </p:sp>
      </p:grpSp>
    </p:spTree>
    <p:extLst>
      <p:ext uri="{BB962C8B-B14F-4D97-AF65-F5344CB8AC3E}">
        <p14:creationId xmlns:p14="http://schemas.microsoft.com/office/powerpoint/2010/main" val="12456153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120A9-D5FB-581E-A830-DEFED641A2B7}"/>
              </a:ext>
            </a:extLst>
          </p:cNvPr>
          <p:cNvSpPr>
            <a:spLocks noGrp="1"/>
          </p:cNvSpPr>
          <p:nvPr>
            <p:ph type="title"/>
          </p:nvPr>
        </p:nvSpPr>
        <p:spPr>
          <a:xfrm>
            <a:off x="677334" y="620486"/>
            <a:ext cx="8596668" cy="1320800"/>
          </a:xfrm>
        </p:spPr>
        <p:txBody>
          <a:bodyPr>
            <a:normAutofit/>
          </a:bodyPr>
          <a:lstStyle/>
          <a:p>
            <a:pPr algn="ctr"/>
            <a:r>
              <a:rPr lang="en-US" sz="7200" b="1" dirty="0"/>
              <a:t>The  best tip</a:t>
            </a:r>
          </a:p>
        </p:txBody>
      </p:sp>
      <p:pic>
        <p:nvPicPr>
          <p:cNvPr id="2050" name="Picture 2" descr="Generated image">
            <a:extLst>
              <a:ext uri="{FF2B5EF4-FFF2-40B4-BE49-F238E27FC236}">
                <a16:creationId xmlns:a16="http://schemas.microsoft.com/office/drawing/2014/main" id="{D1E843D5-DF1E-4830-5B36-44A227B320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129881" y="2103438"/>
            <a:ext cx="3932237" cy="3932237"/>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66D40F89-3C35-2D68-EF41-97319A554A76}"/>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9AFC4653-EB0D-555F-185D-2BCD21F92A1B}"/>
              </a:ext>
            </a:extLst>
          </p:cNvPr>
          <p:cNvSpPr>
            <a:spLocks noGrp="1"/>
          </p:cNvSpPr>
          <p:nvPr>
            <p:ph type="sldNum" sz="quarter" idx="12"/>
          </p:nvPr>
        </p:nvSpPr>
        <p:spPr/>
        <p:txBody>
          <a:bodyPr/>
          <a:lstStyle/>
          <a:p>
            <a:fld id="{206048C0-C8B7-4832-8A8D-D83BA7A49C27}" type="slidenum">
              <a:rPr lang="en-US" smtClean="0"/>
              <a:pPr/>
              <a:t>56</a:t>
            </a:fld>
            <a:endParaRPr lang="en-US"/>
          </a:p>
        </p:txBody>
      </p:sp>
      <p:sp>
        <p:nvSpPr>
          <p:cNvPr id="4" name="TextBox 3">
            <a:extLst>
              <a:ext uri="{FF2B5EF4-FFF2-40B4-BE49-F238E27FC236}">
                <a16:creationId xmlns:a16="http://schemas.microsoft.com/office/drawing/2014/main" id="{49CBA0C5-CF1C-CE93-E479-C44A76C24834}"/>
              </a:ext>
            </a:extLst>
          </p:cNvPr>
          <p:cNvSpPr txBox="1"/>
          <p:nvPr/>
        </p:nvSpPr>
        <p:spPr>
          <a:xfrm>
            <a:off x="677334" y="2449286"/>
            <a:ext cx="3881437" cy="2862322"/>
          </a:xfrm>
          <a:prstGeom prst="rect">
            <a:avLst/>
          </a:prstGeom>
          <a:noFill/>
        </p:spPr>
        <p:txBody>
          <a:bodyPr wrap="square" rtlCol="0">
            <a:spAutoFit/>
          </a:bodyPr>
          <a:lstStyle/>
          <a:p>
            <a:r>
              <a:rPr lang="en-US" sz="6000" dirty="0">
                <a:solidFill>
                  <a:srgbClr val="C00000"/>
                </a:solidFill>
              </a:rPr>
              <a:t>Is it possible for us?</a:t>
            </a:r>
          </a:p>
        </p:txBody>
      </p:sp>
    </p:spTree>
    <p:extLst>
      <p:ext uri="{BB962C8B-B14F-4D97-AF65-F5344CB8AC3E}">
        <p14:creationId xmlns:p14="http://schemas.microsoft.com/office/powerpoint/2010/main" val="3571121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08C10-0997-0399-7677-F0F5EBCAA3FE}"/>
              </a:ext>
            </a:extLst>
          </p:cNvPr>
          <p:cNvSpPr>
            <a:spLocks noGrp="1"/>
          </p:cNvSpPr>
          <p:nvPr>
            <p:ph type="title"/>
          </p:nvPr>
        </p:nvSpPr>
        <p:spPr/>
        <p:txBody>
          <a:bodyPr>
            <a:normAutofit/>
          </a:bodyPr>
          <a:lstStyle/>
          <a:p>
            <a:pPr algn="ctr"/>
            <a:r>
              <a:rPr lang="en-US" sz="4400" b="1" dirty="0"/>
              <a:t>Stay away form the internet threats</a:t>
            </a:r>
          </a:p>
        </p:txBody>
      </p:sp>
      <p:pic>
        <p:nvPicPr>
          <p:cNvPr id="3074" name="Picture 2" descr="Risks of public Wi-Fi: a 2025 guide ...">
            <a:extLst>
              <a:ext uri="{FF2B5EF4-FFF2-40B4-BE49-F238E27FC236}">
                <a16:creationId xmlns:a16="http://schemas.microsoft.com/office/drawing/2014/main" id="{C1604A5B-C189-0E7B-8ED1-2BCE7A7C87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62399" y="2079171"/>
            <a:ext cx="5519057" cy="3124199"/>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1B29C0B9-1B78-1147-48A8-FEC887A10600}"/>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E14DF476-E0C4-8895-3A77-75A41CFC7130}"/>
              </a:ext>
            </a:extLst>
          </p:cNvPr>
          <p:cNvSpPr>
            <a:spLocks noGrp="1"/>
          </p:cNvSpPr>
          <p:nvPr>
            <p:ph type="sldNum" sz="quarter" idx="12"/>
          </p:nvPr>
        </p:nvSpPr>
        <p:spPr/>
        <p:txBody>
          <a:bodyPr/>
          <a:lstStyle/>
          <a:p>
            <a:fld id="{206048C0-C8B7-4832-8A8D-D83BA7A49C27}" type="slidenum">
              <a:rPr lang="en-US" smtClean="0"/>
              <a:pPr/>
              <a:t>57</a:t>
            </a:fld>
            <a:endParaRPr lang="en-US"/>
          </a:p>
        </p:txBody>
      </p:sp>
      <p:sp>
        <p:nvSpPr>
          <p:cNvPr id="4" name="TextBox 3">
            <a:extLst>
              <a:ext uri="{FF2B5EF4-FFF2-40B4-BE49-F238E27FC236}">
                <a16:creationId xmlns:a16="http://schemas.microsoft.com/office/drawing/2014/main" id="{F902B521-5E8F-097C-F2E8-008CCA9E4DB6}"/>
              </a:ext>
            </a:extLst>
          </p:cNvPr>
          <p:cNvSpPr txBox="1"/>
          <p:nvPr/>
        </p:nvSpPr>
        <p:spPr>
          <a:xfrm>
            <a:off x="601134" y="2079171"/>
            <a:ext cx="2468637" cy="3046988"/>
          </a:xfrm>
          <a:prstGeom prst="rect">
            <a:avLst/>
          </a:prstGeom>
          <a:noFill/>
        </p:spPr>
        <p:txBody>
          <a:bodyPr wrap="square" rtlCol="0">
            <a:spAutoFit/>
          </a:bodyPr>
          <a:lstStyle/>
          <a:p>
            <a:r>
              <a:rPr lang="en-US" sz="3200" b="1" dirty="0">
                <a:solidFill>
                  <a:srgbClr val="C00000"/>
                </a:solidFill>
              </a:rPr>
              <a:t>Free Wi-Fi, unknown links, malware, phishing etc. </a:t>
            </a:r>
          </a:p>
        </p:txBody>
      </p:sp>
    </p:spTree>
    <p:extLst>
      <p:ext uri="{BB962C8B-B14F-4D97-AF65-F5344CB8AC3E}">
        <p14:creationId xmlns:p14="http://schemas.microsoft.com/office/powerpoint/2010/main" val="3786905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DC83D-2B04-439C-CB27-9281616E0962}"/>
              </a:ext>
            </a:extLst>
          </p:cNvPr>
          <p:cNvSpPr>
            <a:spLocks noGrp="1"/>
          </p:cNvSpPr>
          <p:nvPr>
            <p:ph type="title"/>
          </p:nvPr>
        </p:nvSpPr>
        <p:spPr/>
        <p:txBody>
          <a:bodyPr/>
          <a:lstStyle/>
          <a:p>
            <a:r>
              <a:rPr lang="ne-NP" b="1" dirty="0"/>
              <a:t>सुरक्षित र बलियो पासवर्डको प्रयोग</a:t>
            </a:r>
            <a:endParaRPr lang="en-US" b="1" dirty="0"/>
          </a:p>
        </p:txBody>
      </p:sp>
      <p:pic>
        <p:nvPicPr>
          <p:cNvPr id="4098" name="Picture 2" descr="पासवर्ड सुरक्षित बनाउने केही टिप्स – Online Khabar">
            <a:extLst>
              <a:ext uri="{FF2B5EF4-FFF2-40B4-BE49-F238E27FC236}">
                <a16:creationId xmlns:a16="http://schemas.microsoft.com/office/drawing/2014/main" id="{05F93B8D-2933-0012-918C-F4D1F233AA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67250" y="3269456"/>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700A66D4-F7EB-9177-3C3B-014D80FD228D}"/>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CDEC9D37-BE9B-0C8F-37FB-590DFA9BCE11}"/>
              </a:ext>
            </a:extLst>
          </p:cNvPr>
          <p:cNvSpPr>
            <a:spLocks noGrp="1"/>
          </p:cNvSpPr>
          <p:nvPr>
            <p:ph type="sldNum" sz="quarter" idx="12"/>
          </p:nvPr>
        </p:nvSpPr>
        <p:spPr/>
        <p:txBody>
          <a:bodyPr/>
          <a:lstStyle/>
          <a:p>
            <a:fld id="{206048C0-C8B7-4832-8A8D-D83BA7A49C27}" type="slidenum">
              <a:rPr lang="en-US" smtClean="0"/>
              <a:pPr/>
              <a:t>58</a:t>
            </a:fld>
            <a:endParaRPr lang="en-US"/>
          </a:p>
        </p:txBody>
      </p:sp>
      <p:sp>
        <p:nvSpPr>
          <p:cNvPr id="4" name="TextBox 3">
            <a:extLst>
              <a:ext uri="{FF2B5EF4-FFF2-40B4-BE49-F238E27FC236}">
                <a16:creationId xmlns:a16="http://schemas.microsoft.com/office/drawing/2014/main" id="{72F3A51E-7A26-AC9F-A799-54DDF4C3AEB3}"/>
              </a:ext>
            </a:extLst>
          </p:cNvPr>
          <p:cNvSpPr txBox="1"/>
          <p:nvPr/>
        </p:nvSpPr>
        <p:spPr>
          <a:xfrm>
            <a:off x="772886" y="2394857"/>
            <a:ext cx="2394857" cy="3539430"/>
          </a:xfrm>
          <a:prstGeom prst="rect">
            <a:avLst/>
          </a:prstGeom>
          <a:noFill/>
        </p:spPr>
        <p:txBody>
          <a:bodyPr wrap="square" rtlCol="0">
            <a:spAutoFit/>
          </a:bodyPr>
          <a:lstStyle/>
          <a:p>
            <a:r>
              <a:rPr lang="ne-NP" sz="2800" dirty="0">
                <a:solidFill>
                  <a:srgbClr val="C00000"/>
                </a:solidFill>
              </a:rPr>
              <a:t>आफ्नो मोबाइल र कम्प्यूटरमा बलियो पासवर्ड राख्नुहोस र कसैलाइपनि प्रयोग गर्न नदिनुहोस ।</a:t>
            </a:r>
            <a:endParaRPr lang="en-US" sz="2800" dirty="0">
              <a:solidFill>
                <a:srgbClr val="C00000"/>
              </a:solidFill>
            </a:endParaRPr>
          </a:p>
        </p:txBody>
      </p:sp>
    </p:spTree>
    <p:extLst>
      <p:ext uri="{BB962C8B-B14F-4D97-AF65-F5344CB8AC3E}">
        <p14:creationId xmlns:p14="http://schemas.microsoft.com/office/powerpoint/2010/main" val="4170229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C2D78-53B5-7478-4138-3CFCDE713F5C}"/>
              </a:ext>
            </a:extLst>
          </p:cNvPr>
          <p:cNvSpPr>
            <a:spLocks noGrp="1"/>
          </p:cNvSpPr>
          <p:nvPr>
            <p:ph type="title"/>
          </p:nvPr>
        </p:nvSpPr>
        <p:spPr>
          <a:xfrm>
            <a:off x="1066800" y="642594"/>
            <a:ext cx="10058400" cy="563543"/>
          </a:xfrm>
        </p:spPr>
        <p:txBody>
          <a:bodyPr>
            <a:normAutofit fontScale="90000"/>
          </a:bodyPr>
          <a:lstStyle/>
          <a:p>
            <a:r>
              <a:rPr lang="ne-NP" b="1" dirty="0"/>
              <a:t>के हो त बलियो पासवर्ड </a:t>
            </a:r>
            <a:r>
              <a:rPr lang="ne-NP" b="1" dirty="0">
                <a:cs typeface="Kalimati" panose="00000400000000000000" pitchFamily="2"/>
              </a:rPr>
              <a:t>?</a:t>
            </a:r>
            <a:endParaRPr lang="en-US" b="1" dirty="0"/>
          </a:p>
        </p:txBody>
      </p:sp>
      <p:sp>
        <p:nvSpPr>
          <p:cNvPr id="3" name="Content Placeholder 2">
            <a:extLst>
              <a:ext uri="{FF2B5EF4-FFF2-40B4-BE49-F238E27FC236}">
                <a16:creationId xmlns:a16="http://schemas.microsoft.com/office/drawing/2014/main" id="{78C4795F-8BAA-0142-EA55-28318CF2CDAB}"/>
              </a:ext>
            </a:extLst>
          </p:cNvPr>
          <p:cNvSpPr>
            <a:spLocks noGrp="1"/>
          </p:cNvSpPr>
          <p:nvPr>
            <p:ph idx="1"/>
          </p:nvPr>
        </p:nvSpPr>
        <p:spPr>
          <a:xfrm>
            <a:off x="677333" y="1480457"/>
            <a:ext cx="11340495" cy="4827215"/>
          </a:xfrm>
        </p:spPr>
        <p:txBody>
          <a:bodyPr>
            <a:normAutofit fontScale="92500" lnSpcReduction="10000"/>
          </a:bodyPr>
          <a:lstStyle/>
          <a:p>
            <a:pPr>
              <a:buFont typeface="Wingdings" panose="05000000000000000000" pitchFamily="2" charset="2"/>
              <a:buChar char="Ø"/>
            </a:pPr>
            <a:r>
              <a:rPr lang="en-US" sz="4000" dirty="0"/>
              <a:t>Combination of Upper case, lowercase, numerals, symbols </a:t>
            </a:r>
          </a:p>
          <a:p>
            <a:pPr>
              <a:buFont typeface="Wingdings" panose="05000000000000000000" pitchFamily="2" charset="2"/>
              <a:buChar char="Ø"/>
            </a:pPr>
            <a:r>
              <a:rPr lang="en-US" sz="4000" dirty="0"/>
              <a:t>Don’t use repeated password for the different platforms</a:t>
            </a:r>
          </a:p>
          <a:p>
            <a:pPr>
              <a:buFont typeface="Wingdings" panose="05000000000000000000" pitchFamily="2" charset="2"/>
              <a:buChar char="Ø"/>
            </a:pPr>
            <a:r>
              <a:rPr lang="en-US" sz="4000" dirty="0"/>
              <a:t>Change password in every three months</a:t>
            </a:r>
          </a:p>
          <a:p>
            <a:pPr>
              <a:buFont typeface="Wingdings" panose="05000000000000000000" pitchFamily="2" charset="2"/>
              <a:buChar char="Ø"/>
            </a:pPr>
            <a:r>
              <a:rPr lang="en-US" sz="4000" dirty="0"/>
              <a:t>Use virtual keyboard if there is provided</a:t>
            </a:r>
          </a:p>
          <a:p>
            <a:pPr>
              <a:buFont typeface="Wingdings" panose="05000000000000000000" pitchFamily="2" charset="2"/>
              <a:buChar char="Ø"/>
            </a:pPr>
            <a:r>
              <a:rPr lang="en-US" sz="4000" dirty="0"/>
              <a:t>Use two step authentication if the  system provided </a:t>
            </a:r>
          </a:p>
          <a:p>
            <a:pPr marL="0" indent="0">
              <a:buNone/>
            </a:pPr>
            <a:endParaRPr lang="en-US" dirty="0"/>
          </a:p>
        </p:txBody>
      </p:sp>
      <p:sp>
        <p:nvSpPr>
          <p:cNvPr id="4" name="Footer Placeholder 3">
            <a:extLst>
              <a:ext uri="{FF2B5EF4-FFF2-40B4-BE49-F238E27FC236}">
                <a16:creationId xmlns:a16="http://schemas.microsoft.com/office/drawing/2014/main" id="{D2B9A83B-476D-7C90-283C-802A88EBC5CB}"/>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528F7364-E2F4-C78D-C851-47FE6E328293}"/>
              </a:ext>
            </a:extLst>
          </p:cNvPr>
          <p:cNvSpPr>
            <a:spLocks noGrp="1"/>
          </p:cNvSpPr>
          <p:nvPr>
            <p:ph type="sldNum" sz="quarter" idx="12"/>
          </p:nvPr>
        </p:nvSpPr>
        <p:spPr/>
        <p:txBody>
          <a:bodyPr/>
          <a:lstStyle/>
          <a:p>
            <a:fld id="{206048C0-C8B7-4832-8A8D-D83BA7A49C27}" type="slidenum">
              <a:rPr lang="en-US" smtClean="0"/>
              <a:pPr/>
              <a:t>59</a:t>
            </a:fld>
            <a:endParaRPr lang="en-US"/>
          </a:p>
        </p:txBody>
      </p:sp>
    </p:spTree>
    <p:extLst>
      <p:ext uri="{BB962C8B-B14F-4D97-AF65-F5344CB8AC3E}">
        <p14:creationId xmlns:p14="http://schemas.microsoft.com/office/powerpoint/2010/main" val="960929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A8C4B-9674-7A12-5C1C-CEAC4A4AD8E8}"/>
              </a:ext>
            </a:extLst>
          </p:cNvPr>
          <p:cNvSpPr>
            <a:spLocks noGrp="1"/>
          </p:cNvSpPr>
          <p:nvPr>
            <p:ph type="title"/>
          </p:nvPr>
        </p:nvSpPr>
        <p:spPr/>
        <p:txBody>
          <a:bodyPr/>
          <a:lstStyle/>
          <a:p>
            <a:r>
              <a:rPr lang="ne-NP" b="1" dirty="0"/>
              <a:t>पासवर्ड कसरि बनाउने र कसरि सम्झने</a:t>
            </a:r>
            <a:endParaRPr lang="en-US" b="1" dirty="0"/>
          </a:p>
        </p:txBody>
      </p:sp>
      <p:pic>
        <p:nvPicPr>
          <p:cNvPr id="4" name="Content Placeholder 3" descr="012615-passwords-850x476.jpg">
            <a:extLst>
              <a:ext uri="{FF2B5EF4-FFF2-40B4-BE49-F238E27FC236}">
                <a16:creationId xmlns:a16="http://schemas.microsoft.com/office/drawing/2014/main" id="{8D111293-5BD6-62B1-2906-E30A22A42F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03792" y="2209800"/>
            <a:ext cx="3944454" cy="200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40C5C5CB-B06F-2372-873D-FB30FD853F79}"/>
              </a:ext>
            </a:extLst>
          </p:cNvPr>
          <p:cNvSpPr>
            <a:spLocks noGrp="1"/>
          </p:cNvSpPr>
          <p:nvPr>
            <p:ph type="ftr" sz="quarter" idx="11"/>
          </p:nvPr>
        </p:nvSpPr>
        <p:spPr/>
        <p:txBody>
          <a:bodyPr/>
          <a:lstStyle/>
          <a:p>
            <a:r>
              <a:rPr lang="en-US"/>
              <a:t>Cybercrime and Cyber Security</a:t>
            </a:r>
          </a:p>
        </p:txBody>
      </p:sp>
      <p:sp>
        <p:nvSpPr>
          <p:cNvPr id="7" name="Slide Number Placeholder 6">
            <a:extLst>
              <a:ext uri="{FF2B5EF4-FFF2-40B4-BE49-F238E27FC236}">
                <a16:creationId xmlns:a16="http://schemas.microsoft.com/office/drawing/2014/main" id="{D77A2989-EA3A-24F3-112B-C0101EE39A16}"/>
              </a:ext>
            </a:extLst>
          </p:cNvPr>
          <p:cNvSpPr>
            <a:spLocks noGrp="1"/>
          </p:cNvSpPr>
          <p:nvPr>
            <p:ph type="sldNum" sz="quarter" idx="12"/>
          </p:nvPr>
        </p:nvSpPr>
        <p:spPr/>
        <p:txBody>
          <a:bodyPr/>
          <a:lstStyle/>
          <a:p>
            <a:fld id="{206048C0-C8B7-4832-8A8D-D83BA7A49C27}" type="slidenum">
              <a:rPr lang="en-US" smtClean="0"/>
              <a:pPr/>
              <a:t>60</a:t>
            </a:fld>
            <a:endParaRPr lang="en-US"/>
          </a:p>
        </p:txBody>
      </p:sp>
      <p:pic>
        <p:nvPicPr>
          <p:cNvPr id="5" name="Picture 4" descr="41256100-stock-vector-thinking-man-vector-flat-illustration.jpg">
            <a:extLst>
              <a:ext uri="{FF2B5EF4-FFF2-40B4-BE49-F238E27FC236}">
                <a16:creationId xmlns:a16="http://schemas.microsoft.com/office/drawing/2014/main" id="{401315E3-3D07-425D-B63D-2FFB23B546D9}"/>
              </a:ext>
            </a:extLst>
          </p:cNvPr>
          <p:cNvPicPr>
            <a:picLocks noChangeAspect="1"/>
          </p:cNvPicPr>
          <p:nvPr/>
        </p:nvPicPr>
        <p:blipFill>
          <a:blip r:embed="rId3" cstate="print"/>
          <a:srcRect/>
          <a:stretch>
            <a:fillRect/>
          </a:stretch>
        </p:blipFill>
        <p:spPr bwMode="auto">
          <a:xfrm>
            <a:off x="6948246" y="2030185"/>
            <a:ext cx="2427288" cy="2362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9FFE2C6B-FE1B-6AF2-0DF4-3C5A6E2D1E86}"/>
              </a:ext>
            </a:extLst>
          </p:cNvPr>
          <p:cNvSpPr txBox="1"/>
          <p:nvPr/>
        </p:nvSpPr>
        <p:spPr>
          <a:xfrm>
            <a:off x="1524000" y="5040086"/>
            <a:ext cx="6313714" cy="769441"/>
          </a:xfrm>
          <a:prstGeom prst="rect">
            <a:avLst/>
          </a:prstGeom>
          <a:noFill/>
        </p:spPr>
        <p:txBody>
          <a:bodyPr wrap="square" rtlCol="0">
            <a:spAutoFit/>
          </a:bodyPr>
          <a:lstStyle/>
          <a:p>
            <a:r>
              <a:rPr lang="en-US" sz="4400" dirty="0">
                <a:solidFill>
                  <a:srgbClr val="C00000"/>
                </a:solidFill>
              </a:rPr>
              <a:t>Hard to remember??????</a:t>
            </a:r>
          </a:p>
        </p:txBody>
      </p:sp>
    </p:spTree>
    <p:extLst>
      <p:ext uri="{BB962C8B-B14F-4D97-AF65-F5344CB8AC3E}">
        <p14:creationId xmlns:p14="http://schemas.microsoft.com/office/powerpoint/2010/main" val="34077903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A7C5-9E8A-185F-0621-1FAFA73FEA95}"/>
              </a:ext>
            </a:extLst>
          </p:cNvPr>
          <p:cNvSpPr>
            <a:spLocks noGrp="1"/>
          </p:cNvSpPr>
          <p:nvPr>
            <p:ph type="title"/>
          </p:nvPr>
        </p:nvSpPr>
        <p:spPr>
          <a:xfrm>
            <a:off x="677334" y="609600"/>
            <a:ext cx="10817980" cy="979714"/>
          </a:xfrm>
        </p:spPr>
        <p:txBody>
          <a:bodyPr/>
          <a:lstStyle/>
          <a:p>
            <a:r>
              <a:rPr lang="en-US" altLang="en-US" sz="3600" b="1" dirty="0"/>
              <a:t>SWITCH TO PASSPHRASE</a:t>
            </a:r>
            <a:endParaRPr lang="en-US" b="1" dirty="0"/>
          </a:p>
        </p:txBody>
      </p:sp>
      <p:sp>
        <p:nvSpPr>
          <p:cNvPr id="3" name="Content Placeholder 2">
            <a:extLst>
              <a:ext uri="{FF2B5EF4-FFF2-40B4-BE49-F238E27FC236}">
                <a16:creationId xmlns:a16="http://schemas.microsoft.com/office/drawing/2014/main" id="{C965F3B9-6B7C-029B-2359-79826BDE9DC6}"/>
              </a:ext>
            </a:extLst>
          </p:cNvPr>
          <p:cNvSpPr>
            <a:spLocks noGrp="1"/>
          </p:cNvSpPr>
          <p:nvPr>
            <p:ph idx="1"/>
          </p:nvPr>
        </p:nvSpPr>
        <p:spPr>
          <a:xfrm>
            <a:off x="677334" y="1709057"/>
            <a:ext cx="8596668" cy="4332305"/>
          </a:xfrm>
        </p:spPr>
        <p:txBody>
          <a:bodyPr/>
          <a:lstStyle/>
          <a:p>
            <a:pPr algn="ctr">
              <a:buFont typeface="Arial" panose="020B0604020202020204" pitchFamily="34" charset="0"/>
              <a:buNone/>
            </a:pPr>
            <a:r>
              <a:rPr lang="en-US" altLang="en-US" sz="3200" b="1" dirty="0"/>
              <a:t>MY PASSPHRASE</a:t>
            </a:r>
          </a:p>
          <a:p>
            <a:pPr algn="ctr">
              <a:buFont typeface="Arial" panose="020B0604020202020204" pitchFamily="34" charset="0"/>
              <a:buNone/>
            </a:pPr>
            <a:r>
              <a:rPr lang="en-US" altLang="en-US" sz="2400" dirty="0">
                <a:solidFill>
                  <a:srgbClr val="C00000"/>
                </a:solidFill>
              </a:rPr>
              <a:t>Never judge a book by its cover</a:t>
            </a:r>
          </a:p>
          <a:p>
            <a:pPr algn="ctr">
              <a:buFont typeface="Arial" panose="020B0604020202020204" pitchFamily="34" charset="0"/>
              <a:buNone/>
            </a:pPr>
            <a:endParaRPr lang="en-US" altLang="en-US" sz="2400" dirty="0">
              <a:solidFill>
                <a:srgbClr val="C00000"/>
              </a:solidFill>
            </a:endParaRPr>
          </a:p>
          <a:p>
            <a:pPr algn="ctr">
              <a:buFont typeface="Arial" panose="020B0604020202020204" pitchFamily="34" charset="0"/>
              <a:buNone/>
            </a:pPr>
            <a:r>
              <a:rPr lang="en-US" altLang="en-US" sz="3200" b="1" dirty="0"/>
              <a:t>MY PASSWORD</a:t>
            </a:r>
          </a:p>
          <a:p>
            <a:pPr algn="ctr">
              <a:buFont typeface="Arial" panose="020B0604020202020204" pitchFamily="34" charset="0"/>
              <a:buNone/>
            </a:pPr>
            <a:r>
              <a:rPr lang="en-US" altLang="en-US" sz="2400" dirty="0">
                <a:solidFill>
                  <a:srgbClr val="C00000"/>
                </a:solidFill>
              </a:rPr>
              <a:t>nj@66!C</a:t>
            </a:r>
          </a:p>
          <a:p>
            <a:pPr algn="ctr">
              <a:buFont typeface="Arial" panose="020B0604020202020204" pitchFamily="34" charset="0"/>
              <a:buNone/>
            </a:pPr>
            <a:endParaRPr lang="en-US" altLang="en-US" sz="2400" dirty="0">
              <a:solidFill>
                <a:srgbClr val="C00000"/>
              </a:solidFill>
            </a:endParaRPr>
          </a:p>
          <a:p>
            <a:pPr algn="ctr">
              <a:buFont typeface="Arial" panose="020B0604020202020204" pitchFamily="34" charset="0"/>
              <a:buNone/>
            </a:pPr>
            <a:r>
              <a:rPr lang="en-US" altLang="en-US" sz="2400" b="1" dirty="0">
                <a:solidFill>
                  <a:srgbClr val="C00000"/>
                </a:solidFill>
              </a:rPr>
              <a:t>N</a:t>
            </a:r>
            <a:r>
              <a:rPr lang="en-US" altLang="en-US" sz="2400" dirty="0"/>
              <a:t>ever</a:t>
            </a:r>
            <a:r>
              <a:rPr lang="en-US" altLang="en-US" sz="2400" dirty="0">
                <a:solidFill>
                  <a:srgbClr val="C00000"/>
                </a:solidFill>
              </a:rPr>
              <a:t> </a:t>
            </a:r>
            <a:r>
              <a:rPr lang="en-US" altLang="en-US" sz="2400" b="1" dirty="0">
                <a:solidFill>
                  <a:srgbClr val="C00000"/>
                </a:solidFill>
              </a:rPr>
              <a:t>j</a:t>
            </a:r>
            <a:r>
              <a:rPr lang="en-US" altLang="en-US" sz="2400" dirty="0"/>
              <a:t>udge</a:t>
            </a:r>
            <a:r>
              <a:rPr lang="en-US" altLang="en-US" sz="2400" dirty="0">
                <a:solidFill>
                  <a:srgbClr val="C00000"/>
                </a:solidFill>
              </a:rPr>
              <a:t> </a:t>
            </a:r>
            <a:r>
              <a:rPr lang="en-US" altLang="en-US" sz="2400" b="1" dirty="0">
                <a:solidFill>
                  <a:srgbClr val="C00000"/>
                </a:solidFill>
              </a:rPr>
              <a:t>@</a:t>
            </a:r>
            <a:r>
              <a:rPr lang="en-US" altLang="en-US" sz="2400" dirty="0">
                <a:solidFill>
                  <a:srgbClr val="C00000"/>
                </a:solidFill>
              </a:rPr>
              <a:t> </a:t>
            </a:r>
            <a:r>
              <a:rPr lang="en-US" altLang="en-US" sz="2400" b="1" dirty="0">
                <a:solidFill>
                  <a:srgbClr val="C00000"/>
                </a:solidFill>
              </a:rPr>
              <a:t>6</a:t>
            </a:r>
            <a:r>
              <a:rPr lang="en-US" altLang="en-US" sz="2400" dirty="0"/>
              <a:t>ook </a:t>
            </a:r>
            <a:r>
              <a:rPr lang="en-US" altLang="en-US" sz="2400" b="1" dirty="0">
                <a:solidFill>
                  <a:srgbClr val="C00000"/>
                </a:solidFill>
              </a:rPr>
              <a:t>6</a:t>
            </a:r>
            <a:r>
              <a:rPr lang="en-US" altLang="en-US" sz="2400" dirty="0"/>
              <a:t>y</a:t>
            </a:r>
            <a:r>
              <a:rPr lang="en-US" altLang="en-US" sz="2400" dirty="0">
                <a:solidFill>
                  <a:srgbClr val="C00000"/>
                </a:solidFill>
              </a:rPr>
              <a:t> </a:t>
            </a:r>
            <a:r>
              <a:rPr lang="en-US" altLang="en-US" sz="2400" b="1" dirty="0">
                <a:solidFill>
                  <a:srgbClr val="C00000"/>
                </a:solidFill>
              </a:rPr>
              <a:t>!</a:t>
            </a:r>
            <a:r>
              <a:rPr lang="en-US" altLang="en-US" sz="2400" dirty="0" err="1"/>
              <a:t>ts</a:t>
            </a:r>
            <a:r>
              <a:rPr lang="en-US" altLang="en-US" sz="2400" dirty="0"/>
              <a:t> </a:t>
            </a:r>
            <a:r>
              <a:rPr lang="en-US" altLang="en-US" sz="2400" b="1" dirty="0">
                <a:solidFill>
                  <a:srgbClr val="C00000"/>
                </a:solidFill>
              </a:rPr>
              <a:t>c</a:t>
            </a:r>
            <a:r>
              <a:rPr lang="en-US" altLang="en-US" sz="2400" dirty="0"/>
              <a:t>over</a:t>
            </a:r>
          </a:p>
          <a:p>
            <a:endParaRPr lang="en-US" dirty="0"/>
          </a:p>
        </p:txBody>
      </p:sp>
      <p:sp>
        <p:nvSpPr>
          <p:cNvPr id="6" name="Footer Placeholder 5">
            <a:extLst>
              <a:ext uri="{FF2B5EF4-FFF2-40B4-BE49-F238E27FC236}">
                <a16:creationId xmlns:a16="http://schemas.microsoft.com/office/drawing/2014/main" id="{26FF1042-400B-8E6E-4660-37DA11AF1A5A}"/>
              </a:ext>
            </a:extLst>
          </p:cNvPr>
          <p:cNvSpPr>
            <a:spLocks noGrp="1"/>
          </p:cNvSpPr>
          <p:nvPr>
            <p:ph type="ftr" sz="quarter" idx="11"/>
          </p:nvPr>
        </p:nvSpPr>
        <p:spPr/>
        <p:txBody>
          <a:bodyPr/>
          <a:lstStyle/>
          <a:p>
            <a:r>
              <a:rPr lang="en-US"/>
              <a:t>Cybercrime and Cyber Security</a:t>
            </a:r>
          </a:p>
        </p:txBody>
      </p:sp>
      <p:sp>
        <p:nvSpPr>
          <p:cNvPr id="7" name="Slide Number Placeholder 6">
            <a:extLst>
              <a:ext uri="{FF2B5EF4-FFF2-40B4-BE49-F238E27FC236}">
                <a16:creationId xmlns:a16="http://schemas.microsoft.com/office/drawing/2014/main" id="{C642D4DF-0890-0415-2111-47F6AEE60E52}"/>
              </a:ext>
            </a:extLst>
          </p:cNvPr>
          <p:cNvSpPr>
            <a:spLocks noGrp="1"/>
          </p:cNvSpPr>
          <p:nvPr>
            <p:ph type="sldNum" sz="quarter" idx="12"/>
          </p:nvPr>
        </p:nvSpPr>
        <p:spPr/>
        <p:txBody>
          <a:bodyPr/>
          <a:lstStyle/>
          <a:p>
            <a:fld id="{206048C0-C8B7-4832-8A8D-D83BA7A49C27}" type="slidenum">
              <a:rPr lang="en-US" smtClean="0"/>
              <a:pPr/>
              <a:t>61</a:t>
            </a:fld>
            <a:endParaRPr lang="en-US"/>
          </a:p>
        </p:txBody>
      </p:sp>
      <p:pic>
        <p:nvPicPr>
          <p:cNvPr id="4" name="Picture 3" descr="25628.png">
            <a:extLst>
              <a:ext uri="{FF2B5EF4-FFF2-40B4-BE49-F238E27FC236}">
                <a16:creationId xmlns:a16="http://schemas.microsoft.com/office/drawing/2014/main" id="{72E8314A-BDD3-2D02-B295-910E0C1ABA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2633" y="2253343"/>
            <a:ext cx="76993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25628.png">
            <a:extLst>
              <a:ext uri="{FF2B5EF4-FFF2-40B4-BE49-F238E27FC236}">
                <a16:creationId xmlns:a16="http://schemas.microsoft.com/office/drawing/2014/main" id="{21F97586-6B92-9CD9-40E5-B2B849EAE6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31028" y="4005942"/>
            <a:ext cx="76993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52147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7F5BD-9635-D8D9-1F69-3A815BB5024B}"/>
              </a:ext>
            </a:extLst>
          </p:cNvPr>
          <p:cNvSpPr>
            <a:spLocks noGrp="1"/>
          </p:cNvSpPr>
          <p:nvPr>
            <p:ph type="title"/>
          </p:nvPr>
        </p:nvSpPr>
        <p:spPr/>
        <p:txBody>
          <a:bodyPr>
            <a:normAutofit/>
          </a:bodyPr>
          <a:lstStyle/>
          <a:p>
            <a:r>
              <a:rPr lang="en-IN" altLang="en-US" sz="5400" b="1" dirty="0"/>
              <a:t>SALTING  PASSWORD</a:t>
            </a:r>
            <a:endParaRPr lang="en-US" sz="7200" b="1" dirty="0"/>
          </a:p>
        </p:txBody>
      </p:sp>
      <p:sp>
        <p:nvSpPr>
          <p:cNvPr id="3" name="Content Placeholder 2">
            <a:extLst>
              <a:ext uri="{FF2B5EF4-FFF2-40B4-BE49-F238E27FC236}">
                <a16:creationId xmlns:a16="http://schemas.microsoft.com/office/drawing/2014/main" id="{3D8E89E8-0386-06B7-A6D3-6DA90591CC54}"/>
              </a:ext>
            </a:extLst>
          </p:cNvPr>
          <p:cNvSpPr>
            <a:spLocks noGrp="1"/>
          </p:cNvSpPr>
          <p:nvPr>
            <p:ph idx="1"/>
          </p:nvPr>
        </p:nvSpPr>
        <p:spPr>
          <a:xfrm>
            <a:off x="805543" y="1977335"/>
            <a:ext cx="10634716" cy="4604657"/>
          </a:xfrm>
        </p:spPr>
        <p:txBody>
          <a:bodyPr/>
          <a:lstStyle/>
          <a:p>
            <a:pPr algn="ctr">
              <a:buFont typeface="Arial" panose="020B0604020202020204" pitchFamily="34" charset="0"/>
              <a:buNone/>
            </a:pPr>
            <a:endParaRPr lang="en-US" altLang="en-US" sz="1800" b="1" dirty="0"/>
          </a:p>
          <a:p>
            <a:pPr algn="ctr">
              <a:buFont typeface="Arial" panose="020B0604020202020204" pitchFamily="34" charset="0"/>
              <a:buNone/>
            </a:pPr>
            <a:r>
              <a:rPr lang="en-US" altLang="en-US" sz="4000" b="1" dirty="0"/>
              <a:t>MY PASSWORD</a:t>
            </a:r>
          </a:p>
          <a:p>
            <a:pPr algn="ctr">
              <a:buFont typeface="Arial" panose="020B0604020202020204" pitchFamily="34" charset="0"/>
              <a:buNone/>
            </a:pPr>
            <a:r>
              <a:rPr lang="en-US" altLang="en-US" sz="3200" dirty="0">
                <a:solidFill>
                  <a:srgbClr val="C00000"/>
                </a:solidFill>
              </a:rPr>
              <a:t>nj@66!C</a:t>
            </a:r>
          </a:p>
          <a:p>
            <a:pPr algn="ctr">
              <a:buFont typeface="Arial" panose="020B0604020202020204" pitchFamily="34" charset="0"/>
              <a:buNone/>
            </a:pPr>
            <a:r>
              <a:rPr lang="en-US" altLang="en-US" sz="3200" dirty="0">
                <a:solidFill>
                  <a:schemeClr val="tx1"/>
                </a:solidFill>
              </a:rPr>
              <a:t>SALT: 22</a:t>
            </a:r>
          </a:p>
          <a:p>
            <a:pPr algn="ctr">
              <a:buFont typeface="Arial" panose="020B0604020202020204" pitchFamily="34" charset="0"/>
              <a:buNone/>
            </a:pPr>
            <a:r>
              <a:rPr lang="en-US" altLang="en-US" sz="3200" dirty="0">
                <a:solidFill>
                  <a:srgbClr val="C00000"/>
                </a:solidFill>
              </a:rPr>
              <a:t>Password after salting</a:t>
            </a:r>
          </a:p>
          <a:p>
            <a:pPr algn="ctr">
              <a:buFont typeface="Arial" panose="020B0604020202020204" pitchFamily="34" charset="0"/>
              <a:buNone/>
            </a:pPr>
            <a:r>
              <a:rPr lang="en-US" altLang="en-US" sz="4000" dirty="0">
                <a:solidFill>
                  <a:srgbClr val="C00000"/>
                </a:solidFill>
              </a:rPr>
              <a:t>nj</a:t>
            </a:r>
            <a:r>
              <a:rPr lang="en-US" altLang="en-US" sz="4000" dirty="0">
                <a:solidFill>
                  <a:schemeClr val="tx1"/>
                </a:solidFill>
              </a:rPr>
              <a:t>22</a:t>
            </a:r>
            <a:r>
              <a:rPr lang="en-US" altLang="en-US" sz="4000" dirty="0">
                <a:solidFill>
                  <a:srgbClr val="C00000"/>
                </a:solidFill>
              </a:rPr>
              <a:t>@66!C</a:t>
            </a:r>
          </a:p>
          <a:p>
            <a:endParaRPr lang="en-US" dirty="0"/>
          </a:p>
        </p:txBody>
      </p:sp>
      <p:sp>
        <p:nvSpPr>
          <p:cNvPr id="4" name="Footer Placeholder 3">
            <a:extLst>
              <a:ext uri="{FF2B5EF4-FFF2-40B4-BE49-F238E27FC236}">
                <a16:creationId xmlns:a16="http://schemas.microsoft.com/office/drawing/2014/main" id="{863D9114-D258-E5FA-1F34-9918B6946821}"/>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075918D9-1977-641B-ECDC-DE9DC95F6483}"/>
              </a:ext>
            </a:extLst>
          </p:cNvPr>
          <p:cNvSpPr>
            <a:spLocks noGrp="1"/>
          </p:cNvSpPr>
          <p:nvPr>
            <p:ph type="sldNum" sz="quarter" idx="12"/>
          </p:nvPr>
        </p:nvSpPr>
        <p:spPr/>
        <p:txBody>
          <a:bodyPr/>
          <a:lstStyle/>
          <a:p>
            <a:fld id="{206048C0-C8B7-4832-8A8D-D83BA7A49C27}" type="slidenum">
              <a:rPr lang="en-US" smtClean="0"/>
              <a:pPr/>
              <a:t>62</a:t>
            </a:fld>
            <a:endParaRPr lang="en-US"/>
          </a:p>
        </p:txBody>
      </p:sp>
    </p:spTree>
    <p:extLst>
      <p:ext uri="{BB962C8B-B14F-4D97-AF65-F5344CB8AC3E}">
        <p14:creationId xmlns:p14="http://schemas.microsoft.com/office/powerpoint/2010/main" val="6700140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8D32-29DC-6E05-92B6-E8AD163865FB}"/>
              </a:ext>
            </a:extLst>
          </p:cNvPr>
          <p:cNvSpPr>
            <a:spLocks noGrp="1"/>
          </p:cNvSpPr>
          <p:nvPr>
            <p:ph type="title"/>
          </p:nvPr>
        </p:nvSpPr>
        <p:spPr>
          <a:xfrm>
            <a:off x="677334" y="283030"/>
            <a:ext cx="8596668" cy="1273628"/>
          </a:xfrm>
        </p:spPr>
        <p:txBody>
          <a:bodyPr>
            <a:normAutofit fontScale="90000"/>
          </a:bodyPr>
          <a:lstStyle/>
          <a:p>
            <a:r>
              <a:rPr lang="en-US" b="1" dirty="0"/>
              <a:t>For more security use Encryption and Decryption  </a:t>
            </a:r>
          </a:p>
        </p:txBody>
      </p:sp>
      <p:pic>
        <p:nvPicPr>
          <p:cNvPr id="5124" name="Picture 4" descr="Encryption Vs Decryption">
            <a:extLst>
              <a:ext uri="{FF2B5EF4-FFF2-40B4-BE49-F238E27FC236}">
                <a16:creationId xmlns:a16="http://schemas.microsoft.com/office/drawing/2014/main" id="{95F03707-FE42-495C-7E35-4B5070969D7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02228" y="2242457"/>
            <a:ext cx="7043057" cy="4169229"/>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7CAA8335-104D-B25E-BDA1-AE0F139CDE41}"/>
              </a:ext>
            </a:extLst>
          </p:cNvPr>
          <p:cNvSpPr>
            <a:spLocks noGrp="1"/>
          </p:cNvSpPr>
          <p:nvPr>
            <p:ph type="ftr" sz="quarter" idx="11"/>
          </p:nvPr>
        </p:nvSpPr>
        <p:spPr/>
        <p:txBody>
          <a:bodyPr/>
          <a:lstStyle/>
          <a:p>
            <a:r>
              <a:rPr lang="en-US"/>
              <a:t>Cybercrime and Cyber Security</a:t>
            </a:r>
          </a:p>
        </p:txBody>
      </p:sp>
      <p:sp>
        <p:nvSpPr>
          <p:cNvPr id="4" name="Slide Number Placeholder 3">
            <a:extLst>
              <a:ext uri="{FF2B5EF4-FFF2-40B4-BE49-F238E27FC236}">
                <a16:creationId xmlns:a16="http://schemas.microsoft.com/office/drawing/2014/main" id="{C51F082A-B7A5-91A4-B888-9D87B8E25415}"/>
              </a:ext>
            </a:extLst>
          </p:cNvPr>
          <p:cNvSpPr>
            <a:spLocks noGrp="1"/>
          </p:cNvSpPr>
          <p:nvPr>
            <p:ph type="sldNum" sz="quarter" idx="12"/>
          </p:nvPr>
        </p:nvSpPr>
        <p:spPr/>
        <p:txBody>
          <a:bodyPr/>
          <a:lstStyle/>
          <a:p>
            <a:fld id="{206048C0-C8B7-4832-8A8D-D83BA7A49C27}" type="slidenum">
              <a:rPr lang="en-US" smtClean="0"/>
              <a:pPr/>
              <a:t>63</a:t>
            </a:fld>
            <a:endParaRPr lang="en-US"/>
          </a:p>
        </p:txBody>
      </p:sp>
    </p:spTree>
    <p:extLst>
      <p:ext uri="{BB962C8B-B14F-4D97-AF65-F5344CB8AC3E}">
        <p14:creationId xmlns:p14="http://schemas.microsoft.com/office/powerpoint/2010/main" val="3794846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92264-1175-840E-C591-61F51B4FD2A3}"/>
              </a:ext>
            </a:extLst>
          </p:cNvPr>
          <p:cNvSpPr>
            <a:spLocks noGrp="1"/>
          </p:cNvSpPr>
          <p:nvPr>
            <p:ph type="title"/>
          </p:nvPr>
        </p:nvSpPr>
        <p:spPr>
          <a:xfrm>
            <a:off x="677334" y="609600"/>
            <a:ext cx="8596668" cy="1001486"/>
          </a:xfrm>
        </p:spPr>
        <p:txBody>
          <a:bodyPr>
            <a:normAutofit/>
          </a:bodyPr>
          <a:lstStyle/>
          <a:p>
            <a:r>
              <a:rPr lang="en-US" sz="5400" b="1" dirty="0"/>
              <a:t>No Nudes </a:t>
            </a:r>
          </a:p>
        </p:txBody>
      </p:sp>
      <p:sp>
        <p:nvSpPr>
          <p:cNvPr id="4" name="Footer Placeholder 3">
            <a:extLst>
              <a:ext uri="{FF2B5EF4-FFF2-40B4-BE49-F238E27FC236}">
                <a16:creationId xmlns:a16="http://schemas.microsoft.com/office/drawing/2014/main" id="{ABD7BAA5-690F-2C20-42A8-6EB5EE9DC95C}"/>
              </a:ext>
            </a:extLst>
          </p:cNvPr>
          <p:cNvSpPr>
            <a:spLocks noGrp="1"/>
          </p:cNvSpPr>
          <p:nvPr>
            <p:ph type="ftr" sz="quarter" idx="11"/>
          </p:nvPr>
        </p:nvSpPr>
        <p:spPr/>
        <p:txBody>
          <a:bodyPr/>
          <a:lstStyle/>
          <a:p>
            <a:r>
              <a:rPr lang="en-US"/>
              <a:t>Cybercrime and Cyber Security</a:t>
            </a:r>
          </a:p>
        </p:txBody>
      </p:sp>
      <p:sp>
        <p:nvSpPr>
          <p:cNvPr id="7" name="Slide Number Placeholder 6">
            <a:extLst>
              <a:ext uri="{FF2B5EF4-FFF2-40B4-BE49-F238E27FC236}">
                <a16:creationId xmlns:a16="http://schemas.microsoft.com/office/drawing/2014/main" id="{6940BA18-FDC2-18EA-3727-E60774FD2D3A}"/>
              </a:ext>
            </a:extLst>
          </p:cNvPr>
          <p:cNvSpPr>
            <a:spLocks noGrp="1"/>
          </p:cNvSpPr>
          <p:nvPr>
            <p:ph type="sldNum" sz="quarter" idx="12"/>
          </p:nvPr>
        </p:nvSpPr>
        <p:spPr/>
        <p:txBody>
          <a:bodyPr/>
          <a:lstStyle/>
          <a:p>
            <a:fld id="{206048C0-C8B7-4832-8A8D-D83BA7A49C27}" type="slidenum">
              <a:rPr lang="en-US" smtClean="0"/>
              <a:pPr/>
              <a:t>64</a:t>
            </a:fld>
            <a:endParaRPr lang="en-US"/>
          </a:p>
        </p:txBody>
      </p:sp>
      <p:sp>
        <p:nvSpPr>
          <p:cNvPr id="6" name="TextBox 5">
            <a:extLst>
              <a:ext uri="{FF2B5EF4-FFF2-40B4-BE49-F238E27FC236}">
                <a16:creationId xmlns:a16="http://schemas.microsoft.com/office/drawing/2014/main" id="{5329CEE2-10D2-201C-989F-6D9FEFA0FB6B}"/>
              </a:ext>
            </a:extLst>
          </p:cNvPr>
          <p:cNvSpPr txBox="1"/>
          <p:nvPr/>
        </p:nvSpPr>
        <p:spPr>
          <a:xfrm>
            <a:off x="1045028" y="2307771"/>
            <a:ext cx="2982685" cy="4524315"/>
          </a:xfrm>
          <a:prstGeom prst="rect">
            <a:avLst/>
          </a:prstGeom>
          <a:noFill/>
        </p:spPr>
        <p:txBody>
          <a:bodyPr wrap="square" rtlCol="0">
            <a:spAutoFit/>
          </a:bodyPr>
          <a:lstStyle/>
          <a:p>
            <a:r>
              <a:rPr lang="ne-NP" sz="2400" dirty="0">
                <a:solidFill>
                  <a:srgbClr val="C00000"/>
                </a:solidFill>
              </a:rPr>
              <a:t>कसैलाई पनि (प्रेमि प्रेमिका, श्रीमान श्रीमति</a:t>
            </a:r>
            <a:r>
              <a:rPr lang="ne-NP" sz="2400" dirty="0">
                <a:solidFill>
                  <a:srgbClr val="C00000"/>
                </a:solidFill>
                <a:cs typeface="Kalimati" panose="00000400000000000000" pitchFamily="2"/>
              </a:rPr>
              <a:t>,</a:t>
            </a:r>
            <a:r>
              <a:rPr lang="ne-NP" sz="2400" dirty="0">
                <a:solidFill>
                  <a:srgbClr val="C00000"/>
                </a:solidFill>
              </a:rPr>
              <a:t> नजिकको साथी वा अन्य जोकोहि लाइ आफ्नो नग्न</a:t>
            </a:r>
            <a:r>
              <a:rPr lang="ne-NP" sz="2400" dirty="0">
                <a:solidFill>
                  <a:srgbClr val="C00000"/>
                </a:solidFill>
                <a:cs typeface="Kalimati" panose="00000400000000000000" pitchFamily="2"/>
              </a:rPr>
              <a:t>,</a:t>
            </a:r>
            <a:r>
              <a:rPr lang="ne-NP" sz="2400" dirty="0">
                <a:solidFill>
                  <a:srgbClr val="C00000"/>
                </a:solidFill>
              </a:rPr>
              <a:t> अर्धनग्न वा अरुलाइ देखाउन नमिल्न् तस्विर मेसेन्जर वा ईन्टरनेटमा कुनै पनि हालतमा नपठाउनुहोस </a:t>
            </a:r>
            <a:r>
              <a:rPr lang="ne-NP" sz="2400" dirty="0"/>
              <a:t>।</a:t>
            </a:r>
            <a:endParaRPr lang="en-US" sz="2400" dirty="0"/>
          </a:p>
        </p:txBody>
      </p:sp>
      <p:pic>
        <p:nvPicPr>
          <p:cNvPr id="9218" name="Picture 2" descr="Teaching Girls to Say NO to Nudes | by ...">
            <a:extLst>
              <a:ext uri="{FF2B5EF4-FFF2-40B4-BE49-F238E27FC236}">
                <a16:creationId xmlns:a16="http://schemas.microsoft.com/office/drawing/2014/main" id="{8C1F85B9-54CD-73A2-841D-F4635086A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5687" y="2068286"/>
            <a:ext cx="5225142" cy="4288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2357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8B296-6854-BA93-AEF8-6C01E8A46FA0}"/>
              </a:ext>
            </a:extLst>
          </p:cNvPr>
          <p:cNvSpPr>
            <a:spLocks noGrp="1"/>
          </p:cNvSpPr>
          <p:nvPr>
            <p:ph type="title"/>
          </p:nvPr>
        </p:nvSpPr>
        <p:spPr>
          <a:xfrm>
            <a:off x="677334" y="609600"/>
            <a:ext cx="8596668" cy="478971"/>
          </a:xfrm>
        </p:spPr>
        <p:txBody>
          <a:bodyPr>
            <a:normAutofit fontScale="90000"/>
          </a:bodyPr>
          <a:lstStyle/>
          <a:p>
            <a:r>
              <a:rPr lang="en-US" b="1" dirty="0"/>
              <a:t>Firewall </a:t>
            </a:r>
            <a:r>
              <a:rPr lang="ne-NP" b="1" dirty="0"/>
              <a:t>को प्रयोग गर्नुहोस</a:t>
            </a:r>
            <a:endParaRPr lang="en-US" b="1" dirty="0"/>
          </a:p>
        </p:txBody>
      </p:sp>
      <p:sp>
        <p:nvSpPr>
          <p:cNvPr id="3" name="Content Placeholder 2">
            <a:extLst>
              <a:ext uri="{FF2B5EF4-FFF2-40B4-BE49-F238E27FC236}">
                <a16:creationId xmlns:a16="http://schemas.microsoft.com/office/drawing/2014/main" id="{309F250D-75F1-1D73-37F6-B047B8AB864F}"/>
              </a:ext>
            </a:extLst>
          </p:cNvPr>
          <p:cNvSpPr>
            <a:spLocks noGrp="1"/>
          </p:cNvSpPr>
          <p:nvPr>
            <p:ph idx="1"/>
          </p:nvPr>
        </p:nvSpPr>
        <p:spPr>
          <a:xfrm>
            <a:off x="677333" y="1230087"/>
            <a:ext cx="10926837" cy="4811276"/>
          </a:xfrm>
        </p:spPr>
        <p:txBody>
          <a:bodyPr>
            <a:normAutofit/>
          </a:bodyPr>
          <a:lstStyle/>
          <a:p>
            <a:pPr marL="0" indent="0" eaLnBrk="1" hangingPunct="1">
              <a:buNone/>
            </a:pPr>
            <a:r>
              <a:rPr lang="en-US" altLang="en-US" sz="4000" b="1" dirty="0"/>
              <a:t>Hardware</a:t>
            </a:r>
            <a:r>
              <a:rPr lang="en-US" altLang="en-US" sz="4000" dirty="0"/>
              <a:t>-piece of equipment installed between the network and gateway.</a:t>
            </a:r>
            <a:endParaRPr lang="ne-NP" altLang="en-US" sz="4000" dirty="0"/>
          </a:p>
          <a:p>
            <a:pPr eaLnBrk="1" hangingPunct="1"/>
            <a:endParaRPr lang="en-US" altLang="en-US" sz="4000" dirty="0"/>
          </a:p>
          <a:p>
            <a:pPr marL="0" indent="0">
              <a:buNone/>
            </a:pPr>
            <a:endParaRPr lang="en-US" dirty="0"/>
          </a:p>
        </p:txBody>
      </p:sp>
      <p:sp>
        <p:nvSpPr>
          <p:cNvPr id="5" name="Footer Placeholder 4">
            <a:extLst>
              <a:ext uri="{FF2B5EF4-FFF2-40B4-BE49-F238E27FC236}">
                <a16:creationId xmlns:a16="http://schemas.microsoft.com/office/drawing/2014/main" id="{7DA65F65-C46E-F6F7-CD52-AA71C6B641A9}"/>
              </a:ext>
            </a:extLst>
          </p:cNvPr>
          <p:cNvSpPr>
            <a:spLocks noGrp="1"/>
          </p:cNvSpPr>
          <p:nvPr>
            <p:ph type="ftr" sz="quarter" idx="11"/>
          </p:nvPr>
        </p:nvSpPr>
        <p:spPr/>
        <p:txBody>
          <a:bodyPr/>
          <a:lstStyle/>
          <a:p>
            <a:r>
              <a:rPr lang="en-US"/>
              <a:t>Cybercrime and Cyber Security</a:t>
            </a:r>
          </a:p>
        </p:txBody>
      </p:sp>
      <p:sp>
        <p:nvSpPr>
          <p:cNvPr id="6" name="Slide Number Placeholder 5">
            <a:extLst>
              <a:ext uri="{FF2B5EF4-FFF2-40B4-BE49-F238E27FC236}">
                <a16:creationId xmlns:a16="http://schemas.microsoft.com/office/drawing/2014/main" id="{45A84340-F5D9-B019-B879-26C25F4A6934}"/>
              </a:ext>
            </a:extLst>
          </p:cNvPr>
          <p:cNvSpPr>
            <a:spLocks noGrp="1"/>
          </p:cNvSpPr>
          <p:nvPr>
            <p:ph type="sldNum" sz="quarter" idx="12"/>
          </p:nvPr>
        </p:nvSpPr>
        <p:spPr/>
        <p:txBody>
          <a:bodyPr/>
          <a:lstStyle/>
          <a:p>
            <a:fld id="{206048C0-C8B7-4832-8A8D-D83BA7A49C27}" type="slidenum">
              <a:rPr lang="en-US" smtClean="0"/>
              <a:pPr/>
              <a:t>65</a:t>
            </a:fld>
            <a:endParaRPr lang="en-US"/>
          </a:p>
        </p:txBody>
      </p:sp>
      <p:pic>
        <p:nvPicPr>
          <p:cNvPr id="4" name="Picture 2">
            <a:extLst>
              <a:ext uri="{FF2B5EF4-FFF2-40B4-BE49-F238E27FC236}">
                <a16:creationId xmlns:a16="http://schemas.microsoft.com/office/drawing/2014/main" id="{9907591A-9D35-028A-E366-88844486D2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028" y="2775650"/>
            <a:ext cx="7445375" cy="324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4843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3A3841-9CDC-5BB6-DFEE-F603561084E9}"/>
              </a:ext>
            </a:extLst>
          </p:cNvPr>
          <p:cNvSpPr>
            <a:spLocks noGrp="1"/>
          </p:cNvSpPr>
          <p:nvPr>
            <p:ph idx="1"/>
          </p:nvPr>
        </p:nvSpPr>
        <p:spPr>
          <a:xfrm>
            <a:off x="677334" y="664029"/>
            <a:ext cx="10752666" cy="5917963"/>
          </a:xfrm>
        </p:spPr>
        <p:txBody>
          <a:bodyPr/>
          <a:lstStyle/>
          <a:p>
            <a:pPr marL="0" indent="0">
              <a:buNone/>
            </a:pPr>
            <a:r>
              <a:rPr lang="en-US" altLang="en-US" sz="3200" b="1" dirty="0"/>
              <a:t>Software</a:t>
            </a:r>
            <a:r>
              <a:rPr lang="en-US" altLang="en-US" sz="3200" dirty="0"/>
              <a:t>-program installed on each computer and regulates traffic through port numbers and applications.</a:t>
            </a:r>
            <a:endParaRPr lang="ne-NP" altLang="en-US" sz="3200" dirty="0"/>
          </a:p>
          <a:p>
            <a:endParaRPr lang="en-US" altLang="en-US" sz="1800" dirty="0"/>
          </a:p>
          <a:p>
            <a:endParaRPr lang="en-US" dirty="0"/>
          </a:p>
        </p:txBody>
      </p:sp>
      <p:sp>
        <p:nvSpPr>
          <p:cNvPr id="5" name="Footer Placeholder 4">
            <a:extLst>
              <a:ext uri="{FF2B5EF4-FFF2-40B4-BE49-F238E27FC236}">
                <a16:creationId xmlns:a16="http://schemas.microsoft.com/office/drawing/2014/main" id="{6172495C-68BB-DF40-7947-7480F1138445}"/>
              </a:ext>
            </a:extLst>
          </p:cNvPr>
          <p:cNvSpPr>
            <a:spLocks noGrp="1"/>
          </p:cNvSpPr>
          <p:nvPr>
            <p:ph type="ftr" sz="quarter" idx="11"/>
          </p:nvPr>
        </p:nvSpPr>
        <p:spPr/>
        <p:txBody>
          <a:bodyPr/>
          <a:lstStyle/>
          <a:p>
            <a:r>
              <a:rPr lang="en-US"/>
              <a:t>Cybercrime and Cyber Security</a:t>
            </a:r>
          </a:p>
        </p:txBody>
      </p:sp>
      <p:sp>
        <p:nvSpPr>
          <p:cNvPr id="6" name="Slide Number Placeholder 5">
            <a:extLst>
              <a:ext uri="{FF2B5EF4-FFF2-40B4-BE49-F238E27FC236}">
                <a16:creationId xmlns:a16="http://schemas.microsoft.com/office/drawing/2014/main" id="{E9DF416F-3263-034D-E715-19563BD5F1BB}"/>
              </a:ext>
            </a:extLst>
          </p:cNvPr>
          <p:cNvSpPr>
            <a:spLocks noGrp="1"/>
          </p:cNvSpPr>
          <p:nvPr>
            <p:ph type="sldNum" sz="quarter" idx="12"/>
          </p:nvPr>
        </p:nvSpPr>
        <p:spPr/>
        <p:txBody>
          <a:bodyPr/>
          <a:lstStyle/>
          <a:p>
            <a:fld id="{206048C0-C8B7-4832-8A8D-D83BA7A49C27}" type="slidenum">
              <a:rPr lang="en-US" smtClean="0"/>
              <a:pPr/>
              <a:t>66</a:t>
            </a:fld>
            <a:endParaRPr lang="en-US"/>
          </a:p>
        </p:txBody>
      </p:sp>
      <p:pic>
        <p:nvPicPr>
          <p:cNvPr id="4" name="Picture 2">
            <a:extLst>
              <a:ext uri="{FF2B5EF4-FFF2-40B4-BE49-F238E27FC236}">
                <a16:creationId xmlns:a16="http://schemas.microsoft.com/office/drawing/2014/main" id="{AF936631-C859-2708-CDA5-D55438A58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1317" y="2460171"/>
            <a:ext cx="7124700" cy="355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05140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E786B-5024-CB33-04C4-B4BFD4551A67}"/>
              </a:ext>
            </a:extLst>
          </p:cNvPr>
          <p:cNvSpPr>
            <a:spLocks noGrp="1"/>
          </p:cNvSpPr>
          <p:nvPr>
            <p:ph type="title"/>
          </p:nvPr>
        </p:nvSpPr>
        <p:spPr/>
        <p:txBody>
          <a:bodyPr>
            <a:normAutofit fontScale="90000"/>
          </a:bodyPr>
          <a:lstStyle/>
          <a:p>
            <a:r>
              <a:rPr lang="ne-NP" dirty="0"/>
              <a:t>तापाइलाइ </a:t>
            </a:r>
            <a:r>
              <a:rPr lang="en-US" dirty="0"/>
              <a:t>google </a:t>
            </a:r>
            <a:r>
              <a:rPr lang="ne-NP" dirty="0"/>
              <a:t>ले पछ्याइरहेको कुरा थाहा पाइ राख्नुहोस ।</a:t>
            </a:r>
            <a:endParaRPr lang="en-US" dirty="0"/>
          </a:p>
        </p:txBody>
      </p:sp>
      <p:pic>
        <p:nvPicPr>
          <p:cNvPr id="4" name="Picture 1" descr="c38dcfd0-8536-4d06-9297-22b63ff14c72.jpg">
            <a:extLst>
              <a:ext uri="{FF2B5EF4-FFF2-40B4-BE49-F238E27FC236}">
                <a16:creationId xmlns:a16="http://schemas.microsoft.com/office/drawing/2014/main" id="{4DA2FA93-4D08-B4DB-AB8F-D7F9A49AC0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7170" y="2160588"/>
            <a:ext cx="7761515"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A02AFC4C-84C4-E7E9-B8DD-90E0527883A8}"/>
              </a:ext>
            </a:extLst>
          </p:cNvPr>
          <p:cNvSpPr>
            <a:spLocks noGrp="1"/>
          </p:cNvSpPr>
          <p:nvPr>
            <p:ph type="ftr" sz="quarter" idx="11"/>
          </p:nvPr>
        </p:nvSpPr>
        <p:spPr/>
        <p:txBody>
          <a:bodyPr/>
          <a:lstStyle/>
          <a:p>
            <a:r>
              <a:rPr lang="en-US"/>
              <a:t>Cybercrime and Cyber Security</a:t>
            </a:r>
          </a:p>
        </p:txBody>
      </p:sp>
      <p:sp>
        <p:nvSpPr>
          <p:cNvPr id="6" name="Slide Number Placeholder 5">
            <a:extLst>
              <a:ext uri="{FF2B5EF4-FFF2-40B4-BE49-F238E27FC236}">
                <a16:creationId xmlns:a16="http://schemas.microsoft.com/office/drawing/2014/main" id="{0040C558-8A4E-F480-0874-70EA8BE0A43D}"/>
              </a:ext>
            </a:extLst>
          </p:cNvPr>
          <p:cNvSpPr>
            <a:spLocks noGrp="1"/>
          </p:cNvSpPr>
          <p:nvPr>
            <p:ph type="sldNum" sz="quarter" idx="12"/>
          </p:nvPr>
        </p:nvSpPr>
        <p:spPr/>
        <p:txBody>
          <a:bodyPr/>
          <a:lstStyle/>
          <a:p>
            <a:fld id="{206048C0-C8B7-4832-8A8D-D83BA7A49C27}" type="slidenum">
              <a:rPr lang="en-US" smtClean="0"/>
              <a:pPr/>
              <a:t>67</a:t>
            </a:fld>
            <a:endParaRPr lang="en-US"/>
          </a:p>
        </p:txBody>
      </p:sp>
    </p:spTree>
    <p:extLst>
      <p:ext uri="{BB962C8B-B14F-4D97-AF65-F5344CB8AC3E}">
        <p14:creationId xmlns:p14="http://schemas.microsoft.com/office/powerpoint/2010/main" val="18737050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2AC61-74AA-3FBB-9D4D-1CC84EDCF7D1}"/>
              </a:ext>
            </a:extLst>
          </p:cNvPr>
          <p:cNvSpPr>
            <a:spLocks noGrp="1"/>
          </p:cNvSpPr>
          <p:nvPr>
            <p:ph type="title"/>
          </p:nvPr>
        </p:nvSpPr>
        <p:spPr/>
        <p:txBody>
          <a:bodyPr>
            <a:normAutofit/>
          </a:bodyPr>
          <a:lstStyle/>
          <a:p>
            <a:r>
              <a:rPr lang="en-US" sz="4800" dirty="0"/>
              <a:t>Use of Digital Signature</a:t>
            </a:r>
          </a:p>
        </p:txBody>
      </p:sp>
      <p:pic>
        <p:nvPicPr>
          <p:cNvPr id="1026" name="Picture 2" descr="What is Digital Signature and How It Works?">
            <a:extLst>
              <a:ext uri="{FF2B5EF4-FFF2-40B4-BE49-F238E27FC236}">
                <a16:creationId xmlns:a16="http://schemas.microsoft.com/office/drawing/2014/main" id="{3B146987-F8A9-53B8-4E7B-0E8237E382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2886" y="1930400"/>
            <a:ext cx="8262257" cy="3251200"/>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0FC5808D-7CDD-B132-E295-EE874BE2985B}"/>
              </a:ext>
            </a:extLst>
          </p:cNvPr>
          <p:cNvSpPr>
            <a:spLocks noGrp="1"/>
          </p:cNvSpPr>
          <p:nvPr>
            <p:ph type="ftr" sz="quarter" idx="11"/>
          </p:nvPr>
        </p:nvSpPr>
        <p:spPr/>
        <p:txBody>
          <a:bodyPr/>
          <a:lstStyle/>
          <a:p>
            <a:r>
              <a:rPr lang="en-US"/>
              <a:t>Cybercrime and Cyber Security</a:t>
            </a:r>
          </a:p>
        </p:txBody>
      </p:sp>
      <p:sp>
        <p:nvSpPr>
          <p:cNvPr id="7" name="Slide Number Placeholder 6">
            <a:extLst>
              <a:ext uri="{FF2B5EF4-FFF2-40B4-BE49-F238E27FC236}">
                <a16:creationId xmlns:a16="http://schemas.microsoft.com/office/drawing/2014/main" id="{174F38B2-E5F5-3CC7-A08D-92ED5760A17D}"/>
              </a:ext>
            </a:extLst>
          </p:cNvPr>
          <p:cNvSpPr>
            <a:spLocks noGrp="1"/>
          </p:cNvSpPr>
          <p:nvPr>
            <p:ph type="sldNum" sz="quarter" idx="12"/>
          </p:nvPr>
        </p:nvSpPr>
        <p:spPr/>
        <p:txBody>
          <a:bodyPr/>
          <a:lstStyle/>
          <a:p>
            <a:fld id="{206048C0-C8B7-4832-8A8D-D83BA7A49C27}" type="slidenum">
              <a:rPr lang="en-US" smtClean="0"/>
              <a:pPr/>
              <a:t>68</a:t>
            </a:fld>
            <a:endParaRPr lang="en-US"/>
          </a:p>
        </p:txBody>
      </p:sp>
      <p:sp>
        <p:nvSpPr>
          <p:cNvPr id="4" name="TextBox 3">
            <a:extLst>
              <a:ext uri="{FF2B5EF4-FFF2-40B4-BE49-F238E27FC236}">
                <a16:creationId xmlns:a16="http://schemas.microsoft.com/office/drawing/2014/main" id="{4884BF2B-E2CE-4A76-8D12-A15CF2E19CE1}"/>
              </a:ext>
            </a:extLst>
          </p:cNvPr>
          <p:cNvSpPr txBox="1"/>
          <p:nvPr/>
        </p:nvSpPr>
        <p:spPr>
          <a:xfrm>
            <a:off x="1088571" y="5921829"/>
            <a:ext cx="7326086" cy="1200329"/>
          </a:xfrm>
          <a:prstGeom prst="rect">
            <a:avLst/>
          </a:prstGeom>
          <a:noFill/>
        </p:spPr>
        <p:txBody>
          <a:bodyPr wrap="square" rtlCol="0">
            <a:spAutoFit/>
          </a:bodyPr>
          <a:lstStyle/>
          <a:p>
            <a:r>
              <a:rPr lang="en-GB" sz="2400" b="0" i="0" dirty="0">
                <a:solidFill>
                  <a:srgbClr val="001D35"/>
                </a:solidFill>
                <a:effectLst/>
                <a:latin typeface="Google Sans"/>
              </a:rPr>
              <a:t>Authentication/</a:t>
            </a:r>
            <a:r>
              <a:rPr lang="en-GB" sz="2400" dirty="0">
                <a:solidFill>
                  <a:srgbClr val="001D35"/>
                </a:solidFill>
                <a:latin typeface="Google Sans"/>
              </a:rPr>
              <a:t>confidentiality/</a:t>
            </a:r>
            <a:r>
              <a:rPr lang="en-GB" sz="2400" b="0" i="0" dirty="0">
                <a:solidFill>
                  <a:srgbClr val="001D35"/>
                </a:solidFill>
                <a:effectLst/>
                <a:latin typeface="Google Sans"/>
              </a:rPr>
              <a:t>non-repudiation</a:t>
            </a:r>
          </a:p>
          <a:p>
            <a:r>
              <a:rPr lang="ne-NP" sz="2400" dirty="0">
                <a:solidFill>
                  <a:srgbClr val="001D35"/>
                </a:solidFill>
                <a:latin typeface="Google Sans"/>
              </a:rPr>
              <a:t>आधिकारिकता</a:t>
            </a:r>
            <a:r>
              <a:rPr lang="en-US" sz="2400" b="0" i="0" dirty="0">
                <a:solidFill>
                  <a:srgbClr val="001D35"/>
                </a:solidFill>
                <a:effectLst/>
                <a:latin typeface="Google Sans"/>
              </a:rPr>
              <a:t>/</a:t>
            </a:r>
            <a:r>
              <a:rPr lang="ne-NP" sz="2400" b="0" i="0" dirty="0">
                <a:solidFill>
                  <a:srgbClr val="001D35"/>
                </a:solidFill>
                <a:effectLst/>
                <a:latin typeface="Google Sans"/>
              </a:rPr>
              <a:t>गोपनियता</a:t>
            </a:r>
            <a:r>
              <a:rPr lang="en-US" sz="2400" b="0" i="0" dirty="0">
                <a:solidFill>
                  <a:srgbClr val="001D35"/>
                </a:solidFill>
                <a:effectLst/>
                <a:latin typeface="Google Sans"/>
              </a:rPr>
              <a:t>/</a:t>
            </a:r>
            <a:r>
              <a:rPr lang="ne-NP" sz="2400" dirty="0">
                <a:solidFill>
                  <a:srgbClr val="001D35"/>
                </a:solidFill>
                <a:latin typeface="Google Sans"/>
              </a:rPr>
              <a:t>अखण्डता</a:t>
            </a:r>
            <a:endParaRPr lang="en-GB" sz="2400" b="0" i="0" dirty="0">
              <a:solidFill>
                <a:srgbClr val="001D35"/>
              </a:solidFill>
              <a:effectLst/>
              <a:latin typeface="Google Sans"/>
            </a:endParaRPr>
          </a:p>
          <a:p>
            <a:endParaRPr lang="en-US" sz="2400" dirty="0"/>
          </a:p>
        </p:txBody>
      </p:sp>
    </p:spTree>
    <p:extLst>
      <p:ext uri="{BB962C8B-B14F-4D97-AF65-F5344CB8AC3E}">
        <p14:creationId xmlns:p14="http://schemas.microsoft.com/office/powerpoint/2010/main" val="12798706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B65A-EFA0-2D28-4FA1-24CD7CE542EB}"/>
              </a:ext>
            </a:extLst>
          </p:cNvPr>
          <p:cNvSpPr>
            <a:spLocks noGrp="1"/>
          </p:cNvSpPr>
          <p:nvPr>
            <p:ph type="title"/>
          </p:nvPr>
        </p:nvSpPr>
        <p:spPr/>
        <p:txBody>
          <a:bodyPr/>
          <a:lstStyle/>
          <a:p>
            <a:r>
              <a:rPr lang="en-US" dirty="0"/>
              <a:t>How the hash function works?</a:t>
            </a:r>
          </a:p>
        </p:txBody>
      </p:sp>
      <p:pic>
        <p:nvPicPr>
          <p:cNvPr id="4" name="Content Placeholder 4">
            <a:extLst>
              <a:ext uri="{FF2B5EF4-FFF2-40B4-BE49-F238E27FC236}">
                <a16:creationId xmlns:a16="http://schemas.microsoft.com/office/drawing/2014/main" id="{B7CE1661-B77D-9B89-6C8F-DE1999E2A0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2629" y="2275114"/>
            <a:ext cx="8381373" cy="3744686"/>
          </a:xfrm>
        </p:spPr>
      </p:pic>
      <p:sp>
        <p:nvSpPr>
          <p:cNvPr id="5" name="Footer Placeholder 4">
            <a:extLst>
              <a:ext uri="{FF2B5EF4-FFF2-40B4-BE49-F238E27FC236}">
                <a16:creationId xmlns:a16="http://schemas.microsoft.com/office/drawing/2014/main" id="{3A7DA762-04F8-DB79-D766-A553C23E05D5}"/>
              </a:ext>
            </a:extLst>
          </p:cNvPr>
          <p:cNvSpPr>
            <a:spLocks noGrp="1"/>
          </p:cNvSpPr>
          <p:nvPr>
            <p:ph type="ftr" sz="quarter" idx="11"/>
          </p:nvPr>
        </p:nvSpPr>
        <p:spPr/>
        <p:txBody>
          <a:bodyPr/>
          <a:lstStyle/>
          <a:p>
            <a:r>
              <a:rPr lang="en-US"/>
              <a:t>Cybercrime and Cyber Security</a:t>
            </a:r>
          </a:p>
        </p:txBody>
      </p:sp>
      <p:sp>
        <p:nvSpPr>
          <p:cNvPr id="6" name="Slide Number Placeholder 5">
            <a:extLst>
              <a:ext uri="{FF2B5EF4-FFF2-40B4-BE49-F238E27FC236}">
                <a16:creationId xmlns:a16="http://schemas.microsoft.com/office/drawing/2014/main" id="{4B85104B-CD9E-E58E-EB8E-FF527CF05C75}"/>
              </a:ext>
            </a:extLst>
          </p:cNvPr>
          <p:cNvSpPr>
            <a:spLocks noGrp="1"/>
          </p:cNvSpPr>
          <p:nvPr>
            <p:ph type="sldNum" sz="quarter" idx="12"/>
          </p:nvPr>
        </p:nvSpPr>
        <p:spPr/>
        <p:txBody>
          <a:bodyPr/>
          <a:lstStyle/>
          <a:p>
            <a:fld id="{206048C0-C8B7-4832-8A8D-D83BA7A49C27}" type="slidenum">
              <a:rPr lang="en-US" smtClean="0"/>
              <a:pPr/>
              <a:t>69</a:t>
            </a:fld>
            <a:endParaRPr lang="en-US"/>
          </a:p>
        </p:txBody>
      </p:sp>
    </p:spTree>
    <p:extLst>
      <p:ext uri="{BB962C8B-B14F-4D97-AF65-F5344CB8AC3E}">
        <p14:creationId xmlns:p14="http://schemas.microsoft.com/office/powerpoint/2010/main" val="1126976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81D75-2C52-1AFA-3872-2267704EBC92}"/>
              </a:ext>
            </a:extLst>
          </p:cNvPr>
          <p:cNvSpPr>
            <a:spLocks noGrp="1"/>
          </p:cNvSpPr>
          <p:nvPr>
            <p:ph type="title"/>
          </p:nvPr>
        </p:nvSpPr>
        <p:spPr/>
        <p:txBody>
          <a:bodyPr>
            <a:normAutofit fontScale="90000"/>
          </a:bodyPr>
          <a:lstStyle/>
          <a:p>
            <a:r>
              <a:rPr lang="ne-NP" dirty="0"/>
              <a:t>तपाइको </a:t>
            </a:r>
            <a:r>
              <a:rPr lang="en-US" dirty="0"/>
              <a:t>Digital Footprint </a:t>
            </a:r>
            <a:r>
              <a:rPr lang="ne-NP" dirty="0"/>
              <a:t>तयार भइराखेको हुन्छ यो कुरा थाहापाइ राख्नुहोस र सजग हुनुहोस</a:t>
            </a:r>
            <a:endParaRPr lang="en-US" dirty="0"/>
          </a:p>
        </p:txBody>
      </p:sp>
      <p:pic>
        <p:nvPicPr>
          <p:cNvPr id="5122" name="Picture 2" descr="My Digital Footprint Lifetime - Pc Help ...">
            <a:extLst>
              <a:ext uri="{FF2B5EF4-FFF2-40B4-BE49-F238E27FC236}">
                <a16:creationId xmlns:a16="http://schemas.microsoft.com/office/drawing/2014/main" id="{E5D82014-C00C-DD5A-19B3-1E0932C76E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04114" y="1930400"/>
            <a:ext cx="2960801" cy="373017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C0DBFA90-6E75-A6F9-07B4-311169CACD27}"/>
              </a:ext>
            </a:extLst>
          </p:cNvPr>
          <p:cNvSpPr>
            <a:spLocks noGrp="1"/>
          </p:cNvSpPr>
          <p:nvPr>
            <p:ph type="ftr" sz="quarter" idx="11"/>
          </p:nvPr>
        </p:nvSpPr>
        <p:spPr/>
        <p:txBody>
          <a:bodyPr/>
          <a:lstStyle/>
          <a:p>
            <a:r>
              <a:rPr lang="en-US"/>
              <a:t>Cybercrime and Cyber Security</a:t>
            </a:r>
          </a:p>
        </p:txBody>
      </p:sp>
      <p:sp>
        <p:nvSpPr>
          <p:cNvPr id="7" name="Slide Number Placeholder 6">
            <a:extLst>
              <a:ext uri="{FF2B5EF4-FFF2-40B4-BE49-F238E27FC236}">
                <a16:creationId xmlns:a16="http://schemas.microsoft.com/office/drawing/2014/main" id="{3A870002-3D8D-BB92-6296-4A8E56C7C0CE}"/>
              </a:ext>
            </a:extLst>
          </p:cNvPr>
          <p:cNvSpPr>
            <a:spLocks noGrp="1"/>
          </p:cNvSpPr>
          <p:nvPr>
            <p:ph type="sldNum" sz="quarter" idx="12"/>
          </p:nvPr>
        </p:nvSpPr>
        <p:spPr/>
        <p:txBody>
          <a:bodyPr/>
          <a:lstStyle/>
          <a:p>
            <a:fld id="{206048C0-C8B7-4832-8A8D-D83BA7A49C27}" type="slidenum">
              <a:rPr lang="en-US" smtClean="0"/>
              <a:pPr/>
              <a:t>70</a:t>
            </a:fld>
            <a:endParaRPr lang="en-US"/>
          </a:p>
        </p:txBody>
      </p:sp>
      <p:sp>
        <p:nvSpPr>
          <p:cNvPr id="5" name="TextBox 4">
            <a:extLst>
              <a:ext uri="{FF2B5EF4-FFF2-40B4-BE49-F238E27FC236}">
                <a16:creationId xmlns:a16="http://schemas.microsoft.com/office/drawing/2014/main" id="{6DA98164-4912-289D-F98B-425FAF5CDC75}"/>
              </a:ext>
            </a:extLst>
          </p:cNvPr>
          <p:cNvSpPr txBox="1"/>
          <p:nvPr/>
        </p:nvSpPr>
        <p:spPr>
          <a:xfrm>
            <a:off x="903514" y="2481943"/>
            <a:ext cx="4648200" cy="4031873"/>
          </a:xfrm>
          <a:prstGeom prst="rect">
            <a:avLst/>
          </a:prstGeom>
          <a:noFill/>
        </p:spPr>
        <p:txBody>
          <a:bodyPr wrap="square" rtlCol="0">
            <a:spAutoFit/>
          </a:bodyPr>
          <a:lstStyle/>
          <a:p>
            <a:r>
              <a:rPr lang="ne-NP" sz="3200" dirty="0">
                <a:solidFill>
                  <a:srgbClr val="C00000"/>
                </a:solidFill>
              </a:rPr>
              <a:t>इन्टरनेटमा एक पटक राखिएको कुरा पुर्ण रुपमा हटाउन असम्भव छ त्यसैले इन्टरनेट सामाजिक सञ्जाल तथा मेसेन्जरमा राखेको कुरा कुनैपनि वेला सार्वजनिक हुन सक्छ त्यस कुरामा ख्याल राख्नुहोस ।</a:t>
            </a:r>
            <a:endParaRPr lang="en-US" sz="3200" dirty="0">
              <a:solidFill>
                <a:srgbClr val="C00000"/>
              </a:solidFill>
            </a:endParaRPr>
          </a:p>
        </p:txBody>
      </p:sp>
    </p:spTree>
    <p:extLst>
      <p:ext uri="{BB962C8B-B14F-4D97-AF65-F5344CB8AC3E}">
        <p14:creationId xmlns:p14="http://schemas.microsoft.com/office/powerpoint/2010/main" val="20582842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227C3-D725-8E7B-EB80-B1E91AB84098}"/>
              </a:ext>
            </a:extLst>
          </p:cNvPr>
          <p:cNvSpPr>
            <a:spLocks noGrp="1"/>
          </p:cNvSpPr>
          <p:nvPr>
            <p:ph type="title"/>
          </p:nvPr>
        </p:nvSpPr>
        <p:spPr>
          <a:xfrm>
            <a:off x="1066800" y="642594"/>
            <a:ext cx="10058400" cy="421826"/>
          </a:xfrm>
        </p:spPr>
        <p:txBody>
          <a:bodyPr>
            <a:normAutofit fontScale="90000"/>
          </a:bodyPr>
          <a:lstStyle/>
          <a:p>
            <a:r>
              <a:rPr lang="ne-NP" b="1" dirty="0"/>
              <a:t>फ्रि वाइफाइको प्रयोगमा सजगता राख्नुहोस</a:t>
            </a:r>
            <a:endParaRPr lang="en-US" b="1" dirty="0"/>
          </a:p>
        </p:txBody>
      </p:sp>
      <p:pic>
        <p:nvPicPr>
          <p:cNvPr id="6146" name="Picture 2" descr="पब्लिक वाइफाइ प्रयोग गर्नुहुन्छ भने यी कुरा जान्नुहोस्, नत्र हुनेछ नोक्सानी  - Technology Khabar">
            <a:extLst>
              <a:ext uri="{FF2B5EF4-FFF2-40B4-BE49-F238E27FC236}">
                <a16:creationId xmlns:a16="http://schemas.microsoft.com/office/drawing/2014/main" id="{84A5450C-C438-5622-E9F9-70A13C6AF9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353425" y="3169975"/>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9737B3AD-3562-B4D5-72A3-EB40F2F9C787}"/>
              </a:ext>
            </a:extLst>
          </p:cNvPr>
          <p:cNvSpPr>
            <a:spLocks noGrp="1"/>
          </p:cNvSpPr>
          <p:nvPr>
            <p:ph type="ftr" sz="quarter" idx="11"/>
          </p:nvPr>
        </p:nvSpPr>
        <p:spPr/>
        <p:txBody>
          <a:bodyPr/>
          <a:lstStyle/>
          <a:p>
            <a:r>
              <a:rPr lang="en-US" dirty="0"/>
              <a:t>Cybercrime and Cyber Security</a:t>
            </a:r>
          </a:p>
        </p:txBody>
      </p:sp>
      <p:sp>
        <p:nvSpPr>
          <p:cNvPr id="8" name="Slide Number Placeholder 7">
            <a:extLst>
              <a:ext uri="{FF2B5EF4-FFF2-40B4-BE49-F238E27FC236}">
                <a16:creationId xmlns:a16="http://schemas.microsoft.com/office/drawing/2014/main" id="{D44E0784-439F-9621-567B-020633F2D8C6}"/>
              </a:ext>
            </a:extLst>
          </p:cNvPr>
          <p:cNvSpPr>
            <a:spLocks noGrp="1"/>
          </p:cNvSpPr>
          <p:nvPr>
            <p:ph type="sldNum" sz="quarter" idx="12"/>
          </p:nvPr>
        </p:nvSpPr>
        <p:spPr/>
        <p:txBody>
          <a:bodyPr/>
          <a:lstStyle/>
          <a:p>
            <a:fld id="{206048C0-C8B7-4832-8A8D-D83BA7A49C27}" type="slidenum">
              <a:rPr lang="en-US" smtClean="0"/>
              <a:pPr/>
              <a:t>71</a:t>
            </a:fld>
            <a:endParaRPr lang="en-US"/>
          </a:p>
        </p:txBody>
      </p:sp>
      <p:sp>
        <p:nvSpPr>
          <p:cNvPr id="4" name="TextBox 3">
            <a:extLst>
              <a:ext uri="{FF2B5EF4-FFF2-40B4-BE49-F238E27FC236}">
                <a16:creationId xmlns:a16="http://schemas.microsoft.com/office/drawing/2014/main" id="{6AA0898F-D960-1D21-EB3A-66C0AB16E224}"/>
              </a:ext>
            </a:extLst>
          </p:cNvPr>
          <p:cNvSpPr txBox="1"/>
          <p:nvPr/>
        </p:nvSpPr>
        <p:spPr>
          <a:xfrm>
            <a:off x="587829" y="2939143"/>
            <a:ext cx="3951514" cy="461665"/>
          </a:xfrm>
          <a:prstGeom prst="rect">
            <a:avLst/>
          </a:prstGeom>
          <a:noFill/>
        </p:spPr>
        <p:txBody>
          <a:bodyPr wrap="square" rtlCol="0">
            <a:spAutoFit/>
          </a:bodyPr>
          <a:lstStyle/>
          <a:p>
            <a:endParaRPr lang="en-US" sz="2400" dirty="0">
              <a:solidFill>
                <a:srgbClr val="C00000"/>
              </a:solidFill>
            </a:endParaRPr>
          </a:p>
        </p:txBody>
      </p:sp>
      <p:sp>
        <p:nvSpPr>
          <p:cNvPr id="6" name="TextBox 5">
            <a:extLst>
              <a:ext uri="{FF2B5EF4-FFF2-40B4-BE49-F238E27FC236}">
                <a16:creationId xmlns:a16="http://schemas.microsoft.com/office/drawing/2014/main" id="{78EC5593-5DC2-896D-99EF-52CCEB8A964D}"/>
              </a:ext>
            </a:extLst>
          </p:cNvPr>
          <p:cNvSpPr txBox="1"/>
          <p:nvPr/>
        </p:nvSpPr>
        <p:spPr>
          <a:xfrm>
            <a:off x="358263" y="1270000"/>
            <a:ext cx="7664507" cy="5016758"/>
          </a:xfrm>
          <a:prstGeom prst="rect">
            <a:avLst/>
          </a:prstGeom>
          <a:noFill/>
        </p:spPr>
        <p:txBody>
          <a:bodyPr wrap="square">
            <a:spAutoFit/>
          </a:bodyPr>
          <a:lstStyle/>
          <a:p>
            <a:r>
              <a:rPr lang="ne-NP" sz="4000" dirty="0">
                <a:solidFill>
                  <a:srgbClr val="C00000"/>
                </a:solidFill>
              </a:rPr>
              <a:t>सार्वजनिक </a:t>
            </a:r>
            <a:r>
              <a:rPr lang="en-US" sz="4000" dirty="0">
                <a:solidFill>
                  <a:srgbClr val="C00000"/>
                </a:solidFill>
              </a:rPr>
              <a:t>wi-fi </a:t>
            </a:r>
            <a:r>
              <a:rPr lang="ne-NP" sz="4000" dirty="0">
                <a:solidFill>
                  <a:srgbClr val="C00000"/>
                </a:solidFill>
              </a:rPr>
              <a:t>बाट तपाइको ब्यक्तिगत तथ्याङ्क गोपनियता तथा अन्य जानकारी हरु भङ्ग हुन सक्दछ । त्यसैले सकेसम्म </a:t>
            </a:r>
            <a:r>
              <a:rPr lang="en-US" sz="4000" dirty="0">
                <a:solidFill>
                  <a:srgbClr val="C00000"/>
                </a:solidFill>
              </a:rPr>
              <a:t>free wi-fi </a:t>
            </a:r>
            <a:r>
              <a:rPr lang="ne-NP" sz="4000" dirty="0">
                <a:solidFill>
                  <a:srgbClr val="C00000"/>
                </a:solidFill>
              </a:rPr>
              <a:t>को प्रयोग नगर्नुहोस र गर्नै परे पनि आर्थिक कारोवार गर्न र अन्य महत्वपूर्ण सुचनाको स्रोतहरु प्रयोजनार्थ यसको प्रयोग नगर्नुहोस ।</a:t>
            </a:r>
            <a:endParaRPr lang="en-US" sz="4000" dirty="0">
              <a:solidFill>
                <a:srgbClr val="C00000"/>
              </a:solidFill>
            </a:endParaRPr>
          </a:p>
        </p:txBody>
      </p:sp>
    </p:spTree>
    <p:extLst>
      <p:ext uri="{BB962C8B-B14F-4D97-AF65-F5344CB8AC3E}">
        <p14:creationId xmlns:p14="http://schemas.microsoft.com/office/powerpoint/2010/main" val="34711631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8C49-7A85-F2B6-9DA6-A85301818F33}"/>
              </a:ext>
            </a:extLst>
          </p:cNvPr>
          <p:cNvSpPr>
            <a:spLocks noGrp="1"/>
          </p:cNvSpPr>
          <p:nvPr>
            <p:ph type="title"/>
          </p:nvPr>
        </p:nvSpPr>
        <p:spPr/>
        <p:txBody>
          <a:bodyPr>
            <a:normAutofit fontScale="90000"/>
          </a:bodyPr>
          <a:lstStyle/>
          <a:p>
            <a:r>
              <a:rPr lang="en-US" sz="6700" b="1" i="0" dirty="0">
                <a:solidFill>
                  <a:srgbClr val="1F1F1F"/>
                </a:solidFill>
                <a:effectLst/>
                <a:latin typeface="Google Sans"/>
              </a:rPr>
              <a:t>Browse in Incognito mode</a:t>
            </a:r>
            <a:br>
              <a:rPr lang="en-US" b="0" i="0" dirty="0">
                <a:solidFill>
                  <a:srgbClr val="1F1F1F"/>
                </a:solidFill>
                <a:effectLst/>
                <a:latin typeface="Google Sans"/>
              </a:rPr>
            </a:br>
            <a:endParaRPr lang="en-US" dirty="0"/>
          </a:p>
        </p:txBody>
      </p:sp>
      <p:pic>
        <p:nvPicPr>
          <p:cNvPr id="7170" name="Picture 2" descr="Google Chrome's Incognito Mode: 5 ...">
            <a:extLst>
              <a:ext uri="{FF2B5EF4-FFF2-40B4-BE49-F238E27FC236}">
                <a16:creationId xmlns:a16="http://schemas.microsoft.com/office/drawing/2014/main" id="{88E17622-FDB1-6480-C293-1A59D2DCCE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47857" y="1850571"/>
            <a:ext cx="3603172" cy="3265715"/>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75675583-BC0E-7501-1602-B9FACA9C2059}"/>
              </a:ext>
            </a:extLst>
          </p:cNvPr>
          <p:cNvSpPr>
            <a:spLocks noGrp="1"/>
          </p:cNvSpPr>
          <p:nvPr>
            <p:ph type="ftr" sz="quarter" idx="11"/>
          </p:nvPr>
        </p:nvSpPr>
        <p:spPr/>
        <p:txBody>
          <a:bodyPr/>
          <a:lstStyle/>
          <a:p>
            <a:r>
              <a:rPr lang="en-US"/>
              <a:t>Cybercrime and Cyber Security</a:t>
            </a:r>
          </a:p>
        </p:txBody>
      </p:sp>
      <p:sp>
        <p:nvSpPr>
          <p:cNvPr id="7" name="Slide Number Placeholder 6">
            <a:extLst>
              <a:ext uri="{FF2B5EF4-FFF2-40B4-BE49-F238E27FC236}">
                <a16:creationId xmlns:a16="http://schemas.microsoft.com/office/drawing/2014/main" id="{C9405636-FA41-D959-BBBE-3866659C3596}"/>
              </a:ext>
            </a:extLst>
          </p:cNvPr>
          <p:cNvSpPr>
            <a:spLocks noGrp="1"/>
          </p:cNvSpPr>
          <p:nvPr>
            <p:ph type="sldNum" sz="quarter" idx="12"/>
          </p:nvPr>
        </p:nvSpPr>
        <p:spPr/>
        <p:txBody>
          <a:bodyPr/>
          <a:lstStyle/>
          <a:p>
            <a:fld id="{206048C0-C8B7-4832-8A8D-D83BA7A49C27}" type="slidenum">
              <a:rPr lang="en-US" smtClean="0"/>
              <a:pPr/>
              <a:t>72</a:t>
            </a:fld>
            <a:endParaRPr lang="en-US"/>
          </a:p>
        </p:txBody>
      </p:sp>
      <p:sp>
        <p:nvSpPr>
          <p:cNvPr id="5" name="TextBox 4">
            <a:extLst>
              <a:ext uri="{FF2B5EF4-FFF2-40B4-BE49-F238E27FC236}">
                <a16:creationId xmlns:a16="http://schemas.microsoft.com/office/drawing/2014/main" id="{F4ABFE9A-6AA4-696B-827A-4FC34B76F763}"/>
              </a:ext>
            </a:extLst>
          </p:cNvPr>
          <p:cNvSpPr txBox="1"/>
          <p:nvPr/>
        </p:nvSpPr>
        <p:spPr>
          <a:xfrm>
            <a:off x="478971" y="2340429"/>
            <a:ext cx="6411685" cy="3385542"/>
          </a:xfrm>
          <a:prstGeom prst="rect">
            <a:avLst/>
          </a:prstGeom>
          <a:noFill/>
        </p:spPr>
        <p:txBody>
          <a:bodyPr wrap="square" rtlCol="0">
            <a:spAutoFit/>
          </a:bodyPr>
          <a:lstStyle/>
          <a:p>
            <a:r>
              <a:rPr lang="ne-NP" sz="2800" dirty="0">
                <a:solidFill>
                  <a:srgbClr val="C00000"/>
                </a:solidFill>
              </a:rPr>
              <a:t>इन्टरनेट चलाउँदा </a:t>
            </a:r>
            <a:r>
              <a:rPr lang="en-US" sz="2800" dirty="0">
                <a:solidFill>
                  <a:srgbClr val="C00000"/>
                </a:solidFill>
              </a:rPr>
              <a:t>Browser </a:t>
            </a:r>
            <a:r>
              <a:rPr lang="ne-NP" sz="2800" dirty="0">
                <a:solidFill>
                  <a:srgbClr val="C00000"/>
                </a:solidFill>
              </a:rPr>
              <a:t>ले कतिबेला के के चलायो भन्ने इतिहास राख्ने गर्दछ ।त्यसैले समय समयमा आफ्नो </a:t>
            </a:r>
            <a:r>
              <a:rPr lang="en-US" sz="2800" dirty="0">
                <a:solidFill>
                  <a:srgbClr val="C00000"/>
                </a:solidFill>
              </a:rPr>
              <a:t>browsing history </a:t>
            </a:r>
            <a:r>
              <a:rPr lang="ne-NP" sz="2800" dirty="0">
                <a:solidFill>
                  <a:srgbClr val="C00000"/>
                </a:solidFill>
              </a:rPr>
              <a:t>लाई मेट्ने गर्नुहोस ।</a:t>
            </a:r>
            <a:r>
              <a:rPr lang="en-US" sz="2800" dirty="0">
                <a:solidFill>
                  <a:srgbClr val="C00000"/>
                </a:solidFill>
              </a:rPr>
              <a:t> </a:t>
            </a:r>
          </a:p>
          <a:p>
            <a:endParaRPr lang="en-US" sz="2800" dirty="0">
              <a:solidFill>
                <a:srgbClr val="C00000"/>
              </a:solidFill>
            </a:endParaRPr>
          </a:p>
          <a:p>
            <a:r>
              <a:rPr lang="ne-NP" sz="2800" dirty="0">
                <a:solidFill>
                  <a:srgbClr val="C00000"/>
                </a:solidFill>
              </a:rPr>
              <a:t>यसबाट सुरक्षित रहनकोलागि </a:t>
            </a:r>
            <a:r>
              <a:rPr lang="en-US" sz="2800" dirty="0">
                <a:solidFill>
                  <a:srgbClr val="C00000"/>
                </a:solidFill>
              </a:rPr>
              <a:t>Browser </a:t>
            </a:r>
            <a:r>
              <a:rPr lang="ne-NP" sz="2800" dirty="0">
                <a:solidFill>
                  <a:srgbClr val="C00000"/>
                </a:solidFill>
              </a:rPr>
              <a:t>मा </a:t>
            </a:r>
            <a:r>
              <a:rPr lang="en-US" sz="2800" dirty="0">
                <a:solidFill>
                  <a:srgbClr val="C00000"/>
                </a:solidFill>
              </a:rPr>
              <a:t>incognito </a:t>
            </a:r>
            <a:r>
              <a:rPr lang="ne-NP" sz="2800" dirty="0">
                <a:solidFill>
                  <a:srgbClr val="C00000"/>
                </a:solidFill>
              </a:rPr>
              <a:t>मोडमा काम गर्नुहोस ।</a:t>
            </a:r>
          </a:p>
          <a:p>
            <a:r>
              <a:rPr lang="ne-NP" dirty="0"/>
              <a:t> </a:t>
            </a:r>
            <a:endParaRPr lang="en-US" dirty="0"/>
          </a:p>
        </p:txBody>
      </p:sp>
    </p:spTree>
    <p:extLst>
      <p:ext uri="{BB962C8B-B14F-4D97-AF65-F5344CB8AC3E}">
        <p14:creationId xmlns:p14="http://schemas.microsoft.com/office/powerpoint/2010/main" val="6672635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9AA0-1A1B-CB98-DF01-397F52266697}"/>
              </a:ext>
            </a:extLst>
          </p:cNvPr>
          <p:cNvSpPr>
            <a:spLocks noGrp="1"/>
          </p:cNvSpPr>
          <p:nvPr>
            <p:ph type="title"/>
          </p:nvPr>
        </p:nvSpPr>
        <p:spPr>
          <a:xfrm>
            <a:off x="677334" y="228600"/>
            <a:ext cx="8596668" cy="1013928"/>
          </a:xfrm>
        </p:spPr>
        <p:txBody>
          <a:bodyPr>
            <a:normAutofit/>
          </a:bodyPr>
          <a:lstStyle/>
          <a:p>
            <a:r>
              <a:rPr lang="en-US" b="1" dirty="0"/>
              <a:t>Backup is Essential.</a:t>
            </a:r>
          </a:p>
        </p:txBody>
      </p:sp>
      <p:pic>
        <p:nvPicPr>
          <p:cNvPr id="8194" name="Picture 2" descr="The Beginner's Guide to PC Backup | PCMag">
            <a:extLst>
              <a:ext uri="{FF2B5EF4-FFF2-40B4-BE49-F238E27FC236}">
                <a16:creationId xmlns:a16="http://schemas.microsoft.com/office/drawing/2014/main" id="{1CF0A595-2706-FCC5-5850-872FD5C9D2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32171" y="2196064"/>
            <a:ext cx="4169229" cy="310968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5E1A65CA-6BC9-C7FE-22F9-5B2691462312}"/>
              </a:ext>
            </a:extLst>
          </p:cNvPr>
          <p:cNvSpPr>
            <a:spLocks noGrp="1"/>
          </p:cNvSpPr>
          <p:nvPr>
            <p:ph type="ftr" sz="quarter" idx="11"/>
          </p:nvPr>
        </p:nvSpPr>
        <p:spPr/>
        <p:txBody>
          <a:bodyPr/>
          <a:lstStyle/>
          <a:p>
            <a:r>
              <a:rPr lang="en-US"/>
              <a:t>Cybercrime and Cyber Security</a:t>
            </a:r>
          </a:p>
        </p:txBody>
      </p:sp>
      <p:sp>
        <p:nvSpPr>
          <p:cNvPr id="6" name="Slide Number Placeholder 5">
            <a:extLst>
              <a:ext uri="{FF2B5EF4-FFF2-40B4-BE49-F238E27FC236}">
                <a16:creationId xmlns:a16="http://schemas.microsoft.com/office/drawing/2014/main" id="{BCB6F84A-9517-2E6E-1A40-D9A0EED6EF33}"/>
              </a:ext>
            </a:extLst>
          </p:cNvPr>
          <p:cNvSpPr>
            <a:spLocks noGrp="1"/>
          </p:cNvSpPr>
          <p:nvPr>
            <p:ph type="sldNum" sz="quarter" idx="12"/>
          </p:nvPr>
        </p:nvSpPr>
        <p:spPr/>
        <p:txBody>
          <a:bodyPr/>
          <a:lstStyle/>
          <a:p>
            <a:fld id="{206048C0-C8B7-4832-8A8D-D83BA7A49C27}" type="slidenum">
              <a:rPr lang="en-US" smtClean="0"/>
              <a:pPr/>
              <a:t>73</a:t>
            </a:fld>
            <a:endParaRPr lang="en-US"/>
          </a:p>
        </p:txBody>
      </p:sp>
      <p:sp>
        <p:nvSpPr>
          <p:cNvPr id="4" name="TextBox 3">
            <a:extLst>
              <a:ext uri="{FF2B5EF4-FFF2-40B4-BE49-F238E27FC236}">
                <a16:creationId xmlns:a16="http://schemas.microsoft.com/office/drawing/2014/main" id="{CDF07666-D464-E58E-1823-B727BF33FAFA}"/>
              </a:ext>
            </a:extLst>
          </p:cNvPr>
          <p:cNvSpPr txBox="1"/>
          <p:nvPr/>
        </p:nvSpPr>
        <p:spPr>
          <a:xfrm>
            <a:off x="511628" y="1242528"/>
            <a:ext cx="6085115" cy="5632311"/>
          </a:xfrm>
          <a:prstGeom prst="rect">
            <a:avLst/>
          </a:prstGeom>
          <a:noFill/>
        </p:spPr>
        <p:txBody>
          <a:bodyPr wrap="square" rtlCol="0">
            <a:spAutoFit/>
          </a:bodyPr>
          <a:lstStyle/>
          <a:p>
            <a:r>
              <a:rPr lang="ne-NP" sz="4000" dirty="0">
                <a:solidFill>
                  <a:srgbClr val="C00000"/>
                </a:solidFill>
              </a:rPr>
              <a:t>आफ्ना महत्वपूर्ण </a:t>
            </a:r>
            <a:r>
              <a:rPr lang="en-US" sz="4000" dirty="0">
                <a:solidFill>
                  <a:srgbClr val="C00000"/>
                </a:solidFill>
              </a:rPr>
              <a:t>document </a:t>
            </a:r>
            <a:r>
              <a:rPr lang="ne-NP" sz="4000" dirty="0">
                <a:solidFill>
                  <a:srgbClr val="C00000"/>
                </a:solidFill>
              </a:rPr>
              <a:t>हरु </a:t>
            </a:r>
            <a:r>
              <a:rPr lang="en-US" sz="4000" dirty="0">
                <a:solidFill>
                  <a:srgbClr val="C00000"/>
                </a:solidFill>
              </a:rPr>
              <a:t>Cloud Storage </a:t>
            </a:r>
            <a:r>
              <a:rPr lang="ne-NP" sz="4000" dirty="0">
                <a:solidFill>
                  <a:srgbClr val="C00000"/>
                </a:solidFill>
              </a:rPr>
              <a:t>मा मात्र नभएर </a:t>
            </a:r>
            <a:r>
              <a:rPr lang="en-US" sz="4000" dirty="0">
                <a:solidFill>
                  <a:srgbClr val="C00000"/>
                </a:solidFill>
              </a:rPr>
              <a:t>Hard Drive </a:t>
            </a:r>
            <a:r>
              <a:rPr lang="ne-NP" sz="4000" dirty="0">
                <a:solidFill>
                  <a:srgbClr val="C00000"/>
                </a:solidFill>
              </a:rPr>
              <a:t>मा समेत </a:t>
            </a:r>
            <a:r>
              <a:rPr lang="en-US" sz="4000" dirty="0">
                <a:solidFill>
                  <a:srgbClr val="C00000"/>
                </a:solidFill>
              </a:rPr>
              <a:t>Backup </a:t>
            </a:r>
            <a:r>
              <a:rPr lang="ne-NP" sz="4000" dirty="0">
                <a:solidFill>
                  <a:srgbClr val="C00000"/>
                </a:solidFill>
              </a:rPr>
              <a:t>राख्नुहोस । </a:t>
            </a:r>
            <a:r>
              <a:rPr lang="en-US" sz="4000" dirty="0">
                <a:solidFill>
                  <a:srgbClr val="C00000"/>
                </a:solidFill>
              </a:rPr>
              <a:t>Hard Drive </a:t>
            </a:r>
            <a:r>
              <a:rPr lang="ne-NP" sz="4000" dirty="0">
                <a:solidFill>
                  <a:srgbClr val="C00000"/>
                </a:solidFill>
              </a:rPr>
              <a:t>का </a:t>
            </a:r>
            <a:r>
              <a:rPr lang="en-US" sz="4000" dirty="0">
                <a:solidFill>
                  <a:srgbClr val="C00000"/>
                </a:solidFill>
              </a:rPr>
              <a:t>Sensitive Information </a:t>
            </a:r>
            <a:r>
              <a:rPr lang="ne-NP" sz="4000" dirty="0">
                <a:solidFill>
                  <a:srgbClr val="C00000"/>
                </a:solidFill>
              </a:rPr>
              <a:t>हरुलाइ </a:t>
            </a:r>
            <a:r>
              <a:rPr lang="en-US" sz="4000" dirty="0">
                <a:solidFill>
                  <a:srgbClr val="C00000"/>
                </a:solidFill>
              </a:rPr>
              <a:t>Encrypted Form </a:t>
            </a:r>
            <a:r>
              <a:rPr lang="ne-NP" sz="4000" dirty="0">
                <a:solidFill>
                  <a:srgbClr val="C00000"/>
                </a:solidFill>
              </a:rPr>
              <a:t>मा राख्नहोस ।</a:t>
            </a:r>
            <a:endParaRPr lang="en-US" sz="4000" dirty="0">
              <a:solidFill>
                <a:srgbClr val="C00000"/>
              </a:solidFill>
            </a:endParaRPr>
          </a:p>
        </p:txBody>
      </p:sp>
    </p:spTree>
    <p:extLst>
      <p:ext uri="{BB962C8B-B14F-4D97-AF65-F5344CB8AC3E}">
        <p14:creationId xmlns:p14="http://schemas.microsoft.com/office/powerpoint/2010/main" val="3034346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24AF-7A46-0D9D-AA1D-CDBDF8930C31}"/>
              </a:ext>
            </a:extLst>
          </p:cNvPr>
          <p:cNvSpPr>
            <a:spLocks noGrp="1"/>
          </p:cNvSpPr>
          <p:nvPr>
            <p:ph type="title"/>
          </p:nvPr>
        </p:nvSpPr>
        <p:spPr>
          <a:xfrm>
            <a:off x="1591734" y="1273628"/>
            <a:ext cx="8596668" cy="4299857"/>
          </a:xfrm>
        </p:spPr>
        <p:txBody>
          <a:bodyPr>
            <a:noAutofit/>
          </a:bodyPr>
          <a:lstStyle/>
          <a:p>
            <a:r>
              <a:rPr lang="en-US" sz="9600" b="1" dirty="0"/>
              <a:t>Any Questions ???</a:t>
            </a:r>
          </a:p>
        </p:txBody>
      </p:sp>
      <p:sp>
        <p:nvSpPr>
          <p:cNvPr id="4" name="Footer Placeholder 3">
            <a:extLst>
              <a:ext uri="{FF2B5EF4-FFF2-40B4-BE49-F238E27FC236}">
                <a16:creationId xmlns:a16="http://schemas.microsoft.com/office/drawing/2014/main" id="{F848AF5B-5208-DEB3-7939-BEDC9EB1B247}"/>
              </a:ext>
            </a:extLst>
          </p:cNvPr>
          <p:cNvSpPr>
            <a:spLocks noGrp="1"/>
          </p:cNvSpPr>
          <p:nvPr>
            <p:ph type="ftr" sz="quarter" idx="11"/>
          </p:nvPr>
        </p:nvSpPr>
        <p:spPr/>
        <p:txBody>
          <a:bodyPr/>
          <a:lstStyle/>
          <a:p>
            <a:r>
              <a:rPr lang="en-US"/>
              <a:t>Cybercrime and Cyber Security</a:t>
            </a:r>
          </a:p>
        </p:txBody>
      </p:sp>
      <p:sp>
        <p:nvSpPr>
          <p:cNvPr id="5" name="Slide Number Placeholder 4">
            <a:extLst>
              <a:ext uri="{FF2B5EF4-FFF2-40B4-BE49-F238E27FC236}">
                <a16:creationId xmlns:a16="http://schemas.microsoft.com/office/drawing/2014/main" id="{42330480-4ADF-6504-C784-7DBC820853EE}"/>
              </a:ext>
            </a:extLst>
          </p:cNvPr>
          <p:cNvSpPr>
            <a:spLocks noGrp="1"/>
          </p:cNvSpPr>
          <p:nvPr>
            <p:ph type="sldNum" sz="quarter" idx="12"/>
          </p:nvPr>
        </p:nvSpPr>
        <p:spPr/>
        <p:txBody>
          <a:bodyPr/>
          <a:lstStyle/>
          <a:p>
            <a:fld id="{206048C0-C8B7-4832-8A8D-D83BA7A49C27}" type="slidenum">
              <a:rPr lang="en-US" smtClean="0"/>
              <a:pPr/>
              <a:t>74</a:t>
            </a:fld>
            <a:endParaRPr lang="en-US"/>
          </a:p>
        </p:txBody>
      </p:sp>
    </p:spTree>
    <p:extLst>
      <p:ext uri="{BB962C8B-B14F-4D97-AF65-F5344CB8AC3E}">
        <p14:creationId xmlns:p14="http://schemas.microsoft.com/office/powerpoint/2010/main" val="119137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A96F3C-29D9-4DBC-A4F5-2FA675DACE18}"/>
              </a:ext>
            </a:extLst>
          </p:cNvPr>
          <p:cNvSpPr>
            <a:spLocks noGrp="1"/>
          </p:cNvSpPr>
          <p:nvPr>
            <p:ph idx="1"/>
          </p:nvPr>
        </p:nvSpPr>
        <p:spPr/>
        <p:txBody>
          <a:bodyPr>
            <a:normAutofit fontScale="92500"/>
          </a:bodyPr>
          <a:lstStyle/>
          <a:p>
            <a:pPr marL="0" indent="0">
              <a:buNone/>
            </a:pPr>
            <a:endParaRPr lang="en-US" sz="6000" dirty="0"/>
          </a:p>
          <a:p>
            <a:pPr marL="0" indent="0">
              <a:buNone/>
            </a:pPr>
            <a:r>
              <a:rPr lang="en-US" sz="6000" dirty="0"/>
              <a:t>			</a:t>
            </a:r>
            <a:r>
              <a:rPr lang="en-US" sz="11500" b="1" dirty="0"/>
              <a:t>Thank You</a:t>
            </a:r>
            <a:endParaRPr lang="en-US" sz="6000" b="1" dirty="0"/>
          </a:p>
        </p:txBody>
      </p:sp>
      <p:sp>
        <p:nvSpPr>
          <p:cNvPr id="2" name="Footer Placeholder 1">
            <a:extLst>
              <a:ext uri="{FF2B5EF4-FFF2-40B4-BE49-F238E27FC236}">
                <a16:creationId xmlns:a16="http://schemas.microsoft.com/office/drawing/2014/main" id="{9073613D-62FD-FFFB-53DB-79771785A682}"/>
              </a:ext>
            </a:extLst>
          </p:cNvPr>
          <p:cNvSpPr>
            <a:spLocks noGrp="1"/>
          </p:cNvSpPr>
          <p:nvPr>
            <p:ph type="ftr" sz="quarter" idx="11"/>
          </p:nvPr>
        </p:nvSpPr>
        <p:spPr/>
        <p:txBody>
          <a:bodyPr/>
          <a:lstStyle/>
          <a:p>
            <a:r>
              <a:rPr lang="en-US"/>
              <a:t>Cybercrime and Cyber Security</a:t>
            </a:r>
          </a:p>
        </p:txBody>
      </p:sp>
      <p:sp>
        <p:nvSpPr>
          <p:cNvPr id="4" name="Slide Number Placeholder 3">
            <a:extLst>
              <a:ext uri="{FF2B5EF4-FFF2-40B4-BE49-F238E27FC236}">
                <a16:creationId xmlns:a16="http://schemas.microsoft.com/office/drawing/2014/main" id="{C677C09F-5707-07F2-CE7C-9C5866125F6D}"/>
              </a:ext>
            </a:extLst>
          </p:cNvPr>
          <p:cNvSpPr>
            <a:spLocks noGrp="1"/>
          </p:cNvSpPr>
          <p:nvPr>
            <p:ph type="sldNum" sz="quarter" idx="12"/>
          </p:nvPr>
        </p:nvSpPr>
        <p:spPr/>
        <p:txBody>
          <a:bodyPr/>
          <a:lstStyle/>
          <a:p>
            <a:fld id="{206048C0-C8B7-4832-8A8D-D83BA7A49C27}" type="slidenum">
              <a:rPr lang="en-US" smtClean="0"/>
              <a:pPr/>
              <a:t>75</a:t>
            </a:fld>
            <a:endParaRPr lang="en-US"/>
          </a:p>
        </p:txBody>
      </p:sp>
    </p:spTree>
    <p:extLst>
      <p:ext uri="{BB962C8B-B14F-4D97-AF65-F5344CB8AC3E}">
        <p14:creationId xmlns:p14="http://schemas.microsoft.com/office/powerpoint/2010/main" val="42619540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TM03457510[[fn=Savon]]</Template>
  <TotalTime>1589</TotalTime>
  <Words>4399</Words>
  <Application>Microsoft Office PowerPoint</Application>
  <PresentationFormat>Widescreen</PresentationFormat>
  <Paragraphs>366</Paragraphs>
  <Slides>75</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75</vt:i4>
      </vt:variant>
    </vt:vector>
  </HeadingPairs>
  <TitlesOfParts>
    <vt:vector size="90" baseType="lpstr">
      <vt:lpstr>Aptos</vt:lpstr>
      <vt:lpstr>Arial</vt:lpstr>
      <vt:lpstr>Calibri</vt:lpstr>
      <vt:lpstr>Century Gothic</vt:lpstr>
      <vt:lpstr>Garamond</vt:lpstr>
      <vt:lpstr>Google Sans</vt:lpstr>
      <vt:lpstr>Helvetica Neue</vt:lpstr>
      <vt:lpstr>inherit</vt:lpstr>
      <vt:lpstr>Kalimati</vt:lpstr>
      <vt:lpstr>Kokila</vt:lpstr>
      <vt:lpstr>Preeti</vt:lpstr>
      <vt:lpstr>system-ui</vt:lpstr>
      <vt:lpstr>Times New Roman</vt:lpstr>
      <vt:lpstr>Wingdings</vt:lpstr>
      <vt:lpstr>Savon</vt:lpstr>
      <vt:lpstr>साइबर अपराध, कानून र प्रयोग</vt:lpstr>
      <vt:lpstr>What is Cybercrime?</vt:lpstr>
      <vt:lpstr>PowerPoint Presentation</vt:lpstr>
      <vt:lpstr>Definition by US Department of Justice</vt:lpstr>
      <vt:lpstr>PowerPoint Presentation</vt:lpstr>
      <vt:lpstr>PowerPoint Presentation</vt:lpstr>
      <vt:lpstr>PowerPoint Presentation</vt:lpstr>
      <vt:lpstr>PowerPoint Presentation</vt:lpstr>
      <vt:lpstr>PowerPoint Presentation</vt:lpstr>
      <vt:lpstr>साइवर अपराधसँग सम्बन्धित मुख्य कानूनि व्यवस्थाहरु</vt:lpstr>
      <vt:lpstr>कम्प्युटर स्रोत सङ्केतको चोरी, नष्ट वा परिवर्तन गर्ने (दफा ४४)</vt:lpstr>
      <vt:lpstr>कम्प्युटर सामग्रीमा अनधिकृत पहुँच (दफा ४५)</vt:lpstr>
      <vt:lpstr>कम्प्युटर र सूचना प्रणालीमा क्षति पुर्‍याउने (दफा ४६)</vt:lpstr>
      <vt:lpstr>विद्युतीय स्वरुपमा गैरकानूनी कुरा प्रकाशन गर्ने (दफा ४७)</vt:lpstr>
      <vt:lpstr>PowerPoint Presentation</vt:lpstr>
      <vt:lpstr>के हो त उक्त अपाराध ?</vt:lpstr>
      <vt:lpstr>केहि मुद्दाहरु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Unauthorized access to computer systems or networks (Sec 45)</vt:lpstr>
      <vt:lpstr>Phishing  (No exact provisions on ETA but we can relate it with sec. 45)</vt:lpstr>
      <vt:lpstr>PowerPoint Presentation</vt:lpstr>
      <vt:lpstr>PowerPoint Presentation</vt:lpstr>
      <vt:lpstr>Internet Time Thefts (No exact provisions on ETA)</vt:lpstr>
      <vt:lpstr>Logic Bombs (No exact provisions on ETA)</vt:lpstr>
      <vt:lpstr>Virus / worm attacks (No exact provisions on ETA)</vt:lpstr>
      <vt:lpstr>Data diddling (No exact provisions on ETA)</vt:lpstr>
      <vt:lpstr>Ransomware and Malware</vt:lpstr>
      <vt:lpstr>Brute Force Attack and Dictionary Attack</vt:lpstr>
      <vt:lpstr>Spamming</vt:lpstr>
      <vt:lpstr>Cyber Defamation  (Section 47) </vt:lpstr>
      <vt:lpstr>Some Cases</vt:lpstr>
      <vt:lpstr>Chris Cairns v Lalit Modi</vt:lpstr>
      <vt:lpstr> Swiss court fines man for 'liking' defamatory comments on Facebook </vt:lpstr>
      <vt:lpstr>Dark Web and other Webs</vt:lpstr>
      <vt:lpstr>Sample view of  Onion Search Engine </vt:lpstr>
      <vt:lpstr>DoS and DDoS</vt:lpstr>
      <vt:lpstr>Cyber Stalking </vt:lpstr>
      <vt:lpstr>Cyberbullying (Section 47)</vt:lpstr>
      <vt:lpstr>Cryptography Attack </vt:lpstr>
      <vt:lpstr>Dispute related to domain names</vt:lpstr>
      <vt:lpstr>Cybersquatting  </vt:lpstr>
      <vt:lpstr>Cyber Parasites</vt:lpstr>
      <vt:lpstr>Cyber parasites</vt:lpstr>
      <vt:lpstr>Very important thing of Digital Evidence</vt:lpstr>
      <vt:lpstr>PowerPoint Presentation</vt:lpstr>
      <vt:lpstr>के हो त साइवर सुरक्षा?    </vt:lpstr>
      <vt:lpstr>Issues of Cyber Security</vt:lpstr>
      <vt:lpstr>The  best tip</vt:lpstr>
      <vt:lpstr>Stay away form the internet threats</vt:lpstr>
      <vt:lpstr>सुरक्षित र बलियो पासवर्डको प्रयोग</vt:lpstr>
      <vt:lpstr>के हो त बलियो पासवर्ड ?</vt:lpstr>
      <vt:lpstr>पासवर्ड कसरि बनाउने र कसरि सम्झने</vt:lpstr>
      <vt:lpstr>SWITCH TO PASSPHRASE</vt:lpstr>
      <vt:lpstr>SALTING  PASSWORD</vt:lpstr>
      <vt:lpstr>For more security use Encryption and Decryption  </vt:lpstr>
      <vt:lpstr>No Nudes </vt:lpstr>
      <vt:lpstr>Firewall को प्रयोग गर्नुहोस</vt:lpstr>
      <vt:lpstr>PowerPoint Presentation</vt:lpstr>
      <vt:lpstr>तापाइलाइ google ले पछ्याइरहेको कुरा थाहा पाइ राख्नुहोस ।</vt:lpstr>
      <vt:lpstr>Use of Digital Signature</vt:lpstr>
      <vt:lpstr>How the hash function works?</vt:lpstr>
      <vt:lpstr>तपाइको Digital Footprint तयार भइराखेको हुन्छ यो कुरा थाहापाइ राख्नुहोस र सजग हुनुहोस</vt:lpstr>
      <vt:lpstr>फ्रि वाइफाइको प्रयोगमा सजगता राख्नुहोस</vt:lpstr>
      <vt:lpstr>Browse in Incognito mode </vt:lpstr>
      <vt:lpstr>Backup is Essential.</vt:lpstr>
      <vt:lpstr>Any Questions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Kedar Ghimire</dc:creator>
  <cp:lastModifiedBy>HP</cp:lastModifiedBy>
  <cp:revision>27</cp:revision>
  <dcterms:created xsi:type="dcterms:W3CDTF">2025-08-21T07:00:17Z</dcterms:created>
  <dcterms:modified xsi:type="dcterms:W3CDTF">2026-01-25T16:06:34Z</dcterms:modified>
</cp:coreProperties>
</file>