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gif" ContentType="image/gif"/>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5"/>
  </p:notesMasterIdLst>
  <p:sldIdLst>
    <p:sldId id="256" r:id="rId2"/>
    <p:sldId id="306" r:id="rId3"/>
    <p:sldId id="307" r:id="rId4"/>
    <p:sldId id="308" r:id="rId5"/>
    <p:sldId id="309" r:id="rId6"/>
    <p:sldId id="359" r:id="rId7"/>
    <p:sldId id="319" r:id="rId8"/>
    <p:sldId id="320" r:id="rId9"/>
    <p:sldId id="321" r:id="rId10"/>
    <p:sldId id="322" r:id="rId11"/>
    <p:sldId id="350" r:id="rId12"/>
    <p:sldId id="351" r:id="rId13"/>
    <p:sldId id="356" r:id="rId14"/>
    <p:sldId id="352" r:id="rId15"/>
    <p:sldId id="324" r:id="rId16"/>
    <p:sldId id="325" r:id="rId17"/>
    <p:sldId id="326" r:id="rId18"/>
    <p:sldId id="327" r:id="rId19"/>
    <p:sldId id="328" r:id="rId20"/>
    <p:sldId id="329" r:id="rId21"/>
    <p:sldId id="330" r:id="rId22"/>
    <p:sldId id="331" r:id="rId23"/>
    <p:sldId id="332" r:id="rId24"/>
    <p:sldId id="335" r:id="rId25"/>
    <p:sldId id="336" r:id="rId26"/>
    <p:sldId id="337" r:id="rId27"/>
    <p:sldId id="333" r:id="rId28"/>
    <p:sldId id="357" r:id="rId29"/>
    <p:sldId id="340" r:id="rId30"/>
    <p:sldId id="341" r:id="rId31"/>
    <p:sldId id="342" r:id="rId32"/>
    <p:sldId id="343" r:id="rId33"/>
    <p:sldId id="344" r:id="rId34"/>
    <p:sldId id="345" r:id="rId35"/>
    <p:sldId id="346" r:id="rId36"/>
    <p:sldId id="347" r:id="rId37"/>
    <p:sldId id="348" r:id="rId38"/>
    <p:sldId id="296" r:id="rId39"/>
    <p:sldId id="297" r:id="rId40"/>
    <p:sldId id="298" r:id="rId41"/>
    <p:sldId id="299" r:id="rId42"/>
    <p:sldId id="300" r:id="rId43"/>
    <p:sldId id="301" r:id="rId44"/>
    <p:sldId id="365" r:id="rId45"/>
    <p:sldId id="366" r:id="rId46"/>
    <p:sldId id="367" r:id="rId47"/>
    <p:sldId id="368" r:id="rId48"/>
    <p:sldId id="364" r:id="rId49"/>
    <p:sldId id="371" r:id="rId50"/>
    <p:sldId id="372" r:id="rId51"/>
    <p:sldId id="373" r:id="rId52"/>
    <p:sldId id="386" r:id="rId53"/>
    <p:sldId id="374" r:id="rId54"/>
    <p:sldId id="376" r:id="rId55"/>
    <p:sldId id="375" r:id="rId56"/>
    <p:sldId id="377" r:id="rId57"/>
    <p:sldId id="370" r:id="rId58"/>
    <p:sldId id="369" r:id="rId59"/>
    <p:sldId id="378" r:id="rId60"/>
    <p:sldId id="379" r:id="rId61"/>
    <p:sldId id="387" r:id="rId62"/>
    <p:sldId id="388" r:id="rId63"/>
    <p:sldId id="389" r:id="rId64"/>
    <p:sldId id="380" r:id="rId65"/>
    <p:sldId id="381" r:id="rId66"/>
    <p:sldId id="382" r:id="rId67"/>
    <p:sldId id="383" r:id="rId68"/>
    <p:sldId id="384" r:id="rId69"/>
    <p:sldId id="363" r:id="rId70"/>
    <p:sldId id="292" r:id="rId71"/>
    <p:sldId id="385" r:id="rId72"/>
    <p:sldId id="358" r:id="rId73"/>
    <p:sldId id="318"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7659" autoAdjust="0"/>
    <p:restoredTop sz="94660"/>
  </p:normalViewPr>
  <p:slideViewPr>
    <p:cSldViewPr snapToGrid="0">
      <p:cViewPr varScale="1">
        <p:scale>
          <a:sx n="69" d="100"/>
          <a:sy n="69" d="100"/>
        </p:scale>
        <p:origin x="-588" y="-108"/>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0CFECF-C99C-4640-AAED-BC4D989787F9}" type="datetimeFigureOut">
              <a:rPr lang="en-US" smtClean="0"/>
              <a:pPr/>
              <a:t>1/22/2026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FED54A-6919-4414-9B43-F88678EA905D}" type="slidenum">
              <a:rPr lang="en-US" smtClean="0"/>
              <a:pPr/>
              <a:t>‹#›</a:t>
            </a:fld>
            <a:endParaRPr lang="en-US"/>
          </a:p>
        </p:txBody>
      </p:sp>
    </p:spTree>
    <p:extLst>
      <p:ext uri="{BB962C8B-B14F-4D97-AF65-F5344CB8AC3E}">
        <p14:creationId xmlns:p14="http://schemas.microsoft.com/office/powerpoint/2010/main" xmlns="" val="229497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CFA1D77-EBEA-4D31-9778-35E6F5F9457A}" type="slidenum">
              <a:rPr lang="en-US" smtClean="0"/>
              <a:pPr/>
              <a:t>19</a:t>
            </a:fld>
            <a:endParaRPr lang="en-US"/>
          </a:p>
        </p:txBody>
      </p:sp>
    </p:spTree>
    <p:extLst>
      <p:ext uri="{BB962C8B-B14F-4D97-AF65-F5344CB8AC3E}">
        <p14:creationId xmlns:p14="http://schemas.microsoft.com/office/powerpoint/2010/main" xmlns="" val="21406309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5952B8F-C364-4BF6-BDF6-D7EEB6A41F45}" type="slidenum">
              <a:rPr lang="en-US" smtClean="0"/>
              <a:pPr/>
              <a:t>20</a:t>
            </a:fld>
            <a:endParaRPr lang="en-US"/>
          </a:p>
        </p:txBody>
      </p:sp>
    </p:spTree>
    <p:extLst>
      <p:ext uri="{BB962C8B-B14F-4D97-AF65-F5344CB8AC3E}">
        <p14:creationId xmlns:p14="http://schemas.microsoft.com/office/powerpoint/2010/main" xmlns="" val="4013655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FA1D77-EBEA-4D31-9778-35E6F5F9457A}" type="slidenum">
              <a:rPr lang="en-US" smtClean="0"/>
              <a:pPr/>
              <a:t>27</a:t>
            </a:fld>
            <a:endParaRPr lang="en-US"/>
          </a:p>
        </p:txBody>
      </p:sp>
    </p:spTree>
    <p:extLst>
      <p:ext uri="{BB962C8B-B14F-4D97-AF65-F5344CB8AC3E}">
        <p14:creationId xmlns:p14="http://schemas.microsoft.com/office/powerpoint/2010/main" xmlns="" val="42638844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CFA1D77-EBEA-4D31-9778-35E6F5F9457A}" type="slidenum">
              <a:rPr lang="en-US" smtClean="0"/>
              <a:pPr/>
              <a:t>34</a:t>
            </a:fld>
            <a:endParaRPr lang="en-US"/>
          </a:p>
        </p:txBody>
      </p:sp>
    </p:spTree>
    <p:extLst>
      <p:ext uri="{BB962C8B-B14F-4D97-AF65-F5344CB8AC3E}">
        <p14:creationId xmlns:p14="http://schemas.microsoft.com/office/powerpoint/2010/main" xmlns="" val="32602462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5952B8F-C364-4BF6-BDF6-D7EEB6A41F45}" type="slidenum">
              <a:rPr lang="en-US" smtClean="0"/>
              <a:pPr/>
              <a:t>38</a:t>
            </a:fld>
            <a:endParaRPr lang="en-US"/>
          </a:p>
        </p:txBody>
      </p:sp>
    </p:spTree>
    <p:extLst>
      <p:ext uri="{BB962C8B-B14F-4D97-AF65-F5344CB8AC3E}">
        <p14:creationId xmlns:p14="http://schemas.microsoft.com/office/powerpoint/2010/main" xmlns="" val="29727770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12201452"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914400" y="1752602"/>
            <a:ext cx="103632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5019" y="4953000"/>
            <a:ext cx="12197020"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9CDF87CE-C57F-4BC9-88F9-8EA1D3D7FC88}" type="datetimeFigureOut">
              <a:rPr lang="en-US" smtClean="0"/>
              <a:pPr/>
              <a:t>1/22/2026</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947EFC41-F10A-4182-8826-B392367A9D6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9CDF87CE-C57F-4BC9-88F9-8EA1D3D7FC88}" type="datetimeFigureOut">
              <a:rPr lang="en-US" smtClean="0"/>
              <a:pPr/>
              <a:t>1/22/2026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947EFC41-F10A-4182-8826-B392367A9D6A}"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168" y="1059712"/>
            <a:ext cx="103632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5230284" y="2931712"/>
            <a:ext cx="6096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9CDF87CE-C57F-4BC9-88F9-8EA1D3D7FC88}" type="datetimeFigureOut">
              <a:rPr lang="en-US" smtClean="0"/>
              <a:pPr/>
              <a:t>1/22/2026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947EFC41-F10A-4182-8826-B392367A9D6A}" type="slidenum">
              <a:rPr lang="en-US" smtClean="0"/>
              <a:pPr/>
              <a:t>‹#›</a:t>
            </a:fld>
            <a:endParaRPr lang="en-US"/>
          </a:p>
        </p:txBody>
      </p:sp>
      <p:sp>
        <p:nvSpPr>
          <p:cNvPr id="7" name="Chevron 6"/>
          <p:cNvSpPr/>
          <p:nvPr/>
        </p:nvSpPr>
        <p:spPr>
          <a:xfrm>
            <a:off x="4848907"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4600352"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9CDF87CE-C57F-4BC9-88F9-8EA1D3D7FC88}" type="datetimeFigureOut">
              <a:rPr lang="en-US" smtClean="0"/>
              <a:pPr/>
              <a:t>1/22/2026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947EFC41-F10A-4182-8826-B392367A9D6A}"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9CDF87CE-C57F-4BC9-88F9-8EA1D3D7FC88}" type="datetimeFigureOut">
              <a:rPr lang="en-US" smtClean="0"/>
              <a:pPr/>
              <a:t>1/22/2026</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947EFC41-F10A-4182-8826-B392367A9D6A}"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9CDF87CE-C57F-4BC9-88F9-8EA1D3D7FC88}" type="datetimeFigureOut">
              <a:rPr lang="en-US" smtClean="0"/>
              <a:pPr/>
              <a:t>1/22/2026</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947EFC41-F10A-4182-8826-B392367A9D6A}"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9CDF87CE-C57F-4BC9-88F9-8EA1D3D7FC88}" type="datetimeFigureOut">
              <a:rPr lang="en-US" smtClean="0"/>
              <a:pPr/>
              <a:t>1/22/2026</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947EFC41-F10A-4182-8826-B392367A9D6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8969376" y="6407944"/>
            <a:ext cx="2560320" cy="365760"/>
          </a:xfrm>
        </p:spPr>
        <p:txBody>
          <a:bodyPr/>
          <a:lstStyle>
            <a:extLst/>
          </a:lstStyle>
          <a:p>
            <a:fld id="{9CDF87CE-C57F-4BC9-88F9-8EA1D3D7FC88}" type="datetimeFigureOut">
              <a:rPr lang="en-US" smtClean="0"/>
              <a:pPr/>
              <a:t>1/22/2026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947EFC41-F10A-4182-8826-B392367A9D6A}"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521643" y="5443402"/>
            <a:ext cx="95504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9CDF87CE-C57F-4BC9-88F9-8EA1D3D7FC88}" type="datetimeFigureOut">
              <a:rPr lang="en-US" smtClean="0"/>
              <a:pPr/>
              <a:t>1/22/2026</a:t>
            </a:fld>
            <a:endParaRPr lang="en-US"/>
          </a:p>
        </p:txBody>
      </p:sp>
      <p:sp>
        <p:nvSpPr>
          <p:cNvPr id="6" name="Footer Placeholder 5"/>
          <p:cNvSpPr>
            <a:spLocks noGrp="1"/>
          </p:cNvSpPr>
          <p:nvPr>
            <p:ph type="ftr" sz="quarter" idx="11"/>
          </p:nvPr>
        </p:nvSpPr>
        <p:spPr>
          <a:xfrm>
            <a:off x="5840097" y="6407945"/>
            <a:ext cx="313424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947EFC41-F10A-4182-8826-B392367A9D6A}" type="slidenum">
              <a:rPr lang="en-US" smtClean="0"/>
              <a:pPr/>
              <a:t>‹#›</a:t>
            </a:fld>
            <a:endParaRPr lang="en-US"/>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955249" y="5001994"/>
            <a:ext cx="5069337"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71414" y="5785023"/>
            <a:ext cx="506933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8056" y="5791253"/>
            <a:ext cx="4536419"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11552149"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11303595"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1481330"/>
            <a:ext cx="109728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9CDF87CE-C57F-4BC9-88F9-8EA1D3D7FC88}" type="datetimeFigureOut">
              <a:rPr lang="en-US" smtClean="0"/>
              <a:pPr/>
              <a:t>1/22/2026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947EFC41-F10A-4182-8826-B392367A9D6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274641"/>
            <a:ext cx="84328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9CDF87CE-C57F-4BC9-88F9-8EA1D3D7FC88}" type="datetimeFigureOut">
              <a:rPr lang="en-US" smtClean="0"/>
              <a:pPr/>
              <a:t>1/22/2026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947EFC41-F10A-4182-8826-B392367A9D6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955249" y="5001994"/>
            <a:ext cx="5069337"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71414" y="5785023"/>
            <a:ext cx="506933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8056" y="5791253"/>
            <a:ext cx="4536419"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609600" y="1481329"/>
            <a:ext cx="109728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8969376" y="6407944"/>
            <a:ext cx="2560320" cy="365760"/>
          </a:xfrm>
          <a:prstGeom prst="rect">
            <a:avLst/>
          </a:prstGeom>
        </p:spPr>
        <p:txBody>
          <a:bodyPr vert="horz" anchor="b"/>
          <a:lstStyle>
            <a:lvl1pPr algn="l" eaLnBrk="1" latinLnBrk="0" hangingPunct="1">
              <a:defRPr kumimoji="0" sz="1000">
                <a:solidFill>
                  <a:schemeClr val="tx1"/>
                </a:solidFill>
              </a:defRPr>
            </a:lvl1pPr>
            <a:extLst/>
          </a:lstStyle>
          <a:p>
            <a:fld id="{9CDF87CE-C57F-4BC9-88F9-8EA1D3D7FC88}" type="datetimeFigureOut">
              <a:rPr lang="en-US" smtClean="0"/>
              <a:pPr/>
              <a:t>1/22/2026</a:t>
            </a:fld>
            <a:endParaRPr lang="en-US"/>
          </a:p>
        </p:txBody>
      </p:sp>
      <p:sp>
        <p:nvSpPr>
          <p:cNvPr id="22" name="Footer Placeholder 21"/>
          <p:cNvSpPr>
            <a:spLocks noGrp="1"/>
          </p:cNvSpPr>
          <p:nvPr>
            <p:ph type="ftr" sz="quarter" idx="3"/>
          </p:nvPr>
        </p:nvSpPr>
        <p:spPr>
          <a:xfrm>
            <a:off x="5840097" y="6407945"/>
            <a:ext cx="313424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11529696" y="6407945"/>
            <a:ext cx="487680" cy="365125"/>
          </a:xfrm>
          <a:prstGeom prst="rect">
            <a:avLst/>
          </a:prstGeom>
        </p:spPr>
        <p:txBody>
          <a:bodyPr vert="horz" anchor="b"/>
          <a:lstStyle>
            <a:lvl1pPr algn="r" eaLnBrk="1" latinLnBrk="0" hangingPunct="1">
              <a:defRPr kumimoji="0" sz="1000" b="0">
                <a:solidFill>
                  <a:schemeClr val="tx1"/>
                </a:solidFill>
              </a:defRPr>
            </a:lvl1pPr>
            <a:extLst/>
          </a:lstStyle>
          <a:p>
            <a:fld id="{947EFC41-F10A-4182-8826-B392367A9D6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jpe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48145" y="879764"/>
            <a:ext cx="10723419" cy="1829761"/>
          </a:xfrm>
        </p:spPr>
        <p:txBody>
          <a:bodyPr>
            <a:noAutofit/>
          </a:bodyPr>
          <a:lstStyle/>
          <a:p>
            <a:r>
              <a:rPr lang="ne-NP" sz="5400" dirty="0" smtClean="0">
                <a:solidFill>
                  <a:srgbClr val="002060"/>
                </a:solidFill>
                <a:latin typeface="Kokila" pitchFamily="34" charset="0"/>
                <a:cs typeface="Kokila" pitchFamily="34" charset="0"/>
              </a:rPr>
              <a:t>गोपनीयता कायम गर्ने र निरन्तर सुनुवाई सम्बन्धी कानून</a:t>
            </a:r>
            <a:r>
              <a:rPr lang="ne-NP" sz="5400" dirty="0" smtClean="0">
                <a:latin typeface="Kokila" pitchFamily="34" charset="0"/>
                <a:cs typeface="Kokila" pitchFamily="34" charset="0"/>
              </a:rPr>
              <a:t/>
            </a:r>
            <a:br>
              <a:rPr lang="ne-NP" sz="5400" dirty="0" smtClean="0">
                <a:latin typeface="Kokila" pitchFamily="34" charset="0"/>
                <a:cs typeface="Kokila" pitchFamily="34" charset="0"/>
              </a:rPr>
            </a:br>
            <a:endParaRPr lang="en-US" sz="5400" dirty="0">
              <a:latin typeface="Kokila" pitchFamily="34" charset="0"/>
              <a:cs typeface="Kokila" pitchFamily="34" charset="0"/>
            </a:endParaRPr>
          </a:p>
        </p:txBody>
      </p:sp>
      <p:sp>
        <p:nvSpPr>
          <p:cNvPr id="3" name="Subtitle 2"/>
          <p:cNvSpPr>
            <a:spLocks noGrp="1"/>
          </p:cNvSpPr>
          <p:nvPr>
            <p:ph type="subTitle" idx="1"/>
          </p:nvPr>
        </p:nvSpPr>
        <p:spPr>
          <a:xfrm>
            <a:off x="914400" y="3380509"/>
            <a:ext cx="10363200" cy="1430802"/>
          </a:xfrm>
        </p:spPr>
        <p:txBody>
          <a:bodyPr>
            <a:normAutofit fontScale="92500" lnSpcReduction="20000"/>
          </a:bodyPr>
          <a:lstStyle/>
          <a:p>
            <a:r>
              <a:rPr lang="ne-NP" dirty="0">
                <a:latin typeface="कालिमाटी"/>
                <a:cs typeface="Kalimati" panose="00000400000000000000" pitchFamily="2"/>
              </a:rPr>
              <a:t>			</a:t>
            </a:r>
            <a:r>
              <a:rPr lang="ne-NP" sz="3600" b="1" dirty="0" smtClean="0">
                <a:solidFill>
                  <a:srgbClr val="0070C0"/>
                </a:solidFill>
                <a:latin typeface="Kokila" pitchFamily="34" charset="0"/>
                <a:cs typeface="Kokila" pitchFamily="34" charset="0"/>
              </a:rPr>
              <a:t>केशव प्रसाद वास्तोला</a:t>
            </a:r>
            <a:endParaRPr lang="ne-NP" sz="3600" b="1" dirty="0">
              <a:solidFill>
                <a:srgbClr val="0070C0"/>
              </a:solidFill>
              <a:latin typeface="Kokila" pitchFamily="34" charset="0"/>
              <a:cs typeface="Kokila" pitchFamily="34" charset="0"/>
            </a:endParaRPr>
          </a:p>
          <a:p>
            <a:r>
              <a:rPr lang="ne-NP" sz="3600" b="1" dirty="0">
                <a:solidFill>
                  <a:srgbClr val="0070C0"/>
                </a:solidFill>
                <a:latin typeface="Kokila" pitchFamily="34" charset="0"/>
                <a:cs typeface="Kokila" pitchFamily="34" charset="0"/>
              </a:rPr>
              <a:t>				न्यायाधीश, उच्च </a:t>
            </a:r>
            <a:r>
              <a:rPr lang="ne-NP" sz="3600" b="1" dirty="0" smtClean="0">
                <a:solidFill>
                  <a:srgbClr val="0070C0"/>
                </a:solidFill>
                <a:latin typeface="Kokila" pitchFamily="34" charset="0"/>
                <a:cs typeface="Kokila" pitchFamily="34" charset="0"/>
              </a:rPr>
              <a:t>अदालत</a:t>
            </a:r>
            <a:r>
              <a:rPr lang="en-US" sz="3600" b="1" dirty="0" smtClean="0">
                <a:solidFill>
                  <a:srgbClr val="0070C0"/>
                </a:solidFill>
                <a:latin typeface="Kokila" pitchFamily="34" charset="0"/>
                <a:cs typeface="Kokila" pitchFamily="34" charset="0"/>
              </a:rPr>
              <a:t> </a:t>
            </a:r>
            <a:r>
              <a:rPr lang="ne-NP" sz="3600" b="1" dirty="0" smtClean="0">
                <a:solidFill>
                  <a:srgbClr val="0070C0"/>
                </a:solidFill>
                <a:latin typeface="Kokila" pitchFamily="34" charset="0"/>
                <a:cs typeface="Kokila" pitchFamily="34" charset="0"/>
              </a:rPr>
              <a:t>पाटन</a:t>
            </a:r>
            <a:endParaRPr lang="ne-NP" sz="3600" b="1" dirty="0">
              <a:solidFill>
                <a:srgbClr val="0070C0"/>
              </a:solidFill>
              <a:latin typeface="Kokila" pitchFamily="34" charset="0"/>
              <a:cs typeface="Kokila" pitchFamily="34" charset="0"/>
            </a:endParaRPr>
          </a:p>
          <a:p>
            <a:r>
              <a:rPr lang="ne-NP" sz="3600" b="1" dirty="0">
                <a:solidFill>
                  <a:srgbClr val="0070C0"/>
                </a:solidFill>
                <a:latin typeface="Kokila" pitchFamily="34" charset="0"/>
                <a:cs typeface="Kokila" pitchFamily="34" charset="0"/>
              </a:rPr>
              <a:t>				</a:t>
            </a:r>
            <a:r>
              <a:rPr lang="ne-NP" sz="3600" b="1" dirty="0" smtClean="0">
                <a:solidFill>
                  <a:srgbClr val="0070C0"/>
                </a:solidFill>
                <a:latin typeface="Kokila" pitchFamily="34" charset="0"/>
                <a:cs typeface="Kokila" pitchFamily="34" charset="0"/>
              </a:rPr>
              <a:t>२०८२।१०।०९</a:t>
            </a:r>
            <a:endParaRPr lang="ne-NP" sz="3600" b="1" dirty="0">
              <a:solidFill>
                <a:srgbClr val="0070C0"/>
              </a:solidFill>
              <a:latin typeface="Kokila" pitchFamily="34" charset="0"/>
              <a:cs typeface="Kokila" pitchFamily="34" charset="0"/>
            </a:endParaRPr>
          </a:p>
        </p:txBody>
      </p:sp>
    </p:spTree>
    <p:extLst>
      <p:ext uri="{BB962C8B-B14F-4D97-AF65-F5344CB8AC3E}">
        <p14:creationId xmlns:p14="http://schemas.microsoft.com/office/powerpoint/2010/main" xmlns="" val="4080393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ne-NP" sz="3200" b="1" dirty="0" smtClean="0">
                <a:solidFill>
                  <a:srgbClr val="0070C0"/>
                </a:solidFill>
                <a:latin typeface="Kokila" pitchFamily="34" charset="0"/>
                <a:cs typeface="Kokila" pitchFamily="34" charset="0"/>
              </a:rPr>
              <a:t>न्यायिक काम र गोपनीयता सम्बन्धी सैद्धान्तिक</a:t>
            </a:r>
            <a:r>
              <a:rPr lang="en-US" sz="3200" b="1" dirty="0" smtClean="0">
                <a:solidFill>
                  <a:srgbClr val="0070C0"/>
                </a:solidFill>
                <a:latin typeface="Kokila" pitchFamily="34" charset="0"/>
                <a:cs typeface="Kokila" pitchFamily="34" charset="0"/>
              </a:rPr>
              <a:t>,</a:t>
            </a:r>
            <a:r>
              <a:rPr lang="ne-NP" sz="3200" b="1" dirty="0" smtClean="0">
                <a:solidFill>
                  <a:srgbClr val="0070C0"/>
                </a:solidFill>
                <a:latin typeface="Kokila" pitchFamily="34" charset="0"/>
                <a:cs typeface="Kokila" pitchFamily="34" charset="0"/>
              </a:rPr>
              <a:t> </a:t>
            </a:r>
            <a:r>
              <a:rPr lang="ne-NP" sz="3200" b="1" dirty="0">
                <a:solidFill>
                  <a:srgbClr val="0070C0"/>
                </a:solidFill>
                <a:latin typeface="Kokila" pitchFamily="34" charset="0"/>
                <a:cs typeface="Kokila" pitchFamily="34" charset="0"/>
              </a:rPr>
              <a:t>कानूनी </a:t>
            </a:r>
            <a:r>
              <a:rPr lang="ne-NP" sz="3200" b="1" dirty="0" smtClean="0">
                <a:solidFill>
                  <a:srgbClr val="0070C0"/>
                </a:solidFill>
                <a:latin typeface="Kokila" pitchFamily="34" charset="0"/>
                <a:cs typeface="Kokila" pitchFamily="34" charset="0"/>
              </a:rPr>
              <a:t>र व्यवहारिक पक्ष</a:t>
            </a:r>
            <a:endParaRPr lang="ne-NP" sz="3200" b="1" dirty="0">
              <a:solidFill>
                <a:srgbClr val="0070C0"/>
              </a:solidFill>
              <a:latin typeface="Kokila" pitchFamily="34" charset="0"/>
              <a:cs typeface="Kokila" pitchFamily="34" charset="0"/>
            </a:endParaRPr>
          </a:p>
          <a:p>
            <a:r>
              <a:rPr lang="ne-NP" sz="3200" b="1" dirty="0">
                <a:solidFill>
                  <a:srgbClr val="0070C0"/>
                </a:solidFill>
                <a:latin typeface="Kokila" pitchFamily="34" charset="0"/>
                <a:cs typeface="Kokila" pitchFamily="34" charset="0"/>
              </a:rPr>
              <a:t>लगातार सुनुवाई र </a:t>
            </a:r>
            <a:r>
              <a:rPr lang="ne-NP" sz="3200" b="1" dirty="0" smtClean="0">
                <a:solidFill>
                  <a:srgbClr val="0070C0"/>
                </a:solidFill>
                <a:latin typeface="Kokila" pitchFamily="34" charset="0"/>
                <a:cs typeface="Kokila" pitchFamily="34" charset="0"/>
              </a:rPr>
              <a:t>यस सम्बन्धी कानून</a:t>
            </a:r>
            <a:endParaRPr lang="ne-NP" sz="3200" b="1" dirty="0">
              <a:solidFill>
                <a:srgbClr val="0070C0"/>
              </a:solidFill>
              <a:latin typeface="Kokila" pitchFamily="34" charset="0"/>
              <a:cs typeface="Kokila" pitchFamily="34" charset="0"/>
            </a:endParaRPr>
          </a:p>
          <a:p>
            <a:r>
              <a:rPr lang="ne-NP" sz="3200" b="1" dirty="0" smtClean="0">
                <a:solidFill>
                  <a:srgbClr val="0070C0"/>
                </a:solidFill>
                <a:latin typeface="Kokila" pitchFamily="34" charset="0"/>
                <a:cs typeface="Kokila" pitchFamily="34" charset="0"/>
              </a:rPr>
              <a:t>गोपनीयता र लगातार सुनुवाई सम्बन्धी कार्यविधिगत व्यवस्था</a:t>
            </a:r>
            <a:endParaRPr lang="ne-NP" sz="3200" b="1" dirty="0">
              <a:solidFill>
                <a:srgbClr val="0070C0"/>
              </a:solidFill>
              <a:latin typeface="Kokila" pitchFamily="34" charset="0"/>
              <a:cs typeface="Kokila" pitchFamily="34" charset="0"/>
            </a:endParaRPr>
          </a:p>
          <a:p>
            <a:r>
              <a:rPr lang="ne-NP" sz="3200" b="1" dirty="0" smtClean="0">
                <a:solidFill>
                  <a:srgbClr val="0070C0"/>
                </a:solidFill>
                <a:latin typeface="Kokila" pitchFamily="34" charset="0"/>
                <a:cs typeface="Kokila" pitchFamily="34" charset="0"/>
              </a:rPr>
              <a:t>गोपनीयता र लगातार सुनुवाई सम्बन्धी हाम्रो अभ्यास</a:t>
            </a:r>
          </a:p>
        </p:txBody>
      </p:sp>
      <p:sp>
        <p:nvSpPr>
          <p:cNvPr id="2" name="Title 1"/>
          <p:cNvSpPr>
            <a:spLocks noGrp="1"/>
          </p:cNvSpPr>
          <p:nvPr>
            <p:ph type="title"/>
          </p:nvPr>
        </p:nvSpPr>
        <p:spPr/>
        <p:txBody>
          <a:bodyPr>
            <a:normAutofit/>
          </a:bodyPr>
          <a:lstStyle/>
          <a:p>
            <a:r>
              <a:rPr lang="ne-NP" sz="5400" dirty="0" smtClean="0">
                <a:solidFill>
                  <a:srgbClr val="002060"/>
                </a:solidFill>
                <a:latin typeface="Kokila" pitchFamily="34" charset="0"/>
                <a:cs typeface="Kokila" pitchFamily="34" charset="0"/>
              </a:rPr>
              <a:t>यस सत्रमा छलफल गरिने विषय</a:t>
            </a:r>
            <a:endParaRPr lang="en-US" sz="5400" dirty="0">
              <a:solidFill>
                <a:srgbClr val="002060"/>
              </a:solidFill>
              <a:latin typeface="Kokila" pitchFamily="34" charset="0"/>
              <a:cs typeface="Kokila" pitchFamily="34" charset="0"/>
            </a:endParaRPr>
          </a:p>
        </p:txBody>
      </p:sp>
    </p:spTree>
    <p:extLst>
      <p:ext uri="{BB962C8B-B14F-4D97-AF65-F5344CB8AC3E}">
        <p14:creationId xmlns:p14="http://schemas.microsoft.com/office/powerpoint/2010/main" xmlns="" val="13086478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5268" y="0"/>
            <a:ext cx="9905998" cy="1177636"/>
          </a:xfrm>
        </p:spPr>
        <p:txBody>
          <a:bodyPr>
            <a:normAutofit/>
          </a:bodyPr>
          <a:lstStyle/>
          <a:p>
            <a:r>
              <a:rPr lang="ne-NP" sz="5400" b="1" dirty="0" smtClean="0">
                <a:solidFill>
                  <a:srgbClr val="002060"/>
                </a:solidFill>
                <a:latin typeface="Kokila" pitchFamily="34" charset="0"/>
                <a:cs typeface="Kokila" pitchFamily="34" charset="0"/>
              </a:rPr>
              <a:t>न्याय के हो </a:t>
            </a:r>
            <a:r>
              <a:rPr lang="en-US" sz="5400" b="1" dirty="0" smtClean="0">
                <a:solidFill>
                  <a:srgbClr val="002060"/>
                </a:solidFill>
                <a:latin typeface="Kokila" pitchFamily="34" charset="0"/>
                <a:cs typeface="Kokila" pitchFamily="34" charset="0"/>
              </a:rPr>
              <a:t>? </a:t>
            </a:r>
            <a:endParaRPr lang="en-US" sz="5400" b="1" dirty="0">
              <a:solidFill>
                <a:srgbClr val="002060"/>
              </a:solidFill>
              <a:latin typeface="Kokila" pitchFamily="34" charset="0"/>
              <a:cs typeface="Kokila" pitchFamily="34" charset="0"/>
            </a:endParaRPr>
          </a:p>
        </p:txBody>
      </p:sp>
      <p:sp>
        <p:nvSpPr>
          <p:cNvPr id="3" name="Content Placeholder 2"/>
          <p:cNvSpPr>
            <a:spLocks noGrp="1"/>
          </p:cNvSpPr>
          <p:nvPr>
            <p:ph idx="1"/>
          </p:nvPr>
        </p:nvSpPr>
        <p:spPr>
          <a:xfrm>
            <a:off x="1141412" y="1080655"/>
            <a:ext cx="9905999" cy="5444836"/>
          </a:xfrm>
        </p:spPr>
        <p:txBody>
          <a:bodyPr>
            <a:normAutofit/>
          </a:bodyPr>
          <a:lstStyle/>
          <a:p>
            <a:r>
              <a:rPr lang="ne-NP" sz="3200" b="1" dirty="0" smtClean="0">
                <a:latin typeface="Kokila" pitchFamily="34" charset="0"/>
                <a:cs typeface="Kokila" pitchFamily="34" charset="0"/>
              </a:rPr>
              <a:t>कानूनी पद्दतीको माध्यमद्बारा समाजमा शान्ति सुव्यवस्था कायम हुने गरी उचित</a:t>
            </a:r>
            <a:r>
              <a:rPr lang="en-US" sz="3200" b="1" dirty="0" smtClean="0">
                <a:latin typeface="Kokila" pitchFamily="34" charset="0"/>
                <a:cs typeface="Kokila" pitchFamily="34" charset="0"/>
              </a:rPr>
              <a:t>,</a:t>
            </a:r>
            <a:r>
              <a:rPr lang="ne-NP" sz="3200" b="1" dirty="0" smtClean="0">
                <a:latin typeface="Kokila" pitchFamily="34" charset="0"/>
                <a:cs typeface="Kokila" pitchFamily="34" charset="0"/>
              </a:rPr>
              <a:t> निष्पक्ष र समान किसिमको व्यवहार पद्दतीको विकास गर्नु नै न्याय हो । </a:t>
            </a:r>
          </a:p>
          <a:p>
            <a:r>
              <a:rPr lang="en-US" sz="3200" b="1" dirty="0" smtClean="0">
                <a:solidFill>
                  <a:srgbClr val="0070C0"/>
                </a:solidFill>
                <a:latin typeface="Kokila" pitchFamily="34" charset="0"/>
                <a:cs typeface="Kokila" pitchFamily="34" charset="0"/>
              </a:rPr>
              <a:t>Just, Fair and Reasonable </a:t>
            </a:r>
            <a:r>
              <a:rPr lang="ne-NP" sz="3200" b="1" dirty="0" smtClean="0">
                <a:latin typeface="Kokila" pitchFamily="34" charset="0"/>
                <a:cs typeface="Kokila" pitchFamily="34" charset="0"/>
              </a:rPr>
              <a:t>न्यायका मान्यता हुन् भने </a:t>
            </a:r>
            <a:r>
              <a:rPr lang="en-US" sz="3200" b="1" dirty="0" smtClean="0">
                <a:solidFill>
                  <a:srgbClr val="0070C0"/>
                </a:solidFill>
                <a:latin typeface="Kokila" pitchFamily="34" charset="0"/>
                <a:cs typeface="Kokila" pitchFamily="34" charset="0"/>
              </a:rPr>
              <a:t>Impartiality,  Equality  and Transparency</a:t>
            </a:r>
            <a:r>
              <a:rPr lang="en-US" sz="3200" b="1" dirty="0" smtClean="0">
                <a:latin typeface="Kokila" pitchFamily="34" charset="0"/>
                <a:cs typeface="Kokila" pitchFamily="34" charset="0"/>
              </a:rPr>
              <a:t> </a:t>
            </a:r>
            <a:r>
              <a:rPr lang="ne-NP" sz="3200" b="1" dirty="0" smtClean="0">
                <a:latin typeface="Kokila" pitchFamily="34" charset="0"/>
                <a:cs typeface="Kokila" pitchFamily="34" charset="0"/>
              </a:rPr>
              <a:t>यसका </a:t>
            </a:r>
            <a:r>
              <a:rPr lang="en-US" sz="3200" b="1" dirty="0" smtClean="0">
                <a:latin typeface="Kokila" pitchFamily="34" charset="0"/>
                <a:cs typeface="Kokila" pitchFamily="34" charset="0"/>
              </a:rPr>
              <a:t> </a:t>
            </a:r>
            <a:r>
              <a:rPr lang="ne-NP" sz="3200" b="1" dirty="0" smtClean="0">
                <a:latin typeface="Kokila" pitchFamily="34" charset="0"/>
                <a:cs typeface="Kokila" pitchFamily="34" charset="0"/>
              </a:rPr>
              <a:t>आधारभुत तत्व हुन् । </a:t>
            </a:r>
          </a:p>
          <a:p>
            <a:r>
              <a:rPr lang="ne-NP" sz="3200" b="1" dirty="0" smtClean="0">
                <a:latin typeface="Kokila" pitchFamily="34" charset="0"/>
                <a:cs typeface="Kokila" pitchFamily="34" charset="0"/>
              </a:rPr>
              <a:t>समाजले </a:t>
            </a:r>
            <a:r>
              <a:rPr lang="en-US" sz="3200" b="1" dirty="0" smtClean="0">
                <a:solidFill>
                  <a:srgbClr val="0070C0"/>
                </a:solidFill>
                <a:latin typeface="Kokila" pitchFamily="34" charset="0"/>
                <a:cs typeface="Kokila" pitchFamily="34" charset="0"/>
              </a:rPr>
              <a:t>morality/ethics, rationality, law, religion, equity, fairness </a:t>
            </a:r>
            <a:r>
              <a:rPr lang="ne-NP" sz="3200" b="1" dirty="0" smtClean="0">
                <a:latin typeface="Kokila" pitchFamily="34" charset="0"/>
                <a:cs typeface="Kokila" pitchFamily="34" charset="0"/>
              </a:rPr>
              <a:t>जस्ता कुराका आधारमा जुन कुरा सही </a:t>
            </a:r>
            <a:r>
              <a:rPr lang="en-US" sz="3200" b="1" dirty="0" smtClean="0">
                <a:latin typeface="Kokila" pitchFamily="34" charset="0"/>
                <a:cs typeface="Kokila" pitchFamily="34" charset="0"/>
              </a:rPr>
              <a:t>(Right) </a:t>
            </a:r>
            <a:r>
              <a:rPr lang="ne-NP" sz="3200" b="1" dirty="0" smtClean="0">
                <a:latin typeface="Kokila" pitchFamily="34" charset="0"/>
                <a:cs typeface="Kokila" pitchFamily="34" charset="0"/>
              </a:rPr>
              <a:t>मान्दछ त्यो न्याय हो । </a:t>
            </a:r>
          </a:p>
          <a:p>
            <a:r>
              <a:rPr lang="ne-NP" sz="3200" b="1" dirty="0" smtClean="0">
                <a:latin typeface="Kokila" pitchFamily="34" charset="0"/>
                <a:cs typeface="Kokila" pitchFamily="34" charset="0"/>
              </a:rPr>
              <a:t>भोकोलाई खान पाए त्यही न्याय हो</a:t>
            </a:r>
            <a:r>
              <a:rPr lang="en-US" sz="3200" b="1" dirty="0" smtClean="0">
                <a:latin typeface="Kokila" pitchFamily="34" charset="0"/>
                <a:cs typeface="Kokila" pitchFamily="34" charset="0"/>
              </a:rPr>
              <a:t>, </a:t>
            </a:r>
            <a:r>
              <a:rPr lang="ne-NP" sz="3200" b="1" dirty="0" smtClean="0">
                <a:latin typeface="Kokila" pitchFamily="34" charset="0"/>
                <a:cs typeface="Kokila" pitchFamily="34" charset="0"/>
              </a:rPr>
              <a:t>विरामीले सही उपचार पाए त्यही न्याय हो</a:t>
            </a:r>
            <a:r>
              <a:rPr lang="en-US" sz="3200" b="1" dirty="0" smtClean="0">
                <a:latin typeface="Kokila" pitchFamily="34" charset="0"/>
                <a:cs typeface="Kokila" pitchFamily="34" charset="0"/>
              </a:rPr>
              <a:t>, </a:t>
            </a:r>
            <a:r>
              <a:rPr lang="ne-NP" sz="3200" b="1" dirty="0" smtClean="0">
                <a:latin typeface="Kokila" pitchFamily="34" charset="0"/>
                <a:cs typeface="Kokila" pitchFamily="34" charset="0"/>
              </a:rPr>
              <a:t>पीडामा परेकोलाई पीडाबाट मुक्ति पाए त्यही न्याय हो ।</a:t>
            </a:r>
          </a:p>
          <a:p>
            <a:r>
              <a:rPr lang="ne-NP" sz="3200" b="1" dirty="0" smtClean="0">
                <a:latin typeface="Kokila" pitchFamily="34" charset="0"/>
                <a:cs typeface="Kokila" pitchFamily="34" charset="0"/>
              </a:rPr>
              <a:t>कानूनी वा वैधानिक रुपमा आवश्यकताको परिपूरण नै न्याय हो । </a:t>
            </a:r>
          </a:p>
          <a:p>
            <a:r>
              <a:rPr lang="ne-NP" sz="3200" b="1" dirty="0" smtClean="0">
                <a:latin typeface="Kokila" pitchFamily="34" charset="0"/>
                <a:cs typeface="Kokila" pitchFamily="34" charset="0"/>
              </a:rPr>
              <a:t>न्याय कानूनी शासनको प्रत्यभूतिको मानक पनि 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3704" y="0"/>
            <a:ext cx="9905998" cy="1478570"/>
          </a:xfrm>
        </p:spPr>
        <p:txBody>
          <a:bodyPr>
            <a:normAutofit/>
          </a:bodyPr>
          <a:lstStyle/>
          <a:p>
            <a:r>
              <a:rPr lang="ne-NP" sz="4400" b="1" dirty="0" smtClean="0">
                <a:solidFill>
                  <a:srgbClr val="002060"/>
                </a:solidFill>
                <a:latin typeface="Kokila" pitchFamily="34" charset="0"/>
                <a:cs typeface="Kokila" pitchFamily="34" charset="0"/>
              </a:rPr>
              <a:t>न्यायका मान्य सिद्धान्तहरु </a:t>
            </a:r>
            <a:r>
              <a:rPr lang="en-US" sz="4400" b="1" dirty="0" smtClean="0">
                <a:solidFill>
                  <a:srgbClr val="002060"/>
                </a:solidFill>
                <a:latin typeface="Kokila" pitchFamily="34" charset="0"/>
                <a:cs typeface="Kokila" pitchFamily="34" charset="0"/>
              </a:rPr>
              <a:t>(PRINCIPLES OF Justice)</a:t>
            </a:r>
            <a:endParaRPr lang="en-US" sz="4400" b="1" dirty="0">
              <a:solidFill>
                <a:srgbClr val="002060"/>
              </a:solidFill>
              <a:latin typeface="Kokila" pitchFamily="34" charset="0"/>
              <a:cs typeface="Kokila" pitchFamily="34" charset="0"/>
            </a:endParaRPr>
          </a:p>
        </p:txBody>
      </p:sp>
      <p:sp>
        <p:nvSpPr>
          <p:cNvPr id="3" name="Content Placeholder 2"/>
          <p:cNvSpPr>
            <a:spLocks noGrp="1"/>
          </p:cNvSpPr>
          <p:nvPr>
            <p:ph idx="1"/>
          </p:nvPr>
        </p:nvSpPr>
        <p:spPr>
          <a:xfrm>
            <a:off x="1141413" y="1302326"/>
            <a:ext cx="10274732" cy="5250873"/>
          </a:xfrm>
        </p:spPr>
        <p:txBody>
          <a:bodyPr>
            <a:normAutofit/>
          </a:bodyPr>
          <a:lstStyle/>
          <a:p>
            <a:pPr>
              <a:lnSpc>
                <a:spcPct val="110000"/>
              </a:lnSpc>
              <a:spcBef>
                <a:spcPts val="0"/>
              </a:spcBef>
            </a:pPr>
            <a:r>
              <a:rPr lang="ne-NP" sz="3600" b="1" dirty="0" smtClean="0">
                <a:latin typeface="Kokila" pitchFamily="34" charset="0"/>
                <a:cs typeface="Kokila" pitchFamily="34" charset="0"/>
              </a:rPr>
              <a:t>उचित </a:t>
            </a:r>
            <a:r>
              <a:rPr lang="en-US" sz="3600" b="1" dirty="0" smtClean="0">
                <a:latin typeface="Kokila" pitchFamily="34" charset="0"/>
                <a:cs typeface="Kokila" pitchFamily="34" charset="0"/>
              </a:rPr>
              <a:t>(Just)</a:t>
            </a:r>
          </a:p>
          <a:p>
            <a:pPr>
              <a:lnSpc>
                <a:spcPct val="110000"/>
              </a:lnSpc>
              <a:spcBef>
                <a:spcPts val="0"/>
              </a:spcBef>
            </a:pPr>
            <a:r>
              <a:rPr lang="ne-NP" sz="3600" b="1" dirty="0" smtClean="0">
                <a:latin typeface="Kokila" pitchFamily="34" charset="0"/>
                <a:cs typeface="Kokila" pitchFamily="34" charset="0"/>
              </a:rPr>
              <a:t>पूर्वाग्रह रहित </a:t>
            </a:r>
            <a:r>
              <a:rPr lang="en-US" sz="3600" b="1" dirty="0" smtClean="0">
                <a:latin typeface="Kokila" pitchFamily="34" charset="0"/>
                <a:cs typeface="Kokila" pitchFamily="34" charset="0"/>
              </a:rPr>
              <a:t>(Fair) </a:t>
            </a:r>
          </a:p>
          <a:p>
            <a:pPr>
              <a:lnSpc>
                <a:spcPct val="110000"/>
              </a:lnSpc>
              <a:spcBef>
                <a:spcPts val="0"/>
              </a:spcBef>
            </a:pPr>
            <a:r>
              <a:rPr lang="ne-NP" sz="3600" b="1" dirty="0" smtClean="0">
                <a:latin typeface="Kokila" pitchFamily="34" charset="0"/>
                <a:cs typeface="Kokila" pitchFamily="34" charset="0"/>
              </a:rPr>
              <a:t>तर्कसंगत </a:t>
            </a:r>
            <a:r>
              <a:rPr lang="en-US" sz="3600" b="1" dirty="0" smtClean="0">
                <a:latin typeface="Kokila" pitchFamily="34" charset="0"/>
                <a:cs typeface="Kokila" pitchFamily="34" charset="0"/>
              </a:rPr>
              <a:t>(Reasonable)</a:t>
            </a:r>
          </a:p>
          <a:p>
            <a:pPr>
              <a:lnSpc>
                <a:spcPct val="110000"/>
              </a:lnSpc>
              <a:spcBef>
                <a:spcPts val="0"/>
              </a:spcBef>
            </a:pPr>
            <a:r>
              <a:rPr lang="ne-NP" sz="3600" b="1" dirty="0" smtClean="0">
                <a:latin typeface="Kokila" pitchFamily="34" charset="0"/>
                <a:cs typeface="Kokila" pitchFamily="34" charset="0"/>
              </a:rPr>
              <a:t>निष्पक्ष</a:t>
            </a:r>
            <a:r>
              <a:rPr lang="en-US" sz="3600" b="1" dirty="0" smtClean="0">
                <a:latin typeface="Kokila" pitchFamily="34" charset="0"/>
                <a:cs typeface="Kokila" pitchFamily="34" charset="0"/>
              </a:rPr>
              <a:t> (Impartial)</a:t>
            </a:r>
          </a:p>
          <a:p>
            <a:pPr>
              <a:lnSpc>
                <a:spcPct val="110000"/>
              </a:lnSpc>
              <a:spcBef>
                <a:spcPts val="0"/>
              </a:spcBef>
            </a:pPr>
            <a:r>
              <a:rPr lang="ne-NP" sz="3600" b="1" dirty="0" smtClean="0">
                <a:latin typeface="Kokila" pitchFamily="34" charset="0"/>
                <a:cs typeface="Kokila" pitchFamily="34" charset="0"/>
              </a:rPr>
              <a:t>समान </a:t>
            </a:r>
            <a:r>
              <a:rPr lang="en-US" sz="3600" b="1" dirty="0" smtClean="0">
                <a:latin typeface="Kokila" pitchFamily="34" charset="0"/>
                <a:cs typeface="Kokila" pitchFamily="34" charset="0"/>
              </a:rPr>
              <a:t>(Equal) </a:t>
            </a:r>
          </a:p>
          <a:p>
            <a:pPr>
              <a:lnSpc>
                <a:spcPct val="110000"/>
              </a:lnSpc>
              <a:spcBef>
                <a:spcPts val="0"/>
              </a:spcBef>
            </a:pPr>
            <a:r>
              <a:rPr lang="ne-NP" sz="3600" b="1" dirty="0" smtClean="0">
                <a:latin typeface="Kokila" pitchFamily="34" charset="0"/>
                <a:cs typeface="Kokila" pitchFamily="34" charset="0"/>
              </a:rPr>
              <a:t>पारदर्शि</a:t>
            </a:r>
            <a:r>
              <a:rPr lang="en-US" sz="3600" b="1" dirty="0" smtClean="0">
                <a:latin typeface="Kokila" pitchFamily="34" charset="0"/>
                <a:cs typeface="Kokila" pitchFamily="34" charset="0"/>
              </a:rPr>
              <a:t> (Transparent)</a:t>
            </a:r>
          </a:p>
          <a:p>
            <a:pPr>
              <a:lnSpc>
                <a:spcPct val="110000"/>
              </a:lnSpc>
              <a:spcBef>
                <a:spcPts val="0"/>
              </a:spcBef>
            </a:pPr>
            <a:r>
              <a:rPr lang="ne-NP" sz="3600" b="1" dirty="0" smtClean="0">
                <a:latin typeface="Kokila" pitchFamily="34" charset="0"/>
                <a:cs typeface="Kokila" pitchFamily="34" charset="0"/>
              </a:rPr>
              <a:t>नैतिक</a:t>
            </a:r>
            <a:r>
              <a:rPr lang="en-US" sz="3600" b="1" dirty="0" smtClean="0">
                <a:latin typeface="Kokila" pitchFamily="34" charset="0"/>
                <a:cs typeface="Kokila" pitchFamily="34" charset="0"/>
              </a:rPr>
              <a:t> (Moral/Ethical)</a:t>
            </a:r>
          </a:p>
          <a:p>
            <a:pPr>
              <a:lnSpc>
                <a:spcPct val="110000"/>
              </a:lnSpc>
              <a:spcBef>
                <a:spcPts val="0"/>
              </a:spcBef>
            </a:pPr>
            <a:r>
              <a:rPr lang="ne-NP" sz="3600" b="1" dirty="0" smtClean="0">
                <a:latin typeface="Kokila" pitchFamily="34" charset="0"/>
                <a:cs typeface="Kokila" pitchFamily="34" charset="0"/>
              </a:rPr>
              <a:t>कानूनी</a:t>
            </a:r>
            <a:r>
              <a:rPr lang="en-US" sz="3600" b="1" dirty="0" smtClean="0">
                <a:latin typeface="Kokila" pitchFamily="34" charset="0"/>
                <a:cs typeface="Kokila" pitchFamily="34" charset="0"/>
              </a:rPr>
              <a:t> (Legal)</a:t>
            </a:r>
            <a:endParaRPr lang="ne-NP" sz="3600" b="1" dirty="0" smtClean="0">
              <a:latin typeface="Kokila" pitchFamily="34" charset="0"/>
              <a:cs typeface="Kokila" pitchFamily="34" charset="0"/>
            </a:endParaRP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7559" y="0"/>
            <a:ext cx="9905998" cy="1478570"/>
          </a:xfrm>
        </p:spPr>
        <p:txBody>
          <a:bodyPr>
            <a:normAutofit/>
          </a:bodyPr>
          <a:lstStyle/>
          <a:p>
            <a:r>
              <a:rPr lang="ne-NP" sz="5400" b="1" dirty="0" smtClean="0">
                <a:solidFill>
                  <a:srgbClr val="002060"/>
                </a:solidFill>
                <a:latin typeface="Kokila" pitchFamily="34" charset="0"/>
                <a:cs typeface="Kokila" pitchFamily="34" charset="0"/>
              </a:rPr>
              <a:t>न्यायका आधिकारिक संवाहक</a:t>
            </a:r>
            <a:endParaRPr lang="en-US" sz="5400" b="1" dirty="0">
              <a:solidFill>
                <a:srgbClr val="002060"/>
              </a:solidFill>
              <a:latin typeface="Kokila" pitchFamily="34" charset="0"/>
              <a:cs typeface="Kokila" pitchFamily="34" charset="0"/>
            </a:endParaRPr>
          </a:p>
        </p:txBody>
      </p:sp>
      <p:sp>
        <p:nvSpPr>
          <p:cNvPr id="3" name="Content Placeholder 2"/>
          <p:cNvSpPr>
            <a:spLocks noGrp="1"/>
          </p:cNvSpPr>
          <p:nvPr>
            <p:ph idx="1"/>
          </p:nvPr>
        </p:nvSpPr>
        <p:spPr>
          <a:xfrm>
            <a:off x="1141412" y="1233055"/>
            <a:ext cx="9905999" cy="5153890"/>
          </a:xfrm>
        </p:spPr>
        <p:txBody>
          <a:bodyPr>
            <a:normAutofit/>
          </a:bodyPr>
          <a:lstStyle/>
          <a:p>
            <a:r>
              <a:rPr lang="ne-NP" sz="3200" b="1" dirty="0" smtClean="0">
                <a:latin typeface="Kokila" pitchFamily="34" charset="0"/>
                <a:cs typeface="Kokila" pitchFamily="34" charset="0"/>
              </a:rPr>
              <a:t>नियमित अदालत</a:t>
            </a:r>
          </a:p>
          <a:p>
            <a:pPr lvl="1"/>
            <a:r>
              <a:rPr lang="ne-NP" sz="2800" b="1" dirty="0" smtClean="0">
                <a:latin typeface="Kokila" pitchFamily="34" charset="0"/>
                <a:cs typeface="Kokila" pitchFamily="34" charset="0"/>
              </a:rPr>
              <a:t>सर्वोच्च अदालत</a:t>
            </a:r>
          </a:p>
          <a:p>
            <a:pPr lvl="1"/>
            <a:r>
              <a:rPr lang="ne-NP" sz="2800" b="1" dirty="0" smtClean="0">
                <a:latin typeface="Kokila" pitchFamily="34" charset="0"/>
                <a:cs typeface="Kokila" pitchFamily="34" charset="0"/>
              </a:rPr>
              <a:t>उच्च अदालत</a:t>
            </a:r>
          </a:p>
          <a:p>
            <a:pPr lvl="1"/>
            <a:r>
              <a:rPr lang="ne-NP" sz="2800" b="1" dirty="0" smtClean="0">
                <a:latin typeface="Kokila" pitchFamily="34" charset="0"/>
                <a:cs typeface="Kokila" pitchFamily="34" charset="0"/>
              </a:rPr>
              <a:t>जिल्ला अदालत</a:t>
            </a:r>
            <a:endParaRPr lang="en-US" sz="2800" b="1" dirty="0" smtClean="0">
              <a:latin typeface="Kokila" pitchFamily="34" charset="0"/>
              <a:cs typeface="Kokila" pitchFamily="34" charset="0"/>
            </a:endParaRPr>
          </a:p>
          <a:p>
            <a:r>
              <a:rPr lang="ne-NP" sz="3200" b="1" dirty="0" smtClean="0">
                <a:latin typeface="Kokila" pitchFamily="34" charset="0"/>
                <a:cs typeface="Kokila" pitchFamily="34" charset="0"/>
              </a:rPr>
              <a:t>विशेष अदालत र न्यायाधिकरणहरु</a:t>
            </a:r>
          </a:p>
          <a:p>
            <a:r>
              <a:rPr lang="ne-NP" sz="3200" b="1" dirty="0" smtClean="0">
                <a:latin typeface="Kokila" pitchFamily="34" charset="0"/>
                <a:cs typeface="Kokila" pitchFamily="34" charset="0"/>
              </a:rPr>
              <a:t>अर्ध न्यायायिक निकायहरु </a:t>
            </a:r>
          </a:p>
          <a:p>
            <a:pPr lvl="1"/>
            <a:r>
              <a:rPr lang="ne-NP" sz="2800" b="1" dirty="0" smtClean="0">
                <a:latin typeface="Kokila" pitchFamily="34" charset="0"/>
                <a:cs typeface="Kokila" pitchFamily="34" charset="0"/>
              </a:rPr>
              <a:t>मालपोत</a:t>
            </a:r>
            <a:r>
              <a:rPr lang="en-US" sz="2800" b="1" dirty="0" smtClean="0">
                <a:latin typeface="Kokila" pitchFamily="34" charset="0"/>
                <a:cs typeface="Kokila" pitchFamily="34" charset="0"/>
              </a:rPr>
              <a:t>, </a:t>
            </a:r>
            <a:r>
              <a:rPr lang="ne-NP" sz="2800" b="1" dirty="0" smtClean="0">
                <a:latin typeface="Kokila" pitchFamily="34" charset="0"/>
                <a:cs typeface="Kokila" pitchFamily="34" charset="0"/>
              </a:rPr>
              <a:t>वन</a:t>
            </a:r>
            <a:r>
              <a:rPr lang="en-US" sz="2800" b="1" dirty="0" smtClean="0">
                <a:latin typeface="Kokila" pitchFamily="34" charset="0"/>
                <a:cs typeface="Kokila" pitchFamily="34" charset="0"/>
              </a:rPr>
              <a:t>, </a:t>
            </a:r>
            <a:r>
              <a:rPr lang="ne-NP" sz="2800" b="1" dirty="0" smtClean="0">
                <a:latin typeface="Kokila" pitchFamily="34" charset="0"/>
                <a:cs typeface="Kokila" pitchFamily="34" charset="0"/>
              </a:rPr>
              <a:t>नापी</a:t>
            </a:r>
            <a:r>
              <a:rPr lang="en-US" sz="2800" b="1" dirty="0" smtClean="0">
                <a:latin typeface="Kokila" pitchFamily="34" charset="0"/>
                <a:cs typeface="Kokila" pitchFamily="34" charset="0"/>
              </a:rPr>
              <a:t>, </a:t>
            </a:r>
            <a:r>
              <a:rPr lang="ne-NP" sz="2800" b="1" dirty="0" smtClean="0">
                <a:latin typeface="Kokila" pitchFamily="34" charset="0"/>
                <a:cs typeface="Kokila" pitchFamily="34" charset="0"/>
              </a:rPr>
              <a:t>भूमिसुधार आदि ।</a:t>
            </a:r>
          </a:p>
          <a:p>
            <a:r>
              <a:rPr lang="ne-NP" sz="3200" b="1" dirty="0" smtClean="0">
                <a:latin typeface="Kokila" pitchFamily="34" charset="0"/>
                <a:cs typeface="Kokila" pitchFamily="34" charset="0"/>
              </a:rPr>
              <a:t>स्थानीय न्यायिक समिति</a:t>
            </a:r>
          </a:p>
          <a:p>
            <a:endParaRPr lang="ne-NP" b="1" dirty="0" smtClean="0">
              <a:latin typeface="Kokila" pitchFamily="34" charset="0"/>
              <a:cs typeface="Kokil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20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20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2000"/>
                                        <p:tgtEl>
                                          <p:spTgt spid="3">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20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r>
              <a:rPr lang="sa-IN" sz="3200" b="1" dirty="0" smtClean="0">
                <a:solidFill>
                  <a:srgbClr val="0070C0"/>
                </a:solidFill>
                <a:latin typeface="Kokila" pitchFamily="34" charset="0"/>
                <a:cs typeface="Kokila" pitchFamily="34" charset="0"/>
              </a:rPr>
              <a:t>स्वतन्त्रता</a:t>
            </a:r>
            <a:r>
              <a:rPr lang="en-US" sz="3200" b="1" dirty="0" smtClean="0">
                <a:solidFill>
                  <a:srgbClr val="0070C0"/>
                </a:solidFill>
                <a:latin typeface="Kokila" pitchFamily="34" charset="0"/>
                <a:cs typeface="Kokila" pitchFamily="34" charset="0"/>
              </a:rPr>
              <a:t>, </a:t>
            </a:r>
            <a:r>
              <a:rPr lang="sa-IN" sz="3200" b="1" dirty="0" smtClean="0">
                <a:solidFill>
                  <a:srgbClr val="0070C0"/>
                </a:solidFill>
                <a:latin typeface="Kokila" pitchFamily="34" charset="0"/>
                <a:cs typeface="Kokila" pitchFamily="34" charset="0"/>
              </a:rPr>
              <a:t>समानता र आत्म सम्मान (</a:t>
            </a:r>
            <a:r>
              <a:rPr lang="en-US" sz="3200" b="1" dirty="0" smtClean="0">
                <a:solidFill>
                  <a:srgbClr val="0070C0"/>
                </a:solidFill>
                <a:latin typeface="Kokila" pitchFamily="34" charset="0"/>
                <a:cs typeface="Kokila" pitchFamily="34" charset="0"/>
              </a:rPr>
              <a:t>Self-dignity</a:t>
            </a:r>
            <a:r>
              <a:rPr lang="sa-IN" sz="3200" b="1" dirty="0" smtClean="0">
                <a:solidFill>
                  <a:srgbClr val="0070C0"/>
                </a:solidFill>
                <a:latin typeface="Kokila" pitchFamily="34" charset="0"/>
                <a:cs typeface="Kokila" pitchFamily="34" charset="0"/>
              </a:rPr>
              <a:t>) मानव मात्रको नैसंर्गिक अधिकार हो । </a:t>
            </a:r>
            <a:endParaRPr lang="ne-NP" sz="3200" b="1" dirty="0" smtClean="0">
              <a:solidFill>
                <a:srgbClr val="0070C0"/>
              </a:solidFill>
              <a:latin typeface="Kokila" pitchFamily="34" charset="0"/>
              <a:cs typeface="Kokila" pitchFamily="34" charset="0"/>
            </a:endParaRPr>
          </a:p>
          <a:p>
            <a:r>
              <a:rPr lang="sa-IN" sz="3200" b="1" dirty="0" smtClean="0">
                <a:solidFill>
                  <a:srgbClr val="0070C0"/>
                </a:solidFill>
                <a:latin typeface="Kokila" pitchFamily="34" charset="0"/>
                <a:cs typeface="Kokila" pitchFamily="34" charset="0"/>
              </a:rPr>
              <a:t>समानता र आत्म सम्मानको अधिकारले मानिसको व्यक्तिगत स्वतन्त्रतालाई प्रत्याभूत</a:t>
            </a:r>
            <a:r>
              <a:rPr lang="en-US" sz="3200" b="1" dirty="0" smtClean="0">
                <a:solidFill>
                  <a:srgbClr val="0070C0"/>
                </a:solidFill>
                <a:latin typeface="Kokila" pitchFamily="34" charset="0"/>
                <a:cs typeface="Kokila" pitchFamily="34" charset="0"/>
              </a:rPr>
              <a:t> </a:t>
            </a:r>
            <a:r>
              <a:rPr lang="sa-IN" sz="3200" b="1" dirty="0" smtClean="0">
                <a:solidFill>
                  <a:srgbClr val="0070C0"/>
                </a:solidFill>
                <a:latin typeface="Kokila" pitchFamily="34" charset="0"/>
                <a:cs typeface="Kokila" pitchFamily="34" charset="0"/>
              </a:rPr>
              <a:t>प्रदान गर्</a:t>
            </a:r>
            <a:r>
              <a:rPr lang="ne-NP" sz="3200" b="1" dirty="0" smtClean="0">
                <a:solidFill>
                  <a:srgbClr val="0070C0"/>
                </a:solidFill>
                <a:latin typeface="Kokila" pitchFamily="34" charset="0"/>
                <a:cs typeface="Kokila" pitchFamily="34" charset="0"/>
              </a:rPr>
              <a:t>ने</a:t>
            </a:r>
            <a:r>
              <a:rPr lang="sa-IN" sz="3200" b="1" dirty="0" smtClean="0">
                <a:solidFill>
                  <a:srgbClr val="0070C0"/>
                </a:solidFill>
                <a:latin typeface="Kokila" pitchFamily="34" charset="0"/>
                <a:cs typeface="Kokila" pitchFamily="34" charset="0"/>
              </a:rPr>
              <a:t> । </a:t>
            </a:r>
            <a:endParaRPr lang="ne-NP" sz="3200" b="1" dirty="0" smtClean="0">
              <a:solidFill>
                <a:srgbClr val="0070C0"/>
              </a:solidFill>
              <a:latin typeface="Kokila" pitchFamily="34" charset="0"/>
              <a:cs typeface="Kokila" pitchFamily="34" charset="0"/>
            </a:endParaRPr>
          </a:p>
          <a:p>
            <a:r>
              <a:rPr lang="sa-IN" sz="3200" b="1" dirty="0" smtClean="0">
                <a:solidFill>
                  <a:srgbClr val="0070C0"/>
                </a:solidFill>
                <a:latin typeface="Kokila" pitchFamily="34" charset="0"/>
                <a:cs typeface="Kokila" pitchFamily="34" charset="0"/>
              </a:rPr>
              <a:t>समानता र आत्मसम्मानको अधिकारलाई अन्तर्राष्ट्रियस्तरमा विभिन्न मानव अधिकार सम्बन्धी कानूनी व्यवस्थाहरू लगायत मानव अधिकारको विश्वव्यापी घोषणपत्रले </a:t>
            </a:r>
            <a:r>
              <a:rPr lang="ne-NP" sz="3200" b="1" dirty="0" smtClean="0">
                <a:solidFill>
                  <a:srgbClr val="0070C0"/>
                </a:solidFill>
                <a:latin typeface="Kokila" pitchFamily="34" charset="0"/>
                <a:cs typeface="Kokila" pitchFamily="34" charset="0"/>
              </a:rPr>
              <a:t>समेत </a:t>
            </a:r>
            <a:r>
              <a:rPr lang="sa-IN" sz="3200" b="1" dirty="0" smtClean="0">
                <a:solidFill>
                  <a:srgbClr val="0070C0"/>
                </a:solidFill>
                <a:latin typeface="Kokila" pitchFamily="34" charset="0"/>
                <a:cs typeface="Kokila" pitchFamily="34" charset="0"/>
              </a:rPr>
              <a:t>संरक्षण </a:t>
            </a:r>
            <a:r>
              <a:rPr lang="ne-NP" sz="3200" b="1" dirty="0" smtClean="0">
                <a:solidFill>
                  <a:srgbClr val="0070C0"/>
                </a:solidFill>
                <a:latin typeface="Kokila" pitchFamily="34" charset="0"/>
                <a:cs typeface="Kokila" pitchFamily="34" charset="0"/>
              </a:rPr>
              <a:t>प्रदान गरेको</a:t>
            </a:r>
            <a:r>
              <a:rPr lang="en-US" sz="3200" b="1" dirty="0" smtClean="0">
                <a:solidFill>
                  <a:srgbClr val="0070C0"/>
                </a:solidFill>
                <a:latin typeface="Kokila" pitchFamily="34" charset="0"/>
                <a:cs typeface="Kokila" pitchFamily="34" charset="0"/>
              </a:rPr>
              <a:t> </a:t>
            </a:r>
            <a:r>
              <a:rPr lang="sa-IN" sz="3200" b="1" dirty="0" smtClean="0">
                <a:solidFill>
                  <a:srgbClr val="0070C0"/>
                </a:solidFill>
                <a:latin typeface="Kokila" pitchFamily="34" charset="0"/>
                <a:cs typeface="Kokila" pitchFamily="34" charset="0"/>
              </a:rPr>
              <a:t>। </a:t>
            </a:r>
            <a:endParaRPr lang="ne-NP" sz="3200" b="1" dirty="0" smtClean="0">
              <a:solidFill>
                <a:srgbClr val="0070C0"/>
              </a:solidFill>
              <a:latin typeface="Kokila" pitchFamily="34" charset="0"/>
              <a:cs typeface="Kokila" pitchFamily="34" charset="0"/>
            </a:endParaRPr>
          </a:p>
          <a:p>
            <a:r>
              <a:rPr lang="sa-IN" sz="3200" b="1" dirty="0" smtClean="0">
                <a:solidFill>
                  <a:srgbClr val="0070C0"/>
                </a:solidFill>
                <a:latin typeface="Kokila" pitchFamily="34" charset="0"/>
                <a:cs typeface="Kokila" pitchFamily="34" charset="0"/>
              </a:rPr>
              <a:t>स्वतन्त्रता र समानताको अधिकार</a:t>
            </a:r>
            <a:r>
              <a:rPr lang="ne-NP" sz="3200" b="1" dirty="0" smtClean="0">
                <a:solidFill>
                  <a:srgbClr val="0070C0"/>
                </a:solidFill>
                <a:latin typeface="Kokila" pitchFamily="34" charset="0"/>
                <a:cs typeface="Kokila" pitchFamily="34" charset="0"/>
              </a:rPr>
              <a:t>लाई</a:t>
            </a:r>
            <a:r>
              <a:rPr lang="sa-IN" sz="3200" b="1" dirty="0" smtClean="0">
                <a:solidFill>
                  <a:srgbClr val="0070C0"/>
                </a:solidFill>
                <a:latin typeface="Kokila" pitchFamily="34" charset="0"/>
                <a:cs typeface="Kokila" pitchFamily="34" charset="0"/>
              </a:rPr>
              <a:t> नेपाल संविधान </a:t>
            </a:r>
            <a:r>
              <a:rPr lang="ne-NP" sz="3200" b="1" dirty="0" smtClean="0">
                <a:solidFill>
                  <a:srgbClr val="0070C0"/>
                </a:solidFill>
                <a:latin typeface="Kokila" pitchFamily="34" charset="0"/>
                <a:cs typeface="Kokila" pitchFamily="34" charset="0"/>
              </a:rPr>
              <a:t>द्बारा संरक्षण प्रदान गरेको</a:t>
            </a:r>
            <a:r>
              <a:rPr lang="sa-IN" sz="3200" b="1" dirty="0" smtClean="0">
                <a:solidFill>
                  <a:srgbClr val="0070C0"/>
                </a:solidFill>
                <a:latin typeface="Kokila" pitchFamily="34" charset="0"/>
                <a:cs typeface="Kokila" pitchFamily="34" charset="0"/>
              </a:rPr>
              <a:t>। </a:t>
            </a:r>
            <a:endParaRPr lang="ne-NP" sz="3200" b="1" dirty="0" smtClean="0">
              <a:solidFill>
                <a:srgbClr val="0070C0"/>
              </a:solidFill>
              <a:latin typeface="Kokila" pitchFamily="34" charset="0"/>
              <a:cs typeface="Kokila" pitchFamily="34" charset="0"/>
            </a:endParaRPr>
          </a:p>
          <a:p>
            <a:r>
              <a:rPr lang="sa-IN" sz="3200" b="1" dirty="0" smtClean="0">
                <a:solidFill>
                  <a:srgbClr val="0070C0"/>
                </a:solidFill>
                <a:latin typeface="Kokila" pitchFamily="34" charset="0"/>
                <a:cs typeface="Kokila" pitchFamily="34" charset="0"/>
              </a:rPr>
              <a:t>आत्मसम्मानको अधिकारलाई सुरक्षित गर्ने मुख्य आधार गोपनियताको अधिकार (</a:t>
            </a:r>
            <a:r>
              <a:rPr lang="en-US" sz="3200" b="1" dirty="0" smtClean="0">
                <a:solidFill>
                  <a:srgbClr val="0070C0"/>
                </a:solidFill>
                <a:latin typeface="Kokila" pitchFamily="34" charset="0"/>
                <a:cs typeface="Kokila" pitchFamily="34" charset="0"/>
              </a:rPr>
              <a:t>Right to Privacy</a:t>
            </a:r>
            <a:r>
              <a:rPr lang="sa-IN" sz="3200" b="1" dirty="0" smtClean="0">
                <a:solidFill>
                  <a:srgbClr val="0070C0"/>
                </a:solidFill>
                <a:latin typeface="Kokila" pitchFamily="34" charset="0"/>
                <a:cs typeface="Kokila" pitchFamily="34" charset="0"/>
              </a:rPr>
              <a:t>) नै हो ।</a:t>
            </a:r>
            <a:endParaRPr lang="en-US" sz="3200" b="1" dirty="0" smtClean="0">
              <a:solidFill>
                <a:srgbClr val="0070C0"/>
              </a:solidFill>
              <a:latin typeface="Kokila" pitchFamily="34" charset="0"/>
              <a:cs typeface="Kokila" pitchFamily="34" charset="0"/>
            </a:endParaRPr>
          </a:p>
        </p:txBody>
      </p:sp>
      <p:sp>
        <p:nvSpPr>
          <p:cNvPr id="3" name="Title 2"/>
          <p:cNvSpPr>
            <a:spLocks noGrp="1"/>
          </p:cNvSpPr>
          <p:nvPr>
            <p:ph type="title"/>
          </p:nvPr>
        </p:nvSpPr>
        <p:spPr/>
        <p:txBody>
          <a:bodyPr>
            <a:noAutofit/>
          </a:bodyPr>
          <a:lstStyle/>
          <a:p>
            <a:r>
              <a:rPr lang="ne-NP" sz="4000" dirty="0" smtClean="0">
                <a:solidFill>
                  <a:srgbClr val="002060"/>
                </a:solidFill>
                <a:latin typeface="Kokila" pitchFamily="34" charset="0"/>
                <a:cs typeface="Kokila" pitchFamily="34" charset="0"/>
              </a:rPr>
              <a:t>मानवीय मर्यादा</a:t>
            </a:r>
            <a:r>
              <a:rPr lang="en-US" sz="4000" dirty="0" smtClean="0">
                <a:solidFill>
                  <a:srgbClr val="002060"/>
                </a:solidFill>
                <a:latin typeface="Kokila" pitchFamily="34" charset="0"/>
                <a:cs typeface="Kokila" pitchFamily="34" charset="0"/>
              </a:rPr>
              <a:t>,</a:t>
            </a:r>
            <a:r>
              <a:rPr lang="ne-NP" sz="4000" dirty="0" smtClean="0">
                <a:solidFill>
                  <a:srgbClr val="002060"/>
                </a:solidFill>
                <a:latin typeface="Kokila" pitchFamily="34" charset="0"/>
                <a:cs typeface="Kokila" pitchFamily="34" charset="0"/>
              </a:rPr>
              <a:t> समानता र आत्म सम्मान गोपनीयताको हकका आधार</a:t>
            </a:r>
            <a:endParaRPr lang="en-US" sz="4000" dirty="0" smtClean="0">
              <a:solidFill>
                <a:srgbClr val="002060"/>
              </a:solidFill>
              <a:latin typeface="Kokila" pitchFamily="34" charset="0"/>
              <a:cs typeface="Kokila"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ne-NP" sz="2800" b="1" dirty="0" smtClean="0">
                <a:solidFill>
                  <a:srgbClr val="0070C0"/>
                </a:solidFill>
                <a:latin typeface="Kokila" pitchFamily="34" charset="0"/>
                <a:cs typeface="Kokila" pitchFamily="34" charset="0"/>
              </a:rPr>
              <a:t>गोपनीयताको अर्थः</a:t>
            </a:r>
          </a:p>
          <a:p>
            <a:pPr lvl="1"/>
            <a:r>
              <a:rPr lang="ne-NP" b="1" dirty="0" smtClean="0">
                <a:solidFill>
                  <a:srgbClr val="0070C0"/>
                </a:solidFill>
                <a:latin typeface="Kokila" pitchFamily="34" charset="0"/>
                <a:cs typeface="Kokila" pitchFamily="34" charset="0"/>
              </a:rPr>
              <a:t>गोपनीयता </a:t>
            </a:r>
            <a:r>
              <a:rPr lang="en-US" b="1" dirty="0" smtClean="0">
                <a:solidFill>
                  <a:srgbClr val="0070C0"/>
                </a:solidFill>
                <a:latin typeface="Kokila" pitchFamily="34" charset="0"/>
                <a:cs typeface="Kokila" pitchFamily="34" charset="0"/>
              </a:rPr>
              <a:t>(</a:t>
            </a:r>
            <a:r>
              <a:rPr lang="ne-NP" b="1" dirty="0" smtClean="0">
                <a:solidFill>
                  <a:srgbClr val="0070C0"/>
                </a:solidFill>
                <a:latin typeface="Kokila" pitchFamily="34" charset="0"/>
                <a:cs typeface="Kokila" pitchFamily="34" charset="0"/>
              </a:rPr>
              <a:t>जसलाई हामी अंग्रेजी भाषामा </a:t>
            </a:r>
            <a:r>
              <a:rPr lang="en-US" b="1" dirty="0" smtClean="0">
                <a:solidFill>
                  <a:srgbClr val="FF0000"/>
                </a:solidFill>
                <a:latin typeface="Kokila" pitchFamily="34" charset="0"/>
                <a:cs typeface="Kokila" pitchFamily="34" charset="0"/>
              </a:rPr>
              <a:t>Privacy </a:t>
            </a:r>
            <a:r>
              <a:rPr lang="ne-NP" b="1" dirty="0" smtClean="0">
                <a:solidFill>
                  <a:srgbClr val="0070C0"/>
                </a:solidFill>
                <a:latin typeface="Kokila" pitchFamily="34" charset="0"/>
                <a:cs typeface="Kokila" pitchFamily="34" charset="0"/>
              </a:rPr>
              <a:t>भन्दछौ</a:t>
            </a:r>
            <a:r>
              <a:rPr lang="en-US" b="1" dirty="0" smtClean="0">
                <a:solidFill>
                  <a:srgbClr val="0070C0"/>
                </a:solidFill>
                <a:latin typeface="Kokila" pitchFamily="34" charset="0"/>
                <a:cs typeface="Kokila" pitchFamily="34" charset="0"/>
              </a:rPr>
              <a:t>)</a:t>
            </a:r>
            <a:r>
              <a:rPr lang="ne-NP" b="1" dirty="0" smtClean="0">
                <a:solidFill>
                  <a:srgbClr val="0070C0"/>
                </a:solidFill>
                <a:latin typeface="Kokila" pitchFamily="34" charset="0"/>
                <a:cs typeface="Kokila" pitchFamily="34" charset="0"/>
              </a:rPr>
              <a:t> को शाब्दिक अर्थ व्यक्तिको वयक्तिक विषयहरु गोप्य राख्नु </a:t>
            </a:r>
            <a:r>
              <a:rPr lang="en-US" b="1" dirty="0" smtClean="0">
                <a:solidFill>
                  <a:srgbClr val="0070C0"/>
                </a:solidFill>
                <a:latin typeface="Kokila" pitchFamily="34" charset="0"/>
                <a:cs typeface="Kokila" pitchFamily="34" charset="0"/>
              </a:rPr>
              <a:t>(</a:t>
            </a:r>
            <a:r>
              <a:rPr lang="en-US" b="1" dirty="0" smtClean="0">
                <a:solidFill>
                  <a:srgbClr val="FF0000"/>
                </a:solidFill>
                <a:latin typeface="Kokila" pitchFamily="34" charset="0"/>
                <a:cs typeface="Kokila" pitchFamily="34" charset="0"/>
              </a:rPr>
              <a:t>Keep personal matters secret</a:t>
            </a:r>
            <a:r>
              <a:rPr lang="en-US" b="1" dirty="0" smtClean="0">
                <a:solidFill>
                  <a:srgbClr val="0070C0"/>
                </a:solidFill>
                <a:latin typeface="Kokila" pitchFamily="34" charset="0"/>
                <a:cs typeface="Kokila" pitchFamily="34" charset="0"/>
              </a:rPr>
              <a:t>)</a:t>
            </a:r>
            <a:r>
              <a:rPr lang="ne-NP" b="1" dirty="0" smtClean="0">
                <a:solidFill>
                  <a:srgbClr val="0070C0"/>
                </a:solidFill>
                <a:latin typeface="Kokila" pitchFamily="34" charset="0"/>
                <a:cs typeface="Kokila" pitchFamily="34" charset="0"/>
              </a:rPr>
              <a:t> भन्ने रुपमा वुझ्दछौं।</a:t>
            </a:r>
          </a:p>
          <a:p>
            <a:pPr lvl="1"/>
            <a:r>
              <a:rPr lang="ne-NP" b="1" dirty="0" smtClean="0">
                <a:solidFill>
                  <a:srgbClr val="0070C0"/>
                </a:solidFill>
                <a:latin typeface="Kokila" pitchFamily="34" charset="0"/>
                <a:cs typeface="Kokila" pitchFamily="34" charset="0"/>
              </a:rPr>
              <a:t>यो खुल्लापन </a:t>
            </a:r>
            <a:r>
              <a:rPr lang="en-US" b="1" dirty="0" smtClean="0">
                <a:solidFill>
                  <a:srgbClr val="0070C0"/>
                </a:solidFill>
                <a:latin typeface="Kokila" pitchFamily="34" charset="0"/>
                <a:cs typeface="Kokila" pitchFamily="34" charset="0"/>
              </a:rPr>
              <a:t>(Openness), </a:t>
            </a:r>
            <a:r>
              <a:rPr lang="ne-NP" b="1" dirty="0" smtClean="0">
                <a:solidFill>
                  <a:srgbClr val="0070C0"/>
                </a:solidFill>
                <a:latin typeface="Kokila" pitchFamily="34" charset="0"/>
                <a:cs typeface="Kokila" pitchFamily="34" charset="0"/>
              </a:rPr>
              <a:t>नाङ्गो आँखाले देखिने </a:t>
            </a:r>
            <a:r>
              <a:rPr lang="en-US" b="1" dirty="0" smtClean="0">
                <a:solidFill>
                  <a:srgbClr val="0070C0"/>
                </a:solidFill>
                <a:latin typeface="Kokila" pitchFamily="34" charset="0"/>
                <a:cs typeface="Kokila" pitchFamily="34" charset="0"/>
              </a:rPr>
              <a:t>(Visible) </a:t>
            </a:r>
            <a:r>
              <a:rPr lang="ne-NP" b="1" dirty="0" smtClean="0">
                <a:solidFill>
                  <a:srgbClr val="0070C0"/>
                </a:solidFill>
                <a:latin typeface="Kokila" pitchFamily="34" charset="0"/>
                <a:cs typeface="Kokila" pitchFamily="34" charset="0"/>
              </a:rPr>
              <a:t>वा भौतिक पहूँच</a:t>
            </a:r>
            <a:r>
              <a:rPr lang="en-US" b="1" dirty="0" smtClean="0">
                <a:solidFill>
                  <a:srgbClr val="0070C0"/>
                </a:solidFill>
                <a:latin typeface="Kokila" pitchFamily="34" charset="0"/>
                <a:cs typeface="Kokila" pitchFamily="34" charset="0"/>
              </a:rPr>
              <a:t> (Physical Access)</a:t>
            </a:r>
            <a:r>
              <a:rPr lang="ne-NP" b="1" dirty="0" smtClean="0">
                <a:solidFill>
                  <a:srgbClr val="0070C0"/>
                </a:solidFill>
                <a:latin typeface="Kokila" pitchFamily="34" charset="0"/>
                <a:cs typeface="Kokila" pitchFamily="34" charset="0"/>
              </a:rPr>
              <a:t>को विपरितको विषय हो। </a:t>
            </a:r>
          </a:p>
          <a:p>
            <a:pPr marL="365760" lvl="1" indent="-256032">
              <a:spcBef>
                <a:spcPts val="400"/>
              </a:spcBef>
              <a:buSzPct val="68000"/>
              <a:buFont typeface="Wingdings 3"/>
              <a:buChar char=""/>
            </a:pPr>
            <a:r>
              <a:rPr lang="ne-NP" sz="2800" b="1" dirty="0" smtClean="0">
                <a:solidFill>
                  <a:srgbClr val="0070C0"/>
                </a:solidFill>
                <a:latin typeface="Kokila" pitchFamily="34" charset="0"/>
                <a:cs typeface="Kokila" pitchFamily="34" charset="0"/>
              </a:rPr>
              <a:t>प्रत्येक व्यक्तिको जीवन</a:t>
            </a:r>
            <a:r>
              <a:rPr lang="en-US" sz="2800" b="1" dirty="0" smtClean="0">
                <a:solidFill>
                  <a:srgbClr val="0070C0"/>
                </a:solidFill>
                <a:latin typeface="Kokila" pitchFamily="34" charset="0"/>
                <a:cs typeface="Kokila" pitchFamily="34" charset="0"/>
              </a:rPr>
              <a:t>, </a:t>
            </a:r>
            <a:r>
              <a:rPr lang="ne-NP" sz="2800" b="1" dirty="0" smtClean="0">
                <a:solidFill>
                  <a:srgbClr val="0070C0"/>
                </a:solidFill>
                <a:latin typeface="Kokila" pitchFamily="34" charset="0"/>
                <a:cs typeface="Kokila" pitchFamily="34" charset="0"/>
              </a:rPr>
              <a:t>आत्मसम्मान, मान—ख्याति, चरित्र</a:t>
            </a:r>
            <a:r>
              <a:rPr lang="en-US" sz="2800" b="1" dirty="0" smtClean="0">
                <a:solidFill>
                  <a:srgbClr val="0070C0"/>
                </a:solidFill>
                <a:latin typeface="Kokila" pitchFamily="34" charset="0"/>
                <a:cs typeface="Kokila" pitchFamily="34" charset="0"/>
              </a:rPr>
              <a:t>, </a:t>
            </a:r>
            <a:r>
              <a:rPr lang="ne-NP" sz="2800" b="1" dirty="0" smtClean="0">
                <a:solidFill>
                  <a:srgbClr val="0070C0"/>
                </a:solidFill>
                <a:latin typeface="Kokila" pitchFamily="34" charset="0"/>
                <a:cs typeface="Kokila" pitchFamily="34" charset="0"/>
              </a:rPr>
              <a:t>शारिरीक वा मानसिक स्वास्थ्य, आवास</a:t>
            </a:r>
            <a:r>
              <a:rPr lang="en-US" sz="2800" b="1" dirty="0" smtClean="0">
                <a:solidFill>
                  <a:srgbClr val="0070C0"/>
                </a:solidFill>
                <a:latin typeface="Kokila" pitchFamily="34" charset="0"/>
                <a:cs typeface="Kokila" pitchFamily="34" charset="0"/>
              </a:rPr>
              <a:t>, </a:t>
            </a:r>
            <a:r>
              <a:rPr lang="ne-NP" sz="2800" b="1" dirty="0" smtClean="0">
                <a:solidFill>
                  <a:srgbClr val="0070C0"/>
                </a:solidFill>
                <a:latin typeface="Kokila" pitchFamily="34" charset="0"/>
                <a:cs typeface="Kokila" pitchFamily="34" charset="0"/>
              </a:rPr>
              <a:t>सम्पत्ति</a:t>
            </a:r>
            <a:r>
              <a:rPr lang="en-US" sz="2800" b="1" dirty="0" smtClean="0">
                <a:solidFill>
                  <a:srgbClr val="0070C0"/>
                </a:solidFill>
                <a:latin typeface="Kokila" pitchFamily="34" charset="0"/>
                <a:cs typeface="Kokila" pitchFamily="34" charset="0"/>
              </a:rPr>
              <a:t>, </a:t>
            </a:r>
            <a:r>
              <a:rPr lang="ne-NP" sz="2800" b="1" dirty="0" smtClean="0">
                <a:solidFill>
                  <a:srgbClr val="0070C0"/>
                </a:solidFill>
                <a:latin typeface="Kokila" pitchFamily="34" charset="0"/>
                <a:cs typeface="Kokila" pitchFamily="34" charset="0"/>
              </a:rPr>
              <a:t>लिखत</a:t>
            </a:r>
            <a:r>
              <a:rPr lang="en-US" sz="2800" b="1" dirty="0" smtClean="0">
                <a:solidFill>
                  <a:srgbClr val="0070C0"/>
                </a:solidFill>
                <a:latin typeface="Kokila" pitchFamily="34" charset="0"/>
                <a:cs typeface="Kokila" pitchFamily="34" charset="0"/>
              </a:rPr>
              <a:t>,</a:t>
            </a:r>
            <a:r>
              <a:rPr lang="ne-NP" sz="2800" b="1" dirty="0" smtClean="0">
                <a:solidFill>
                  <a:srgbClr val="0070C0"/>
                </a:solidFill>
                <a:latin typeface="Kokila" pitchFamily="34" charset="0"/>
                <a:cs typeface="Kokila" pitchFamily="34" charset="0"/>
              </a:rPr>
              <a:t> तथ्याङ्क</a:t>
            </a:r>
            <a:r>
              <a:rPr lang="en-US" sz="2800" b="1" dirty="0" smtClean="0">
                <a:solidFill>
                  <a:srgbClr val="0070C0"/>
                </a:solidFill>
                <a:latin typeface="Kokila" pitchFamily="34" charset="0"/>
                <a:cs typeface="Kokila" pitchFamily="34" charset="0"/>
              </a:rPr>
              <a:t>,</a:t>
            </a:r>
            <a:r>
              <a:rPr lang="ne-NP" sz="2800" b="1" dirty="0" smtClean="0">
                <a:solidFill>
                  <a:srgbClr val="0070C0"/>
                </a:solidFill>
                <a:latin typeface="Kokila" pitchFamily="34" charset="0"/>
                <a:cs typeface="Kokila" pitchFamily="34" charset="0"/>
              </a:rPr>
              <a:t> पत्राचार जस्ता कुरा कानून बमोजिम बाहेक अनतिक्रम्य कुराहरु हुन्। </a:t>
            </a:r>
          </a:p>
          <a:p>
            <a:r>
              <a:rPr lang="ne-NP" sz="2800" b="1" dirty="0" smtClean="0">
                <a:solidFill>
                  <a:srgbClr val="0070C0"/>
                </a:solidFill>
                <a:latin typeface="Kokila" pitchFamily="34" charset="0"/>
                <a:cs typeface="Kokila" pitchFamily="34" charset="0"/>
              </a:rPr>
              <a:t>त्यसैले संविधान र कानूनले यस्ता कुराहरुलाई गोपनीयताको हकको रुपमा संरक्षण प्रदान गरेको हुन्छ।</a:t>
            </a:r>
          </a:p>
          <a:p>
            <a:endParaRPr lang="ne-NP" dirty="0" smtClean="0"/>
          </a:p>
          <a:p>
            <a:endParaRPr lang="en-US" dirty="0"/>
          </a:p>
        </p:txBody>
      </p:sp>
      <p:sp>
        <p:nvSpPr>
          <p:cNvPr id="3" name="Title 2"/>
          <p:cNvSpPr>
            <a:spLocks noGrp="1"/>
          </p:cNvSpPr>
          <p:nvPr>
            <p:ph type="title"/>
          </p:nvPr>
        </p:nvSpPr>
        <p:spPr/>
        <p:txBody>
          <a:bodyPr/>
          <a:lstStyle/>
          <a:p>
            <a:r>
              <a:rPr lang="ne-NP" sz="4400" dirty="0" smtClean="0">
                <a:solidFill>
                  <a:srgbClr val="002060"/>
                </a:solidFill>
                <a:latin typeface="Kokila" pitchFamily="34" charset="0"/>
                <a:cs typeface="Kokila" pitchFamily="34" charset="0"/>
              </a:rPr>
              <a:t>गोपनीयताको हकसम्बन्धी सैद्धान्तिक</a:t>
            </a:r>
            <a:r>
              <a:rPr lang="en-US" sz="4400" dirty="0" smtClean="0">
                <a:solidFill>
                  <a:srgbClr val="002060"/>
                </a:solidFill>
                <a:latin typeface="Kokila" pitchFamily="34" charset="0"/>
                <a:cs typeface="Kokila" pitchFamily="34" charset="0"/>
              </a:rPr>
              <a:t>,</a:t>
            </a:r>
            <a:r>
              <a:rPr lang="ne-NP" sz="4400" dirty="0" smtClean="0">
                <a:solidFill>
                  <a:srgbClr val="002060"/>
                </a:solidFill>
                <a:latin typeface="Kokila" pitchFamily="34" charset="0"/>
                <a:cs typeface="Kokila" pitchFamily="34" charset="0"/>
              </a:rPr>
              <a:t> संवैधानिक र कानूनी पक्ष</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62500" lnSpcReduction="20000"/>
          </a:bodyPr>
          <a:lstStyle/>
          <a:p>
            <a:pPr>
              <a:lnSpc>
                <a:spcPct val="150000"/>
              </a:lnSpc>
            </a:pPr>
            <a:r>
              <a:rPr lang="ne-NP" sz="4000" b="1" dirty="0" smtClean="0">
                <a:solidFill>
                  <a:srgbClr val="0070C0"/>
                </a:solidFill>
                <a:latin typeface="Kokila" pitchFamily="34" charset="0"/>
                <a:cs typeface="Kokila" pitchFamily="34" charset="0"/>
              </a:rPr>
              <a:t>मानव अधिकारको विश्वव्यापी घोषणापत्र १९४८ </a:t>
            </a:r>
            <a:r>
              <a:rPr lang="en-US" sz="4000" b="1" dirty="0" smtClean="0">
                <a:solidFill>
                  <a:srgbClr val="0070C0"/>
                </a:solidFill>
                <a:latin typeface="Kokila" pitchFamily="34" charset="0"/>
                <a:cs typeface="Kokila" pitchFamily="34" charset="0"/>
              </a:rPr>
              <a:t>(</a:t>
            </a:r>
            <a:r>
              <a:rPr lang="en-US" sz="4000" b="1" dirty="0" err="1" smtClean="0">
                <a:solidFill>
                  <a:srgbClr val="0070C0"/>
                </a:solidFill>
                <a:latin typeface="Kokila" pitchFamily="34" charset="0"/>
                <a:cs typeface="Kokila" pitchFamily="34" charset="0"/>
              </a:rPr>
              <a:t>UDHR</a:t>
            </a:r>
            <a:r>
              <a:rPr lang="en-US" sz="4000" b="1" dirty="0" smtClean="0">
                <a:solidFill>
                  <a:srgbClr val="0070C0"/>
                </a:solidFill>
                <a:latin typeface="Kokila" pitchFamily="34" charset="0"/>
                <a:cs typeface="Kokila" pitchFamily="34" charset="0"/>
              </a:rPr>
              <a:t> </a:t>
            </a:r>
            <a:r>
              <a:rPr lang="en-US" sz="4000" b="1" dirty="0">
                <a:solidFill>
                  <a:srgbClr val="0070C0"/>
                </a:solidFill>
                <a:latin typeface="Kokila" pitchFamily="34" charset="0"/>
                <a:cs typeface="Kokila" pitchFamily="34" charset="0"/>
              </a:rPr>
              <a:t>1948, Art. </a:t>
            </a:r>
            <a:r>
              <a:rPr lang="en-US" sz="4000" b="1" dirty="0" smtClean="0">
                <a:solidFill>
                  <a:srgbClr val="0070C0"/>
                </a:solidFill>
                <a:latin typeface="Kokila" pitchFamily="34" charset="0"/>
                <a:cs typeface="Kokila" pitchFamily="34" charset="0"/>
              </a:rPr>
              <a:t>12)</a:t>
            </a:r>
            <a:r>
              <a:rPr lang="ne-NP" sz="4000" b="1" dirty="0" smtClean="0">
                <a:solidFill>
                  <a:srgbClr val="0070C0"/>
                </a:solidFill>
                <a:latin typeface="Kokila" pitchFamily="34" charset="0"/>
                <a:cs typeface="Kokila" pitchFamily="34" charset="0"/>
              </a:rPr>
              <a:t> </a:t>
            </a:r>
          </a:p>
          <a:p>
            <a:pPr lvl="1">
              <a:lnSpc>
                <a:spcPct val="150000"/>
              </a:lnSpc>
            </a:pPr>
            <a:r>
              <a:rPr lang="ne-NP" sz="4000" b="1" dirty="0" smtClean="0">
                <a:solidFill>
                  <a:srgbClr val="0070C0"/>
                </a:solidFill>
                <a:latin typeface="Kokila" pitchFamily="34" charset="0"/>
                <a:cs typeface="Kokila" pitchFamily="34" charset="0"/>
              </a:rPr>
              <a:t>कुनैपनि व्यक्तिको गोपनियता, परिवार, घर वा पत्र व्यवहार स्वेच्क्षाचारी वा गैरकानुनी हस्तक्षेप गरिने छैन  र निजको प्रतिष्ठा तथा ख्यातीमा पनि गैरकानुनी आक्रमण गरिने छैन । प्रत्येक व्यक्तिलाई त्यस्तो हस्तक्षेप वा आक्रमण बिरुद्ध कानुनद्धारा संरक्षण पाउने अधिकार हुनेछ ।</a:t>
            </a:r>
            <a:endParaRPr lang="en-US" sz="4000" b="1" dirty="0">
              <a:solidFill>
                <a:srgbClr val="0070C0"/>
              </a:solidFill>
              <a:latin typeface="Kokila" pitchFamily="34" charset="0"/>
              <a:cs typeface="Kokila" pitchFamily="34" charset="0"/>
            </a:endParaRPr>
          </a:p>
          <a:p>
            <a:pPr>
              <a:lnSpc>
                <a:spcPct val="150000"/>
              </a:lnSpc>
            </a:pPr>
            <a:r>
              <a:rPr lang="ne-NP" sz="4000" b="1" dirty="0" smtClean="0">
                <a:solidFill>
                  <a:srgbClr val="0070C0"/>
                </a:solidFill>
                <a:latin typeface="Kokila" pitchFamily="34" charset="0"/>
                <a:cs typeface="Kokila" pitchFamily="34" charset="0"/>
              </a:rPr>
              <a:t>बाल अधिकार महासन्धी १९८९ </a:t>
            </a:r>
            <a:r>
              <a:rPr lang="en-US" sz="4000" b="1" dirty="0" smtClean="0">
                <a:solidFill>
                  <a:srgbClr val="0070C0"/>
                </a:solidFill>
                <a:latin typeface="Kokila" pitchFamily="34" charset="0"/>
                <a:cs typeface="Kokila" pitchFamily="34" charset="0"/>
              </a:rPr>
              <a:t>(</a:t>
            </a:r>
            <a:r>
              <a:rPr lang="en-US" sz="4000" b="1" dirty="0" err="1" smtClean="0">
                <a:solidFill>
                  <a:srgbClr val="0070C0"/>
                </a:solidFill>
                <a:latin typeface="Kokila" pitchFamily="34" charset="0"/>
                <a:cs typeface="Kokila" pitchFamily="34" charset="0"/>
              </a:rPr>
              <a:t>CRC</a:t>
            </a:r>
            <a:r>
              <a:rPr lang="en-US" sz="4000" b="1" dirty="0" smtClean="0">
                <a:solidFill>
                  <a:srgbClr val="0070C0"/>
                </a:solidFill>
                <a:latin typeface="Kokila" pitchFamily="34" charset="0"/>
                <a:cs typeface="Kokila" pitchFamily="34" charset="0"/>
              </a:rPr>
              <a:t> Convention Art</a:t>
            </a:r>
            <a:r>
              <a:rPr lang="en-US" sz="4000" b="1" dirty="0">
                <a:solidFill>
                  <a:srgbClr val="0070C0"/>
                </a:solidFill>
                <a:latin typeface="Kokila" pitchFamily="34" charset="0"/>
                <a:cs typeface="Kokila" pitchFamily="34" charset="0"/>
              </a:rPr>
              <a:t>. </a:t>
            </a:r>
            <a:r>
              <a:rPr lang="en-US" sz="4000" b="1" dirty="0" smtClean="0">
                <a:solidFill>
                  <a:srgbClr val="0070C0"/>
                </a:solidFill>
                <a:latin typeface="Kokila" pitchFamily="34" charset="0"/>
                <a:cs typeface="Kokila" pitchFamily="34" charset="0"/>
              </a:rPr>
              <a:t>16)</a:t>
            </a:r>
          </a:p>
          <a:p>
            <a:pPr lvl="1">
              <a:lnSpc>
                <a:spcPct val="150000"/>
              </a:lnSpc>
            </a:pPr>
            <a:r>
              <a:rPr lang="ne-NP" sz="4000" b="1" dirty="0" smtClean="0">
                <a:solidFill>
                  <a:srgbClr val="0070C0"/>
                </a:solidFill>
                <a:latin typeface="Kokila" pitchFamily="34" charset="0"/>
                <a:cs typeface="Kokila" pitchFamily="34" charset="0"/>
              </a:rPr>
              <a:t>कुनै पनि बालबालिकाको गोपनियता, परिवार, घर वा पत्राचार उपर स्वेच्छाचारी वा गैर</a:t>
            </a:r>
            <a:r>
              <a:rPr lang="en-US" sz="4000" b="1" dirty="0" smtClean="0">
                <a:solidFill>
                  <a:srgbClr val="0070C0"/>
                </a:solidFill>
                <a:latin typeface="Kokila" pitchFamily="34" charset="0"/>
                <a:cs typeface="Kokila" pitchFamily="34" charset="0"/>
              </a:rPr>
              <a:t> </a:t>
            </a:r>
            <a:r>
              <a:rPr lang="ne-NP" sz="4000" b="1" dirty="0" smtClean="0">
                <a:solidFill>
                  <a:srgbClr val="0070C0"/>
                </a:solidFill>
                <a:latin typeface="Kokila" pitchFamily="34" charset="0"/>
                <a:cs typeface="Kokila" pitchFamily="34" charset="0"/>
              </a:rPr>
              <a:t>कानूनी हस्तक्षेप गरिने छैन न त उनीहरुको प्रतिष्ठा तथा ख्यातीमा गैर कानूनी रुपमा आक्रमण</a:t>
            </a:r>
            <a:r>
              <a:rPr lang="en-US" sz="4000" b="1" dirty="0" smtClean="0">
                <a:solidFill>
                  <a:srgbClr val="0070C0"/>
                </a:solidFill>
                <a:latin typeface="Kokila" pitchFamily="34" charset="0"/>
                <a:cs typeface="Kokila" pitchFamily="34" charset="0"/>
              </a:rPr>
              <a:t> </a:t>
            </a:r>
            <a:r>
              <a:rPr lang="ne-NP" sz="4000" b="1" dirty="0" smtClean="0">
                <a:solidFill>
                  <a:srgbClr val="0070C0"/>
                </a:solidFill>
                <a:latin typeface="Kokila" pitchFamily="34" charset="0"/>
                <a:cs typeface="Kokila" pitchFamily="34" charset="0"/>
              </a:rPr>
              <a:t>नै गरिनेछ ।</a:t>
            </a:r>
            <a:r>
              <a:rPr lang="en-US" sz="4000" b="1" dirty="0" smtClean="0">
                <a:solidFill>
                  <a:srgbClr val="0070C0"/>
                </a:solidFill>
                <a:latin typeface="Kokila" pitchFamily="34" charset="0"/>
                <a:cs typeface="Kokila" pitchFamily="34" charset="0"/>
              </a:rPr>
              <a:t> </a:t>
            </a:r>
            <a:r>
              <a:rPr lang="ne-NP" sz="4000" b="1" dirty="0" smtClean="0">
                <a:solidFill>
                  <a:srgbClr val="0070C0"/>
                </a:solidFill>
                <a:latin typeface="Kokila" pitchFamily="34" charset="0"/>
                <a:cs typeface="Kokila" pitchFamily="34" charset="0"/>
              </a:rPr>
              <a:t>बालबालिकालाई यस्तो हस्तक्षेप वा आक्रमण विरुद्ध कानूनी संरक्षण पाउने अधिकार हुनेछ ।</a:t>
            </a:r>
            <a:endParaRPr lang="en-US" sz="4000" b="1" dirty="0">
              <a:solidFill>
                <a:srgbClr val="0070C0"/>
              </a:solidFill>
              <a:latin typeface="Kokila" pitchFamily="34" charset="0"/>
              <a:cs typeface="Kokila" pitchFamily="34" charset="0"/>
            </a:endParaRPr>
          </a:p>
        </p:txBody>
      </p:sp>
      <p:sp>
        <p:nvSpPr>
          <p:cNvPr id="2" name="Title 1"/>
          <p:cNvSpPr>
            <a:spLocks noGrp="1"/>
          </p:cNvSpPr>
          <p:nvPr>
            <p:ph type="title"/>
          </p:nvPr>
        </p:nvSpPr>
        <p:spPr>
          <a:xfrm>
            <a:off x="609600" y="233074"/>
            <a:ext cx="10972800" cy="1143000"/>
          </a:xfrm>
        </p:spPr>
        <p:txBody>
          <a:bodyPr>
            <a:normAutofit/>
          </a:bodyPr>
          <a:lstStyle/>
          <a:p>
            <a:r>
              <a:rPr lang="ne-NP" sz="4400" dirty="0" smtClean="0">
                <a:solidFill>
                  <a:srgbClr val="002060"/>
                </a:solidFill>
                <a:latin typeface="Kokila" pitchFamily="34" charset="0"/>
                <a:cs typeface="Kokila" pitchFamily="34" charset="0"/>
              </a:rPr>
              <a:t>गोपनीयता सम्बन्धी अन्तर्राष्ट्रिय कानून</a:t>
            </a:r>
            <a:endParaRPr lang="en-US" sz="4400" dirty="0">
              <a:solidFill>
                <a:srgbClr val="002060"/>
              </a:solidFill>
              <a:latin typeface="Kokila" pitchFamily="34" charset="0"/>
              <a:cs typeface="Kokila" pitchFamily="34" charset="0"/>
            </a:endParaRPr>
          </a:p>
        </p:txBody>
      </p:sp>
    </p:spTree>
    <p:extLst>
      <p:ext uri="{BB962C8B-B14F-4D97-AF65-F5344CB8AC3E}">
        <p14:creationId xmlns:p14="http://schemas.microsoft.com/office/powerpoint/2010/main" xmlns="" val="1369434786"/>
      </p:ext>
    </p:extLst>
  </p:cSld>
  <p:clrMapOvr>
    <a:masterClrMapping/>
  </p:clrMapOvr>
  <p:transition>
    <p:pull dir="l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872836"/>
            <a:ext cx="10972800" cy="5333999"/>
          </a:xfrm>
        </p:spPr>
        <p:txBody>
          <a:bodyPr>
            <a:normAutofit fontScale="62500" lnSpcReduction="20000"/>
          </a:bodyPr>
          <a:lstStyle/>
          <a:p>
            <a:pPr>
              <a:lnSpc>
                <a:spcPct val="150000"/>
              </a:lnSpc>
            </a:pPr>
            <a:r>
              <a:rPr lang="ne-NP" sz="4000" b="1" dirty="0" smtClean="0">
                <a:solidFill>
                  <a:srgbClr val="0070C0"/>
                </a:solidFill>
                <a:latin typeface="Kokila" pitchFamily="34" charset="0"/>
                <a:cs typeface="Kokila" pitchFamily="34" charset="0"/>
              </a:rPr>
              <a:t>नागरिक तथा राजनीतिक अधिकारसम्बन्धी अन्तर्राष्ट्रिय प्रतिज्ञापत्र, १९६६ </a:t>
            </a:r>
            <a:r>
              <a:rPr lang="en-US" sz="4000" b="1" dirty="0" smtClean="0">
                <a:solidFill>
                  <a:srgbClr val="0070C0"/>
                </a:solidFill>
                <a:latin typeface="Kokila" pitchFamily="34" charset="0"/>
                <a:cs typeface="Kokila" pitchFamily="34" charset="0"/>
              </a:rPr>
              <a:t>(</a:t>
            </a:r>
            <a:r>
              <a:rPr lang="en-US" sz="4000" b="1" dirty="0" err="1" smtClean="0">
                <a:solidFill>
                  <a:srgbClr val="0070C0"/>
                </a:solidFill>
                <a:latin typeface="Kokila" pitchFamily="34" charset="0"/>
                <a:cs typeface="Kokila" pitchFamily="34" charset="0"/>
              </a:rPr>
              <a:t>ICCPR</a:t>
            </a:r>
            <a:r>
              <a:rPr lang="en-US" sz="4000" b="1" dirty="0" smtClean="0">
                <a:solidFill>
                  <a:srgbClr val="0070C0"/>
                </a:solidFill>
                <a:latin typeface="Kokila" pitchFamily="34" charset="0"/>
                <a:cs typeface="Kokila" pitchFamily="34" charset="0"/>
              </a:rPr>
              <a:t> 1966 </a:t>
            </a:r>
            <a:r>
              <a:rPr lang="en-US" sz="4000" b="1" dirty="0" err="1" smtClean="0">
                <a:solidFill>
                  <a:srgbClr val="0070C0"/>
                </a:solidFill>
                <a:latin typeface="Kokila" pitchFamily="34" charset="0"/>
                <a:cs typeface="Kokila" pitchFamily="34" charset="0"/>
              </a:rPr>
              <a:t>Art.6</a:t>
            </a:r>
            <a:r>
              <a:rPr lang="en-US" sz="4000" b="1" dirty="0" smtClean="0">
                <a:solidFill>
                  <a:srgbClr val="0070C0"/>
                </a:solidFill>
                <a:latin typeface="Kokila" pitchFamily="34" charset="0"/>
                <a:cs typeface="Kokila" pitchFamily="34" charset="0"/>
              </a:rPr>
              <a:t> and </a:t>
            </a:r>
            <a:r>
              <a:rPr lang="en-US" sz="4000" b="1" dirty="0" err="1" smtClean="0">
                <a:solidFill>
                  <a:srgbClr val="0070C0"/>
                </a:solidFill>
                <a:latin typeface="Kokila" pitchFamily="34" charset="0"/>
                <a:cs typeface="Kokila" pitchFamily="34" charset="0"/>
              </a:rPr>
              <a:t>Art.14</a:t>
            </a:r>
            <a:r>
              <a:rPr lang="en-US" sz="4000" b="1" dirty="0" smtClean="0">
                <a:solidFill>
                  <a:srgbClr val="0070C0"/>
                </a:solidFill>
                <a:latin typeface="Kokila" pitchFamily="34" charset="0"/>
                <a:cs typeface="Kokila" pitchFamily="34" charset="0"/>
              </a:rPr>
              <a:t>)</a:t>
            </a:r>
          </a:p>
          <a:p>
            <a:pPr lvl="1">
              <a:lnSpc>
                <a:spcPct val="150000"/>
              </a:lnSpc>
            </a:pPr>
            <a:r>
              <a:rPr lang="ne-NP" sz="4000" b="1" dirty="0" smtClean="0">
                <a:solidFill>
                  <a:srgbClr val="0070C0"/>
                </a:solidFill>
                <a:latin typeface="Kokila" pitchFamily="34" charset="0"/>
                <a:cs typeface="Kokila" pitchFamily="34" charset="0"/>
              </a:rPr>
              <a:t>धारा ६ </a:t>
            </a:r>
            <a:r>
              <a:rPr lang="en-US" sz="4000" b="1" dirty="0" smtClean="0">
                <a:solidFill>
                  <a:srgbClr val="0070C0"/>
                </a:solidFill>
                <a:latin typeface="Kokila" pitchFamily="34" charset="0"/>
                <a:cs typeface="Kokila" pitchFamily="34" charset="0"/>
              </a:rPr>
              <a:t>– </a:t>
            </a:r>
            <a:r>
              <a:rPr lang="ne-NP" sz="4000" b="1" dirty="0" smtClean="0">
                <a:solidFill>
                  <a:srgbClr val="0070C0"/>
                </a:solidFill>
                <a:latin typeface="Kokila" pitchFamily="34" charset="0"/>
                <a:cs typeface="Kokila" pitchFamily="34" charset="0"/>
              </a:rPr>
              <a:t>जीवनको अधिकार </a:t>
            </a:r>
            <a:endParaRPr lang="en-US" sz="4000" b="1" dirty="0" smtClean="0">
              <a:solidFill>
                <a:srgbClr val="0070C0"/>
              </a:solidFill>
              <a:latin typeface="Kokila" pitchFamily="34" charset="0"/>
              <a:cs typeface="Kokila" pitchFamily="34" charset="0"/>
            </a:endParaRPr>
          </a:p>
          <a:p>
            <a:pPr lvl="1">
              <a:lnSpc>
                <a:spcPct val="150000"/>
              </a:lnSpc>
            </a:pPr>
            <a:r>
              <a:rPr lang="ne-NP" sz="4000" b="1" dirty="0" smtClean="0">
                <a:solidFill>
                  <a:srgbClr val="0070C0"/>
                </a:solidFill>
                <a:latin typeface="Kokila" pitchFamily="34" charset="0"/>
                <a:cs typeface="Kokila" pitchFamily="34" charset="0"/>
              </a:rPr>
              <a:t>धारा १४</a:t>
            </a:r>
            <a:r>
              <a:rPr lang="en-US" sz="4000" b="1" dirty="0" smtClean="0">
                <a:solidFill>
                  <a:srgbClr val="0070C0"/>
                </a:solidFill>
                <a:latin typeface="Kokila" pitchFamily="34" charset="0"/>
                <a:cs typeface="Kokila" pitchFamily="34" charset="0"/>
              </a:rPr>
              <a:t>- </a:t>
            </a:r>
            <a:r>
              <a:rPr lang="ne-NP" sz="4000" b="1" dirty="0" smtClean="0">
                <a:solidFill>
                  <a:srgbClr val="0070C0"/>
                </a:solidFill>
                <a:latin typeface="Kokila" pitchFamily="34" charset="0"/>
                <a:cs typeface="Kokila" pitchFamily="34" charset="0"/>
              </a:rPr>
              <a:t>प्रजातान्त्रिक समाजमा नैतिकता, सार्वजनिक व्यवस्था वा राष्ट्रिय सुरक्षाको कारणले वा पक्षहरुको व्यक्तिगत जीवनको हितमा त्यसो गर्नु पर्ने भएमा वा विशेष परिस्थितिमा सार्वजनिक गर्दा न्यायको हितमा प्रतिकूल प्रभाव पर्न सक्छ भन्ने कुरा अदालतलाई लागेमा अत्यावश्यक भएको हदसम्म सम्पूर्ण सुनुवाई वा त्यसको कुनै अंशमा पत्रकार प्रेस तथा जनताको </a:t>
            </a:r>
            <a:r>
              <a:rPr lang="ne-NP" sz="4000" b="1" dirty="0" smtClean="0">
                <a:solidFill>
                  <a:srgbClr val="FF0000"/>
                </a:solidFill>
                <a:latin typeface="Kokila" pitchFamily="34" charset="0"/>
                <a:cs typeface="Kokila" pitchFamily="34" charset="0"/>
              </a:rPr>
              <a:t>प्रवेशमा रोक लगाउन सकिने</a:t>
            </a:r>
            <a:r>
              <a:rPr lang="ne-NP" sz="4000" b="1" dirty="0" smtClean="0">
                <a:solidFill>
                  <a:srgbClr val="0070C0"/>
                </a:solidFill>
                <a:latin typeface="Kokila" pitchFamily="34" charset="0"/>
                <a:cs typeface="Kokila" pitchFamily="34" charset="0"/>
              </a:rPr>
              <a:t>छ ।</a:t>
            </a:r>
            <a:endParaRPr lang="en-US" sz="4000" b="1" dirty="0" smtClean="0">
              <a:solidFill>
                <a:srgbClr val="0070C0"/>
              </a:solidFill>
              <a:latin typeface="Kokila" pitchFamily="34" charset="0"/>
              <a:cs typeface="Kokila" pitchFamily="34" charset="0"/>
            </a:endParaRPr>
          </a:p>
          <a:p>
            <a:pPr>
              <a:lnSpc>
                <a:spcPct val="150000"/>
              </a:lnSpc>
            </a:pPr>
            <a:r>
              <a:rPr lang="ne-NP" sz="4000" b="1" dirty="0" smtClean="0">
                <a:solidFill>
                  <a:srgbClr val="0070C0"/>
                </a:solidFill>
                <a:latin typeface="Kokila" pitchFamily="34" charset="0"/>
                <a:cs typeface="Kokila" pitchFamily="34" charset="0"/>
              </a:rPr>
              <a:t>महिला विरुद्धका सबै प्रकारका भेदभाव उन्मूलन गर्ने सम्बन्धी महासन्धि</a:t>
            </a:r>
            <a:r>
              <a:rPr lang="en-US" sz="4000" b="1" dirty="0" smtClean="0">
                <a:solidFill>
                  <a:srgbClr val="0070C0"/>
                </a:solidFill>
                <a:latin typeface="Kokila" pitchFamily="34" charset="0"/>
                <a:cs typeface="Kokila" pitchFamily="34" charset="0"/>
              </a:rPr>
              <a:t>, </a:t>
            </a:r>
            <a:r>
              <a:rPr lang="ne-NP" sz="4000" b="1" dirty="0" smtClean="0">
                <a:solidFill>
                  <a:srgbClr val="0070C0"/>
                </a:solidFill>
                <a:latin typeface="Kokila" pitchFamily="34" charset="0"/>
                <a:cs typeface="Kokila" pitchFamily="34" charset="0"/>
              </a:rPr>
              <a:t>१९९१ </a:t>
            </a:r>
            <a:r>
              <a:rPr lang="en-US" sz="4000" b="1" dirty="0" smtClean="0">
                <a:solidFill>
                  <a:srgbClr val="0070C0"/>
                </a:solidFill>
                <a:latin typeface="Kokila" pitchFamily="34" charset="0"/>
                <a:cs typeface="Kokila" pitchFamily="34" charset="0"/>
              </a:rPr>
              <a:t>(</a:t>
            </a:r>
            <a:r>
              <a:rPr lang="en-US" sz="4000" b="1" dirty="0" err="1" smtClean="0">
                <a:solidFill>
                  <a:srgbClr val="0070C0"/>
                </a:solidFill>
                <a:latin typeface="Kokila" pitchFamily="34" charset="0"/>
                <a:cs typeface="Kokila" pitchFamily="34" charset="0"/>
              </a:rPr>
              <a:t>CEDWA</a:t>
            </a:r>
            <a:r>
              <a:rPr lang="en-US" sz="4000" b="1" dirty="0" smtClean="0">
                <a:solidFill>
                  <a:srgbClr val="0070C0"/>
                </a:solidFill>
                <a:latin typeface="Kokila" pitchFamily="34" charset="0"/>
                <a:cs typeface="Kokila" pitchFamily="34" charset="0"/>
              </a:rPr>
              <a:t>)</a:t>
            </a:r>
          </a:p>
          <a:p>
            <a:pPr lvl="1">
              <a:lnSpc>
                <a:spcPct val="150000"/>
              </a:lnSpc>
            </a:pPr>
            <a:r>
              <a:rPr lang="ne-NP" sz="4000" b="1" dirty="0" smtClean="0">
                <a:solidFill>
                  <a:srgbClr val="0070C0"/>
                </a:solidFill>
                <a:latin typeface="Kokila" pitchFamily="34" charset="0"/>
                <a:cs typeface="Kokila" pitchFamily="34" charset="0"/>
              </a:rPr>
              <a:t>धारा २ </a:t>
            </a:r>
            <a:r>
              <a:rPr lang="en-US" sz="4000" b="1" dirty="0" smtClean="0">
                <a:solidFill>
                  <a:srgbClr val="0070C0"/>
                </a:solidFill>
                <a:latin typeface="Kokila" pitchFamily="34" charset="0"/>
                <a:cs typeface="Kokila" pitchFamily="34" charset="0"/>
              </a:rPr>
              <a:t>- </a:t>
            </a:r>
            <a:r>
              <a:rPr lang="ne-NP" sz="4000" b="1" dirty="0" smtClean="0">
                <a:latin typeface="Kokila" pitchFamily="34" charset="0"/>
                <a:cs typeface="Kokila" pitchFamily="34" charset="0"/>
              </a:rPr>
              <a:t>महिला विरुद्ध हुने भेदभाव उन्मूलन </a:t>
            </a:r>
            <a:endParaRPr lang="en-US" sz="4000" b="1" dirty="0" smtClean="0">
              <a:solidFill>
                <a:srgbClr val="0070C0"/>
              </a:solidFill>
              <a:latin typeface="Kokila" pitchFamily="34" charset="0"/>
              <a:cs typeface="Kokila" pitchFamily="34" charset="0"/>
            </a:endParaRPr>
          </a:p>
          <a:p>
            <a:pPr lvl="1">
              <a:lnSpc>
                <a:spcPct val="150000"/>
              </a:lnSpc>
            </a:pPr>
            <a:r>
              <a:rPr lang="ne-NP" sz="4000" b="1" dirty="0" smtClean="0">
                <a:solidFill>
                  <a:srgbClr val="0070C0"/>
                </a:solidFill>
                <a:latin typeface="Kokila" pitchFamily="34" charset="0"/>
                <a:cs typeface="Kokila" pitchFamily="34" charset="0"/>
              </a:rPr>
              <a:t>धारा ३ </a:t>
            </a:r>
            <a:r>
              <a:rPr lang="en-US" sz="4000" b="1" dirty="0" smtClean="0">
                <a:solidFill>
                  <a:srgbClr val="0070C0"/>
                </a:solidFill>
                <a:latin typeface="Kokila" pitchFamily="34" charset="0"/>
                <a:cs typeface="Kokila" pitchFamily="34" charset="0"/>
              </a:rPr>
              <a:t>- </a:t>
            </a:r>
            <a:r>
              <a:rPr lang="ne-NP" sz="4000" b="1" dirty="0" smtClean="0">
                <a:latin typeface="Kokila" pitchFamily="34" charset="0"/>
                <a:cs typeface="Kokila" pitchFamily="34" charset="0"/>
              </a:rPr>
              <a:t>पुरुष सरह महिलाहरुलाई मानव अधिकार तथा मौलिक स्वतन्त्रताहरुको प्रयोग तथा उपभोग</a:t>
            </a:r>
            <a:endParaRPr lang="en-US" sz="4000" b="1" dirty="0" smtClean="0">
              <a:latin typeface="Kokila" pitchFamily="34" charset="0"/>
              <a:cs typeface="Kokila" pitchFamily="34" charset="0"/>
            </a:endParaRPr>
          </a:p>
          <a:p>
            <a:endParaRPr lang="en-US" dirty="0"/>
          </a:p>
        </p:txBody>
      </p:sp>
      <p:sp>
        <p:nvSpPr>
          <p:cNvPr id="3" name="Title 2"/>
          <p:cNvSpPr>
            <a:spLocks noGrp="1"/>
          </p:cNvSpPr>
          <p:nvPr>
            <p:ph type="title"/>
          </p:nvPr>
        </p:nvSpPr>
        <p:spPr>
          <a:xfrm>
            <a:off x="609600" y="274638"/>
            <a:ext cx="10972800" cy="625907"/>
          </a:xfrm>
        </p:spPr>
        <p:txBody>
          <a:bodyPr>
            <a:normAutofit fontScale="90000"/>
          </a:bodyPr>
          <a:lstStyle/>
          <a:p>
            <a:pPr algn="r"/>
            <a:r>
              <a:rPr lang="ne-NP" dirty="0" smtClean="0">
                <a:latin typeface="Kokila" pitchFamily="34" charset="0"/>
                <a:cs typeface="Kokila" pitchFamily="34" charset="0"/>
              </a:rPr>
              <a:t>क्रमशः</a:t>
            </a:r>
            <a:endParaRPr lang="en-US" dirty="0">
              <a:latin typeface="Kokila" pitchFamily="34" charset="0"/>
              <a:cs typeface="Kokila"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108365"/>
            <a:ext cx="10972800" cy="4898928"/>
          </a:xfrm>
        </p:spPr>
        <p:txBody>
          <a:bodyPr>
            <a:normAutofit fontScale="70000" lnSpcReduction="20000"/>
          </a:bodyPr>
          <a:lstStyle/>
          <a:p>
            <a:pPr>
              <a:lnSpc>
                <a:spcPct val="150000"/>
              </a:lnSpc>
            </a:pPr>
            <a:r>
              <a:rPr lang="ne-NP" sz="4000" b="1" dirty="0" smtClean="0">
                <a:solidFill>
                  <a:srgbClr val="0070C0"/>
                </a:solidFill>
                <a:latin typeface="Kokila" pitchFamily="34" charset="0"/>
                <a:cs typeface="Kokila" pitchFamily="34" charset="0"/>
              </a:rPr>
              <a:t> </a:t>
            </a:r>
            <a:r>
              <a:rPr lang="en-US" sz="4000" b="1" dirty="0" smtClean="0">
                <a:solidFill>
                  <a:srgbClr val="0070C0"/>
                </a:solidFill>
                <a:latin typeface="Kokila" pitchFamily="34" charset="0"/>
                <a:cs typeface="Kokila" pitchFamily="34" charset="0"/>
              </a:rPr>
              <a:t>Rome Statute 1998, </a:t>
            </a:r>
          </a:p>
          <a:p>
            <a:pPr lvl="1">
              <a:lnSpc>
                <a:spcPct val="150000"/>
              </a:lnSpc>
            </a:pPr>
            <a:r>
              <a:rPr lang="en-US" sz="3600" b="1" dirty="0" smtClean="0">
                <a:solidFill>
                  <a:srgbClr val="0070C0"/>
                </a:solidFill>
                <a:latin typeface="Kokila" pitchFamily="34" charset="0"/>
                <a:cs typeface="Kokila" pitchFamily="34" charset="0"/>
              </a:rPr>
              <a:t>Art</a:t>
            </a:r>
            <a:r>
              <a:rPr lang="ne-NP" sz="3600" b="1" dirty="0" smtClean="0">
                <a:solidFill>
                  <a:srgbClr val="0070C0"/>
                </a:solidFill>
                <a:latin typeface="Kokila" pitchFamily="34" charset="0"/>
                <a:cs typeface="Kokila" pitchFamily="34" charset="0"/>
              </a:rPr>
              <a:t> </a:t>
            </a:r>
            <a:r>
              <a:rPr lang="en-US" sz="3600" b="1" dirty="0" smtClean="0">
                <a:solidFill>
                  <a:srgbClr val="0070C0"/>
                </a:solidFill>
                <a:latin typeface="Kokila" pitchFamily="34" charset="0"/>
                <a:cs typeface="Kokila" pitchFamily="34" charset="0"/>
              </a:rPr>
              <a:t>57 </a:t>
            </a:r>
            <a:r>
              <a:rPr lang="en-US" sz="3600" b="1" dirty="0" err="1" smtClean="0">
                <a:solidFill>
                  <a:srgbClr val="0070C0"/>
                </a:solidFill>
                <a:latin typeface="Kokila" pitchFamily="34" charset="0"/>
                <a:cs typeface="Kokila" pitchFamily="34" charset="0"/>
              </a:rPr>
              <a:t>para</a:t>
            </a:r>
            <a:r>
              <a:rPr lang="en-US" sz="3600" b="1" dirty="0" smtClean="0">
                <a:solidFill>
                  <a:srgbClr val="0070C0"/>
                </a:solidFill>
                <a:latin typeface="Kokila" pitchFamily="34" charset="0"/>
                <a:cs typeface="Kokila" pitchFamily="34" charset="0"/>
              </a:rPr>
              <a:t>. 3(c) - </a:t>
            </a:r>
            <a:r>
              <a:rPr lang="en-US" sz="2000" dirty="0" smtClean="0"/>
              <a:t>Where necessary, provide for the </a:t>
            </a:r>
            <a:r>
              <a:rPr lang="en-US" sz="2000" b="1" dirty="0" smtClean="0">
                <a:solidFill>
                  <a:srgbClr val="FF0000"/>
                </a:solidFill>
              </a:rPr>
              <a:t>protection and privacy of victims and witnesses</a:t>
            </a:r>
            <a:r>
              <a:rPr lang="en-US" sz="2000" dirty="0" smtClean="0"/>
              <a:t>, the preservation of evidence, the protection of persons who have been arrested or appeared in response to a summons, and the protection of national security information</a:t>
            </a:r>
            <a:r>
              <a:rPr lang="en-US" sz="4000" b="1" dirty="0" smtClean="0">
                <a:solidFill>
                  <a:srgbClr val="0070C0"/>
                </a:solidFill>
                <a:latin typeface="Kokila" pitchFamily="34" charset="0"/>
                <a:cs typeface="Kokila" pitchFamily="34" charset="0"/>
              </a:rPr>
              <a:t>, </a:t>
            </a:r>
          </a:p>
          <a:p>
            <a:pPr lvl="1">
              <a:lnSpc>
                <a:spcPct val="150000"/>
              </a:lnSpc>
            </a:pPr>
            <a:r>
              <a:rPr lang="en-US" sz="4000" b="1" dirty="0" err="1" smtClean="0">
                <a:solidFill>
                  <a:srgbClr val="0070C0"/>
                </a:solidFill>
                <a:latin typeface="Kokila" pitchFamily="34" charset="0"/>
                <a:cs typeface="Kokila" pitchFamily="34" charset="0"/>
              </a:rPr>
              <a:t>Art.68</a:t>
            </a:r>
            <a:r>
              <a:rPr lang="en-US" sz="4000" b="1" dirty="0" smtClean="0">
                <a:solidFill>
                  <a:srgbClr val="0070C0"/>
                </a:solidFill>
                <a:latin typeface="Kokila" pitchFamily="34" charset="0"/>
                <a:cs typeface="Kokila" pitchFamily="34" charset="0"/>
              </a:rPr>
              <a:t> </a:t>
            </a:r>
            <a:r>
              <a:rPr lang="en-US" sz="4000" b="1" dirty="0" err="1" smtClean="0">
                <a:solidFill>
                  <a:srgbClr val="0070C0"/>
                </a:solidFill>
                <a:latin typeface="Kokila" pitchFamily="34" charset="0"/>
                <a:cs typeface="Kokila" pitchFamily="34" charset="0"/>
              </a:rPr>
              <a:t>para</a:t>
            </a:r>
            <a:r>
              <a:rPr lang="en-US" sz="4000" b="1" dirty="0" smtClean="0">
                <a:solidFill>
                  <a:srgbClr val="0070C0"/>
                </a:solidFill>
                <a:latin typeface="Kokila" pitchFamily="34" charset="0"/>
                <a:cs typeface="Kokila" pitchFamily="34" charset="0"/>
              </a:rPr>
              <a:t>. 1 - </a:t>
            </a:r>
            <a:r>
              <a:rPr lang="en-US" sz="2000" dirty="0" smtClean="0"/>
              <a:t>The Court shall take appropriate measures to </a:t>
            </a:r>
            <a:r>
              <a:rPr lang="en-US" sz="2000" b="1" dirty="0" smtClean="0">
                <a:solidFill>
                  <a:srgbClr val="FF0000"/>
                </a:solidFill>
              </a:rPr>
              <a:t>protect the safety, physical and psychological well-being, dignity and privacy of victims and witnesses</a:t>
            </a:r>
            <a:r>
              <a:rPr lang="en-US" sz="2000" b="1" dirty="0" smtClean="0"/>
              <a:t>.</a:t>
            </a:r>
          </a:p>
          <a:p>
            <a:pPr>
              <a:lnSpc>
                <a:spcPct val="150000"/>
              </a:lnSpc>
            </a:pPr>
            <a:r>
              <a:rPr lang="en-US" sz="4000" b="1" dirty="0" smtClean="0">
                <a:solidFill>
                  <a:srgbClr val="0070C0"/>
                </a:solidFill>
                <a:latin typeface="Kokila" pitchFamily="34" charset="0"/>
                <a:cs typeface="Kokila" pitchFamily="34" charset="0"/>
              </a:rPr>
              <a:t>Basic Principles of Justice for Victims of Crime and Abuse of </a:t>
            </a:r>
            <a:r>
              <a:rPr lang="en-US" sz="4000" b="1" dirty="0" err="1" smtClean="0">
                <a:solidFill>
                  <a:srgbClr val="0070C0"/>
                </a:solidFill>
                <a:latin typeface="Kokila" pitchFamily="34" charset="0"/>
                <a:cs typeface="Kokila" pitchFamily="34" charset="0"/>
              </a:rPr>
              <a:t>Power,1985</a:t>
            </a:r>
            <a:r>
              <a:rPr lang="en-US" sz="4000" b="1" dirty="0" smtClean="0">
                <a:solidFill>
                  <a:srgbClr val="0070C0"/>
                </a:solidFill>
                <a:latin typeface="Kokila" pitchFamily="34" charset="0"/>
                <a:cs typeface="Kokila" pitchFamily="34" charset="0"/>
              </a:rPr>
              <a:t>, </a:t>
            </a:r>
          </a:p>
          <a:p>
            <a:pPr lvl="1">
              <a:lnSpc>
                <a:spcPct val="150000"/>
              </a:lnSpc>
            </a:pPr>
            <a:r>
              <a:rPr lang="en-US" sz="3600" b="1" dirty="0" smtClean="0">
                <a:solidFill>
                  <a:srgbClr val="0070C0"/>
                </a:solidFill>
                <a:latin typeface="Kokila" pitchFamily="34" charset="0"/>
                <a:cs typeface="Kokila" pitchFamily="34" charset="0"/>
              </a:rPr>
              <a:t>Art. 6 - </a:t>
            </a:r>
            <a:r>
              <a:rPr lang="en-US" sz="2000" dirty="0" smtClean="0"/>
              <a:t>(d) Taking measures to minimize inconvenience to victims</a:t>
            </a:r>
            <a:r>
              <a:rPr lang="en-US" sz="2000" b="1" dirty="0" smtClean="0">
                <a:solidFill>
                  <a:srgbClr val="FF0000"/>
                </a:solidFill>
              </a:rPr>
              <a:t>, protect their privacy, </a:t>
            </a:r>
            <a:r>
              <a:rPr lang="en-US" sz="2000" dirty="0" smtClean="0"/>
              <a:t>when necessary, and ensure their safety, as well as that of their families and witnesses on their behalf, from intimidation and retaliation;</a:t>
            </a:r>
            <a:endParaRPr lang="ne-NP" sz="3600" b="1" dirty="0" smtClean="0">
              <a:solidFill>
                <a:srgbClr val="0070C0"/>
              </a:solidFill>
              <a:latin typeface="Kokila" pitchFamily="34" charset="0"/>
              <a:cs typeface="Kokila" pitchFamily="34" charset="0"/>
            </a:endParaRPr>
          </a:p>
        </p:txBody>
      </p:sp>
      <p:sp>
        <p:nvSpPr>
          <p:cNvPr id="4" name="Title 2"/>
          <p:cNvSpPr>
            <a:spLocks noGrp="1"/>
          </p:cNvSpPr>
          <p:nvPr>
            <p:ph type="title"/>
          </p:nvPr>
        </p:nvSpPr>
        <p:spPr>
          <a:xfrm>
            <a:off x="609600" y="274638"/>
            <a:ext cx="10972800" cy="667471"/>
          </a:xfrm>
        </p:spPr>
        <p:txBody>
          <a:bodyPr>
            <a:normAutofit fontScale="90000"/>
          </a:bodyPr>
          <a:lstStyle/>
          <a:p>
            <a:pPr algn="r"/>
            <a:r>
              <a:rPr lang="ne-NP" dirty="0" smtClean="0">
                <a:latin typeface="Kokila" pitchFamily="34" charset="0"/>
                <a:cs typeface="Kokila" pitchFamily="34" charset="0"/>
              </a:rPr>
              <a:t>क्रमशः</a:t>
            </a:r>
            <a:endParaRPr lang="en-US" dirty="0">
              <a:latin typeface="Kokila" pitchFamily="34" charset="0"/>
              <a:cs typeface="Kokila"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845127" y="228600"/>
            <a:ext cx="9213273" cy="914400"/>
          </a:xfrm>
          <a:prstGeom prst="rect">
            <a:avLst/>
          </a:prstGeom>
        </p:spPr>
        <p:txBody>
          <a:bodyPr vert="horz" anchor="ctr">
            <a:normAutofit fontScale="85000" lnSpcReduction="10000"/>
          </a:bodyPr>
          <a:lstStyle/>
          <a:p>
            <a:pPr>
              <a:spcBef>
                <a:spcPct val="0"/>
              </a:spcBef>
              <a:defRPr/>
            </a:pPr>
            <a:r>
              <a:rPr lang="ne-NP" sz="5400" b="1" dirty="0" smtClean="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rPr>
              <a:t>गोपनीयताको हकको प्रयोजनका लागि बन्द इजलास</a:t>
            </a:r>
            <a:endParaRPr lang="en-US" sz="5400" b="1" dirty="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endParaRPr>
          </a:p>
        </p:txBody>
      </p:sp>
      <p:sp>
        <p:nvSpPr>
          <p:cNvPr id="7" name="Rectangle 3"/>
          <p:cNvSpPr txBox="1">
            <a:spLocks noChangeArrowheads="1"/>
          </p:cNvSpPr>
          <p:nvPr/>
        </p:nvSpPr>
        <p:spPr>
          <a:xfrm>
            <a:off x="845127" y="1447800"/>
            <a:ext cx="10446328" cy="5410200"/>
          </a:xfrm>
          <a:prstGeom prst="rect">
            <a:avLst/>
          </a:prstGeom>
        </p:spPr>
        <p:txBody>
          <a:bodyPr vert="horz">
            <a:normAutofit/>
          </a:bodyPr>
          <a:lstStyle/>
          <a:p>
            <a:pPr marL="274320" indent="-274320" algn="just">
              <a:lnSpc>
                <a:spcPts val="3000"/>
              </a:lnSpc>
              <a:spcBef>
                <a:spcPct val="20000"/>
              </a:spcBef>
              <a:buClr>
                <a:schemeClr val="accent1"/>
              </a:buClr>
              <a:buSzPct val="85000"/>
              <a:buFont typeface="Wingdings 2"/>
              <a:buChar char=""/>
              <a:defRPr/>
            </a:pPr>
            <a:r>
              <a:rPr lang="en-US" sz="2400" b="1" dirty="0">
                <a:solidFill>
                  <a:srgbClr val="0070C0"/>
                </a:solidFill>
                <a:latin typeface="Kokila" pitchFamily="34" charset="0"/>
                <a:cs typeface="Kokila" pitchFamily="34" charset="0"/>
              </a:rPr>
              <a:t>In Camera proceedings are those in which </a:t>
            </a:r>
            <a:r>
              <a:rPr lang="en-US" sz="2400" b="1" dirty="0">
                <a:solidFill>
                  <a:srgbClr val="FF0000"/>
                </a:solidFill>
                <a:latin typeface="Kokila" pitchFamily="34" charset="0"/>
                <a:cs typeface="Kokila" pitchFamily="34" charset="0"/>
              </a:rPr>
              <a:t>no person, other than the victim/witness, presiding officer, the defense counsel, the prosecutor, investigating officer and the next friend of the victim/witness and the accused or any other person authorized by the Court, are present </a:t>
            </a:r>
            <a:r>
              <a:rPr lang="en-US" sz="2400" b="1" dirty="0">
                <a:solidFill>
                  <a:srgbClr val="0070C0"/>
                </a:solidFill>
                <a:latin typeface="Kokila" pitchFamily="34" charset="0"/>
                <a:cs typeface="Kokila" pitchFamily="34" charset="0"/>
              </a:rPr>
              <a:t>in the court or in any other location where the proceedings are held. </a:t>
            </a:r>
          </a:p>
          <a:p>
            <a:pPr marL="274320" indent="-274320" algn="just">
              <a:lnSpc>
                <a:spcPts val="3000"/>
              </a:lnSpc>
              <a:spcBef>
                <a:spcPct val="20000"/>
              </a:spcBef>
              <a:buClr>
                <a:schemeClr val="bg1"/>
              </a:buClr>
              <a:buSzPct val="85000"/>
              <a:defRPr/>
            </a:pPr>
            <a:r>
              <a:rPr lang="en-US" sz="2400" b="1" dirty="0">
                <a:solidFill>
                  <a:srgbClr val="0070C0"/>
                </a:solidFill>
                <a:latin typeface="Kokila" pitchFamily="34" charset="0"/>
                <a:cs typeface="Kokila" pitchFamily="34" charset="0"/>
              </a:rPr>
              <a:t>	</a:t>
            </a:r>
            <a:r>
              <a:rPr lang="ne-NP" sz="2400" b="1" dirty="0" smtClean="0">
                <a:solidFill>
                  <a:srgbClr val="0070C0"/>
                </a:solidFill>
                <a:latin typeface="Kokila" pitchFamily="34" charset="0"/>
                <a:cs typeface="Kokila" pitchFamily="34" charset="0"/>
              </a:rPr>
              <a:t>	</a:t>
            </a:r>
            <a:r>
              <a:rPr lang="en-US" sz="2400" b="1" dirty="0" smtClean="0">
                <a:solidFill>
                  <a:srgbClr val="0070C0"/>
                </a:solidFill>
                <a:latin typeface="Kokila" pitchFamily="34" charset="0"/>
                <a:cs typeface="Kokila" pitchFamily="34" charset="0"/>
              </a:rPr>
              <a:t>(</a:t>
            </a:r>
            <a:r>
              <a:rPr lang="en-US" sz="2400" b="1" dirty="0">
                <a:solidFill>
                  <a:srgbClr val="0070C0"/>
                </a:solidFill>
                <a:latin typeface="Kokila" pitchFamily="34" charset="0"/>
                <a:cs typeface="Kokila" pitchFamily="34" charset="0"/>
              </a:rPr>
              <a:t>Regional Victim/Witness Protection Protocol to combat trafficking,  commercial exploitation and sexual abuse of women and children in South Asia- SARIQ)</a:t>
            </a:r>
          </a:p>
          <a:p>
            <a:pPr marL="274320" indent="-274320" algn="just">
              <a:lnSpc>
                <a:spcPts val="3000"/>
              </a:lnSpc>
              <a:spcBef>
                <a:spcPct val="20000"/>
              </a:spcBef>
              <a:buClr>
                <a:schemeClr val="accent1"/>
              </a:buClr>
              <a:buSzPct val="85000"/>
              <a:buFont typeface="Wingdings 2"/>
              <a:buChar char=""/>
              <a:defRPr/>
            </a:pPr>
            <a:r>
              <a:rPr lang="en-US" sz="2400" b="1" dirty="0">
                <a:solidFill>
                  <a:srgbClr val="0070C0"/>
                </a:solidFill>
                <a:latin typeface="Kokila" pitchFamily="34" charset="0"/>
                <a:cs typeface="Kokila" pitchFamily="34" charset="0"/>
              </a:rPr>
              <a:t>Osborn's Concise Law Dictionary “A court hearing must usually be in public but the </a:t>
            </a:r>
            <a:r>
              <a:rPr lang="en-US" sz="2400" b="1" dirty="0">
                <a:solidFill>
                  <a:srgbClr val="FF0000"/>
                </a:solidFill>
                <a:latin typeface="Kokila" pitchFamily="34" charset="0"/>
                <a:cs typeface="Kokila" pitchFamily="34" charset="0"/>
              </a:rPr>
              <a:t>public may be barred from the court or the hearing may continue in the judge's private room in certain circumstances; </a:t>
            </a:r>
            <a:r>
              <a:rPr lang="en-US" sz="2400" b="1" dirty="0">
                <a:solidFill>
                  <a:srgbClr val="0070C0"/>
                </a:solidFill>
                <a:latin typeface="Kokila" pitchFamily="34" charset="0"/>
                <a:cs typeface="Kokila" pitchFamily="34" charset="0"/>
              </a:rPr>
              <a:t>for example, when it is necessary in the interests of national security or to protect the identity of a witness unwilling to give evidence in public.” </a:t>
            </a:r>
          </a:p>
        </p:txBody>
      </p:sp>
    </p:spTree>
    <p:extLst>
      <p:ext uri="{BB962C8B-B14F-4D97-AF65-F5344CB8AC3E}">
        <p14:creationId xmlns:p14="http://schemas.microsoft.com/office/powerpoint/2010/main" xmlns="" val="3981961652"/>
      </p:ext>
    </p:extLst>
  </p:cSld>
  <p:clrMapOvr>
    <a:masterClrMapping/>
  </p:clrMapOvr>
  <p:transition>
    <p:diamon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txBox="1">
            <a:spLocks noChangeArrowheads="1"/>
          </p:cNvSpPr>
          <p:nvPr/>
        </p:nvSpPr>
        <p:spPr>
          <a:xfrm>
            <a:off x="928255" y="1447800"/>
            <a:ext cx="10501745" cy="5410200"/>
          </a:xfrm>
          <a:prstGeom prst="rect">
            <a:avLst/>
          </a:prstGeom>
        </p:spPr>
        <p:txBody>
          <a:bodyPr vert="horz">
            <a:normAutofit/>
          </a:bodyPr>
          <a:lstStyle/>
          <a:p>
            <a:pPr marL="274320" indent="-274320" algn="just">
              <a:lnSpc>
                <a:spcPts val="3000"/>
              </a:lnSpc>
              <a:spcBef>
                <a:spcPct val="20000"/>
              </a:spcBef>
              <a:buClr>
                <a:schemeClr val="accent1"/>
              </a:buClr>
              <a:buSzPct val="85000"/>
              <a:buFont typeface="Wingdings 2"/>
              <a:buChar char=""/>
            </a:pPr>
            <a:r>
              <a:rPr lang="en-US" sz="2400" b="1" dirty="0">
                <a:solidFill>
                  <a:srgbClr val="0070C0"/>
                </a:solidFill>
                <a:latin typeface="Kokila" pitchFamily="34" charset="0"/>
                <a:cs typeface="Kokila" pitchFamily="34" charset="0"/>
              </a:rPr>
              <a:t>Oxford Dictionary of Law "In Camera. The </a:t>
            </a:r>
            <a:r>
              <a:rPr lang="en-US" sz="2400" b="1" dirty="0">
                <a:solidFill>
                  <a:srgbClr val="FF0000"/>
                </a:solidFill>
                <a:latin typeface="Kokila" pitchFamily="34" charset="0"/>
                <a:cs typeface="Kokila" pitchFamily="34" charset="0"/>
              </a:rPr>
              <a:t>hearing of a case in private</a:t>
            </a:r>
            <a:r>
              <a:rPr lang="en-US" sz="2400" b="1" dirty="0">
                <a:solidFill>
                  <a:srgbClr val="0070C0"/>
                </a:solidFill>
                <a:latin typeface="Kokila" pitchFamily="34" charset="0"/>
                <a:cs typeface="Kokila" pitchFamily="34" charset="0"/>
              </a:rPr>
              <a:t>, either by excluding the public from the court or by conducting the hearing in the judge's private rooms, Although criminal cases must be heard in public, where national security is invoked by the prosecution, the public may be excluded. </a:t>
            </a:r>
          </a:p>
          <a:p>
            <a:pPr marL="274320" indent="-274320" algn="just">
              <a:lnSpc>
                <a:spcPts val="3000"/>
              </a:lnSpc>
              <a:spcBef>
                <a:spcPct val="20000"/>
              </a:spcBef>
              <a:buClr>
                <a:schemeClr val="accent1"/>
              </a:buClr>
              <a:buSzPct val="85000"/>
              <a:buFont typeface="Wingdings 2"/>
              <a:buChar char=""/>
            </a:pPr>
            <a:r>
              <a:rPr lang="en-US" sz="2400" b="1" dirty="0">
                <a:solidFill>
                  <a:srgbClr val="0070C0"/>
                </a:solidFill>
                <a:latin typeface="Kokila" pitchFamily="34" charset="0"/>
                <a:cs typeface="Kokila" pitchFamily="34" charset="0"/>
              </a:rPr>
              <a:t>A definite legal definition of ‘privacy’ is not available. Some legal experts tend to define privacy as a human right enjoyed by every human being by virtue of his or her existence. It depends on no instrument or charter. Privacy can also extend to other aspects, including bodily </a:t>
            </a:r>
            <a:r>
              <a:rPr lang="en-US" sz="2400" b="1" dirty="0">
                <a:solidFill>
                  <a:srgbClr val="FF0000"/>
                </a:solidFill>
                <a:latin typeface="Kokila" pitchFamily="34" charset="0"/>
                <a:cs typeface="Kokila" pitchFamily="34" charset="0"/>
              </a:rPr>
              <a:t>integrity, personal autonomy, informational self-determination, protection from state surveillance, dignity, confidentiality, compelled speech and freedom to dissent or move or think</a:t>
            </a:r>
            <a:r>
              <a:rPr lang="en-US" sz="2400" b="1" dirty="0">
                <a:solidFill>
                  <a:srgbClr val="0070C0"/>
                </a:solidFill>
                <a:latin typeface="Kokila" pitchFamily="34" charset="0"/>
                <a:cs typeface="Kokila" pitchFamily="34" charset="0"/>
              </a:rPr>
              <a:t>. In short, the right to privacy has to be determined on a case-by-case basis.</a:t>
            </a:r>
          </a:p>
        </p:txBody>
      </p:sp>
      <p:sp>
        <p:nvSpPr>
          <p:cNvPr id="4" name="Title 2"/>
          <p:cNvSpPr txBox="1">
            <a:spLocks/>
          </p:cNvSpPr>
          <p:nvPr/>
        </p:nvSpPr>
        <p:spPr>
          <a:xfrm>
            <a:off x="609600" y="274638"/>
            <a:ext cx="10972800" cy="667471"/>
          </a:xfrm>
          <a:prstGeom prst="rect">
            <a:avLst/>
          </a:prstGeom>
        </p:spPr>
        <p:txBody>
          <a:bodyPr vert="horz" rtlCol="0" anchor="ctr">
            <a:normAutofit fontScale="97500" lnSpcReduction="10000"/>
            <a:scene3d>
              <a:camera prst="orthographicFront"/>
              <a:lightRig rig="soft" dir="t"/>
            </a:scene3d>
            <a:sp3d prstMaterial="softEdge">
              <a:bevelT w="25400" h="25400"/>
            </a:sp3d>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ne-NP" sz="4100" b="1"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Kokila" pitchFamily="34" charset="0"/>
                <a:ea typeface="+mj-ea"/>
                <a:cs typeface="Kokila" pitchFamily="34" charset="0"/>
              </a:rPr>
              <a:t>क्रमशः</a:t>
            </a:r>
            <a:endParaRPr kumimoji="0" lang="en-US" sz="41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Kokila" pitchFamily="34" charset="0"/>
              <a:ea typeface="+mj-ea"/>
              <a:cs typeface="Kokila" pitchFamily="34" charset="0"/>
            </a:endParaRPr>
          </a:p>
        </p:txBody>
      </p:sp>
    </p:spTree>
    <p:extLst>
      <p:ext uri="{BB962C8B-B14F-4D97-AF65-F5344CB8AC3E}">
        <p14:creationId xmlns:p14="http://schemas.microsoft.com/office/powerpoint/2010/main" xmlns="" val="522034551"/>
      </p:ext>
    </p:extLst>
  </p:cSld>
  <p:clrMapOvr>
    <a:masterClrMapping/>
  </p:clrMapOvr>
  <p:transition>
    <p:pull dir="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a:xfrm>
            <a:off x="568036" y="398318"/>
            <a:ext cx="10972800" cy="635000"/>
          </a:xfrm>
        </p:spPr>
        <p:txBody>
          <a:bodyPr>
            <a:noAutofit/>
          </a:bodyPr>
          <a:lstStyle/>
          <a:p>
            <a:pPr algn="r"/>
            <a:r>
              <a:rPr lang="ne-NP" sz="4400" dirty="0" smtClean="0">
                <a:solidFill>
                  <a:srgbClr val="002060"/>
                </a:solidFill>
                <a:latin typeface="Kokila" pitchFamily="34" charset="0"/>
                <a:ea typeface="Kalimati" pitchFamily="2"/>
                <a:cs typeface="Kokila" pitchFamily="34" charset="0"/>
              </a:rPr>
              <a:t>वन्द इजलास</a:t>
            </a:r>
            <a:r>
              <a:rPr lang="en-US" sz="4400" dirty="0" smtClean="0">
                <a:solidFill>
                  <a:srgbClr val="002060"/>
                </a:solidFill>
                <a:latin typeface="Kokila" pitchFamily="34" charset="0"/>
                <a:ea typeface="Kalimati" pitchFamily="2"/>
                <a:cs typeface="Kokila" pitchFamily="34" charset="0"/>
              </a:rPr>
              <a:t> </a:t>
            </a:r>
            <a:r>
              <a:rPr lang="ne-NP" sz="4400" dirty="0" smtClean="0">
                <a:solidFill>
                  <a:srgbClr val="002060"/>
                </a:solidFill>
                <a:latin typeface="Kokila" pitchFamily="34" charset="0"/>
                <a:ea typeface="Kalimati" pitchFamily="2"/>
                <a:cs typeface="Kokila" pitchFamily="34" charset="0"/>
              </a:rPr>
              <a:t>क्रमशः</a:t>
            </a:r>
            <a:endParaRPr lang="en-US" sz="4400" dirty="0" smtClean="0">
              <a:solidFill>
                <a:srgbClr val="002060"/>
              </a:solidFill>
              <a:latin typeface="Kokila" pitchFamily="34" charset="0"/>
              <a:ea typeface="Kalimati" pitchFamily="2"/>
              <a:cs typeface="Kokila" pitchFamily="34" charset="0"/>
            </a:endParaRPr>
          </a:p>
        </p:txBody>
      </p:sp>
      <p:sp>
        <p:nvSpPr>
          <p:cNvPr id="53251" name="Content Placeholder 2"/>
          <p:cNvSpPr>
            <a:spLocks noGrp="1"/>
          </p:cNvSpPr>
          <p:nvPr>
            <p:ph idx="1"/>
          </p:nvPr>
        </p:nvSpPr>
        <p:spPr>
          <a:xfrm>
            <a:off x="609600" y="1205345"/>
            <a:ext cx="10972800" cy="5369551"/>
          </a:xfrm>
        </p:spPr>
        <p:txBody>
          <a:bodyPr>
            <a:normAutofit/>
          </a:bodyPr>
          <a:lstStyle/>
          <a:p>
            <a:pPr algn="just"/>
            <a:r>
              <a:rPr lang="ne-NP" sz="3200" b="1" dirty="0" smtClean="0">
                <a:solidFill>
                  <a:srgbClr val="0070C0"/>
                </a:solidFill>
                <a:latin typeface="Kokila" pitchFamily="34" charset="0"/>
                <a:ea typeface="Kalimati" pitchFamily="2"/>
                <a:cs typeface="Kokila" pitchFamily="34" charset="0"/>
              </a:rPr>
              <a:t>बन्द इजलास सबैको लाग बन्द भने होइन। </a:t>
            </a:r>
          </a:p>
          <a:p>
            <a:pPr algn="just"/>
            <a:r>
              <a:rPr lang="ne-NP" sz="3200" b="1" dirty="0" smtClean="0">
                <a:solidFill>
                  <a:srgbClr val="0070C0"/>
                </a:solidFill>
                <a:latin typeface="Kokila" pitchFamily="34" charset="0"/>
                <a:ea typeface="Kalimati" pitchFamily="2"/>
                <a:cs typeface="Kokila" pitchFamily="34" charset="0"/>
              </a:rPr>
              <a:t>बन्द इजलास भनेको महिला, बालबालिका, अपराध पीडतको सरोकार र सार्वजनिक हित र न्यायको लागि खुला इजलासमा केहि बन्देज लगाइएको अवस्था हो, जसमा सर्वसाधारण, कानून व्यवसायी, मुद्दाका पक्ष एवम् प्रेसको आवागमनलाई नियन्त्रित गरिएको हुन्छ। </a:t>
            </a:r>
          </a:p>
          <a:p>
            <a:pPr algn="just"/>
            <a:r>
              <a:rPr lang="ne-NP" sz="3200" b="1" dirty="0" smtClean="0">
                <a:solidFill>
                  <a:srgbClr val="0070C0"/>
                </a:solidFill>
                <a:latin typeface="Kokila" pitchFamily="34" charset="0"/>
                <a:ea typeface="Kalimati" pitchFamily="2"/>
                <a:cs typeface="Kokila" pitchFamily="34" charset="0"/>
              </a:rPr>
              <a:t>बन्द इजलासको एउटा उद्देस्य मुद्दाका पीडित पक्षलाई इजलास खु ल्ला भएको कारणले आफूले चाहेको कुरा पनि प्रकाश गर्न नसक्ने वा हतोत्साह हुने परिस्थिति वा वातावरणबाट बचाई न्यायीक प्रकृयामा उनीहरुको सहभागता र उपस्थितिलाई प्रभावकारी वनाउनु हो।</a:t>
            </a:r>
            <a:endParaRPr lang="en-US" sz="3200" b="1" dirty="0" smtClean="0">
              <a:solidFill>
                <a:srgbClr val="0070C0"/>
              </a:solidFill>
              <a:latin typeface="Kokila" pitchFamily="34" charset="0"/>
              <a:ea typeface="Kalimati" pitchFamily="2"/>
              <a:cs typeface="Kokila"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00545" y="274638"/>
            <a:ext cx="8853055" cy="868362"/>
          </a:xfrm>
        </p:spPr>
        <p:txBody>
          <a:bodyPr anchor="ctr"/>
          <a:lstStyle/>
          <a:p>
            <a:r>
              <a:rPr lang="ne-NP" dirty="0" smtClean="0">
                <a:solidFill>
                  <a:srgbClr val="002060"/>
                </a:solidFill>
                <a:latin typeface="Kokila" pitchFamily="34" charset="0"/>
                <a:cs typeface="Kokila" pitchFamily="34" charset="0"/>
              </a:rPr>
              <a:t>गोपनीयता </a:t>
            </a:r>
            <a:r>
              <a:rPr lang="ne-NP" dirty="0">
                <a:solidFill>
                  <a:srgbClr val="002060"/>
                </a:solidFill>
                <a:latin typeface="Kokila" pitchFamily="34" charset="0"/>
                <a:cs typeface="Kokila" pitchFamily="34" charset="0"/>
              </a:rPr>
              <a:t>किन ?</a:t>
            </a:r>
            <a:endParaRPr lang="en-US" dirty="0">
              <a:solidFill>
                <a:srgbClr val="002060"/>
              </a:solidFill>
              <a:latin typeface="Kokila" pitchFamily="34" charset="0"/>
              <a:cs typeface="Kokila" pitchFamily="34" charset="0"/>
            </a:endParaRPr>
          </a:p>
        </p:txBody>
      </p:sp>
      <p:sp>
        <p:nvSpPr>
          <p:cNvPr id="5" name="Rectangle 3"/>
          <p:cNvSpPr txBox="1">
            <a:spLocks noChangeArrowheads="1"/>
          </p:cNvSpPr>
          <p:nvPr/>
        </p:nvSpPr>
        <p:spPr>
          <a:xfrm>
            <a:off x="1025236" y="1233055"/>
            <a:ext cx="9642764" cy="4253345"/>
          </a:xfrm>
          <a:prstGeom prst="rect">
            <a:avLst/>
          </a:prstGeom>
        </p:spPr>
        <p:txBody>
          <a:bodyPr vert="horz">
            <a:noAutofit/>
          </a:bodyPr>
          <a:lstStyle/>
          <a:p>
            <a:pPr marL="274320" indent="-274320">
              <a:spcBef>
                <a:spcPct val="20000"/>
              </a:spcBef>
              <a:buClr>
                <a:schemeClr val="accent1"/>
              </a:buClr>
              <a:buSzPct val="85000"/>
              <a:buFont typeface="Wingdings 2"/>
              <a:buChar char=""/>
              <a:defRPr/>
            </a:pPr>
            <a:r>
              <a:rPr lang="ne-NP" sz="2800" b="1" dirty="0" smtClean="0">
                <a:solidFill>
                  <a:srgbClr val="0070C0"/>
                </a:solidFill>
                <a:latin typeface="Kokila" pitchFamily="34" charset="0"/>
                <a:cs typeface="Kokila" pitchFamily="34" charset="0"/>
              </a:rPr>
              <a:t>पीडितलाई </a:t>
            </a:r>
            <a:r>
              <a:rPr lang="ne-NP" sz="2800" b="1" dirty="0">
                <a:solidFill>
                  <a:srgbClr val="0070C0"/>
                </a:solidFill>
                <a:latin typeface="Kokila" pitchFamily="34" charset="0"/>
                <a:cs typeface="Kokila" pitchFamily="34" charset="0"/>
              </a:rPr>
              <a:t>प्रतिवादीको तर्फबाट हुनसक्ने सम्भावित हिंसा, दवाव र असुरक्षाबाट बचाउन,</a:t>
            </a:r>
          </a:p>
          <a:p>
            <a:pPr marL="274320" indent="-274320">
              <a:spcBef>
                <a:spcPct val="20000"/>
              </a:spcBef>
              <a:buClr>
                <a:schemeClr val="accent1"/>
              </a:buClr>
              <a:buSzPct val="85000"/>
              <a:buFont typeface="Wingdings 2"/>
              <a:buChar char=""/>
              <a:defRPr/>
            </a:pPr>
            <a:r>
              <a:rPr lang="ne-NP" sz="2800" b="1" dirty="0">
                <a:solidFill>
                  <a:srgbClr val="0070C0"/>
                </a:solidFill>
                <a:latin typeface="Kokila" pitchFamily="34" charset="0"/>
                <a:cs typeface="Kokila" pitchFamily="34" charset="0"/>
              </a:rPr>
              <a:t>पीडितको निजी कुराहरू सार्वजनिकरण हुनबाट बचाउन, </a:t>
            </a:r>
          </a:p>
          <a:p>
            <a:pPr marL="274320" indent="-274320">
              <a:spcBef>
                <a:spcPct val="20000"/>
              </a:spcBef>
              <a:buClr>
                <a:schemeClr val="accent1"/>
              </a:buClr>
              <a:buSzPct val="85000"/>
              <a:buFont typeface="Wingdings 2"/>
              <a:buChar char=""/>
              <a:defRPr/>
            </a:pPr>
            <a:r>
              <a:rPr lang="ne-NP" sz="2800" b="1" dirty="0">
                <a:solidFill>
                  <a:srgbClr val="0070C0"/>
                </a:solidFill>
                <a:latin typeface="Kokila" pitchFamily="34" charset="0"/>
                <a:cs typeface="Kokila" pitchFamily="34" charset="0"/>
              </a:rPr>
              <a:t>सामाजिक वहिष्कार एवं दाग (</a:t>
            </a:r>
            <a:r>
              <a:rPr lang="en-US" sz="2800" b="1" dirty="0">
                <a:solidFill>
                  <a:srgbClr val="0070C0"/>
                </a:solidFill>
                <a:latin typeface="Kokila" pitchFamily="34" charset="0"/>
                <a:cs typeface="Kokila" pitchFamily="34" charset="0"/>
              </a:rPr>
              <a:t>Stigma</a:t>
            </a:r>
            <a:r>
              <a:rPr lang="ne-NP" sz="2800" b="1" dirty="0">
                <a:solidFill>
                  <a:srgbClr val="0070C0"/>
                </a:solidFill>
                <a:latin typeface="Kokila" pitchFamily="34" charset="0"/>
                <a:cs typeface="Kokila" pitchFamily="34" charset="0"/>
              </a:rPr>
              <a:t>) बाट बचाउन, </a:t>
            </a:r>
          </a:p>
          <a:p>
            <a:pPr marL="274320" indent="-274320">
              <a:spcBef>
                <a:spcPct val="20000"/>
              </a:spcBef>
              <a:buClr>
                <a:schemeClr val="accent1"/>
              </a:buClr>
              <a:buSzPct val="85000"/>
              <a:buFont typeface="Wingdings 2"/>
              <a:buChar char=""/>
              <a:defRPr/>
            </a:pPr>
            <a:r>
              <a:rPr lang="ne-NP" sz="2800" b="1" dirty="0">
                <a:solidFill>
                  <a:srgbClr val="0070C0"/>
                </a:solidFill>
                <a:latin typeface="Kokila" pitchFamily="34" charset="0"/>
                <a:cs typeface="Kokila" pitchFamily="34" charset="0"/>
              </a:rPr>
              <a:t>पीडितलाई पुनःपीडित हुनबाट बचाउन,</a:t>
            </a:r>
          </a:p>
          <a:p>
            <a:pPr marL="274320" indent="-274320">
              <a:spcBef>
                <a:spcPct val="20000"/>
              </a:spcBef>
              <a:buClr>
                <a:schemeClr val="accent1"/>
              </a:buClr>
              <a:buSzPct val="85000"/>
              <a:buFont typeface="Wingdings 2"/>
              <a:buChar char=""/>
              <a:defRPr/>
            </a:pPr>
            <a:r>
              <a:rPr lang="ne-NP" sz="2800" b="1" dirty="0">
                <a:solidFill>
                  <a:srgbClr val="0070C0"/>
                </a:solidFill>
                <a:latin typeface="Kokila" pitchFamily="34" charset="0"/>
                <a:cs typeface="Kokila" pitchFamily="34" charset="0"/>
              </a:rPr>
              <a:t>गोपनीयताको हकको संरक्षण गर्न, </a:t>
            </a:r>
          </a:p>
          <a:p>
            <a:pPr marL="274320" indent="-274320">
              <a:spcBef>
                <a:spcPct val="20000"/>
              </a:spcBef>
              <a:buClr>
                <a:schemeClr val="accent1"/>
              </a:buClr>
              <a:buSzPct val="85000"/>
              <a:buFont typeface="Wingdings 2"/>
              <a:buChar char=""/>
              <a:defRPr/>
            </a:pPr>
            <a:r>
              <a:rPr lang="ne-NP" sz="2800" b="1" dirty="0">
                <a:solidFill>
                  <a:srgbClr val="0070C0"/>
                </a:solidFill>
                <a:latin typeface="Kokila" pitchFamily="34" charset="0"/>
                <a:cs typeface="Kokila" pitchFamily="34" charset="0"/>
              </a:rPr>
              <a:t>बालबालिकाको सुधार, पुनस्र्थापना र सामाजिकीकरणमा सहयोग गर्न । </a:t>
            </a:r>
          </a:p>
        </p:txBody>
      </p:sp>
    </p:spTree>
    <p:extLst>
      <p:ext uri="{BB962C8B-B14F-4D97-AF65-F5344CB8AC3E}">
        <p14:creationId xmlns:p14="http://schemas.microsoft.com/office/powerpoint/2010/main" xmlns="" val="1044775936"/>
      </p:ext>
    </p:extLst>
  </p:cSld>
  <p:clrMapOvr>
    <a:masterClrMapping/>
  </p:clrMapOvr>
  <p:transition>
    <p:diamon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p:cNvSpPr>
            <a:spLocks noGrp="1" noChangeArrowheads="1"/>
          </p:cNvSpPr>
          <p:nvPr>
            <p:ph idx="1"/>
          </p:nvPr>
        </p:nvSpPr>
        <p:spPr>
          <a:xfrm>
            <a:off x="983673" y="1205345"/>
            <a:ext cx="9531927" cy="5195455"/>
          </a:xfrm>
        </p:spPr>
        <p:txBody>
          <a:bodyPr>
            <a:noAutofit/>
          </a:bodyPr>
          <a:lstStyle/>
          <a:p>
            <a:r>
              <a:rPr lang="ne-NP" sz="2800" b="1" dirty="0">
                <a:solidFill>
                  <a:srgbClr val="0070C0"/>
                </a:solidFill>
                <a:latin typeface="Kokila" pitchFamily="34" charset="0"/>
                <a:cs typeface="Kokila" pitchFamily="34" charset="0"/>
              </a:rPr>
              <a:t>नेपालको संविधान   </a:t>
            </a:r>
          </a:p>
          <a:p>
            <a:r>
              <a:rPr lang="ne-NP" sz="2800" b="1" dirty="0">
                <a:solidFill>
                  <a:srgbClr val="0070C0"/>
                </a:solidFill>
                <a:latin typeface="Kokila" pitchFamily="34" charset="0"/>
                <a:cs typeface="Kokila" pitchFamily="34" charset="0"/>
              </a:rPr>
              <a:t>मानव बेचबिखन तथा ओसार पसार (नियन्त्रण) ऐन</a:t>
            </a:r>
            <a:r>
              <a:rPr lang="en-US" sz="2800" b="1" dirty="0">
                <a:solidFill>
                  <a:srgbClr val="0070C0"/>
                </a:solidFill>
                <a:latin typeface="Kokila" pitchFamily="34" charset="0"/>
                <a:cs typeface="Kokila" pitchFamily="34" charset="0"/>
              </a:rPr>
              <a:t>,</a:t>
            </a:r>
            <a:r>
              <a:rPr lang="ne-NP" sz="2800" b="1" dirty="0">
                <a:solidFill>
                  <a:srgbClr val="0070C0"/>
                </a:solidFill>
                <a:latin typeface="Kokila" pitchFamily="34" charset="0"/>
                <a:cs typeface="Kokila" pitchFamily="34" charset="0"/>
              </a:rPr>
              <a:t> २०६४ </a:t>
            </a:r>
          </a:p>
          <a:p>
            <a:r>
              <a:rPr lang="ne-NP" sz="2800" b="1" dirty="0">
                <a:solidFill>
                  <a:srgbClr val="0070C0"/>
                </a:solidFill>
                <a:latin typeface="Kokila" pitchFamily="34" charset="0"/>
                <a:cs typeface="Kokila" pitchFamily="34" charset="0"/>
              </a:rPr>
              <a:t>संगठित अपराध निवारण ऐन</a:t>
            </a:r>
            <a:r>
              <a:rPr lang="en-US" sz="2800" b="1" dirty="0">
                <a:solidFill>
                  <a:srgbClr val="0070C0"/>
                </a:solidFill>
                <a:latin typeface="Kokila" pitchFamily="34" charset="0"/>
                <a:cs typeface="Kokila" pitchFamily="34" charset="0"/>
              </a:rPr>
              <a:t>,</a:t>
            </a:r>
            <a:r>
              <a:rPr lang="ne-NP" sz="2800" b="1" dirty="0">
                <a:solidFill>
                  <a:srgbClr val="0070C0"/>
                </a:solidFill>
                <a:latin typeface="Kokila" pitchFamily="34" charset="0"/>
                <a:cs typeface="Kokila" pitchFamily="34" charset="0"/>
              </a:rPr>
              <a:t> २०७०</a:t>
            </a:r>
          </a:p>
          <a:p>
            <a:r>
              <a:rPr lang="ne-NP" sz="2800" b="1" dirty="0">
                <a:solidFill>
                  <a:srgbClr val="0070C0"/>
                </a:solidFill>
                <a:latin typeface="Kokila" pitchFamily="34" charset="0"/>
                <a:cs typeface="Kokila" pitchFamily="34" charset="0"/>
              </a:rPr>
              <a:t>घरेलु हिंसा</a:t>
            </a:r>
            <a:r>
              <a:rPr lang="en-US" sz="2800" b="1" dirty="0">
                <a:solidFill>
                  <a:srgbClr val="0070C0"/>
                </a:solidFill>
                <a:latin typeface="Kokila" pitchFamily="34" charset="0"/>
                <a:cs typeface="Kokila" pitchFamily="34" charset="0"/>
              </a:rPr>
              <a:t> (</a:t>
            </a:r>
            <a:r>
              <a:rPr lang="ne-NP" sz="2800" b="1" dirty="0">
                <a:solidFill>
                  <a:srgbClr val="0070C0"/>
                </a:solidFill>
                <a:latin typeface="Kokila" pitchFamily="34" charset="0"/>
                <a:cs typeface="Kokila" pitchFamily="34" charset="0"/>
              </a:rPr>
              <a:t>कसूर र सजाय</a:t>
            </a:r>
            <a:r>
              <a:rPr lang="en-US" sz="2800" b="1" dirty="0">
                <a:solidFill>
                  <a:srgbClr val="0070C0"/>
                </a:solidFill>
                <a:latin typeface="Kokila" pitchFamily="34" charset="0"/>
                <a:cs typeface="Kokila" pitchFamily="34" charset="0"/>
              </a:rPr>
              <a:t>)</a:t>
            </a:r>
            <a:r>
              <a:rPr lang="ne-NP" sz="2800" b="1" dirty="0">
                <a:solidFill>
                  <a:srgbClr val="0070C0"/>
                </a:solidFill>
                <a:latin typeface="Kokila" pitchFamily="34" charset="0"/>
                <a:cs typeface="Kokila" pitchFamily="34" charset="0"/>
              </a:rPr>
              <a:t> ऐन</a:t>
            </a:r>
            <a:r>
              <a:rPr lang="en-US" sz="2800" b="1" dirty="0">
                <a:solidFill>
                  <a:srgbClr val="0070C0"/>
                </a:solidFill>
                <a:latin typeface="Kokila" pitchFamily="34" charset="0"/>
                <a:cs typeface="Kokila" pitchFamily="34" charset="0"/>
              </a:rPr>
              <a:t>,</a:t>
            </a:r>
            <a:r>
              <a:rPr lang="ne-NP" sz="2800" b="1" dirty="0">
                <a:solidFill>
                  <a:srgbClr val="0070C0"/>
                </a:solidFill>
                <a:latin typeface="Kokila" pitchFamily="34" charset="0"/>
                <a:cs typeface="Kokila" pitchFamily="34" charset="0"/>
              </a:rPr>
              <a:t> २०६६ </a:t>
            </a:r>
          </a:p>
          <a:p>
            <a:r>
              <a:rPr lang="ne-NP" sz="2800" b="1" dirty="0" smtClean="0">
                <a:solidFill>
                  <a:srgbClr val="0070C0"/>
                </a:solidFill>
                <a:latin typeface="Kokila" pitchFamily="34" charset="0"/>
                <a:cs typeface="Kokila" pitchFamily="34" charset="0"/>
              </a:rPr>
              <a:t>मुलुकी </a:t>
            </a:r>
            <a:r>
              <a:rPr lang="ne-NP" sz="2800" b="1" dirty="0">
                <a:solidFill>
                  <a:srgbClr val="0070C0"/>
                </a:solidFill>
                <a:latin typeface="Kokila" pitchFamily="34" charset="0"/>
                <a:cs typeface="Kokila" pitchFamily="34" charset="0"/>
              </a:rPr>
              <a:t>फौज्दारी संहिता</a:t>
            </a:r>
            <a:r>
              <a:rPr lang="en-US" sz="2800" b="1" dirty="0">
                <a:solidFill>
                  <a:srgbClr val="0070C0"/>
                </a:solidFill>
                <a:latin typeface="Kokila" pitchFamily="34" charset="0"/>
                <a:cs typeface="Kokila" pitchFamily="34" charset="0"/>
              </a:rPr>
              <a:t>,</a:t>
            </a:r>
            <a:r>
              <a:rPr lang="ne-NP" sz="2800" b="1" dirty="0">
                <a:solidFill>
                  <a:srgbClr val="0070C0"/>
                </a:solidFill>
                <a:latin typeface="Kokila" pitchFamily="34" charset="0"/>
                <a:cs typeface="Kokila" pitchFamily="34" charset="0"/>
              </a:rPr>
              <a:t> २०७४</a:t>
            </a:r>
          </a:p>
          <a:p>
            <a:r>
              <a:rPr lang="ne-NP" sz="2800" b="1" dirty="0">
                <a:solidFill>
                  <a:srgbClr val="0070C0"/>
                </a:solidFill>
                <a:latin typeface="Kokila" pitchFamily="34" charset="0"/>
                <a:cs typeface="Kokila" pitchFamily="34" charset="0"/>
              </a:rPr>
              <a:t>मुलुकी फौज्दारी कार्यविधि संहिता</a:t>
            </a:r>
            <a:r>
              <a:rPr lang="en-US" sz="2800" b="1" dirty="0">
                <a:solidFill>
                  <a:srgbClr val="0070C0"/>
                </a:solidFill>
                <a:latin typeface="Kokila" pitchFamily="34" charset="0"/>
                <a:cs typeface="Kokila" pitchFamily="34" charset="0"/>
              </a:rPr>
              <a:t>,</a:t>
            </a:r>
            <a:r>
              <a:rPr lang="ne-NP" sz="2800" b="1" dirty="0">
                <a:solidFill>
                  <a:srgbClr val="0070C0"/>
                </a:solidFill>
                <a:latin typeface="Kokila" pitchFamily="34" charset="0"/>
                <a:cs typeface="Kokila" pitchFamily="34" charset="0"/>
              </a:rPr>
              <a:t> </a:t>
            </a:r>
            <a:r>
              <a:rPr lang="ne-NP" sz="2800" b="1" dirty="0" smtClean="0">
                <a:solidFill>
                  <a:srgbClr val="0070C0"/>
                </a:solidFill>
                <a:latin typeface="Kokila" pitchFamily="34" charset="0"/>
                <a:cs typeface="Kokila" pitchFamily="34" charset="0"/>
              </a:rPr>
              <a:t>२०७४</a:t>
            </a:r>
          </a:p>
          <a:p>
            <a:r>
              <a:rPr lang="ne-NP" sz="2800" b="1" dirty="0" smtClean="0">
                <a:solidFill>
                  <a:srgbClr val="0070C0"/>
                </a:solidFill>
                <a:latin typeface="Kokila" pitchFamily="34" charset="0"/>
                <a:cs typeface="Kokila" pitchFamily="34" charset="0"/>
              </a:rPr>
              <a:t>फौज्दारी कार्यविधि नियमावली</a:t>
            </a:r>
            <a:r>
              <a:rPr lang="en-US" sz="2800" b="1" dirty="0" smtClean="0">
                <a:solidFill>
                  <a:srgbClr val="0070C0"/>
                </a:solidFill>
                <a:latin typeface="Kokila" pitchFamily="34" charset="0"/>
                <a:cs typeface="Kokila" pitchFamily="34" charset="0"/>
              </a:rPr>
              <a:t>,</a:t>
            </a:r>
            <a:r>
              <a:rPr lang="ne-NP" sz="2800" b="1" dirty="0" smtClean="0">
                <a:solidFill>
                  <a:srgbClr val="0070C0"/>
                </a:solidFill>
                <a:latin typeface="Kokila" pitchFamily="34" charset="0"/>
                <a:cs typeface="Kokila" pitchFamily="34" charset="0"/>
              </a:rPr>
              <a:t> २०७५</a:t>
            </a:r>
          </a:p>
          <a:p>
            <a:r>
              <a:rPr lang="ne-NP" sz="2800" b="1" dirty="0" smtClean="0">
                <a:solidFill>
                  <a:srgbClr val="0070C0"/>
                </a:solidFill>
                <a:latin typeface="Kokila" pitchFamily="34" charset="0"/>
                <a:cs typeface="Kokila" pitchFamily="34" charset="0"/>
              </a:rPr>
              <a:t>मुलुकी देवानी संहिता</a:t>
            </a:r>
            <a:r>
              <a:rPr lang="en-US" sz="2800" b="1" dirty="0" smtClean="0">
                <a:solidFill>
                  <a:srgbClr val="0070C0"/>
                </a:solidFill>
                <a:latin typeface="Kokila" pitchFamily="34" charset="0"/>
                <a:cs typeface="Kokila" pitchFamily="34" charset="0"/>
              </a:rPr>
              <a:t>,</a:t>
            </a:r>
            <a:r>
              <a:rPr lang="ne-NP" sz="2800" b="1" dirty="0" smtClean="0">
                <a:solidFill>
                  <a:srgbClr val="0070C0"/>
                </a:solidFill>
                <a:latin typeface="Kokila" pitchFamily="34" charset="0"/>
                <a:cs typeface="Kokila" pitchFamily="34" charset="0"/>
              </a:rPr>
              <a:t> २०७४</a:t>
            </a:r>
          </a:p>
          <a:p>
            <a:r>
              <a:rPr lang="ne-NP" sz="2800" b="1" dirty="0" smtClean="0">
                <a:solidFill>
                  <a:srgbClr val="0070C0"/>
                </a:solidFill>
                <a:latin typeface="Kokila" pitchFamily="34" charset="0"/>
                <a:cs typeface="Kokila" pitchFamily="34" charset="0"/>
              </a:rPr>
              <a:t>मुलुकी देवानी कार्यविधि संहिता</a:t>
            </a:r>
            <a:r>
              <a:rPr lang="en-US" sz="2800" b="1" dirty="0" smtClean="0">
                <a:solidFill>
                  <a:srgbClr val="0070C0"/>
                </a:solidFill>
                <a:latin typeface="Kokila" pitchFamily="34" charset="0"/>
                <a:cs typeface="Kokila" pitchFamily="34" charset="0"/>
              </a:rPr>
              <a:t>,</a:t>
            </a:r>
            <a:r>
              <a:rPr lang="ne-NP" sz="2800" b="1" dirty="0" smtClean="0">
                <a:solidFill>
                  <a:srgbClr val="0070C0"/>
                </a:solidFill>
                <a:latin typeface="Kokila" pitchFamily="34" charset="0"/>
                <a:cs typeface="Kokila" pitchFamily="34" charset="0"/>
              </a:rPr>
              <a:t> २०७४</a:t>
            </a:r>
          </a:p>
          <a:p>
            <a:r>
              <a:rPr lang="ne-NP" sz="2800" b="1" dirty="0" smtClean="0">
                <a:solidFill>
                  <a:srgbClr val="0070C0"/>
                </a:solidFill>
                <a:latin typeface="Kokila" pitchFamily="34" charset="0"/>
                <a:cs typeface="Kokila" pitchFamily="34" charset="0"/>
              </a:rPr>
              <a:t>देवानी कार्यविधि नियमावली</a:t>
            </a:r>
            <a:r>
              <a:rPr lang="en-US" sz="2800" b="1" dirty="0" smtClean="0">
                <a:solidFill>
                  <a:srgbClr val="0070C0"/>
                </a:solidFill>
                <a:latin typeface="Kokila" pitchFamily="34" charset="0"/>
                <a:cs typeface="Kokila" pitchFamily="34" charset="0"/>
              </a:rPr>
              <a:t>,</a:t>
            </a:r>
            <a:r>
              <a:rPr lang="ne-NP" sz="2800" b="1" dirty="0" smtClean="0">
                <a:solidFill>
                  <a:srgbClr val="0070C0"/>
                </a:solidFill>
                <a:latin typeface="Kokila" pitchFamily="34" charset="0"/>
                <a:cs typeface="Kokila" pitchFamily="34" charset="0"/>
              </a:rPr>
              <a:t> २०७५</a:t>
            </a:r>
          </a:p>
          <a:p>
            <a:endParaRPr lang="ne-NP" sz="2800" b="1" dirty="0" smtClean="0">
              <a:solidFill>
                <a:srgbClr val="0070C0"/>
              </a:solidFill>
              <a:latin typeface="Kokila" pitchFamily="34" charset="0"/>
              <a:cs typeface="Kokila" pitchFamily="34" charset="0"/>
            </a:endParaRPr>
          </a:p>
          <a:p>
            <a:endParaRPr lang="ne-NP" sz="2800" b="1" dirty="0" smtClean="0">
              <a:solidFill>
                <a:srgbClr val="0070C0"/>
              </a:solidFill>
              <a:latin typeface="Kokila" pitchFamily="34" charset="0"/>
              <a:cs typeface="Kokila" pitchFamily="34" charset="0"/>
            </a:endParaRPr>
          </a:p>
          <a:p>
            <a:endParaRPr lang="ne-NP" sz="2800" b="1" dirty="0">
              <a:solidFill>
                <a:srgbClr val="0070C0"/>
              </a:solidFill>
              <a:latin typeface="Kokila" pitchFamily="34" charset="0"/>
              <a:cs typeface="Kokila" pitchFamily="34" charset="0"/>
            </a:endParaRPr>
          </a:p>
        </p:txBody>
      </p:sp>
      <p:sp>
        <p:nvSpPr>
          <p:cNvPr id="49154" name="Rectangle 2"/>
          <p:cNvSpPr>
            <a:spLocks noGrp="1" noChangeArrowheads="1"/>
          </p:cNvSpPr>
          <p:nvPr>
            <p:ph type="title"/>
          </p:nvPr>
        </p:nvSpPr>
        <p:spPr/>
        <p:txBody>
          <a:bodyPr>
            <a:normAutofit/>
          </a:bodyPr>
          <a:lstStyle/>
          <a:p>
            <a:r>
              <a:rPr lang="ne-NP" sz="3000" dirty="0">
                <a:latin typeface="Preeti" pitchFamily="2" charset="0"/>
                <a:cs typeface="Kalimati" pitchFamily="2"/>
              </a:rPr>
              <a:t> </a:t>
            </a:r>
            <a:r>
              <a:rPr lang="ne-NP" sz="5400" dirty="0">
                <a:solidFill>
                  <a:srgbClr val="002060"/>
                </a:solidFill>
                <a:latin typeface="Kokila" pitchFamily="34" charset="0"/>
                <a:cs typeface="Kokila" pitchFamily="34" charset="0"/>
              </a:rPr>
              <a:t>गोपनीयता सम्बन्धी कानूनी व्यवस्थाहरू </a:t>
            </a:r>
            <a:endParaRPr lang="en-US" sz="5400" dirty="0">
              <a:solidFill>
                <a:srgbClr val="002060"/>
              </a:solidFill>
              <a:latin typeface="Kokila" pitchFamily="34" charset="0"/>
              <a:cs typeface="Kokila" pitchFamily="34" charset="0"/>
            </a:endParaRPr>
          </a:p>
        </p:txBody>
      </p:sp>
    </p:spTree>
    <p:extLst>
      <p:ext uri="{BB962C8B-B14F-4D97-AF65-F5344CB8AC3E}">
        <p14:creationId xmlns:p14="http://schemas.microsoft.com/office/powerpoint/2010/main" xmlns="" val="2651587325"/>
      </p:ext>
    </p:extLst>
  </p:cSld>
  <p:clrMapOvr>
    <a:masterClrMapping/>
  </p:clrMapOvr>
  <p:transition>
    <p:pull dir="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p:cNvSpPr>
            <a:spLocks noGrp="1" noChangeArrowheads="1"/>
          </p:cNvSpPr>
          <p:nvPr>
            <p:ph idx="1"/>
          </p:nvPr>
        </p:nvSpPr>
        <p:spPr>
          <a:xfrm>
            <a:off x="914400" y="1205345"/>
            <a:ext cx="9601200" cy="5195455"/>
          </a:xfrm>
        </p:spPr>
        <p:txBody>
          <a:bodyPr>
            <a:noAutofit/>
          </a:bodyPr>
          <a:lstStyle/>
          <a:p>
            <a:r>
              <a:rPr lang="ne-NP" sz="2800" b="1" dirty="0" smtClean="0">
                <a:solidFill>
                  <a:srgbClr val="0070C0"/>
                </a:solidFill>
                <a:latin typeface="Kokila" pitchFamily="34" charset="0"/>
                <a:cs typeface="Kokila" pitchFamily="34" charset="0"/>
              </a:rPr>
              <a:t>बालबालिका संबन्धी ऐन</a:t>
            </a:r>
            <a:r>
              <a:rPr lang="en-US" sz="2800" b="1" dirty="0" smtClean="0">
                <a:solidFill>
                  <a:srgbClr val="0070C0"/>
                </a:solidFill>
                <a:latin typeface="Kokila" pitchFamily="34" charset="0"/>
                <a:cs typeface="Kokila" pitchFamily="34" charset="0"/>
              </a:rPr>
              <a:t>,</a:t>
            </a:r>
            <a:r>
              <a:rPr lang="ne-NP" sz="2800" b="1" dirty="0" smtClean="0">
                <a:solidFill>
                  <a:srgbClr val="0070C0"/>
                </a:solidFill>
                <a:latin typeface="Kokila" pitchFamily="34" charset="0"/>
                <a:cs typeface="Kokila" pitchFamily="34" charset="0"/>
              </a:rPr>
              <a:t> २०७५</a:t>
            </a:r>
          </a:p>
          <a:p>
            <a:r>
              <a:rPr lang="ne-NP" sz="2800" b="1" dirty="0" smtClean="0">
                <a:solidFill>
                  <a:srgbClr val="0070C0"/>
                </a:solidFill>
                <a:latin typeface="Kokila" pitchFamily="34" charset="0"/>
                <a:cs typeface="Kokila" pitchFamily="34" charset="0"/>
              </a:rPr>
              <a:t>अपराध </a:t>
            </a:r>
            <a:r>
              <a:rPr lang="ne-NP" sz="2800" b="1" dirty="0">
                <a:solidFill>
                  <a:srgbClr val="0070C0"/>
                </a:solidFill>
                <a:latin typeface="Kokila" pitchFamily="34" charset="0"/>
                <a:cs typeface="Kokila" pitchFamily="34" charset="0"/>
              </a:rPr>
              <a:t>पीडित संरक्षण ऐन</a:t>
            </a:r>
            <a:r>
              <a:rPr lang="en-US" sz="2800" b="1" dirty="0">
                <a:solidFill>
                  <a:srgbClr val="0070C0"/>
                </a:solidFill>
                <a:latin typeface="Kokila" pitchFamily="34" charset="0"/>
                <a:cs typeface="Kokila" pitchFamily="34" charset="0"/>
              </a:rPr>
              <a:t>,</a:t>
            </a:r>
            <a:r>
              <a:rPr lang="ne-NP" sz="2800" b="1" dirty="0">
                <a:solidFill>
                  <a:srgbClr val="0070C0"/>
                </a:solidFill>
                <a:latin typeface="Kokila" pitchFamily="34" charset="0"/>
                <a:cs typeface="Kokila" pitchFamily="34" charset="0"/>
              </a:rPr>
              <a:t> २०७५</a:t>
            </a:r>
          </a:p>
          <a:p>
            <a:r>
              <a:rPr lang="ne-NP" sz="2800" b="1" dirty="0">
                <a:solidFill>
                  <a:srgbClr val="0070C0"/>
                </a:solidFill>
                <a:latin typeface="Kokila" pitchFamily="34" charset="0"/>
                <a:cs typeface="Kokila" pitchFamily="34" charset="0"/>
              </a:rPr>
              <a:t>वैयक्तिक गोपनीयता संबन्धी ऐन</a:t>
            </a:r>
            <a:r>
              <a:rPr lang="en-US" sz="2800" b="1" dirty="0">
                <a:solidFill>
                  <a:srgbClr val="0070C0"/>
                </a:solidFill>
                <a:latin typeface="Kokila" pitchFamily="34" charset="0"/>
                <a:cs typeface="Kokila" pitchFamily="34" charset="0"/>
              </a:rPr>
              <a:t>,</a:t>
            </a:r>
            <a:r>
              <a:rPr lang="ne-NP" sz="2800" b="1" dirty="0">
                <a:solidFill>
                  <a:srgbClr val="0070C0"/>
                </a:solidFill>
                <a:latin typeface="Kokila" pitchFamily="34" charset="0"/>
                <a:cs typeface="Kokila" pitchFamily="34" charset="0"/>
              </a:rPr>
              <a:t> २०७५</a:t>
            </a:r>
          </a:p>
          <a:p>
            <a:r>
              <a:rPr lang="ne-NP" sz="2800" b="1" dirty="0" smtClean="0">
                <a:solidFill>
                  <a:srgbClr val="0070C0"/>
                </a:solidFill>
                <a:latin typeface="Kokila" pitchFamily="34" charset="0"/>
                <a:cs typeface="Kokila" pitchFamily="34" charset="0"/>
              </a:rPr>
              <a:t>सर्वोच्च अदालत नियमावली </a:t>
            </a:r>
          </a:p>
          <a:p>
            <a:r>
              <a:rPr lang="ne-NP" sz="2800" b="1" dirty="0" smtClean="0">
                <a:solidFill>
                  <a:srgbClr val="0070C0"/>
                </a:solidFill>
                <a:latin typeface="Kokila" pitchFamily="34" charset="0"/>
                <a:cs typeface="Kokila" pitchFamily="34" charset="0"/>
              </a:rPr>
              <a:t>उच्च अदालत नियमावली </a:t>
            </a:r>
          </a:p>
          <a:p>
            <a:r>
              <a:rPr lang="ne-NP" sz="2800" b="1" dirty="0" smtClean="0">
                <a:solidFill>
                  <a:srgbClr val="0070C0"/>
                </a:solidFill>
                <a:latin typeface="Kokila" pitchFamily="34" charset="0"/>
                <a:cs typeface="Kokila" pitchFamily="34" charset="0"/>
              </a:rPr>
              <a:t>जिल्ला अदालत नियमावली</a:t>
            </a:r>
            <a:endParaRPr lang="en-US" sz="2800" b="1" dirty="0" smtClean="0">
              <a:solidFill>
                <a:srgbClr val="0070C0"/>
              </a:solidFill>
              <a:latin typeface="Kokila" pitchFamily="34" charset="0"/>
              <a:cs typeface="Kokila" pitchFamily="34" charset="0"/>
            </a:endParaRPr>
          </a:p>
          <a:p>
            <a:endParaRPr lang="ne-NP" sz="2800" b="1" dirty="0">
              <a:solidFill>
                <a:srgbClr val="0070C0"/>
              </a:solidFill>
              <a:latin typeface="Kokila" pitchFamily="34" charset="0"/>
              <a:cs typeface="Kokila" pitchFamily="34" charset="0"/>
            </a:endParaRPr>
          </a:p>
        </p:txBody>
      </p:sp>
      <p:sp>
        <p:nvSpPr>
          <p:cNvPr id="4" name="Title 2"/>
          <p:cNvSpPr txBox="1">
            <a:spLocks/>
          </p:cNvSpPr>
          <p:nvPr/>
        </p:nvSpPr>
        <p:spPr>
          <a:xfrm>
            <a:off x="609600" y="274638"/>
            <a:ext cx="10972800" cy="667471"/>
          </a:xfrm>
          <a:prstGeom prst="rect">
            <a:avLst/>
          </a:prstGeom>
        </p:spPr>
        <p:txBody>
          <a:bodyPr vert="horz" rtlCol="0" anchor="ctr">
            <a:normAutofit fontScale="97500" lnSpcReduction="10000"/>
            <a:scene3d>
              <a:camera prst="orthographicFront"/>
              <a:lightRig rig="soft" dir="t"/>
            </a:scene3d>
            <a:sp3d prstMaterial="softEdge">
              <a:bevelT w="25400" h="25400"/>
            </a:sp3d>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ne-NP" sz="4100" b="1"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Kokila" pitchFamily="34" charset="0"/>
                <a:ea typeface="+mj-ea"/>
                <a:cs typeface="Kokila" pitchFamily="34" charset="0"/>
              </a:rPr>
              <a:t>क्रमशः</a:t>
            </a:r>
            <a:endParaRPr kumimoji="0" lang="en-US" sz="41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Kokila" pitchFamily="34" charset="0"/>
              <a:ea typeface="+mj-ea"/>
              <a:cs typeface="Kokila" pitchFamily="34" charset="0"/>
            </a:endParaRPr>
          </a:p>
        </p:txBody>
      </p:sp>
    </p:spTree>
    <p:extLst>
      <p:ext uri="{BB962C8B-B14F-4D97-AF65-F5344CB8AC3E}">
        <p14:creationId xmlns:p14="http://schemas.microsoft.com/office/powerpoint/2010/main" xmlns="" val="3445397494"/>
      </p:ext>
    </p:extLst>
  </p:cSld>
  <p:clrMapOvr>
    <a:masterClrMapping/>
  </p:clrMapOvr>
  <p:transition>
    <p:diamon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noChangeArrowheads="1"/>
          </p:cNvSpPr>
          <p:nvPr>
            <p:ph idx="1"/>
          </p:nvPr>
        </p:nvSpPr>
        <p:spPr>
          <a:xfrm>
            <a:off x="914399" y="1524000"/>
            <a:ext cx="10446327" cy="4779818"/>
          </a:xfrm>
        </p:spPr>
        <p:txBody>
          <a:bodyPr>
            <a:normAutofit/>
          </a:bodyPr>
          <a:lstStyle/>
          <a:p>
            <a:pPr algn="just">
              <a:lnSpc>
                <a:spcPct val="150000"/>
              </a:lnSpc>
            </a:pPr>
            <a:r>
              <a:rPr lang="ne-NP" sz="2400" b="1" dirty="0">
                <a:solidFill>
                  <a:srgbClr val="0070C0"/>
                </a:solidFill>
                <a:latin typeface="Kokila" pitchFamily="34" charset="0"/>
                <a:cs typeface="Kokila" pitchFamily="34" charset="0"/>
              </a:rPr>
              <a:t>धारा १८(१) </a:t>
            </a:r>
            <a:r>
              <a:rPr lang="ne-NP" sz="2400" b="1" dirty="0" smtClean="0">
                <a:solidFill>
                  <a:srgbClr val="0070C0"/>
                </a:solidFill>
                <a:latin typeface="Kokila" pitchFamily="34" charset="0"/>
                <a:cs typeface="Kokila" pitchFamily="34" charset="0"/>
              </a:rPr>
              <a:t>ले समानताको </a:t>
            </a:r>
            <a:r>
              <a:rPr lang="ne-NP" sz="2400" b="1" dirty="0">
                <a:solidFill>
                  <a:srgbClr val="0070C0"/>
                </a:solidFill>
                <a:latin typeface="Kokila" pitchFamily="34" charset="0"/>
                <a:cs typeface="Kokila" pitchFamily="34" charset="0"/>
              </a:rPr>
              <a:t>हकलाई प्रत्याभूत गरेको</a:t>
            </a:r>
          </a:p>
          <a:p>
            <a:pPr algn="just">
              <a:lnSpc>
                <a:spcPct val="150000"/>
              </a:lnSpc>
            </a:pPr>
            <a:r>
              <a:rPr lang="ne-NP" sz="2400" b="1" dirty="0">
                <a:solidFill>
                  <a:srgbClr val="0070C0"/>
                </a:solidFill>
                <a:latin typeface="Kokila" pitchFamily="34" charset="0"/>
                <a:cs typeface="Kokila" pitchFamily="34" charset="0"/>
              </a:rPr>
              <a:t>धारा १८(३) को स्पष्टीकरण </a:t>
            </a:r>
            <a:r>
              <a:rPr lang="ne-NP" sz="2400" b="1" dirty="0" smtClean="0">
                <a:solidFill>
                  <a:srgbClr val="0070C0"/>
                </a:solidFill>
                <a:latin typeface="Kokila" pitchFamily="34" charset="0"/>
                <a:cs typeface="Kokila" pitchFamily="34" charset="0"/>
              </a:rPr>
              <a:t>खण्डः </a:t>
            </a:r>
            <a:endParaRPr lang="ne-NP" sz="2400" b="1" dirty="0">
              <a:solidFill>
                <a:srgbClr val="0070C0"/>
              </a:solidFill>
              <a:latin typeface="Kokila" pitchFamily="34" charset="0"/>
              <a:cs typeface="Kokila" pitchFamily="34" charset="0"/>
            </a:endParaRPr>
          </a:p>
          <a:p>
            <a:pPr algn="just">
              <a:buNone/>
            </a:pPr>
            <a:r>
              <a:rPr lang="en-US" sz="2400" b="1" dirty="0">
                <a:solidFill>
                  <a:srgbClr val="0070C0"/>
                </a:solidFill>
                <a:latin typeface="Kokila" pitchFamily="34" charset="0"/>
                <a:cs typeface="Kokila" pitchFamily="34" charset="0"/>
              </a:rPr>
              <a:t>	</a:t>
            </a:r>
            <a:r>
              <a:rPr lang="en-US" sz="2400" b="1" i="1" dirty="0">
                <a:solidFill>
                  <a:srgbClr val="0070C0"/>
                </a:solidFill>
                <a:latin typeface="Kokila" pitchFamily="34" charset="0"/>
                <a:cs typeface="Kokila" pitchFamily="34" charset="0"/>
              </a:rPr>
              <a:t>(</a:t>
            </a:r>
            <a:r>
              <a:rPr lang="ne-NP" sz="2400" b="1" i="1" dirty="0">
                <a:solidFill>
                  <a:srgbClr val="0070C0"/>
                </a:solidFill>
                <a:latin typeface="Kokila" pitchFamily="34" charset="0"/>
                <a:cs typeface="Kokila" pitchFamily="34" charset="0"/>
              </a:rPr>
              <a:t>विभिन्न दृष्टिले पिछडिएको वर्ग वा बाल, वृद्ध तथा अपाङ्ग वा </a:t>
            </a:r>
            <a:r>
              <a:rPr lang="en-US" sz="2400" b="1" i="1" dirty="0">
                <a:solidFill>
                  <a:srgbClr val="0070C0"/>
                </a:solidFill>
                <a:latin typeface="Kokila" pitchFamily="34" charset="0"/>
                <a:cs typeface="Kokila" pitchFamily="34" charset="0"/>
              </a:rPr>
              <a:t> </a:t>
            </a:r>
            <a:r>
              <a:rPr lang="ne-NP" sz="2400" b="1" i="1" dirty="0">
                <a:solidFill>
                  <a:srgbClr val="0070C0"/>
                </a:solidFill>
                <a:latin typeface="Kokila" pitchFamily="34" charset="0"/>
                <a:cs typeface="Kokila" pitchFamily="34" charset="0"/>
              </a:rPr>
              <a:t>शारीरिक वा मानसिक रूपले अशक्त व्यक्तिको संरक्षण सशक्तिकरण वा विकासको लागि कानूनद्वारा विशेष व्यवस्था गर्न रोक लगाएको नमानिने भन्ने उल्लेख भएबाट राज्यले सकरात्मक विभेद (</a:t>
            </a:r>
            <a:r>
              <a:rPr lang="en-US" sz="2400" b="1" i="1" dirty="0">
                <a:solidFill>
                  <a:srgbClr val="0070C0"/>
                </a:solidFill>
                <a:latin typeface="Kokila" pitchFamily="34" charset="0"/>
                <a:cs typeface="Kokila" pitchFamily="34" charset="0"/>
              </a:rPr>
              <a:t>Positive Discrimination</a:t>
            </a:r>
            <a:r>
              <a:rPr lang="ne-NP" sz="2400" b="1" i="1" dirty="0">
                <a:solidFill>
                  <a:srgbClr val="0070C0"/>
                </a:solidFill>
                <a:latin typeface="Kokila" pitchFamily="34" charset="0"/>
                <a:cs typeface="Kokila" pitchFamily="34" charset="0"/>
              </a:rPr>
              <a:t>) गर्ने कानून बनाउन सक्ने </a:t>
            </a:r>
            <a:r>
              <a:rPr lang="ne-NP" sz="2400" b="1" i="1" dirty="0" smtClean="0">
                <a:solidFill>
                  <a:srgbClr val="0070C0"/>
                </a:solidFill>
                <a:latin typeface="Kokila" pitchFamily="34" charset="0"/>
                <a:cs typeface="Kokila" pitchFamily="34" charset="0"/>
              </a:rPr>
              <a:t>।</a:t>
            </a:r>
            <a:r>
              <a:rPr lang="en-US" sz="2400" b="1" i="1" dirty="0" smtClean="0">
                <a:solidFill>
                  <a:srgbClr val="0070C0"/>
                </a:solidFill>
                <a:latin typeface="Kokila" pitchFamily="34" charset="0"/>
                <a:cs typeface="Kokila" pitchFamily="34" charset="0"/>
              </a:rPr>
              <a:t>)</a:t>
            </a:r>
            <a:endParaRPr lang="ne-NP" sz="2400" b="1" i="1" dirty="0" smtClean="0">
              <a:solidFill>
                <a:srgbClr val="0070C0"/>
              </a:solidFill>
              <a:latin typeface="Kokila" pitchFamily="34" charset="0"/>
              <a:cs typeface="Kokila" pitchFamily="34" charset="0"/>
            </a:endParaRPr>
          </a:p>
          <a:p>
            <a:pPr algn="just">
              <a:buNone/>
            </a:pPr>
            <a:endParaRPr lang="ne-NP" sz="2400" b="1" i="1" dirty="0">
              <a:solidFill>
                <a:srgbClr val="0070C0"/>
              </a:solidFill>
              <a:latin typeface="Kokila" pitchFamily="34" charset="0"/>
              <a:cs typeface="Kokila" pitchFamily="34" charset="0"/>
            </a:endParaRPr>
          </a:p>
          <a:p>
            <a:pPr algn="just"/>
            <a:r>
              <a:rPr lang="ne-NP" sz="2400" b="1" i="1" dirty="0">
                <a:solidFill>
                  <a:srgbClr val="0070C0"/>
                </a:solidFill>
                <a:latin typeface="Kokila" pitchFamily="34" charset="0"/>
                <a:cs typeface="Kokila" pitchFamily="34" charset="0"/>
              </a:rPr>
              <a:t>धारा २१</a:t>
            </a:r>
            <a:r>
              <a:rPr lang="en-US" sz="2400" b="1" i="1" dirty="0">
                <a:solidFill>
                  <a:srgbClr val="0070C0"/>
                </a:solidFill>
                <a:latin typeface="Kokila" pitchFamily="34" charset="0"/>
                <a:cs typeface="Kokila" pitchFamily="34" charset="0"/>
              </a:rPr>
              <a:t> </a:t>
            </a:r>
            <a:r>
              <a:rPr lang="ne-NP" sz="2400" b="1" i="1" dirty="0">
                <a:solidFill>
                  <a:srgbClr val="0070C0"/>
                </a:solidFill>
                <a:latin typeface="Kokila" pitchFamily="34" charset="0"/>
                <a:cs typeface="Kokila" pitchFamily="34" charset="0"/>
              </a:rPr>
              <a:t>अपराध पीडितको हकः ‌अपराध पीडितलाई आफू पीडित भएको मुद्दाको अनुसन्धान तथा कारवाही सम्वन्धी जानकारी पाउने हक हुने र कानून बमोजिम सामाजिक पुनः स्थापना र क्षतिपूर्ति सहितको न्याय पाउने हक हुने।</a:t>
            </a:r>
            <a:r>
              <a:rPr lang="en-US" sz="2400" b="1" i="1" dirty="0">
                <a:solidFill>
                  <a:srgbClr val="0070C0"/>
                </a:solidFill>
                <a:latin typeface="Kokila" pitchFamily="34" charset="0"/>
                <a:cs typeface="Kokila" pitchFamily="34" charset="0"/>
              </a:rPr>
              <a:t> </a:t>
            </a:r>
          </a:p>
        </p:txBody>
      </p:sp>
      <p:sp>
        <p:nvSpPr>
          <p:cNvPr id="50178" name="Rectangle 2"/>
          <p:cNvSpPr>
            <a:spLocks noGrp="1" noChangeArrowheads="1"/>
          </p:cNvSpPr>
          <p:nvPr>
            <p:ph type="title"/>
          </p:nvPr>
        </p:nvSpPr>
        <p:spPr>
          <a:xfrm>
            <a:off x="997527" y="304799"/>
            <a:ext cx="10363200" cy="1246909"/>
          </a:xfrm>
        </p:spPr>
        <p:txBody>
          <a:bodyPr>
            <a:normAutofit/>
          </a:bodyPr>
          <a:lstStyle/>
          <a:p>
            <a:r>
              <a:rPr lang="ne-NP" sz="5400" dirty="0">
                <a:solidFill>
                  <a:srgbClr val="002060"/>
                </a:solidFill>
                <a:latin typeface="Kokila" pitchFamily="34" charset="0"/>
                <a:cs typeface="Kokila" pitchFamily="34" charset="0"/>
              </a:rPr>
              <a:t>नेपालको </a:t>
            </a:r>
            <a:r>
              <a:rPr lang="ne-NP" sz="5400" dirty="0" smtClean="0">
                <a:solidFill>
                  <a:srgbClr val="002060"/>
                </a:solidFill>
                <a:latin typeface="Kokila" pitchFamily="34" charset="0"/>
                <a:cs typeface="Kokila" pitchFamily="34" charset="0"/>
              </a:rPr>
              <a:t>संविधान</a:t>
            </a:r>
            <a:endParaRPr lang="en-US" sz="5400" dirty="0">
              <a:solidFill>
                <a:srgbClr val="002060"/>
              </a:solidFill>
              <a:latin typeface="Kokila" pitchFamily="34" charset="0"/>
              <a:cs typeface="Kokila" pitchFamily="34" charset="0"/>
            </a:endParaRPr>
          </a:p>
        </p:txBody>
      </p:sp>
    </p:spTree>
    <p:extLst>
      <p:ext uri="{BB962C8B-B14F-4D97-AF65-F5344CB8AC3E}">
        <p14:creationId xmlns:p14="http://schemas.microsoft.com/office/powerpoint/2010/main" xmlns="" val="3405269997"/>
      </p:ext>
    </p:extLst>
  </p:cSld>
  <p:clrMapOvr>
    <a:masterClrMapping/>
  </p:clrMapOvr>
  <p:transition>
    <p:pull dir="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noChangeArrowheads="1"/>
          </p:cNvSpPr>
          <p:nvPr>
            <p:ph idx="1"/>
          </p:nvPr>
        </p:nvSpPr>
        <p:spPr>
          <a:xfrm>
            <a:off x="1752600" y="1524000"/>
            <a:ext cx="8686800" cy="3934691"/>
          </a:xfrm>
        </p:spPr>
        <p:txBody>
          <a:bodyPr>
            <a:normAutofit/>
          </a:bodyPr>
          <a:lstStyle/>
          <a:p>
            <a:pPr algn="just">
              <a:lnSpc>
                <a:spcPct val="150000"/>
              </a:lnSpc>
            </a:pPr>
            <a:r>
              <a:rPr lang="ne-NP" sz="2400" b="1" dirty="0">
                <a:solidFill>
                  <a:srgbClr val="0070C0"/>
                </a:solidFill>
                <a:latin typeface="Kokila" pitchFamily="34" charset="0"/>
                <a:cs typeface="Kokila" pitchFamily="34" charset="0"/>
              </a:rPr>
              <a:t>धारा २८ </a:t>
            </a:r>
            <a:r>
              <a:rPr lang="ne-NP" sz="2400" b="1" dirty="0">
                <a:solidFill>
                  <a:srgbClr val="FF0000"/>
                </a:solidFill>
                <a:latin typeface="Kokila" pitchFamily="34" charset="0"/>
                <a:cs typeface="Kokila" pitchFamily="34" charset="0"/>
              </a:rPr>
              <a:t>गोपनीयताको हक </a:t>
            </a:r>
            <a:r>
              <a:rPr lang="ne-NP" sz="2400" b="1" dirty="0">
                <a:solidFill>
                  <a:srgbClr val="0070C0"/>
                </a:solidFill>
                <a:latin typeface="Kokila" pitchFamily="34" charset="0"/>
                <a:cs typeface="Kokila" pitchFamily="34" charset="0"/>
              </a:rPr>
              <a:t>–कुनै पनि व्यक्तिको जीउ, आवास, सम्पत्ति, लिखत, तथ्याङ्क पत्राचार र चरित्र सम्बन्धी बिषयको गोपनीयता कानून बमोजिम बाहेक अनतिक्रम्य </a:t>
            </a:r>
            <a:r>
              <a:rPr lang="ne-NP" sz="2400" b="1" dirty="0" smtClean="0">
                <a:solidFill>
                  <a:srgbClr val="0070C0"/>
                </a:solidFill>
                <a:latin typeface="Kokila" pitchFamily="34" charset="0"/>
                <a:cs typeface="Kokila" pitchFamily="34" charset="0"/>
              </a:rPr>
              <a:t>हुने। </a:t>
            </a:r>
            <a:endParaRPr lang="ne-NP" sz="2400" b="1" dirty="0">
              <a:solidFill>
                <a:srgbClr val="0070C0"/>
              </a:solidFill>
              <a:latin typeface="Kokila" pitchFamily="34" charset="0"/>
              <a:cs typeface="Kokila" pitchFamily="34" charset="0"/>
            </a:endParaRPr>
          </a:p>
          <a:p>
            <a:pPr algn="just">
              <a:lnSpc>
                <a:spcPct val="150000"/>
              </a:lnSpc>
            </a:pPr>
            <a:r>
              <a:rPr lang="ne-NP" sz="2400" b="1" dirty="0">
                <a:solidFill>
                  <a:srgbClr val="0070C0"/>
                </a:solidFill>
                <a:latin typeface="Kokila" pitchFamily="34" charset="0"/>
                <a:cs typeface="Kokila" pitchFamily="34" charset="0"/>
              </a:rPr>
              <a:t>धारा ३८ महिलाको हक – उपधारा(३) र (५) को व्यबस्थाहरु </a:t>
            </a:r>
            <a:r>
              <a:rPr lang="en-US" sz="2400" b="1" dirty="0">
                <a:solidFill>
                  <a:srgbClr val="0070C0"/>
                </a:solidFill>
                <a:latin typeface="Kokila" pitchFamily="34" charset="0"/>
                <a:cs typeface="Kokila" pitchFamily="34" charset="0"/>
              </a:rPr>
              <a:t>– </a:t>
            </a:r>
            <a:r>
              <a:rPr lang="ne-NP" sz="2400" b="1" dirty="0">
                <a:solidFill>
                  <a:srgbClr val="0070C0"/>
                </a:solidFill>
                <a:latin typeface="Kokila" pitchFamily="34" charset="0"/>
                <a:cs typeface="Kokila" pitchFamily="34" charset="0"/>
              </a:rPr>
              <a:t>सकारात्मक विभेद </a:t>
            </a:r>
            <a:r>
              <a:rPr lang="en-US" sz="2400" b="1" dirty="0">
                <a:solidFill>
                  <a:srgbClr val="0070C0"/>
                </a:solidFill>
                <a:latin typeface="Kokila" pitchFamily="34" charset="0"/>
                <a:cs typeface="Kokila" pitchFamily="34" charset="0"/>
              </a:rPr>
              <a:t>( Positive Discrimination)</a:t>
            </a:r>
            <a:r>
              <a:rPr lang="ne-NP" sz="2400" b="1" dirty="0">
                <a:solidFill>
                  <a:srgbClr val="0070C0"/>
                </a:solidFill>
                <a:latin typeface="Kokila" pitchFamily="34" charset="0"/>
                <a:cs typeface="Kokila" pitchFamily="34" charset="0"/>
              </a:rPr>
              <a:t> बाट निर्देशित</a:t>
            </a:r>
          </a:p>
        </p:txBody>
      </p:sp>
      <p:sp>
        <p:nvSpPr>
          <p:cNvPr id="50178" name="Rectangle 2"/>
          <p:cNvSpPr>
            <a:spLocks noGrp="1" noChangeArrowheads="1"/>
          </p:cNvSpPr>
          <p:nvPr>
            <p:ph type="title"/>
          </p:nvPr>
        </p:nvSpPr>
        <p:spPr>
          <a:xfrm>
            <a:off x="1136073" y="304800"/>
            <a:ext cx="10460181" cy="685800"/>
          </a:xfrm>
        </p:spPr>
        <p:txBody>
          <a:bodyPr>
            <a:normAutofit/>
          </a:bodyPr>
          <a:lstStyle/>
          <a:p>
            <a:pPr algn="r"/>
            <a:r>
              <a:rPr lang="ne-NP" sz="3000" dirty="0" smtClean="0">
                <a:latin typeface="Kokila" pitchFamily="34" charset="0"/>
                <a:cs typeface="Kokila" pitchFamily="34" charset="0"/>
              </a:rPr>
              <a:t>क्रमश</a:t>
            </a:r>
            <a:endParaRPr lang="en-US" sz="3000" dirty="0">
              <a:latin typeface="Kokila" pitchFamily="34" charset="0"/>
              <a:cs typeface="Kokila" pitchFamily="34" charset="0"/>
            </a:endParaRPr>
          </a:p>
        </p:txBody>
      </p:sp>
    </p:spTree>
    <p:extLst>
      <p:ext uri="{BB962C8B-B14F-4D97-AF65-F5344CB8AC3E}">
        <p14:creationId xmlns:p14="http://schemas.microsoft.com/office/powerpoint/2010/main" xmlns="" val="4092678193"/>
      </p:ext>
    </p:extLst>
  </p:cSld>
  <p:clrMapOvr>
    <a:masterClrMapping/>
  </p:clrMapOvr>
  <p:transition>
    <p:diamon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p:cNvSpPr>
            <a:spLocks noGrp="1" noChangeArrowheads="1"/>
          </p:cNvSpPr>
          <p:nvPr>
            <p:ph idx="1"/>
          </p:nvPr>
        </p:nvSpPr>
        <p:spPr>
          <a:xfrm>
            <a:off x="942109" y="1524000"/>
            <a:ext cx="10612582" cy="4433455"/>
          </a:xfrm>
        </p:spPr>
        <p:txBody>
          <a:bodyPr>
            <a:normAutofit/>
          </a:bodyPr>
          <a:lstStyle/>
          <a:p>
            <a:pPr algn="just">
              <a:lnSpc>
                <a:spcPct val="150000"/>
              </a:lnSpc>
              <a:buFont typeface="Wingdings" pitchFamily="2" charset="2"/>
              <a:buNone/>
            </a:pPr>
            <a:r>
              <a:rPr lang="ne-NP" sz="2400" b="1" dirty="0" smtClean="0">
                <a:solidFill>
                  <a:srgbClr val="0070C0"/>
                </a:solidFill>
                <a:latin typeface="Kokila" pitchFamily="34" charset="0"/>
                <a:cs typeface="Kokila" pitchFamily="34" charset="0"/>
              </a:rPr>
              <a:t>दफा २७  </a:t>
            </a:r>
            <a:r>
              <a:rPr lang="ne-NP" sz="2400" b="1" u="sng" dirty="0" smtClean="0">
                <a:solidFill>
                  <a:srgbClr val="0070C0"/>
                </a:solidFill>
                <a:latin typeface="Kokila" pitchFamily="34" charset="0"/>
                <a:cs typeface="Kokila" pitchFamily="34" charset="0"/>
              </a:rPr>
              <a:t>बन्द </a:t>
            </a:r>
            <a:r>
              <a:rPr lang="ne-NP" sz="2400" b="1" u="sng" dirty="0">
                <a:solidFill>
                  <a:srgbClr val="0070C0"/>
                </a:solidFill>
                <a:latin typeface="Kokila" pitchFamily="34" charset="0"/>
                <a:cs typeface="Kokila" pitchFamily="34" charset="0"/>
              </a:rPr>
              <a:t>इजलासमा कारवाही हुने</a:t>
            </a:r>
          </a:p>
          <a:p>
            <a:pPr marL="0" indent="0" algn="just">
              <a:lnSpc>
                <a:spcPct val="150000"/>
              </a:lnSpc>
              <a:buNone/>
            </a:pPr>
            <a:r>
              <a:rPr lang="ne-NP" sz="2400" b="1" dirty="0">
                <a:solidFill>
                  <a:srgbClr val="0070C0"/>
                </a:solidFill>
                <a:latin typeface="Kokila" pitchFamily="34" charset="0"/>
                <a:cs typeface="Kokila" pitchFamily="34" charset="0"/>
              </a:rPr>
              <a:t>यस ऐन अन्तर्गतको कसूर सम्बन्धी मुद्दाको कारवाही तथा सुनुवाई बन्द इजलासमा गरिने र यसरी कायम गरिएको बन्दइजलासमा कारवाही तथा सुनुवाई हुँदा निम्न व्यक्ति मात्र त्यस्तो इजलासमा प्रवेश गर्न सक्ने</a:t>
            </a:r>
          </a:p>
          <a:p>
            <a:pPr algn="just">
              <a:lnSpc>
                <a:spcPct val="150000"/>
              </a:lnSpc>
            </a:pPr>
            <a:r>
              <a:rPr lang="ne-NP" sz="2400" b="1" dirty="0">
                <a:solidFill>
                  <a:srgbClr val="0070C0"/>
                </a:solidFill>
                <a:latin typeface="Kokila" pitchFamily="34" charset="0"/>
                <a:cs typeface="Kokila" pitchFamily="34" charset="0"/>
              </a:rPr>
              <a:t>मुद्दाका पक्ष, </a:t>
            </a:r>
          </a:p>
          <a:p>
            <a:pPr algn="just">
              <a:lnSpc>
                <a:spcPct val="150000"/>
              </a:lnSpc>
            </a:pPr>
            <a:r>
              <a:rPr lang="ne-NP" sz="2400" b="1" dirty="0">
                <a:solidFill>
                  <a:srgbClr val="0070C0"/>
                </a:solidFill>
                <a:latin typeface="Kokila" pitchFamily="34" charset="0"/>
                <a:cs typeface="Kokila" pitchFamily="34" charset="0"/>
              </a:rPr>
              <a:t>विपक्ष, </a:t>
            </a:r>
          </a:p>
          <a:p>
            <a:pPr algn="just">
              <a:lnSpc>
                <a:spcPct val="150000"/>
              </a:lnSpc>
            </a:pPr>
            <a:r>
              <a:rPr lang="ne-NP" sz="2400" b="1" dirty="0">
                <a:solidFill>
                  <a:srgbClr val="0070C0"/>
                </a:solidFill>
                <a:latin typeface="Kokila" pitchFamily="34" charset="0"/>
                <a:cs typeface="Kokila" pitchFamily="34" charset="0"/>
              </a:rPr>
              <a:t>निजहरुका कानून व्यवसायी र </a:t>
            </a:r>
          </a:p>
          <a:p>
            <a:pPr algn="just">
              <a:lnSpc>
                <a:spcPct val="150000"/>
              </a:lnSpc>
            </a:pPr>
            <a:r>
              <a:rPr lang="ne-NP" sz="2400" b="1" dirty="0">
                <a:solidFill>
                  <a:srgbClr val="0070C0"/>
                </a:solidFill>
                <a:latin typeface="Kokila" pitchFamily="34" charset="0"/>
                <a:cs typeface="Kokila" pitchFamily="34" charset="0"/>
              </a:rPr>
              <a:t>अदालतले अनुमति दिएको व्यक्ति। </a:t>
            </a:r>
          </a:p>
        </p:txBody>
      </p:sp>
      <p:sp>
        <p:nvSpPr>
          <p:cNvPr id="60418" name="Rectangle 2"/>
          <p:cNvSpPr>
            <a:spLocks noGrp="1" noChangeArrowheads="1"/>
          </p:cNvSpPr>
          <p:nvPr>
            <p:ph type="title"/>
          </p:nvPr>
        </p:nvSpPr>
        <p:spPr>
          <a:xfrm>
            <a:off x="858982" y="228599"/>
            <a:ext cx="10668000" cy="1309255"/>
          </a:xfrm>
        </p:spPr>
        <p:txBody>
          <a:bodyPr>
            <a:noAutofit/>
          </a:bodyPr>
          <a:lstStyle/>
          <a:p>
            <a:r>
              <a:rPr lang="ne-NP" sz="4800" dirty="0">
                <a:solidFill>
                  <a:srgbClr val="002060"/>
                </a:solidFill>
                <a:latin typeface="Kokila" pitchFamily="34" charset="0"/>
                <a:cs typeface="Kokila" pitchFamily="34" charset="0"/>
              </a:rPr>
              <a:t>मानव बेचबिखन तथा ओसारपोसार (नियन्त्रण) ऐन, </a:t>
            </a:r>
            <a:r>
              <a:rPr lang="ne-NP" sz="4800" dirty="0" smtClean="0">
                <a:solidFill>
                  <a:srgbClr val="002060"/>
                </a:solidFill>
                <a:latin typeface="Kokila" pitchFamily="34" charset="0"/>
                <a:cs typeface="Kokila" pitchFamily="34" charset="0"/>
              </a:rPr>
              <a:t>२०६४</a:t>
            </a:r>
            <a:endParaRPr lang="en-US" sz="4800" dirty="0">
              <a:solidFill>
                <a:srgbClr val="002060"/>
              </a:solidFill>
              <a:latin typeface="Kokila" pitchFamily="34" charset="0"/>
              <a:cs typeface="Kokila" pitchFamily="34" charset="0"/>
            </a:endParaRPr>
          </a:p>
        </p:txBody>
      </p:sp>
    </p:spTree>
    <p:extLst>
      <p:ext uri="{BB962C8B-B14F-4D97-AF65-F5344CB8AC3E}">
        <p14:creationId xmlns:p14="http://schemas.microsoft.com/office/powerpoint/2010/main" xmlns="" val="3023561298"/>
      </p:ext>
    </p:extLst>
  </p:cSld>
  <p:clrMapOvr>
    <a:masterClrMapping/>
  </p:clrMapOvr>
  <p:transition>
    <p:pull dir="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lnSpc>
                <a:spcPct val="150000"/>
              </a:lnSpc>
            </a:pPr>
            <a:r>
              <a:rPr lang="ne-NP" sz="2400" b="1" dirty="0">
                <a:solidFill>
                  <a:srgbClr val="0070C0"/>
                </a:solidFill>
                <a:latin typeface="Kokila" pitchFamily="34" charset="0"/>
                <a:cs typeface="Kokila" pitchFamily="34" charset="0"/>
              </a:rPr>
              <a:t>दफा ३० संचार </a:t>
            </a:r>
            <a:r>
              <a:rPr lang="ne-NP" sz="2400" b="1" dirty="0" smtClean="0">
                <a:solidFill>
                  <a:srgbClr val="0070C0"/>
                </a:solidFill>
                <a:latin typeface="Kokila" pitchFamily="34" charset="0"/>
                <a:cs typeface="Kokila" pitchFamily="34" charset="0"/>
              </a:rPr>
              <a:t>सम्बन्धित </a:t>
            </a:r>
            <a:r>
              <a:rPr lang="ne-NP" sz="2400" b="1" dirty="0">
                <a:solidFill>
                  <a:srgbClr val="0070C0"/>
                </a:solidFill>
                <a:latin typeface="Kokila" pitchFamily="34" charset="0"/>
                <a:cs typeface="Kokila" pitchFamily="34" charset="0"/>
              </a:rPr>
              <a:t>बिबरण</a:t>
            </a:r>
          </a:p>
          <a:p>
            <a:pPr algn="just">
              <a:lnSpc>
                <a:spcPct val="150000"/>
              </a:lnSpc>
            </a:pPr>
            <a:r>
              <a:rPr lang="ne-NP" sz="2400" b="1" dirty="0">
                <a:solidFill>
                  <a:srgbClr val="0070C0"/>
                </a:solidFill>
                <a:latin typeface="Kokila" pitchFamily="34" charset="0"/>
                <a:cs typeface="Kokila" pitchFamily="34" charset="0"/>
              </a:rPr>
              <a:t>दफा ३३ भिडियो कन्फरेन्स</a:t>
            </a:r>
            <a:r>
              <a:rPr lang="en-US" sz="2400" b="1" dirty="0">
                <a:solidFill>
                  <a:srgbClr val="0070C0"/>
                </a:solidFill>
                <a:latin typeface="Kokila" pitchFamily="34" charset="0"/>
                <a:cs typeface="Kokila" pitchFamily="34" charset="0"/>
              </a:rPr>
              <a:t>(Video conference)</a:t>
            </a:r>
            <a:r>
              <a:rPr lang="ne-NP" sz="2400" b="1" dirty="0">
                <a:solidFill>
                  <a:srgbClr val="0070C0"/>
                </a:solidFill>
                <a:latin typeface="Kokila" pitchFamily="34" charset="0"/>
                <a:cs typeface="Kokila" pitchFamily="34" charset="0"/>
              </a:rPr>
              <a:t> मार्फत उपस्थित गराउन सकिने</a:t>
            </a:r>
          </a:p>
          <a:p>
            <a:pPr algn="just">
              <a:lnSpc>
                <a:spcPct val="150000"/>
              </a:lnSpc>
            </a:pPr>
            <a:r>
              <a:rPr lang="ne-NP" sz="2400" b="1" dirty="0">
                <a:solidFill>
                  <a:srgbClr val="0070C0"/>
                </a:solidFill>
                <a:latin typeface="Kokila" pitchFamily="34" charset="0"/>
                <a:cs typeface="Kokila" pitchFamily="34" charset="0"/>
              </a:rPr>
              <a:t>दफा ३५ काल्पनिक वा साङ्केतिक नामबाट बयान वा बकपत्र गराउन सकिने</a:t>
            </a:r>
          </a:p>
          <a:p>
            <a:pPr algn="just">
              <a:lnSpc>
                <a:spcPct val="150000"/>
              </a:lnSpc>
            </a:pPr>
            <a:r>
              <a:rPr lang="ne-NP" sz="2400" b="1" dirty="0">
                <a:solidFill>
                  <a:srgbClr val="0070C0"/>
                </a:solidFill>
                <a:latin typeface="Kokila" pitchFamily="34" charset="0"/>
                <a:cs typeface="Kokila" pitchFamily="34" charset="0"/>
              </a:rPr>
              <a:t>दफा ४२ बन्द इजलासमा कारवाही तथा सुनुवाई गर्न </a:t>
            </a:r>
            <a:r>
              <a:rPr lang="ne-NP" sz="2400" b="1" dirty="0" smtClean="0">
                <a:solidFill>
                  <a:srgbClr val="0070C0"/>
                </a:solidFill>
                <a:latin typeface="Kokila" pitchFamily="34" charset="0"/>
                <a:cs typeface="Kokila" pitchFamily="34" charset="0"/>
              </a:rPr>
              <a:t>सकिने ।</a:t>
            </a:r>
            <a:endParaRPr lang="en-US" sz="2400" b="1" dirty="0">
              <a:solidFill>
                <a:srgbClr val="0070C0"/>
              </a:solidFill>
              <a:latin typeface="Kokila" pitchFamily="34" charset="0"/>
              <a:cs typeface="Kokila" pitchFamily="34" charset="0"/>
            </a:endParaRPr>
          </a:p>
        </p:txBody>
      </p:sp>
      <p:sp>
        <p:nvSpPr>
          <p:cNvPr id="2" name="Title 1"/>
          <p:cNvSpPr>
            <a:spLocks noGrp="1"/>
          </p:cNvSpPr>
          <p:nvPr>
            <p:ph type="title"/>
          </p:nvPr>
        </p:nvSpPr>
        <p:spPr>
          <a:xfrm>
            <a:off x="762000" y="274638"/>
            <a:ext cx="9677400" cy="792162"/>
          </a:xfrm>
        </p:spPr>
        <p:txBody>
          <a:bodyPr>
            <a:noAutofit/>
          </a:bodyPr>
          <a:lstStyle/>
          <a:p>
            <a:r>
              <a:rPr lang="ne-NP" sz="4800" dirty="0">
                <a:solidFill>
                  <a:srgbClr val="002060"/>
                </a:solidFill>
                <a:latin typeface="Kokila" pitchFamily="34" charset="0"/>
                <a:cs typeface="Kokila" pitchFamily="34" charset="0"/>
              </a:rPr>
              <a:t>संगठित अपराध निवारण ऐन २०७०</a:t>
            </a:r>
            <a:endParaRPr lang="en-US" sz="4800" dirty="0">
              <a:solidFill>
                <a:srgbClr val="002060"/>
              </a:solidFill>
              <a:latin typeface="Kokila" pitchFamily="34" charset="0"/>
              <a:cs typeface="Kokila" pitchFamily="34" charset="0"/>
            </a:endParaRPr>
          </a:p>
        </p:txBody>
      </p:sp>
    </p:spTree>
    <p:extLst>
      <p:ext uri="{BB962C8B-B14F-4D97-AF65-F5344CB8AC3E}">
        <p14:creationId xmlns:p14="http://schemas.microsoft.com/office/powerpoint/2010/main" xmlns="" val="976295208"/>
      </p:ext>
    </p:extLst>
  </p:cSld>
  <p:clrMapOvr>
    <a:masterClrMapping/>
  </p:clrMapOvr>
  <p:transition>
    <p:diamon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nSpc>
                <a:spcPct val="150000"/>
              </a:lnSpc>
            </a:pPr>
            <a:r>
              <a:rPr lang="ne-NP" sz="2400" b="1" dirty="0">
                <a:solidFill>
                  <a:srgbClr val="0070C0"/>
                </a:solidFill>
                <a:latin typeface="Kokila" pitchFamily="34" charset="0"/>
                <a:cs typeface="Kokila" pitchFamily="34" charset="0"/>
              </a:rPr>
              <a:t>दफा ७ बन्द इजलासमा सुनुवाई गर्ने</a:t>
            </a:r>
          </a:p>
          <a:p>
            <a:pPr lvl="1">
              <a:lnSpc>
                <a:spcPct val="150000"/>
              </a:lnSpc>
            </a:pPr>
            <a:r>
              <a:rPr lang="ne-NP" sz="2400" b="1" dirty="0">
                <a:solidFill>
                  <a:srgbClr val="0070C0"/>
                </a:solidFill>
                <a:latin typeface="Kokila" pitchFamily="34" charset="0"/>
                <a:cs typeface="Kokila" pitchFamily="34" charset="0"/>
              </a:rPr>
              <a:t>पीडितले अनुरोध गरेमा यो ऐन अन्तर्गतको उजुरी सम्बन्धी कारवाही र सुनुवाइ अदालतले बन्द इजलासमा गर्नु पर्ने</a:t>
            </a:r>
          </a:p>
          <a:p>
            <a:pPr lvl="1">
              <a:lnSpc>
                <a:spcPct val="150000"/>
              </a:lnSpc>
            </a:pPr>
            <a:r>
              <a:rPr lang="ne-NP" sz="2400" b="1" dirty="0">
                <a:solidFill>
                  <a:srgbClr val="0070C0"/>
                </a:solidFill>
                <a:latin typeface="Kokila" pitchFamily="34" charset="0"/>
                <a:cs typeface="Kokila" pitchFamily="34" charset="0"/>
              </a:rPr>
              <a:t>बन्द इजलासमा  मुद्दाका पक्ष, विपक्ष, निजहरुको कानून व्यबसायी र अदालतले अनुमति दिएका ब्यक्तिमात्र  प्रवेश गर्न सक्ने</a:t>
            </a:r>
            <a:endParaRPr lang="en-US" sz="2400" b="1" dirty="0">
              <a:solidFill>
                <a:srgbClr val="0070C0"/>
              </a:solidFill>
              <a:latin typeface="Kokila" pitchFamily="34" charset="0"/>
              <a:cs typeface="Kokila" pitchFamily="34" charset="0"/>
            </a:endParaRPr>
          </a:p>
        </p:txBody>
      </p:sp>
      <p:sp>
        <p:nvSpPr>
          <p:cNvPr id="2" name="Title 1"/>
          <p:cNvSpPr>
            <a:spLocks noGrp="1"/>
          </p:cNvSpPr>
          <p:nvPr>
            <p:ph type="title"/>
          </p:nvPr>
        </p:nvSpPr>
        <p:spPr/>
        <p:txBody>
          <a:bodyPr>
            <a:normAutofit/>
          </a:bodyPr>
          <a:lstStyle/>
          <a:p>
            <a:r>
              <a:rPr lang="ne-NP" sz="4800" dirty="0">
                <a:solidFill>
                  <a:srgbClr val="002060"/>
                </a:solidFill>
                <a:latin typeface="Kokila" pitchFamily="34" charset="0"/>
                <a:cs typeface="Kokila" pitchFamily="34" charset="0"/>
              </a:rPr>
              <a:t>घरेलु हिंसा(कसूर र सजाय) ऐन २०६६</a:t>
            </a:r>
            <a:endParaRPr lang="en-US" sz="4800" dirty="0">
              <a:solidFill>
                <a:srgbClr val="002060"/>
              </a:solidFill>
              <a:latin typeface="Kokila" pitchFamily="34" charset="0"/>
              <a:cs typeface="Kokila" pitchFamily="34" charset="0"/>
            </a:endParaRPr>
          </a:p>
        </p:txBody>
      </p:sp>
    </p:spTree>
    <p:extLst>
      <p:ext uri="{BB962C8B-B14F-4D97-AF65-F5344CB8AC3E}">
        <p14:creationId xmlns:p14="http://schemas.microsoft.com/office/powerpoint/2010/main" xmlns="" val="3996451748"/>
      </p:ext>
    </p:extLst>
  </p:cSld>
  <p:clrMapOvr>
    <a:masterClrMapping/>
  </p:clrMapOvr>
  <p:transition>
    <p:pull dir="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77635" y="942110"/>
            <a:ext cx="10016837" cy="5126182"/>
          </a:xfrm>
        </p:spPr>
        <p:txBody>
          <a:bodyPr anchor="t">
            <a:noAutofit/>
          </a:bodyPr>
          <a:lstStyle/>
          <a:p>
            <a:pPr marL="741363" indent="-741363" algn="just">
              <a:buNone/>
            </a:pPr>
            <a:r>
              <a:rPr lang="ne-NP" sz="2800" b="1" dirty="0">
                <a:solidFill>
                  <a:srgbClr val="0070C0"/>
                </a:solidFill>
                <a:latin typeface="Kokila" pitchFamily="34" charset="0"/>
                <a:cs typeface="Kokila" pitchFamily="34" charset="0"/>
              </a:rPr>
              <a:t>गोपनीयताको सवालमा देहायका </a:t>
            </a:r>
            <a:r>
              <a:rPr lang="ne-NP" sz="2800" b="1" dirty="0" smtClean="0">
                <a:solidFill>
                  <a:srgbClr val="0070C0"/>
                </a:solidFill>
                <a:latin typeface="Kokila" pitchFamily="34" charset="0"/>
                <a:cs typeface="Kokila" pitchFamily="34" charset="0"/>
              </a:rPr>
              <a:t>दफाले व्यवस्था गरेकोः</a:t>
            </a:r>
            <a:endParaRPr lang="ne-NP" sz="2800" b="1" dirty="0">
              <a:solidFill>
                <a:srgbClr val="0070C0"/>
              </a:solidFill>
              <a:latin typeface="Kokila" pitchFamily="34" charset="0"/>
              <a:cs typeface="Kokila" pitchFamily="34" charset="0"/>
            </a:endParaRPr>
          </a:p>
          <a:p>
            <a:pPr marL="741363" indent="-741363" algn="just">
              <a:buNone/>
            </a:pPr>
            <a:r>
              <a:rPr lang="ne-NP" sz="2800" b="1" dirty="0">
                <a:solidFill>
                  <a:srgbClr val="0070C0"/>
                </a:solidFill>
                <a:latin typeface="Kokila" pitchFamily="34" charset="0"/>
                <a:cs typeface="Kokila" pitchFamily="34" charset="0"/>
              </a:rPr>
              <a:t>२९३.	अर्काको कुरा सुन्न वा ध्वनि अङ्कन गर्न </a:t>
            </a:r>
            <a:r>
              <a:rPr lang="ne-NP" sz="2800" b="1" dirty="0" smtClean="0">
                <a:solidFill>
                  <a:srgbClr val="0070C0"/>
                </a:solidFill>
                <a:latin typeface="Kokila" pitchFamily="34" charset="0"/>
                <a:cs typeface="Kokila" pitchFamily="34" charset="0"/>
              </a:rPr>
              <a:t>नहुने</a:t>
            </a:r>
            <a:endParaRPr lang="en-US" sz="2800" b="1" dirty="0">
              <a:solidFill>
                <a:srgbClr val="0070C0"/>
              </a:solidFill>
              <a:latin typeface="Kokila" pitchFamily="34" charset="0"/>
              <a:cs typeface="Kokila" pitchFamily="34" charset="0"/>
            </a:endParaRPr>
          </a:p>
          <a:p>
            <a:pPr marL="741363" indent="-741363" algn="just">
              <a:buNone/>
            </a:pPr>
            <a:r>
              <a:rPr lang="ne-NP" sz="2800" b="1" dirty="0">
                <a:solidFill>
                  <a:srgbClr val="0070C0"/>
                </a:solidFill>
                <a:latin typeface="Kokila" pitchFamily="34" charset="0"/>
                <a:cs typeface="Kokila" pitchFamily="34" charset="0"/>
              </a:rPr>
              <a:t>२९४.</a:t>
            </a:r>
            <a:r>
              <a:rPr lang="en-US" sz="2800" b="1" dirty="0">
                <a:solidFill>
                  <a:srgbClr val="0070C0"/>
                </a:solidFill>
                <a:latin typeface="Kokila" pitchFamily="34" charset="0"/>
                <a:cs typeface="Kokila" pitchFamily="34" charset="0"/>
              </a:rPr>
              <a:t> </a:t>
            </a:r>
            <a:r>
              <a:rPr lang="ne-NP" sz="2800" b="1" dirty="0" smtClean="0">
                <a:solidFill>
                  <a:srgbClr val="0070C0"/>
                </a:solidFill>
                <a:latin typeface="Kokila" pitchFamily="34" charset="0"/>
                <a:cs typeface="Kokila" pitchFamily="34" charset="0"/>
              </a:rPr>
              <a:t>	गोप्य </a:t>
            </a:r>
            <a:r>
              <a:rPr lang="ne-NP" sz="2800" b="1" dirty="0">
                <a:solidFill>
                  <a:srgbClr val="0070C0"/>
                </a:solidFill>
                <a:latin typeface="Kokila" pitchFamily="34" charset="0"/>
                <a:cs typeface="Kokila" pitchFamily="34" charset="0"/>
              </a:rPr>
              <a:t>कुरा प्रकट गर्न </a:t>
            </a:r>
            <a:r>
              <a:rPr lang="ne-NP" sz="2800" b="1" dirty="0" smtClean="0">
                <a:solidFill>
                  <a:srgbClr val="0070C0"/>
                </a:solidFill>
                <a:latin typeface="Kokila" pitchFamily="34" charset="0"/>
                <a:cs typeface="Kokila" pitchFamily="34" charset="0"/>
              </a:rPr>
              <a:t>नहुने</a:t>
            </a:r>
            <a:endParaRPr lang="en-US" sz="2800" b="1" dirty="0">
              <a:solidFill>
                <a:srgbClr val="0070C0"/>
              </a:solidFill>
              <a:latin typeface="Kokila" pitchFamily="34" charset="0"/>
              <a:cs typeface="Kokila" pitchFamily="34" charset="0"/>
            </a:endParaRPr>
          </a:p>
          <a:p>
            <a:pPr marL="741363" indent="-741363" algn="just">
              <a:buNone/>
            </a:pPr>
            <a:r>
              <a:rPr lang="ne-NP" sz="2800" b="1" dirty="0">
                <a:solidFill>
                  <a:srgbClr val="0070C0"/>
                </a:solidFill>
                <a:latin typeface="Kokila" pitchFamily="34" charset="0"/>
                <a:cs typeface="Kokila" pitchFamily="34" charset="0"/>
              </a:rPr>
              <a:t>२९५.	अनुमतिविना कुनै व्यक्तिको तस्वीर खिच्न वा तस्वीरको स्वरुप बिगार्न </a:t>
            </a:r>
            <a:r>
              <a:rPr lang="ne-NP" sz="2800" b="1" dirty="0" smtClean="0">
                <a:solidFill>
                  <a:srgbClr val="0070C0"/>
                </a:solidFill>
                <a:latin typeface="Kokila" pitchFamily="34" charset="0"/>
                <a:cs typeface="Kokila" pitchFamily="34" charset="0"/>
              </a:rPr>
              <a:t>नहुने </a:t>
            </a:r>
            <a:endParaRPr lang="en-US" sz="2800" b="1" dirty="0">
              <a:solidFill>
                <a:srgbClr val="0070C0"/>
              </a:solidFill>
              <a:latin typeface="Kokila" pitchFamily="34" charset="0"/>
              <a:cs typeface="Kokila" pitchFamily="34" charset="0"/>
            </a:endParaRPr>
          </a:p>
          <a:p>
            <a:pPr marL="741363" indent="-741363" algn="just">
              <a:buNone/>
            </a:pPr>
            <a:r>
              <a:rPr lang="ne-NP" sz="2800" b="1" dirty="0">
                <a:solidFill>
                  <a:srgbClr val="0070C0"/>
                </a:solidFill>
                <a:latin typeface="Kokila" pitchFamily="34" charset="0"/>
                <a:cs typeface="Kokila" pitchFamily="34" charset="0"/>
              </a:rPr>
              <a:t>२९६.	अनुमतिविना एकको तस्वीर अरुलाई दिन वा बिक्री गर्न </a:t>
            </a:r>
            <a:r>
              <a:rPr lang="ne-NP" sz="2800" b="1" dirty="0" smtClean="0">
                <a:solidFill>
                  <a:srgbClr val="0070C0"/>
                </a:solidFill>
                <a:latin typeface="Kokila" pitchFamily="34" charset="0"/>
                <a:cs typeface="Kokila" pitchFamily="34" charset="0"/>
              </a:rPr>
              <a:t>नहुने</a:t>
            </a:r>
            <a:endParaRPr lang="en-US" sz="2800" b="1" dirty="0">
              <a:solidFill>
                <a:srgbClr val="0070C0"/>
              </a:solidFill>
              <a:latin typeface="Kokila" pitchFamily="34" charset="0"/>
              <a:cs typeface="Kokila" pitchFamily="34" charset="0"/>
            </a:endParaRPr>
          </a:p>
          <a:p>
            <a:pPr marL="741363" indent="-741363" algn="just">
              <a:buNone/>
            </a:pPr>
            <a:r>
              <a:rPr lang="ne-NP" sz="2800" b="1" dirty="0">
                <a:solidFill>
                  <a:srgbClr val="0070C0"/>
                </a:solidFill>
                <a:latin typeface="Kokila" pitchFamily="34" charset="0"/>
                <a:cs typeface="Kokila" pitchFamily="34" charset="0"/>
              </a:rPr>
              <a:t>२९७.	चिठ्ठी खोल्न वा टेलिफोनमा गरेको कुरा सुन्न </a:t>
            </a:r>
            <a:r>
              <a:rPr lang="ne-NP" sz="2800" b="1" dirty="0" smtClean="0">
                <a:solidFill>
                  <a:srgbClr val="0070C0"/>
                </a:solidFill>
                <a:latin typeface="Kokila" pitchFamily="34" charset="0"/>
                <a:cs typeface="Kokila" pitchFamily="34" charset="0"/>
              </a:rPr>
              <a:t>नहुने</a:t>
            </a:r>
            <a:endParaRPr lang="en-US" sz="2800" b="1" dirty="0">
              <a:solidFill>
                <a:srgbClr val="0070C0"/>
              </a:solidFill>
              <a:latin typeface="Kokila" pitchFamily="34" charset="0"/>
              <a:cs typeface="Kokila" pitchFamily="34" charset="0"/>
            </a:endParaRPr>
          </a:p>
          <a:p>
            <a:pPr marL="741363" indent="-741363" algn="just">
              <a:buNone/>
            </a:pPr>
            <a:r>
              <a:rPr lang="ne-NP" sz="2800" b="1" dirty="0">
                <a:solidFill>
                  <a:srgbClr val="0070C0"/>
                </a:solidFill>
                <a:latin typeface="Kokila" pitchFamily="34" charset="0"/>
                <a:cs typeface="Kokila" pitchFamily="34" charset="0"/>
              </a:rPr>
              <a:t>२९८.	विद्युतीय माध्यमद्वारा गोपनीयता भङ्ग गर्न </a:t>
            </a:r>
            <a:r>
              <a:rPr lang="ne-NP" sz="2800" b="1" dirty="0" smtClean="0">
                <a:solidFill>
                  <a:srgbClr val="0070C0"/>
                </a:solidFill>
                <a:latin typeface="Kokila" pitchFamily="34" charset="0"/>
                <a:cs typeface="Kokila" pitchFamily="34" charset="0"/>
              </a:rPr>
              <a:t>नहुने</a:t>
            </a:r>
            <a:endParaRPr lang="en-US" sz="2800" b="1" dirty="0">
              <a:solidFill>
                <a:srgbClr val="0070C0"/>
              </a:solidFill>
              <a:latin typeface="Kokila" pitchFamily="34" charset="0"/>
              <a:cs typeface="Kokila" pitchFamily="34" charset="0"/>
            </a:endParaRPr>
          </a:p>
          <a:p>
            <a:pPr marL="741363" indent="-741363" algn="just">
              <a:buNone/>
            </a:pPr>
            <a:r>
              <a:rPr lang="ne-NP" sz="2800" b="1" dirty="0">
                <a:solidFill>
                  <a:srgbClr val="0070C0"/>
                </a:solidFill>
                <a:latin typeface="Kokila" pitchFamily="34" charset="0"/>
                <a:cs typeface="Kokila" pitchFamily="34" charset="0"/>
              </a:rPr>
              <a:t>२९९.	छलकपटपूर्ण टेलिफोन वा सन्देश प्रवाह गर्न </a:t>
            </a:r>
            <a:r>
              <a:rPr lang="ne-NP" sz="2800" b="1" dirty="0" smtClean="0">
                <a:solidFill>
                  <a:srgbClr val="0070C0"/>
                </a:solidFill>
                <a:latin typeface="Kokila" pitchFamily="34" charset="0"/>
                <a:cs typeface="Kokila" pitchFamily="34" charset="0"/>
              </a:rPr>
              <a:t>नहुने</a:t>
            </a:r>
            <a:endParaRPr lang="en-US" sz="2800" b="1" dirty="0">
              <a:solidFill>
                <a:srgbClr val="0070C0"/>
              </a:solidFill>
              <a:latin typeface="Kokila" pitchFamily="34" charset="0"/>
              <a:cs typeface="Kokila" pitchFamily="34" charset="0"/>
            </a:endParaRPr>
          </a:p>
          <a:p>
            <a:pPr marL="741363" indent="-741363" algn="just">
              <a:buNone/>
            </a:pPr>
            <a:r>
              <a:rPr lang="ne-NP" sz="2800" b="1" dirty="0">
                <a:solidFill>
                  <a:srgbClr val="0070C0"/>
                </a:solidFill>
                <a:latin typeface="Kokila" pitchFamily="34" charset="0"/>
                <a:cs typeface="Kokila" pitchFamily="34" charset="0"/>
              </a:rPr>
              <a:t>३००.	हैरान पार्ने बदनियतले चिठ्ठी पत्र लेख्न </a:t>
            </a:r>
            <a:r>
              <a:rPr lang="ne-NP" sz="2800" b="1" dirty="0" smtClean="0">
                <a:solidFill>
                  <a:srgbClr val="0070C0"/>
                </a:solidFill>
                <a:latin typeface="Kokila" pitchFamily="34" charset="0"/>
                <a:cs typeface="Kokila" pitchFamily="34" charset="0"/>
              </a:rPr>
              <a:t>नहुने</a:t>
            </a:r>
            <a:endParaRPr lang="ne-NP" sz="2800" b="1" dirty="0">
              <a:solidFill>
                <a:srgbClr val="0070C0"/>
              </a:solidFill>
              <a:latin typeface="Kokila" pitchFamily="34" charset="0"/>
              <a:cs typeface="Kokila" pitchFamily="34" charset="0"/>
            </a:endParaRPr>
          </a:p>
          <a:p>
            <a:pPr marL="741363" indent="-741363" algn="just">
              <a:buNone/>
            </a:pPr>
            <a:r>
              <a:rPr lang="ne-NP" sz="2800" b="1" dirty="0">
                <a:solidFill>
                  <a:srgbClr val="0070C0"/>
                </a:solidFill>
                <a:latin typeface="Kokila" pitchFamily="34" charset="0"/>
                <a:cs typeface="Kokila" pitchFamily="34" charset="0"/>
              </a:rPr>
              <a:t>३०१.	अरुको शरीर खानतलासी गर्न </a:t>
            </a:r>
            <a:r>
              <a:rPr lang="ne-NP" sz="2800" b="1" dirty="0" smtClean="0">
                <a:solidFill>
                  <a:srgbClr val="0070C0"/>
                </a:solidFill>
                <a:latin typeface="Kokila" pitchFamily="34" charset="0"/>
                <a:cs typeface="Kokila" pitchFamily="34" charset="0"/>
              </a:rPr>
              <a:t>नहुने</a:t>
            </a:r>
            <a:endParaRPr lang="en-US" sz="2800" b="1" dirty="0">
              <a:solidFill>
                <a:srgbClr val="0070C0"/>
              </a:solidFill>
              <a:latin typeface="Kokila" pitchFamily="34" charset="0"/>
              <a:cs typeface="Kokila" pitchFamily="34" charset="0"/>
            </a:endParaRPr>
          </a:p>
          <a:p>
            <a:pPr marL="741363" indent="-741363" algn="just">
              <a:buNone/>
            </a:pPr>
            <a:r>
              <a:rPr lang="ne-NP" sz="2800" b="1" dirty="0">
                <a:solidFill>
                  <a:srgbClr val="0070C0"/>
                </a:solidFill>
                <a:latin typeface="Kokila" pitchFamily="34" charset="0"/>
                <a:cs typeface="Kokila" pitchFamily="34" charset="0"/>
              </a:rPr>
              <a:t>३०२.	अरुको आवासमा अनाधिकृत प्रवेश गर्न </a:t>
            </a:r>
            <a:r>
              <a:rPr lang="ne-NP" sz="2800" b="1" dirty="0" smtClean="0">
                <a:solidFill>
                  <a:srgbClr val="0070C0"/>
                </a:solidFill>
                <a:latin typeface="Kokila" pitchFamily="34" charset="0"/>
                <a:cs typeface="Kokila" pitchFamily="34" charset="0"/>
              </a:rPr>
              <a:t>नहुने</a:t>
            </a:r>
            <a:endParaRPr lang="en-US" sz="2800" b="1" dirty="0">
              <a:solidFill>
                <a:srgbClr val="0070C0"/>
              </a:solidFill>
              <a:latin typeface="Kokila" pitchFamily="34" charset="0"/>
              <a:cs typeface="Kokila" pitchFamily="34" charset="0"/>
            </a:endParaRPr>
          </a:p>
        </p:txBody>
      </p:sp>
      <p:sp>
        <p:nvSpPr>
          <p:cNvPr id="4" name="TextBox 3"/>
          <p:cNvSpPr txBox="1"/>
          <p:nvPr/>
        </p:nvSpPr>
        <p:spPr>
          <a:xfrm>
            <a:off x="1274618" y="187036"/>
            <a:ext cx="9164782" cy="830997"/>
          </a:xfrm>
          <a:prstGeom prst="rect">
            <a:avLst/>
          </a:prstGeom>
          <a:noFill/>
        </p:spPr>
        <p:txBody>
          <a:bodyPr wrap="square" rtlCol="0">
            <a:spAutoFit/>
          </a:bodyPr>
          <a:lstStyle/>
          <a:p>
            <a:r>
              <a:rPr lang="ne-NP" sz="4800" b="1" dirty="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rPr>
              <a:t>मुलुकी अपराध संहिता</a:t>
            </a:r>
            <a:r>
              <a:rPr lang="en-US" sz="4800" b="1" dirty="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rPr>
              <a:t>,</a:t>
            </a:r>
            <a:r>
              <a:rPr lang="ne-NP" sz="4800" b="1" dirty="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rPr>
              <a:t> </a:t>
            </a:r>
            <a:r>
              <a:rPr lang="ne-NP" sz="4800" b="1" dirty="0" smtClean="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rPr>
              <a:t>२०७४</a:t>
            </a:r>
            <a:endParaRPr lang="en-US" sz="4800" b="1" dirty="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endParaRPr>
          </a:p>
        </p:txBody>
      </p:sp>
    </p:spTree>
    <p:extLst>
      <p:ext uri="{BB962C8B-B14F-4D97-AF65-F5344CB8AC3E}">
        <p14:creationId xmlns:p14="http://schemas.microsoft.com/office/powerpoint/2010/main" xmlns="" val="2107466786"/>
      </p:ext>
    </p:extLst>
  </p:cSld>
  <p:clrMapOvr>
    <a:masterClrMapping/>
  </p:clrMapOvr>
  <p:transition>
    <p:diamon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2600" y="1600200"/>
            <a:ext cx="8686800" cy="4114800"/>
          </a:xfrm>
        </p:spPr>
        <p:txBody>
          <a:bodyPr anchor="t">
            <a:noAutofit/>
          </a:bodyPr>
          <a:lstStyle/>
          <a:p>
            <a:pPr marL="234950" indent="-234950" algn="just">
              <a:lnSpc>
                <a:spcPct val="150000"/>
              </a:lnSpc>
            </a:pPr>
            <a:r>
              <a:rPr lang="ne-NP" sz="2400" b="1" dirty="0">
                <a:solidFill>
                  <a:srgbClr val="0070C0"/>
                </a:solidFill>
                <a:latin typeface="Kokila" pitchFamily="34" charset="0"/>
                <a:cs typeface="Kokila" pitchFamily="34" charset="0"/>
              </a:rPr>
              <a:t>दफा १२९</a:t>
            </a:r>
            <a:r>
              <a:rPr lang="en-US" sz="2400" b="1" dirty="0">
                <a:solidFill>
                  <a:srgbClr val="0070C0"/>
                </a:solidFill>
                <a:latin typeface="Kokila" pitchFamily="34" charset="0"/>
                <a:cs typeface="Kokila" pitchFamily="34" charset="0"/>
              </a:rPr>
              <a:t> </a:t>
            </a:r>
            <a:r>
              <a:rPr lang="ne-NP" sz="2400" b="1" dirty="0">
                <a:solidFill>
                  <a:srgbClr val="0070C0"/>
                </a:solidFill>
                <a:latin typeface="Kokila" pitchFamily="34" charset="0"/>
                <a:cs typeface="Kokila" pitchFamily="34" charset="0"/>
              </a:rPr>
              <a:t>बन्द इजलास सम्बन्धी व्यवस्था</a:t>
            </a:r>
            <a:r>
              <a:rPr lang="en-US" sz="2400" b="1" dirty="0">
                <a:solidFill>
                  <a:srgbClr val="0070C0"/>
                </a:solidFill>
                <a:latin typeface="Kokila" pitchFamily="34" charset="0"/>
                <a:cs typeface="Kokila" pitchFamily="34" charset="0"/>
              </a:rPr>
              <a:t>:</a:t>
            </a:r>
            <a:endParaRPr lang="ne-NP" sz="2400" b="1" dirty="0">
              <a:solidFill>
                <a:srgbClr val="0070C0"/>
              </a:solidFill>
              <a:latin typeface="Kokila" pitchFamily="34" charset="0"/>
              <a:cs typeface="Kokila" pitchFamily="34" charset="0"/>
            </a:endParaRPr>
          </a:p>
          <a:p>
            <a:pPr marL="568325" lvl="1" indent="-312738" algn="just">
              <a:lnSpc>
                <a:spcPct val="150000"/>
              </a:lnSpc>
            </a:pPr>
            <a:r>
              <a:rPr lang="ne-NP" sz="2400" b="1" dirty="0">
                <a:solidFill>
                  <a:schemeClr val="accent2"/>
                </a:solidFill>
                <a:latin typeface="Kokila" pitchFamily="34" charset="0"/>
                <a:cs typeface="Kokila" pitchFamily="34" charset="0"/>
              </a:rPr>
              <a:t>जासुसी,</a:t>
            </a:r>
            <a:r>
              <a:rPr lang="ne-NP" sz="2400" b="1" dirty="0">
                <a:solidFill>
                  <a:srgbClr val="0070C0"/>
                </a:solidFill>
                <a:latin typeface="Kokila" pitchFamily="34" charset="0"/>
                <a:cs typeface="Kokila" pitchFamily="34" charset="0"/>
              </a:rPr>
              <a:t> </a:t>
            </a:r>
            <a:r>
              <a:rPr lang="ne-NP" sz="2400" b="1" dirty="0">
                <a:solidFill>
                  <a:srgbClr val="7030A0"/>
                </a:solidFill>
                <a:latin typeface="Kokila" pitchFamily="34" charset="0"/>
                <a:cs typeface="Kokila" pitchFamily="34" charset="0"/>
              </a:rPr>
              <a:t>मानव बेचबिखन तथा ओसार पसार, </a:t>
            </a:r>
            <a:r>
              <a:rPr lang="ne-NP" sz="2400" b="1" dirty="0">
                <a:solidFill>
                  <a:srgbClr val="FF0000"/>
                </a:solidFill>
                <a:latin typeface="Kokila" pitchFamily="34" charset="0"/>
                <a:cs typeface="Kokila" pitchFamily="34" charset="0"/>
              </a:rPr>
              <a:t>यौनजन्य कसूर, </a:t>
            </a:r>
            <a:r>
              <a:rPr lang="ne-NP" sz="2400" b="1" dirty="0">
                <a:solidFill>
                  <a:schemeClr val="accent6">
                    <a:lumMod val="75000"/>
                  </a:schemeClr>
                </a:solidFill>
                <a:latin typeface="Kokila" pitchFamily="34" charset="0"/>
                <a:cs typeface="Kokila" pitchFamily="34" charset="0"/>
              </a:rPr>
              <a:t>बालबालिका अभियुक्त वा पीडित भएको मुद्दा, </a:t>
            </a:r>
            <a:r>
              <a:rPr lang="ne-NP" sz="2400" b="1" dirty="0">
                <a:solidFill>
                  <a:schemeClr val="accent2">
                    <a:lumMod val="75000"/>
                  </a:schemeClr>
                </a:solidFill>
                <a:latin typeface="Kokila" pitchFamily="34" charset="0"/>
                <a:cs typeface="Kokila" pitchFamily="34" charset="0"/>
              </a:rPr>
              <a:t>महिला बिरुद्धको हिंसा, </a:t>
            </a:r>
            <a:r>
              <a:rPr lang="ne-NP" sz="2400" b="1" dirty="0">
                <a:solidFill>
                  <a:schemeClr val="accent5">
                    <a:lumMod val="75000"/>
                  </a:schemeClr>
                </a:solidFill>
                <a:latin typeface="Kokila" pitchFamily="34" charset="0"/>
                <a:cs typeface="Kokila" pitchFamily="34" charset="0"/>
              </a:rPr>
              <a:t>जवर्जस्ती करणी</a:t>
            </a:r>
            <a:r>
              <a:rPr lang="ne-NP" sz="2400" b="1" dirty="0">
                <a:solidFill>
                  <a:srgbClr val="0070C0"/>
                </a:solidFill>
                <a:latin typeface="Kokila" pitchFamily="34" charset="0"/>
                <a:cs typeface="Kokila" pitchFamily="34" charset="0"/>
              </a:rPr>
              <a:t>, </a:t>
            </a:r>
            <a:r>
              <a:rPr lang="ne-NP" sz="2400" b="1" dirty="0">
                <a:solidFill>
                  <a:schemeClr val="accent2"/>
                </a:solidFill>
                <a:latin typeface="Kokila" pitchFamily="34" charset="0"/>
                <a:cs typeface="Kokila" pitchFamily="34" charset="0"/>
              </a:rPr>
              <a:t>हाडनाता करणी </a:t>
            </a:r>
            <a:r>
              <a:rPr lang="ne-NP" sz="2400" b="1" dirty="0">
                <a:solidFill>
                  <a:srgbClr val="0070C0"/>
                </a:solidFill>
                <a:latin typeface="Kokila" pitchFamily="34" charset="0"/>
                <a:cs typeface="Kokila" pitchFamily="34" charset="0"/>
              </a:rPr>
              <a:t>वा </a:t>
            </a:r>
            <a:r>
              <a:rPr lang="ne-NP" sz="2400" b="1" dirty="0">
                <a:solidFill>
                  <a:srgbClr val="FF0000"/>
                </a:solidFill>
                <a:latin typeface="Kokila" pitchFamily="34" charset="0"/>
                <a:cs typeface="Kokila" pitchFamily="34" charset="0"/>
              </a:rPr>
              <a:t>पति पत्नीबिच चलेको मुद्दा </a:t>
            </a:r>
            <a:r>
              <a:rPr lang="ne-NP" sz="2400" b="1" dirty="0">
                <a:solidFill>
                  <a:srgbClr val="0070C0"/>
                </a:solidFill>
                <a:latin typeface="Kokila" pitchFamily="34" charset="0"/>
                <a:cs typeface="Kokila" pitchFamily="34" charset="0"/>
              </a:rPr>
              <a:t>वा </a:t>
            </a:r>
            <a:r>
              <a:rPr lang="ne-NP" sz="2400" b="1" dirty="0">
                <a:solidFill>
                  <a:srgbClr val="002060"/>
                </a:solidFill>
                <a:latin typeface="Kokila" pitchFamily="34" charset="0"/>
                <a:cs typeface="Kokila" pitchFamily="34" charset="0"/>
              </a:rPr>
              <a:t>अदालतले बन्द इजलासमा सुनुवाई गर्न उचित देखि आदेश गरेको अन्य मुद्दा</a:t>
            </a:r>
            <a:r>
              <a:rPr lang="ne-NP" sz="2400" b="1" dirty="0">
                <a:solidFill>
                  <a:srgbClr val="0070C0"/>
                </a:solidFill>
                <a:latin typeface="Kokila" pitchFamily="34" charset="0"/>
                <a:cs typeface="Kokila" pitchFamily="34" charset="0"/>
              </a:rPr>
              <a:t>को पुर्पक्ष बन्द इजलासमा हुन सक्नेछ र त्यस्तो इजलासमा अदालतले त्यस्तो मुद्दासँग सम्बन्धित पक्ष, सम्बन्धित कानून व्यवसायी, अदालतका कर्मचारी र अदालतले आवश्यक देखेका अन्य ब्यक्ति बाहेक अरुलाई प्रवेश निषेध गर्न सक्नेछ।</a:t>
            </a:r>
          </a:p>
        </p:txBody>
      </p:sp>
      <p:sp>
        <p:nvSpPr>
          <p:cNvPr id="4" name="TextBox 3"/>
          <p:cNvSpPr txBox="1"/>
          <p:nvPr/>
        </p:nvSpPr>
        <p:spPr>
          <a:xfrm>
            <a:off x="1274619" y="533400"/>
            <a:ext cx="9476508" cy="830997"/>
          </a:xfrm>
          <a:prstGeom prst="rect">
            <a:avLst/>
          </a:prstGeom>
          <a:noFill/>
        </p:spPr>
        <p:txBody>
          <a:bodyPr wrap="square" rtlCol="0">
            <a:spAutoFit/>
          </a:bodyPr>
          <a:lstStyle/>
          <a:p>
            <a:r>
              <a:rPr lang="ne-NP" sz="4800" b="1" dirty="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rPr>
              <a:t>मुलुकी फौजदारी कार्यविधि संहिता</a:t>
            </a:r>
            <a:r>
              <a:rPr lang="en-US" sz="4800" b="1" dirty="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rPr>
              <a:t>,</a:t>
            </a:r>
            <a:r>
              <a:rPr lang="ne-NP" sz="4800" b="1" dirty="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rPr>
              <a:t> २०७४</a:t>
            </a:r>
            <a:endParaRPr lang="en-US" sz="4800" b="1" dirty="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endParaRPr>
          </a:p>
        </p:txBody>
      </p:sp>
    </p:spTree>
    <p:extLst>
      <p:ext uri="{BB962C8B-B14F-4D97-AF65-F5344CB8AC3E}">
        <p14:creationId xmlns:p14="http://schemas.microsoft.com/office/powerpoint/2010/main" xmlns="" val="3356974274"/>
      </p:ext>
    </p:extLst>
  </p:cSld>
  <p:clrMapOvr>
    <a:masterClrMapping/>
  </p:clrMapOvr>
  <p:transition>
    <p:pull dir="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63782" y="1600200"/>
            <a:ext cx="10307782" cy="5181600"/>
          </a:xfrm>
        </p:spPr>
        <p:txBody>
          <a:bodyPr anchor="t">
            <a:noAutofit/>
          </a:bodyPr>
          <a:lstStyle/>
          <a:p>
            <a:pPr marL="682625" indent="-682625" algn="just">
              <a:lnSpc>
                <a:spcPct val="150000"/>
              </a:lnSpc>
              <a:buNone/>
            </a:pPr>
            <a:r>
              <a:rPr lang="ne-NP" sz="2800" b="1" dirty="0">
                <a:solidFill>
                  <a:srgbClr val="0070C0"/>
                </a:solidFill>
                <a:latin typeface="Kokila" pitchFamily="34" charset="0"/>
                <a:cs typeface="Kokila" pitchFamily="34" charset="0"/>
              </a:rPr>
              <a:t>नियम ६३. बन्द इजलासबाट हेरिने मुद्दाको गोपनीयताः </a:t>
            </a:r>
          </a:p>
          <a:p>
            <a:pPr marL="509588" indent="-509588" algn="just">
              <a:lnSpc>
                <a:spcPct val="150000"/>
              </a:lnSpc>
              <a:buNone/>
            </a:pPr>
            <a:r>
              <a:rPr lang="ne-NP" sz="2800" b="1" dirty="0">
                <a:solidFill>
                  <a:srgbClr val="0070C0"/>
                </a:solidFill>
                <a:latin typeface="Kokila" pitchFamily="34" charset="0"/>
                <a:cs typeface="Kokila" pitchFamily="34" charset="0"/>
              </a:rPr>
              <a:t>(१) बन्द इजलासबाट हेरिने मुद्दाका कागजातको प्रतिलिपि बादी, प्रतिबादी, पीडित तथा निजको कानून व्यवसायी बाहेक अरुलाई दिनु हुँदैन ।</a:t>
            </a:r>
          </a:p>
          <a:p>
            <a:pPr marL="509588" indent="-509588" algn="just">
              <a:lnSpc>
                <a:spcPct val="150000"/>
              </a:lnSpc>
              <a:buNone/>
            </a:pPr>
            <a:r>
              <a:rPr lang="ne-NP" sz="2800" b="1" dirty="0">
                <a:solidFill>
                  <a:srgbClr val="0070C0"/>
                </a:solidFill>
                <a:latin typeface="Kokila" pitchFamily="34" charset="0"/>
                <a:cs typeface="Kokila" pitchFamily="34" charset="0"/>
              </a:rPr>
              <a:t>(२) बन्द इजलासबाट हेरिएका मुद्दाको पीडितको व्यक्तिगत परिचय खुल्ने गरी कुनै सञ्चार माध्यम मार्फत समाचार सम्प्रेषण गर्न वा अन्य कुनै प्रकारले व्यक्त गर्न हुँदैन ।</a:t>
            </a:r>
          </a:p>
          <a:p>
            <a:pPr marL="509588" indent="-509588" algn="just">
              <a:lnSpc>
                <a:spcPct val="150000"/>
              </a:lnSpc>
              <a:buNone/>
            </a:pPr>
            <a:r>
              <a:rPr lang="en-US" sz="2800" b="1" dirty="0">
                <a:solidFill>
                  <a:srgbClr val="0070C0"/>
                </a:solidFill>
                <a:latin typeface="Kokila" pitchFamily="34" charset="0"/>
                <a:cs typeface="Kokila" pitchFamily="34" charset="0"/>
              </a:rPr>
              <a:t>	</a:t>
            </a:r>
            <a:r>
              <a:rPr lang="ne-NP" sz="2800" b="1" dirty="0">
                <a:solidFill>
                  <a:srgbClr val="0070C0"/>
                </a:solidFill>
                <a:latin typeface="Kokila" pitchFamily="34" charset="0"/>
                <a:cs typeface="Kokila" pitchFamily="34" charset="0"/>
              </a:rPr>
              <a:t>तर अदालतले अनुमति दिएमा पीडितको परिचय नखुल्ने गरी समाचार सम्प्रेषण गर्न </a:t>
            </a:r>
            <a:r>
              <a:rPr lang="ne-NP" sz="2800" b="1" dirty="0" smtClean="0">
                <a:solidFill>
                  <a:srgbClr val="0070C0"/>
                </a:solidFill>
                <a:latin typeface="Kokila" pitchFamily="34" charset="0"/>
                <a:cs typeface="Kokila" pitchFamily="34" charset="0"/>
              </a:rPr>
              <a:t>सकिनेछ।</a:t>
            </a:r>
            <a:endParaRPr lang="ne-NP" sz="2800" b="1" dirty="0">
              <a:solidFill>
                <a:srgbClr val="0070C0"/>
              </a:solidFill>
              <a:latin typeface="Kokila" pitchFamily="34" charset="0"/>
              <a:cs typeface="Kokila" pitchFamily="34" charset="0"/>
            </a:endParaRPr>
          </a:p>
        </p:txBody>
      </p:sp>
      <p:sp>
        <p:nvSpPr>
          <p:cNvPr id="4" name="TextBox 3"/>
          <p:cNvSpPr txBox="1"/>
          <p:nvPr/>
        </p:nvSpPr>
        <p:spPr>
          <a:xfrm>
            <a:off x="1219200" y="434050"/>
            <a:ext cx="8935791" cy="830997"/>
          </a:xfrm>
          <a:prstGeom prst="rect">
            <a:avLst/>
          </a:prstGeom>
          <a:noFill/>
        </p:spPr>
        <p:txBody>
          <a:bodyPr wrap="square" rtlCol="0">
            <a:spAutoFit/>
          </a:bodyPr>
          <a:lstStyle/>
          <a:p>
            <a:r>
              <a:rPr lang="ne-NP" sz="4800" b="1" dirty="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rPr>
              <a:t>फौजदारी कार्यविधि नियमावली</a:t>
            </a:r>
            <a:r>
              <a:rPr lang="en-US" sz="4800" b="1" dirty="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rPr>
              <a:t>,</a:t>
            </a:r>
            <a:r>
              <a:rPr lang="ne-NP" sz="4800" b="1" dirty="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rPr>
              <a:t> </a:t>
            </a:r>
            <a:r>
              <a:rPr lang="ne-NP" sz="4800" b="1" dirty="0" smtClean="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rPr>
              <a:t>२०७५</a:t>
            </a:r>
            <a:endParaRPr lang="en-US" sz="4800" b="1" dirty="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endParaRPr>
          </a:p>
        </p:txBody>
      </p:sp>
    </p:spTree>
    <p:extLst>
      <p:ext uri="{BB962C8B-B14F-4D97-AF65-F5344CB8AC3E}">
        <p14:creationId xmlns:p14="http://schemas.microsoft.com/office/powerpoint/2010/main" xmlns="" val="39802517"/>
      </p:ext>
    </p:extLst>
  </p:cSld>
  <p:clrMapOvr>
    <a:masterClrMapping/>
  </p:clrMapOvr>
  <p:transition>
    <p:pull dir="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399" y="1136073"/>
            <a:ext cx="10432473" cy="5645727"/>
          </a:xfrm>
        </p:spPr>
        <p:txBody>
          <a:bodyPr anchor="t">
            <a:noAutofit/>
          </a:bodyPr>
          <a:lstStyle/>
          <a:p>
            <a:pPr marL="0" indent="0" algn="just">
              <a:lnSpc>
                <a:spcPct val="150000"/>
              </a:lnSpc>
              <a:buNone/>
            </a:pPr>
            <a:r>
              <a:rPr lang="ne-NP" sz="2400" b="1" dirty="0">
                <a:solidFill>
                  <a:srgbClr val="0070C0"/>
                </a:solidFill>
                <a:latin typeface="Kokila" pitchFamily="34" charset="0"/>
                <a:cs typeface="Kokila" pitchFamily="34" charset="0"/>
              </a:rPr>
              <a:t>नियम ६४. कसूरबाट पीडित वा साक्षीको व्यक्तिगत परिचय गोप्य राख्नेः </a:t>
            </a:r>
            <a:endParaRPr lang="en-US" sz="2400" b="1" dirty="0">
              <a:solidFill>
                <a:srgbClr val="0070C0"/>
              </a:solidFill>
              <a:latin typeface="Kokila" pitchFamily="34" charset="0"/>
              <a:cs typeface="Kokila" pitchFamily="34" charset="0"/>
            </a:endParaRPr>
          </a:p>
          <a:p>
            <a:pPr marL="692150" indent="-234950" algn="just">
              <a:lnSpc>
                <a:spcPct val="150000"/>
              </a:lnSpc>
            </a:pPr>
            <a:r>
              <a:rPr lang="ne-NP" sz="2400" b="1" dirty="0">
                <a:solidFill>
                  <a:srgbClr val="0070C0"/>
                </a:solidFill>
                <a:latin typeface="Kokila" pitchFamily="34" charset="0"/>
                <a:cs typeface="Kokila" pitchFamily="34" charset="0"/>
              </a:rPr>
              <a:t>(१) ऐनको दफा १८३ बमोजिम कुनै खास कसूरबाट पीडित व्यक्तिको वा साक्षीको व्यक्तिगत परिचय गोप्य राख्न अदालतले आदेश दिएको मुद्दामा कसूरको अनुसन्धान, अभियोजन, मुद्दाको कारबाही, सुनुवाई, फैसला, फैसला कार्यान्वयन र फैसला कार्यान्वयन पश्चात् समेत त्यस्तो पीडित वा साक्षीको नाम, थर, वतन, हुलिया लगायतका निजको परिचय हुन सक्ने अन्य सम्बद्ध विवरणहरू गोप्य राख्नुम पर्नेछ।</a:t>
            </a:r>
            <a:endParaRPr lang="en-US" sz="2400" b="1" dirty="0">
              <a:solidFill>
                <a:srgbClr val="0070C0"/>
              </a:solidFill>
              <a:latin typeface="Kokila" pitchFamily="34" charset="0"/>
              <a:cs typeface="Kokila" pitchFamily="34" charset="0"/>
            </a:endParaRPr>
          </a:p>
          <a:p>
            <a:pPr marL="0" indent="0" algn="just">
              <a:lnSpc>
                <a:spcPct val="150000"/>
              </a:lnSpc>
              <a:buNone/>
            </a:pPr>
            <a:r>
              <a:rPr lang="ne-NP" sz="2400" b="1" dirty="0">
                <a:solidFill>
                  <a:srgbClr val="0070C0"/>
                </a:solidFill>
                <a:latin typeface="Kokila" pitchFamily="34" charset="0"/>
                <a:cs typeface="Kokila" pitchFamily="34" charset="0"/>
              </a:rPr>
              <a:t>नियम ६५. बालबालिकाको व्यक्तिगत परिचय गोप्य राख्नेः </a:t>
            </a:r>
            <a:endParaRPr lang="en-US" sz="2400" b="1" dirty="0">
              <a:solidFill>
                <a:srgbClr val="0070C0"/>
              </a:solidFill>
              <a:latin typeface="Kokila" pitchFamily="34" charset="0"/>
              <a:cs typeface="Kokila" pitchFamily="34" charset="0"/>
            </a:endParaRPr>
          </a:p>
          <a:p>
            <a:pPr marL="692150" indent="-234950" algn="just">
              <a:lnSpc>
                <a:spcPct val="150000"/>
              </a:lnSpc>
            </a:pPr>
            <a:r>
              <a:rPr lang="ne-NP" sz="2400" b="1" dirty="0">
                <a:solidFill>
                  <a:srgbClr val="0070C0"/>
                </a:solidFill>
                <a:latin typeface="Kokila" pitchFamily="34" charset="0"/>
                <a:cs typeface="Kokila" pitchFamily="34" charset="0"/>
              </a:rPr>
              <a:t>(१) बालबालिका प्रतिबादी भई चलेको नेपाल सरकार बादी भएको वा अदालतले उपयुक्त ठहर्‍याएको मुद्दामा त्यस्ता बालबालिकाको व्यक्तिगत परिचय गोप्य राख्नुल पर्नेछ।</a:t>
            </a:r>
          </a:p>
        </p:txBody>
      </p:sp>
      <p:sp>
        <p:nvSpPr>
          <p:cNvPr id="4" name="Rectangle 3"/>
          <p:cNvSpPr/>
          <p:nvPr/>
        </p:nvSpPr>
        <p:spPr>
          <a:xfrm>
            <a:off x="1025236" y="304800"/>
            <a:ext cx="10460182" cy="769441"/>
          </a:xfrm>
          <a:prstGeom prst="rect">
            <a:avLst/>
          </a:prstGeom>
        </p:spPr>
        <p:txBody>
          <a:bodyPr wrap="square">
            <a:spAutoFit/>
          </a:bodyPr>
          <a:lstStyle/>
          <a:p>
            <a:pPr algn="r"/>
            <a:r>
              <a:rPr lang="ne-NP" sz="4400" b="1" dirty="0" smtClean="0">
                <a:solidFill>
                  <a:srgbClr val="002060"/>
                </a:solidFill>
                <a:latin typeface="Kokila" pitchFamily="34" charset="0"/>
                <a:cs typeface="Kokila" pitchFamily="34" charset="0"/>
              </a:rPr>
              <a:t>क्रमशः</a:t>
            </a:r>
            <a:endParaRPr lang="en-US" sz="4400" b="1" dirty="0">
              <a:solidFill>
                <a:srgbClr val="002060"/>
              </a:solidFill>
              <a:latin typeface="Kokila" pitchFamily="34" charset="0"/>
              <a:cs typeface="Kokila" pitchFamily="34" charset="0"/>
            </a:endParaRPr>
          </a:p>
        </p:txBody>
      </p:sp>
    </p:spTree>
    <p:extLst>
      <p:ext uri="{BB962C8B-B14F-4D97-AF65-F5344CB8AC3E}">
        <p14:creationId xmlns:p14="http://schemas.microsoft.com/office/powerpoint/2010/main" xmlns="" val="2728623525"/>
      </p:ext>
    </p:extLst>
  </p:cSld>
  <p:clrMapOvr>
    <a:masterClrMapping/>
  </p:clrMapOvr>
  <p:transition>
    <p:diamon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52945" y="1447800"/>
            <a:ext cx="10238510" cy="5181600"/>
          </a:xfrm>
        </p:spPr>
        <p:txBody>
          <a:bodyPr anchor="t">
            <a:noAutofit/>
          </a:bodyPr>
          <a:lstStyle/>
          <a:p>
            <a:pPr marL="508000" indent="-508000" algn="just">
              <a:lnSpc>
                <a:spcPts val="3000"/>
              </a:lnSpc>
              <a:buNone/>
            </a:pPr>
            <a:r>
              <a:rPr lang="ne-NP" sz="2800" b="1" u="sng" dirty="0">
                <a:solidFill>
                  <a:srgbClr val="0070C0"/>
                </a:solidFill>
                <a:latin typeface="Kokila" pitchFamily="34" charset="0"/>
                <a:cs typeface="Kokila" pitchFamily="34" charset="0"/>
              </a:rPr>
              <a:t>दफा २१. गोपनीयताको अधिकार अतिक्रमण भएको मानिनेः </a:t>
            </a:r>
          </a:p>
          <a:p>
            <a:pPr marL="508000" indent="-508000" algn="just">
              <a:lnSpc>
                <a:spcPts val="3000"/>
              </a:lnSpc>
              <a:buNone/>
            </a:pPr>
            <a:r>
              <a:rPr lang="ne-NP" sz="2800" b="1" dirty="0">
                <a:solidFill>
                  <a:srgbClr val="0070C0"/>
                </a:solidFill>
                <a:latin typeface="Kokila" pitchFamily="34" charset="0"/>
                <a:cs typeface="Kokila" pitchFamily="34" charset="0"/>
              </a:rPr>
              <a:t>(१) कानून बमोजिम बाहेक कसैले सम्बन्धित व्यक्तिको मञ्जुरी नलिई देहायका कुनै काम कुरा गरेमा गोपनीयताको अधिकार अतिक्रमण भएको मानिनेछः–</a:t>
            </a:r>
          </a:p>
          <a:p>
            <a:pPr marL="1076325" indent="-508000" algn="just">
              <a:lnSpc>
                <a:spcPts val="3000"/>
              </a:lnSpc>
              <a:buNone/>
            </a:pPr>
            <a:r>
              <a:rPr lang="ne-NP" sz="2800" b="1" dirty="0">
                <a:solidFill>
                  <a:srgbClr val="0070C0"/>
                </a:solidFill>
                <a:latin typeface="Kokila" pitchFamily="34" charset="0"/>
                <a:cs typeface="Kokila" pitchFamily="34" charset="0"/>
              </a:rPr>
              <a:t>(क) कुनै व्यक्तिको बासस्थानमा प्रवेश गरेमा,</a:t>
            </a:r>
          </a:p>
          <a:p>
            <a:pPr marL="1076325" indent="-508000" algn="just">
              <a:lnSpc>
                <a:spcPts val="3000"/>
              </a:lnSpc>
              <a:buNone/>
            </a:pPr>
            <a:r>
              <a:rPr lang="ne-NP" sz="2800" b="1" dirty="0">
                <a:solidFill>
                  <a:srgbClr val="0070C0"/>
                </a:solidFill>
                <a:latin typeface="Kokila" pitchFamily="34" charset="0"/>
                <a:cs typeface="Kokila" pitchFamily="34" charset="0"/>
              </a:rPr>
              <a:t>(ख) कसैको चिठ्ठीपत्र खोलेमा वा त्यसको प्रयोग गरेमा, टेलिफोन वा अन्य प्रविधिको माध्यमबाट भएको कुराकानी, बोली, ध्वनिको टेप वा रेकर्ड गरेमा वा सुनेमा,</a:t>
            </a:r>
          </a:p>
          <a:p>
            <a:pPr marL="1076325" indent="-508000" algn="just">
              <a:lnSpc>
                <a:spcPts val="3000"/>
              </a:lnSpc>
              <a:buNone/>
            </a:pPr>
            <a:r>
              <a:rPr lang="ne-NP" sz="2800" b="1" dirty="0">
                <a:solidFill>
                  <a:srgbClr val="0070C0"/>
                </a:solidFill>
                <a:latin typeface="Kokila" pitchFamily="34" charset="0"/>
                <a:cs typeface="Kokila" pitchFamily="34" charset="0"/>
              </a:rPr>
              <a:t>(ग) कुनै व्यक्तिको निजी जीवनको व्यवहार, आचरणको चियो चर्चा, प्रकाशन, प्रशारण वा प्रचार गरेमा,</a:t>
            </a:r>
          </a:p>
          <a:p>
            <a:pPr marL="1076325" indent="-508000" algn="just">
              <a:lnSpc>
                <a:spcPts val="3000"/>
              </a:lnSpc>
              <a:buNone/>
            </a:pPr>
            <a:r>
              <a:rPr lang="ne-NP" sz="2800" b="1" dirty="0">
                <a:solidFill>
                  <a:srgbClr val="0070C0"/>
                </a:solidFill>
                <a:latin typeface="Kokila" pitchFamily="34" charset="0"/>
                <a:cs typeface="Kokila" pitchFamily="34" charset="0"/>
              </a:rPr>
              <a:t>(घ) कसैको आकृति वा तस्वीर खिचेमा,</a:t>
            </a:r>
          </a:p>
          <a:p>
            <a:pPr marL="1076325" indent="-508000" algn="just">
              <a:lnSpc>
                <a:spcPts val="3000"/>
              </a:lnSpc>
              <a:buNone/>
            </a:pPr>
            <a:r>
              <a:rPr lang="ne-NP" sz="2800" b="1" dirty="0">
                <a:solidFill>
                  <a:srgbClr val="0070C0"/>
                </a:solidFill>
                <a:latin typeface="Kokila" pitchFamily="34" charset="0"/>
                <a:cs typeface="Kokila" pitchFamily="34" charset="0"/>
              </a:rPr>
              <a:t>(ङ) अरूको नाम, आकृति, तस्वीर वा आवाजको नक्कल गरी सार्वजनिक गरेमा ।</a:t>
            </a:r>
            <a:endParaRPr lang="en-US" sz="2800" b="1" dirty="0">
              <a:solidFill>
                <a:srgbClr val="0070C0"/>
              </a:solidFill>
              <a:latin typeface="Kokila" pitchFamily="34" charset="0"/>
              <a:cs typeface="Kokila" pitchFamily="34" charset="0"/>
            </a:endParaRPr>
          </a:p>
        </p:txBody>
      </p:sp>
      <p:sp>
        <p:nvSpPr>
          <p:cNvPr id="4" name="TextBox 3"/>
          <p:cNvSpPr txBox="1"/>
          <p:nvPr/>
        </p:nvSpPr>
        <p:spPr>
          <a:xfrm>
            <a:off x="1066800" y="304800"/>
            <a:ext cx="9296400" cy="830997"/>
          </a:xfrm>
          <a:prstGeom prst="rect">
            <a:avLst/>
          </a:prstGeom>
          <a:noFill/>
        </p:spPr>
        <p:txBody>
          <a:bodyPr wrap="square" rtlCol="0">
            <a:spAutoFit/>
          </a:bodyPr>
          <a:lstStyle/>
          <a:p>
            <a:r>
              <a:rPr lang="ne-NP" sz="4800" b="1" dirty="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rPr>
              <a:t>मुलुकी देवानी संहिता</a:t>
            </a:r>
            <a:r>
              <a:rPr lang="en-US" sz="4800" b="1" dirty="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rPr>
              <a:t>,</a:t>
            </a:r>
            <a:r>
              <a:rPr lang="ne-NP" sz="4800" b="1" dirty="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rPr>
              <a:t> </a:t>
            </a:r>
            <a:r>
              <a:rPr lang="ne-NP" sz="4800" b="1" dirty="0" smtClean="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rPr>
              <a:t>२०७४</a:t>
            </a:r>
            <a:endParaRPr lang="en-US" sz="4800" b="1" dirty="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endParaRPr>
          </a:p>
        </p:txBody>
      </p:sp>
    </p:spTree>
    <p:extLst>
      <p:ext uri="{BB962C8B-B14F-4D97-AF65-F5344CB8AC3E}">
        <p14:creationId xmlns:p14="http://schemas.microsoft.com/office/powerpoint/2010/main" xmlns="" val="4095139136"/>
      </p:ext>
    </p:extLst>
  </p:cSld>
  <p:clrMapOvr>
    <a:masterClrMapping/>
  </p:clrMapOvr>
  <p:transition>
    <p:diamon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1" y="1295400"/>
            <a:ext cx="10958944" cy="5181600"/>
          </a:xfrm>
        </p:spPr>
        <p:txBody>
          <a:bodyPr anchor="t">
            <a:noAutofit/>
          </a:bodyPr>
          <a:lstStyle/>
          <a:p>
            <a:pPr marL="0" indent="0" algn="just">
              <a:lnSpc>
                <a:spcPts val="3000"/>
              </a:lnSpc>
              <a:buNone/>
            </a:pPr>
            <a:r>
              <a:rPr lang="ne-NP" sz="2800" b="1" u="sng" dirty="0">
                <a:solidFill>
                  <a:srgbClr val="0070C0"/>
                </a:solidFill>
                <a:latin typeface="Kokila" pitchFamily="34" charset="0"/>
                <a:cs typeface="Kokila" pitchFamily="34" charset="0"/>
              </a:rPr>
              <a:t>दफा ११- </a:t>
            </a:r>
            <a:r>
              <a:rPr lang="ne-NP" sz="2800" b="1" dirty="0">
                <a:solidFill>
                  <a:srgbClr val="0070C0"/>
                </a:solidFill>
                <a:latin typeface="Kokila" pitchFamily="34" charset="0"/>
                <a:cs typeface="Kokila" pitchFamily="34" charset="0"/>
              </a:rPr>
              <a:t> </a:t>
            </a:r>
            <a:endParaRPr lang="en-US" sz="2800" b="1" dirty="0">
              <a:solidFill>
                <a:srgbClr val="0070C0"/>
              </a:solidFill>
              <a:latin typeface="Kokila" pitchFamily="34" charset="0"/>
              <a:cs typeface="Kokila" pitchFamily="34" charset="0"/>
            </a:endParaRPr>
          </a:p>
          <a:p>
            <a:pPr marL="457200" indent="-457200" algn="just">
              <a:lnSpc>
                <a:spcPts val="3000"/>
              </a:lnSpc>
              <a:buNone/>
            </a:pPr>
            <a:r>
              <a:rPr lang="en-US" b="1" dirty="0">
                <a:solidFill>
                  <a:srgbClr val="0070C0"/>
                </a:solidFill>
                <a:latin typeface="Kokila" pitchFamily="34" charset="0"/>
                <a:cs typeface="Kokila" pitchFamily="34" charset="0"/>
              </a:rPr>
              <a:t>(</a:t>
            </a:r>
            <a:r>
              <a:rPr lang="ne-NP" b="1" dirty="0">
                <a:solidFill>
                  <a:srgbClr val="0070C0"/>
                </a:solidFill>
                <a:latin typeface="Kokila" pitchFamily="34" charset="0"/>
                <a:cs typeface="Kokila" pitchFamily="34" charset="0"/>
              </a:rPr>
              <a:t>१</a:t>
            </a:r>
            <a:r>
              <a:rPr lang="en-US" b="1" dirty="0" smtClean="0">
                <a:solidFill>
                  <a:srgbClr val="0070C0"/>
                </a:solidFill>
                <a:latin typeface="Kokila" pitchFamily="34" charset="0"/>
                <a:cs typeface="Kokila" pitchFamily="34" charset="0"/>
              </a:rPr>
              <a:t>)</a:t>
            </a:r>
            <a:r>
              <a:rPr lang="ne-NP" b="1" dirty="0" smtClean="0">
                <a:solidFill>
                  <a:srgbClr val="0070C0"/>
                </a:solidFill>
                <a:latin typeface="Kokila" pitchFamily="34" charset="0"/>
                <a:cs typeface="Kokila" pitchFamily="34" charset="0"/>
              </a:rPr>
              <a:t> प्रत्येक </a:t>
            </a:r>
            <a:r>
              <a:rPr lang="ne-NP" b="1" dirty="0">
                <a:solidFill>
                  <a:srgbClr val="0070C0"/>
                </a:solidFill>
                <a:latin typeface="Kokila" pitchFamily="34" charset="0"/>
                <a:cs typeface="Kokila" pitchFamily="34" charset="0"/>
              </a:rPr>
              <a:t>बालबालिकालाई निजको जीउ, आवास, सम्पत्ति, लिखत, तथ्यांक, पत्राचार र चरित्र सम्बन्धी विषयमा गोपनीयताको अधिकार हुनेछ।</a:t>
            </a:r>
          </a:p>
          <a:p>
            <a:pPr marL="457200" indent="-457200" algn="just">
              <a:lnSpc>
                <a:spcPts val="3000"/>
              </a:lnSpc>
              <a:buNone/>
            </a:pPr>
            <a:r>
              <a:rPr lang="ne-NP" b="1" dirty="0">
                <a:solidFill>
                  <a:srgbClr val="0070C0"/>
                </a:solidFill>
                <a:latin typeface="Kokila" pitchFamily="34" charset="0"/>
                <a:cs typeface="Kokila" pitchFamily="34" charset="0"/>
              </a:rPr>
              <a:t>(२) कसैले पनि बालबालिकाको चरित्रमा आघात पार्ने वा निजलाई लाज, ग्लानी वा अपहेलना हुने किसिमको निजको व्यक्तिगत सूचना, विवरण, फोटो, भिडियोको सिर्जना, सूचना सङ्कलन, प्रकाशन, मुद्रण, प्रदर्शन, बिक्री वितरण वा कुनै पनि माध्यमबाट प्रवाह गर्न वा गराउन हुँदैन।</a:t>
            </a:r>
          </a:p>
          <a:p>
            <a:pPr marL="457200" indent="-457200" algn="just">
              <a:lnSpc>
                <a:spcPts val="3000"/>
              </a:lnSpc>
              <a:buNone/>
            </a:pPr>
            <a:r>
              <a:rPr lang="ne-NP" b="1" dirty="0">
                <a:solidFill>
                  <a:srgbClr val="0070C0"/>
                </a:solidFill>
                <a:latin typeface="Kokila" pitchFamily="34" charset="0"/>
                <a:cs typeface="Kokila" pitchFamily="34" charset="0"/>
              </a:rPr>
              <a:t>(३) बाल अदालत, प्रहरी कार्यालय, संरक्षक, अभिभावक वा अन्य निकायबाट कसूरजन्य कार्यको आरोप लागेका वा पीडित बालबालिकाको नाम थर, ठेगाना, उमेर, लिङ्ग, पारिवारिक पृष्ठभूमि, आर्थिक स्थिति, कसूर तथा त्यस सम्बन्धमा कुनै कारबाही भएको भए सो लगायत बालबालिकाको पहिचान खुल्ने विवरण गोप्य राख्नु पर्नेछ। यसरी गोप्य राखिएको बालबालिकाको विवरण कानून बमोजिम बाहेक अन्यत्र प्रयोग गरिनु हुँदैन।</a:t>
            </a:r>
            <a:r>
              <a:rPr lang="ne-NP" b="1" i="1" dirty="0">
                <a:solidFill>
                  <a:srgbClr val="0070C0"/>
                </a:solidFill>
                <a:latin typeface="Kokila" pitchFamily="34" charset="0"/>
                <a:cs typeface="Kokila" pitchFamily="34" charset="0"/>
              </a:rPr>
              <a:t>तर कुनै अध्ययन वा शोध कार्यका लागि प्रकाशित गर्नु परेमा बालबालिका र निजको परिवारको नाम, थर, ठेगाना तथा अन्य पहिचान नखुल्ने गरी उमेर वा लिङ्ग मात्र उल्लेख गरी प्रकाशन गर्न सकिनेछ।</a:t>
            </a:r>
            <a:endParaRPr lang="en-US" b="1" i="1" dirty="0">
              <a:solidFill>
                <a:srgbClr val="0070C0"/>
              </a:solidFill>
              <a:latin typeface="Kokila" pitchFamily="34" charset="0"/>
              <a:cs typeface="Kokila" pitchFamily="34" charset="0"/>
            </a:endParaRPr>
          </a:p>
        </p:txBody>
      </p:sp>
      <p:sp>
        <p:nvSpPr>
          <p:cNvPr id="4" name="TextBox 3"/>
          <p:cNvSpPr txBox="1"/>
          <p:nvPr/>
        </p:nvSpPr>
        <p:spPr>
          <a:xfrm>
            <a:off x="803564" y="381000"/>
            <a:ext cx="10723418" cy="830997"/>
          </a:xfrm>
          <a:prstGeom prst="rect">
            <a:avLst/>
          </a:prstGeom>
          <a:noFill/>
        </p:spPr>
        <p:txBody>
          <a:bodyPr wrap="square" rtlCol="0">
            <a:spAutoFit/>
          </a:bodyPr>
          <a:lstStyle/>
          <a:p>
            <a:r>
              <a:rPr lang="ne-NP" sz="4800" b="1" dirty="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rPr>
              <a:t>बालबालिका सम्बन्धी ऐन</a:t>
            </a:r>
            <a:r>
              <a:rPr lang="en-US" sz="4800" b="1" dirty="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rPr>
              <a:t>,</a:t>
            </a:r>
            <a:r>
              <a:rPr lang="ne-NP" sz="4800" b="1" dirty="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rPr>
              <a:t> २०७५</a:t>
            </a:r>
            <a:endParaRPr lang="en-US" sz="4800" b="1" dirty="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endParaRPr>
          </a:p>
        </p:txBody>
      </p:sp>
    </p:spTree>
    <p:extLst>
      <p:ext uri="{BB962C8B-B14F-4D97-AF65-F5344CB8AC3E}">
        <p14:creationId xmlns:p14="http://schemas.microsoft.com/office/powerpoint/2010/main" xmlns="" val="4237155071"/>
      </p:ext>
    </p:extLst>
  </p:cSld>
  <p:clrMapOvr>
    <a:masterClrMapping/>
  </p:clrMapOvr>
  <p:transition>
    <p:pull dir="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ne-NP" b="1" dirty="0" smtClean="0">
                <a:solidFill>
                  <a:srgbClr val="0070C0"/>
                </a:solidFill>
                <a:latin typeface="Kokila" pitchFamily="34" charset="0"/>
                <a:cs typeface="Kokila" pitchFamily="34" charset="0"/>
              </a:rPr>
              <a:t>दफा २५ को </a:t>
            </a:r>
            <a:r>
              <a:rPr lang="en-US" b="1" dirty="0" smtClean="0">
                <a:solidFill>
                  <a:srgbClr val="0070C0"/>
                </a:solidFill>
                <a:latin typeface="Kokila" pitchFamily="34" charset="0"/>
                <a:cs typeface="Kokila" pitchFamily="34" charset="0"/>
              </a:rPr>
              <a:t>(</a:t>
            </a:r>
            <a:r>
              <a:rPr lang="ne-NP" b="1" dirty="0" smtClean="0">
                <a:solidFill>
                  <a:srgbClr val="0070C0"/>
                </a:solidFill>
                <a:latin typeface="Kokila" pitchFamily="34" charset="0"/>
                <a:cs typeface="Kokila" pitchFamily="34" charset="0"/>
              </a:rPr>
              <a:t>ग</a:t>
            </a:r>
            <a:r>
              <a:rPr lang="en-US" b="1" dirty="0" smtClean="0">
                <a:solidFill>
                  <a:srgbClr val="0070C0"/>
                </a:solidFill>
                <a:latin typeface="Kokila" pitchFamily="34" charset="0"/>
                <a:cs typeface="Kokila" pitchFamily="34" charset="0"/>
              </a:rPr>
              <a:t>)</a:t>
            </a:r>
            <a:r>
              <a:rPr lang="ne-NP" b="1" dirty="0" smtClean="0">
                <a:solidFill>
                  <a:srgbClr val="0070C0"/>
                </a:solidFill>
                <a:latin typeface="Kokila" pitchFamily="34" charset="0"/>
                <a:cs typeface="Kokila" pitchFamily="34" charset="0"/>
              </a:rPr>
              <a:t> पीडित वालवालिकालाई निज पीडितको परिचयात्मक विवरण गोप्य राख्न पाउने अधिकार हुने ।</a:t>
            </a:r>
          </a:p>
          <a:p>
            <a:r>
              <a:rPr lang="ne-NP" b="1" dirty="0" smtClean="0">
                <a:solidFill>
                  <a:srgbClr val="0070C0"/>
                </a:solidFill>
                <a:latin typeface="Kokila" pitchFamily="34" charset="0"/>
                <a:cs typeface="Kokila" pitchFamily="34" charset="0"/>
              </a:rPr>
              <a:t>दफा २६ को </a:t>
            </a:r>
            <a:r>
              <a:rPr lang="en-US" b="1" dirty="0" smtClean="0">
                <a:solidFill>
                  <a:srgbClr val="0070C0"/>
                </a:solidFill>
                <a:latin typeface="Kokila" pitchFamily="34" charset="0"/>
                <a:cs typeface="Kokila" pitchFamily="34" charset="0"/>
              </a:rPr>
              <a:t>(</a:t>
            </a:r>
            <a:r>
              <a:rPr lang="ne-NP" b="1" dirty="0" smtClean="0">
                <a:solidFill>
                  <a:srgbClr val="0070C0"/>
                </a:solidFill>
                <a:latin typeface="Kokila" pitchFamily="34" charset="0"/>
                <a:cs typeface="Kokila" pitchFamily="34" charset="0"/>
              </a:rPr>
              <a:t>१</a:t>
            </a:r>
            <a:r>
              <a:rPr lang="en-US" b="1" dirty="0" smtClean="0">
                <a:solidFill>
                  <a:srgbClr val="0070C0"/>
                </a:solidFill>
                <a:latin typeface="Kokila" pitchFamily="34" charset="0"/>
                <a:cs typeface="Kokila" pitchFamily="34" charset="0"/>
              </a:rPr>
              <a:t>)</a:t>
            </a:r>
            <a:r>
              <a:rPr lang="ne-NP" b="1" dirty="0" smtClean="0">
                <a:solidFill>
                  <a:srgbClr val="0070C0"/>
                </a:solidFill>
                <a:latin typeface="Kokila" pitchFamily="34" charset="0"/>
                <a:cs typeface="Kokila" pitchFamily="34" charset="0"/>
              </a:rPr>
              <a:t> </a:t>
            </a:r>
            <a:r>
              <a:rPr lang="en-US" b="1" dirty="0" smtClean="0">
                <a:solidFill>
                  <a:srgbClr val="0070C0"/>
                </a:solidFill>
                <a:latin typeface="Kokila" pitchFamily="34" charset="0"/>
                <a:cs typeface="Kokila" pitchFamily="34" charset="0"/>
              </a:rPr>
              <a:t>(</a:t>
            </a:r>
            <a:r>
              <a:rPr lang="ne-NP" b="1" dirty="0" smtClean="0">
                <a:solidFill>
                  <a:srgbClr val="0070C0"/>
                </a:solidFill>
                <a:latin typeface="Kokila" pitchFamily="34" charset="0"/>
                <a:cs typeface="Kokila" pitchFamily="34" charset="0"/>
              </a:rPr>
              <a:t>च</a:t>
            </a:r>
            <a:r>
              <a:rPr lang="en-US" b="1" dirty="0" smtClean="0">
                <a:solidFill>
                  <a:srgbClr val="0070C0"/>
                </a:solidFill>
                <a:latin typeface="Kokila" pitchFamily="34" charset="0"/>
                <a:cs typeface="Kokila" pitchFamily="34" charset="0"/>
              </a:rPr>
              <a:t>)</a:t>
            </a:r>
            <a:r>
              <a:rPr lang="ne-NP" b="1" dirty="0" smtClean="0">
                <a:solidFill>
                  <a:srgbClr val="0070C0"/>
                </a:solidFill>
                <a:latin typeface="Kokila" pitchFamily="34" charset="0"/>
                <a:cs typeface="Kokila" pitchFamily="34" charset="0"/>
              </a:rPr>
              <a:t> बालबालिकालाई बाल न्याय सम्पादनको प्रक्रियामा गोपनीयता प्राप्त गर्ने अधिकार हुने।</a:t>
            </a:r>
          </a:p>
          <a:p>
            <a:r>
              <a:rPr lang="ne-NP" b="1" dirty="0" smtClean="0">
                <a:solidFill>
                  <a:srgbClr val="0070C0"/>
                </a:solidFill>
                <a:latin typeface="Kokila" pitchFamily="34" charset="0"/>
                <a:cs typeface="Kokila" pitchFamily="34" charset="0"/>
              </a:rPr>
              <a:t>दफा ३५ बन्द इजलासको व्यवस्था</a:t>
            </a:r>
          </a:p>
          <a:p>
            <a:pPr lvl="1"/>
            <a:r>
              <a:rPr lang="ne-NP" sz="2700" b="1" dirty="0" smtClean="0">
                <a:solidFill>
                  <a:srgbClr val="0070C0"/>
                </a:solidFill>
                <a:latin typeface="Kokila" pitchFamily="34" charset="0"/>
                <a:cs typeface="Kokila" pitchFamily="34" charset="0"/>
              </a:rPr>
              <a:t>सम्बन्धित बालबालिका, निजका परिवारका सदस्य वा संरक्षक, पीडित, सरकारी वकील, सम्बन्धित कानून व्यवसायी र बाल अदालतले अनुमति दिएका व्यक्ति मात्र प्रवेश गर्न सक्ने </a:t>
            </a:r>
          </a:p>
          <a:p>
            <a:r>
              <a:rPr lang="ne-NP" b="1" dirty="0" smtClean="0">
                <a:solidFill>
                  <a:srgbClr val="0070C0"/>
                </a:solidFill>
                <a:latin typeface="Kokila" pitchFamily="34" charset="0"/>
                <a:cs typeface="Kokila" pitchFamily="34" charset="0"/>
              </a:rPr>
              <a:t>दफा ३७ निरन्तर सुनुवाई गर्नु पर्ने </a:t>
            </a:r>
          </a:p>
          <a:p>
            <a:pPr lvl="1"/>
            <a:r>
              <a:rPr lang="ne-NP" sz="2700" b="1" dirty="0" smtClean="0">
                <a:solidFill>
                  <a:srgbClr val="0070C0"/>
                </a:solidFill>
                <a:latin typeface="Kokila" pitchFamily="34" charset="0"/>
                <a:cs typeface="Kokila" pitchFamily="34" charset="0"/>
              </a:rPr>
              <a:t>बाल अदालतले मुद्दा दायर भएको मितिले सामान्यतया एक सय बीस दिनभित्र मुद्दाको किनारा गर्नु पर्नेछ र यस्ता मुद्दाको कारबाही र किनारा गर्दा निरन्नन्तर  सुनुवाइको आधारमा गर्नु पर्ने। </a:t>
            </a:r>
            <a:endParaRPr lang="en-US" sz="2700" b="1" dirty="0" smtClean="0">
              <a:solidFill>
                <a:srgbClr val="0070C0"/>
              </a:solidFill>
              <a:latin typeface="Kokila" pitchFamily="34" charset="0"/>
              <a:cs typeface="Kokila" pitchFamily="34" charset="0"/>
            </a:endParaRPr>
          </a:p>
        </p:txBody>
      </p:sp>
      <p:sp>
        <p:nvSpPr>
          <p:cNvPr id="3" name="Title 2"/>
          <p:cNvSpPr>
            <a:spLocks noGrp="1"/>
          </p:cNvSpPr>
          <p:nvPr>
            <p:ph type="title"/>
          </p:nvPr>
        </p:nvSpPr>
        <p:spPr/>
        <p:txBody>
          <a:bodyPr>
            <a:normAutofit fontScale="90000"/>
          </a:bodyPr>
          <a:lstStyle/>
          <a:p>
            <a:pPr algn="r"/>
            <a:r>
              <a:rPr lang="ne-NP" sz="4400" dirty="0" smtClean="0">
                <a:solidFill>
                  <a:srgbClr val="002060"/>
                </a:solidFill>
                <a:latin typeface="Kokila" pitchFamily="34" charset="0"/>
                <a:cs typeface="Kokila" pitchFamily="34" charset="0"/>
              </a:rPr>
              <a:t>बालबालिका सम्बन्धी ऐन</a:t>
            </a:r>
            <a:r>
              <a:rPr lang="en-US" sz="4400" dirty="0" smtClean="0">
                <a:solidFill>
                  <a:srgbClr val="002060"/>
                </a:solidFill>
                <a:latin typeface="Kokila" pitchFamily="34" charset="0"/>
                <a:cs typeface="Kokila" pitchFamily="34" charset="0"/>
              </a:rPr>
              <a:t>,</a:t>
            </a:r>
            <a:r>
              <a:rPr lang="ne-NP" sz="4400" dirty="0" smtClean="0">
                <a:solidFill>
                  <a:srgbClr val="002060"/>
                </a:solidFill>
                <a:latin typeface="Kokila" pitchFamily="34" charset="0"/>
                <a:cs typeface="Kokila" pitchFamily="34" charset="0"/>
              </a:rPr>
              <a:t> २०७५ क्रमशः </a:t>
            </a:r>
            <a:r>
              <a:rPr lang="en-US" sz="4400" dirty="0" smtClean="0">
                <a:solidFill>
                  <a:srgbClr val="002060"/>
                </a:solidFill>
                <a:latin typeface="Kokila" pitchFamily="34" charset="0"/>
                <a:cs typeface="Kokila" pitchFamily="34" charset="0"/>
              </a:rPr>
              <a:t/>
            </a:r>
            <a:br>
              <a:rPr lang="en-US" sz="4400" dirty="0" smtClean="0">
                <a:solidFill>
                  <a:srgbClr val="002060"/>
                </a:solidFill>
                <a:latin typeface="Kokila" pitchFamily="34" charset="0"/>
                <a:cs typeface="Kokila" pitchFamily="34" charset="0"/>
              </a:rPr>
            </a:b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8982" y="1371600"/>
            <a:ext cx="10751127" cy="5334000"/>
          </a:xfrm>
        </p:spPr>
        <p:txBody>
          <a:bodyPr anchor="t">
            <a:noAutofit/>
          </a:bodyPr>
          <a:lstStyle/>
          <a:p>
            <a:pPr marL="347663" indent="-347663" algn="just">
              <a:lnSpc>
                <a:spcPts val="3200"/>
              </a:lnSpc>
              <a:spcBef>
                <a:spcPts val="0"/>
              </a:spcBef>
            </a:pPr>
            <a:r>
              <a:rPr lang="ne-NP" sz="2800" b="1" dirty="0">
                <a:solidFill>
                  <a:srgbClr val="0070C0"/>
                </a:solidFill>
                <a:latin typeface="Kokila" pitchFamily="34" charset="0"/>
                <a:cs typeface="Kokila" pitchFamily="34" charset="0"/>
              </a:rPr>
              <a:t>पीडितहरुको वर्गीकरण </a:t>
            </a:r>
            <a:r>
              <a:rPr lang="ne-NP" sz="2800" b="1" dirty="0" smtClean="0">
                <a:solidFill>
                  <a:srgbClr val="0070C0"/>
                </a:solidFill>
                <a:latin typeface="Kokila" pitchFamily="34" charset="0"/>
                <a:cs typeface="Kokila" pitchFamily="34" charset="0"/>
              </a:rPr>
              <a:t>गरिएकोः</a:t>
            </a:r>
            <a:endParaRPr lang="ne-NP" sz="2800" b="1" dirty="0">
              <a:solidFill>
                <a:srgbClr val="0070C0"/>
              </a:solidFill>
              <a:latin typeface="Kokila" pitchFamily="34" charset="0"/>
              <a:cs typeface="Kokila" pitchFamily="34" charset="0"/>
            </a:endParaRPr>
          </a:p>
          <a:p>
            <a:pPr marL="346075" indent="0" algn="just">
              <a:lnSpc>
                <a:spcPts val="3200"/>
              </a:lnSpc>
              <a:spcBef>
                <a:spcPts val="0"/>
              </a:spcBef>
              <a:buNone/>
            </a:pPr>
            <a:r>
              <a:rPr lang="ne-NP" sz="2800" b="1" u="sng" dirty="0" smtClean="0">
                <a:solidFill>
                  <a:srgbClr val="0070C0"/>
                </a:solidFill>
                <a:latin typeface="Kokila" pitchFamily="34" charset="0"/>
                <a:cs typeface="Kokila" pitchFamily="34" charset="0"/>
              </a:rPr>
              <a:t>दफा </a:t>
            </a:r>
            <a:r>
              <a:rPr lang="ne-NP" sz="2800" b="1" u="sng" dirty="0">
                <a:solidFill>
                  <a:srgbClr val="0070C0"/>
                </a:solidFill>
                <a:latin typeface="Kokila" pitchFamily="34" charset="0"/>
                <a:cs typeface="Kokila" pitchFamily="34" charset="0"/>
              </a:rPr>
              <a:t>२ </a:t>
            </a:r>
            <a:r>
              <a:rPr lang="en-US" sz="2800" b="1" u="sng" dirty="0">
                <a:solidFill>
                  <a:srgbClr val="0070C0"/>
                </a:solidFill>
                <a:latin typeface="Kokila" pitchFamily="34" charset="0"/>
                <a:cs typeface="Kokila" pitchFamily="34" charset="0"/>
              </a:rPr>
              <a:t>(</a:t>
            </a:r>
            <a:r>
              <a:rPr lang="ne-NP" sz="2800" b="1" u="sng" dirty="0">
                <a:solidFill>
                  <a:srgbClr val="0070C0"/>
                </a:solidFill>
                <a:latin typeface="Kokila" pitchFamily="34" charset="0"/>
                <a:cs typeface="Kokila" pitchFamily="34" charset="0"/>
              </a:rPr>
              <a:t>च</a:t>
            </a:r>
            <a:r>
              <a:rPr lang="en-US" sz="2800" b="1" u="sng" dirty="0">
                <a:solidFill>
                  <a:srgbClr val="0070C0"/>
                </a:solidFill>
                <a:latin typeface="Kokila" pitchFamily="34" charset="0"/>
                <a:cs typeface="Kokila" pitchFamily="34" charset="0"/>
              </a:rPr>
              <a:t>)</a:t>
            </a:r>
            <a:r>
              <a:rPr lang="ne-NP" sz="2800" b="1" u="sng" dirty="0">
                <a:solidFill>
                  <a:srgbClr val="0070C0"/>
                </a:solidFill>
                <a:latin typeface="Kokila" pitchFamily="34" charset="0"/>
                <a:cs typeface="Kokila" pitchFamily="34" charset="0"/>
              </a:rPr>
              <a:t>-</a:t>
            </a:r>
            <a:r>
              <a:rPr lang="ne-NP" sz="2800" b="1" dirty="0">
                <a:solidFill>
                  <a:srgbClr val="0070C0"/>
                </a:solidFill>
                <a:latin typeface="Kokila" pitchFamily="34" charset="0"/>
                <a:cs typeface="Kokila" pitchFamily="34" charset="0"/>
              </a:rPr>
              <a:t> “द्वितीयस्तरको पीडित” भन्नाले प्रथमस्तरको पीडितको विरुद्धमा भइरहेको वा भएको कसूरमा संलग्न नभएको तर त्यस्तो कसूरको प्रत्यक्षदर्शी साक्षी भएको कारणले क्षति बेहोर्नु परेको व्यक्ति।</a:t>
            </a:r>
          </a:p>
          <a:p>
            <a:pPr marL="346075" indent="0" algn="just">
              <a:lnSpc>
                <a:spcPts val="3200"/>
              </a:lnSpc>
              <a:spcBef>
                <a:spcPts val="0"/>
              </a:spcBef>
              <a:buNone/>
            </a:pPr>
            <a:endParaRPr lang="ne-NP" sz="2800" b="1" dirty="0">
              <a:solidFill>
                <a:srgbClr val="0070C0"/>
              </a:solidFill>
              <a:latin typeface="Kokila" pitchFamily="34" charset="0"/>
              <a:cs typeface="Kokila" pitchFamily="34" charset="0"/>
            </a:endParaRPr>
          </a:p>
          <a:p>
            <a:pPr marL="346075" indent="0" algn="just">
              <a:lnSpc>
                <a:spcPts val="3000"/>
              </a:lnSpc>
              <a:spcBef>
                <a:spcPts val="0"/>
              </a:spcBef>
              <a:buNone/>
            </a:pPr>
            <a:r>
              <a:rPr lang="ne-NP" sz="2800" b="1" u="sng" dirty="0">
                <a:solidFill>
                  <a:srgbClr val="0070C0"/>
                </a:solidFill>
                <a:latin typeface="Kokila" pitchFamily="34" charset="0"/>
                <a:cs typeface="Kokila" pitchFamily="34" charset="0"/>
              </a:rPr>
              <a:t>दफा २ </a:t>
            </a:r>
            <a:r>
              <a:rPr lang="en-US" sz="2800" b="1" u="sng" dirty="0">
                <a:solidFill>
                  <a:srgbClr val="0070C0"/>
                </a:solidFill>
                <a:latin typeface="Kokila" pitchFamily="34" charset="0"/>
                <a:cs typeface="Kokila" pitchFamily="34" charset="0"/>
              </a:rPr>
              <a:t>(</a:t>
            </a:r>
            <a:r>
              <a:rPr lang="ne-NP" sz="2800" b="1" u="sng" dirty="0">
                <a:solidFill>
                  <a:srgbClr val="0070C0"/>
                </a:solidFill>
                <a:latin typeface="Kokila" pitchFamily="34" charset="0"/>
                <a:cs typeface="Kokila" pitchFamily="34" charset="0"/>
              </a:rPr>
              <a:t>ज</a:t>
            </a:r>
            <a:r>
              <a:rPr lang="en-US" sz="2800" b="1" u="sng" dirty="0">
                <a:solidFill>
                  <a:srgbClr val="0070C0"/>
                </a:solidFill>
                <a:latin typeface="Kokila" pitchFamily="34" charset="0"/>
                <a:cs typeface="Kokila" pitchFamily="34" charset="0"/>
              </a:rPr>
              <a:t>)</a:t>
            </a:r>
            <a:r>
              <a:rPr lang="ne-NP" sz="2800" b="1" u="sng" dirty="0">
                <a:solidFill>
                  <a:srgbClr val="0070C0"/>
                </a:solidFill>
                <a:latin typeface="Kokila" pitchFamily="34" charset="0"/>
                <a:cs typeface="Kokila" pitchFamily="34" charset="0"/>
              </a:rPr>
              <a:t>-</a:t>
            </a:r>
            <a:r>
              <a:rPr lang="ne-NP" sz="2800" b="1" dirty="0">
                <a:solidFill>
                  <a:srgbClr val="0070C0"/>
                </a:solidFill>
                <a:latin typeface="Kokila" pitchFamily="34" charset="0"/>
                <a:cs typeface="Kokila" pitchFamily="34" charset="0"/>
              </a:rPr>
              <a:t>  “प्रथमस्तरको पीडित” भन्नाले पीडकको उमेर, मानसिक अस्वस्थता, कुटनीतिक उन्मुक्ति वा पदीय आधारले प्राप्त उन्मुक्तिको परिणाम स्वरुप फौजदारी दायित्व बेहोर्नु नपर्ने वा पीडकको पहिचान नखुलेको वा पीडक विरुद्ध अभियोग नलागेको वा कसूरसँग सम्बन्धित मुद्दा फिर्ता भएको वा कसूरदारलाई भएको सजाय माफी भएको वा कसूरदार ठहर नभएको वा पीडितसँग पीडकको जे जस्तो पारिवारिक सम्बन्ध भए पनि पीडित विरुद्ध वारदात भएकोमा कसूरको प्रत्यक्ष परिणाम स्वरुप मृत्यु भएको वा क्षति पुगेको व्यक्ति</a:t>
            </a:r>
          </a:p>
          <a:p>
            <a:pPr marL="0" indent="0" algn="just">
              <a:lnSpc>
                <a:spcPct val="150000"/>
              </a:lnSpc>
              <a:buNone/>
            </a:pPr>
            <a:endParaRPr lang="ne-NP" sz="2000" u="sng" dirty="0">
              <a:latin typeface="Calibri" pitchFamily="34" charset="0"/>
              <a:cs typeface="Kalimati" pitchFamily="2"/>
            </a:endParaRPr>
          </a:p>
          <a:p>
            <a:pPr marL="625475" indent="-625475" algn="just">
              <a:lnSpc>
                <a:spcPts val="3200"/>
              </a:lnSpc>
              <a:spcBef>
                <a:spcPts val="0"/>
              </a:spcBef>
              <a:buNone/>
            </a:pPr>
            <a:endParaRPr lang="en-US" sz="2000" dirty="0">
              <a:latin typeface="Calibri" pitchFamily="34" charset="0"/>
              <a:cs typeface="Kalimati" pitchFamily="2"/>
            </a:endParaRPr>
          </a:p>
        </p:txBody>
      </p:sp>
      <p:sp>
        <p:nvSpPr>
          <p:cNvPr id="4" name="Rectangle 3"/>
          <p:cNvSpPr/>
          <p:nvPr/>
        </p:nvSpPr>
        <p:spPr>
          <a:xfrm>
            <a:off x="900545" y="360402"/>
            <a:ext cx="8545591" cy="830997"/>
          </a:xfrm>
          <a:prstGeom prst="rect">
            <a:avLst/>
          </a:prstGeom>
        </p:spPr>
        <p:txBody>
          <a:bodyPr wrap="square">
            <a:spAutoFit/>
          </a:bodyPr>
          <a:lstStyle/>
          <a:p>
            <a:r>
              <a:rPr lang="ne-NP" sz="4800" b="1" dirty="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rPr>
              <a:t>अपराध पीडित संरक्षण ऐन</a:t>
            </a:r>
            <a:r>
              <a:rPr lang="en-US" sz="4800" b="1" dirty="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rPr>
              <a:t>,</a:t>
            </a:r>
            <a:r>
              <a:rPr lang="ne-NP" sz="4800" b="1" dirty="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rPr>
              <a:t> </a:t>
            </a:r>
            <a:r>
              <a:rPr lang="ne-NP" sz="4800" b="1" dirty="0" smtClean="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rPr>
              <a:t>२०७५</a:t>
            </a:r>
            <a:endParaRPr lang="en-US" sz="4800" b="1" dirty="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endParaRPr>
          </a:p>
        </p:txBody>
      </p:sp>
    </p:spTree>
    <p:extLst>
      <p:ext uri="{BB962C8B-B14F-4D97-AF65-F5344CB8AC3E}">
        <p14:creationId xmlns:p14="http://schemas.microsoft.com/office/powerpoint/2010/main" xmlns="" val="647352051"/>
      </p:ext>
    </p:extLst>
  </p:cSld>
  <p:clrMapOvr>
    <a:masterClrMapping/>
  </p:clrMapOvr>
  <p:transition>
    <p:split orient="vert" dir="in"/>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9927" y="1191491"/>
            <a:ext cx="10377055" cy="5056909"/>
          </a:xfrm>
        </p:spPr>
        <p:txBody>
          <a:bodyPr anchor="t">
            <a:noAutofit/>
          </a:bodyPr>
          <a:lstStyle/>
          <a:p>
            <a:pPr marL="0" indent="0" algn="just">
              <a:buNone/>
            </a:pPr>
            <a:r>
              <a:rPr lang="ne-NP" sz="2800" b="1" dirty="0">
                <a:solidFill>
                  <a:srgbClr val="0070C0"/>
                </a:solidFill>
                <a:latin typeface="Kokila" pitchFamily="34" charset="0"/>
                <a:cs typeface="Kokila" pitchFamily="34" charset="0"/>
              </a:rPr>
              <a:t>दफा २</a:t>
            </a:r>
            <a:r>
              <a:rPr lang="en-US" sz="2800" b="1" dirty="0">
                <a:solidFill>
                  <a:srgbClr val="0070C0"/>
                </a:solidFill>
                <a:latin typeface="Kokila" pitchFamily="34" charset="0"/>
                <a:cs typeface="Kokila" pitchFamily="34" charset="0"/>
              </a:rPr>
              <a:t>(</a:t>
            </a:r>
            <a:r>
              <a:rPr lang="ne-NP" sz="2800" b="1" dirty="0">
                <a:solidFill>
                  <a:srgbClr val="0070C0"/>
                </a:solidFill>
                <a:latin typeface="Kokila" pitchFamily="34" charset="0"/>
                <a:cs typeface="Kokila" pitchFamily="34" charset="0"/>
              </a:rPr>
              <a:t>झ</a:t>
            </a:r>
            <a:r>
              <a:rPr lang="en-US" sz="2800" b="1" dirty="0">
                <a:solidFill>
                  <a:srgbClr val="0070C0"/>
                </a:solidFill>
                <a:latin typeface="Kokila" pitchFamily="34" charset="0"/>
                <a:cs typeface="Kokila" pitchFamily="34" charset="0"/>
              </a:rPr>
              <a:t>)</a:t>
            </a:r>
          </a:p>
          <a:p>
            <a:pPr marL="0" indent="0" algn="just">
              <a:buNone/>
            </a:pPr>
            <a:r>
              <a:rPr lang="ne-NP" sz="2800" b="1" dirty="0">
                <a:solidFill>
                  <a:srgbClr val="0070C0"/>
                </a:solidFill>
                <a:latin typeface="Kokila" pitchFamily="34" charset="0"/>
                <a:cs typeface="Kokila" pitchFamily="34" charset="0"/>
              </a:rPr>
              <a:t>“पारिवारिक पीडित” भन्नाले कसूरको प्रत्यक्ष परिणाम स्वरुप मृत्यु भएको प्रथम स्तरको पीडित विरुद्धको कसूरमा संलग्न नरहेको मृतक पीडितको सगोलको आमा, बाबु, पति, पत्नी वा पीडितमा आश्रित एकासगोलको परिवारको अन्य सदस्य सम्झनु पर्छ ।</a:t>
            </a:r>
            <a:endParaRPr lang="en-US" sz="2800" b="1" dirty="0">
              <a:solidFill>
                <a:srgbClr val="0070C0"/>
              </a:solidFill>
              <a:latin typeface="Kokila" pitchFamily="34" charset="0"/>
              <a:cs typeface="Kokila" pitchFamily="34" charset="0"/>
            </a:endParaRPr>
          </a:p>
          <a:p>
            <a:pPr marL="0" indent="0" algn="just">
              <a:buNone/>
            </a:pPr>
            <a:endParaRPr lang="ne-NP" sz="2800" b="1" dirty="0" smtClean="0">
              <a:solidFill>
                <a:srgbClr val="0070C0"/>
              </a:solidFill>
              <a:latin typeface="Kokila" pitchFamily="34" charset="0"/>
              <a:cs typeface="Kokila" pitchFamily="34" charset="0"/>
            </a:endParaRPr>
          </a:p>
          <a:p>
            <a:pPr marL="0" indent="0" algn="just">
              <a:buNone/>
            </a:pPr>
            <a:r>
              <a:rPr lang="ne-NP" sz="2800" b="1" dirty="0" smtClean="0">
                <a:solidFill>
                  <a:srgbClr val="0070C0"/>
                </a:solidFill>
                <a:latin typeface="Kokila" pitchFamily="34" charset="0"/>
                <a:cs typeface="Kokila" pitchFamily="34" charset="0"/>
              </a:rPr>
              <a:t>दफा </a:t>
            </a:r>
            <a:r>
              <a:rPr lang="ne-NP" sz="2800" b="1" dirty="0">
                <a:solidFill>
                  <a:srgbClr val="0070C0"/>
                </a:solidFill>
                <a:latin typeface="Kokila" pitchFamily="34" charset="0"/>
                <a:cs typeface="Kokila" pitchFamily="34" charset="0"/>
              </a:rPr>
              <a:t>२</a:t>
            </a:r>
            <a:r>
              <a:rPr lang="en-US" sz="2800" b="1" dirty="0">
                <a:solidFill>
                  <a:srgbClr val="0070C0"/>
                </a:solidFill>
                <a:latin typeface="Kokila" pitchFamily="34" charset="0"/>
                <a:cs typeface="Kokila" pitchFamily="34" charset="0"/>
              </a:rPr>
              <a:t>(</a:t>
            </a:r>
            <a:r>
              <a:rPr lang="ne-NP" sz="2800" b="1" dirty="0">
                <a:solidFill>
                  <a:srgbClr val="0070C0"/>
                </a:solidFill>
                <a:latin typeface="Kokila" pitchFamily="34" charset="0"/>
                <a:cs typeface="Kokila" pitchFamily="34" charset="0"/>
              </a:rPr>
              <a:t>ञ</a:t>
            </a:r>
            <a:r>
              <a:rPr lang="en-US" sz="2800" b="1" dirty="0">
                <a:solidFill>
                  <a:srgbClr val="0070C0"/>
                </a:solidFill>
                <a:latin typeface="Kokila" pitchFamily="34" charset="0"/>
                <a:cs typeface="Kokila" pitchFamily="34" charset="0"/>
              </a:rPr>
              <a:t>)</a:t>
            </a:r>
            <a:endParaRPr lang="ne-NP" sz="2800" b="1" dirty="0">
              <a:solidFill>
                <a:srgbClr val="0070C0"/>
              </a:solidFill>
              <a:latin typeface="Kokila" pitchFamily="34" charset="0"/>
              <a:cs typeface="Kokila" pitchFamily="34" charset="0"/>
            </a:endParaRPr>
          </a:p>
          <a:p>
            <a:pPr marL="0" indent="0" algn="just">
              <a:buNone/>
            </a:pPr>
            <a:r>
              <a:rPr lang="ne-NP" sz="2800" b="1" dirty="0">
                <a:solidFill>
                  <a:srgbClr val="0070C0"/>
                </a:solidFill>
                <a:latin typeface="Kokila" pitchFamily="34" charset="0"/>
                <a:cs typeface="Kokila" pitchFamily="34" charset="0"/>
              </a:rPr>
              <a:t>“पीडित” भन्नाले प्राकृतिक व्यक्तिको रुपमा रहेको प्रथम स्तरको पीडित, द्वितीय स्तरको पीडित र पारिवारिक पीडित सम्झनु पर्छ ।</a:t>
            </a:r>
          </a:p>
        </p:txBody>
      </p:sp>
      <p:sp>
        <p:nvSpPr>
          <p:cNvPr id="4" name="Rectangle 3"/>
          <p:cNvSpPr/>
          <p:nvPr/>
        </p:nvSpPr>
        <p:spPr>
          <a:xfrm>
            <a:off x="2449976" y="360402"/>
            <a:ext cx="8980024" cy="707886"/>
          </a:xfrm>
          <a:prstGeom prst="rect">
            <a:avLst/>
          </a:prstGeom>
        </p:spPr>
        <p:txBody>
          <a:bodyPr wrap="square">
            <a:spAutoFit/>
          </a:bodyPr>
          <a:lstStyle/>
          <a:p>
            <a:pPr algn="r"/>
            <a:r>
              <a:rPr lang="ne-NP" sz="4000" b="1" dirty="0" smtClean="0">
                <a:solidFill>
                  <a:srgbClr val="002060"/>
                </a:solidFill>
                <a:latin typeface="Kokila" pitchFamily="34" charset="0"/>
                <a:cs typeface="Kokila" pitchFamily="34" charset="0"/>
              </a:rPr>
              <a:t>क्रमशः</a:t>
            </a:r>
            <a:endParaRPr lang="en-US" sz="4000" b="1" dirty="0">
              <a:solidFill>
                <a:srgbClr val="002060"/>
              </a:solidFill>
              <a:latin typeface="Kokila" pitchFamily="34" charset="0"/>
              <a:cs typeface="Kokila" pitchFamily="34" charset="0"/>
            </a:endParaRPr>
          </a:p>
        </p:txBody>
      </p:sp>
    </p:spTree>
    <p:extLst>
      <p:ext uri="{BB962C8B-B14F-4D97-AF65-F5344CB8AC3E}">
        <p14:creationId xmlns:p14="http://schemas.microsoft.com/office/powerpoint/2010/main" xmlns="" val="894916987"/>
      </p:ext>
    </p:extLst>
  </p:cSld>
  <p:clrMapOvr>
    <a:masterClrMapping/>
  </p:clrMapOvr>
  <p:transition>
    <p:pull dir="l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42109" y="1295400"/>
            <a:ext cx="10390909" cy="5257800"/>
          </a:xfrm>
        </p:spPr>
        <p:txBody>
          <a:bodyPr anchor="t">
            <a:noAutofit/>
          </a:bodyPr>
          <a:lstStyle/>
          <a:p>
            <a:pPr marL="625475" indent="-625475" algn="just">
              <a:lnSpc>
                <a:spcPts val="3000"/>
              </a:lnSpc>
              <a:spcBef>
                <a:spcPts val="0"/>
              </a:spcBef>
              <a:buNone/>
            </a:pPr>
            <a:r>
              <a:rPr lang="ne-NP" sz="2800" b="1" dirty="0">
                <a:solidFill>
                  <a:srgbClr val="0070C0"/>
                </a:solidFill>
                <a:latin typeface="Kokila" pitchFamily="34" charset="0"/>
                <a:cs typeface="Kokila" pitchFamily="34" charset="0"/>
              </a:rPr>
              <a:t>दफा ६ - पीडितको गोपनीयताको अधिकारः</a:t>
            </a:r>
            <a:endParaRPr lang="en-US" sz="2800" b="1" dirty="0">
              <a:solidFill>
                <a:srgbClr val="0070C0"/>
              </a:solidFill>
              <a:latin typeface="Kokila" pitchFamily="34" charset="0"/>
              <a:cs typeface="Kokila" pitchFamily="34" charset="0"/>
            </a:endParaRPr>
          </a:p>
          <a:p>
            <a:pPr marL="914400" indent="0" algn="just">
              <a:lnSpc>
                <a:spcPts val="3000"/>
              </a:lnSpc>
              <a:spcBef>
                <a:spcPts val="0"/>
              </a:spcBef>
              <a:buNone/>
            </a:pPr>
            <a:r>
              <a:rPr lang="ne-NP" sz="2800" b="1" dirty="0">
                <a:solidFill>
                  <a:srgbClr val="0070C0"/>
                </a:solidFill>
                <a:latin typeface="Kokila" pitchFamily="34" charset="0"/>
                <a:cs typeface="Kokila" pitchFamily="34" charset="0"/>
              </a:rPr>
              <a:t>अपराध पीडित संरक्षण ऐन</a:t>
            </a:r>
            <a:r>
              <a:rPr lang="en-US" sz="2800" b="1" dirty="0">
                <a:solidFill>
                  <a:srgbClr val="0070C0"/>
                </a:solidFill>
                <a:latin typeface="Kokila" pitchFamily="34" charset="0"/>
                <a:cs typeface="Kokila" pitchFamily="34" charset="0"/>
              </a:rPr>
              <a:t>,</a:t>
            </a:r>
            <a:r>
              <a:rPr lang="ne-NP" sz="2800" b="1" dirty="0">
                <a:solidFill>
                  <a:srgbClr val="0070C0"/>
                </a:solidFill>
                <a:latin typeface="Kokila" pitchFamily="34" charset="0"/>
                <a:cs typeface="Kokila" pitchFamily="34" charset="0"/>
              </a:rPr>
              <a:t> </a:t>
            </a:r>
            <a:r>
              <a:rPr lang="ne-NP" sz="2800" b="1" dirty="0" smtClean="0">
                <a:solidFill>
                  <a:srgbClr val="0070C0"/>
                </a:solidFill>
                <a:latin typeface="Kokila" pitchFamily="34" charset="0"/>
                <a:cs typeface="Kokila" pitchFamily="34" charset="0"/>
              </a:rPr>
              <a:t>२०७५ </a:t>
            </a:r>
            <a:r>
              <a:rPr lang="ne-NP" sz="2800" b="1" dirty="0">
                <a:solidFill>
                  <a:srgbClr val="0070C0"/>
                </a:solidFill>
                <a:latin typeface="Kokila" pitchFamily="34" charset="0"/>
                <a:cs typeface="Kokila" pitchFamily="34" charset="0"/>
              </a:rPr>
              <a:t>को परिच्छेद २ दफा १ का अनुसारः</a:t>
            </a:r>
          </a:p>
          <a:p>
            <a:pPr marL="1260475" indent="-346075" algn="just">
              <a:lnSpc>
                <a:spcPts val="3000"/>
              </a:lnSpc>
            </a:pPr>
            <a:r>
              <a:rPr lang="ne-NP" sz="2800" b="1" dirty="0">
                <a:solidFill>
                  <a:srgbClr val="0070C0"/>
                </a:solidFill>
                <a:latin typeface="Kokila" pitchFamily="34" charset="0"/>
                <a:cs typeface="Kokila" pitchFamily="34" charset="0"/>
              </a:rPr>
              <a:t>देहायका कसूरको अनुसन्धान, तहकिकात, अभियोजन र अदालती कारबाहीको</a:t>
            </a:r>
            <a:r>
              <a:rPr lang="en-US" sz="2800" b="1" dirty="0">
                <a:solidFill>
                  <a:srgbClr val="0070C0"/>
                </a:solidFill>
                <a:latin typeface="Kokila" pitchFamily="34" charset="0"/>
                <a:cs typeface="Kokila" pitchFamily="34" charset="0"/>
              </a:rPr>
              <a:t> </a:t>
            </a:r>
            <a:r>
              <a:rPr lang="ne-NP" sz="2800" b="1" dirty="0">
                <a:solidFill>
                  <a:srgbClr val="0070C0"/>
                </a:solidFill>
                <a:latin typeface="Kokila" pitchFamily="34" charset="0"/>
                <a:cs typeface="Kokila" pitchFamily="34" charset="0"/>
              </a:rPr>
              <a:t>सिलसिलामा पीडितलाई गोपनीयताको अधिकार हुनेछ :-</a:t>
            </a:r>
          </a:p>
          <a:p>
            <a:pPr marL="1170432" lvl="1" indent="0" algn="just">
              <a:lnSpc>
                <a:spcPts val="3000"/>
              </a:lnSpc>
            </a:pPr>
            <a:r>
              <a:rPr lang="ne-NP" sz="2400" b="1" dirty="0">
                <a:solidFill>
                  <a:srgbClr val="0070C0"/>
                </a:solidFill>
                <a:latin typeface="Kokila" pitchFamily="34" charset="0"/>
                <a:cs typeface="Kokila" pitchFamily="34" charset="0"/>
              </a:rPr>
              <a:t>जबरजस्ती करणी,</a:t>
            </a:r>
          </a:p>
          <a:p>
            <a:pPr marL="1170432" lvl="1" indent="0" algn="just">
              <a:lnSpc>
                <a:spcPts val="3000"/>
              </a:lnSpc>
            </a:pPr>
            <a:r>
              <a:rPr lang="ne-NP" sz="2400" b="1" dirty="0">
                <a:solidFill>
                  <a:srgbClr val="0070C0"/>
                </a:solidFill>
                <a:latin typeface="Kokila" pitchFamily="34" charset="0"/>
                <a:cs typeface="Kokila" pitchFamily="34" charset="0"/>
              </a:rPr>
              <a:t>हाडनाता करणी,</a:t>
            </a:r>
          </a:p>
          <a:p>
            <a:pPr marL="1170432" lvl="1" indent="0" algn="just">
              <a:lnSpc>
                <a:spcPts val="3000"/>
              </a:lnSpc>
            </a:pPr>
            <a:r>
              <a:rPr lang="ne-NP" sz="2400" b="1" dirty="0">
                <a:solidFill>
                  <a:srgbClr val="0070C0"/>
                </a:solidFill>
                <a:latin typeface="Kokila" pitchFamily="34" charset="0"/>
                <a:cs typeface="Kokila" pitchFamily="34" charset="0"/>
              </a:rPr>
              <a:t>मानव बेचविखन,</a:t>
            </a:r>
          </a:p>
          <a:p>
            <a:pPr marL="1170432" lvl="1" indent="0" algn="just">
              <a:lnSpc>
                <a:spcPts val="3000"/>
              </a:lnSpc>
            </a:pPr>
            <a:r>
              <a:rPr lang="ne-NP" sz="2400" b="1" dirty="0">
                <a:solidFill>
                  <a:srgbClr val="0070C0"/>
                </a:solidFill>
                <a:latin typeface="Kokila" pitchFamily="34" charset="0"/>
                <a:cs typeface="Kokila" pitchFamily="34" charset="0"/>
              </a:rPr>
              <a:t>यौन दुर्व्यवहार,</a:t>
            </a:r>
          </a:p>
          <a:p>
            <a:pPr marL="1170432" lvl="1" indent="0" algn="just">
              <a:lnSpc>
                <a:spcPts val="3000"/>
              </a:lnSpc>
            </a:pPr>
            <a:r>
              <a:rPr lang="ne-NP" sz="2400" b="1" dirty="0">
                <a:solidFill>
                  <a:srgbClr val="0070C0"/>
                </a:solidFill>
                <a:latin typeface="Kokila" pitchFamily="34" charset="0"/>
                <a:cs typeface="Kokila" pitchFamily="34" charset="0"/>
              </a:rPr>
              <a:t>नेपाल सरकारले नेपाल राजपत्रमा सूचना प्रकाशन गरी तोकिदिएको अन्य फौजदारी कसूर।</a:t>
            </a:r>
          </a:p>
          <a:p>
            <a:pPr marL="1260475" indent="-346075" algn="just">
              <a:lnSpc>
                <a:spcPts val="3000"/>
              </a:lnSpc>
            </a:pPr>
            <a:r>
              <a:rPr lang="ne-NP" sz="2800" b="1" dirty="0" smtClean="0">
                <a:solidFill>
                  <a:srgbClr val="0070C0"/>
                </a:solidFill>
                <a:latin typeface="Kokila" pitchFamily="34" charset="0"/>
                <a:cs typeface="Kokila" pitchFamily="34" charset="0"/>
              </a:rPr>
              <a:t>उक्त कसूरमा </a:t>
            </a:r>
            <a:r>
              <a:rPr lang="ne-NP" sz="2800" b="1" dirty="0">
                <a:solidFill>
                  <a:srgbClr val="0070C0"/>
                </a:solidFill>
                <a:latin typeface="Kokila" pitchFamily="34" charset="0"/>
                <a:cs typeface="Kokila" pitchFamily="34" charset="0"/>
              </a:rPr>
              <a:t>कसैले पनि पीडितको पहिचान कुनै पनि रूपबाट प्रकट</a:t>
            </a:r>
            <a:r>
              <a:rPr lang="en-US" sz="2800" b="1" dirty="0">
                <a:solidFill>
                  <a:srgbClr val="0070C0"/>
                </a:solidFill>
                <a:latin typeface="Kokila" pitchFamily="34" charset="0"/>
                <a:cs typeface="Kokila" pitchFamily="34" charset="0"/>
              </a:rPr>
              <a:t> </a:t>
            </a:r>
            <a:r>
              <a:rPr lang="ne-NP" sz="2800" b="1" dirty="0">
                <a:solidFill>
                  <a:srgbClr val="0070C0"/>
                </a:solidFill>
                <a:latin typeface="Kokila" pitchFamily="34" charset="0"/>
                <a:cs typeface="Kokila" pitchFamily="34" charset="0"/>
              </a:rPr>
              <a:t>गर्न</a:t>
            </a:r>
            <a:r>
              <a:rPr lang="en-US" sz="2800" b="1" dirty="0">
                <a:solidFill>
                  <a:srgbClr val="0070C0"/>
                </a:solidFill>
                <a:latin typeface="Kokila" pitchFamily="34" charset="0"/>
                <a:cs typeface="Kokila" pitchFamily="34" charset="0"/>
              </a:rPr>
              <a:t> </a:t>
            </a:r>
            <a:r>
              <a:rPr lang="ne-NP" sz="2800" b="1" dirty="0">
                <a:solidFill>
                  <a:srgbClr val="0070C0"/>
                </a:solidFill>
                <a:latin typeface="Kokila" pitchFamily="34" charset="0"/>
                <a:cs typeface="Kokila" pitchFamily="34" charset="0"/>
              </a:rPr>
              <a:t>हुँदैन ।</a:t>
            </a:r>
          </a:p>
        </p:txBody>
      </p:sp>
      <p:sp>
        <p:nvSpPr>
          <p:cNvPr id="5" name="Rectangle 4"/>
          <p:cNvSpPr/>
          <p:nvPr/>
        </p:nvSpPr>
        <p:spPr>
          <a:xfrm>
            <a:off x="2449976" y="360402"/>
            <a:ext cx="8980024" cy="707886"/>
          </a:xfrm>
          <a:prstGeom prst="rect">
            <a:avLst/>
          </a:prstGeom>
        </p:spPr>
        <p:txBody>
          <a:bodyPr wrap="square">
            <a:spAutoFit/>
          </a:bodyPr>
          <a:lstStyle/>
          <a:p>
            <a:pPr algn="r"/>
            <a:r>
              <a:rPr lang="ne-NP" sz="4000" b="1" dirty="0" smtClean="0">
                <a:solidFill>
                  <a:srgbClr val="002060"/>
                </a:solidFill>
                <a:latin typeface="Kokila" pitchFamily="34" charset="0"/>
                <a:cs typeface="Kokila" pitchFamily="34" charset="0"/>
              </a:rPr>
              <a:t>क्रमशः</a:t>
            </a:r>
            <a:endParaRPr lang="en-US" sz="4000" b="1" dirty="0">
              <a:solidFill>
                <a:srgbClr val="002060"/>
              </a:solidFill>
              <a:latin typeface="Kokila" pitchFamily="34" charset="0"/>
              <a:cs typeface="Kokila" pitchFamily="34" charset="0"/>
            </a:endParaRPr>
          </a:p>
        </p:txBody>
      </p:sp>
    </p:spTree>
    <p:extLst>
      <p:ext uri="{BB962C8B-B14F-4D97-AF65-F5344CB8AC3E}">
        <p14:creationId xmlns:p14="http://schemas.microsoft.com/office/powerpoint/2010/main" xmlns="" val="3335822853"/>
      </p:ext>
    </p:extLst>
  </p:cSld>
  <p:clrMapOvr>
    <a:masterClrMapping/>
  </p:clrMapOvr>
  <p:transition>
    <p:split orient="vert" dir="in"/>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42109" y="1524000"/>
            <a:ext cx="10418617" cy="3810000"/>
          </a:xfrm>
        </p:spPr>
        <p:txBody>
          <a:bodyPr anchor="t">
            <a:noAutofit/>
          </a:bodyPr>
          <a:lstStyle/>
          <a:p>
            <a:pPr marL="0" indent="0">
              <a:buNone/>
            </a:pPr>
            <a:r>
              <a:rPr lang="ne-NP" sz="3200" b="1" dirty="0">
                <a:solidFill>
                  <a:srgbClr val="0070C0"/>
                </a:solidFill>
                <a:latin typeface="Kokila" pitchFamily="34" charset="0"/>
                <a:cs typeface="Kokila" pitchFamily="34" charset="0"/>
              </a:rPr>
              <a:t>पीडितले चाहेमा उपदफा (१) बमोजिमका कसूरको अनुसन्धान, तहकिकात र अदालती कारबाहीको सिलसिलामा पीडितसँग कुनै कागज गराउनु, बयान लिनु वा बकपत्र गराउनु परेमा देहाय बमोजिम गर्नु पर्नेछ :–</a:t>
            </a:r>
          </a:p>
          <a:p>
            <a:pPr marL="406400" indent="-406400"/>
            <a:r>
              <a:rPr lang="ne-NP" sz="3200" b="1" dirty="0">
                <a:solidFill>
                  <a:srgbClr val="0070C0"/>
                </a:solidFill>
                <a:latin typeface="Kokila" pitchFamily="34" charset="0"/>
                <a:cs typeface="Kokila" pitchFamily="34" charset="0"/>
              </a:rPr>
              <a:t>पीडितलाई निजको पहिचान नखुल्ने गरी प्रस्तुत गरेर,</a:t>
            </a:r>
          </a:p>
          <a:p>
            <a:pPr marL="406400" indent="-406400"/>
            <a:r>
              <a:rPr lang="ne-NP" sz="3200" b="1" dirty="0">
                <a:solidFill>
                  <a:srgbClr val="0070C0"/>
                </a:solidFill>
                <a:latin typeface="Kokila" pitchFamily="34" charset="0"/>
                <a:cs typeface="Kokila" pitchFamily="34" charset="0"/>
              </a:rPr>
              <a:t>पीडितको वास्तविक स्वर बदल्न दिएर,</a:t>
            </a:r>
          </a:p>
          <a:p>
            <a:pPr marL="406400" indent="-406400"/>
            <a:r>
              <a:rPr lang="ne-NP" sz="3200" b="1" dirty="0">
                <a:solidFill>
                  <a:srgbClr val="0070C0"/>
                </a:solidFill>
                <a:latin typeface="Kokila" pitchFamily="34" charset="0"/>
                <a:cs typeface="Kokila" pitchFamily="34" charset="0"/>
              </a:rPr>
              <a:t>अभियुक्तले देख्न सुन्न नपाउने किसिमले श्रव्यदृष्य संवाद प्रविधि प्रयोग गरेर,</a:t>
            </a:r>
          </a:p>
          <a:p>
            <a:pPr marL="406400" indent="-406400"/>
            <a:r>
              <a:rPr lang="ne-NP" sz="3200" b="1" dirty="0">
                <a:solidFill>
                  <a:srgbClr val="0070C0"/>
                </a:solidFill>
                <a:latin typeface="Kokila" pitchFamily="34" charset="0"/>
                <a:cs typeface="Kokila" pitchFamily="34" charset="0"/>
              </a:rPr>
              <a:t>अभियुक्तले देख्न वा सुन्न नपाउने गरी वा सुन्न मात्र पाउने व्यवस्था मिलाएर।</a:t>
            </a:r>
          </a:p>
        </p:txBody>
      </p:sp>
      <p:sp>
        <p:nvSpPr>
          <p:cNvPr id="5" name="Rectangle 4"/>
          <p:cNvSpPr/>
          <p:nvPr/>
        </p:nvSpPr>
        <p:spPr>
          <a:xfrm>
            <a:off x="2449976" y="360402"/>
            <a:ext cx="8980024" cy="707886"/>
          </a:xfrm>
          <a:prstGeom prst="rect">
            <a:avLst/>
          </a:prstGeom>
        </p:spPr>
        <p:txBody>
          <a:bodyPr wrap="square">
            <a:spAutoFit/>
          </a:bodyPr>
          <a:lstStyle/>
          <a:p>
            <a:pPr algn="r"/>
            <a:r>
              <a:rPr lang="ne-NP" sz="4000" b="1" dirty="0" smtClean="0">
                <a:solidFill>
                  <a:srgbClr val="002060"/>
                </a:solidFill>
                <a:latin typeface="Kokila" pitchFamily="34" charset="0"/>
                <a:cs typeface="Kokila" pitchFamily="34" charset="0"/>
              </a:rPr>
              <a:t>क्रमशः</a:t>
            </a:r>
            <a:endParaRPr lang="en-US" sz="4000" b="1" dirty="0">
              <a:solidFill>
                <a:srgbClr val="002060"/>
              </a:solidFill>
              <a:latin typeface="Kokila" pitchFamily="34" charset="0"/>
              <a:cs typeface="Kokila" pitchFamily="34" charset="0"/>
            </a:endParaRPr>
          </a:p>
        </p:txBody>
      </p:sp>
    </p:spTree>
    <p:extLst>
      <p:ext uri="{BB962C8B-B14F-4D97-AF65-F5344CB8AC3E}">
        <p14:creationId xmlns:p14="http://schemas.microsoft.com/office/powerpoint/2010/main" xmlns="" val="2716559346"/>
      </p:ext>
    </p:extLst>
  </p:cSld>
  <p:clrMapOvr>
    <a:masterClrMapping/>
  </p:clrMapOvr>
  <p:transition>
    <p:pull dir="l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8800" y="1600200"/>
            <a:ext cx="8503920" cy="4800600"/>
          </a:xfrm>
        </p:spPr>
        <p:txBody>
          <a:bodyPr anchor="t">
            <a:noAutofit/>
          </a:bodyPr>
          <a:lstStyle/>
          <a:p>
            <a:pPr marL="406400" indent="-406400" algn="just">
              <a:spcBef>
                <a:spcPts val="0"/>
              </a:spcBef>
              <a:buNone/>
            </a:pPr>
            <a:r>
              <a:rPr lang="ne-NP" sz="3200" b="1" dirty="0">
                <a:solidFill>
                  <a:srgbClr val="0070C0"/>
                </a:solidFill>
                <a:latin typeface="Kokila" pitchFamily="34" charset="0"/>
                <a:cs typeface="Kokila" pitchFamily="34" charset="0"/>
              </a:rPr>
              <a:t>दफा </a:t>
            </a:r>
            <a:r>
              <a:rPr lang="ne-NP" sz="3200" b="1" dirty="0" smtClean="0">
                <a:solidFill>
                  <a:srgbClr val="0070C0"/>
                </a:solidFill>
                <a:latin typeface="Kokila" pitchFamily="34" charset="0"/>
                <a:cs typeface="Kokila" pitchFamily="34" charset="0"/>
              </a:rPr>
              <a:t>१४- </a:t>
            </a:r>
            <a:r>
              <a:rPr lang="ne-NP" sz="3200" b="1" dirty="0">
                <a:solidFill>
                  <a:srgbClr val="0070C0"/>
                </a:solidFill>
                <a:latin typeface="Kokila" pitchFamily="34" charset="0"/>
                <a:cs typeface="Kokila" pitchFamily="34" charset="0"/>
              </a:rPr>
              <a:t>सुनुवाइको सिलसिलामा छुट्टै कक्षमा रहन पाउने अधिकार:</a:t>
            </a:r>
            <a:endParaRPr lang="en-US" sz="3200" b="1" dirty="0">
              <a:solidFill>
                <a:srgbClr val="0070C0"/>
              </a:solidFill>
              <a:latin typeface="Kokila" pitchFamily="34" charset="0"/>
              <a:cs typeface="Kokila" pitchFamily="34" charset="0"/>
            </a:endParaRPr>
          </a:p>
          <a:p>
            <a:pPr marL="566738" indent="-566738" algn="just">
              <a:buNone/>
            </a:pPr>
            <a:r>
              <a:rPr lang="ne-NP" sz="3200" b="1" dirty="0">
                <a:solidFill>
                  <a:srgbClr val="0070C0"/>
                </a:solidFill>
                <a:latin typeface="Kokila" pitchFamily="34" charset="0"/>
                <a:cs typeface="Kokila" pitchFamily="34" charset="0"/>
              </a:rPr>
              <a:t>(१) अदालतले कसूरको सुनुवाइको सिलसिलामा अभियुक्त, अभियुक्त सम्बद्ध व्यक्ति र अभियुक्तका साक्षीबाट पृथक रहने गरी पीडितको निमित्त छुट्टै कक्ष उपलब्ध गराउन सक्नेछ।</a:t>
            </a:r>
          </a:p>
          <a:p>
            <a:pPr marL="566738" indent="-566738" algn="just">
              <a:buNone/>
            </a:pPr>
            <a:r>
              <a:rPr lang="ne-NP" sz="3200" b="1" dirty="0">
                <a:solidFill>
                  <a:srgbClr val="0070C0"/>
                </a:solidFill>
                <a:latin typeface="Kokila" pitchFamily="34" charset="0"/>
                <a:cs typeface="Kokila" pitchFamily="34" charset="0"/>
              </a:rPr>
              <a:t>(२) उपदफा (१) बमोजिम छुट्टै कक्ष उपलब्ध गराउन सम्भव र व्यवहारिक नभएमा सुनुवाइ हुँदा अदालतले पीडितको सुरक्षा र हितको निमित्त पीडितसँग अभियुक्त, अभियुक्त सम्बद्ध व्यक्ति र अभियुक्तका साक्षीले अदालतले अन्यथा आदेश दिएकोमा बाहेक सम्पर्क गर्न नसक्ने आवश्यक व्यवस्था मिलाउनु पर्नेछ।</a:t>
            </a:r>
          </a:p>
        </p:txBody>
      </p:sp>
      <p:sp>
        <p:nvSpPr>
          <p:cNvPr id="5" name="Rectangle 4"/>
          <p:cNvSpPr/>
          <p:nvPr/>
        </p:nvSpPr>
        <p:spPr>
          <a:xfrm>
            <a:off x="1510145" y="360402"/>
            <a:ext cx="9919855" cy="707886"/>
          </a:xfrm>
          <a:prstGeom prst="rect">
            <a:avLst/>
          </a:prstGeom>
        </p:spPr>
        <p:txBody>
          <a:bodyPr wrap="square">
            <a:spAutoFit/>
          </a:bodyPr>
          <a:lstStyle/>
          <a:p>
            <a:pPr algn="r"/>
            <a:r>
              <a:rPr lang="ne-NP" sz="4000" b="1" dirty="0" smtClean="0">
                <a:solidFill>
                  <a:srgbClr val="002060"/>
                </a:solidFill>
                <a:latin typeface="Kokila" pitchFamily="34" charset="0"/>
                <a:cs typeface="Kokila" pitchFamily="34" charset="0"/>
              </a:rPr>
              <a:t>क्रमशः</a:t>
            </a:r>
            <a:endParaRPr lang="en-US" sz="4000" b="1" dirty="0">
              <a:solidFill>
                <a:srgbClr val="002060"/>
              </a:solidFill>
              <a:latin typeface="Kokila" pitchFamily="34" charset="0"/>
              <a:cs typeface="Kokila" pitchFamily="34" charset="0"/>
            </a:endParaRPr>
          </a:p>
        </p:txBody>
      </p:sp>
    </p:spTree>
    <p:extLst>
      <p:ext uri="{BB962C8B-B14F-4D97-AF65-F5344CB8AC3E}">
        <p14:creationId xmlns:p14="http://schemas.microsoft.com/office/powerpoint/2010/main" xmlns="" val="2148079109"/>
      </p:ext>
    </p:extLst>
  </p:cSld>
  <p:clrMapOvr>
    <a:masterClrMapping/>
  </p:clrMapOvr>
  <p:transition>
    <p:split orient="vert" dir="in"/>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7527" y="1103716"/>
            <a:ext cx="10155382" cy="5257800"/>
          </a:xfrm>
        </p:spPr>
        <p:txBody>
          <a:bodyPr anchor="t">
            <a:noAutofit/>
          </a:bodyPr>
          <a:lstStyle/>
          <a:p>
            <a:pPr marL="566738" indent="-566738" algn="just">
              <a:buNone/>
            </a:pPr>
            <a:r>
              <a:rPr lang="ne-NP" sz="2400" b="1" dirty="0">
                <a:solidFill>
                  <a:srgbClr val="0070C0"/>
                </a:solidFill>
                <a:latin typeface="Kokila" pitchFamily="34" charset="0"/>
                <a:cs typeface="Kokila" pitchFamily="34" charset="0"/>
              </a:rPr>
              <a:t>दफा ३.  व्यक्तिको शारीरिक तथा निजी जीवनको </a:t>
            </a:r>
            <a:r>
              <a:rPr lang="ne-NP" sz="2400" b="1" dirty="0" smtClean="0">
                <a:solidFill>
                  <a:srgbClr val="0070C0"/>
                </a:solidFill>
                <a:latin typeface="Kokila" pitchFamily="34" charset="0"/>
                <a:cs typeface="Kokila" pitchFamily="34" charset="0"/>
              </a:rPr>
              <a:t>गोपनीयता </a:t>
            </a:r>
            <a:endParaRPr lang="ne-NP" sz="2400" b="1" dirty="0">
              <a:solidFill>
                <a:srgbClr val="0070C0"/>
              </a:solidFill>
              <a:latin typeface="Kokila" pitchFamily="34" charset="0"/>
              <a:cs typeface="Kokila" pitchFamily="34" charset="0"/>
            </a:endParaRPr>
          </a:p>
          <a:p>
            <a:pPr marL="566738" indent="-566738" algn="just">
              <a:buNone/>
            </a:pPr>
            <a:r>
              <a:rPr lang="ne-NP" sz="2400" b="1" dirty="0">
                <a:solidFill>
                  <a:srgbClr val="0070C0"/>
                </a:solidFill>
                <a:latin typeface="Kokila" pitchFamily="34" charset="0"/>
                <a:cs typeface="Kokila" pitchFamily="34" charset="0"/>
              </a:rPr>
              <a:t>दफा ४.  पारिवारिक गोपनीयता </a:t>
            </a:r>
            <a:r>
              <a:rPr lang="ne-NP" sz="2400" b="1" dirty="0" smtClean="0">
                <a:solidFill>
                  <a:srgbClr val="0070C0"/>
                </a:solidFill>
                <a:latin typeface="Kokila" pitchFamily="34" charset="0"/>
                <a:cs typeface="Kokila" pitchFamily="34" charset="0"/>
              </a:rPr>
              <a:t>हुने</a:t>
            </a:r>
            <a:endParaRPr lang="ne-NP" sz="2400" b="1" dirty="0">
              <a:solidFill>
                <a:srgbClr val="0070C0"/>
              </a:solidFill>
              <a:latin typeface="Kokila" pitchFamily="34" charset="0"/>
              <a:cs typeface="Kokila" pitchFamily="34" charset="0"/>
            </a:endParaRPr>
          </a:p>
          <a:p>
            <a:pPr marL="566738" indent="-566738" algn="just">
              <a:buNone/>
            </a:pPr>
            <a:r>
              <a:rPr lang="ne-NP" sz="2400" b="1" dirty="0">
                <a:solidFill>
                  <a:srgbClr val="0070C0"/>
                </a:solidFill>
                <a:latin typeface="Kokila" pitchFamily="34" charset="0"/>
                <a:cs typeface="Kokila" pitchFamily="34" charset="0"/>
              </a:rPr>
              <a:t>दफा ५.  शरीरको तलासी लिन </a:t>
            </a:r>
            <a:r>
              <a:rPr lang="ne-NP" sz="2400" b="1" dirty="0" smtClean="0">
                <a:solidFill>
                  <a:srgbClr val="0070C0"/>
                </a:solidFill>
                <a:latin typeface="Kokila" pitchFamily="34" charset="0"/>
                <a:cs typeface="Kokila" pitchFamily="34" charset="0"/>
              </a:rPr>
              <a:t>नहुने </a:t>
            </a:r>
            <a:endParaRPr lang="ne-NP" sz="2400" b="1" dirty="0">
              <a:solidFill>
                <a:srgbClr val="0070C0"/>
              </a:solidFill>
              <a:latin typeface="Kokila" pitchFamily="34" charset="0"/>
              <a:cs typeface="Kokila" pitchFamily="34" charset="0"/>
            </a:endParaRPr>
          </a:p>
          <a:p>
            <a:pPr marL="566738" indent="-566738" algn="just">
              <a:buNone/>
            </a:pPr>
            <a:r>
              <a:rPr lang="ne-NP" sz="2400" b="1" dirty="0">
                <a:solidFill>
                  <a:srgbClr val="0070C0"/>
                </a:solidFill>
                <a:latin typeface="Kokila" pitchFamily="34" charset="0"/>
                <a:cs typeface="Kokila" pitchFamily="34" charset="0"/>
              </a:rPr>
              <a:t>दफा ६.  प्रजनन स्वास्थ्य र गर्भावस्था सम्बन्धी </a:t>
            </a:r>
            <a:r>
              <a:rPr lang="ne-NP" sz="2400" b="1" dirty="0" smtClean="0">
                <a:solidFill>
                  <a:srgbClr val="0070C0"/>
                </a:solidFill>
                <a:latin typeface="Kokila" pitchFamily="34" charset="0"/>
                <a:cs typeface="Kokila" pitchFamily="34" charset="0"/>
              </a:rPr>
              <a:t>गोपनीयता</a:t>
            </a:r>
            <a:endParaRPr lang="ne-NP" sz="2400" b="1" dirty="0">
              <a:solidFill>
                <a:srgbClr val="0070C0"/>
              </a:solidFill>
              <a:latin typeface="Kokila" pitchFamily="34" charset="0"/>
              <a:cs typeface="Kokila" pitchFamily="34" charset="0"/>
            </a:endParaRPr>
          </a:p>
          <a:p>
            <a:pPr marL="566738" indent="-566738" algn="just">
              <a:buNone/>
            </a:pPr>
            <a:r>
              <a:rPr lang="ne-NP" sz="2400" b="1" dirty="0">
                <a:solidFill>
                  <a:srgbClr val="0070C0"/>
                </a:solidFill>
                <a:latin typeface="Kokila" pitchFamily="34" charset="0"/>
                <a:cs typeface="Kokila" pitchFamily="34" charset="0"/>
              </a:rPr>
              <a:t>दफा ७.  आवासको गोपनीयता </a:t>
            </a:r>
            <a:r>
              <a:rPr lang="ne-NP" sz="2400" b="1" dirty="0" smtClean="0">
                <a:solidFill>
                  <a:srgbClr val="0070C0"/>
                </a:solidFill>
                <a:latin typeface="Kokila" pitchFamily="34" charset="0"/>
                <a:cs typeface="Kokila" pitchFamily="34" charset="0"/>
              </a:rPr>
              <a:t>हुने</a:t>
            </a:r>
            <a:endParaRPr lang="ne-NP" sz="2400" b="1" dirty="0">
              <a:solidFill>
                <a:srgbClr val="0070C0"/>
              </a:solidFill>
              <a:latin typeface="Kokila" pitchFamily="34" charset="0"/>
              <a:cs typeface="Kokila" pitchFamily="34" charset="0"/>
            </a:endParaRPr>
          </a:p>
          <a:p>
            <a:pPr marL="566738" indent="-566738" algn="just">
              <a:buNone/>
            </a:pPr>
            <a:r>
              <a:rPr lang="ne-NP" sz="2400" b="1" dirty="0">
                <a:solidFill>
                  <a:srgbClr val="0070C0"/>
                </a:solidFill>
                <a:latin typeface="Kokila" pitchFamily="34" charset="0"/>
                <a:cs typeface="Kokila" pitchFamily="34" charset="0"/>
              </a:rPr>
              <a:t>दफा ८.  आवासमा प्रवेश गर्दा सूचना दिनु </a:t>
            </a:r>
            <a:r>
              <a:rPr lang="ne-NP" sz="2400" b="1" dirty="0" smtClean="0">
                <a:solidFill>
                  <a:srgbClr val="0070C0"/>
                </a:solidFill>
                <a:latin typeface="Kokila" pitchFamily="34" charset="0"/>
                <a:cs typeface="Kokila" pitchFamily="34" charset="0"/>
              </a:rPr>
              <a:t>पर्ने</a:t>
            </a:r>
            <a:endParaRPr lang="ne-NP" sz="2400" b="1" dirty="0">
              <a:solidFill>
                <a:srgbClr val="0070C0"/>
              </a:solidFill>
              <a:latin typeface="Kokila" pitchFamily="34" charset="0"/>
              <a:cs typeface="Kokila" pitchFamily="34" charset="0"/>
            </a:endParaRPr>
          </a:p>
          <a:p>
            <a:pPr marL="566738" indent="-566738" algn="just">
              <a:buNone/>
            </a:pPr>
            <a:r>
              <a:rPr lang="ne-NP" sz="2400" b="1" dirty="0">
                <a:solidFill>
                  <a:srgbClr val="0070C0"/>
                </a:solidFill>
                <a:latin typeface="Kokila" pitchFamily="34" charset="0"/>
                <a:cs typeface="Kokila" pitchFamily="34" charset="0"/>
              </a:rPr>
              <a:t>दफा ९.  आवासमा सिसिटिभि क्यामेरा जडान गर्न </a:t>
            </a:r>
            <a:r>
              <a:rPr lang="ne-NP" sz="2400" b="1" dirty="0" smtClean="0">
                <a:solidFill>
                  <a:srgbClr val="0070C0"/>
                </a:solidFill>
                <a:latin typeface="Kokila" pitchFamily="34" charset="0"/>
                <a:cs typeface="Kokila" pitchFamily="34" charset="0"/>
              </a:rPr>
              <a:t>नहुने </a:t>
            </a:r>
            <a:endParaRPr lang="ne-NP" sz="2400" b="1" dirty="0">
              <a:solidFill>
                <a:srgbClr val="0070C0"/>
              </a:solidFill>
              <a:latin typeface="Kokila" pitchFamily="34" charset="0"/>
              <a:cs typeface="Kokila" pitchFamily="34" charset="0"/>
            </a:endParaRPr>
          </a:p>
          <a:p>
            <a:pPr marL="566738" indent="-566738" algn="just">
              <a:buNone/>
            </a:pPr>
            <a:r>
              <a:rPr lang="ne-NP" sz="2400" b="1" dirty="0">
                <a:solidFill>
                  <a:srgbClr val="0070C0"/>
                </a:solidFill>
                <a:latin typeface="Kokila" pitchFamily="34" charset="0"/>
                <a:cs typeface="Kokila" pitchFamily="34" charset="0"/>
              </a:rPr>
              <a:t>दफा १०. सम्पत्तिको गोपनीयता </a:t>
            </a:r>
            <a:r>
              <a:rPr lang="ne-NP" sz="2400" b="1" dirty="0" smtClean="0">
                <a:solidFill>
                  <a:srgbClr val="0070C0"/>
                </a:solidFill>
                <a:latin typeface="Kokila" pitchFamily="34" charset="0"/>
                <a:cs typeface="Kokila" pitchFamily="34" charset="0"/>
              </a:rPr>
              <a:t>हुने</a:t>
            </a:r>
            <a:endParaRPr lang="ne-NP" sz="2400" b="1" dirty="0">
              <a:solidFill>
                <a:srgbClr val="0070C0"/>
              </a:solidFill>
              <a:latin typeface="Kokila" pitchFamily="34" charset="0"/>
              <a:cs typeface="Kokila" pitchFamily="34" charset="0"/>
            </a:endParaRPr>
          </a:p>
          <a:p>
            <a:pPr marL="566738" indent="-566738" algn="just">
              <a:buNone/>
            </a:pPr>
            <a:r>
              <a:rPr lang="ne-NP" sz="2400" b="1" dirty="0">
                <a:solidFill>
                  <a:srgbClr val="0070C0"/>
                </a:solidFill>
                <a:latin typeface="Kokila" pitchFamily="34" charset="0"/>
                <a:cs typeface="Kokila" pitchFamily="34" charset="0"/>
              </a:rPr>
              <a:t>दफा ११. लिखतको गोपनीयता </a:t>
            </a:r>
            <a:r>
              <a:rPr lang="ne-NP" sz="2400" b="1" dirty="0" smtClean="0">
                <a:solidFill>
                  <a:srgbClr val="0070C0"/>
                </a:solidFill>
                <a:latin typeface="Kokila" pitchFamily="34" charset="0"/>
                <a:cs typeface="Kokila" pitchFamily="34" charset="0"/>
              </a:rPr>
              <a:t>हुने </a:t>
            </a:r>
            <a:endParaRPr lang="ne-NP" sz="2400" b="1" dirty="0">
              <a:solidFill>
                <a:srgbClr val="0070C0"/>
              </a:solidFill>
              <a:latin typeface="Kokila" pitchFamily="34" charset="0"/>
              <a:cs typeface="Kokila" pitchFamily="34" charset="0"/>
            </a:endParaRPr>
          </a:p>
          <a:p>
            <a:pPr marL="566738" indent="-566738" algn="just">
              <a:buNone/>
            </a:pPr>
            <a:r>
              <a:rPr lang="ne-NP" sz="2400" b="1" dirty="0">
                <a:solidFill>
                  <a:srgbClr val="0070C0"/>
                </a:solidFill>
                <a:latin typeface="Kokila" pitchFamily="34" charset="0"/>
                <a:cs typeface="Kokila" pitchFamily="34" charset="0"/>
              </a:rPr>
              <a:t>दफा १२. तथ्याङ्कको गोपनीयता </a:t>
            </a:r>
            <a:r>
              <a:rPr lang="ne-NP" sz="2400" b="1" dirty="0" smtClean="0">
                <a:solidFill>
                  <a:srgbClr val="0070C0"/>
                </a:solidFill>
                <a:latin typeface="Kokila" pitchFamily="34" charset="0"/>
                <a:cs typeface="Kokila" pitchFamily="34" charset="0"/>
              </a:rPr>
              <a:t>हुने</a:t>
            </a:r>
            <a:endParaRPr lang="ne-NP" sz="2400" b="1" dirty="0">
              <a:solidFill>
                <a:srgbClr val="0070C0"/>
              </a:solidFill>
              <a:latin typeface="Kokila" pitchFamily="34" charset="0"/>
              <a:cs typeface="Kokila" pitchFamily="34" charset="0"/>
            </a:endParaRPr>
          </a:p>
          <a:p>
            <a:pPr marL="566738" indent="-566738" algn="just">
              <a:buNone/>
            </a:pPr>
            <a:r>
              <a:rPr lang="ne-NP" sz="2400" b="1" dirty="0">
                <a:solidFill>
                  <a:srgbClr val="0070C0"/>
                </a:solidFill>
                <a:latin typeface="Kokila" pitchFamily="34" charset="0"/>
                <a:cs typeface="Kokila" pitchFamily="34" charset="0"/>
              </a:rPr>
              <a:t>दफा १३. पत्राचारको गोपनीयता </a:t>
            </a:r>
            <a:r>
              <a:rPr lang="ne-NP" sz="2400" b="1" dirty="0" smtClean="0">
                <a:solidFill>
                  <a:srgbClr val="0070C0"/>
                </a:solidFill>
                <a:latin typeface="Kokila" pitchFamily="34" charset="0"/>
                <a:cs typeface="Kokila" pitchFamily="34" charset="0"/>
              </a:rPr>
              <a:t>हुने</a:t>
            </a:r>
            <a:endParaRPr lang="ne-NP" sz="2400" b="1" dirty="0">
              <a:solidFill>
                <a:srgbClr val="0070C0"/>
              </a:solidFill>
              <a:latin typeface="Kokila" pitchFamily="34" charset="0"/>
              <a:cs typeface="Kokila" pitchFamily="34" charset="0"/>
            </a:endParaRPr>
          </a:p>
          <a:p>
            <a:pPr marL="566738" indent="-566738" algn="just">
              <a:buNone/>
            </a:pPr>
            <a:r>
              <a:rPr lang="ne-NP" sz="2400" b="1" dirty="0">
                <a:solidFill>
                  <a:srgbClr val="0070C0"/>
                </a:solidFill>
                <a:latin typeface="Kokila" pitchFamily="34" charset="0"/>
                <a:cs typeface="Kokila" pitchFamily="34" charset="0"/>
              </a:rPr>
              <a:t>दफा १४. चिठ्ठीपत्र खोल्न </a:t>
            </a:r>
            <a:r>
              <a:rPr lang="ne-NP" sz="2400" b="1" dirty="0" smtClean="0">
                <a:solidFill>
                  <a:srgbClr val="0070C0"/>
                </a:solidFill>
                <a:latin typeface="Kokila" pitchFamily="34" charset="0"/>
                <a:cs typeface="Kokila" pitchFamily="34" charset="0"/>
              </a:rPr>
              <a:t>नहुने</a:t>
            </a:r>
            <a:endParaRPr lang="ne-NP" sz="2400" b="1" dirty="0">
              <a:solidFill>
                <a:srgbClr val="0070C0"/>
              </a:solidFill>
              <a:latin typeface="Kokila" pitchFamily="34" charset="0"/>
              <a:cs typeface="Kokila" pitchFamily="34" charset="0"/>
            </a:endParaRPr>
          </a:p>
        </p:txBody>
      </p:sp>
      <p:sp>
        <p:nvSpPr>
          <p:cNvPr id="4" name="Rectangle 3"/>
          <p:cNvSpPr/>
          <p:nvPr/>
        </p:nvSpPr>
        <p:spPr>
          <a:xfrm>
            <a:off x="1108364" y="180110"/>
            <a:ext cx="8928077" cy="830997"/>
          </a:xfrm>
          <a:prstGeom prst="rect">
            <a:avLst/>
          </a:prstGeom>
        </p:spPr>
        <p:txBody>
          <a:bodyPr wrap="square">
            <a:spAutoFit/>
          </a:bodyPr>
          <a:lstStyle/>
          <a:p>
            <a:r>
              <a:rPr lang="ne-NP" sz="4800" b="1" dirty="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rPr>
              <a:t>वैयक्तिक गोपनीयता सम्बन्धी ऐन</a:t>
            </a:r>
            <a:r>
              <a:rPr lang="en-US" sz="4800" b="1" dirty="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rPr>
              <a:t>,</a:t>
            </a:r>
            <a:r>
              <a:rPr lang="ne-NP" sz="4800" b="1" dirty="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rPr>
              <a:t> </a:t>
            </a:r>
            <a:r>
              <a:rPr lang="ne-NP" sz="4800" b="1" dirty="0" smtClean="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rPr>
              <a:t>२०७५</a:t>
            </a:r>
            <a:endParaRPr lang="en-US" sz="4800" b="1" dirty="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endParaRPr>
          </a:p>
        </p:txBody>
      </p:sp>
    </p:spTree>
    <p:extLst>
      <p:ext uri="{BB962C8B-B14F-4D97-AF65-F5344CB8AC3E}">
        <p14:creationId xmlns:p14="http://schemas.microsoft.com/office/powerpoint/2010/main" xmlns="" val="2270026358"/>
      </p:ext>
    </p:extLst>
  </p:cSld>
  <p:clrMapOvr>
    <a:masterClrMapping/>
  </p:clrMapOvr>
  <p:transition>
    <p:pull dir="l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9927" y="798828"/>
            <a:ext cx="10002982" cy="5410200"/>
          </a:xfrm>
        </p:spPr>
        <p:txBody>
          <a:bodyPr anchor="t">
            <a:noAutofit/>
          </a:bodyPr>
          <a:lstStyle/>
          <a:p>
            <a:pPr marL="566738" indent="-566738" algn="just">
              <a:lnSpc>
                <a:spcPts val="2800"/>
              </a:lnSpc>
              <a:buNone/>
            </a:pPr>
            <a:r>
              <a:rPr lang="ne-NP" sz="2400" b="1" dirty="0">
                <a:solidFill>
                  <a:srgbClr val="0070C0"/>
                </a:solidFill>
                <a:latin typeface="Kokila" pitchFamily="34" charset="0"/>
                <a:cs typeface="Kokila" pitchFamily="34" charset="0"/>
              </a:rPr>
              <a:t>दफा १५. चरित्रको गोपनीयता </a:t>
            </a:r>
            <a:r>
              <a:rPr lang="ne-NP" sz="2400" b="1" dirty="0" smtClean="0">
                <a:solidFill>
                  <a:srgbClr val="0070C0"/>
                </a:solidFill>
                <a:latin typeface="Kokila" pitchFamily="34" charset="0"/>
                <a:cs typeface="Kokila" pitchFamily="34" charset="0"/>
              </a:rPr>
              <a:t>हुने </a:t>
            </a:r>
            <a:endParaRPr lang="ne-NP" sz="2400" b="1" dirty="0">
              <a:solidFill>
                <a:srgbClr val="0070C0"/>
              </a:solidFill>
              <a:latin typeface="Kokila" pitchFamily="34" charset="0"/>
              <a:cs typeface="Kokila" pitchFamily="34" charset="0"/>
            </a:endParaRPr>
          </a:p>
          <a:p>
            <a:pPr marL="566738" indent="-566738" algn="just">
              <a:lnSpc>
                <a:spcPts val="2800"/>
              </a:lnSpc>
              <a:buNone/>
            </a:pPr>
            <a:r>
              <a:rPr lang="ne-NP" sz="2400" b="1" dirty="0">
                <a:solidFill>
                  <a:srgbClr val="0070C0"/>
                </a:solidFill>
                <a:latin typeface="Kokila" pitchFamily="34" charset="0"/>
                <a:cs typeface="Kokila" pitchFamily="34" charset="0"/>
              </a:rPr>
              <a:t>दफा १६. तस्विर खिच्न वा बिक्री गर्न </a:t>
            </a:r>
            <a:r>
              <a:rPr lang="ne-NP" sz="2400" b="1" dirty="0" smtClean="0">
                <a:solidFill>
                  <a:srgbClr val="0070C0"/>
                </a:solidFill>
                <a:latin typeface="Kokila" pitchFamily="34" charset="0"/>
                <a:cs typeface="Kokila" pitchFamily="34" charset="0"/>
              </a:rPr>
              <a:t>नहुने </a:t>
            </a:r>
            <a:endParaRPr lang="ne-NP" sz="2400" b="1" dirty="0">
              <a:solidFill>
                <a:srgbClr val="0070C0"/>
              </a:solidFill>
              <a:latin typeface="Kokila" pitchFamily="34" charset="0"/>
              <a:cs typeface="Kokila" pitchFamily="34" charset="0"/>
            </a:endParaRPr>
          </a:p>
          <a:p>
            <a:pPr marL="566738" indent="-566738" algn="just">
              <a:lnSpc>
                <a:spcPts val="2800"/>
              </a:lnSpc>
              <a:buNone/>
            </a:pPr>
            <a:r>
              <a:rPr lang="ne-NP" sz="2400" b="1" dirty="0">
                <a:solidFill>
                  <a:srgbClr val="0070C0"/>
                </a:solidFill>
                <a:latin typeface="Kokila" pitchFamily="34" charset="0"/>
                <a:cs typeface="Kokila" pitchFamily="34" charset="0"/>
              </a:rPr>
              <a:t>दफा १७. अनुसन्धानको सिलसिलामा रहेको व्यक्तिलाई सार्वजनिक गर्न </a:t>
            </a:r>
            <a:r>
              <a:rPr lang="ne-NP" sz="2400" b="1" dirty="0" smtClean="0">
                <a:solidFill>
                  <a:srgbClr val="0070C0"/>
                </a:solidFill>
                <a:latin typeface="Kokila" pitchFamily="34" charset="0"/>
                <a:cs typeface="Kokila" pitchFamily="34" charset="0"/>
              </a:rPr>
              <a:t>नहुने </a:t>
            </a:r>
            <a:endParaRPr lang="ne-NP" sz="2400" b="1" dirty="0">
              <a:solidFill>
                <a:srgbClr val="0070C0"/>
              </a:solidFill>
              <a:latin typeface="Kokila" pitchFamily="34" charset="0"/>
              <a:cs typeface="Kokila" pitchFamily="34" charset="0"/>
            </a:endParaRPr>
          </a:p>
          <a:p>
            <a:pPr marL="566738" indent="-566738" algn="just">
              <a:lnSpc>
                <a:spcPts val="2800"/>
              </a:lnSpc>
              <a:buNone/>
            </a:pPr>
            <a:r>
              <a:rPr lang="ne-NP" sz="2400" b="1" dirty="0">
                <a:solidFill>
                  <a:srgbClr val="0070C0"/>
                </a:solidFill>
                <a:latin typeface="Kokila" pitchFamily="34" charset="0"/>
                <a:cs typeface="Kokila" pitchFamily="34" charset="0"/>
              </a:rPr>
              <a:t>दफा १८. गोप्य कुरा प्रकट गर्न </a:t>
            </a:r>
            <a:r>
              <a:rPr lang="ne-NP" sz="2400" b="1" dirty="0" smtClean="0">
                <a:solidFill>
                  <a:srgbClr val="0070C0"/>
                </a:solidFill>
                <a:latin typeface="Kokila" pitchFamily="34" charset="0"/>
                <a:cs typeface="Kokila" pitchFamily="34" charset="0"/>
              </a:rPr>
              <a:t>नहुने</a:t>
            </a:r>
            <a:endParaRPr lang="ne-NP" sz="2400" b="1" dirty="0">
              <a:solidFill>
                <a:srgbClr val="0070C0"/>
              </a:solidFill>
              <a:latin typeface="Kokila" pitchFamily="34" charset="0"/>
              <a:cs typeface="Kokila" pitchFamily="34" charset="0"/>
            </a:endParaRPr>
          </a:p>
          <a:p>
            <a:pPr marL="566738" indent="-566738" algn="just">
              <a:lnSpc>
                <a:spcPts val="2800"/>
              </a:lnSpc>
              <a:buNone/>
            </a:pPr>
            <a:r>
              <a:rPr lang="ne-NP" sz="2400" b="1" dirty="0">
                <a:solidFill>
                  <a:srgbClr val="0070C0"/>
                </a:solidFill>
                <a:latin typeface="Kokila" pitchFamily="34" charset="0"/>
                <a:cs typeface="Kokila" pitchFamily="34" charset="0"/>
              </a:rPr>
              <a:t>दफा १९. विद्युतीय माध्यमको गोपनीयता </a:t>
            </a:r>
            <a:r>
              <a:rPr lang="ne-NP" sz="2400" b="1" dirty="0" smtClean="0">
                <a:solidFill>
                  <a:srgbClr val="0070C0"/>
                </a:solidFill>
                <a:latin typeface="Kokila" pitchFamily="34" charset="0"/>
                <a:cs typeface="Kokila" pitchFamily="34" charset="0"/>
              </a:rPr>
              <a:t>हुने</a:t>
            </a:r>
            <a:endParaRPr lang="ne-NP" sz="2400" b="1" dirty="0">
              <a:solidFill>
                <a:srgbClr val="0070C0"/>
              </a:solidFill>
              <a:latin typeface="Kokila" pitchFamily="34" charset="0"/>
              <a:cs typeface="Kokila" pitchFamily="34" charset="0"/>
            </a:endParaRPr>
          </a:p>
          <a:p>
            <a:pPr marL="566738" indent="-566738" algn="just">
              <a:lnSpc>
                <a:spcPts val="2800"/>
              </a:lnSpc>
              <a:buNone/>
            </a:pPr>
            <a:r>
              <a:rPr lang="ne-NP" sz="2400" b="1" dirty="0">
                <a:solidFill>
                  <a:srgbClr val="0070C0"/>
                </a:solidFill>
                <a:latin typeface="Kokila" pitchFamily="34" charset="0"/>
                <a:cs typeface="Kokila" pitchFamily="34" charset="0"/>
              </a:rPr>
              <a:t>दफा २०. सार्वजनिक स्थलमा सिसिटिभि क्यामेरा जडान गर्ने </a:t>
            </a:r>
            <a:r>
              <a:rPr lang="ne-NP" sz="2400" b="1" dirty="0" smtClean="0">
                <a:solidFill>
                  <a:srgbClr val="0070C0"/>
                </a:solidFill>
                <a:latin typeface="Kokila" pitchFamily="34" charset="0"/>
                <a:cs typeface="Kokila" pitchFamily="34" charset="0"/>
              </a:rPr>
              <a:t>सम्बन्धमा</a:t>
            </a:r>
            <a:endParaRPr lang="ne-NP" sz="2400" b="1" dirty="0">
              <a:solidFill>
                <a:srgbClr val="0070C0"/>
              </a:solidFill>
              <a:latin typeface="Kokila" pitchFamily="34" charset="0"/>
              <a:cs typeface="Kokila" pitchFamily="34" charset="0"/>
            </a:endParaRPr>
          </a:p>
          <a:p>
            <a:pPr marL="566738" indent="-566738" algn="just">
              <a:lnSpc>
                <a:spcPts val="2800"/>
              </a:lnSpc>
              <a:buNone/>
            </a:pPr>
            <a:r>
              <a:rPr lang="ne-NP" sz="2400" b="1" dirty="0">
                <a:solidFill>
                  <a:srgbClr val="0070C0"/>
                </a:solidFill>
                <a:latin typeface="Kokila" pitchFamily="34" charset="0"/>
                <a:cs typeface="Kokila" pitchFamily="34" charset="0"/>
              </a:rPr>
              <a:t>दफा २१. निगरानी वा जासुसी गर्न </a:t>
            </a:r>
            <a:r>
              <a:rPr lang="ne-NP" sz="2400" b="1" dirty="0" smtClean="0">
                <a:solidFill>
                  <a:srgbClr val="0070C0"/>
                </a:solidFill>
                <a:latin typeface="Kokila" pitchFamily="34" charset="0"/>
                <a:cs typeface="Kokila" pitchFamily="34" charset="0"/>
              </a:rPr>
              <a:t>नहुने </a:t>
            </a:r>
            <a:endParaRPr lang="ne-NP" sz="2400" b="1" dirty="0">
              <a:solidFill>
                <a:srgbClr val="0070C0"/>
              </a:solidFill>
              <a:latin typeface="Kokila" pitchFamily="34" charset="0"/>
              <a:cs typeface="Kokila" pitchFamily="34" charset="0"/>
            </a:endParaRPr>
          </a:p>
          <a:p>
            <a:pPr marL="566738" indent="-566738" algn="just">
              <a:lnSpc>
                <a:spcPts val="2800"/>
              </a:lnSpc>
              <a:buNone/>
            </a:pPr>
            <a:r>
              <a:rPr lang="ne-NP" sz="2400" b="1" dirty="0">
                <a:solidFill>
                  <a:srgbClr val="0070C0"/>
                </a:solidFill>
                <a:latin typeface="Kokila" pitchFamily="34" charset="0"/>
                <a:cs typeface="Kokila" pitchFamily="34" charset="0"/>
              </a:rPr>
              <a:t>दफा २२. ड्रोन प्रयोग गर्न </a:t>
            </a:r>
            <a:r>
              <a:rPr lang="ne-NP" sz="2400" b="1" dirty="0" smtClean="0">
                <a:solidFill>
                  <a:srgbClr val="0070C0"/>
                </a:solidFill>
                <a:latin typeface="Kokila" pitchFamily="34" charset="0"/>
                <a:cs typeface="Kokila" pitchFamily="34" charset="0"/>
              </a:rPr>
              <a:t>नहुने </a:t>
            </a:r>
            <a:endParaRPr lang="ne-NP" sz="2400" b="1" dirty="0">
              <a:solidFill>
                <a:srgbClr val="0070C0"/>
              </a:solidFill>
              <a:latin typeface="Kokila" pitchFamily="34" charset="0"/>
              <a:cs typeface="Kokila" pitchFamily="34" charset="0"/>
            </a:endParaRPr>
          </a:p>
          <a:p>
            <a:pPr marL="566738" indent="-566738" algn="just">
              <a:lnSpc>
                <a:spcPts val="2800"/>
              </a:lnSpc>
              <a:buNone/>
            </a:pPr>
            <a:r>
              <a:rPr lang="ne-NP" sz="2400" b="1" dirty="0">
                <a:solidFill>
                  <a:srgbClr val="0070C0"/>
                </a:solidFill>
                <a:latin typeface="Kokila" pitchFamily="34" charset="0"/>
                <a:cs typeface="Kokila" pitchFamily="34" charset="0"/>
              </a:rPr>
              <a:t>दफा २३. कानून बमोजिम बाहेक वैयक्तिक सूचना सङ्कलन गर्न </a:t>
            </a:r>
            <a:r>
              <a:rPr lang="ne-NP" sz="2400" b="1" dirty="0" smtClean="0">
                <a:solidFill>
                  <a:srgbClr val="0070C0"/>
                </a:solidFill>
                <a:latin typeface="Kokila" pitchFamily="34" charset="0"/>
                <a:cs typeface="Kokila" pitchFamily="34" charset="0"/>
              </a:rPr>
              <a:t>नहुने</a:t>
            </a:r>
            <a:endParaRPr lang="ne-NP" sz="2400" b="1" dirty="0">
              <a:solidFill>
                <a:srgbClr val="0070C0"/>
              </a:solidFill>
              <a:latin typeface="Kokila" pitchFamily="34" charset="0"/>
              <a:cs typeface="Kokila" pitchFamily="34" charset="0"/>
            </a:endParaRPr>
          </a:p>
          <a:p>
            <a:pPr marL="566738" indent="-566738" algn="just">
              <a:lnSpc>
                <a:spcPts val="2800"/>
              </a:lnSpc>
              <a:buNone/>
            </a:pPr>
            <a:r>
              <a:rPr lang="ne-NP" sz="2400" b="1" dirty="0">
                <a:solidFill>
                  <a:srgbClr val="0070C0"/>
                </a:solidFill>
                <a:latin typeface="Kokila" pitchFamily="34" charset="0"/>
                <a:cs typeface="Kokila" pitchFamily="34" charset="0"/>
              </a:rPr>
              <a:t>दफा २४. वैयक्तिक सूचना </a:t>
            </a:r>
            <a:r>
              <a:rPr lang="ne-NP" sz="2400" b="1" dirty="0" smtClean="0">
                <a:solidFill>
                  <a:srgbClr val="0070C0"/>
                </a:solidFill>
                <a:latin typeface="Kokila" pitchFamily="34" charset="0"/>
                <a:cs typeface="Kokila" pitchFamily="34" charset="0"/>
              </a:rPr>
              <a:t>नमानिने</a:t>
            </a:r>
            <a:endParaRPr lang="ne-NP" sz="2400" b="1" dirty="0">
              <a:solidFill>
                <a:srgbClr val="0070C0"/>
              </a:solidFill>
              <a:latin typeface="Kokila" pitchFamily="34" charset="0"/>
              <a:cs typeface="Kokila" pitchFamily="34" charset="0"/>
            </a:endParaRPr>
          </a:p>
          <a:p>
            <a:pPr marL="566738" indent="-566738" algn="just">
              <a:lnSpc>
                <a:spcPts val="2800"/>
              </a:lnSpc>
              <a:buNone/>
            </a:pPr>
            <a:r>
              <a:rPr lang="ne-NP" sz="2400" b="1" dirty="0">
                <a:solidFill>
                  <a:srgbClr val="0070C0"/>
                </a:solidFill>
                <a:latin typeface="Kokila" pitchFamily="34" charset="0"/>
                <a:cs typeface="Kokila" pitchFamily="34" charset="0"/>
              </a:rPr>
              <a:t>दफा २५. सङ्कलित सूचनाको </a:t>
            </a:r>
            <a:r>
              <a:rPr lang="ne-NP" sz="2400" b="1" dirty="0" smtClean="0">
                <a:solidFill>
                  <a:srgbClr val="0070C0"/>
                </a:solidFill>
                <a:latin typeface="Kokila" pitchFamily="34" charset="0"/>
                <a:cs typeface="Kokila" pitchFamily="34" charset="0"/>
              </a:rPr>
              <a:t>संरक्षण</a:t>
            </a:r>
            <a:endParaRPr lang="ne-NP" sz="2400" b="1" dirty="0">
              <a:solidFill>
                <a:srgbClr val="0070C0"/>
              </a:solidFill>
              <a:latin typeface="Kokila" pitchFamily="34" charset="0"/>
              <a:cs typeface="Kokila" pitchFamily="34" charset="0"/>
            </a:endParaRPr>
          </a:p>
          <a:p>
            <a:pPr marL="566738" indent="-566738" algn="just">
              <a:lnSpc>
                <a:spcPts val="2800"/>
              </a:lnSpc>
              <a:buNone/>
            </a:pPr>
            <a:r>
              <a:rPr lang="ne-NP" sz="2400" b="1" dirty="0">
                <a:solidFill>
                  <a:srgbClr val="0070C0"/>
                </a:solidFill>
                <a:latin typeface="Kokila" pitchFamily="34" charset="0"/>
                <a:cs typeface="Kokila" pitchFamily="34" charset="0"/>
              </a:rPr>
              <a:t>दफा २६. सहमतिविना वैयक्तिक सूचनाको उपयोग गर्न </a:t>
            </a:r>
            <a:r>
              <a:rPr lang="ne-NP" sz="2400" b="1" dirty="0" smtClean="0">
                <a:solidFill>
                  <a:srgbClr val="0070C0"/>
                </a:solidFill>
                <a:latin typeface="Kokila" pitchFamily="34" charset="0"/>
                <a:cs typeface="Kokila" pitchFamily="34" charset="0"/>
              </a:rPr>
              <a:t>नहुने </a:t>
            </a:r>
            <a:endParaRPr lang="ne-NP" sz="2400" b="1" dirty="0">
              <a:solidFill>
                <a:srgbClr val="0070C0"/>
              </a:solidFill>
              <a:latin typeface="Kokila" pitchFamily="34" charset="0"/>
              <a:cs typeface="Kokila" pitchFamily="34" charset="0"/>
            </a:endParaRPr>
          </a:p>
          <a:p>
            <a:pPr marL="566738" indent="-566738" algn="just">
              <a:lnSpc>
                <a:spcPts val="2800"/>
              </a:lnSpc>
              <a:buNone/>
            </a:pPr>
            <a:r>
              <a:rPr lang="ne-NP" sz="2400" b="1" dirty="0">
                <a:solidFill>
                  <a:srgbClr val="0070C0"/>
                </a:solidFill>
                <a:latin typeface="Kokila" pitchFamily="34" charset="0"/>
                <a:cs typeface="Kokila" pitchFamily="34" charset="0"/>
              </a:rPr>
              <a:t>दफा २७. संवेदनशील सूचना प्रशोधन गर्न </a:t>
            </a:r>
            <a:r>
              <a:rPr lang="ne-NP" sz="2400" b="1" dirty="0" smtClean="0">
                <a:solidFill>
                  <a:srgbClr val="0070C0"/>
                </a:solidFill>
                <a:latin typeface="Kokila" pitchFamily="34" charset="0"/>
                <a:cs typeface="Kokila" pitchFamily="34" charset="0"/>
              </a:rPr>
              <a:t>नहुने</a:t>
            </a:r>
            <a:endParaRPr lang="ne-NP" sz="2400" b="1" dirty="0">
              <a:solidFill>
                <a:srgbClr val="0070C0"/>
              </a:solidFill>
              <a:latin typeface="Kokila" pitchFamily="34" charset="0"/>
              <a:cs typeface="Kokila" pitchFamily="34" charset="0"/>
            </a:endParaRPr>
          </a:p>
          <a:p>
            <a:pPr marL="566738" indent="-566738" algn="just">
              <a:lnSpc>
                <a:spcPts val="2800"/>
              </a:lnSpc>
              <a:buNone/>
            </a:pPr>
            <a:endParaRPr lang="ne-NP" sz="2000" dirty="0">
              <a:cs typeface="Kalimati" pitchFamily="2"/>
            </a:endParaRPr>
          </a:p>
        </p:txBody>
      </p:sp>
      <p:sp>
        <p:nvSpPr>
          <p:cNvPr id="5" name="Rectangle 4"/>
          <p:cNvSpPr/>
          <p:nvPr/>
        </p:nvSpPr>
        <p:spPr>
          <a:xfrm>
            <a:off x="1510145" y="360402"/>
            <a:ext cx="9919855" cy="707886"/>
          </a:xfrm>
          <a:prstGeom prst="rect">
            <a:avLst/>
          </a:prstGeom>
        </p:spPr>
        <p:txBody>
          <a:bodyPr wrap="square">
            <a:spAutoFit/>
          </a:bodyPr>
          <a:lstStyle/>
          <a:p>
            <a:pPr algn="r"/>
            <a:r>
              <a:rPr lang="ne-NP" sz="4000" b="1" dirty="0" smtClean="0">
                <a:solidFill>
                  <a:srgbClr val="002060"/>
                </a:solidFill>
                <a:latin typeface="Kokila" pitchFamily="34" charset="0"/>
                <a:cs typeface="Kokila" pitchFamily="34" charset="0"/>
              </a:rPr>
              <a:t>क्रमशः</a:t>
            </a:r>
            <a:endParaRPr lang="en-US" sz="4000" b="1" dirty="0">
              <a:solidFill>
                <a:srgbClr val="002060"/>
              </a:solidFill>
              <a:latin typeface="Kokila" pitchFamily="34" charset="0"/>
              <a:cs typeface="Kokila" pitchFamily="34" charset="0"/>
            </a:endParaRPr>
          </a:p>
        </p:txBody>
      </p:sp>
    </p:spTree>
    <p:extLst>
      <p:ext uri="{BB962C8B-B14F-4D97-AF65-F5344CB8AC3E}">
        <p14:creationId xmlns:p14="http://schemas.microsoft.com/office/powerpoint/2010/main" xmlns="" val="4146693004"/>
      </p:ext>
    </p:extLst>
  </p:cSld>
  <p:clrMapOvr>
    <a:masterClrMapping/>
  </p:clrMapOvr>
  <p:transition>
    <p:split orient="vert" dir="in"/>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ne-NP" sz="3200" b="1" dirty="0">
                <a:solidFill>
                  <a:srgbClr val="0070C0"/>
                </a:solidFill>
                <a:latin typeface="Kokila" pitchFamily="34" charset="0"/>
                <a:cs typeface="Kokila" pitchFamily="34" charset="0"/>
              </a:rPr>
              <a:t>न्याय प्रशासन ऐन, २०७३ </a:t>
            </a:r>
            <a:endParaRPr lang="ne-NP" sz="3200" b="1" dirty="0" smtClean="0">
              <a:solidFill>
                <a:srgbClr val="0070C0"/>
              </a:solidFill>
              <a:latin typeface="Kokila" pitchFamily="34" charset="0"/>
              <a:cs typeface="Kokila" pitchFamily="34" charset="0"/>
            </a:endParaRPr>
          </a:p>
          <a:p>
            <a:pPr lvl="1"/>
            <a:r>
              <a:rPr lang="ne-NP" sz="3200" b="1" dirty="0" smtClean="0">
                <a:solidFill>
                  <a:srgbClr val="0070C0"/>
                </a:solidFill>
                <a:latin typeface="Kokila" pitchFamily="34" charset="0"/>
                <a:cs typeface="Kokila" pitchFamily="34" charset="0"/>
              </a:rPr>
              <a:t>दफा </a:t>
            </a:r>
            <a:r>
              <a:rPr lang="ne-NP" sz="3200" b="1" dirty="0">
                <a:solidFill>
                  <a:srgbClr val="0070C0"/>
                </a:solidFill>
                <a:latin typeface="Kokila" pitchFamily="34" charset="0"/>
                <a:cs typeface="Kokila" pitchFamily="34" charset="0"/>
              </a:rPr>
              <a:t>२८क. ले मुद्दा सुनुवाइ गर्दा सो को प्राथमिकताको क्रम निर्धारण गरेको ।</a:t>
            </a:r>
          </a:p>
          <a:p>
            <a:endParaRPr lang="ne-NP" sz="3200" b="1" dirty="0" smtClean="0">
              <a:solidFill>
                <a:srgbClr val="0070C0"/>
              </a:solidFill>
              <a:latin typeface="Kokila" pitchFamily="34" charset="0"/>
              <a:cs typeface="Kokila" pitchFamily="34" charset="0"/>
            </a:endParaRPr>
          </a:p>
          <a:p>
            <a:r>
              <a:rPr lang="ne-NP" sz="3200" b="1" dirty="0" smtClean="0">
                <a:solidFill>
                  <a:srgbClr val="0070C0"/>
                </a:solidFill>
                <a:latin typeface="Kokila" pitchFamily="34" charset="0"/>
                <a:cs typeface="Kokila" pitchFamily="34" charset="0"/>
              </a:rPr>
              <a:t>सर्वोच्च </a:t>
            </a:r>
            <a:r>
              <a:rPr lang="ne-NP" sz="3200" b="1" dirty="0">
                <a:solidFill>
                  <a:srgbClr val="0070C0"/>
                </a:solidFill>
                <a:latin typeface="Kokila" pitchFamily="34" charset="0"/>
                <a:cs typeface="Kokila" pitchFamily="34" charset="0"/>
              </a:rPr>
              <a:t>अदालत नियमावली, २०७४ </a:t>
            </a:r>
            <a:endParaRPr lang="ne-NP" sz="3200" b="1" dirty="0" smtClean="0">
              <a:solidFill>
                <a:srgbClr val="0070C0"/>
              </a:solidFill>
              <a:latin typeface="Kokila" pitchFamily="34" charset="0"/>
              <a:cs typeface="Kokila" pitchFamily="34" charset="0"/>
            </a:endParaRPr>
          </a:p>
          <a:p>
            <a:pPr lvl="1"/>
            <a:r>
              <a:rPr lang="ne-NP" sz="3200" b="1" dirty="0" smtClean="0">
                <a:solidFill>
                  <a:srgbClr val="0070C0"/>
                </a:solidFill>
                <a:latin typeface="Kokila" pitchFamily="34" charset="0"/>
                <a:cs typeface="Kokila" pitchFamily="34" charset="0"/>
              </a:rPr>
              <a:t>नियम </a:t>
            </a:r>
            <a:r>
              <a:rPr lang="ne-NP" sz="3200" b="1" dirty="0">
                <a:solidFill>
                  <a:srgbClr val="0070C0"/>
                </a:solidFill>
                <a:latin typeface="Kokila" pitchFamily="34" charset="0"/>
                <a:cs typeface="Kokila" pitchFamily="34" charset="0"/>
              </a:rPr>
              <a:t>७६ ले सुनुवाइको लागि पेश हुदा तोकिने क्रमको सूची दिएको।</a:t>
            </a:r>
          </a:p>
          <a:p>
            <a:pPr lvl="1"/>
            <a:endParaRPr lang="ne-NP" sz="3200" b="1" dirty="0" smtClean="0">
              <a:solidFill>
                <a:srgbClr val="0070C0"/>
              </a:solidFill>
              <a:latin typeface="Kokila" pitchFamily="34" charset="0"/>
              <a:cs typeface="Kokila" pitchFamily="34" charset="0"/>
            </a:endParaRPr>
          </a:p>
          <a:p>
            <a:pPr lvl="1"/>
            <a:r>
              <a:rPr lang="ne-NP" sz="3200" b="1" dirty="0" smtClean="0">
                <a:solidFill>
                  <a:srgbClr val="0070C0"/>
                </a:solidFill>
                <a:latin typeface="Kokila" pitchFamily="34" charset="0"/>
                <a:cs typeface="Kokila" pitchFamily="34" charset="0"/>
              </a:rPr>
              <a:t>नियम </a:t>
            </a:r>
            <a:r>
              <a:rPr lang="ne-NP" sz="3200" b="1" dirty="0">
                <a:solidFill>
                  <a:srgbClr val="0070C0"/>
                </a:solidFill>
                <a:latin typeface="Kokila" pitchFamily="34" charset="0"/>
                <a:cs typeface="Kokila" pitchFamily="34" charset="0"/>
              </a:rPr>
              <a:t>८१ ले जासुसी, बालबालिका ,मानव बेचबिखन,नाताकायम,सम्बन्धबिच्छेद र कानूनले बन्दइजलासबाट हेर्ने भनी तोकिदिएका वा बन्दइजलासबाट सुनुवाइ गर्ने भनी आदेश भएका मुद्दा । </a:t>
            </a:r>
            <a:endParaRPr lang="en-US" sz="3200" b="1" dirty="0">
              <a:solidFill>
                <a:srgbClr val="0070C0"/>
              </a:solidFill>
              <a:latin typeface="Kokila" pitchFamily="34" charset="0"/>
              <a:cs typeface="Kokila" pitchFamily="34" charset="0"/>
            </a:endParaRPr>
          </a:p>
          <a:p>
            <a:endParaRPr lang="en-US" dirty="0">
              <a:cs typeface="Kalimati" panose="00000400000000000000" pitchFamily="2"/>
            </a:endParaRPr>
          </a:p>
        </p:txBody>
      </p:sp>
      <p:sp>
        <p:nvSpPr>
          <p:cNvPr id="2" name="Title 1"/>
          <p:cNvSpPr>
            <a:spLocks noGrp="1"/>
          </p:cNvSpPr>
          <p:nvPr>
            <p:ph type="title"/>
          </p:nvPr>
        </p:nvSpPr>
        <p:spPr/>
        <p:txBody>
          <a:bodyPr/>
          <a:lstStyle/>
          <a:p>
            <a:r>
              <a:rPr lang="ne-NP" dirty="0">
                <a:solidFill>
                  <a:srgbClr val="002060"/>
                </a:solidFill>
                <a:latin typeface="Kokila" pitchFamily="34" charset="0"/>
                <a:cs typeface="Kokila" pitchFamily="34" charset="0"/>
              </a:rPr>
              <a:t>अदालतसङ्ग सम्बद्द कानूनी प्रावधानहरु </a:t>
            </a:r>
            <a:endParaRPr lang="en-US" dirty="0">
              <a:solidFill>
                <a:srgbClr val="002060"/>
              </a:solidFill>
              <a:latin typeface="Kokila" pitchFamily="34" charset="0"/>
              <a:cs typeface="Kokila" pitchFamily="34" charset="0"/>
            </a:endParaRPr>
          </a:p>
        </p:txBody>
      </p:sp>
    </p:spTree>
    <p:extLst>
      <p:ext uri="{BB962C8B-B14F-4D97-AF65-F5344CB8AC3E}">
        <p14:creationId xmlns:p14="http://schemas.microsoft.com/office/powerpoint/2010/main" xmlns="" val="19436049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ne-NP" sz="3200" b="1" dirty="0">
                <a:solidFill>
                  <a:srgbClr val="0070C0"/>
                </a:solidFill>
                <a:latin typeface="Kokila" pitchFamily="34" charset="0"/>
                <a:cs typeface="Kokila" pitchFamily="34" charset="0"/>
              </a:rPr>
              <a:t>उच्च अदालत नियमावली, २०७३ </a:t>
            </a:r>
            <a:endParaRPr lang="ne-NP" sz="3200" b="1" dirty="0" smtClean="0">
              <a:solidFill>
                <a:srgbClr val="0070C0"/>
              </a:solidFill>
              <a:latin typeface="Kokila" pitchFamily="34" charset="0"/>
              <a:cs typeface="Kokila" pitchFamily="34" charset="0"/>
            </a:endParaRPr>
          </a:p>
          <a:p>
            <a:pPr lvl="1"/>
            <a:r>
              <a:rPr lang="ne-NP" sz="3200" b="1" dirty="0" smtClean="0">
                <a:solidFill>
                  <a:srgbClr val="0070C0"/>
                </a:solidFill>
                <a:latin typeface="Kokila" pitchFamily="34" charset="0"/>
                <a:cs typeface="Kokila" pitchFamily="34" charset="0"/>
              </a:rPr>
              <a:t>नियम </a:t>
            </a:r>
            <a:r>
              <a:rPr lang="ne-NP" sz="3200" b="1" dirty="0">
                <a:solidFill>
                  <a:srgbClr val="0070C0"/>
                </a:solidFill>
                <a:latin typeface="Kokila" pitchFamily="34" charset="0"/>
                <a:cs typeface="Kokila" pitchFamily="34" charset="0"/>
              </a:rPr>
              <a:t>८४ </a:t>
            </a:r>
            <a:r>
              <a:rPr lang="en-US" sz="3200" b="1" dirty="0" smtClean="0">
                <a:solidFill>
                  <a:srgbClr val="0070C0"/>
                </a:solidFill>
                <a:latin typeface="Kokila" pitchFamily="34" charset="0"/>
                <a:cs typeface="Kokila" pitchFamily="34" charset="0"/>
              </a:rPr>
              <a:t>- </a:t>
            </a:r>
            <a:r>
              <a:rPr lang="ne-NP" sz="3200" b="1" dirty="0" smtClean="0">
                <a:solidFill>
                  <a:srgbClr val="0070C0"/>
                </a:solidFill>
                <a:latin typeface="Kokila" pitchFamily="34" charset="0"/>
                <a:cs typeface="Kokila" pitchFamily="34" charset="0"/>
              </a:rPr>
              <a:t>सुनुवाइको  </a:t>
            </a:r>
            <a:r>
              <a:rPr lang="ne-NP" sz="3200" b="1" dirty="0">
                <a:solidFill>
                  <a:srgbClr val="0070C0"/>
                </a:solidFill>
                <a:latin typeface="Kokila" pitchFamily="34" charset="0"/>
                <a:cs typeface="Kokila" pitchFamily="34" charset="0"/>
              </a:rPr>
              <a:t>क्रमको सूचीको उल्लेखन</a:t>
            </a:r>
            <a:r>
              <a:rPr lang="ne-NP" sz="3200" b="1" dirty="0" smtClean="0">
                <a:solidFill>
                  <a:srgbClr val="0070C0"/>
                </a:solidFill>
                <a:latin typeface="Kokila" pitchFamily="34" charset="0"/>
                <a:cs typeface="Kokila" pitchFamily="34" charset="0"/>
              </a:rPr>
              <a:t>।</a:t>
            </a:r>
          </a:p>
          <a:p>
            <a:pPr lvl="1"/>
            <a:endParaRPr lang="ne-NP" sz="1050" b="1" dirty="0">
              <a:solidFill>
                <a:srgbClr val="0070C0"/>
              </a:solidFill>
              <a:latin typeface="Kokila" pitchFamily="34" charset="0"/>
              <a:cs typeface="Kokila" pitchFamily="34" charset="0"/>
            </a:endParaRPr>
          </a:p>
          <a:p>
            <a:pPr lvl="1"/>
            <a:r>
              <a:rPr lang="ne-NP" sz="3200" b="1" dirty="0" smtClean="0">
                <a:solidFill>
                  <a:srgbClr val="0070C0"/>
                </a:solidFill>
                <a:latin typeface="Kokila" pitchFamily="34" charset="0"/>
                <a:cs typeface="Kokila" pitchFamily="34" charset="0"/>
              </a:rPr>
              <a:t>नियम </a:t>
            </a:r>
            <a:r>
              <a:rPr lang="ne-NP" sz="3200" b="1" dirty="0">
                <a:solidFill>
                  <a:srgbClr val="0070C0"/>
                </a:solidFill>
                <a:latin typeface="Kokila" pitchFamily="34" charset="0"/>
                <a:cs typeface="Kokila" pitchFamily="34" charset="0"/>
              </a:rPr>
              <a:t>१०८ </a:t>
            </a:r>
            <a:r>
              <a:rPr lang="en-US" sz="3200" b="1" dirty="0" smtClean="0">
                <a:solidFill>
                  <a:srgbClr val="0070C0"/>
                </a:solidFill>
                <a:latin typeface="Kokila" pitchFamily="34" charset="0"/>
                <a:cs typeface="Kokila" pitchFamily="34" charset="0"/>
              </a:rPr>
              <a:t>-</a:t>
            </a:r>
            <a:r>
              <a:rPr lang="ne-NP" sz="3200" b="1" dirty="0" smtClean="0">
                <a:solidFill>
                  <a:srgbClr val="0070C0"/>
                </a:solidFill>
                <a:latin typeface="Kokila" pitchFamily="34" charset="0"/>
                <a:cs typeface="Kokila" pitchFamily="34" charset="0"/>
              </a:rPr>
              <a:t> </a:t>
            </a:r>
            <a:r>
              <a:rPr lang="ne-NP" sz="3200" b="1" dirty="0">
                <a:solidFill>
                  <a:srgbClr val="0070C0"/>
                </a:solidFill>
                <a:latin typeface="Kokila" pitchFamily="34" charset="0"/>
                <a:cs typeface="Kokila" pitchFamily="34" charset="0"/>
              </a:rPr>
              <a:t>बालबालिका, जबरजस्ती करणी, जीउमास्ने बेच्ने, नाताकायम, </a:t>
            </a:r>
            <a:r>
              <a:rPr lang="ne-NP" sz="3200" b="1" dirty="0" smtClean="0">
                <a:solidFill>
                  <a:srgbClr val="0070C0"/>
                </a:solidFill>
                <a:latin typeface="Kokila" pitchFamily="34" charset="0"/>
                <a:cs typeface="Kokila" pitchFamily="34" charset="0"/>
              </a:rPr>
              <a:t>सम्बन्ध बिच्छेद</a:t>
            </a:r>
            <a:r>
              <a:rPr lang="ne-NP" sz="3200" b="1" dirty="0">
                <a:solidFill>
                  <a:srgbClr val="0070C0"/>
                </a:solidFill>
                <a:latin typeface="Kokila" pitchFamily="34" charset="0"/>
                <a:cs typeface="Kokila" pitchFamily="34" charset="0"/>
              </a:rPr>
              <a:t>, अन्य कानूनले बन्द इजलासले हेर्ने भनी तोकिदिएको मुद्दा र अदालतले आदेश गरेका अन्य मुद्दा बन्द इजलासबाट हेरिने।</a:t>
            </a:r>
          </a:p>
          <a:p>
            <a:r>
              <a:rPr lang="ne-NP" sz="3200" b="1" dirty="0" smtClean="0">
                <a:solidFill>
                  <a:srgbClr val="0070C0"/>
                </a:solidFill>
                <a:latin typeface="Kokila" pitchFamily="34" charset="0"/>
                <a:cs typeface="Kokila" pitchFamily="34" charset="0"/>
              </a:rPr>
              <a:t>जिल्ला अदालत नियमावली,२०७५ </a:t>
            </a:r>
          </a:p>
          <a:p>
            <a:pPr lvl="1"/>
            <a:r>
              <a:rPr lang="ne-NP" sz="3200" b="1" dirty="0" smtClean="0">
                <a:solidFill>
                  <a:srgbClr val="0070C0"/>
                </a:solidFill>
                <a:latin typeface="Kokila" pitchFamily="34" charset="0"/>
                <a:cs typeface="Kokila" pitchFamily="34" charset="0"/>
              </a:rPr>
              <a:t>परिच्छेद- ५क मा फरक मुद्दा व्यवस्थापनको अधीनमा गोपनीयता कायम राख्ने मुद्दाहरु पनि समावेश हुने।</a:t>
            </a:r>
          </a:p>
          <a:p>
            <a:pPr lvl="1"/>
            <a:r>
              <a:rPr lang="ne-NP" sz="3200" b="1" dirty="0" smtClean="0">
                <a:solidFill>
                  <a:srgbClr val="0070C0"/>
                </a:solidFill>
                <a:latin typeface="Kokila" pitchFamily="34" charset="0"/>
                <a:cs typeface="Kokila" pitchFamily="34" charset="0"/>
              </a:rPr>
              <a:t>नियम ४५- मुद्दा सुनुवाइको क्रम</a:t>
            </a:r>
          </a:p>
          <a:p>
            <a:pPr lvl="1"/>
            <a:r>
              <a:rPr lang="ne-NP" sz="3200" b="1" dirty="0" smtClean="0">
                <a:solidFill>
                  <a:srgbClr val="0070C0"/>
                </a:solidFill>
                <a:latin typeface="Kokila" pitchFamily="34" charset="0"/>
                <a:cs typeface="Kokila" pitchFamily="34" charset="0"/>
              </a:rPr>
              <a:t>नियम ४५ ले अनुसूची ३ख मा उल्लेख गरेको प्राथमिकताको आधारमा पेशीसूची तयार गर्ने।</a:t>
            </a:r>
            <a:endParaRPr lang="en-US" sz="3200" b="1" dirty="0" smtClean="0">
              <a:solidFill>
                <a:srgbClr val="0070C0"/>
              </a:solidFill>
              <a:latin typeface="Kokila" pitchFamily="34" charset="0"/>
              <a:cs typeface="Kokila" pitchFamily="34" charset="0"/>
            </a:endParaRPr>
          </a:p>
          <a:p>
            <a:endParaRPr lang="ne-NP" dirty="0">
              <a:cs typeface="Kalimati" panose="00000400000000000000" pitchFamily="2"/>
            </a:endParaRPr>
          </a:p>
          <a:p>
            <a:endParaRPr lang="en-US" dirty="0">
              <a:cs typeface="Kalimati" panose="00000400000000000000" pitchFamily="2"/>
            </a:endParaRPr>
          </a:p>
        </p:txBody>
      </p:sp>
      <p:sp>
        <p:nvSpPr>
          <p:cNvPr id="5" name="Rectangle 4"/>
          <p:cNvSpPr/>
          <p:nvPr/>
        </p:nvSpPr>
        <p:spPr>
          <a:xfrm>
            <a:off x="1510145" y="360402"/>
            <a:ext cx="9919855" cy="707886"/>
          </a:xfrm>
          <a:prstGeom prst="rect">
            <a:avLst/>
          </a:prstGeom>
        </p:spPr>
        <p:txBody>
          <a:bodyPr wrap="square">
            <a:spAutoFit/>
          </a:bodyPr>
          <a:lstStyle/>
          <a:p>
            <a:pPr algn="r"/>
            <a:r>
              <a:rPr lang="ne-NP" sz="4000" b="1" dirty="0" smtClean="0">
                <a:solidFill>
                  <a:srgbClr val="002060"/>
                </a:solidFill>
                <a:latin typeface="Kokila" pitchFamily="34" charset="0"/>
                <a:cs typeface="Kokila" pitchFamily="34" charset="0"/>
              </a:rPr>
              <a:t>क्रमशः</a:t>
            </a:r>
            <a:endParaRPr lang="en-US" sz="4000" b="1" dirty="0">
              <a:solidFill>
                <a:srgbClr val="002060"/>
              </a:solidFill>
              <a:latin typeface="Kokila" pitchFamily="34" charset="0"/>
              <a:cs typeface="Kokila" pitchFamily="34" charset="0"/>
            </a:endParaRPr>
          </a:p>
        </p:txBody>
      </p:sp>
    </p:spTree>
    <p:extLst>
      <p:ext uri="{BB962C8B-B14F-4D97-AF65-F5344CB8AC3E}">
        <p14:creationId xmlns:p14="http://schemas.microsoft.com/office/powerpoint/2010/main" xmlns="" val="37626128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p:cNvSpPr>
            <a:spLocks noGrp="1" noChangeArrowheads="1"/>
          </p:cNvSpPr>
          <p:nvPr>
            <p:ph idx="1"/>
          </p:nvPr>
        </p:nvSpPr>
        <p:spPr>
          <a:xfrm>
            <a:off x="1316182" y="1177637"/>
            <a:ext cx="10307782" cy="4876800"/>
          </a:xfrm>
        </p:spPr>
        <p:txBody>
          <a:bodyPr>
            <a:noAutofit/>
          </a:bodyPr>
          <a:lstStyle/>
          <a:p>
            <a:pPr algn="just"/>
            <a:r>
              <a:rPr lang="ne-NP" sz="3200" b="1" dirty="0">
                <a:solidFill>
                  <a:srgbClr val="0070C0"/>
                </a:solidFill>
                <a:latin typeface="Kokila" pitchFamily="34" charset="0"/>
                <a:cs typeface="Kokila" pitchFamily="34" charset="0"/>
              </a:rPr>
              <a:t>सपना प्रधान मल्ल समेत विरूद्ध नेपाल सरकार भएको रिट </a:t>
            </a:r>
            <a:r>
              <a:rPr lang="ne-NP" sz="3200" b="1" dirty="0" smtClean="0">
                <a:solidFill>
                  <a:srgbClr val="0070C0"/>
                </a:solidFill>
                <a:latin typeface="Kokila" pitchFamily="34" charset="0"/>
                <a:cs typeface="Kokila" pitchFamily="34" charset="0"/>
              </a:rPr>
              <a:t>नं ३५६१ को रिट निवेदनमा सर्वोच्च अदालतबाट गोपनीयता कार्यविधि </a:t>
            </a:r>
            <a:r>
              <a:rPr lang="ne-NP" sz="3200" b="1" dirty="0">
                <a:solidFill>
                  <a:srgbClr val="0070C0"/>
                </a:solidFill>
                <a:latin typeface="Kokila" pitchFamily="34" charset="0"/>
                <a:cs typeface="Kokila" pitchFamily="34" charset="0"/>
              </a:rPr>
              <a:t>निर्देशिका जारी भएको </a:t>
            </a:r>
            <a:r>
              <a:rPr lang="en-US" sz="3200" b="1" dirty="0" smtClean="0">
                <a:solidFill>
                  <a:srgbClr val="0070C0"/>
                </a:solidFill>
                <a:latin typeface="Kokila" pitchFamily="34" charset="0"/>
                <a:cs typeface="Kokila" pitchFamily="34" charset="0"/>
              </a:rPr>
              <a:t>(</a:t>
            </a:r>
            <a:r>
              <a:rPr lang="ne-NP" sz="3200" b="1" dirty="0" smtClean="0">
                <a:solidFill>
                  <a:srgbClr val="0070C0"/>
                </a:solidFill>
                <a:latin typeface="Kokila" pitchFamily="34" charset="0"/>
                <a:cs typeface="Kokila" pitchFamily="34" charset="0"/>
              </a:rPr>
              <a:t>ने का प २०६४ अङ्क ९ निर्णय नं ७८८०</a:t>
            </a:r>
            <a:r>
              <a:rPr lang="en-US" sz="3200" b="1" dirty="0" smtClean="0">
                <a:solidFill>
                  <a:srgbClr val="0070C0"/>
                </a:solidFill>
                <a:latin typeface="Kokila" pitchFamily="34" charset="0"/>
                <a:cs typeface="Kokila" pitchFamily="34" charset="0"/>
              </a:rPr>
              <a:t>)</a:t>
            </a:r>
            <a:r>
              <a:rPr lang="ne-NP" sz="3200" b="1" dirty="0" smtClean="0">
                <a:solidFill>
                  <a:srgbClr val="0070C0"/>
                </a:solidFill>
                <a:latin typeface="Kokila" pitchFamily="34" charset="0"/>
                <a:cs typeface="Kokila" pitchFamily="34" charset="0"/>
              </a:rPr>
              <a:t> । </a:t>
            </a:r>
          </a:p>
          <a:p>
            <a:pPr algn="just"/>
            <a:r>
              <a:rPr lang="ne-NP" sz="3200" b="1" dirty="0" smtClean="0">
                <a:solidFill>
                  <a:srgbClr val="0070C0"/>
                </a:solidFill>
                <a:latin typeface="Kokila" pitchFamily="34" charset="0"/>
                <a:cs typeface="Kokila" pitchFamily="34" charset="0"/>
              </a:rPr>
              <a:t>निर्देशिकाले </a:t>
            </a:r>
            <a:r>
              <a:rPr lang="ne-NP" sz="3200" b="1" dirty="0">
                <a:solidFill>
                  <a:srgbClr val="0070C0"/>
                </a:solidFill>
                <a:latin typeface="Kokila" pitchFamily="34" charset="0"/>
                <a:cs typeface="Kokila" pitchFamily="34" charset="0"/>
              </a:rPr>
              <a:t>निम्न मुद्दाहरूको काम कारवाहीमा गोप्यता कायम गर्न निर्देश </a:t>
            </a:r>
            <a:r>
              <a:rPr lang="ne-NP" sz="3200" b="1" dirty="0" smtClean="0">
                <a:solidFill>
                  <a:srgbClr val="0070C0"/>
                </a:solidFill>
                <a:latin typeface="Kokila" pitchFamily="34" charset="0"/>
                <a:cs typeface="Kokila" pitchFamily="34" charset="0"/>
              </a:rPr>
              <a:t>गरेकोः  </a:t>
            </a:r>
            <a:endParaRPr lang="ne-NP" sz="3200" b="1" dirty="0">
              <a:solidFill>
                <a:srgbClr val="0070C0"/>
              </a:solidFill>
              <a:latin typeface="Kokila" pitchFamily="34" charset="0"/>
              <a:cs typeface="Kokila" pitchFamily="34" charset="0"/>
            </a:endParaRPr>
          </a:p>
          <a:p>
            <a:pPr lvl="1" algn="just"/>
            <a:r>
              <a:rPr lang="ne-NP" sz="2800" b="1" dirty="0">
                <a:solidFill>
                  <a:srgbClr val="0070C0"/>
                </a:solidFill>
                <a:latin typeface="Kokila" pitchFamily="34" charset="0"/>
                <a:cs typeface="Kokila" pitchFamily="34" charset="0"/>
              </a:rPr>
              <a:t>मुद्दाको प्रकृति र त्यसले पीडितउपर पार्न सक्ने असरको आधारमा गोपनीयता कायम गर्नुपर्ने देखिएका </a:t>
            </a:r>
            <a:r>
              <a:rPr lang="ne-NP" sz="2800" b="1" dirty="0">
                <a:solidFill>
                  <a:srgbClr val="C00000"/>
                </a:solidFill>
                <a:latin typeface="Kokila" pitchFamily="34" charset="0"/>
                <a:cs typeface="Kokila" pitchFamily="34" charset="0"/>
              </a:rPr>
              <a:t>बलात्कार,</a:t>
            </a:r>
            <a:r>
              <a:rPr lang="ne-NP" sz="2800" b="1" dirty="0">
                <a:solidFill>
                  <a:srgbClr val="0070C0"/>
                </a:solidFill>
                <a:latin typeface="Kokila" pitchFamily="34" charset="0"/>
                <a:cs typeface="Kokila" pitchFamily="34" charset="0"/>
              </a:rPr>
              <a:t> </a:t>
            </a:r>
            <a:r>
              <a:rPr lang="ne-NP" sz="2800" b="1" dirty="0">
                <a:solidFill>
                  <a:srgbClr val="7030A0"/>
                </a:solidFill>
                <a:latin typeface="Kokila" pitchFamily="34" charset="0"/>
                <a:cs typeface="Kokila" pitchFamily="34" charset="0"/>
              </a:rPr>
              <a:t>गर्भपतन, </a:t>
            </a:r>
            <a:r>
              <a:rPr lang="ne-NP" sz="2800" b="1" dirty="0">
                <a:solidFill>
                  <a:srgbClr val="FF0000"/>
                </a:solidFill>
                <a:latin typeface="Kokila" pitchFamily="34" charset="0"/>
                <a:cs typeface="Kokila" pitchFamily="34" charset="0"/>
              </a:rPr>
              <a:t>यौन दुव्र्यवहार</a:t>
            </a:r>
            <a:r>
              <a:rPr lang="ne-NP" sz="2800" b="1" dirty="0">
                <a:solidFill>
                  <a:srgbClr val="0070C0"/>
                </a:solidFill>
                <a:latin typeface="Kokila" pitchFamily="34" charset="0"/>
                <a:cs typeface="Kokila" pitchFamily="34" charset="0"/>
              </a:rPr>
              <a:t>, </a:t>
            </a:r>
            <a:r>
              <a:rPr lang="ne-NP" sz="2800" b="1" dirty="0">
                <a:solidFill>
                  <a:srgbClr val="002060"/>
                </a:solidFill>
                <a:latin typeface="Kokila" pitchFamily="34" charset="0"/>
                <a:cs typeface="Kokila" pitchFamily="34" charset="0"/>
              </a:rPr>
              <a:t>मानव बेचबिखन, </a:t>
            </a:r>
            <a:r>
              <a:rPr lang="ne-NP" sz="2800" b="1" dirty="0">
                <a:solidFill>
                  <a:schemeClr val="accent2">
                    <a:lumMod val="75000"/>
                  </a:schemeClr>
                </a:solidFill>
                <a:latin typeface="Kokila" pitchFamily="34" charset="0"/>
                <a:cs typeface="Kokila" pitchFamily="34" charset="0"/>
              </a:rPr>
              <a:t>जीउ मास्ने बेच्ने,</a:t>
            </a:r>
            <a:r>
              <a:rPr lang="ne-NP" sz="2800" b="1" dirty="0">
                <a:solidFill>
                  <a:srgbClr val="0070C0"/>
                </a:solidFill>
                <a:latin typeface="Kokila" pitchFamily="34" charset="0"/>
                <a:cs typeface="Kokila" pitchFamily="34" charset="0"/>
              </a:rPr>
              <a:t> </a:t>
            </a:r>
            <a:r>
              <a:rPr lang="ne-NP" sz="2800" b="1" dirty="0">
                <a:solidFill>
                  <a:srgbClr val="00B050"/>
                </a:solidFill>
                <a:latin typeface="Kokila" pitchFamily="34" charset="0"/>
                <a:cs typeface="Kokila" pitchFamily="34" charset="0"/>
              </a:rPr>
              <a:t>हाडनाता करणी </a:t>
            </a:r>
            <a:r>
              <a:rPr lang="ne-NP" sz="2800" b="1" dirty="0">
                <a:solidFill>
                  <a:srgbClr val="0070C0"/>
                </a:solidFill>
                <a:latin typeface="Kokila" pitchFamily="34" charset="0"/>
                <a:cs typeface="Kokila" pitchFamily="34" charset="0"/>
              </a:rPr>
              <a:t>एवं </a:t>
            </a:r>
            <a:r>
              <a:rPr lang="ne-NP" sz="2800" b="1" dirty="0">
                <a:solidFill>
                  <a:srgbClr val="FF0000"/>
                </a:solidFill>
                <a:latin typeface="Kokila" pitchFamily="34" charset="0"/>
                <a:cs typeface="Kokila" pitchFamily="34" charset="0"/>
              </a:rPr>
              <a:t>महिला </a:t>
            </a:r>
            <a:r>
              <a:rPr lang="ne-NP" sz="2800" b="1" dirty="0" smtClean="0">
                <a:solidFill>
                  <a:srgbClr val="FF0000"/>
                </a:solidFill>
                <a:latin typeface="Kokila" pitchFamily="34" charset="0"/>
                <a:cs typeface="Kokila" pitchFamily="34" charset="0"/>
              </a:rPr>
              <a:t>पक्ष भएका </a:t>
            </a:r>
            <a:r>
              <a:rPr lang="ne-NP" sz="2800" b="1" dirty="0">
                <a:solidFill>
                  <a:srgbClr val="FF0000"/>
                </a:solidFill>
                <a:latin typeface="Kokila" pitchFamily="34" charset="0"/>
                <a:cs typeface="Kokila" pitchFamily="34" charset="0"/>
              </a:rPr>
              <a:t>फौजदारी मुद्दाहरू </a:t>
            </a:r>
          </a:p>
          <a:p>
            <a:pPr lvl="1" algn="just"/>
            <a:r>
              <a:rPr lang="ne-NP" sz="2800" b="1" dirty="0">
                <a:solidFill>
                  <a:srgbClr val="0070C0"/>
                </a:solidFill>
                <a:latin typeface="Kokila" pitchFamily="34" charset="0"/>
                <a:cs typeface="Kokila" pitchFamily="34" charset="0"/>
              </a:rPr>
              <a:t>बाल अदालत वा बाल इजलासबाट हेरिने </a:t>
            </a:r>
            <a:r>
              <a:rPr lang="ne-NP" sz="2800" b="1" dirty="0">
                <a:solidFill>
                  <a:srgbClr val="FF0000"/>
                </a:solidFill>
                <a:latin typeface="Kokila" pitchFamily="34" charset="0"/>
                <a:cs typeface="Kokila" pitchFamily="34" charset="0"/>
              </a:rPr>
              <a:t>बालबालिका पक्ष भएका फौजदारी मुद्दाहरू </a:t>
            </a:r>
          </a:p>
          <a:p>
            <a:pPr lvl="1" algn="just"/>
            <a:r>
              <a:rPr lang="en-US" sz="2800" b="1" dirty="0" smtClean="0">
                <a:solidFill>
                  <a:srgbClr val="FF0000"/>
                </a:solidFill>
                <a:latin typeface="Kokila" pitchFamily="34" charset="0"/>
                <a:cs typeface="Kokila" pitchFamily="34" charset="0"/>
              </a:rPr>
              <a:t>HIV/AIDS</a:t>
            </a:r>
            <a:r>
              <a:rPr lang="ne-NP" sz="2800" b="1" dirty="0" smtClean="0">
                <a:solidFill>
                  <a:srgbClr val="0070C0"/>
                </a:solidFill>
                <a:latin typeface="Kokila" pitchFamily="34" charset="0"/>
                <a:cs typeface="Kokila" pitchFamily="34" charset="0"/>
              </a:rPr>
              <a:t> </a:t>
            </a:r>
            <a:r>
              <a:rPr lang="ne-NP" sz="2800" b="1" dirty="0">
                <a:solidFill>
                  <a:srgbClr val="0070C0"/>
                </a:solidFill>
                <a:latin typeface="Kokila" pitchFamily="34" charset="0"/>
                <a:cs typeface="Kokila" pitchFamily="34" charset="0"/>
              </a:rPr>
              <a:t>बाट प्रमाणित वा संक्रमित व्यक्तिहरूसँग सम्बन्धित त्यस्तो वितरण खुलेका मुद्दाहरू</a:t>
            </a:r>
          </a:p>
        </p:txBody>
      </p:sp>
      <p:sp>
        <p:nvSpPr>
          <p:cNvPr id="55298" name="Rectangle 2"/>
          <p:cNvSpPr>
            <a:spLocks noGrp="1" noChangeArrowheads="1"/>
          </p:cNvSpPr>
          <p:nvPr>
            <p:ph type="title"/>
          </p:nvPr>
        </p:nvSpPr>
        <p:spPr>
          <a:xfrm>
            <a:off x="1288473" y="76200"/>
            <a:ext cx="10377054" cy="1143000"/>
          </a:xfrm>
        </p:spPr>
        <p:txBody>
          <a:bodyPr>
            <a:noAutofit/>
          </a:bodyPr>
          <a:lstStyle/>
          <a:p>
            <a:r>
              <a:rPr lang="ne-NP" sz="4000" dirty="0">
                <a:solidFill>
                  <a:srgbClr val="002060"/>
                </a:solidFill>
                <a:latin typeface="Kokila" pitchFamily="34" charset="0"/>
                <a:cs typeface="Kokila" pitchFamily="34" charset="0"/>
              </a:rPr>
              <a:t>पक्षहरूको गोपनीयता कायम राख्ने सम्बन्धी कार्यविधि निर्देशिका २०६४</a:t>
            </a:r>
            <a:endParaRPr lang="en-US" sz="4000" dirty="0">
              <a:solidFill>
                <a:srgbClr val="002060"/>
              </a:solidFill>
              <a:latin typeface="Kokila" pitchFamily="34" charset="0"/>
              <a:cs typeface="Kokila" pitchFamily="34" charset="0"/>
            </a:endParaRPr>
          </a:p>
        </p:txBody>
      </p:sp>
    </p:spTree>
    <p:extLst>
      <p:ext uri="{BB962C8B-B14F-4D97-AF65-F5344CB8AC3E}">
        <p14:creationId xmlns:p14="http://schemas.microsoft.com/office/powerpoint/2010/main" xmlns="" val="3980622044"/>
      </p:ext>
    </p:extLst>
  </p:cSld>
  <p:clrMapOvr>
    <a:masterClrMapping/>
  </p:clrMapOvr>
  <p:transition>
    <p:split orient="vert" dir="in"/>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3"/>
          <p:cNvSpPr>
            <a:spLocks noGrp="1" noChangeArrowheads="1"/>
          </p:cNvSpPr>
          <p:nvPr>
            <p:ph idx="1"/>
          </p:nvPr>
        </p:nvSpPr>
        <p:spPr>
          <a:xfrm>
            <a:off x="1039091" y="1401500"/>
            <a:ext cx="10363200" cy="5181600"/>
          </a:xfrm>
        </p:spPr>
        <p:txBody>
          <a:bodyPr>
            <a:noAutofit/>
          </a:bodyPr>
          <a:lstStyle/>
          <a:p>
            <a:pPr marL="288925" indent="-288925">
              <a:buClr>
                <a:schemeClr val="bg1"/>
              </a:buClr>
              <a:buNone/>
            </a:pPr>
            <a:r>
              <a:rPr lang="en-US" sz="3200" b="1" dirty="0">
                <a:solidFill>
                  <a:srgbClr val="0070C0"/>
                </a:solidFill>
                <a:latin typeface="Kokila" pitchFamily="34" charset="0"/>
                <a:cs typeface="Kokila" pitchFamily="34" charset="0"/>
              </a:rPr>
              <a:t>FIR </a:t>
            </a:r>
            <a:r>
              <a:rPr lang="ne-NP" sz="3200" b="1" dirty="0">
                <a:solidFill>
                  <a:srgbClr val="0070C0"/>
                </a:solidFill>
                <a:latin typeface="Kokila" pitchFamily="34" charset="0"/>
                <a:cs typeface="Kokila" pitchFamily="34" charset="0"/>
              </a:rPr>
              <a:t>को सूचना प्राप्त भए देखि फैसला कार्यान्वयनको </a:t>
            </a:r>
            <a:r>
              <a:rPr lang="ne-NP" sz="3200" b="1" dirty="0" smtClean="0">
                <a:solidFill>
                  <a:srgbClr val="0070C0"/>
                </a:solidFill>
                <a:latin typeface="Kokila" pitchFamily="34" charset="0"/>
                <a:cs typeface="Kokila" pitchFamily="34" charset="0"/>
              </a:rPr>
              <a:t>चरणमाः </a:t>
            </a:r>
            <a:endParaRPr lang="ne-NP" sz="3200" b="1" dirty="0">
              <a:solidFill>
                <a:srgbClr val="0070C0"/>
              </a:solidFill>
              <a:latin typeface="Kokila" pitchFamily="34" charset="0"/>
              <a:cs typeface="Kokila" pitchFamily="34" charset="0"/>
            </a:endParaRPr>
          </a:p>
          <a:p>
            <a:pPr marL="288925" indent="-288925">
              <a:buClr>
                <a:srgbClr val="C00000"/>
              </a:buClr>
            </a:pPr>
            <a:r>
              <a:rPr lang="ne-NP" sz="3200" b="1" dirty="0" smtClean="0">
                <a:solidFill>
                  <a:srgbClr val="0070C0"/>
                </a:solidFill>
                <a:latin typeface="Kokila" pitchFamily="34" charset="0"/>
                <a:cs typeface="Kokila" pitchFamily="34" charset="0"/>
              </a:rPr>
              <a:t>जुन </a:t>
            </a:r>
            <a:r>
              <a:rPr lang="ne-NP" sz="3200" b="1" dirty="0">
                <a:solidFill>
                  <a:srgbClr val="0070C0"/>
                </a:solidFill>
                <a:latin typeface="Kokila" pitchFamily="34" charset="0"/>
                <a:cs typeface="Kokila" pitchFamily="34" charset="0"/>
              </a:rPr>
              <a:t>जुन निकायमा व्यक्तिको व्यक्तिगत </a:t>
            </a:r>
            <a:r>
              <a:rPr lang="ne-NP" sz="3200" b="1" dirty="0" smtClean="0">
                <a:solidFill>
                  <a:srgbClr val="0070C0"/>
                </a:solidFill>
                <a:latin typeface="Kokila" pitchFamily="34" charset="0"/>
                <a:cs typeface="Kokila" pitchFamily="34" charset="0"/>
              </a:rPr>
              <a:t>परिचयात्मक </a:t>
            </a:r>
            <a:r>
              <a:rPr lang="ne-NP" sz="3200" b="1" dirty="0">
                <a:solidFill>
                  <a:srgbClr val="0070C0"/>
                </a:solidFill>
                <a:latin typeface="Kokila" pitchFamily="34" charset="0"/>
                <a:cs typeface="Kokila" pitchFamily="34" charset="0"/>
              </a:rPr>
              <a:t>विवरण हुन्छन्, सबै निकायले गोप्यता कायम गर्नुपर्ने । </a:t>
            </a:r>
          </a:p>
          <a:p>
            <a:pPr marL="288925" indent="-288925">
              <a:buClr>
                <a:srgbClr val="C00000"/>
              </a:buClr>
            </a:pPr>
            <a:r>
              <a:rPr lang="ne-NP" sz="3200" b="1" dirty="0">
                <a:solidFill>
                  <a:srgbClr val="0070C0"/>
                </a:solidFill>
                <a:latin typeface="Kokila" pitchFamily="34" charset="0"/>
                <a:cs typeface="Kokila" pitchFamily="34" charset="0"/>
              </a:rPr>
              <a:t>काम कारवाहीमा संलग्न न्यायाधीश, सरकारी वकील, कानून 	व्यवसायी, प्रहरी,</a:t>
            </a:r>
            <a:r>
              <a:rPr lang="en-US" sz="3200" b="1" dirty="0">
                <a:solidFill>
                  <a:srgbClr val="0070C0"/>
                </a:solidFill>
                <a:latin typeface="Kokila" pitchFamily="34" charset="0"/>
                <a:cs typeface="Kokila" pitchFamily="34" charset="0"/>
              </a:rPr>
              <a:t> </a:t>
            </a:r>
            <a:r>
              <a:rPr lang="ne-NP" sz="3200" b="1" dirty="0">
                <a:solidFill>
                  <a:srgbClr val="0070C0"/>
                </a:solidFill>
                <a:latin typeface="Kokila" pitchFamily="34" charset="0"/>
                <a:cs typeface="Kokila" pitchFamily="34" charset="0"/>
              </a:rPr>
              <a:t>विशेषज्ञ, साक्षी कर्मचारी लगायत कसैले</a:t>
            </a:r>
            <a:r>
              <a:rPr lang="en-US" sz="3200" b="1" dirty="0">
                <a:solidFill>
                  <a:srgbClr val="0070C0"/>
                </a:solidFill>
                <a:latin typeface="Kokila" pitchFamily="34" charset="0"/>
                <a:cs typeface="Kokila" pitchFamily="34" charset="0"/>
              </a:rPr>
              <a:t> </a:t>
            </a:r>
            <a:r>
              <a:rPr lang="ne-NP" sz="3200" b="1" dirty="0">
                <a:solidFill>
                  <a:srgbClr val="0070C0"/>
                </a:solidFill>
                <a:latin typeface="Kokila" pitchFamily="34" charset="0"/>
                <a:cs typeface="Kokila" pitchFamily="34" charset="0"/>
              </a:rPr>
              <a:t>पनि गोप्य राखिएको विवरण प्रकाश गर्न नहुने। </a:t>
            </a:r>
            <a:endParaRPr lang="ne-NP" sz="3200" b="1" dirty="0" smtClean="0">
              <a:solidFill>
                <a:srgbClr val="0070C0"/>
              </a:solidFill>
              <a:latin typeface="Kokila" pitchFamily="34" charset="0"/>
              <a:cs typeface="Kokila" pitchFamily="34" charset="0"/>
            </a:endParaRPr>
          </a:p>
          <a:p>
            <a:pPr marL="288925" indent="-288925">
              <a:buClr>
                <a:srgbClr val="C00000"/>
              </a:buClr>
            </a:pPr>
            <a:r>
              <a:rPr lang="ne-NP" sz="3200" b="1" dirty="0" smtClean="0">
                <a:solidFill>
                  <a:srgbClr val="0070C0"/>
                </a:solidFill>
                <a:latin typeface="Kokila" pitchFamily="34" charset="0"/>
                <a:cs typeface="Kokila" pitchFamily="34" charset="0"/>
              </a:rPr>
              <a:t>मुद्दा </a:t>
            </a:r>
            <a:r>
              <a:rPr lang="ne-NP" sz="3200" b="1" dirty="0">
                <a:solidFill>
                  <a:srgbClr val="0070C0"/>
                </a:solidFill>
                <a:latin typeface="Kokila" pitchFamily="34" charset="0"/>
                <a:cs typeface="Kokila" pitchFamily="34" charset="0"/>
              </a:rPr>
              <a:t>किनारा भएपछि पनि विवरण गोप्य </a:t>
            </a:r>
            <a:r>
              <a:rPr lang="ne-NP" sz="3200" b="1" dirty="0" smtClean="0">
                <a:solidFill>
                  <a:srgbClr val="0070C0"/>
                </a:solidFill>
                <a:latin typeface="Kokila" pitchFamily="34" charset="0"/>
                <a:cs typeface="Kokila" pitchFamily="34" charset="0"/>
              </a:rPr>
              <a:t>राख्नु पर्ने</a:t>
            </a:r>
            <a:r>
              <a:rPr lang="ne-NP" sz="3200" b="1" dirty="0">
                <a:solidFill>
                  <a:srgbClr val="0070C0"/>
                </a:solidFill>
                <a:latin typeface="Kokila" pitchFamily="34" charset="0"/>
                <a:cs typeface="Kokila" pitchFamily="34" charset="0"/>
              </a:rPr>
              <a:t>।</a:t>
            </a:r>
            <a:endParaRPr lang="en-US" sz="3200" b="1" dirty="0">
              <a:solidFill>
                <a:srgbClr val="0070C0"/>
              </a:solidFill>
              <a:latin typeface="Kokila" pitchFamily="34" charset="0"/>
              <a:cs typeface="Kokila" pitchFamily="34" charset="0"/>
            </a:endParaRPr>
          </a:p>
        </p:txBody>
      </p:sp>
      <p:sp>
        <p:nvSpPr>
          <p:cNvPr id="5" name="Rectangle 4"/>
          <p:cNvSpPr/>
          <p:nvPr/>
        </p:nvSpPr>
        <p:spPr>
          <a:xfrm>
            <a:off x="858981" y="228601"/>
            <a:ext cx="10903527" cy="707886"/>
          </a:xfrm>
          <a:prstGeom prst="rect">
            <a:avLst/>
          </a:prstGeom>
        </p:spPr>
        <p:txBody>
          <a:bodyPr wrap="square">
            <a:spAutoFit/>
          </a:bodyPr>
          <a:lstStyle/>
          <a:p>
            <a:pPr algn="r"/>
            <a:r>
              <a:rPr lang="ne-NP" sz="4000" b="1" dirty="0" smtClean="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rPr>
              <a:t>कार्यविधि </a:t>
            </a:r>
            <a:r>
              <a:rPr lang="ne-NP" sz="4000" b="1" dirty="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rPr>
              <a:t>निर्देशिका २०६४ </a:t>
            </a:r>
            <a:r>
              <a:rPr lang="en-US" sz="4000" b="1" dirty="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rPr>
              <a:t>(</a:t>
            </a:r>
            <a:r>
              <a:rPr lang="ne-NP" sz="4000" b="1" dirty="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rPr>
              <a:t>क्रमश.....</a:t>
            </a:r>
            <a:r>
              <a:rPr lang="en-US" sz="4000" b="1" dirty="0">
                <a:solidFill>
                  <a:srgbClr val="002060"/>
                </a:solidFill>
                <a:effectLst>
                  <a:outerShdw blurRad="31750" dist="25400" dir="5400000" algn="tl" rotWithShape="0">
                    <a:srgbClr val="000000">
                      <a:alpha val="25000"/>
                    </a:srgbClr>
                  </a:outerShdw>
                </a:effectLst>
                <a:latin typeface="Kokila" pitchFamily="34" charset="0"/>
                <a:ea typeface="+mj-ea"/>
                <a:cs typeface="Kokila" pitchFamily="34" charset="0"/>
              </a:rPr>
              <a:t>)</a:t>
            </a:r>
          </a:p>
        </p:txBody>
      </p:sp>
    </p:spTree>
    <p:extLst>
      <p:ext uri="{BB962C8B-B14F-4D97-AF65-F5344CB8AC3E}">
        <p14:creationId xmlns:p14="http://schemas.microsoft.com/office/powerpoint/2010/main" xmlns="" val="1434636825"/>
      </p:ext>
    </p:extLst>
  </p:cSld>
  <p:clrMapOvr>
    <a:masterClrMapping/>
  </p:clrMapOvr>
  <p:transition>
    <p:pull dir="l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idx="1"/>
          </p:nvPr>
        </p:nvSpPr>
        <p:spPr>
          <a:xfrm>
            <a:off x="914400" y="1537500"/>
            <a:ext cx="10571018" cy="5257800"/>
          </a:xfrm>
        </p:spPr>
        <p:txBody>
          <a:bodyPr>
            <a:noAutofit/>
          </a:bodyPr>
          <a:lstStyle/>
          <a:p>
            <a:pPr marL="288925" indent="-288925" algn="just">
              <a:buClr>
                <a:srgbClr val="C00000"/>
              </a:buClr>
            </a:pPr>
            <a:r>
              <a:rPr lang="ne-NP" sz="3200" b="1" dirty="0">
                <a:solidFill>
                  <a:srgbClr val="0070C0"/>
                </a:solidFill>
                <a:latin typeface="Kokila" pitchFamily="34" charset="0"/>
                <a:cs typeface="Kokila" pitchFamily="34" charset="0"/>
              </a:rPr>
              <a:t>परिचयात्मक विवरण छुट्टै पानामा लेखवद्ध एवं शिलबन्दी गरी गोप्य राखिएको विवरणलाई संकेत गर्ने छुट्टै परिचयात्मक नाम वा संख्या वा चिन्ह दिने र सोको प्रमाणीकरण सम्बन्धित अधिकारीले गर्ने। </a:t>
            </a:r>
          </a:p>
          <a:p>
            <a:pPr marL="288925" indent="-288925" algn="just">
              <a:buClr>
                <a:srgbClr val="C00000"/>
              </a:buClr>
            </a:pPr>
            <a:r>
              <a:rPr lang="ne-NP" sz="3200" b="1" dirty="0">
                <a:solidFill>
                  <a:srgbClr val="0070C0"/>
                </a:solidFill>
                <a:latin typeface="Kokila" pitchFamily="34" charset="0"/>
                <a:cs typeface="Kokila" pitchFamily="34" charset="0"/>
              </a:rPr>
              <a:t>व्यक्तिगत परिचयात्मक विवरण गोप्य राख्नका लागि कुनै कागज प्रमाण गोप्य राख्नु पर्ने भएमा सोलाई शिलबन्दी गरी सोको व्यहोरा छुट्टै पानामा खुलाई मिसिल संलग्न राख्ने। </a:t>
            </a:r>
          </a:p>
          <a:p>
            <a:pPr marL="288925" indent="-288925" algn="just">
              <a:buClr>
                <a:srgbClr val="C00000"/>
              </a:buClr>
            </a:pPr>
            <a:r>
              <a:rPr lang="ne-NP" sz="3200" b="1" dirty="0">
                <a:solidFill>
                  <a:srgbClr val="0070C0"/>
                </a:solidFill>
                <a:latin typeface="Kokila" pitchFamily="34" charset="0"/>
                <a:cs typeface="Kokila" pitchFamily="34" charset="0"/>
              </a:rPr>
              <a:t>गोप्य राखिएको विवरणहरूको गोप्यता संरक्षणको लागि सम्बन्धित अदालत वा कार्यालयले त्यस्तो मिसिलको छुट्टै लगत खडा गर्ने, संकेत चिन्ह दिने र अभिलेख संरक्षणको व्यवस्था गर्ने।</a:t>
            </a:r>
            <a:endParaRPr lang="en-US" sz="3200" b="1" dirty="0">
              <a:solidFill>
                <a:srgbClr val="0070C0"/>
              </a:solidFill>
              <a:latin typeface="Kokila" pitchFamily="34" charset="0"/>
              <a:cs typeface="Kokila" pitchFamily="34" charset="0"/>
            </a:endParaRPr>
          </a:p>
        </p:txBody>
      </p:sp>
      <p:sp>
        <p:nvSpPr>
          <p:cNvPr id="57346" name="Rectangle 2"/>
          <p:cNvSpPr>
            <a:spLocks noGrp="1" noChangeArrowheads="1"/>
          </p:cNvSpPr>
          <p:nvPr>
            <p:ph type="title"/>
          </p:nvPr>
        </p:nvSpPr>
        <p:spPr>
          <a:xfrm>
            <a:off x="900545" y="228600"/>
            <a:ext cx="10460182" cy="838200"/>
          </a:xfrm>
        </p:spPr>
        <p:txBody>
          <a:bodyPr>
            <a:normAutofit/>
          </a:bodyPr>
          <a:lstStyle/>
          <a:p>
            <a:r>
              <a:rPr lang="ne-NP" sz="4000" dirty="0">
                <a:solidFill>
                  <a:srgbClr val="002060"/>
                </a:solidFill>
                <a:latin typeface="Kokila" pitchFamily="34" charset="0"/>
                <a:cs typeface="Kokila" pitchFamily="34" charset="0"/>
              </a:rPr>
              <a:t>गोपनीयता कायम गर्ने प्रक्रिया </a:t>
            </a:r>
            <a:endParaRPr lang="en-US" sz="4000" dirty="0">
              <a:solidFill>
                <a:srgbClr val="002060"/>
              </a:solidFill>
              <a:latin typeface="Kokila" pitchFamily="34" charset="0"/>
              <a:cs typeface="Kokila" pitchFamily="34" charset="0"/>
            </a:endParaRPr>
          </a:p>
        </p:txBody>
      </p:sp>
    </p:spTree>
    <p:extLst>
      <p:ext uri="{BB962C8B-B14F-4D97-AF65-F5344CB8AC3E}">
        <p14:creationId xmlns:p14="http://schemas.microsoft.com/office/powerpoint/2010/main" xmlns="" val="2005225698"/>
      </p:ext>
    </p:extLst>
  </p:cSld>
  <p:clrMapOvr>
    <a:masterClrMapping/>
  </p:clrMapOvr>
  <p:transition>
    <p:split orient="vert" dir="in"/>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idx="1"/>
          </p:nvPr>
        </p:nvSpPr>
        <p:spPr>
          <a:xfrm>
            <a:off x="969819" y="1038736"/>
            <a:ext cx="10460181" cy="5257800"/>
          </a:xfrm>
        </p:spPr>
        <p:txBody>
          <a:bodyPr>
            <a:noAutofit/>
          </a:bodyPr>
          <a:lstStyle/>
          <a:p>
            <a:pPr marL="288925" indent="-288925" algn="just">
              <a:buClr>
                <a:srgbClr val="C00000"/>
              </a:buClr>
            </a:pPr>
            <a:r>
              <a:rPr lang="ne-NP" sz="3200" b="1" dirty="0">
                <a:solidFill>
                  <a:srgbClr val="0070C0"/>
                </a:solidFill>
                <a:latin typeface="Kokila" pitchFamily="34" charset="0"/>
                <a:cs typeface="Kokila" pitchFamily="34" charset="0"/>
              </a:rPr>
              <a:t>सुनुवाईको क्रममा </a:t>
            </a:r>
            <a:r>
              <a:rPr lang="ne-NP" sz="3200" b="1" dirty="0" smtClean="0">
                <a:solidFill>
                  <a:srgbClr val="0070C0"/>
                </a:solidFill>
                <a:latin typeface="Kokila" pitchFamily="34" charset="0"/>
                <a:cs typeface="Kokila" pitchFamily="34" charset="0"/>
              </a:rPr>
              <a:t>झ्याल </a:t>
            </a:r>
            <a:r>
              <a:rPr lang="ne-NP" sz="3200" b="1" dirty="0">
                <a:solidFill>
                  <a:srgbClr val="0070C0"/>
                </a:solidFill>
                <a:latin typeface="Kokila" pitchFamily="34" charset="0"/>
                <a:cs typeface="Kokila" pitchFamily="34" charset="0"/>
              </a:rPr>
              <a:t>ढोका थुनिनु नै वन्द इजलाश कायम गर्नु होइन </a:t>
            </a:r>
          </a:p>
          <a:p>
            <a:pPr marL="288925" indent="-288925" algn="just">
              <a:buClr>
                <a:srgbClr val="C00000"/>
              </a:buClr>
            </a:pPr>
            <a:r>
              <a:rPr lang="ne-NP" sz="3200" b="1" dirty="0">
                <a:solidFill>
                  <a:srgbClr val="0070C0"/>
                </a:solidFill>
                <a:latin typeface="Kokila" pitchFamily="34" charset="0"/>
                <a:cs typeface="Kokila" pitchFamily="34" charset="0"/>
              </a:rPr>
              <a:t>उजुरी दर्तावाट नै गोप्यता कायम राख्नु पर्ने</a:t>
            </a:r>
          </a:p>
          <a:p>
            <a:pPr marL="288925" indent="-288925" algn="just">
              <a:buClr>
                <a:srgbClr val="C00000"/>
              </a:buClr>
            </a:pPr>
            <a:r>
              <a:rPr lang="ne-NP" sz="3200" b="1" dirty="0">
                <a:solidFill>
                  <a:srgbClr val="0070C0"/>
                </a:solidFill>
                <a:latin typeface="Kokila" pitchFamily="34" charset="0"/>
                <a:cs typeface="Kokila" pitchFamily="34" charset="0"/>
              </a:rPr>
              <a:t>उजूरी दर्ता किताब अलग रूपमा गरिनु पर्ने </a:t>
            </a:r>
          </a:p>
          <a:p>
            <a:pPr marL="288925" indent="-288925" algn="just">
              <a:buClr>
                <a:srgbClr val="C00000"/>
              </a:buClr>
            </a:pPr>
            <a:r>
              <a:rPr lang="ne-NP" sz="3200" b="1" dirty="0">
                <a:solidFill>
                  <a:srgbClr val="0070C0"/>
                </a:solidFill>
                <a:latin typeface="Kokila" pitchFamily="34" charset="0"/>
                <a:cs typeface="Kokila" pitchFamily="34" charset="0"/>
              </a:rPr>
              <a:t>महिला संलग्न मुद्दामा वयान वकपत्र गराउँदा यथासम्भव प्रशिक्षण प्राप्त महिला कर्मचारी नै परिचालन गरिनु पर्ने </a:t>
            </a:r>
          </a:p>
          <a:p>
            <a:pPr marL="288925" indent="-288925" algn="just">
              <a:buClr>
                <a:srgbClr val="C00000"/>
              </a:buClr>
            </a:pPr>
            <a:r>
              <a:rPr lang="ne-NP" sz="3200" b="1" dirty="0">
                <a:solidFill>
                  <a:srgbClr val="0070C0"/>
                </a:solidFill>
                <a:latin typeface="Kokila" pitchFamily="34" charset="0"/>
                <a:cs typeface="Kokila" pitchFamily="34" charset="0"/>
              </a:rPr>
              <a:t>वन्द इजलाश कायम गर्ने सरकारी वकिलको अग्रसरता आवश्यक।</a:t>
            </a:r>
          </a:p>
          <a:p>
            <a:pPr marL="288925" indent="-288925" algn="just">
              <a:buClr>
                <a:srgbClr val="C00000"/>
              </a:buClr>
            </a:pPr>
            <a:r>
              <a:rPr lang="ne-NP" sz="3200" b="1" dirty="0">
                <a:solidFill>
                  <a:srgbClr val="0070C0"/>
                </a:solidFill>
                <a:latin typeface="Kokila" pitchFamily="34" charset="0"/>
                <a:cs typeface="Kokila" pitchFamily="34" charset="0"/>
              </a:rPr>
              <a:t>वन्द इजलाशवाट गरिने सुनुवाई अदालतकै पहलमा गरिनु </a:t>
            </a:r>
            <a:r>
              <a:rPr lang="ne-NP" sz="3200" b="1" dirty="0" smtClean="0">
                <a:solidFill>
                  <a:srgbClr val="0070C0"/>
                </a:solidFill>
                <a:latin typeface="Kokila" pitchFamily="34" charset="0"/>
                <a:cs typeface="Kokila" pitchFamily="34" charset="0"/>
              </a:rPr>
              <a:t>पर्ने,</a:t>
            </a:r>
            <a:endParaRPr lang="ne-NP" sz="3200" b="1" dirty="0">
              <a:solidFill>
                <a:srgbClr val="0070C0"/>
              </a:solidFill>
              <a:latin typeface="Kokila" pitchFamily="34" charset="0"/>
              <a:cs typeface="Kokila" pitchFamily="34" charset="0"/>
            </a:endParaRPr>
          </a:p>
          <a:p>
            <a:pPr marL="288925" indent="-288925" algn="just">
              <a:buClr>
                <a:srgbClr val="C00000"/>
              </a:buClr>
            </a:pPr>
            <a:r>
              <a:rPr lang="ne-NP" sz="3200" b="1" dirty="0">
                <a:solidFill>
                  <a:srgbClr val="0070C0"/>
                </a:solidFill>
                <a:latin typeface="Kokila" pitchFamily="34" charset="0"/>
                <a:cs typeface="Kokila" pitchFamily="34" charset="0"/>
              </a:rPr>
              <a:t>वन्द इजलाशवाट हेरिने मुद्दाको अलग फाँट तोकिनु </a:t>
            </a:r>
            <a:r>
              <a:rPr lang="ne-NP" sz="3200" b="1" dirty="0" smtClean="0">
                <a:solidFill>
                  <a:srgbClr val="0070C0"/>
                </a:solidFill>
                <a:latin typeface="Kokila" pitchFamily="34" charset="0"/>
                <a:cs typeface="Kokila" pitchFamily="34" charset="0"/>
              </a:rPr>
              <a:t>पर्ने, </a:t>
            </a:r>
            <a:endParaRPr lang="ne-NP" sz="3200" b="1" dirty="0">
              <a:solidFill>
                <a:srgbClr val="0070C0"/>
              </a:solidFill>
              <a:latin typeface="Kokila" pitchFamily="34" charset="0"/>
              <a:cs typeface="Kokila" pitchFamily="34" charset="0"/>
            </a:endParaRPr>
          </a:p>
          <a:p>
            <a:pPr marL="288925" indent="-288925" algn="just">
              <a:buClr>
                <a:srgbClr val="C00000"/>
              </a:buClr>
            </a:pPr>
            <a:r>
              <a:rPr lang="ne-NP" sz="3200" b="1" dirty="0">
                <a:solidFill>
                  <a:srgbClr val="0070C0"/>
                </a:solidFill>
                <a:latin typeface="Kokila" pitchFamily="34" charset="0"/>
                <a:cs typeface="Kokila" pitchFamily="34" charset="0"/>
              </a:rPr>
              <a:t>म्याद सूचना जारी गर्दा समेत गोप्यता कायम गर्ने प्रकृया अवलम्वन गर्ने,</a:t>
            </a:r>
          </a:p>
          <a:p>
            <a:pPr marL="288925" indent="-288925" algn="just">
              <a:buClr>
                <a:srgbClr val="C00000"/>
              </a:buClr>
            </a:pPr>
            <a:r>
              <a:rPr lang="ne-NP" sz="3200" b="1" dirty="0">
                <a:solidFill>
                  <a:srgbClr val="0070C0"/>
                </a:solidFill>
                <a:latin typeface="Kokila" pitchFamily="34" charset="0"/>
                <a:cs typeface="Kokila" pitchFamily="34" charset="0"/>
              </a:rPr>
              <a:t>सूचना सप्रेषण र अलग कजलिष्टको व्यवस्था गर्ने, </a:t>
            </a:r>
          </a:p>
        </p:txBody>
      </p:sp>
      <p:sp>
        <p:nvSpPr>
          <p:cNvPr id="57346" name="Rectangle 2"/>
          <p:cNvSpPr>
            <a:spLocks noGrp="1" noChangeArrowheads="1"/>
          </p:cNvSpPr>
          <p:nvPr>
            <p:ph type="title"/>
          </p:nvPr>
        </p:nvSpPr>
        <p:spPr>
          <a:xfrm>
            <a:off x="872837" y="228600"/>
            <a:ext cx="10432472" cy="838200"/>
          </a:xfrm>
        </p:spPr>
        <p:txBody>
          <a:bodyPr>
            <a:normAutofit/>
          </a:bodyPr>
          <a:lstStyle/>
          <a:p>
            <a:r>
              <a:rPr lang="ne-NP" sz="4000" dirty="0">
                <a:solidFill>
                  <a:srgbClr val="002060"/>
                </a:solidFill>
                <a:latin typeface="Kokila" pitchFamily="34" charset="0"/>
                <a:cs typeface="Kokila" pitchFamily="34" charset="0"/>
              </a:rPr>
              <a:t>बन्द इजलास र गोपनीयता सम्बन्धी कार्यविधि </a:t>
            </a:r>
            <a:endParaRPr lang="en-US" sz="4000" dirty="0">
              <a:solidFill>
                <a:srgbClr val="002060"/>
              </a:solidFill>
              <a:latin typeface="Kokila" pitchFamily="34" charset="0"/>
              <a:cs typeface="Kokila" pitchFamily="34" charset="0"/>
            </a:endParaRPr>
          </a:p>
        </p:txBody>
      </p:sp>
    </p:spTree>
    <p:extLst>
      <p:ext uri="{BB962C8B-B14F-4D97-AF65-F5344CB8AC3E}">
        <p14:creationId xmlns:p14="http://schemas.microsoft.com/office/powerpoint/2010/main" xmlns="" val="985758442"/>
      </p:ext>
    </p:extLst>
  </p:cSld>
  <p:clrMapOvr>
    <a:masterClrMapping/>
  </p:clrMapOvr>
  <p:transition>
    <p:pull dir="l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idx="1"/>
          </p:nvPr>
        </p:nvSpPr>
        <p:spPr>
          <a:xfrm>
            <a:off x="845128" y="983318"/>
            <a:ext cx="10764982" cy="5257800"/>
          </a:xfrm>
        </p:spPr>
        <p:txBody>
          <a:bodyPr>
            <a:noAutofit/>
          </a:bodyPr>
          <a:lstStyle/>
          <a:p>
            <a:pPr marL="288925" indent="-288925" algn="just">
              <a:buClr>
                <a:srgbClr val="C00000"/>
              </a:buClr>
            </a:pPr>
            <a:r>
              <a:rPr lang="ne-NP" sz="3200" b="1" dirty="0">
                <a:solidFill>
                  <a:srgbClr val="0070C0"/>
                </a:solidFill>
                <a:latin typeface="Kokila" pitchFamily="34" charset="0"/>
                <a:cs typeface="Kokila" pitchFamily="34" charset="0"/>
              </a:rPr>
              <a:t>सूचना प्रवाह खुल्ला </a:t>
            </a:r>
            <a:r>
              <a:rPr lang="ne-NP" sz="3200" b="1" dirty="0" smtClean="0">
                <a:solidFill>
                  <a:srgbClr val="0070C0"/>
                </a:solidFill>
                <a:latin typeface="Kokila" pitchFamily="34" charset="0"/>
                <a:cs typeface="Kokila" pitchFamily="34" charset="0"/>
              </a:rPr>
              <a:t>नगर्ने</a:t>
            </a:r>
            <a:r>
              <a:rPr lang="en-US" sz="3200" b="1" dirty="0" smtClean="0">
                <a:solidFill>
                  <a:srgbClr val="0070C0"/>
                </a:solidFill>
                <a:latin typeface="Kokila" pitchFamily="34" charset="0"/>
                <a:cs typeface="Kokila" pitchFamily="34" charset="0"/>
              </a:rPr>
              <a:t>/</a:t>
            </a:r>
            <a:r>
              <a:rPr lang="ne-NP" sz="3200" b="1" dirty="0" smtClean="0">
                <a:solidFill>
                  <a:srgbClr val="0070C0"/>
                </a:solidFill>
                <a:latin typeface="Kokila" pitchFamily="34" charset="0"/>
                <a:cs typeface="Kokila" pitchFamily="34" charset="0"/>
              </a:rPr>
              <a:t>तथ्याङ्क </a:t>
            </a:r>
            <a:r>
              <a:rPr lang="ne-NP" sz="3200" b="1" dirty="0">
                <a:solidFill>
                  <a:srgbClr val="0070C0"/>
                </a:solidFill>
                <a:latin typeface="Kokila" pitchFamily="34" charset="0"/>
                <a:cs typeface="Kokila" pitchFamily="34" charset="0"/>
              </a:rPr>
              <a:t>अभिलेख अलग राख्ने,</a:t>
            </a:r>
          </a:p>
          <a:p>
            <a:pPr marL="288925" indent="-288925" algn="just">
              <a:buClr>
                <a:srgbClr val="C00000"/>
              </a:buClr>
            </a:pPr>
            <a:r>
              <a:rPr lang="ne-NP" sz="3200" b="1" dirty="0">
                <a:solidFill>
                  <a:srgbClr val="0070C0"/>
                </a:solidFill>
                <a:latin typeface="Kokila" pitchFamily="34" charset="0"/>
                <a:cs typeface="Kokila" pitchFamily="34" charset="0"/>
              </a:rPr>
              <a:t>फैसलामा वन्द इजलाशवाट हेरिएको व्यहोरा उल्लेख गर्ने,</a:t>
            </a:r>
          </a:p>
          <a:p>
            <a:pPr marL="288925" indent="-288925" algn="just">
              <a:buClr>
                <a:srgbClr val="C00000"/>
              </a:buClr>
            </a:pPr>
            <a:r>
              <a:rPr lang="ne-NP" sz="3200" b="1" dirty="0">
                <a:solidFill>
                  <a:srgbClr val="0070C0"/>
                </a:solidFill>
                <a:latin typeface="Kokila" pitchFamily="34" charset="0"/>
                <a:cs typeface="Kokila" pitchFamily="34" charset="0"/>
              </a:rPr>
              <a:t>उपस्थित होइन अगुवाई गर्ने, </a:t>
            </a:r>
          </a:p>
          <a:p>
            <a:pPr marL="288925" indent="-288925" algn="just">
              <a:buClr>
                <a:srgbClr val="C00000"/>
              </a:buClr>
            </a:pPr>
            <a:r>
              <a:rPr lang="ne-NP" sz="3200" b="1" dirty="0">
                <a:solidFill>
                  <a:srgbClr val="0070C0"/>
                </a:solidFill>
                <a:latin typeface="Kokila" pitchFamily="34" charset="0"/>
                <a:cs typeface="Kokila" pitchFamily="34" charset="0"/>
              </a:rPr>
              <a:t>वन्द इजलाशको वारेमा </a:t>
            </a:r>
            <a:r>
              <a:rPr lang="ne-NP" sz="3200" b="1" dirty="0" smtClean="0">
                <a:solidFill>
                  <a:srgbClr val="0070C0"/>
                </a:solidFill>
                <a:latin typeface="Kokila" pitchFamily="34" charset="0"/>
                <a:cs typeface="Kokila" pitchFamily="34" charset="0"/>
              </a:rPr>
              <a:t>स्थानिय </a:t>
            </a:r>
            <a:r>
              <a:rPr lang="ne-NP" sz="3200" b="1" dirty="0">
                <a:solidFill>
                  <a:srgbClr val="0070C0"/>
                </a:solidFill>
                <a:latin typeface="Kokila" pitchFamily="34" charset="0"/>
                <a:cs typeface="Kokila" pitchFamily="34" charset="0"/>
              </a:rPr>
              <a:t>पत्रकार र कानून व्यवसायीसंग नियमित अन्तरकृया गर्ने, </a:t>
            </a:r>
          </a:p>
          <a:p>
            <a:pPr marL="288925" indent="-288925" algn="just">
              <a:buClr>
                <a:srgbClr val="C00000"/>
              </a:buClr>
            </a:pPr>
            <a:r>
              <a:rPr lang="ne-NP" sz="3200" b="1" dirty="0">
                <a:solidFill>
                  <a:srgbClr val="0070C0"/>
                </a:solidFill>
                <a:latin typeface="Kokila" pitchFamily="34" charset="0"/>
                <a:cs typeface="Kokila" pitchFamily="34" charset="0"/>
              </a:rPr>
              <a:t>मुद्दाको नाम सार्वजनिककरण नगर्ने, </a:t>
            </a:r>
          </a:p>
          <a:p>
            <a:pPr marL="288925" indent="-288925" algn="just">
              <a:buClr>
                <a:srgbClr val="C00000"/>
              </a:buClr>
            </a:pPr>
            <a:r>
              <a:rPr lang="ne-NP" sz="3200" b="1" dirty="0">
                <a:solidFill>
                  <a:srgbClr val="0070C0"/>
                </a:solidFill>
                <a:latin typeface="Kokila" pitchFamily="34" charset="0"/>
                <a:cs typeface="Kokila" pitchFamily="34" charset="0"/>
              </a:rPr>
              <a:t>म्याद थप गरेकै अवस्थामा वन्द इजलाश,</a:t>
            </a:r>
          </a:p>
          <a:p>
            <a:pPr marL="288925" indent="-288925" algn="just">
              <a:buClr>
                <a:srgbClr val="C00000"/>
              </a:buClr>
            </a:pPr>
            <a:r>
              <a:rPr lang="ne-NP" sz="3200" b="1" dirty="0">
                <a:solidFill>
                  <a:srgbClr val="0070C0"/>
                </a:solidFill>
                <a:latin typeface="Kokila" pitchFamily="34" charset="0"/>
                <a:cs typeface="Kokila" pitchFamily="34" charset="0"/>
              </a:rPr>
              <a:t>शिघ्र सोधपुछ र जिरह, </a:t>
            </a:r>
          </a:p>
          <a:p>
            <a:pPr marL="288925" indent="-288925" algn="just">
              <a:buClr>
                <a:srgbClr val="C00000"/>
              </a:buClr>
            </a:pPr>
            <a:r>
              <a:rPr lang="ne-NP" sz="3200" b="1" dirty="0">
                <a:solidFill>
                  <a:srgbClr val="0070C0"/>
                </a:solidFill>
                <a:latin typeface="Kokila" pitchFamily="34" charset="0"/>
                <a:cs typeface="Kokila" pitchFamily="34" charset="0"/>
              </a:rPr>
              <a:t>न्यायाधीश मार्फत प्रश्न सोध्ने,  </a:t>
            </a:r>
          </a:p>
          <a:p>
            <a:pPr marL="288925" indent="-288925" algn="just">
              <a:buClr>
                <a:srgbClr val="C00000"/>
              </a:buClr>
            </a:pPr>
            <a:r>
              <a:rPr lang="ne-NP" sz="3200" b="1" dirty="0">
                <a:solidFill>
                  <a:srgbClr val="0070C0"/>
                </a:solidFill>
                <a:latin typeface="Kokila" pitchFamily="34" charset="0"/>
                <a:cs typeface="Kokila" pitchFamily="34" charset="0"/>
              </a:rPr>
              <a:t>विश्राम दिनु पर्ने</a:t>
            </a:r>
          </a:p>
        </p:txBody>
      </p:sp>
      <p:sp>
        <p:nvSpPr>
          <p:cNvPr id="57346" name="Rectangle 2"/>
          <p:cNvSpPr>
            <a:spLocks noGrp="1" noChangeArrowheads="1"/>
          </p:cNvSpPr>
          <p:nvPr>
            <p:ph type="title"/>
          </p:nvPr>
        </p:nvSpPr>
        <p:spPr>
          <a:xfrm>
            <a:off x="1676399" y="228600"/>
            <a:ext cx="9975273" cy="762000"/>
          </a:xfrm>
        </p:spPr>
        <p:txBody>
          <a:bodyPr>
            <a:noAutofit/>
          </a:bodyPr>
          <a:lstStyle/>
          <a:p>
            <a:pPr algn="r"/>
            <a:r>
              <a:rPr lang="ne-NP" sz="4000" dirty="0">
                <a:solidFill>
                  <a:srgbClr val="002060"/>
                </a:solidFill>
                <a:latin typeface="Kokila" pitchFamily="34" charset="0"/>
                <a:cs typeface="Kokila" pitchFamily="34" charset="0"/>
              </a:rPr>
              <a:t>बन्द इजलास र गोपनीयता सम्बन्धी कार्यविधि </a:t>
            </a:r>
            <a:r>
              <a:rPr lang="en-US" sz="4000" dirty="0">
                <a:solidFill>
                  <a:srgbClr val="002060"/>
                </a:solidFill>
                <a:latin typeface="Kokila" pitchFamily="34" charset="0"/>
                <a:cs typeface="Kokila" pitchFamily="34" charset="0"/>
              </a:rPr>
              <a:t>(</a:t>
            </a:r>
            <a:r>
              <a:rPr lang="ne-NP" sz="4000" dirty="0">
                <a:solidFill>
                  <a:srgbClr val="002060"/>
                </a:solidFill>
                <a:latin typeface="Kokila" pitchFamily="34" charset="0"/>
                <a:cs typeface="Kokila" pitchFamily="34" charset="0"/>
              </a:rPr>
              <a:t>क्रमश...</a:t>
            </a:r>
            <a:r>
              <a:rPr lang="en-US" sz="4000" dirty="0">
                <a:solidFill>
                  <a:srgbClr val="002060"/>
                </a:solidFill>
                <a:latin typeface="Kokila" pitchFamily="34" charset="0"/>
                <a:cs typeface="Kokila" pitchFamily="34" charset="0"/>
              </a:rPr>
              <a:t>)</a:t>
            </a:r>
          </a:p>
        </p:txBody>
      </p:sp>
    </p:spTree>
    <p:extLst>
      <p:ext uri="{BB962C8B-B14F-4D97-AF65-F5344CB8AC3E}">
        <p14:creationId xmlns:p14="http://schemas.microsoft.com/office/powerpoint/2010/main" xmlns="" val="2330971777"/>
      </p:ext>
    </p:extLst>
  </p:cSld>
  <p:clrMapOvr>
    <a:masterClrMapping/>
  </p:clrMapOvr>
  <p:transition>
    <p:split orient="vert" dir="in"/>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idx="1"/>
          </p:nvPr>
        </p:nvSpPr>
        <p:spPr>
          <a:xfrm>
            <a:off x="1544782" y="1080300"/>
            <a:ext cx="8839200" cy="5257800"/>
          </a:xfrm>
        </p:spPr>
        <p:txBody>
          <a:bodyPr>
            <a:noAutofit/>
          </a:bodyPr>
          <a:lstStyle/>
          <a:p>
            <a:pPr marL="288925" indent="-288925" algn="just">
              <a:buClr>
                <a:srgbClr val="C00000"/>
              </a:buClr>
            </a:pPr>
            <a:r>
              <a:rPr lang="ne-NP" sz="3200" b="1" dirty="0">
                <a:solidFill>
                  <a:srgbClr val="0070C0"/>
                </a:solidFill>
                <a:latin typeface="Kokila" pitchFamily="34" charset="0"/>
                <a:cs typeface="Kokila" pitchFamily="34" charset="0"/>
              </a:rPr>
              <a:t>संरक्षक राख्ने,</a:t>
            </a:r>
          </a:p>
          <a:p>
            <a:pPr marL="288925" indent="-288925" algn="just">
              <a:buClr>
                <a:srgbClr val="C00000"/>
              </a:buClr>
            </a:pPr>
            <a:r>
              <a:rPr lang="ne-NP" sz="3200" b="1" dirty="0">
                <a:solidFill>
                  <a:srgbClr val="0070C0"/>
                </a:solidFill>
                <a:latin typeface="Kokila" pitchFamily="34" charset="0"/>
                <a:cs typeface="Kokila" pitchFamily="34" charset="0"/>
              </a:rPr>
              <a:t>बन्द इजलासको कारवाही प्रकाश पार्न नहुने ।</a:t>
            </a:r>
          </a:p>
          <a:p>
            <a:pPr marL="288925" indent="-288925" algn="just">
              <a:buClr>
                <a:srgbClr val="C00000"/>
              </a:buClr>
            </a:pPr>
            <a:r>
              <a:rPr lang="ne-NP" sz="3200" b="1" dirty="0">
                <a:solidFill>
                  <a:srgbClr val="0070C0"/>
                </a:solidFill>
                <a:latin typeface="Kokila" pitchFamily="34" charset="0"/>
                <a:cs typeface="Kokila" pitchFamily="34" charset="0"/>
              </a:rPr>
              <a:t>न्यायिक प्रक्रिया प्रति पीडितको विश्वास जगाउने, </a:t>
            </a:r>
          </a:p>
          <a:p>
            <a:pPr marL="288925" indent="-288925" algn="just">
              <a:buClr>
                <a:srgbClr val="C00000"/>
              </a:buClr>
            </a:pPr>
            <a:r>
              <a:rPr lang="ne-NP" sz="3200" b="1" dirty="0">
                <a:solidFill>
                  <a:srgbClr val="0070C0"/>
                </a:solidFill>
                <a:latin typeface="Kokila" pitchFamily="34" charset="0"/>
                <a:cs typeface="Kokila" pitchFamily="34" charset="0"/>
              </a:rPr>
              <a:t>न्यायाधीशको हस्तक्षेपकारी भूमिका, </a:t>
            </a:r>
          </a:p>
          <a:p>
            <a:pPr marL="288925" indent="-288925" algn="just">
              <a:buClr>
                <a:srgbClr val="C00000"/>
              </a:buClr>
            </a:pPr>
            <a:r>
              <a:rPr lang="en-US" sz="3200" b="1" dirty="0">
                <a:solidFill>
                  <a:srgbClr val="0070C0"/>
                </a:solidFill>
                <a:latin typeface="Kokila" pitchFamily="34" charset="0"/>
                <a:cs typeface="Kokila" pitchFamily="34" charset="0"/>
              </a:rPr>
              <a:t>Trauma Counseling</a:t>
            </a:r>
            <a:r>
              <a:rPr lang="ne-NP" sz="3200" b="1" dirty="0">
                <a:solidFill>
                  <a:srgbClr val="0070C0"/>
                </a:solidFill>
                <a:latin typeface="Kokila" pitchFamily="34" charset="0"/>
                <a:cs typeface="Kokila" pitchFamily="34" charset="0"/>
              </a:rPr>
              <a:t> </a:t>
            </a:r>
            <a:r>
              <a:rPr lang="ne-NP" sz="3200" b="1" dirty="0" smtClean="0">
                <a:solidFill>
                  <a:srgbClr val="0070C0"/>
                </a:solidFill>
                <a:latin typeface="Kokila" pitchFamily="34" charset="0"/>
                <a:cs typeface="Kokila" pitchFamily="34" charset="0"/>
              </a:rPr>
              <a:t>गर्ने, </a:t>
            </a:r>
            <a:endParaRPr lang="ne-NP" sz="3200" b="1" dirty="0">
              <a:solidFill>
                <a:srgbClr val="0070C0"/>
              </a:solidFill>
              <a:latin typeface="Kokila" pitchFamily="34" charset="0"/>
              <a:cs typeface="Kokila" pitchFamily="34" charset="0"/>
            </a:endParaRPr>
          </a:p>
          <a:p>
            <a:pPr marL="288925" indent="-288925" algn="just">
              <a:buClr>
                <a:srgbClr val="C00000"/>
              </a:buClr>
            </a:pPr>
            <a:r>
              <a:rPr lang="ne-NP" sz="3200" b="1" dirty="0">
                <a:solidFill>
                  <a:srgbClr val="0070C0"/>
                </a:solidFill>
                <a:latin typeface="Kokila" pitchFamily="34" charset="0"/>
                <a:cs typeface="Kokila" pitchFamily="34" charset="0"/>
              </a:rPr>
              <a:t>प्रतिवादीको उपस्थितिलाई अप्रत्यक्ष गराउने, </a:t>
            </a:r>
          </a:p>
          <a:p>
            <a:pPr marL="288925" indent="-288925" algn="just">
              <a:buClr>
                <a:srgbClr val="C00000"/>
              </a:buClr>
            </a:pPr>
            <a:r>
              <a:rPr lang="ne-NP" sz="3200" b="1" dirty="0">
                <a:solidFill>
                  <a:srgbClr val="0070C0"/>
                </a:solidFill>
                <a:latin typeface="Kokila" pitchFamily="34" charset="0"/>
                <a:cs typeface="Kokila" pitchFamily="34" charset="0"/>
              </a:rPr>
              <a:t>वन्द इजलाशको भौतिक </a:t>
            </a:r>
            <a:r>
              <a:rPr lang="ne-NP" sz="3200" b="1" dirty="0" smtClean="0">
                <a:solidFill>
                  <a:srgbClr val="0070C0"/>
                </a:solidFill>
                <a:latin typeface="Kokila" pitchFamily="34" charset="0"/>
                <a:cs typeface="Kokila" pitchFamily="34" charset="0"/>
              </a:rPr>
              <a:t>अवस्था सुदृढ पार्ने,</a:t>
            </a:r>
            <a:r>
              <a:rPr lang="ne-NP" sz="3200" b="1" dirty="0">
                <a:solidFill>
                  <a:srgbClr val="0070C0"/>
                </a:solidFill>
                <a:latin typeface="Kokila" pitchFamily="34" charset="0"/>
                <a:cs typeface="Kokila" pitchFamily="34" charset="0"/>
              </a:rPr>
              <a:t>			</a:t>
            </a:r>
          </a:p>
          <a:p>
            <a:pPr marL="288925" indent="-288925" algn="just">
              <a:buClr>
                <a:srgbClr val="C00000"/>
              </a:buClr>
            </a:pPr>
            <a:r>
              <a:rPr lang="ne-NP" sz="3200" b="1" dirty="0">
                <a:solidFill>
                  <a:srgbClr val="0070C0"/>
                </a:solidFill>
                <a:latin typeface="Kokila" pitchFamily="34" charset="0"/>
                <a:cs typeface="Kokila" pitchFamily="34" charset="0"/>
              </a:rPr>
              <a:t>अलग्गै अनुसन्धान अधिकारी तोकिनु पर्ने,</a:t>
            </a:r>
          </a:p>
          <a:p>
            <a:pPr marL="288925" indent="-288925" algn="just">
              <a:buClr>
                <a:srgbClr val="C00000"/>
              </a:buClr>
            </a:pPr>
            <a:r>
              <a:rPr lang="ne-NP" sz="3200" b="1" dirty="0">
                <a:solidFill>
                  <a:srgbClr val="0070C0"/>
                </a:solidFill>
                <a:latin typeface="Kokila" pitchFamily="34" charset="0"/>
                <a:cs typeface="Kokila" pitchFamily="34" charset="0"/>
              </a:rPr>
              <a:t>मुद्दाको कारवाहीको जानकारी लिन सक्ने। </a:t>
            </a:r>
          </a:p>
        </p:txBody>
      </p:sp>
      <p:sp>
        <p:nvSpPr>
          <p:cNvPr id="57346" name="Rectangle 2"/>
          <p:cNvSpPr>
            <a:spLocks noGrp="1" noChangeArrowheads="1"/>
          </p:cNvSpPr>
          <p:nvPr>
            <p:ph type="title"/>
          </p:nvPr>
        </p:nvSpPr>
        <p:spPr>
          <a:xfrm>
            <a:off x="1676399" y="228600"/>
            <a:ext cx="9781309" cy="762000"/>
          </a:xfrm>
        </p:spPr>
        <p:txBody>
          <a:bodyPr>
            <a:noAutofit/>
          </a:bodyPr>
          <a:lstStyle/>
          <a:p>
            <a:pPr algn="r"/>
            <a:r>
              <a:rPr lang="ne-NP" sz="4000" dirty="0">
                <a:solidFill>
                  <a:srgbClr val="002060"/>
                </a:solidFill>
                <a:latin typeface="Kokila" pitchFamily="34" charset="0"/>
                <a:cs typeface="Kokila" pitchFamily="34" charset="0"/>
              </a:rPr>
              <a:t>बन्द इजलास र गोपनीयता सम्बन्धी कार्यविधि </a:t>
            </a:r>
            <a:r>
              <a:rPr lang="en-US" sz="4000" dirty="0">
                <a:solidFill>
                  <a:srgbClr val="002060"/>
                </a:solidFill>
                <a:latin typeface="Kokila" pitchFamily="34" charset="0"/>
                <a:cs typeface="Kokila" pitchFamily="34" charset="0"/>
              </a:rPr>
              <a:t>(</a:t>
            </a:r>
            <a:r>
              <a:rPr lang="ne-NP" sz="4000" dirty="0">
                <a:solidFill>
                  <a:srgbClr val="002060"/>
                </a:solidFill>
                <a:latin typeface="Kokila" pitchFamily="34" charset="0"/>
                <a:cs typeface="Kokila" pitchFamily="34" charset="0"/>
              </a:rPr>
              <a:t>क्रमश...</a:t>
            </a:r>
            <a:r>
              <a:rPr lang="en-US" sz="4000" dirty="0">
                <a:solidFill>
                  <a:srgbClr val="002060"/>
                </a:solidFill>
                <a:latin typeface="Kokila" pitchFamily="34" charset="0"/>
                <a:cs typeface="Kokila" pitchFamily="34" charset="0"/>
              </a:rPr>
              <a:t>)</a:t>
            </a:r>
          </a:p>
        </p:txBody>
      </p:sp>
    </p:spTree>
    <p:extLst>
      <p:ext uri="{BB962C8B-B14F-4D97-AF65-F5344CB8AC3E}">
        <p14:creationId xmlns:p14="http://schemas.microsoft.com/office/powerpoint/2010/main" xmlns="" val="2195188694"/>
      </p:ext>
    </p:extLst>
  </p:cSld>
  <p:clrMapOvr>
    <a:masterClrMapping/>
  </p:clrMapOvr>
  <p:transition>
    <p:pull dir="l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066800"/>
            <a:ext cx="10972800" cy="5153891"/>
          </a:xfrm>
        </p:spPr>
        <p:txBody>
          <a:bodyPr>
            <a:normAutofit fontScale="92500"/>
          </a:bodyPr>
          <a:lstStyle/>
          <a:p>
            <a:pPr marL="111125" indent="-1588">
              <a:buNone/>
            </a:pPr>
            <a:r>
              <a:rPr lang="ne-NP" b="1" dirty="0" smtClean="0">
                <a:solidFill>
                  <a:srgbClr val="0070C0"/>
                </a:solidFill>
                <a:latin typeface="Kokila" pitchFamily="34" charset="0"/>
                <a:cs typeface="Kokila" pitchFamily="34" charset="0"/>
              </a:rPr>
              <a:t>सम्बन्धित अधिकारीले निर्णय गरी तोकिदिएका देहायका</a:t>
            </a:r>
            <a:r>
              <a:rPr lang="en-US" b="1" dirty="0" smtClean="0">
                <a:solidFill>
                  <a:srgbClr val="0070C0"/>
                </a:solidFill>
                <a:latin typeface="Kokila" pitchFamily="34" charset="0"/>
                <a:cs typeface="Kokila" pitchFamily="34" charset="0"/>
              </a:rPr>
              <a:t> </a:t>
            </a:r>
            <a:r>
              <a:rPr lang="ne-NP" b="1" dirty="0" smtClean="0">
                <a:solidFill>
                  <a:srgbClr val="0070C0"/>
                </a:solidFill>
                <a:latin typeface="Kokila" pitchFamily="34" charset="0"/>
                <a:cs typeface="Kokila" pitchFamily="34" charset="0"/>
              </a:rPr>
              <a:t>प्रकृतिका मुद्दाहरूमा व्यक्तिहरूको व्यक्तिगत परिचयात्मक विवरण गोप्य राख्नुपर्नेः</a:t>
            </a:r>
          </a:p>
          <a:p>
            <a:pPr>
              <a:buNone/>
            </a:pPr>
            <a:r>
              <a:rPr lang="ne-NP" b="1" dirty="0" smtClean="0">
                <a:solidFill>
                  <a:srgbClr val="0070C0"/>
                </a:solidFill>
                <a:latin typeface="Kokila" pitchFamily="34" charset="0"/>
                <a:cs typeface="Kokila" pitchFamily="34" charset="0"/>
              </a:rPr>
              <a:t>(क) पीडितको रूपमा महिला संलग्न भएका देहायका मुद्दाहरू–</a:t>
            </a:r>
          </a:p>
          <a:p>
            <a:pPr lvl="2">
              <a:buNone/>
            </a:pPr>
            <a:r>
              <a:rPr lang="ne-NP" b="1" dirty="0" smtClean="0">
                <a:solidFill>
                  <a:srgbClr val="0070C0"/>
                </a:solidFill>
                <a:latin typeface="Kokila" pitchFamily="34" charset="0"/>
                <a:cs typeface="Kokila" pitchFamily="34" charset="0"/>
              </a:rPr>
              <a:t>(१) जबरजस्ती करणी सम्बन्धी मुद्दा</a:t>
            </a:r>
          </a:p>
          <a:p>
            <a:pPr lvl="2">
              <a:buNone/>
            </a:pPr>
            <a:r>
              <a:rPr lang="ne-NP" b="1" dirty="0" smtClean="0">
                <a:solidFill>
                  <a:srgbClr val="0070C0"/>
                </a:solidFill>
                <a:latin typeface="Kokila" pitchFamily="34" charset="0"/>
                <a:cs typeface="Kokila" pitchFamily="34" charset="0"/>
              </a:rPr>
              <a:t>(२) गर्भपतन सम्बन्धी मुद्दा</a:t>
            </a:r>
          </a:p>
          <a:p>
            <a:pPr lvl="2">
              <a:buNone/>
            </a:pPr>
            <a:r>
              <a:rPr lang="ne-NP" b="1" dirty="0" smtClean="0">
                <a:solidFill>
                  <a:srgbClr val="0070C0"/>
                </a:solidFill>
                <a:latin typeface="Kokila" pitchFamily="34" charset="0"/>
                <a:cs typeface="Kokila" pitchFamily="34" charset="0"/>
              </a:rPr>
              <a:t>(३) महिलामाथि भएका जुनसुकै प्रकारका यौन दुव्र्यवहार सम्बन्धी मुद्दाहरू</a:t>
            </a:r>
          </a:p>
          <a:p>
            <a:pPr lvl="2">
              <a:buNone/>
            </a:pPr>
            <a:r>
              <a:rPr lang="ne-NP" b="1" dirty="0" smtClean="0">
                <a:solidFill>
                  <a:srgbClr val="0070C0"/>
                </a:solidFill>
                <a:latin typeface="Kokila" pitchFamily="34" charset="0"/>
                <a:cs typeface="Kokila" pitchFamily="34" charset="0"/>
              </a:rPr>
              <a:t>(४) मानव बेचबिखन सम्बन्धी मुद्दा</a:t>
            </a:r>
          </a:p>
          <a:p>
            <a:pPr lvl="2">
              <a:buNone/>
            </a:pPr>
            <a:r>
              <a:rPr lang="ne-NP" b="1" dirty="0" smtClean="0">
                <a:solidFill>
                  <a:srgbClr val="0070C0"/>
                </a:solidFill>
                <a:latin typeface="Kokila" pitchFamily="34" charset="0"/>
                <a:cs typeface="Kokila" pitchFamily="34" charset="0"/>
              </a:rPr>
              <a:t>(५) जीउ मास्ने–बेच्ने सम्बन्धी मुद्दा</a:t>
            </a:r>
          </a:p>
          <a:p>
            <a:pPr lvl="2">
              <a:buNone/>
            </a:pPr>
            <a:r>
              <a:rPr lang="ne-NP" b="1" dirty="0" smtClean="0">
                <a:solidFill>
                  <a:srgbClr val="0070C0"/>
                </a:solidFill>
                <a:latin typeface="Kokila" pitchFamily="34" charset="0"/>
                <a:cs typeface="Kokila" pitchFamily="34" charset="0"/>
              </a:rPr>
              <a:t>(६) हाडनाता करणी सम्बन्धी मुद्दा</a:t>
            </a:r>
          </a:p>
          <a:p>
            <a:pPr lvl="2">
              <a:buNone/>
            </a:pPr>
            <a:r>
              <a:rPr lang="ne-NP" b="1" dirty="0" smtClean="0">
                <a:solidFill>
                  <a:srgbClr val="0070C0"/>
                </a:solidFill>
                <a:latin typeface="Kokila" pitchFamily="34" charset="0"/>
                <a:cs typeface="Kokila" pitchFamily="34" charset="0"/>
              </a:rPr>
              <a:t>(७) महिलाविरुद्धको हिंसा सम्बन्धी मुद्दा</a:t>
            </a:r>
          </a:p>
          <a:p>
            <a:pPr lvl="2">
              <a:buNone/>
            </a:pPr>
            <a:r>
              <a:rPr lang="ne-NP" b="1" dirty="0" smtClean="0">
                <a:solidFill>
                  <a:srgbClr val="0070C0"/>
                </a:solidFill>
                <a:latin typeface="Kokila" pitchFamily="34" charset="0"/>
                <a:cs typeface="Kokila" pitchFamily="34" charset="0"/>
              </a:rPr>
              <a:t>(८) मुद्दाको प्रकृति र त्यसले पीडितउपर पार्न सक्ने असरको आधारमा गोपनीयता कायम गर्नुपर्ने देखिएका अन्य मुद्दाहरू</a:t>
            </a:r>
          </a:p>
          <a:p>
            <a:pPr>
              <a:buNone/>
            </a:pPr>
            <a:r>
              <a:rPr lang="ne-NP" b="1" dirty="0" smtClean="0">
                <a:solidFill>
                  <a:srgbClr val="0070C0"/>
                </a:solidFill>
                <a:latin typeface="Kokila" pitchFamily="34" charset="0"/>
                <a:cs typeface="Kokila" pitchFamily="34" charset="0"/>
              </a:rPr>
              <a:t>(ख) बाल अदालत वा बाल इजलासबाट हेरिने बालबालिका पक्ष भएका फौजदारी मुद्दाहरू ।</a:t>
            </a:r>
          </a:p>
          <a:p>
            <a:pPr marL="623888" indent="-514350">
              <a:buNone/>
            </a:pPr>
            <a:r>
              <a:rPr lang="ne-NP" b="1" dirty="0" smtClean="0">
                <a:solidFill>
                  <a:srgbClr val="0070C0"/>
                </a:solidFill>
                <a:latin typeface="Kokila" pitchFamily="34" charset="0"/>
                <a:cs typeface="Kokila" pitchFamily="34" charset="0"/>
              </a:rPr>
              <a:t>(ग) एच.आई.भी÷एड्सबाट प्रभावित वा सङ्क्रमित भएका व्यक्तिहरूसँग सम्बन्धित त्यस्तो विवरण खुलेका मुद्दाहरू ।</a:t>
            </a:r>
          </a:p>
          <a:p>
            <a:endParaRPr lang="en-US" dirty="0"/>
          </a:p>
        </p:txBody>
      </p:sp>
      <p:sp>
        <p:nvSpPr>
          <p:cNvPr id="3" name="Title 2"/>
          <p:cNvSpPr>
            <a:spLocks noGrp="1"/>
          </p:cNvSpPr>
          <p:nvPr>
            <p:ph type="title"/>
          </p:nvPr>
        </p:nvSpPr>
        <p:spPr>
          <a:xfrm>
            <a:off x="609600" y="274638"/>
            <a:ext cx="10972800" cy="736744"/>
          </a:xfrm>
        </p:spPr>
        <p:txBody>
          <a:bodyPr>
            <a:normAutofit/>
          </a:bodyPr>
          <a:lstStyle/>
          <a:p>
            <a:r>
              <a:rPr lang="ne-NP" dirty="0" smtClean="0">
                <a:latin typeface="Kokila" pitchFamily="34" charset="0"/>
                <a:cs typeface="Kokila" pitchFamily="34" charset="0"/>
              </a:rPr>
              <a:t>व्यक्तिगत परिचयात्मक विवरण गोप्य राख्नुपर्ने</a:t>
            </a:r>
            <a:r>
              <a:rPr lang="en-US" dirty="0" smtClean="0">
                <a:latin typeface="Kokila" pitchFamily="34" charset="0"/>
                <a:cs typeface="Kokila" pitchFamily="34" charset="0"/>
              </a:rPr>
              <a:t> </a:t>
            </a:r>
            <a:r>
              <a:rPr lang="ne-NP" dirty="0" smtClean="0">
                <a:latin typeface="Kokila" pitchFamily="34" charset="0"/>
                <a:cs typeface="Kokila" pitchFamily="34" charset="0"/>
              </a:rPr>
              <a:t>मुद्दा</a:t>
            </a:r>
            <a:endParaRPr lang="en-US" dirty="0">
              <a:latin typeface="Kokila" pitchFamily="34" charset="0"/>
              <a:cs typeface="Kokila"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None/>
            </a:pPr>
            <a:r>
              <a:rPr lang="ne-NP" b="1" dirty="0" smtClean="0">
                <a:solidFill>
                  <a:srgbClr val="0070C0"/>
                </a:solidFill>
                <a:latin typeface="Kokila" pitchFamily="34" charset="0"/>
                <a:cs typeface="Kokila" pitchFamily="34" charset="0"/>
              </a:rPr>
              <a:t> अदालत तथा मुद्दा हेर्ने अन्य निकाय र पदाधिकारीहरू</a:t>
            </a:r>
          </a:p>
          <a:p>
            <a:pPr>
              <a:buNone/>
            </a:pPr>
            <a:r>
              <a:rPr lang="ne-NP" b="1" dirty="0" smtClean="0">
                <a:solidFill>
                  <a:srgbClr val="0070C0"/>
                </a:solidFill>
                <a:latin typeface="Kokila" pitchFamily="34" charset="0"/>
                <a:cs typeface="Kokila" pitchFamily="34" charset="0"/>
              </a:rPr>
              <a:t> सरकारी वकिल</a:t>
            </a:r>
          </a:p>
          <a:p>
            <a:pPr>
              <a:buNone/>
            </a:pPr>
            <a:r>
              <a:rPr lang="ne-NP" b="1" dirty="0" smtClean="0">
                <a:solidFill>
                  <a:srgbClr val="0070C0"/>
                </a:solidFill>
                <a:latin typeface="Kokila" pitchFamily="34" charset="0"/>
                <a:cs typeface="Kokila" pitchFamily="34" charset="0"/>
              </a:rPr>
              <a:t> प्रहरी कार्यालय लगायत मुद्दाको उजुरी लिने र अनुसन्धान गर्ने निकायहरू</a:t>
            </a:r>
          </a:p>
          <a:p>
            <a:pPr>
              <a:buNone/>
            </a:pPr>
            <a:r>
              <a:rPr lang="ne-NP" b="1" dirty="0" smtClean="0">
                <a:solidFill>
                  <a:srgbClr val="0070C0"/>
                </a:solidFill>
                <a:latin typeface="Kokila" pitchFamily="34" charset="0"/>
                <a:cs typeface="Kokila" pitchFamily="34" charset="0"/>
              </a:rPr>
              <a:t> कानुन व्यवसायी तथा अदालतका अन्य प्रयोगकर्ताहरू</a:t>
            </a:r>
          </a:p>
          <a:p>
            <a:pPr>
              <a:buNone/>
            </a:pPr>
            <a:r>
              <a:rPr lang="ne-NP" b="1" dirty="0" smtClean="0">
                <a:solidFill>
                  <a:srgbClr val="0070C0"/>
                </a:solidFill>
                <a:latin typeface="Kokila" pitchFamily="34" charset="0"/>
                <a:cs typeface="Kokila" pitchFamily="34" charset="0"/>
              </a:rPr>
              <a:t> सञ्चार क्षेत्र</a:t>
            </a:r>
          </a:p>
          <a:p>
            <a:pPr>
              <a:buNone/>
            </a:pPr>
            <a:r>
              <a:rPr lang="ne-NP" b="1" dirty="0" smtClean="0">
                <a:solidFill>
                  <a:srgbClr val="0070C0"/>
                </a:solidFill>
                <a:latin typeface="Kokila" pitchFamily="34" charset="0"/>
                <a:cs typeface="Kokila" pitchFamily="34" charset="0"/>
              </a:rPr>
              <a:t> परिचयात्मक विवरण गोप्य राख्नुपर्ने मुद्दाको कारबाहीमा संलग्न हुने प्रयोगशाला लगायतका अन्य निकायहरू</a:t>
            </a:r>
          </a:p>
          <a:p>
            <a:pPr>
              <a:buNone/>
            </a:pPr>
            <a:r>
              <a:rPr lang="ne-NP" b="1" dirty="0" smtClean="0">
                <a:solidFill>
                  <a:srgbClr val="0070C0"/>
                </a:solidFill>
                <a:latin typeface="Kokila" pitchFamily="34" charset="0"/>
                <a:cs typeface="Kokila" pitchFamily="34" charset="0"/>
              </a:rPr>
              <a:t> परिचयात्मक विवरण गोप्य राख्नुपर्ने मुद्दाको कारबाहीमा विशेषज्ञ</a:t>
            </a:r>
            <a:r>
              <a:rPr lang="en-US" b="1" dirty="0" smtClean="0">
                <a:solidFill>
                  <a:srgbClr val="0070C0"/>
                </a:solidFill>
                <a:latin typeface="Kokila" pitchFamily="34" charset="0"/>
                <a:cs typeface="Kokila" pitchFamily="34" charset="0"/>
              </a:rPr>
              <a:t>/</a:t>
            </a:r>
            <a:r>
              <a:rPr lang="ne-NP" b="1" dirty="0" smtClean="0">
                <a:solidFill>
                  <a:srgbClr val="0070C0"/>
                </a:solidFill>
                <a:latin typeface="Kokila" pitchFamily="34" charset="0"/>
                <a:cs typeface="Kokila" pitchFamily="34" charset="0"/>
              </a:rPr>
              <a:t>साक्षीका रूपमा उपस्थित हुने व्यक्तिहरू</a:t>
            </a:r>
          </a:p>
          <a:p>
            <a:pPr>
              <a:buNone/>
            </a:pPr>
            <a:r>
              <a:rPr lang="ne-NP" b="1" dirty="0" smtClean="0">
                <a:solidFill>
                  <a:srgbClr val="0070C0"/>
                </a:solidFill>
                <a:latin typeface="Kokila" pitchFamily="34" charset="0"/>
                <a:cs typeface="Kokila" pitchFamily="34" charset="0"/>
              </a:rPr>
              <a:t> अदालती कारबाही वा अन्य सिल्सिलामा परिचयात्मक विवरण थाहा पाएका अभिभावक, संरक्षक वा अन्य संघ संस्था र व्यक्तिहरू</a:t>
            </a:r>
          </a:p>
          <a:p>
            <a:endParaRPr lang="ne-NP" dirty="0" smtClean="0"/>
          </a:p>
          <a:p>
            <a:endParaRPr lang="ne-NP" dirty="0" smtClean="0"/>
          </a:p>
          <a:p>
            <a:endParaRPr lang="en-US" dirty="0"/>
          </a:p>
        </p:txBody>
      </p:sp>
      <p:sp>
        <p:nvSpPr>
          <p:cNvPr id="3" name="Title 2"/>
          <p:cNvSpPr>
            <a:spLocks noGrp="1"/>
          </p:cNvSpPr>
          <p:nvPr>
            <p:ph type="title"/>
          </p:nvPr>
        </p:nvSpPr>
        <p:spPr/>
        <p:txBody>
          <a:bodyPr/>
          <a:lstStyle/>
          <a:p>
            <a:r>
              <a:rPr lang="ne-NP" dirty="0" smtClean="0">
                <a:latin typeface="Kokila" pitchFamily="34" charset="0"/>
                <a:cs typeface="Kokila" pitchFamily="34" charset="0"/>
              </a:rPr>
              <a:t>सम्बद्ध निकाय र व्यक्तिहरू</a:t>
            </a:r>
            <a:endParaRPr lang="en-US" dirty="0">
              <a:latin typeface="Kokila" pitchFamily="34" charset="0"/>
              <a:cs typeface="Kokila"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ne-NP" b="1" dirty="0" smtClean="0">
                <a:solidFill>
                  <a:srgbClr val="0070C0"/>
                </a:solidFill>
                <a:latin typeface="Kokila" pitchFamily="34" charset="0"/>
                <a:cs typeface="Kokila" pitchFamily="34" charset="0"/>
              </a:rPr>
              <a:t>मुद्दाका पक्षको चरित्रमा दाग लाग्न सक्ने किसिमको अवस्था</a:t>
            </a:r>
          </a:p>
          <a:p>
            <a:r>
              <a:rPr lang="ne-NP" b="1" dirty="0" smtClean="0">
                <a:solidFill>
                  <a:srgbClr val="0070C0"/>
                </a:solidFill>
                <a:latin typeface="Kokila" pitchFamily="34" charset="0"/>
                <a:cs typeface="Kokila" pitchFamily="34" charset="0"/>
              </a:rPr>
              <a:t>मुद्दाका पक्षको सहपाठी÷सहकर्मीहरूसँगको सम्बन्धमा प्रतिकूल असर पर्ने अवस्था</a:t>
            </a:r>
          </a:p>
          <a:p>
            <a:r>
              <a:rPr lang="ne-NP" b="1" dirty="0" smtClean="0">
                <a:solidFill>
                  <a:srgbClr val="0070C0"/>
                </a:solidFill>
                <a:latin typeface="Kokila" pitchFamily="34" charset="0"/>
                <a:cs typeface="Kokila" pitchFamily="34" charset="0"/>
              </a:rPr>
              <a:t>पक्षको मनोभावनामा हीनतावोध सिर्जना हुने अवस्था</a:t>
            </a:r>
          </a:p>
          <a:p>
            <a:r>
              <a:rPr lang="ne-NP" b="1" dirty="0" smtClean="0">
                <a:solidFill>
                  <a:srgbClr val="0070C0"/>
                </a:solidFill>
                <a:latin typeface="Kokila" pitchFamily="34" charset="0"/>
                <a:cs typeface="Kokila" pitchFamily="34" charset="0"/>
              </a:rPr>
              <a:t>पक्षको पारिवारिक सम्बन्धमा खलल पर्ने अवस्था</a:t>
            </a:r>
          </a:p>
          <a:p>
            <a:r>
              <a:rPr lang="ne-NP" b="1" dirty="0" smtClean="0">
                <a:solidFill>
                  <a:srgbClr val="0070C0"/>
                </a:solidFill>
                <a:latin typeface="Kokila" pitchFamily="34" charset="0"/>
                <a:cs typeface="Kokila" pitchFamily="34" charset="0"/>
              </a:rPr>
              <a:t>पक्षलाई सामाजिक पूर्वाग्रह</a:t>
            </a:r>
            <a:r>
              <a:rPr lang="en-US" b="1" dirty="0" smtClean="0">
                <a:solidFill>
                  <a:srgbClr val="0070C0"/>
                </a:solidFill>
                <a:latin typeface="Kokila" pitchFamily="34" charset="0"/>
                <a:cs typeface="Kokila" pitchFamily="34" charset="0"/>
              </a:rPr>
              <a:t>/</a:t>
            </a:r>
            <a:r>
              <a:rPr lang="ne-NP" b="1" dirty="0" smtClean="0">
                <a:solidFill>
                  <a:srgbClr val="0070C0"/>
                </a:solidFill>
                <a:latin typeface="Kokila" pitchFamily="34" charset="0"/>
                <a:cs typeface="Kokila" pitchFamily="34" charset="0"/>
              </a:rPr>
              <a:t>नकारात्मक धारणाबाट संरक्षण गर्नुपर्ने अवस्था</a:t>
            </a:r>
          </a:p>
          <a:p>
            <a:r>
              <a:rPr lang="ne-NP" b="1" dirty="0" smtClean="0">
                <a:solidFill>
                  <a:srgbClr val="0070C0"/>
                </a:solidFill>
                <a:latin typeface="Kokila" pitchFamily="34" charset="0"/>
                <a:cs typeface="Kokila" pitchFamily="34" charset="0"/>
              </a:rPr>
              <a:t>पक्षहरूको सुरक्षामा खतरा उत्पन्न हुनसक्ने अवस्था</a:t>
            </a:r>
          </a:p>
          <a:p>
            <a:endParaRPr lang="en-US" dirty="0"/>
          </a:p>
        </p:txBody>
      </p:sp>
      <p:sp>
        <p:nvSpPr>
          <p:cNvPr id="3" name="Title 2"/>
          <p:cNvSpPr>
            <a:spLocks noGrp="1"/>
          </p:cNvSpPr>
          <p:nvPr>
            <p:ph type="title"/>
          </p:nvPr>
        </p:nvSpPr>
        <p:spPr>
          <a:xfrm>
            <a:off x="609600" y="274638"/>
            <a:ext cx="10972800" cy="944562"/>
          </a:xfrm>
        </p:spPr>
        <p:txBody>
          <a:bodyPr>
            <a:normAutofit/>
          </a:bodyPr>
          <a:lstStyle/>
          <a:p>
            <a:r>
              <a:rPr lang="ne-NP" dirty="0" smtClean="0">
                <a:latin typeface="Kokila" pitchFamily="34" charset="0"/>
                <a:cs typeface="Kokila" pitchFamily="34" charset="0"/>
              </a:rPr>
              <a:t>परिचयात्मक विवरण गोप्य राख्ने निर्णय गर्दा विचार गर्नुपर्ने अवस्थाहरू</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885825"/>
            <a:ext cx="10972800" cy="5414963"/>
          </a:xfrm>
        </p:spPr>
        <p:txBody>
          <a:bodyPr>
            <a:normAutofit fontScale="92500"/>
          </a:bodyPr>
          <a:lstStyle/>
          <a:p>
            <a:r>
              <a:rPr lang="ne-NP" b="1" dirty="0" smtClean="0">
                <a:solidFill>
                  <a:srgbClr val="0070C0"/>
                </a:solidFill>
                <a:latin typeface="Kokila" pitchFamily="34" charset="0"/>
                <a:cs typeface="Kokila" pitchFamily="34" charset="0"/>
              </a:rPr>
              <a:t>न्यायिक कारबाही सार्वजनिक रूपमा सञ्चालन हुनुपर्छ भन्ने कुरा विश्वव्यापी मान्यताकै विषय हुने ।</a:t>
            </a:r>
          </a:p>
          <a:p>
            <a:r>
              <a:rPr lang="ne-NP" b="1" dirty="0" smtClean="0">
                <a:solidFill>
                  <a:srgbClr val="0070C0"/>
                </a:solidFill>
                <a:latin typeface="Kokila" pitchFamily="34" charset="0"/>
                <a:cs typeface="Kokila" pitchFamily="34" charset="0"/>
              </a:rPr>
              <a:t>वास्तवमा न्यायिक कारबाहीमा निष्पक्षताको प्रत्याभूतिको लागि, न्यायिक कारबाहीमा संलग्न न्यायकर्मीहरूमा उत्तरदायित्व वृद्धिका लागि र न्यायिक प्रक्रियाप्रति जनसाधारणको आस्था र विश्वास अभिवृद्धिका लागि खुला रूपमा गरिने कारबाहीको ठूलो महत्व रहने।</a:t>
            </a:r>
          </a:p>
          <a:p>
            <a:r>
              <a:rPr lang="ne-NP" b="1" dirty="0" smtClean="0">
                <a:solidFill>
                  <a:srgbClr val="0070C0"/>
                </a:solidFill>
                <a:latin typeface="Kokila" pitchFamily="34" charset="0"/>
                <a:cs typeface="Kokila" pitchFamily="34" charset="0"/>
              </a:rPr>
              <a:t>मुद्दामा संलग्न पक्षहरू वा पीडितहरूको व्यक्तिगत विवरण गोप्य राख्ने वा इजलासको कारबाही बन्द रूपमा सञ्चालन गर्ने कुरा अपवादात्मक अवस्था हुने । </a:t>
            </a:r>
          </a:p>
          <a:p>
            <a:r>
              <a:rPr lang="ne-NP" b="1" dirty="0" smtClean="0">
                <a:solidFill>
                  <a:srgbClr val="0070C0"/>
                </a:solidFill>
                <a:latin typeface="Kokila" pitchFamily="34" charset="0"/>
                <a:cs typeface="Kokila" pitchFamily="34" charset="0"/>
              </a:rPr>
              <a:t>कारबाहीमा गोपनीयता कायम गर्ने कुरा पनि न्यायको मूलभूत उद्देश्य प्राप्तिका लागि नै हो भन्ने कुरा बिर्सन हुँदैन । तर न्यायको मूलभूत उद्देश्य नै पराजित हुने अवस्थामा गोपनीयता कायम गर्ने कुराले प्राथमिकता पाउने स्थिति नहुने । </a:t>
            </a:r>
          </a:p>
          <a:p>
            <a:r>
              <a:rPr lang="ne-NP" b="1" dirty="0" smtClean="0">
                <a:solidFill>
                  <a:srgbClr val="0070C0"/>
                </a:solidFill>
                <a:latin typeface="Kokila" pitchFamily="34" charset="0"/>
                <a:cs typeface="Kokila" pitchFamily="34" charset="0"/>
              </a:rPr>
              <a:t>खास अवस्थाहरूमा व्यक्तिको परिचयात्मक विवरण गोप्य राख्नु नपर्ने हुनसक्ने । ती अवस्थाहरू देहाय अनुसार छन्</a:t>
            </a:r>
          </a:p>
          <a:p>
            <a:pPr lvl="1">
              <a:buNone/>
            </a:pPr>
            <a:r>
              <a:rPr lang="ne-NP" b="1" dirty="0" smtClean="0">
                <a:solidFill>
                  <a:srgbClr val="0070C0"/>
                </a:solidFill>
                <a:latin typeface="Kokila" pitchFamily="34" charset="0"/>
                <a:cs typeface="Kokila" pitchFamily="34" charset="0"/>
              </a:rPr>
              <a:t>४.१ खुला गर्न आवश्यक ठहराई सम्बन्धित अधिकारीले अनुमति दिएको अवस्था</a:t>
            </a:r>
          </a:p>
          <a:p>
            <a:pPr lvl="1">
              <a:buNone/>
            </a:pPr>
            <a:r>
              <a:rPr lang="ne-NP" b="1" dirty="0" smtClean="0">
                <a:solidFill>
                  <a:srgbClr val="0070C0"/>
                </a:solidFill>
                <a:latin typeface="Kokila" pitchFamily="34" charset="0"/>
                <a:cs typeface="Kokila" pitchFamily="34" charset="0"/>
              </a:rPr>
              <a:t>४.२ न्यायिक सुनुवाइमा स्वच्छताको संरक्षणका लागि आवश्यक देखिएको अवस्था</a:t>
            </a:r>
          </a:p>
          <a:p>
            <a:pPr lvl="1">
              <a:buNone/>
            </a:pPr>
            <a:r>
              <a:rPr lang="ne-NP" b="1" dirty="0" smtClean="0">
                <a:solidFill>
                  <a:srgbClr val="0070C0"/>
                </a:solidFill>
                <a:latin typeface="Kokila" pitchFamily="34" charset="0"/>
                <a:cs typeface="Kokila" pitchFamily="34" charset="0"/>
              </a:rPr>
              <a:t>४.३ गोप्य राख्न जरुरी नभएको भनी सम्बन्धित व्यक्तिले निवेदन दिएको अवस्था</a:t>
            </a:r>
          </a:p>
          <a:p>
            <a:endParaRPr lang="ne-NP" dirty="0"/>
          </a:p>
        </p:txBody>
      </p:sp>
      <p:sp>
        <p:nvSpPr>
          <p:cNvPr id="3" name="Title 2"/>
          <p:cNvSpPr>
            <a:spLocks noGrp="1"/>
          </p:cNvSpPr>
          <p:nvPr>
            <p:ph type="title"/>
          </p:nvPr>
        </p:nvSpPr>
        <p:spPr/>
        <p:txBody>
          <a:bodyPr>
            <a:normAutofit fontScale="90000"/>
          </a:bodyPr>
          <a:lstStyle/>
          <a:p>
            <a:r>
              <a:rPr lang="ne-NP" dirty="0" smtClean="0">
                <a:latin typeface="Kokila" pitchFamily="34" charset="0"/>
                <a:cs typeface="Kokila" pitchFamily="34" charset="0"/>
              </a:rPr>
              <a:t>परिचयात्मक विवरण गोप्य राख्नु नपर्ने अवस्था</a:t>
            </a:r>
            <a:br>
              <a:rPr lang="ne-NP" dirty="0" smtClean="0">
                <a:latin typeface="Kokila" pitchFamily="34" charset="0"/>
                <a:cs typeface="Kokila" pitchFamily="34" charset="0"/>
              </a:rPr>
            </a:br>
            <a:endParaRPr lang="en-US" dirty="0">
              <a:latin typeface="Kokila" pitchFamily="34" charset="0"/>
              <a:cs typeface="Kokila"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831273"/>
            <a:ext cx="10972800" cy="5555672"/>
          </a:xfrm>
        </p:spPr>
        <p:txBody>
          <a:bodyPr>
            <a:normAutofit/>
          </a:bodyPr>
          <a:lstStyle/>
          <a:p>
            <a:pPr marL="692150" indent="-582613">
              <a:buNone/>
            </a:pPr>
            <a:r>
              <a:rPr lang="ne-NP" b="1" dirty="0" smtClean="0">
                <a:solidFill>
                  <a:srgbClr val="0070C0"/>
                </a:solidFill>
                <a:latin typeface="Kokila" pitchFamily="34" charset="0"/>
                <a:cs typeface="Kokila" pitchFamily="34" charset="0"/>
              </a:rPr>
              <a:t>(क) </a:t>
            </a:r>
            <a:r>
              <a:rPr lang="en-US" b="1" dirty="0" smtClean="0">
                <a:solidFill>
                  <a:srgbClr val="0070C0"/>
                </a:solidFill>
                <a:latin typeface="Kokila" pitchFamily="34" charset="0"/>
                <a:cs typeface="Kokila" pitchFamily="34" charset="0"/>
              </a:rPr>
              <a:t>	</a:t>
            </a:r>
            <a:r>
              <a:rPr lang="ne-NP" b="1" dirty="0" smtClean="0">
                <a:solidFill>
                  <a:srgbClr val="0070C0"/>
                </a:solidFill>
                <a:latin typeface="Kokila" pitchFamily="34" charset="0"/>
                <a:cs typeface="Kokila" pitchFamily="34" charset="0"/>
              </a:rPr>
              <a:t>पीडितको नाम, थर र वतन</a:t>
            </a:r>
          </a:p>
          <a:p>
            <a:pPr marL="692150" indent="-582613">
              <a:buNone/>
            </a:pPr>
            <a:r>
              <a:rPr lang="ne-NP" b="1" dirty="0" smtClean="0">
                <a:solidFill>
                  <a:srgbClr val="0070C0"/>
                </a:solidFill>
                <a:latin typeface="Kokila" pitchFamily="34" charset="0"/>
                <a:cs typeface="Kokila" pitchFamily="34" charset="0"/>
              </a:rPr>
              <a:t>(ख) </a:t>
            </a:r>
            <a:r>
              <a:rPr lang="en-US" b="1" dirty="0" smtClean="0">
                <a:solidFill>
                  <a:srgbClr val="0070C0"/>
                </a:solidFill>
                <a:latin typeface="Kokila" pitchFamily="34" charset="0"/>
                <a:cs typeface="Kokila" pitchFamily="34" charset="0"/>
              </a:rPr>
              <a:t>	</a:t>
            </a:r>
            <a:r>
              <a:rPr lang="ne-NP" b="1" dirty="0" smtClean="0">
                <a:solidFill>
                  <a:srgbClr val="0070C0"/>
                </a:solidFill>
                <a:latin typeface="Kokila" pitchFamily="34" charset="0"/>
                <a:cs typeface="Kokila" pitchFamily="34" charset="0"/>
              </a:rPr>
              <a:t>पक्षको रूपमा रहेका बालबालिकाको</a:t>
            </a:r>
            <a:r>
              <a:rPr lang="en-US" b="1" dirty="0" smtClean="0">
                <a:solidFill>
                  <a:srgbClr val="0070C0"/>
                </a:solidFill>
                <a:latin typeface="Kokila" pitchFamily="34" charset="0"/>
                <a:cs typeface="Kokila" pitchFamily="34" charset="0"/>
              </a:rPr>
              <a:t> </a:t>
            </a:r>
            <a:r>
              <a:rPr lang="ne-NP" b="1" dirty="0" smtClean="0">
                <a:solidFill>
                  <a:srgbClr val="0070C0"/>
                </a:solidFill>
                <a:latin typeface="Kokila" pitchFamily="34" charset="0"/>
                <a:cs typeface="Kokila" pitchFamily="34" charset="0"/>
              </a:rPr>
              <a:t>नाम, थर र वतन</a:t>
            </a:r>
          </a:p>
          <a:p>
            <a:pPr marL="692150" indent="-582613">
              <a:buNone/>
            </a:pPr>
            <a:r>
              <a:rPr lang="ne-NP" b="1" dirty="0" smtClean="0">
                <a:solidFill>
                  <a:srgbClr val="0070C0"/>
                </a:solidFill>
                <a:latin typeface="Kokila" pitchFamily="34" charset="0"/>
                <a:cs typeface="Kokila" pitchFamily="34" charset="0"/>
              </a:rPr>
              <a:t>(ग) </a:t>
            </a:r>
            <a:r>
              <a:rPr lang="en-US" b="1" dirty="0" smtClean="0">
                <a:solidFill>
                  <a:srgbClr val="0070C0"/>
                </a:solidFill>
                <a:latin typeface="Kokila" pitchFamily="34" charset="0"/>
                <a:cs typeface="Kokila" pitchFamily="34" charset="0"/>
              </a:rPr>
              <a:t>	</a:t>
            </a:r>
            <a:r>
              <a:rPr lang="ne-NP" b="1" dirty="0" smtClean="0">
                <a:solidFill>
                  <a:srgbClr val="0070C0"/>
                </a:solidFill>
                <a:latin typeface="Kokila" pitchFamily="34" charset="0"/>
                <a:cs typeface="Kokila" pitchFamily="34" charset="0"/>
              </a:rPr>
              <a:t>पीडित र पक्ष बालबालिकाको</a:t>
            </a:r>
            <a:r>
              <a:rPr lang="en-US" b="1" dirty="0" smtClean="0">
                <a:solidFill>
                  <a:srgbClr val="0070C0"/>
                </a:solidFill>
                <a:latin typeface="Kokila" pitchFamily="34" charset="0"/>
                <a:cs typeface="Kokila" pitchFamily="34" charset="0"/>
              </a:rPr>
              <a:t> </a:t>
            </a:r>
            <a:r>
              <a:rPr lang="ne-NP" b="1" dirty="0" smtClean="0">
                <a:solidFill>
                  <a:srgbClr val="0070C0"/>
                </a:solidFill>
                <a:latin typeface="Kokila" pitchFamily="34" charset="0"/>
                <a:cs typeface="Kokila" pitchFamily="34" charset="0"/>
              </a:rPr>
              <a:t>बाबुआमाको नाम, थर र वतन</a:t>
            </a:r>
          </a:p>
          <a:p>
            <a:pPr marL="692150" indent="-582613">
              <a:buNone/>
            </a:pPr>
            <a:r>
              <a:rPr lang="ne-NP" b="1" dirty="0" smtClean="0">
                <a:solidFill>
                  <a:srgbClr val="0070C0"/>
                </a:solidFill>
                <a:latin typeface="Kokila" pitchFamily="34" charset="0"/>
                <a:cs typeface="Kokila" pitchFamily="34" charset="0"/>
              </a:rPr>
              <a:t>(घ) </a:t>
            </a:r>
            <a:r>
              <a:rPr lang="en-US" b="1" dirty="0" smtClean="0">
                <a:solidFill>
                  <a:srgbClr val="0070C0"/>
                </a:solidFill>
                <a:latin typeface="Kokila" pitchFamily="34" charset="0"/>
                <a:cs typeface="Kokila" pitchFamily="34" charset="0"/>
              </a:rPr>
              <a:t>	</a:t>
            </a:r>
            <a:r>
              <a:rPr lang="ne-NP" b="1" dirty="0" smtClean="0">
                <a:solidFill>
                  <a:srgbClr val="0070C0"/>
                </a:solidFill>
                <a:latin typeface="Kokila" pitchFamily="34" charset="0"/>
                <a:cs typeface="Kokila" pitchFamily="34" charset="0"/>
              </a:rPr>
              <a:t>पीडित महिला विवाहित रहिछन् भने निजको पतिको</a:t>
            </a:r>
            <a:r>
              <a:rPr lang="en-US" b="1" dirty="0" smtClean="0">
                <a:solidFill>
                  <a:srgbClr val="0070C0"/>
                </a:solidFill>
                <a:latin typeface="Kokila" pitchFamily="34" charset="0"/>
                <a:cs typeface="Kokila" pitchFamily="34" charset="0"/>
              </a:rPr>
              <a:t> </a:t>
            </a:r>
            <a:r>
              <a:rPr lang="ne-NP" b="1" dirty="0" smtClean="0">
                <a:solidFill>
                  <a:srgbClr val="0070C0"/>
                </a:solidFill>
                <a:latin typeface="Kokila" pitchFamily="34" charset="0"/>
                <a:cs typeface="Kokila" pitchFamily="34" charset="0"/>
              </a:rPr>
              <a:t>नाम, थर र वतन</a:t>
            </a:r>
          </a:p>
          <a:p>
            <a:pPr marL="692150" indent="-582613">
              <a:buNone/>
            </a:pPr>
            <a:r>
              <a:rPr lang="ne-NP" b="1" dirty="0" smtClean="0">
                <a:solidFill>
                  <a:srgbClr val="0070C0"/>
                </a:solidFill>
                <a:latin typeface="Kokila" pitchFamily="34" charset="0"/>
                <a:cs typeface="Kokila" pitchFamily="34" charset="0"/>
              </a:rPr>
              <a:t>(ङ) </a:t>
            </a:r>
            <a:r>
              <a:rPr lang="en-US" b="1" dirty="0" smtClean="0">
                <a:solidFill>
                  <a:srgbClr val="0070C0"/>
                </a:solidFill>
                <a:latin typeface="Kokila" pitchFamily="34" charset="0"/>
                <a:cs typeface="Kokila" pitchFamily="34" charset="0"/>
              </a:rPr>
              <a:t>	</a:t>
            </a:r>
            <a:r>
              <a:rPr lang="ne-NP" b="1" dirty="0" smtClean="0">
                <a:solidFill>
                  <a:srgbClr val="0070C0"/>
                </a:solidFill>
                <a:latin typeface="Kokila" pitchFamily="34" charset="0"/>
                <a:cs typeface="Kokila" pitchFamily="34" charset="0"/>
              </a:rPr>
              <a:t>बालबालिका कुनै व्यक्तिको संरक्षकत्वमा रहेको</a:t>
            </a:r>
            <a:r>
              <a:rPr lang="en-US" b="1" dirty="0" smtClean="0">
                <a:solidFill>
                  <a:srgbClr val="0070C0"/>
                </a:solidFill>
                <a:latin typeface="Kokila" pitchFamily="34" charset="0"/>
                <a:cs typeface="Kokila" pitchFamily="34" charset="0"/>
              </a:rPr>
              <a:t> </a:t>
            </a:r>
            <a:r>
              <a:rPr lang="ne-NP" b="1" dirty="0" smtClean="0">
                <a:solidFill>
                  <a:srgbClr val="0070C0"/>
                </a:solidFill>
                <a:latin typeface="Kokila" pitchFamily="34" charset="0"/>
                <a:cs typeface="Kokila" pitchFamily="34" charset="0"/>
              </a:rPr>
              <a:t>स्थिति भए निज संरक्षकको नाम, थर र वतन</a:t>
            </a:r>
          </a:p>
          <a:p>
            <a:pPr marL="692150" indent="-582613">
              <a:buNone/>
            </a:pPr>
            <a:r>
              <a:rPr lang="ne-NP" b="1" dirty="0" smtClean="0">
                <a:solidFill>
                  <a:srgbClr val="0070C0"/>
                </a:solidFill>
                <a:latin typeface="Kokila" pitchFamily="34" charset="0"/>
                <a:cs typeface="Kokila" pitchFamily="34" charset="0"/>
              </a:rPr>
              <a:t>(च) </a:t>
            </a:r>
            <a:r>
              <a:rPr lang="en-US" b="1" dirty="0" smtClean="0">
                <a:solidFill>
                  <a:srgbClr val="0070C0"/>
                </a:solidFill>
                <a:latin typeface="Kokila" pitchFamily="34" charset="0"/>
                <a:cs typeface="Kokila" pitchFamily="34" charset="0"/>
              </a:rPr>
              <a:t>	</a:t>
            </a:r>
            <a:r>
              <a:rPr lang="ne-NP" b="1" dirty="0" smtClean="0">
                <a:solidFill>
                  <a:srgbClr val="0070C0"/>
                </a:solidFill>
                <a:latin typeface="Kokila" pitchFamily="34" charset="0"/>
                <a:cs typeface="Kokila" pitchFamily="34" charset="0"/>
              </a:rPr>
              <a:t>एच.आई.भी.÷एड्सबाट प्रभावित वा</a:t>
            </a:r>
            <a:r>
              <a:rPr lang="en-US" b="1" dirty="0" smtClean="0">
                <a:solidFill>
                  <a:srgbClr val="0070C0"/>
                </a:solidFill>
                <a:latin typeface="Kokila" pitchFamily="34" charset="0"/>
                <a:cs typeface="Kokila" pitchFamily="34" charset="0"/>
              </a:rPr>
              <a:t> </a:t>
            </a:r>
            <a:r>
              <a:rPr lang="ne-NP" b="1" dirty="0" smtClean="0">
                <a:solidFill>
                  <a:srgbClr val="0070C0"/>
                </a:solidFill>
                <a:latin typeface="Kokila" pitchFamily="34" charset="0"/>
                <a:cs typeface="Kokila" pitchFamily="34" charset="0"/>
              </a:rPr>
              <a:t>सङ्क्रमित भएको व्यक्तिको त्यसरी प्रभावित वा सङ्क्रमित भएको पहिचान खुल्न सक्ने विवरण</a:t>
            </a:r>
          </a:p>
          <a:p>
            <a:pPr marL="692150" indent="-582613">
              <a:buNone/>
            </a:pPr>
            <a:r>
              <a:rPr lang="ne-NP" b="1" dirty="0" smtClean="0">
                <a:solidFill>
                  <a:srgbClr val="0070C0"/>
                </a:solidFill>
                <a:latin typeface="Kokila" pitchFamily="34" charset="0"/>
                <a:cs typeface="Kokila" pitchFamily="34" charset="0"/>
              </a:rPr>
              <a:t>(छ) </a:t>
            </a:r>
            <a:r>
              <a:rPr lang="en-US" b="1" dirty="0" smtClean="0">
                <a:solidFill>
                  <a:srgbClr val="0070C0"/>
                </a:solidFill>
                <a:latin typeface="Kokila" pitchFamily="34" charset="0"/>
                <a:cs typeface="Kokila" pitchFamily="34" charset="0"/>
              </a:rPr>
              <a:t>	</a:t>
            </a:r>
            <a:r>
              <a:rPr lang="ne-NP" b="1" dirty="0" smtClean="0">
                <a:solidFill>
                  <a:srgbClr val="0070C0"/>
                </a:solidFill>
                <a:latin typeface="Kokila" pitchFamily="34" charset="0"/>
                <a:cs typeface="Kokila" pitchFamily="34" charset="0"/>
              </a:rPr>
              <a:t>अन्य कुनै कुरा (जस्तो फोटो, कुनै विद्यालय वा संघसंस्थासँगको</a:t>
            </a:r>
            <a:r>
              <a:rPr lang="en-US" b="1" dirty="0" smtClean="0">
                <a:solidFill>
                  <a:srgbClr val="0070C0"/>
                </a:solidFill>
                <a:latin typeface="Kokila" pitchFamily="34" charset="0"/>
                <a:cs typeface="Kokila" pitchFamily="34" charset="0"/>
              </a:rPr>
              <a:t> </a:t>
            </a:r>
            <a:r>
              <a:rPr lang="ne-NP" b="1" dirty="0" smtClean="0">
                <a:solidFill>
                  <a:srgbClr val="0070C0"/>
                </a:solidFill>
                <a:latin typeface="Kokila" pitchFamily="34" charset="0"/>
                <a:cs typeface="Kokila" pitchFamily="34" charset="0"/>
              </a:rPr>
              <a:t>आवद्धता आदि) बाट पनि निजहरूको वैयक्तिक पहिचान खुल्न सक्ने स्थिति देखिएमा वा</a:t>
            </a:r>
            <a:r>
              <a:rPr lang="en-US" b="1" dirty="0" smtClean="0">
                <a:solidFill>
                  <a:srgbClr val="0070C0"/>
                </a:solidFill>
                <a:latin typeface="Kokila" pitchFamily="34" charset="0"/>
                <a:cs typeface="Kokila" pitchFamily="34" charset="0"/>
              </a:rPr>
              <a:t> </a:t>
            </a:r>
            <a:r>
              <a:rPr lang="ne-NP" b="1" dirty="0" smtClean="0">
                <a:solidFill>
                  <a:srgbClr val="0070C0"/>
                </a:solidFill>
                <a:latin typeface="Kokila" pitchFamily="34" charset="0"/>
                <a:cs typeface="Kokila" pitchFamily="34" charset="0"/>
              </a:rPr>
              <a:t>एच.आई.भी.÷एड्सबाट प्रभावित वा सङ्क्रमित भएको पहिचान खुल्न सक्ने देखिएमा त्यस्तो</a:t>
            </a:r>
            <a:r>
              <a:rPr lang="en-US" b="1" dirty="0" smtClean="0">
                <a:solidFill>
                  <a:srgbClr val="0070C0"/>
                </a:solidFill>
                <a:latin typeface="Kokila" pitchFamily="34" charset="0"/>
                <a:cs typeface="Kokila" pitchFamily="34" charset="0"/>
              </a:rPr>
              <a:t> </a:t>
            </a:r>
            <a:r>
              <a:rPr lang="ne-NP" b="1" dirty="0" smtClean="0">
                <a:solidFill>
                  <a:srgbClr val="0070C0"/>
                </a:solidFill>
                <a:latin typeface="Kokila" pitchFamily="34" charset="0"/>
                <a:cs typeface="Kokila" pitchFamily="34" charset="0"/>
              </a:rPr>
              <a:t>पहिचान खुल्न सक्ने अन्य सम्पूर्ण सम्बद्ध विवरणहरू ।</a:t>
            </a:r>
          </a:p>
        </p:txBody>
      </p:sp>
      <p:sp>
        <p:nvSpPr>
          <p:cNvPr id="3" name="Title 2"/>
          <p:cNvSpPr>
            <a:spLocks noGrp="1"/>
          </p:cNvSpPr>
          <p:nvPr>
            <p:ph type="title"/>
          </p:nvPr>
        </p:nvSpPr>
        <p:spPr>
          <a:xfrm>
            <a:off x="609600" y="274638"/>
            <a:ext cx="10972800" cy="695180"/>
          </a:xfrm>
        </p:spPr>
        <p:txBody>
          <a:bodyPr>
            <a:normAutofit fontScale="90000"/>
          </a:bodyPr>
          <a:lstStyle/>
          <a:p>
            <a:r>
              <a:rPr lang="ne-NP" dirty="0" smtClean="0">
                <a:latin typeface="Kokila" pitchFamily="34" charset="0"/>
                <a:cs typeface="Kokila" pitchFamily="34" charset="0"/>
              </a:rPr>
              <a:t>गोपनीयता कायम राख्नुपर्ने विवरणहरू</a:t>
            </a:r>
            <a:r>
              <a:rPr lang="ne-NP" dirty="0" smtClean="0"/>
              <a:t/>
            </a:r>
            <a:br>
              <a:rPr lang="ne-NP" dirty="0" smtClean="0"/>
            </a:b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775855"/>
            <a:ext cx="10972800" cy="5611090"/>
          </a:xfrm>
        </p:spPr>
        <p:txBody>
          <a:bodyPr>
            <a:normAutofit fontScale="92500" lnSpcReduction="20000"/>
          </a:bodyPr>
          <a:lstStyle/>
          <a:p>
            <a:pPr marL="457200" indent="-347663">
              <a:buNone/>
            </a:pPr>
            <a:r>
              <a:rPr lang="ne-NP" b="1" dirty="0" smtClean="0">
                <a:solidFill>
                  <a:srgbClr val="0070C0"/>
                </a:solidFill>
                <a:latin typeface="Kokila" pitchFamily="34" charset="0"/>
                <a:cs typeface="Kokila" pitchFamily="34" charset="0"/>
              </a:rPr>
              <a:t>१ 	जाहेरी दरखास्त दर्ता गर्दाको अवस्था</a:t>
            </a:r>
          </a:p>
          <a:p>
            <a:pPr marL="457200" indent="-347663">
              <a:buNone/>
            </a:pPr>
            <a:r>
              <a:rPr lang="ne-NP" b="1" dirty="0" smtClean="0">
                <a:solidFill>
                  <a:srgbClr val="0070C0"/>
                </a:solidFill>
                <a:latin typeface="Kokila" pitchFamily="34" charset="0"/>
                <a:cs typeface="Kokila" pitchFamily="34" charset="0"/>
              </a:rPr>
              <a:t>२ 	अनुसन्धान अधिकृत तोक्दाको अवस्था</a:t>
            </a:r>
          </a:p>
          <a:p>
            <a:pPr marL="457200" indent="-347663">
              <a:buNone/>
            </a:pPr>
            <a:r>
              <a:rPr lang="ne-NP" b="1" dirty="0" smtClean="0">
                <a:solidFill>
                  <a:srgbClr val="0070C0"/>
                </a:solidFill>
                <a:latin typeface="Kokila" pitchFamily="34" charset="0"/>
                <a:cs typeface="Kokila" pitchFamily="34" charset="0"/>
              </a:rPr>
              <a:t>३ 	पत्राचार वा सञ्चारको आदान प्रदान गर्दाको अवस्था</a:t>
            </a:r>
          </a:p>
          <a:p>
            <a:pPr marL="457200" indent="-347663">
              <a:buNone/>
            </a:pPr>
            <a:r>
              <a:rPr lang="ne-NP" b="1" dirty="0" smtClean="0">
                <a:solidFill>
                  <a:srgbClr val="0070C0"/>
                </a:solidFill>
                <a:latin typeface="Kokila" pitchFamily="34" charset="0"/>
                <a:cs typeface="Kokila" pitchFamily="34" charset="0"/>
              </a:rPr>
              <a:t>४ 	व्यक्ति पक्राउ गर्दाको अवस्था</a:t>
            </a:r>
          </a:p>
          <a:p>
            <a:pPr marL="457200" indent="-347663">
              <a:buNone/>
            </a:pPr>
            <a:r>
              <a:rPr lang="ne-NP" b="1" dirty="0" smtClean="0">
                <a:solidFill>
                  <a:srgbClr val="0070C0"/>
                </a:solidFill>
                <a:latin typeface="Kokila" pitchFamily="34" charset="0"/>
                <a:cs typeface="Kokila" pitchFamily="34" charset="0"/>
              </a:rPr>
              <a:t>५ 	स्वास्थ्य परीक्षण गर्दाका अवस्था</a:t>
            </a:r>
          </a:p>
          <a:p>
            <a:pPr marL="457200" indent="-347663">
              <a:buNone/>
            </a:pPr>
            <a:r>
              <a:rPr lang="ne-NP" b="1" dirty="0" smtClean="0">
                <a:solidFill>
                  <a:srgbClr val="0070C0"/>
                </a:solidFill>
                <a:latin typeface="Kokila" pitchFamily="34" charset="0"/>
                <a:cs typeface="Kokila" pitchFamily="34" charset="0"/>
              </a:rPr>
              <a:t>६ 	अभियुक्तलाई म्याद थप गर्न अदालत लैजांदाको अवस्था</a:t>
            </a:r>
          </a:p>
          <a:p>
            <a:pPr marL="457200" indent="-347663">
              <a:buNone/>
            </a:pPr>
            <a:r>
              <a:rPr lang="ne-NP" b="1" dirty="0" smtClean="0">
                <a:solidFill>
                  <a:srgbClr val="0070C0"/>
                </a:solidFill>
                <a:latin typeface="Kokila" pitchFamily="34" charset="0"/>
                <a:cs typeface="Kokila" pitchFamily="34" charset="0"/>
              </a:rPr>
              <a:t>७ 	बालबालिकालाई सुधार गृहमा पठाउने वा संरक्षकको जिम्मामा दिने पत्र वा कागज</a:t>
            </a:r>
          </a:p>
          <a:p>
            <a:pPr marL="457200" indent="-347663">
              <a:buNone/>
            </a:pPr>
            <a:r>
              <a:rPr lang="ne-NP" b="1" dirty="0" smtClean="0">
                <a:solidFill>
                  <a:srgbClr val="0070C0"/>
                </a:solidFill>
                <a:latin typeface="Kokila" pitchFamily="34" charset="0"/>
                <a:cs typeface="Kokila" pitchFamily="34" charset="0"/>
              </a:rPr>
              <a:t>	तयार गर्दाको अवस्था</a:t>
            </a:r>
          </a:p>
          <a:p>
            <a:pPr marL="457200" indent="-347663">
              <a:buNone/>
            </a:pPr>
            <a:r>
              <a:rPr lang="ne-NP" b="1" dirty="0" smtClean="0">
                <a:solidFill>
                  <a:srgbClr val="0070C0"/>
                </a:solidFill>
                <a:latin typeface="Kokila" pitchFamily="34" charset="0"/>
                <a:cs typeface="Kokila" pitchFamily="34" charset="0"/>
              </a:rPr>
              <a:t>८ 	प्रारम्भिक प्रतिवेदन पठाउँदाको अवस्था</a:t>
            </a:r>
          </a:p>
          <a:p>
            <a:pPr marL="457200" indent="-347663">
              <a:buNone/>
            </a:pPr>
            <a:r>
              <a:rPr lang="ne-NP" b="1" dirty="0" smtClean="0">
                <a:solidFill>
                  <a:srgbClr val="0070C0"/>
                </a:solidFill>
                <a:latin typeface="Kokila" pitchFamily="34" charset="0"/>
                <a:cs typeface="Kokila" pitchFamily="34" charset="0"/>
              </a:rPr>
              <a:t>९ 	अभियुक्तको वयान गराउँदाको अवस्था</a:t>
            </a:r>
          </a:p>
          <a:p>
            <a:pPr marL="457200" indent="-347663">
              <a:buNone/>
            </a:pPr>
            <a:r>
              <a:rPr lang="ne-NP" b="1" dirty="0" smtClean="0">
                <a:solidFill>
                  <a:srgbClr val="0070C0"/>
                </a:solidFill>
                <a:latin typeface="Kokila" pitchFamily="34" charset="0"/>
                <a:cs typeface="Kokila" pitchFamily="34" charset="0"/>
              </a:rPr>
              <a:t>१० 	पीडित र बुझिएका मानिसको कागज गराउँदाको अवस्था</a:t>
            </a:r>
          </a:p>
          <a:p>
            <a:pPr marL="457200" indent="-347663">
              <a:buNone/>
            </a:pPr>
            <a:r>
              <a:rPr lang="ne-NP" b="1" dirty="0" smtClean="0">
                <a:solidFill>
                  <a:srgbClr val="0070C0"/>
                </a:solidFill>
                <a:latin typeface="Kokila" pitchFamily="34" charset="0"/>
                <a:cs typeface="Kokila" pitchFamily="34" charset="0"/>
              </a:rPr>
              <a:t>११ 	विभिन्न मुचुल्काहरु तयार गर्दाको अवस्था</a:t>
            </a:r>
          </a:p>
          <a:p>
            <a:pPr marL="457200" indent="-347663">
              <a:buNone/>
            </a:pPr>
            <a:r>
              <a:rPr lang="ne-NP" b="1" dirty="0" smtClean="0">
                <a:solidFill>
                  <a:srgbClr val="0070C0"/>
                </a:solidFill>
                <a:latin typeface="Kokila" pitchFamily="34" charset="0"/>
                <a:cs typeface="Kokila" pitchFamily="34" charset="0"/>
              </a:rPr>
              <a:t>१२ 	भौतिक सबुत प्रमाण परिक्षण गर्न पठाउँदाको अवस्था</a:t>
            </a:r>
          </a:p>
          <a:p>
            <a:pPr marL="457200" indent="-347663">
              <a:buNone/>
            </a:pPr>
            <a:r>
              <a:rPr lang="ne-NP" b="1" dirty="0" smtClean="0">
                <a:solidFill>
                  <a:srgbClr val="0070C0"/>
                </a:solidFill>
                <a:latin typeface="Kokila" pitchFamily="34" charset="0"/>
                <a:cs typeface="Kokila" pitchFamily="34" charset="0"/>
              </a:rPr>
              <a:t>१३ 	बालबालिकाको उमेर यकिन गर्न पत्र लेख्दाको अवस्था</a:t>
            </a:r>
          </a:p>
          <a:p>
            <a:pPr marL="457200" indent="-347663">
              <a:buNone/>
            </a:pPr>
            <a:r>
              <a:rPr lang="ne-NP" b="1" dirty="0" smtClean="0">
                <a:solidFill>
                  <a:srgbClr val="0070C0"/>
                </a:solidFill>
                <a:latin typeface="Kokila" pitchFamily="34" charset="0"/>
                <a:cs typeface="Kokila" pitchFamily="34" charset="0"/>
              </a:rPr>
              <a:t>१४ 	राय प्रतिवेदन पठाउंदाको अवस्था</a:t>
            </a:r>
            <a:endParaRPr lang="en-US" b="1" dirty="0">
              <a:solidFill>
                <a:srgbClr val="0070C0"/>
              </a:solidFill>
              <a:latin typeface="Kokila" pitchFamily="34" charset="0"/>
              <a:cs typeface="Kokila" pitchFamily="34" charset="0"/>
            </a:endParaRPr>
          </a:p>
        </p:txBody>
      </p:sp>
      <p:sp>
        <p:nvSpPr>
          <p:cNvPr id="3" name="Title 2"/>
          <p:cNvSpPr>
            <a:spLocks noGrp="1"/>
          </p:cNvSpPr>
          <p:nvPr>
            <p:ph type="title"/>
          </p:nvPr>
        </p:nvSpPr>
        <p:spPr>
          <a:xfrm>
            <a:off x="609600" y="274638"/>
            <a:ext cx="10972800" cy="792162"/>
          </a:xfrm>
        </p:spPr>
        <p:txBody>
          <a:bodyPr>
            <a:normAutofit fontScale="90000"/>
          </a:bodyPr>
          <a:lstStyle/>
          <a:p>
            <a:r>
              <a:rPr lang="ne-NP" dirty="0" smtClean="0">
                <a:latin typeface="Kokila" pitchFamily="34" charset="0"/>
                <a:cs typeface="Kokila" pitchFamily="34" charset="0"/>
              </a:rPr>
              <a:t>अनुसन्धान तहकिकातको अवस्थामा गोपनियता कायम गर्ने कार्यविधि</a:t>
            </a:r>
            <a:br>
              <a:rPr lang="ne-NP" dirty="0" smtClean="0">
                <a:latin typeface="Kokila" pitchFamily="34" charset="0"/>
                <a:cs typeface="Kokila" pitchFamily="34" charset="0"/>
              </a:rPr>
            </a:br>
            <a:endParaRPr lang="en-US" dirty="0">
              <a:latin typeface="Kokila" pitchFamily="34" charset="0"/>
              <a:cs typeface="Kokila"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066801"/>
            <a:ext cx="10972800" cy="5112326"/>
          </a:xfrm>
        </p:spPr>
        <p:txBody>
          <a:bodyPr>
            <a:normAutofit/>
          </a:bodyPr>
          <a:lstStyle/>
          <a:p>
            <a:pPr marL="568325" indent="-458788">
              <a:buNone/>
            </a:pPr>
            <a:r>
              <a:rPr lang="ne-NP" sz="3200" b="1" dirty="0" smtClean="0">
                <a:solidFill>
                  <a:srgbClr val="0070C0"/>
                </a:solidFill>
                <a:latin typeface="Kokila" pitchFamily="34" charset="0"/>
                <a:cs typeface="Kokila" pitchFamily="34" charset="0"/>
              </a:rPr>
              <a:t>१ 	गोप्य राखिएको व्यक्तिगत परिचयात्मक विवरणको लगत किताव राख्ने</a:t>
            </a:r>
          </a:p>
          <a:p>
            <a:pPr marL="568325" indent="-458788">
              <a:buNone/>
            </a:pPr>
            <a:r>
              <a:rPr lang="ne-NP" sz="3200" b="1" dirty="0" smtClean="0">
                <a:solidFill>
                  <a:srgbClr val="0070C0"/>
                </a:solidFill>
                <a:latin typeface="Kokila" pitchFamily="34" charset="0"/>
                <a:cs typeface="Kokila" pitchFamily="34" charset="0"/>
              </a:rPr>
              <a:t>२ 	सामान्यतयाः अनुसन्धान तहकिकातको क्रममा दिएको संकेत नाम नै प्रयोग गर्ने</a:t>
            </a:r>
          </a:p>
          <a:p>
            <a:pPr marL="568325" indent="-458788">
              <a:buNone/>
            </a:pPr>
            <a:r>
              <a:rPr lang="ne-NP" sz="3200" b="1" dirty="0" smtClean="0">
                <a:solidFill>
                  <a:srgbClr val="0070C0"/>
                </a:solidFill>
                <a:latin typeface="Kokila" pitchFamily="34" charset="0"/>
                <a:cs typeface="Kokila" pitchFamily="34" charset="0"/>
              </a:rPr>
              <a:t>३ 	दायरी किताव, लगत किताव आदिमा संकेत नाम नै प्रयोग गर्ने</a:t>
            </a:r>
          </a:p>
          <a:p>
            <a:pPr marL="568325" indent="-458788">
              <a:buNone/>
            </a:pPr>
            <a:r>
              <a:rPr lang="ne-NP" sz="3200" b="1" dirty="0" smtClean="0">
                <a:solidFill>
                  <a:srgbClr val="0070C0"/>
                </a:solidFill>
                <a:latin typeface="Kokila" pitchFamily="34" charset="0"/>
                <a:cs typeface="Kokila" pitchFamily="34" charset="0"/>
              </a:rPr>
              <a:t>४	सरकारी वकील कार्यालयमा प्रारम्भिक प्रतिवेदन दर्ता गर्दाको अवस्था</a:t>
            </a:r>
          </a:p>
          <a:p>
            <a:pPr marL="568325" indent="-458788">
              <a:buNone/>
            </a:pPr>
            <a:r>
              <a:rPr lang="ne-NP" sz="3200" b="1" dirty="0" smtClean="0">
                <a:solidFill>
                  <a:srgbClr val="0070C0"/>
                </a:solidFill>
                <a:latin typeface="Kokila" pitchFamily="34" charset="0"/>
                <a:cs typeface="Kokila" pitchFamily="34" charset="0"/>
              </a:rPr>
              <a:t>५	गोप्य राख्ने प्रकृया पूरा नगरी राय प्रतिवेदन प्राप्त भएको अवस्था</a:t>
            </a:r>
          </a:p>
          <a:p>
            <a:pPr marL="568325" indent="-458788">
              <a:buNone/>
            </a:pPr>
            <a:r>
              <a:rPr lang="ne-NP" sz="3200" b="1" dirty="0" smtClean="0">
                <a:solidFill>
                  <a:srgbClr val="0070C0"/>
                </a:solidFill>
                <a:latin typeface="Kokila" pitchFamily="34" charset="0"/>
                <a:cs typeface="Kokila" pitchFamily="34" charset="0"/>
              </a:rPr>
              <a:t>६ 	मुद्दा चल्ने नचल्ने निर्णय गर्दा र अभियोग पत्र तयार गर्दाको अवस्था</a:t>
            </a:r>
          </a:p>
          <a:p>
            <a:pPr marL="568325" indent="-458788">
              <a:buNone/>
            </a:pPr>
            <a:r>
              <a:rPr lang="ne-NP" sz="3200" b="1" dirty="0" smtClean="0">
                <a:solidFill>
                  <a:srgbClr val="0070C0"/>
                </a:solidFill>
                <a:latin typeface="Kokila" pitchFamily="34" charset="0"/>
                <a:cs typeface="Kokila" pitchFamily="34" charset="0"/>
              </a:rPr>
              <a:t>७ 	अदालत, प्रहरी कार्यालय वा अन्य निकायसंग पत्राचार गर्दाको अवस्था</a:t>
            </a:r>
          </a:p>
          <a:p>
            <a:pPr marL="568325" indent="-458788">
              <a:buNone/>
            </a:pPr>
            <a:r>
              <a:rPr lang="ne-NP" sz="3200" b="1" dirty="0" smtClean="0">
                <a:solidFill>
                  <a:srgbClr val="0070C0"/>
                </a:solidFill>
                <a:latin typeface="Kokila" pitchFamily="34" charset="0"/>
                <a:cs typeface="Kokila" pitchFamily="34" charset="0"/>
              </a:rPr>
              <a:t>८ 	सरकारी वकीलले साक्षीलाई परिक्षण गर्दाको अवस्था</a:t>
            </a:r>
          </a:p>
          <a:p>
            <a:pPr marL="568325" indent="-458788">
              <a:buNone/>
            </a:pPr>
            <a:r>
              <a:rPr lang="ne-NP" sz="3200" b="1" dirty="0" smtClean="0">
                <a:solidFill>
                  <a:srgbClr val="0070C0"/>
                </a:solidFill>
                <a:latin typeface="Kokila" pitchFamily="34" charset="0"/>
                <a:cs typeface="Kokila" pitchFamily="34" charset="0"/>
              </a:rPr>
              <a:t>९ 	सरकारी वकीलले निवेदन वा पुनरावेदन गर्दाको अवस्था</a:t>
            </a:r>
          </a:p>
          <a:p>
            <a:endParaRPr lang="ne-NP" dirty="0" smtClean="0"/>
          </a:p>
          <a:p>
            <a:endParaRPr lang="ne-NP" dirty="0" smtClean="0"/>
          </a:p>
          <a:p>
            <a:endParaRPr lang="ne-NP" dirty="0" smtClean="0"/>
          </a:p>
          <a:p>
            <a:endParaRPr lang="ne-NP" dirty="0" smtClean="0"/>
          </a:p>
          <a:p>
            <a:endParaRPr lang="en-US" dirty="0"/>
          </a:p>
        </p:txBody>
      </p:sp>
      <p:sp>
        <p:nvSpPr>
          <p:cNvPr id="3" name="Title 2"/>
          <p:cNvSpPr>
            <a:spLocks noGrp="1"/>
          </p:cNvSpPr>
          <p:nvPr>
            <p:ph type="title"/>
          </p:nvPr>
        </p:nvSpPr>
        <p:spPr>
          <a:xfrm>
            <a:off x="609600" y="274638"/>
            <a:ext cx="10972800" cy="778307"/>
          </a:xfrm>
        </p:spPr>
        <p:txBody>
          <a:bodyPr>
            <a:normAutofit/>
          </a:bodyPr>
          <a:lstStyle/>
          <a:p>
            <a:r>
              <a:rPr lang="ne-NP" dirty="0" smtClean="0">
                <a:latin typeface="Kokila" pitchFamily="34" charset="0"/>
                <a:cs typeface="Kokila" pitchFamily="34" charset="0"/>
              </a:rPr>
              <a:t>अभियोजनको अवस्थामा गोपनियता कायम गर्ने कार्यविधि</a:t>
            </a:r>
            <a:endParaRPr lang="en-US" dirty="0">
              <a:latin typeface="Kokila" pitchFamily="34" charset="0"/>
              <a:cs typeface="Kokila"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481329"/>
            <a:ext cx="10972800" cy="4794780"/>
          </a:xfrm>
        </p:spPr>
        <p:txBody>
          <a:bodyPr>
            <a:normAutofit lnSpcReduction="10000"/>
          </a:bodyPr>
          <a:lstStyle/>
          <a:p>
            <a:pPr marL="457200" indent="-347663">
              <a:buNone/>
            </a:pPr>
            <a:r>
              <a:rPr lang="ne-NP" b="1" dirty="0" smtClean="0">
                <a:solidFill>
                  <a:srgbClr val="0070C0"/>
                </a:solidFill>
                <a:latin typeface="Kokila" pitchFamily="34" charset="0"/>
                <a:cs typeface="Kokila" pitchFamily="34" charset="0"/>
              </a:rPr>
              <a:t>(१) गोप्य राखिएको व्यक्तिगत परिचयात्मक विवरणको अभिलेख दर्ता किताव राख्ने</a:t>
            </a:r>
          </a:p>
          <a:p>
            <a:pPr marL="457200" indent="-347663">
              <a:buNone/>
            </a:pPr>
            <a:r>
              <a:rPr lang="ne-NP" b="1" dirty="0" smtClean="0">
                <a:solidFill>
                  <a:srgbClr val="0070C0"/>
                </a:solidFill>
                <a:latin typeface="Kokila" pitchFamily="34" charset="0"/>
                <a:cs typeface="Kokila" pitchFamily="34" charset="0"/>
              </a:rPr>
              <a:t>(२) सामान्यतया अनुसन्धान तहकिकातको क्रममा दिएको संकेत नाम नै प्रयोग गर्ने</a:t>
            </a:r>
          </a:p>
          <a:p>
            <a:pPr marL="457200" indent="-347663">
              <a:buNone/>
            </a:pPr>
            <a:r>
              <a:rPr lang="ne-NP" b="1" dirty="0" smtClean="0">
                <a:solidFill>
                  <a:srgbClr val="0070C0"/>
                </a:solidFill>
                <a:latin typeface="Kokila" pitchFamily="34" charset="0"/>
                <a:cs typeface="Kokila" pitchFamily="34" charset="0"/>
              </a:rPr>
              <a:t>(३) दायरी किताव, लगत किताव आदिमा संकेत नाम नै उल्लेख गर्ने</a:t>
            </a:r>
          </a:p>
          <a:p>
            <a:pPr marL="457200" indent="-347663">
              <a:buNone/>
            </a:pPr>
            <a:r>
              <a:rPr lang="ne-NP" b="1" dirty="0" smtClean="0">
                <a:solidFill>
                  <a:srgbClr val="0070C0"/>
                </a:solidFill>
                <a:latin typeface="Kokila" pitchFamily="34" charset="0"/>
                <a:cs typeface="Kokila" pitchFamily="34" charset="0"/>
              </a:rPr>
              <a:t>(४) अनुसन्धान तहकिकातको क्रममा वयान प्रमाणित गर्दाको अवस्था</a:t>
            </a:r>
          </a:p>
          <a:p>
            <a:pPr marL="457200" indent="-347663">
              <a:buNone/>
            </a:pPr>
            <a:r>
              <a:rPr lang="ne-NP" b="1" dirty="0" smtClean="0">
                <a:solidFill>
                  <a:srgbClr val="0070C0"/>
                </a:solidFill>
                <a:latin typeface="Kokila" pitchFamily="34" charset="0"/>
                <a:cs typeface="Kokila" pitchFamily="34" charset="0"/>
              </a:rPr>
              <a:t>(५) अनुसन्धानको क्रममा अभियुक्तलाई थुनामा राख्न अनुमति दिंदा (म्याद थप गर्दा को अवस्था</a:t>
            </a:r>
          </a:p>
          <a:p>
            <a:pPr marL="457200" indent="-347663">
              <a:buNone/>
            </a:pPr>
            <a:r>
              <a:rPr lang="ne-NP" b="1" dirty="0" smtClean="0">
                <a:solidFill>
                  <a:srgbClr val="0070C0"/>
                </a:solidFill>
                <a:latin typeface="Kokila" pitchFamily="34" charset="0"/>
                <a:cs typeface="Kokila" pitchFamily="34" charset="0"/>
              </a:rPr>
              <a:t>(६) कुनै कागज गराउँदाको अवस्थामा मात्र विवरण गोप्य राख्नु पर्ने जानकारी हुन  आएको अवस्था</a:t>
            </a:r>
          </a:p>
          <a:p>
            <a:pPr marL="457200" indent="-347663">
              <a:buNone/>
            </a:pPr>
            <a:r>
              <a:rPr lang="ne-NP" b="1" dirty="0" smtClean="0">
                <a:solidFill>
                  <a:srgbClr val="0070C0"/>
                </a:solidFill>
                <a:latin typeface="Kokila" pitchFamily="34" charset="0"/>
                <a:cs typeface="Kokila" pitchFamily="34" charset="0"/>
              </a:rPr>
              <a:t>(७) मुद्दा दर्ता गर्दाको अवस्था</a:t>
            </a:r>
          </a:p>
          <a:p>
            <a:pPr marL="457200" indent="-347663">
              <a:buNone/>
            </a:pPr>
            <a:r>
              <a:rPr lang="ne-NP" b="1" dirty="0" smtClean="0">
                <a:solidFill>
                  <a:srgbClr val="0070C0"/>
                </a:solidFill>
                <a:latin typeface="Kokila" pitchFamily="34" charset="0"/>
                <a:cs typeface="Kokila" pitchFamily="34" charset="0"/>
              </a:rPr>
              <a:t>(८) अदालतमा प्रतिवादीको वयान गराउँदाको अवस्था</a:t>
            </a:r>
          </a:p>
          <a:p>
            <a:pPr marL="457200" indent="-347663">
              <a:buNone/>
            </a:pPr>
            <a:r>
              <a:rPr lang="ne-NP" b="1" dirty="0" smtClean="0">
                <a:solidFill>
                  <a:srgbClr val="0070C0"/>
                </a:solidFill>
                <a:latin typeface="Kokila" pitchFamily="34" charset="0"/>
                <a:cs typeface="Kokila" pitchFamily="34" charset="0"/>
              </a:rPr>
              <a:t>(९) थुनछेक आदेश</a:t>
            </a:r>
            <a:r>
              <a:rPr lang="en-US" b="1" dirty="0" smtClean="0">
                <a:solidFill>
                  <a:srgbClr val="0070C0"/>
                </a:solidFill>
                <a:latin typeface="Kokila" pitchFamily="34" charset="0"/>
                <a:cs typeface="Kokila" pitchFamily="34" charset="0"/>
              </a:rPr>
              <a:t> </a:t>
            </a:r>
            <a:r>
              <a:rPr lang="ne-NP" b="1" dirty="0" smtClean="0">
                <a:solidFill>
                  <a:srgbClr val="0070C0"/>
                </a:solidFill>
                <a:latin typeface="Kokila" pitchFamily="34" charset="0"/>
                <a:cs typeface="Kokila" pitchFamily="34" charset="0"/>
              </a:rPr>
              <a:t>लगायत अन्य अदालती प्रक्रिया </a:t>
            </a:r>
            <a:r>
              <a:rPr lang="en-US" b="1" dirty="0" smtClean="0">
                <a:solidFill>
                  <a:srgbClr val="0070C0"/>
                </a:solidFill>
                <a:latin typeface="Kokila" pitchFamily="34" charset="0"/>
                <a:cs typeface="Kokila" pitchFamily="34" charset="0"/>
              </a:rPr>
              <a:t>(</a:t>
            </a:r>
            <a:r>
              <a:rPr lang="ne-NP" b="1" dirty="0" smtClean="0">
                <a:solidFill>
                  <a:srgbClr val="0070C0"/>
                </a:solidFill>
                <a:latin typeface="Kokila" pitchFamily="34" charset="0"/>
                <a:cs typeface="Kokila" pitchFamily="34" charset="0"/>
              </a:rPr>
              <a:t>आदेश</a:t>
            </a:r>
            <a:r>
              <a:rPr lang="en-US" b="1" dirty="0" smtClean="0">
                <a:solidFill>
                  <a:srgbClr val="0070C0"/>
                </a:solidFill>
                <a:latin typeface="Kokila" pitchFamily="34" charset="0"/>
                <a:cs typeface="Kokila" pitchFamily="34" charset="0"/>
              </a:rPr>
              <a:t>, </a:t>
            </a:r>
            <a:r>
              <a:rPr lang="ne-NP" b="1" dirty="0" smtClean="0">
                <a:solidFill>
                  <a:srgbClr val="0070C0"/>
                </a:solidFill>
                <a:latin typeface="Kokila" pitchFamily="34" charset="0"/>
                <a:cs typeface="Kokila" pitchFamily="34" charset="0"/>
              </a:rPr>
              <a:t>फैसला र पुनरावेदनसमेत</a:t>
            </a:r>
            <a:r>
              <a:rPr lang="en-US" b="1" dirty="0" smtClean="0">
                <a:solidFill>
                  <a:srgbClr val="0070C0"/>
                </a:solidFill>
                <a:latin typeface="Kokila" pitchFamily="34" charset="0"/>
                <a:cs typeface="Kokila" pitchFamily="34" charset="0"/>
              </a:rPr>
              <a:t>)</a:t>
            </a:r>
            <a:endParaRPr lang="ne-NP" b="1" dirty="0" smtClean="0">
              <a:solidFill>
                <a:srgbClr val="0070C0"/>
              </a:solidFill>
              <a:latin typeface="Kokila" pitchFamily="34" charset="0"/>
              <a:cs typeface="Kokila" pitchFamily="34" charset="0"/>
            </a:endParaRPr>
          </a:p>
          <a:p>
            <a:pPr marL="457200" indent="-347663">
              <a:buNone/>
            </a:pPr>
            <a:r>
              <a:rPr lang="ne-NP" b="1" dirty="0" smtClean="0">
                <a:solidFill>
                  <a:srgbClr val="0070C0"/>
                </a:solidFill>
                <a:latin typeface="Kokila" pitchFamily="34" charset="0"/>
                <a:cs typeface="Kokila" pitchFamily="34" charset="0"/>
              </a:rPr>
              <a:t>(१०) सुधार गृहमा पठाउने वा संरक्षकको जिम्मामा दिने पत्र वा कागज तयार गर्दाको अवस्था</a:t>
            </a:r>
          </a:p>
          <a:p>
            <a:pPr marL="457200" indent="-347663">
              <a:buNone/>
            </a:pPr>
            <a:r>
              <a:rPr lang="ne-NP" b="1" dirty="0" smtClean="0">
                <a:solidFill>
                  <a:srgbClr val="0070C0"/>
                </a:solidFill>
                <a:latin typeface="Kokila" pitchFamily="34" charset="0"/>
                <a:cs typeface="Kokila" pitchFamily="34" charset="0"/>
              </a:rPr>
              <a:t>(११) थुनछेकको आदेशानुसार प्रतिवादीलाई थुनामा राख्न पठाउने पत्र लेख्दाको अवस्था</a:t>
            </a:r>
          </a:p>
          <a:p>
            <a:endParaRPr lang="en-US" dirty="0"/>
          </a:p>
        </p:txBody>
      </p:sp>
      <p:sp>
        <p:nvSpPr>
          <p:cNvPr id="3" name="Title 2"/>
          <p:cNvSpPr>
            <a:spLocks noGrp="1"/>
          </p:cNvSpPr>
          <p:nvPr>
            <p:ph type="title"/>
          </p:nvPr>
        </p:nvSpPr>
        <p:spPr>
          <a:xfrm>
            <a:off x="609600" y="274638"/>
            <a:ext cx="11277600" cy="1143000"/>
          </a:xfrm>
        </p:spPr>
        <p:txBody>
          <a:bodyPr>
            <a:normAutofit fontScale="90000"/>
          </a:bodyPr>
          <a:lstStyle/>
          <a:p>
            <a:r>
              <a:rPr lang="ne-NP" dirty="0" smtClean="0">
                <a:latin typeface="Kokila" pitchFamily="34" charset="0"/>
                <a:cs typeface="Kokila" pitchFamily="34" charset="0"/>
              </a:rPr>
              <a:t/>
            </a:r>
            <a:br>
              <a:rPr lang="ne-NP" dirty="0" smtClean="0">
                <a:latin typeface="Kokila" pitchFamily="34" charset="0"/>
                <a:cs typeface="Kokila" pitchFamily="34" charset="0"/>
              </a:rPr>
            </a:br>
            <a:r>
              <a:rPr lang="ne-NP" dirty="0" smtClean="0">
                <a:latin typeface="Kokila" pitchFamily="34" charset="0"/>
                <a:cs typeface="Kokila" pitchFamily="34" charset="0"/>
              </a:rPr>
              <a:t>सरकारवादी फौजदारी मुद्दाको कारवाहीमा गोपनियता कायम गर्ने कार्यविधि</a:t>
            </a:r>
            <a:r>
              <a:rPr lang="ne-NP" dirty="0" smtClean="0"/>
              <a:t/>
            </a:r>
            <a:br>
              <a:rPr lang="ne-NP" dirty="0" smtClean="0"/>
            </a:br>
            <a:endParaRPr lang="en-US" dirty="0">
              <a:latin typeface="Kokila" pitchFamily="34" charset="0"/>
              <a:cs typeface="Kokila"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3934692" y="1039091"/>
            <a:ext cx="4641272" cy="5375563"/>
          </a:xfrm>
          <a:prstGeom prst="rect">
            <a:avLst/>
          </a:prstGeom>
          <a:noFill/>
          <a:ln w="9525">
            <a:noFill/>
            <a:miter lim="800000"/>
            <a:headEnd/>
            <a:tailEnd/>
          </a:ln>
          <a:effectLst/>
        </p:spPr>
      </p:pic>
      <p:sp>
        <p:nvSpPr>
          <p:cNvPr id="5" name="Title 2"/>
          <p:cNvSpPr>
            <a:spLocks noGrp="1"/>
          </p:cNvSpPr>
          <p:nvPr>
            <p:ph type="title"/>
          </p:nvPr>
        </p:nvSpPr>
        <p:spPr>
          <a:xfrm>
            <a:off x="609600" y="0"/>
            <a:ext cx="11277600" cy="886691"/>
          </a:xfrm>
        </p:spPr>
        <p:txBody>
          <a:bodyPr>
            <a:normAutofit fontScale="90000"/>
          </a:bodyPr>
          <a:lstStyle/>
          <a:p>
            <a:pPr algn="ctr"/>
            <a:r>
              <a:rPr lang="ne-NP" dirty="0" smtClean="0">
                <a:latin typeface="Kokila" pitchFamily="34" charset="0"/>
                <a:cs typeface="Kokila" pitchFamily="34" charset="0"/>
              </a:rPr>
              <a:t/>
            </a:r>
            <a:br>
              <a:rPr lang="ne-NP" dirty="0" smtClean="0">
                <a:latin typeface="Kokila" pitchFamily="34" charset="0"/>
                <a:cs typeface="Kokila" pitchFamily="34" charset="0"/>
              </a:rPr>
            </a:br>
            <a:r>
              <a:rPr lang="ne-NP" dirty="0" smtClean="0">
                <a:latin typeface="Kokila" pitchFamily="34" charset="0"/>
                <a:cs typeface="Kokila" pitchFamily="34" charset="0"/>
              </a:rPr>
              <a:t>इजलासको ढोका राख्न प्रस्तावित स्टिकर वा वोर्ड</a:t>
            </a:r>
            <a:r>
              <a:rPr lang="ne-NP" dirty="0" smtClean="0"/>
              <a:t/>
            </a:r>
            <a:br>
              <a:rPr lang="ne-NP" dirty="0" smtClean="0"/>
            </a:br>
            <a:endParaRPr lang="en-US" dirty="0">
              <a:latin typeface="Kokila" pitchFamily="34" charset="0"/>
              <a:cs typeface="Kokila"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None/>
            </a:pPr>
            <a:r>
              <a:rPr lang="ne-NP" b="1" dirty="0" smtClean="0">
                <a:solidFill>
                  <a:srgbClr val="0070C0"/>
                </a:solidFill>
                <a:latin typeface="Kokila" pitchFamily="34" charset="0"/>
                <a:cs typeface="Kokila" pitchFamily="34" charset="0"/>
              </a:rPr>
              <a:t>(१) फिरादपत्र दर्ता गर्दाको अवस्था</a:t>
            </a:r>
          </a:p>
          <a:p>
            <a:pPr>
              <a:buNone/>
            </a:pPr>
            <a:r>
              <a:rPr lang="ne-NP" b="1" dirty="0" smtClean="0">
                <a:solidFill>
                  <a:srgbClr val="0070C0"/>
                </a:solidFill>
                <a:latin typeface="Kokila" pitchFamily="34" charset="0"/>
                <a:cs typeface="Kokila" pitchFamily="34" charset="0"/>
              </a:rPr>
              <a:t>(२) फिरादपत्रसाथ प्रस्तुत प्रमाण कागजातमा उल्लिखित विवरण गोप्य राख्नु पर्दाको अवस्था</a:t>
            </a:r>
          </a:p>
          <a:p>
            <a:pPr>
              <a:buNone/>
            </a:pPr>
            <a:r>
              <a:rPr lang="ne-NP" b="1" dirty="0" smtClean="0">
                <a:solidFill>
                  <a:srgbClr val="0070C0"/>
                </a:solidFill>
                <a:latin typeface="Kokila" pitchFamily="34" charset="0"/>
                <a:cs typeface="Kokila" pitchFamily="34" charset="0"/>
              </a:rPr>
              <a:t>(३) तायदाती माग गर्दा वा बुझाउंदाको अवस्था</a:t>
            </a:r>
          </a:p>
          <a:p>
            <a:pPr>
              <a:buNone/>
            </a:pPr>
            <a:r>
              <a:rPr lang="ne-NP" b="1" dirty="0" smtClean="0">
                <a:solidFill>
                  <a:srgbClr val="0070C0"/>
                </a:solidFill>
                <a:latin typeface="Kokila" pitchFamily="34" charset="0"/>
                <a:cs typeface="Kokila" pitchFamily="34" charset="0"/>
              </a:rPr>
              <a:t>(४) विशेषज्ञ समक्ष परीक्षणका लागि पत्र लेख्नुपर्दाको अवस्था</a:t>
            </a:r>
          </a:p>
          <a:p>
            <a:pPr>
              <a:buNone/>
            </a:pPr>
            <a:r>
              <a:rPr lang="ne-NP" b="1" dirty="0" smtClean="0">
                <a:solidFill>
                  <a:srgbClr val="0070C0"/>
                </a:solidFill>
                <a:latin typeface="Kokila" pitchFamily="34" charset="0"/>
                <a:cs typeface="Kokila" pitchFamily="34" charset="0"/>
              </a:rPr>
              <a:t>(५) नक्सा वा अन्य मुचुल्का गर्नुपर्दाको अवस्था</a:t>
            </a:r>
          </a:p>
          <a:p>
            <a:pPr>
              <a:buNone/>
            </a:pPr>
            <a:r>
              <a:rPr lang="ne-NP" b="1" dirty="0" smtClean="0">
                <a:solidFill>
                  <a:srgbClr val="0070C0"/>
                </a:solidFill>
                <a:latin typeface="Kokila" pitchFamily="34" charset="0"/>
                <a:cs typeface="Kokila" pitchFamily="34" charset="0"/>
              </a:rPr>
              <a:t>(६) विशेषज्ञ साक्षी झिकाउनुपर्दाको अवस्था</a:t>
            </a:r>
          </a:p>
          <a:p>
            <a:pPr>
              <a:buNone/>
            </a:pPr>
            <a:r>
              <a:rPr lang="ne-NP" b="1" dirty="0" smtClean="0">
                <a:solidFill>
                  <a:srgbClr val="0070C0"/>
                </a:solidFill>
                <a:latin typeface="Kokila" pitchFamily="34" charset="0"/>
                <a:cs typeface="Kokila" pitchFamily="34" charset="0"/>
              </a:rPr>
              <a:t>(७) वारिसनामा दिँदा लिँदाको अवस्था</a:t>
            </a:r>
          </a:p>
          <a:p>
            <a:pPr>
              <a:buNone/>
            </a:pPr>
            <a:r>
              <a:rPr lang="ne-NP" b="1" dirty="0" smtClean="0">
                <a:solidFill>
                  <a:srgbClr val="0070C0"/>
                </a:solidFill>
                <a:latin typeface="Kokila" pitchFamily="34" charset="0"/>
                <a:cs typeface="Kokila" pitchFamily="34" charset="0"/>
              </a:rPr>
              <a:t>(८) गुज्रेको म्याद थमाइपाउन वा अन्य निवेदन दिंदाको अवस्था</a:t>
            </a:r>
          </a:p>
          <a:p>
            <a:endParaRPr lang="ne-NP" dirty="0" smtClean="0"/>
          </a:p>
          <a:p>
            <a:endParaRPr lang="en-US" dirty="0"/>
          </a:p>
        </p:txBody>
      </p:sp>
      <p:sp>
        <p:nvSpPr>
          <p:cNvPr id="3" name="Title 2"/>
          <p:cNvSpPr>
            <a:spLocks noGrp="1"/>
          </p:cNvSpPr>
          <p:nvPr>
            <p:ph type="title"/>
          </p:nvPr>
        </p:nvSpPr>
        <p:spPr>
          <a:xfrm>
            <a:off x="387927" y="274638"/>
            <a:ext cx="11568546" cy="1143000"/>
          </a:xfrm>
        </p:spPr>
        <p:txBody>
          <a:bodyPr>
            <a:normAutofit fontScale="90000"/>
          </a:bodyPr>
          <a:lstStyle/>
          <a:p>
            <a:r>
              <a:rPr lang="ne-NP" dirty="0" smtClean="0">
                <a:latin typeface="Kokila" pitchFamily="34" charset="0"/>
                <a:cs typeface="Kokila" pitchFamily="34" charset="0"/>
              </a:rPr>
              <a:t>दुनियावादी फौजदारी तथा देवानी मुद्दाको कारवाहीमा गोपनियता कायम गर्ने कार्यविधि</a:t>
            </a:r>
            <a:endParaRPr lang="en-US" dirty="0">
              <a:latin typeface="Kokila" pitchFamily="34" charset="0"/>
              <a:cs typeface="Kokila" pitchFamily="3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568325" indent="-458788">
              <a:buNone/>
            </a:pPr>
            <a:r>
              <a:rPr lang="ne-NP" sz="3200" b="1" dirty="0" smtClean="0">
                <a:solidFill>
                  <a:srgbClr val="0070C0"/>
                </a:solidFill>
                <a:latin typeface="Kokila" pitchFamily="34" charset="0"/>
                <a:cs typeface="Kokila" pitchFamily="34" charset="0"/>
              </a:rPr>
              <a:t>१ 	लगत कितावमा जनाउँदाको अवस्था</a:t>
            </a:r>
          </a:p>
          <a:p>
            <a:pPr marL="568325" indent="-458788">
              <a:buNone/>
            </a:pPr>
            <a:r>
              <a:rPr lang="ne-NP" sz="3200" b="1" dirty="0" smtClean="0">
                <a:solidFill>
                  <a:srgbClr val="0070C0"/>
                </a:solidFill>
                <a:latin typeface="Kokila" pitchFamily="34" charset="0"/>
                <a:cs typeface="Kokila" pitchFamily="34" charset="0"/>
              </a:rPr>
              <a:t>२ 	अन्य अदालतमा लगत कस्न पठाउँदाको अवस्था</a:t>
            </a:r>
          </a:p>
          <a:p>
            <a:pPr marL="568325" indent="-458788">
              <a:buNone/>
            </a:pPr>
            <a:r>
              <a:rPr lang="ne-NP" sz="3200" b="1" dirty="0" smtClean="0">
                <a:solidFill>
                  <a:srgbClr val="0070C0"/>
                </a:solidFill>
                <a:latin typeface="Kokila" pitchFamily="34" charset="0"/>
                <a:cs typeface="Kokila" pitchFamily="34" charset="0"/>
              </a:rPr>
              <a:t>३ 	असुल तहसिलको लागि डोर खटाइ पठाउँदाको अवस्था</a:t>
            </a:r>
          </a:p>
          <a:p>
            <a:pPr marL="568325" indent="-458788">
              <a:buNone/>
            </a:pPr>
            <a:r>
              <a:rPr lang="ne-NP" sz="3200" b="1" dirty="0" smtClean="0">
                <a:solidFill>
                  <a:srgbClr val="0070C0"/>
                </a:solidFill>
                <a:latin typeface="Kokila" pitchFamily="34" charset="0"/>
                <a:cs typeface="Kokila" pitchFamily="34" charset="0"/>
              </a:rPr>
              <a:t>४ 	भरिभराउको लागि दरखास्त लिँदाको अवस्था</a:t>
            </a:r>
          </a:p>
          <a:p>
            <a:pPr marL="568325" indent="-458788">
              <a:buNone/>
            </a:pPr>
            <a:r>
              <a:rPr lang="ne-NP" sz="3200" b="1" dirty="0" smtClean="0">
                <a:solidFill>
                  <a:srgbClr val="0070C0"/>
                </a:solidFill>
                <a:latin typeface="Kokila" pitchFamily="34" charset="0"/>
                <a:cs typeface="Kokila" pitchFamily="34" charset="0"/>
              </a:rPr>
              <a:t>५ 	फैसला बमोजिम भराउनु पर्ने रकम दाखिला गर्न ल्याउनु भन्ने सूचना जारी गर्दाको अवस्था</a:t>
            </a:r>
          </a:p>
          <a:p>
            <a:pPr marL="568325" indent="-458788">
              <a:buNone/>
            </a:pPr>
            <a:r>
              <a:rPr lang="ne-NP" sz="3200" b="1" dirty="0" smtClean="0">
                <a:solidFill>
                  <a:srgbClr val="0070C0"/>
                </a:solidFill>
                <a:latin typeface="Kokila" pitchFamily="34" charset="0"/>
                <a:cs typeface="Kokila" pitchFamily="34" charset="0"/>
              </a:rPr>
              <a:t>६ 	जायजात, तायदात, जेथा मूल्यांकन, सम्पत्ति लिलाम गर्दाको अवस्था</a:t>
            </a:r>
          </a:p>
          <a:p>
            <a:pPr marL="568325" indent="-458788">
              <a:buNone/>
            </a:pPr>
            <a:r>
              <a:rPr lang="ne-NP" sz="3200" b="1" dirty="0" smtClean="0">
                <a:solidFill>
                  <a:srgbClr val="0070C0"/>
                </a:solidFill>
                <a:latin typeface="Kokila" pitchFamily="34" charset="0"/>
                <a:cs typeface="Kokila" pitchFamily="34" charset="0"/>
              </a:rPr>
              <a:t>७ 	सजाय असुल गर्न प्रहरी कार्यालयमा पत्र लेख्दाको अवस्था</a:t>
            </a:r>
            <a:endParaRPr lang="en-US" sz="3200" b="1" dirty="0">
              <a:solidFill>
                <a:srgbClr val="0070C0"/>
              </a:solidFill>
              <a:latin typeface="Kokila" pitchFamily="34" charset="0"/>
              <a:cs typeface="Kokila" pitchFamily="34" charset="0"/>
            </a:endParaRPr>
          </a:p>
        </p:txBody>
      </p:sp>
      <p:sp>
        <p:nvSpPr>
          <p:cNvPr id="3" name="Title 2"/>
          <p:cNvSpPr>
            <a:spLocks noGrp="1"/>
          </p:cNvSpPr>
          <p:nvPr>
            <p:ph type="title"/>
          </p:nvPr>
        </p:nvSpPr>
        <p:spPr>
          <a:xfrm>
            <a:off x="609600" y="510165"/>
            <a:ext cx="10972800" cy="792162"/>
          </a:xfrm>
        </p:spPr>
        <p:txBody>
          <a:bodyPr>
            <a:normAutofit fontScale="90000"/>
          </a:bodyPr>
          <a:lstStyle/>
          <a:p>
            <a:r>
              <a:rPr lang="ne-NP" dirty="0" smtClean="0">
                <a:latin typeface="Kokila" pitchFamily="34" charset="0"/>
                <a:cs typeface="Kokila" pitchFamily="34" charset="0"/>
              </a:rPr>
              <a:t>फैसला कार्यान्वयनको अवस्थामा गोपनीयता कायम गर्ने कार्यविधि</a:t>
            </a:r>
            <a:br>
              <a:rPr lang="ne-NP" dirty="0" smtClean="0">
                <a:latin typeface="Kokila" pitchFamily="34" charset="0"/>
                <a:cs typeface="Kokila" pitchFamily="34" charset="0"/>
              </a:rPr>
            </a:br>
            <a:endParaRPr lang="en-US" dirty="0">
              <a:latin typeface="Kokila" pitchFamily="34" charset="0"/>
              <a:cs typeface="Kokila"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011383"/>
            <a:ext cx="10972800" cy="4995910"/>
          </a:xfrm>
        </p:spPr>
        <p:txBody>
          <a:bodyPr>
            <a:normAutofit lnSpcReduction="10000"/>
          </a:bodyPr>
          <a:lstStyle/>
          <a:p>
            <a:pPr>
              <a:buNone/>
            </a:pPr>
            <a:r>
              <a:rPr lang="ne-NP" b="1" dirty="0" smtClean="0">
                <a:solidFill>
                  <a:srgbClr val="0070C0"/>
                </a:solidFill>
                <a:latin typeface="Kokila" pitchFamily="34" charset="0"/>
                <a:cs typeface="Kokila" pitchFamily="34" charset="0"/>
              </a:rPr>
              <a:t>(१) नगद धरौटी राख्ने रसिद दिंदाको अवस्था</a:t>
            </a:r>
          </a:p>
          <a:p>
            <a:pPr>
              <a:buNone/>
            </a:pPr>
            <a:r>
              <a:rPr lang="ne-NP" b="1" dirty="0" smtClean="0">
                <a:solidFill>
                  <a:srgbClr val="0070C0"/>
                </a:solidFill>
                <a:latin typeface="Kokila" pitchFamily="34" charset="0"/>
                <a:cs typeface="Kokila" pitchFamily="34" charset="0"/>
              </a:rPr>
              <a:t>(२) तारेख पर्चा दिंदाको अवस्था</a:t>
            </a:r>
          </a:p>
          <a:p>
            <a:pPr>
              <a:buNone/>
            </a:pPr>
            <a:r>
              <a:rPr lang="ne-NP" b="1" dirty="0" smtClean="0">
                <a:solidFill>
                  <a:srgbClr val="0070C0"/>
                </a:solidFill>
                <a:latin typeface="Kokila" pitchFamily="34" charset="0"/>
                <a:cs typeface="Kokila" pitchFamily="34" charset="0"/>
              </a:rPr>
              <a:t>(३) म्याद तामेल गर्न पठाउंदा र तामेल गर्दाको अवस्था</a:t>
            </a:r>
          </a:p>
          <a:p>
            <a:pPr>
              <a:buNone/>
            </a:pPr>
            <a:r>
              <a:rPr lang="ne-NP" b="1" dirty="0" smtClean="0">
                <a:solidFill>
                  <a:srgbClr val="0070C0"/>
                </a:solidFill>
                <a:latin typeface="Kokila" pitchFamily="34" charset="0"/>
                <a:cs typeface="Kokila" pitchFamily="34" charset="0"/>
              </a:rPr>
              <a:t>(४) कैफियत प्रतिवेदन लेख्दाको अवस्था</a:t>
            </a:r>
          </a:p>
          <a:p>
            <a:pPr>
              <a:buNone/>
            </a:pPr>
            <a:r>
              <a:rPr lang="ne-NP" b="1" dirty="0" smtClean="0">
                <a:solidFill>
                  <a:srgbClr val="0070C0"/>
                </a:solidFill>
                <a:latin typeface="Kokila" pitchFamily="34" charset="0"/>
                <a:cs typeface="Kokila" pitchFamily="34" charset="0"/>
              </a:rPr>
              <a:t>(५) अदालती कारबाहीको सिलसिलामा पत्राचार गर्दाको अवस्था</a:t>
            </a:r>
          </a:p>
          <a:p>
            <a:pPr>
              <a:buNone/>
            </a:pPr>
            <a:r>
              <a:rPr lang="ne-NP" b="1" dirty="0" smtClean="0">
                <a:solidFill>
                  <a:srgbClr val="0070C0"/>
                </a:solidFill>
                <a:latin typeface="Kokila" pitchFamily="34" charset="0"/>
                <a:cs typeface="Kokila" pitchFamily="34" charset="0"/>
              </a:rPr>
              <a:t>(६) साक्षीको बकपत्र गराउंदाको अवस्था</a:t>
            </a:r>
          </a:p>
          <a:p>
            <a:pPr>
              <a:buNone/>
            </a:pPr>
            <a:r>
              <a:rPr lang="ne-NP" b="1" dirty="0" smtClean="0">
                <a:solidFill>
                  <a:srgbClr val="0070C0"/>
                </a:solidFill>
                <a:latin typeface="Kokila" pitchFamily="34" charset="0"/>
                <a:cs typeface="Kokila" pitchFamily="34" charset="0"/>
              </a:rPr>
              <a:t>(७) इजलासमा मुद्दा सुनुवाई गर्दाको अवस्था</a:t>
            </a:r>
          </a:p>
          <a:p>
            <a:pPr>
              <a:buNone/>
            </a:pPr>
            <a:r>
              <a:rPr lang="ne-NP" b="1" dirty="0" smtClean="0">
                <a:solidFill>
                  <a:srgbClr val="0070C0"/>
                </a:solidFill>
                <a:latin typeface="Kokila" pitchFamily="34" charset="0"/>
                <a:cs typeface="Kokila" pitchFamily="34" charset="0"/>
              </a:rPr>
              <a:t>(८) वन्दसवालबाट साक्षी बुझ्नु पर्दाको अवस्था</a:t>
            </a:r>
          </a:p>
          <a:p>
            <a:pPr>
              <a:buNone/>
            </a:pPr>
            <a:r>
              <a:rPr lang="ne-NP" b="1" dirty="0" smtClean="0">
                <a:solidFill>
                  <a:srgbClr val="0070C0"/>
                </a:solidFill>
                <a:latin typeface="Kokila" pitchFamily="34" charset="0"/>
                <a:cs typeface="Kokila" pitchFamily="34" charset="0"/>
              </a:rPr>
              <a:t>(९) कारबाहीको सिलसिलामा आदेश गर्दाको अवस्था</a:t>
            </a:r>
          </a:p>
          <a:p>
            <a:pPr>
              <a:buNone/>
            </a:pPr>
            <a:r>
              <a:rPr lang="ne-NP" b="1" dirty="0" smtClean="0">
                <a:solidFill>
                  <a:srgbClr val="0070C0"/>
                </a:solidFill>
                <a:latin typeface="Kokila" pitchFamily="34" charset="0"/>
                <a:cs typeface="Kokila" pitchFamily="34" charset="0"/>
              </a:rPr>
              <a:t>(१०) फैसला लेख्दाको अवस्था</a:t>
            </a:r>
          </a:p>
          <a:p>
            <a:pPr>
              <a:buNone/>
            </a:pPr>
            <a:r>
              <a:rPr lang="ne-NP" b="1" dirty="0" smtClean="0">
                <a:solidFill>
                  <a:srgbClr val="0070C0"/>
                </a:solidFill>
                <a:latin typeface="Kokila" pitchFamily="34" charset="0"/>
                <a:cs typeface="Kokila" pitchFamily="34" charset="0"/>
              </a:rPr>
              <a:t>(११) फैसलाको जनाउ दिंदाको अवस्था</a:t>
            </a:r>
            <a:endParaRPr lang="en-US" b="1" dirty="0">
              <a:solidFill>
                <a:srgbClr val="0070C0"/>
              </a:solidFill>
              <a:latin typeface="Kokila" pitchFamily="34" charset="0"/>
              <a:cs typeface="Kokila" pitchFamily="34" charset="0"/>
            </a:endParaRPr>
          </a:p>
        </p:txBody>
      </p:sp>
      <p:sp>
        <p:nvSpPr>
          <p:cNvPr id="3" name="Title 2"/>
          <p:cNvSpPr>
            <a:spLocks noGrp="1"/>
          </p:cNvSpPr>
          <p:nvPr>
            <p:ph type="title"/>
          </p:nvPr>
        </p:nvSpPr>
        <p:spPr>
          <a:xfrm>
            <a:off x="609600" y="0"/>
            <a:ext cx="10972800" cy="1094509"/>
          </a:xfrm>
        </p:spPr>
        <p:txBody>
          <a:bodyPr>
            <a:normAutofit/>
          </a:bodyPr>
          <a:lstStyle/>
          <a:p>
            <a:r>
              <a:rPr lang="ne-NP" dirty="0" smtClean="0">
                <a:latin typeface="Kokila" pitchFamily="34" charset="0"/>
                <a:cs typeface="Kokila" pitchFamily="34" charset="0"/>
              </a:rPr>
              <a:t>अन्य कारबाहीमा गोपनियता कायम गर्ने कार्यविधि</a:t>
            </a:r>
            <a:endParaRPr lang="en-US" dirty="0">
              <a:latin typeface="Kokila" pitchFamily="34" charset="0"/>
              <a:cs typeface="Kokila" pitchFamily="3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662545"/>
            <a:ext cx="10972800" cy="4344747"/>
          </a:xfrm>
        </p:spPr>
        <p:txBody>
          <a:bodyPr/>
          <a:lstStyle/>
          <a:p>
            <a:r>
              <a:rPr lang="en-US" sz="3600" b="1" dirty="0" smtClean="0">
                <a:solidFill>
                  <a:srgbClr val="0070C0"/>
                </a:solidFill>
                <a:latin typeface="Kokila" pitchFamily="34" charset="0"/>
                <a:cs typeface="Kokila" pitchFamily="34" charset="0"/>
              </a:rPr>
              <a:t> (</a:t>
            </a:r>
            <a:r>
              <a:rPr lang="ne-NP" sz="3600" b="1" dirty="0" smtClean="0">
                <a:solidFill>
                  <a:srgbClr val="0070C0"/>
                </a:solidFill>
                <a:latin typeface="Kokila" pitchFamily="34" charset="0"/>
                <a:cs typeface="Kokila" pitchFamily="34" charset="0"/>
              </a:rPr>
              <a:t>विशेष प्रकृतिका मुद्दाहरूको कारवाहीमा पक्षको गोपनीयता कायम राख्ने सम्बन्धी कार्यविधि निर्देशिका, २०६४ बमोजिम प्रस्तुत मुद्दामा जाहेरवाला लगायतको वास्तविक नामको सट्टा विभिन्न साङ्केतिक</a:t>
            </a:r>
            <a:r>
              <a:rPr lang="en-US" sz="3600" b="1" dirty="0" smtClean="0">
                <a:solidFill>
                  <a:srgbClr val="0070C0"/>
                </a:solidFill>
                <a:latin typeface="Kokila" pitchFamily="34" charset="0"/>
                <a:cs typeface="Kokila" pitchFamily="34" charset="0"/>
              </a:rPr>
              <a:t>/</a:t>
            </a:r>
            <a:r>
              <a:rPr lang="ne-NP" sz="3600" b="1" dirty="0" smtClean="0">
                <a:solidFill>
                  <a:srgbClr val="0070C0"/>
                </a:solidFill>
                <a:latin typeface="Kokila" pitchFamily="34" charset="0"/>
                <a:cs typeface="Kokila" pitchFamily="34" charset="0"/>
              </a:rPr>
              <a:t>परिवर्तित नामहरू प्रयोग गरिएको छ। निजहरूको वास्तविक नाम र ठेगाना सहितको यथार्थ विवरण छुट्टै खाममा सिलबन्दी गरी सुरु मिसिल सामेल रहेको छ।</a:t>
            </a:r>
            <a:r>
              <a:rPr lang="en-US" sz="3600" b="1" dirty="0" smtClean="0">
                <a:solidFill>
                  <a:srgbClr val="0070C0"/>
                </a:solidFill>
                <a:latin typeface="Kokila" pitchFamily="34" charset="0"/>
                <a:cs typeface="Kokila" pitchFamily="34" charset="0"/>
              </a:rPr>
              <a:t>)</a:t>
            </a:r>
          </a:p>
          <a:p>
            <a:endParaRPr lang="en-US" dirty="0"/>
          </a:p>
        </p:txBody>
      </p:sp>
      <p:sp>
        <p:nvSpPr>
          <p:cNvPr id="3" name="Title 2"/>
          <p:cNvSpPr>
            <a:spLocks noGrp="1"/>
          </p:cNvSpPr>
          <p:nvPr>
            <p:ph type="title"/>
          </p:nvPr>
        </p:nvSpPr>
        <p:spPr/>
        <p:txBody>
          <a:bodyPr/>
          <a:lstStyle/>
          <a:p>
            <a:r>
              <a:rPr lang="ne-NP" dirty="0" smtClean="0">
                <a:latin typeface="Kokila" pitchFamily="34" charset="0"/>
                <a:cs typeface="Kokila" pitchFamily="34" charset="0"/>
              </a:rPr>
              <a:t>उदाहरणः फैसलाको शिरमा लेख्नेः</a:t>
            </a:r>
            <a:endParaRPr lang="en-US" dirty="0">
              <a:latin typeface="Kokila" pitchFamily="34" charset="0"/>
              <a:cs typeface="Kokila" pitchFamily="34"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481329"/>
            <a:ext cx="11125200" cy="4525963"/>
          </a:xfrm>
        </p:spPr>
        <p:txBody>
          <a:bodyPr>
            <a:normAutofit/>
          </a:bodyPr>
          <a:lstStyle/>
          <a:p>
            <a:pPr marL="623888" indent="-514350">
              <a:buNone/>
            </a:pPr>
            <a:r>
              <a:rPr lang="ne-NP" b="1" dirty="0" smtClean="0">
                <a:solidFill>
                  <a:srgbClr val="0070C0"/>
                </a:solidFill>
                <a:latin typeface="Kokila" pitchFamily="34" charset="0"/>
                <a:cs typeface="Kokila" pitchFamily="34" charset="0"/>
              </a:rPr>
              <a:t>(१) 	बालबालिका सम्बन्धी मुद्दा,</a:t>
            </a:r>
          </a:p>
          <a:p>
            <a:pPr marL="623888" indent="-514350">
              <a:buNone/>
            </a:pPr>
            <a:r>
              <a:rPr lang="ne-NP" b="1" dirty="0" smtClean="0">
                <a:solidFill>
                  <a:srgbClr val="0070C0"/>
                </a:solidFill>
                <a:latin typeface="Kokila" pitchFamily="34" charset="0"/>
                <a:cs typeface="Kokila" pitchFamily="34" charset="0"/>
              </a:rPr>
              <a:t>(२) 	जबरजस्ती करणीसम्बन्धी मुद्दा,</a:t>
            </a:r>
          </a:p>
          <a:p>
            <a:pPr marL="623888" indent="-514350">
              <a:buNone/>
            </a:pPr>
            <a:r>
              <a:rPr lang="ne-NP" b="1" dirty="0" smtClean="0">
                <a:solidFill>
                  <a:srgbClr val="0070C0"/>
                </a:solidFill>
                <a:latin typeface="Kokila" pitchFamily="34" charset="0"/>
                <a:cs typeface="Kokila" pitchFamily="34" charset="0"/>
              </a:rPr>
              <a:t>(३) 	जीउ मास्ने बेच्ने सम्बन्धी मुद्दा,</a:t>
            </a:r>
          </a:p>
          <a:p>
            <a:pPr marL="623888" indent="-514350">
              <a:buNone/>
            </a:pPr>
            <a:r>
              <a:rPr lang="ne-NP" b="1" dirty="0" smtClean="0">
                <a:solidFill>
                  <a:srgbClr val="0070C0"/>
                </a:solidFill>
                <a:latin typeface="Kokila" pitchFamily="34" charset="0"/>
                <a:cs typeface="Kokila" pitchFamily="34" charset="0"/>
              </a:rPr>
              <a:t>(४) 	मानव बेचबिखन तथा ओसारपसार सम्बन्धी मुद्दा,</a:t>
            </a:r>
          </a:p>
          <a:p>
            <a:pPr marL="623888" indent="-514350">
              <a:buNone/>
            </a:pPr>
            <a:r>
              <a:rPr lang="ne-NP" b="1" dirty="0" smtClean="0">
                <a:solidFill>
                  <a:srgbClr val="0070C0"/>
                </a:solidFill>
                <a:latin typeface="Kokila" pitchFamily="34" charset="0"/>
                <a:cs typeface="Kokila" pitchFamily="34" charset="0"/>
              </a:rPr>
              <a:t>(४) 	नाता कायम सम्बन्धी मुद्दा,</a:t>
            </a:r>
          </a:p>
          <a:p>
            <a:pPr marL="623888" indent="-514350">
              <a:buNone/>
            </a:pPr>
            <a:r>
              <a:rPr lang="ne-NP" b="1" dirty="0" smtClean="0">
                <a:solidFill>
                  <a:srgbClr val="0070C0"/>
                </a:solidFill>
                <a:latin typeface="Kokila" pitchFamily="34" charset="0"/>
                <a:cs typeface="Kokila" pitchFamily="34" charset="0"/>
              </a:rPr>
              <a:t>(५) 	सम्बन्ध विच्छेद सम्बन्धी मुद्दा,</a:t>
            </a:r>
          </a:p>
          <a:p>
            <a:pPr marL="623888" indent="-514350">
              <a:buNone/>
            </a:pPr>
            <a:r>
              <a:rPr lang="ne-NP" b="1" dirty="0" smtClean="0">
                <a:solidFill>
                  <a:srgbClr val="0070C0"/>
                </a:solidFill>
                <a:latin typeface="Kokila" pitchFamily="34" charset="0"/>
                <a:cs typeface="Kokila" pitchFamily="34" charset="0"/>
              </a:rPr>
              <a:t>(६) 	पीडितले बन्द इजलासबाट सुनुवाइ होस् भनी अनुरोध गरेका घरेलु हिंसा सम्बन्धी मुद्दा,</a:t>
            </a:r>
          </a:p>
          <a:p>
            <a:pPr marL="623888" indent="-514350">
              <a:buNone/>
            </a:pPr>
            <a:r>
              <a:rPr lang="ne-NP" b="1" dirty="0" smtClean="0">
                <a:solidFill>
                  <a:srgbClr val="0070C0"/>
                </a:solidFill>
                <a:latin typeface="Kokila" pitchFamily="34" charset="0"/>
                <a:cs typeface="Kokila" pitchFamily="34" charset="0"/>
              </a:rPr>
              <a:t>(७) 	खुला इजलासबाट सुनुवाइ गर्न मनासिब नभएको भनी अदालतले बन्द इजलासबाट हेर्ने भनी आदेश गरेका अन्य मुद्दाहरू।</a:t>
            </a:r>
          </a:p>
          <a:p>
            <a:endParaRPr lang="ne-NP" dirty="0" smtClean="0"/>
          </a:p>
          <a:p>
            <a:endParaRPr lang="ne-NP" dirty="0" smtClean="0"/>
          </a:p>
          <a:p>
            <a:endParaRPr lang="ne-NP" dirty="0" smtClean="0"/>
          </a:p>
          <a:p>
            <a:endParaRPr lang="en-US" dirty="0"/>
          </a:p>
        </p:txBody>
      </p:sp>
      <p:sp>
        <p:nvSpPr>
          <p:cNvPr id="3" name="Title 2"/>
          <p:cNvSpPr>
            <a:spLocks noGrp="1"/>
          </p:cNvSpPr>
          <p:nvPr>
            <p:ph type="title"/>
          </p:nvPr>
        </p:nvSpPr>
        <p:spPr/>
        <p:txBody>
          <a:bodyPr/>
          <a:lstStyle/>
          <a:p>
            <a:r>
              <a:rPr lang="ne-NP" dirty="0" smtClean="0">
                <a:latin typeface="Kokila" pitchFamily="34" charset="0"/>
                <a:cs typeface="Kokila" pitchFamily="34" charset="0"/>
              </a:rPr>
              <a:t>बन्द इजलासबाट सुनुवाइ गर्नुपर्ने मुद्दाहरू </a:t>
            </a:r>
            <a:endParaRPr lang="en-US" dirty="0">
              <a:latin typeface="Kokila" pitchFamily="34" charset="0"/>
              <a:cs typeface="Kokila" pitchFamily="34"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buNone/>
            </a:pPr>
            <a:r>
              <a:rPr lang="ne-NP" b="1" dirty="0" smtClean="0">
                <a:solidFill>
                  <a:srgbClr val="0070C0"/>
                </a:solidFill>
                <a:latin typeface="Kokila" pitchFamily="34" charset="0"/>
                <a:cs typeface="Kokila" pitchFamily="34" charset="0"/>
              </a:rPr>
              <a:t>(१) सम्बन्धित कानुन व्यवसायी,</a:t>
            </a:r>
          </a:p>
          <a:p>
            <a:pPr>
              <a:buNone/>
            </a:pPr>
            <a:r>
              <a:rPr lang="ne-NP" b="1" dirty="0" smtClean="0">
                <a:solidFill>
                  <a:srgbClr val="0070C0"/>
                </a:solidFill>
                <a:latin typeface="Kokila" pitchFamily="34" charset="0"/>
                <a:cs typeface="Kokila" pitchFamily="34" charset="0"/>
              </a:rPr>
              <a:t>(२) सरकारी वकिल,</a:t>
            </a:r>
          </a:p>
          <a:p>
            <a:pPr>
              <a:buNone/>
            </a:pPr>
            <a:r>
              <a:rPr lang="ne-NP" b="1" dirty="0" smtClean="0">
                <a:solidFill>
                  <a:srgbClr val="0070C0"/>
                </a:solidFill>
                <a:latin typeface="Kokila" pitchFamily="34" charset="0"/>
                <a:cs typeface="Kokila" pitchFamily="34" charset="0"/>
              </a:rPr>
              <a:t>(३) विशेषज्ञ,</a:t>
            </a:r>
          </a:p>
          <a:p>
            <a:pPr>
              <a:buNone/>
            </a:pPr>
            <a:r>
              <a:rPr lang="ne-NP" b="1" dirty="0" smtClean="0">
                <a:solidFill>
                  <a:srgbClr val="0070C0"/>
                </a:solidFill>
                <a:latin typeface="Kokila" pitchFamily="34" charset="0"/>
                <a:cs typeface="Kokila" pitchFamily="34" charset="0"/>
              </a:rPr>
              <a:t>(४) अभियुक्त,</a:t>
            </a:r>
          </a:p>
          <a:p>
            <a:pPr>
              <a:buNone/>
            </a:pPr>
            <a:r>
              <a:rPr lang="ne-NP" b="1" dirty="0" smtClean="0">
                <a:solidFill>
                  <a:srgbClr val="0070C0"/>
                </a:solidFill>
                <a:latin typeface="Kokila" pitchFamily="34" charset="0"/>
                <a:cs typeface="Kokila" pitchFamily="34" charset="0"/>
              </a:rPr>
              <a:t>(५) पीडित तथा निजको संरक्षक,</a:t>
            </a:r>
          </a:p>
          <a:p>
            <a:pPr>
              <a:buNone/>
            </a:pPr>
            <a:r>
              <a:rPr lang="ne-NP" b="1" dirty="0" smtClean="0">
                <a:solidFill>
                  <a:srgbClr val="0070C0"/>
                </a:solidFill>
                <a:latin typeface="Kokila" pitchFamily="34" charset="0"/>
                <a:cs typeface="Kokila" pitchFamily="34" charset="0"/>
              </a:rPr>
              <a:t>(६) अदालतले अनुमति दिएका प्रहरी र अदालतका कर्मचारी ।</a:t>
            </a:r>
            <a:endParaRPr lang="en-US" b="1" dirty="0">
              <a:solidFill>
                <a:srgbClr val="0070C0"/>
              </a:solidFill>
              <a:latin typeface="Kokila" pitchFamily="34" charset="0"/>
              <a:cs typeface="Kokila" pitchFamily="34" charset="0"/>
            </a:endParaRPr>
          </a:p>
        </p:txBody>
      </p:sp>
      <p:sp>
        <p:nvSpPr>
          <p:cNvPr id="3" name="Title 2"/>
          <p:cNvSpPr>
            <a:spLocks noGrp="1"/>
          </p:cNvSpPr>
          <p:nvPr>
            <p:ph type="title"/>
          </p:nvPr>
        </p:nvSpPr>
        <p:spPr/>
        <p:txBody>
          <a:bodyPr>
            <a:normAutofit/>
          </a:bodyPr>
          <a:lstStyle/>
          <a:p>
            <a:r>
              <a:rPr lang="ne-NP" dirty="0" smtClean="0">
                <a:latin typeface="Kokila" pitchFamily="34" charset="0"/>
                <a:cs typeface="Kokila" pitchFamily="34" charset="0"/>
              </a:rPr>
              <a:t>बन्द इजलासमा मुद्दा सुनुवाइ हुँदा उपस्थित हुन पाउने व्यक्तिहरू </a:t>
            </a:r>
            <a:endParaRPr lang="en-US" dirty="0">
              <a:latin typeface="Kokila" pitchFamily="34" charset="0"/>
              <a:cs typeface="Kokila" pitchFamily="34"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marL="568325" indent="-458788"/>
            <a:r>
              <a:rPr lang="ne-NP" sz="4000" b="1" dirty="0" smtClean="0">
                <a:solidFill>
                  <a:srgbClr val="0070C0"/>
                </a:solidFill>
                <a:latin typeface="Kokila" pitchFamily="34" charset="0"/>
                <a:cs typeface="Kokila" pitchFamily="34" charset="0"/>
              </a:rPr>
              <a:t>मुद्दाको प्रकृतिका आधारमा अदालतबाट मुद्दाको कारवाहीलाई निश्चित समय तोकी सो समयभित्रै तोकिएका काम कारवाही सम्पन्न गरिने गरी निर्धारित पद्दती निरन्तर सुनुवाई हो। </a:t>
            </a:r>
            <a:r>
              <a:rPr lang="en-US" sz="4000" b="1" dirty="0" smtClean="0">
                <a:solidFill>
                  <a:srgbClr val="0070C0"/>
                </a:solidFill>
                <a:latin typeface="Kokila" pitchFamily="34" charset="0"/>
                <a:cs typeface="Kokila" pitchFamily="34" charset="0"/>
              </a:rPr>
              <a:t> </a:t>
            </a:r>
            <a:endParaRPr lang="ne-NP" sz="4000" b="1" dirty="0" smtClean="0">
              <a:solidFill>
                <a:srgbClr val="0070C0"/>
              </a:solidFill>
              <a:latin typeface="Kokila" pitchFamily="34" charset="0"/>
              <a:cs typeface="Kokila" pitchFamily="34" charset="0"/>
            </a:endParaRPr>
          </a:p>
          <a:p>
            <a:pPr marL="568325" indent="-458788"/>
            <a:r>
              <a:rPr lang="ne-NP" sz="4000" b="1" dirty="0" smtClean="0">
                <a:solidFill>
                  <a:srgbClr val="0070C0"/>
                </a:solidFill>
                <a:latin typeface="Kokila" pitchFamily="34" charset="0"/>
                <a:cs typeface="Kokila" pitchFamily="34" charset="0"/>
              </a:rPr>
              <a:t>यसमा मुद्दाका निश्चित काम कारवाहीलाई तिव्रता </a:t>
            </a:r>
            <a:r>
              <a:rPr lang="en-US" sz="4000" b="1" dirty="0" smtClean="0">
                <a:solidFill>
                  <a:srgbClr val="0070C0"/>
                </a:solidFill>
                <a:latin typeface="Kokila" pitchFamily="34" charset="0"/>
                <a:cs typeface="Kokila" pitchFamily="34" charset="0"/>
              </a:rPr>
              <a:t>(To expedite a case schedule)</a:t>
            </a:r>
            <a:r>
              <a:rPr lang="ne-NP" sz="4000" b="1" dirty="0" smtClean="0">
                <a:solidFill>
                  <a:srgbClr val="0070C0"/>
                </a:solidFill>
                <a:latin typeface="Kokila" pitchFamily="34" charset="0"/>
                <a:cs typeface="Kokila" pitchFamily="34" charset="0"/>
              </a:rPr>
              <a:t> प्रदान गरिन्छ।</a:t>
            </a:r>
            <a:endParaRPr lang="en-US" sz="4000" b="1" dirty="0" smtClean="0">
              <a:solidFill>
                <a:srgbClr val="0070C0"/>
              </a:solidFill>
              <a:latin typeface="Kokila" pitchFamily="34" charset="0"/>
              <a:cs typeface="Kokila" pitchFamily="34" charset="0"/>
            </a:endParaRPr>
          </a:p>
          <a:p>
            <a:pPr marL="568325" indent="-458788"/>
            <a:r>
              <a:rPr lang="ne-NP" sz="4000" b="1" dirty="0" smtClean="0">
                <a:solidFill>
                  <a:srgbClr val="0070C0"/>
                </a:solidFill>
                <a:latin typeface="Kokila" pitchFamily="34" charset="0"/>
                <a:cs typeface="Kokila" pitchFamily="34" charset="0"/>
              </a:rPr>
              <a:t>पीडित र पीडक दुवै पक्षलाई सिघ्र र प्रभावकारी न्याय </a:t>
            </a:r>
            <a:r>
              <a:rPr lang="en-US" sz="4000" b="1" dirty="0" smtClean="0">
                <a:solidFill>
                  <a:srgbClr val="0070C0"/>
                </a:solidFill>
                <a:latin typeface="Kokila" pitchFamily="34" charset="0"/>
                <a:cs typeface="Kokila" pitchFamily="34" charset="0"/>
              </a:rPr>
              <a:t>(Speedy and Effective Justice) </a:t>
            </a:r>
            <a:r>
              <a:rPr lang="ne-NP" sz="4000" b="1" dirty="0" smtClean="0">
                <a:solidFill>
                  <a:srgbClr val="0070C0"/>
                </a:solidFill>
                <a:latin typeface="Kokila" pitchFamily="34" charset="0"/>
                <a:cs typeface="Kokila" pitchFamily="34" charset="0"/>
              </a:rPr>
              <a:t>को अनुभूति दिलाउन अवलम्बन गरिने एउटा अदालती प्रक्रिया</a:t>
            </a:r>
          </a:p>
          <a:p>
            <a:pPr marL="568325" indent="-458788">
              <a:buNone/>
            </a:pPr>
            <a:endParaRPr lang="en-US" sz="4000" b="1" dirty="0">
              <a:solidFill>
                <a:srgbClr val="0070C0"/>
              </a:solidFill>
              <a:latin typeface="Kokila" pitchFamily="34" charset="0"/>
              <a:cs typeface="Kokila" pitchFamily="34" charset="0"/>
            </a:endParaRPr>
          </a:p>
          <a:p>
            <a:pPr>
              <a:buNone/>
            </a:pPr>
            <a:endParaRPr lang="en-US" dirty="0"/>
          </a:p>
        </p:txBody>
      </p:sp>
      <p:sp>
        <p:nvSpPr>
          <p:cNvPr id="2" name="Title 1"/>
          <p:cNvSpPr>
            <a:spLocks noGrp="1"/>
          </p:cNvSpPr>
          <p:nvPr>
            <p:ph type="title"/>
          </p:nvPr>
        </p:nvSpPr>
        <p:spPr/>
        <p:txBody>
          <a:bodyPr/>
          <a:lstStyle/>
          <a:p>
            <a:r>
              <a:rPr lang="ne-NP" dirty="0" smtClean="0">
                <a:solidFill>
                  <a:srgbClr val="002060"/>
                </a:solidFill>
                <a:latin typeface="Kokila" pitchFamily="34" charset="0"/>
                <a:cs typeface="Kokila" pitchFamily="34" charset="0"/>
              </a:rPr>
              <a:t>निरन्तर सुनुवाई </a:t>
            </a:r>
            <a:r>
              <a:rPr lang="en-US" dirty="0" smtClean="0">
                <a:solidFill>
                  <a:srgbClr val="002060"/>
                </a:solidFill>
                <a:latin typeface="Kokila" pitchFamily="34" charset="0"/>
                <a:cs typeface="Kokila" pitchFamily="34" charset="0"/>
              </a:rPr>
              <a:t>–</a:t>
            </a:r>
            <a:r>
              <a:rPr lang="ne-NP" dirty="0" smtClean="0">
                <a:solidFill>
                  <a:srgbClr val="002060"/>
                </a:solidFill>
                <a:latin typeface="Kokila" pitchFamily="34" charset="0"/>
                <a:cs typeface="Kokila" pitchFamily="34" charset="0"/>
              </a:rPr>
              <a:t> अर्थ</a:t>
            </a:r>
            <a:r>
              <a:rPr lang="en-US" dirty="0" smtClean="0">
                <a:solidFill>
                  <a:srgbClr val="002060"/>
                </a:solidFill>
                <a:latin typeface="Kokila" pitchFamily="34" charset="0"/>
                <a:cs typeface="Kokila" pitchFamily="34" charset="0"/>
              </a:rPr>
              <a:t>/ </a:t>
            </a:r>
            <a:r>
              <a:rPr lang="ne-NP" dirty="0" smtClean="0">
                <a:solidFill>
                  <a:srgbClr val="002060"/>
                </a:solidFill>
                <a:latin typeface="Kokila" pitchFamily="34" charset="0"/>
                <a:cs typeface="Kokila" pitchFamily="34" charset="0"/>
              </a:rPr>
              <a:t>परिभाषा</a:t>
            </a:r>
            <a:endParaRPr lang="en-US" dirty="0">
              <a:solidFill>
                <a:srgbClr val="002060"/>
              </a:solidFill>
              <a:latin typeface="Kokila" pitchFamily="34" charset="0"/>
              <a:cs typeface="Kokila" pitchFamily="34" charset="0"/>
            </a:endParaRPr>
          </a:p>
        </p:txBody>
      </p:sp>
    </p:spTree>
    <p:extLst>
      <p:ext uri="{BB962C8B-B14F-4D97-AF65-F5344CB8AC3E}">
        <p14:creationId xmlns:p14="http://schemas.microsoft.com/office/powerpoint/2010/main" xmlns="" val="2330160245"/>
      </p:ext>
    </p:extLst>
  </p:cSld>
  <p:clrMapOvr>
    <a:masterClrMapping/>
  </p:clrMapOvr>
  <p:transition>
    <p:wheel spokes="8"/>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ne-NP" sz="3600" b="1" dirty="0" smtClean="0">
                <a:solidFill>
                  <a:srgbClr val="0070C0"/>
                </a:solidFill>
                <a:latin typeface="Kokila" pitchFamily="34" charset="0"/>
                <a:cs typeface="Kokila" pitchFamily="34" charset="0"/>
              </a:rPr>
              <a:t>अभियुक्तको सिघ्र न्याय कारवाहीको अधिकार सुनिश्चित गर्ने </a:t>
            </a:r>
            <a:r>
              <a:rPr lang="en-US" sz="3600" b="1" dirty="0" smtClean="0">
                <a:solidFill>
                  <a:srgbClr val="0070C0"/>
                </a:solidFill>
                <a:latin typeface="Kokila" pitchFamily="34" charset="0"/>
                <a:cs typeface="Kokila" pitchFamily="34" charset="0"/>
              </a:rPr>
              <a:t>(To </a:t>
            </a:r>
            <a:r>
              <a:rPr lang="en-US" sz="3600" b="1" dirty="0">
                <a:solidFill>
                  <a:srgbClr val="0070C0"/>
                </a:solidFill>
                <a:latin typeface="Kokila" pitchFamily="34" charset="0"/>
                <a:cs typeface="Kokila" pitchFamily="34" charset="0"/>
              </a:rPr>
              <a:t>effectuate the right of the accused to a speedy </a:t>
            </a:r>
            <a:r>
              <a:rPr lang="en-US" sz="3600" b="1" dirty="0" smtClean="0">
                <a:solidFill>
                  <a:srgbClr val="0070C0"/>
                </a:solidFill>
                <a:latin typeface="Kokila" pitchFamily="34" charset="0"/>
                <a:cs typeface="Kokila" pitchFamily="34" charset="0"/>
              </a:rPr>
              <a:t>trial)</a:t>
            </a:r>
            <a:endParaRPr lang="ne-NP" sz="3600" b="1" dirty="0" smtClean="0">
              <a:solidFill>
                <a:srgbClr val="0070C0"/>
              </a:solidFill>
              <a:latin typeface="Kokila" pitchFamily="34" charset="0"/>
              <a:cs typeface="Kokila" pitchFamily="34" charset="0"/>
            </a:endParaRPr>
          </a:p>
          <a:p>
            <a:pPr>
              <a:buNone/>
            </a:pPr>
            <a:endParaRPr lang="en-US" sz="1200" b="1" dirty="0">
              <a:solidFill>
                <a:srgbClr val="0070C0"/>
              </a:solidFill>
              <a:latin typeface="Kokila" pitchFamily="34" charset="0"/>
              <a:cs typeface="Kokila" pitchFamily="34" charset="0"/>
            </a:endParaRPr>
          </a:p>
          <a:p>
            <a:r>
              <a:rPr lang="ne-NP" sz="3600" b="1" dirty="0" smtClean="0">
                <a:solidFill>
                  <a:srgbClr val="0070C0"/>
                </a:solidFill>
                <a:latin typeface="Kokila" pitchFamily="34" charset="0"/>
                <a:cs typeface="Kokila" pitchFamily="34" charset="0"/>
              </a:rPr>
              <a:t>स्वच्छ</a:t>
            </a:r>
            <a:r>
              <a:rPr lang="en-US" sz="3600" b="1" dirty="0" smtClean="0">
                <a:solidFill>
                  <a:srgbClr val="0070C0"/>
                </a:solidFill>
                <a:latin typeface="Kokila" pitchFamily="34" charset="0"/>
                <a:cs typeface="Kokila" pitchFamily="34" charset="0"/>
              </a:rPr>
              <a:t>,</a:t>
            </a:r>
            <a:r>
              <a:rPr lang="ne-NP" sz="3600" b="1" dirty="0" smtClean="0">
                <a:solidFill>
                  <a:srgbClr val="0070C0"/>
                </a:solidFill>
                <a:latin typeface="Kokila" pitchFamily="34" charset="0"/>
                <a:cs typeface="Kokila" pitchFamily="34" charset="0"/>
              </a:rPr>
              <a:t> वास्तविक र समयमै फौजदारी मुद्दाहरुमा न्याय निरुपण गरी पीडित र साक्षी लगायत सर्वसाधारणको हितलाई प्रवर्द्धन गर्ने </a:t>
            </a:r>
            <a:r>
              <a:rPr lang="en-US" sz="3600" b="1" dirty="0" smtClean="0">
                <a:solidFill>
                  <a:srgbClr val="0070C0"/>
                </a:solidFill>
                <a:latin typeface="Kokila" pitchFamily="34" charset="0"/>
                <a:cs typeface="Kokila" pitchFamily="34" charset="0"/>
              </a:rPr>
              <a:t>(To furtherance of </a:t>
            </a:r>
            <a:r>
              <a:rPr lang="en-US" sz="3600" b="1" dirty="0">
                <a:solidFill>
                  <a:srgbClr val="0070C0"/>
                </a:solidFill>
                <a:latin typeface="Kokila" pitchFamily="34" charset="0"/>
                <a:cs typeface="Kokila" pitchFamily="34" charset="0"/>
              </a:rPr>
              <a:t>the interests of the </a:t>
            </a:r>
            <a:r>
              <a:rPr lang="en-US" sz="3600" b="1" dirty="0" smtClean="0">
                <a:solidFill>
                  <a:srgbClr val="0070C0"/>
                </a:solidFill>
                <a:latin typeface="Kokila" pitchFamily="34" charset="0"/>
                <a:cs typeface="Kokila" pitchFamily="34" charset="0"/>
              </a:rPr>
              <a:t>general public</a:t>
            </a:r>
            <a:r>
              <a:rPr lang="en-US" sz="3600" b="1" dirty="0">
                <a:solidFill>
                  <a:srgbClr val="0070C0"/>
                </a:solidFill>
                <a:latin typeface="Kokila" pitchFamily="34" charset="0"/>
                <a:cs typeface="Kokila" pitchFamily="34" charset="0"/>
              </a:rPr>
              <a:t>, including victims and witnesses in the fair, accurate, and timely resolution of criminal </a:t>
            </a:r>
            <a:r>
              <a:rPr lang="en-US" sz="3600" b="1" dirty="0" smtClean="0">
                <a:solidFill>
                  <a:srgbClr val="0070C0"/>
                </a:solidFill>
                <a:latin typeface="Kokila" pitchFamily="34" charset="0"/>
                <a:cs typeface="Kokila" pitchFamily="34" charset="0"/>
              </a:rPr>
              <a:t>cases)</a:t>
            </a:r>
            <a:endParaRPr lang="ne-NP" sz="3600" b="1" dirty="0" smtClean="0">
              <a:solidFill>
                <a:srgbClr val="0070C0"/>
              </a:solidFill>
              <a:latin typeface="Kokila" pitchFamily="34" charset="0"/>
              <a:cs typeface="Kokila" pitchFamily="34" charset="0"/>
            </a:endParaRPr>
          </a:p>
          <a:p>
            <a:endParaRPr lang="ne-NP" sz="1200" b="1" dirty="0" smtClean="0">
              <a:solidFill>
                <a:srgbClr val="0070C0"/>
              </a:solidFill>
              <a:latin typeface="Kokila" pitchFamily="34" charset="0"/>
              <a:cs typeface="Kokila" pitchFamily="34" charset="0"/>
            </a:endParaRPr>
          </a:p>
        </p:txBody>
      </p:sp>
      <p:sp>
        <p:nvSpPr>
          <p:cNvPr id="2" name="Title 1"/>
          <p:cNvSpPr>
            <a:spLocks noGrp="1"/>
          </p:cNvSpPr>
          <p:nvPr>
            <p:ph type="title"/>
          </p:nvPr>
        </p:nvSpPr>
        <p:spPr/>
        <p:txBody>
          <a:bodyPr/>
          <a:lstStyle/>
          <a:p>
            <a:r>
              <a:rPr lang="en-US" dirty="0">
                <a:solidFill>
                  <a:srgbClr val="002060"/>
                </a:solidFill>
                <a:latin typeface="Kokila" pitchFamily="34" charset="0"/>
                <a:cs typeface="Kokila" pitchFamily="34" charset="0"/>
              </a:rPr>
              <a:t>The main purposes of speedy trial</a:t>
            </a:r>
          </a:p>
        </p:txBody>
      </p:sp>
    </p:spTree>
    <p:extLst>
      <p:ext uri="{BB962C8B-B14F-4D97-AF65-F5344CB8AC3E}">
        <p14:creationId xmlns:p14="http://schemas.microsoft.com/office/powerpoint/2010/main" xmlns="" val="4051035751"/>
      </p:ext>
    </p:extLst>
  </p:cSld>
  <p:clrMapOvr>
    <a:masterClrMapping/>
  </p:clrMapOvr>
  <p:transition>
    <p:wheel spokes="8"/>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ne-NP" sz="3300" b="1" dirty="0" smtClean="0">
                <a:solidFill>
                  <a:srgbClr val="0070C0"/>
                </a:solidFill>
                <a:latin typeface="Kokila" pitchFamily="34" charset="0"/>
                <a:cs typeface="Kokila" pitchFamily="34" charset="0"/>
              </a:rPr>
              <a:t>जबर्जस्ती करणी, बाल यौन दुराचार, घरेलु हिंसा, मानव बेचविखन जस्ता अपराधमा सकेसम्म छिटो न्याय प्रदान गर्न फाष्ट ट्र्याक अदालतको अवश्यकता भएपनि त्यस्तो अदालत गठन नहुँदासम्म </a:t>
            </a:r>
            <a:r>
              <a:rPr lang="ne-NP" sz="3300" b="1" dirty="0" smtClean="0">
                <a:solidFill>
                  <a:srgbClr val="0070C0"/>
                </a:solidFill>
                <a:latin typeface="Kokila" pitchFamily="34" charset="0"/>
                <a:cs typeface="Kokila" pitchFamily="34" charset="0"/>
              </a:rPr>
              <a:t>सिघ्र </a:t>
            </a:r>
            <a:r>
              <a:rPr lang="ne-NP" sz="3300" b="1" dirty="0" smtClean="0">
                <a:solidFill>
                  <a:srgbClr val="0070C0"/>
                </a:solidFill>
                <a:latin typeface="Kokila" pitchFamily="34" charset="0"/>
                <a:cs typeface="Kokila" pitchFamily="34" charset="0"/>
              </a:rPr>
              <a:t>सुनुवाई पद्धतिलाई प्रभावकारी </a:t>
            </a:r>
            <a:r>
              <a:rPr lang="ne-NP" sz="3300" b="1" dirty="0" smtClean="0">
                <a:solidFill>
                  <a:srgbClr val="0070C0"/>
                </a:solidFill>
                <a:latin typeface="Kokila" pitchFamily="34" charset="0"/>
                <a:cs typeface="Kokila" pitchFamily="34" charset="0"/>
              </a:rPr>
              <a:t>पार्ने</a:t>
            </a:r>
            <a:r>
              <a:rPr lang="ne-NP" sz="3300" b="1" dirty="0" smtClean="0">
                <a:solidFill>
                  <a:srgbClr val="0070C0"/>
                </a:solidFill>
                <a:latin typeface="Kokila" pitchFamily="34" charset="0"/>
                <a:cs typeface="Kokila" pitchFamily="34" charset="0"/>
              </a:rPr>
              <a:t> </a:t>
            </a:r>
            <a:endParaRPr lang="ne-NP" sz="3300" b="1" dirty="0" smtClean="0">
              <a:solidFill>
                <a:srgbClr val="0070C0"/>
              </a:solidFill>
              <a:latin typeface="Kokila" pitchFamily="34" charset="0"/>
              <a:cs typeface="Kokila" pitchFamily="34" charset="0"/>
            </a:endParaRPr>
          </a:p>
          <a:p>
            <a:endParaRPr lang="ne-NP" sz="3300" b="1" dirty="0" smtClean="0">
              <a:solidFill>
                <a:srgbClr val="0070C0"/>
              </a:solidFill>
              <a:latin typeface="Kokila" pitchFamily="34" charset="0"/>
              <a:cs typeface="Kokila" pitchFamily="34" charset="0"/>
            </a:endParaRPr>
          </a:p>
          <a:p>
            <a:r>
              <a:rPr lang="ne-NP" sz="3200" b="1" dirty="0" smtClean="0">
                <a:solidFill>
                  <a:srgbClr val="0070C0"/>
                </a:solidFill>
                <a:latin typeface="Kokila" pitchFamily="34" charset="0"/>
                <a:cs typeface="Kokila" pitchFamily="34" charset="0"/>
              </a:rPr>
              <a:t>उपलव्ध स्रोत र साधनको प्रभावकारी उपयोगलाई सुनिश्चित गर्ने </a:t>
            </a:r>
            <a:r>
              <a:rPr lang="en-US" sz="3200" b="1" dirty="0" smtClean="0">
                <a:solidFill>
                  <a:srgbClr val="0070C0"/>
                </a:solidFill>
                <a:latin typeface="Kokila" pitchFamily="34" charset="0"/>
                <a:cs typeface="Kokila" pitchFamily="34" charset="0"/>
              </a:rPr>
              <a:t>(To ensure the effective utilization of resources)</a:t>
            </a:r>
          </a:p>
          <a:p>
            <a:endParaRPr lang="ne-NP" sz="3300" b="1" dirty="0" smtClean="0">
              <a:solidFill>
                <a:srgbClr val="0070C0"/>
              </a:solidFill>
              <a:latin typeface="Kokila" pitchFamily="34" charset="0"/>
              <a:cs typeface="Kokila" pitchFamily="34" charset="0"/>
            </a:endParaRPr>
          </a:p>
          <a:p>
            <a:endParaRPr lang="en-US" sz="3300" b="1" dirty="0" smtClean="0">
              <a:solidFill>
                <a:srgbClr val="0070C0"/>
              </a:solidFill>
              <a:latin typeface="Kokila" pitchFamily="34" charset="0"/>
              <a:cs typeface="Kokila" pitchFamily="34" charset="0"/>
            </a:endParaRPr>
          </a:p>
        </p:txBody>
      </p:sp>
      <p:sp>
        <p:nvSpPr>
          <p:cNvPr id="3" name="Title 2"/>
          <p:cNvSpPr>
            <a:spLocks noGrp="1"/>
          </p:cNvSpPr>
          <p:nvPr>
            <p:ph type="title"/>
          </p:nvPr>
        </p:nvSpPr>
        <p:spPr/>
        <p:txBody>
          <a:bodyPr/>
          <a:lstStyle/>
          <a:p>
            <a:pPr algn="r"/>
            <a:r>
              <a:rPr lang="ne-NP" dirty="0" smtClean="0"/>
              <a:t>क्रमशः</a:t>
            </a:r>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481329"/>
            <a:ext cx="10972800" cy="5030307"/>
          </a:xfrm>
        </p:spPr>
        <p:txBody>
          <a:bodyPr>
            <a:normAutofit fontScale="77500" lnSpcReduction="20000"/>
          </a:bodyPr>
          <a:lstStyle/>
          <a:p>
            <a:r>
              <a:rPr lang="ne-NP" sz="4400" b="1" dirty="0" smtClean="0">
                <a:solidFill>
                  <a:srgbClr val="0070C0"/>
                </a:solidFill>
                <a:latin typeface="Kokila" pitchFamily="34" charset="0"/>
                <a:cs typeface="Kokila" pitchFamily="34" charset="0"/>
              </a:rPr>
              <a:t>लगातार सुनुवाई हुने मुद्दा र अन्य मुद्दाको अलगै तालिका निर्माण</a:t>
            </a:r>
          </a:p>
          <a:p>
            <a:r>
              <a:rPr lang="ne-NP" sz="4400" b="1" dirty="0" smtClean="0">
                <a:solidFill>
                  <a:srgbClr val="0070C0"/>
                </a:solidFill>
                <a:latin typeface="Kokila" pitchFamily="34" charset="0"/>
                <a:cs typeface="Kokila" pitchFamily="34" charset="0"/>
              </a:rPr>
              <a:t>छुट्टै कार्यविधि </a:t>
            </a:r>
          </a:p>
          <a:p>
            <a:r>
              <a:rPr lang="ne-NP" sz="4400" b="1" dirty="0" smtClean="0">
                <a:solidFill>
                  <a:srgbClr val="0070C0"/>
                </a:solidFill>
                <a:latin typeface="Kokila" pitchFamily="34" charset="0"/>
                <a:cs typeface="Kokila" pitchFamily="34" charset="0"/>
              </a:rPr>
              <a:t>छुट्टै दायरी किताव </a:t>
            </a:r>
            <a:r>
              <a:rPr lang="en-US" sz="4400" b="1" dirty="0" smtClean="0">
                <a:solidFill>
                  <a:srgbClr val="0070C0"/>
                </a:solidFill>
                <a:latin typeface="Kokila" pitchFamily="34" charset="0"/>
                <a:cs typeface="Kokila" pitchFamily="34" charset="0"/>
              </a:rPr>
              <a:t>(</a:t>
            </a:r>
            <a:r>
              <a:rPr lang="ne-NP" sz="4400" b="1" dirty="0" smtClean="0">
                <a:solidFill>
                  <a:srgbClr val="0070C0"/>
                </a:solidFill>
                <a:latin typeface="Kokila" pitchFamily="34" charset="0"/>
                <a:cs typeface="Kokila" pitchFamily="34" charset="0"/>
              </a:rPr>
              <a:t>मूल दायरीमा दर्ता भएपछिको दायरी</a:t>
            </a:r>
            <a:r>
              <a:rPr lang="en-US" sz="4400" b="1" dirty="0" smtClean="0">
                <a:solidFill>
                  <a:srgbClr val="0070C0"/>
                </a:solidFill>
                <a:latin typeface="Kokila" pitchFamily="34" charset="0"/>
                <a:cs typeface="Kokila" pitchFamily="34" charset="0"/>
              </a:rPr>
              <a:t>)</a:t>
            </a:r>
            <a:endParaRPr lang="ne-NP" sz="4400" b="1" dirty="0" smtClean="0">
              <a:solidFill>
                <a:srgbClr val="0070C0"/>
              </a:solidFill>
              <a:latin typeface="Kokila" pitchFamily="34" charset="0"/>
              <a:cs typeface="Kokila" pitchFamily="34" charset="0"/>
            </a:endParaRPr>
          </a:p>
          <a:p>
            <a:r>
              <a:rPr lang="ne-NP" sz="4400" b="1" dirty="0" smtClean="0">
                <a:solidFill>
                  <a:srgbClr val="0070C0"/>
                </a:solidFill>
                <a:latin typeface="Kokila" pitchFamily="34" charset="0"/>
                <a:cs typeface="Kokila" pitchFamily="34" charset="0"/>
              </a:rPr>
              <a:t>मुद्दाको फाईलमा नै निरन्तर सुनुवाई हुने मुद्दा भनेर चिनिने छुट्टै संकेतको प्रयोग </a:t>
            </a:r>
          </a:p>
          <a:p>
            <a:r>
              <a:rPr lang="ne-NP" sz="4400" b="1" dirty="0" smtClean="0">
                <a:solidFill>
                  <a:srgbClr val="0070C0"/>
                </a:solidFill>
                <a:latin typeface="Kokila" pitchFamily="34" charset="0"/>
                <a:cs typeface="Kokila" pitchFamily="34" charset="0"/>
              </a:rPr>
              <a:t>अभियुक्तको बयान र तत्काल थुनछेक आदेश</a:t>
            </a:r>
          </a:p>
          <a:p>
            <a:r>
              <a:rPr lang="ne-NP" sz="4400" b="1" dirty="0" smtClean="0">
                <a:solidFill>
                  <a:srgbClr val="0070C0"/>
                </a:solidFill>
                <a:latin typeface="Kokila" pitchFamily="34" charset="0"/>
                <a:cs typeface="Kokila" pitchFamily="34" charset="0"/>
              </a:rPr>
              <a:t>पक्षको गोपनीयता कायम गर्न बन्द इजलास </a:t>
            </a:r>
          </a:p>
          <a:p>
            <a:r>
              <a:rPr lang="ne-NP" sz="4400" b="1" dirty="0" smtClean="0">
                <a:solidFill>
                  <a:srgbClr val="0070C0"/>
                </a:solidFill>
                <a:latin typeface="Kokila" pitchFamily="34" charset="0"/>
                <a:cs typeface="Kokila" pitchFamily="34" charset="0"/>
              </a:rPr>
              <a:t>बालबालिका समावेश भएका मुद्दामा बाल इजलास </a:t>
            </a:r>
          </a:p>
          <a:p>
            <a:r>
              <a:rPr lang="ne-NP" sz="4400" b="1" dirty="0" smtClean="0">
                <a:solidFill>
                  <a:srgbClr val="0070C0"/>
                </a:solidFill>
                <a:latin typeface="Kokila" pitchFamily="34" charset="0"/>
                <a:cs typeface="Kokila" pitchFamily="34" charset="0"/>
              </a:rPr>
              <a:t>अन्य मुद्दाको सुनुवाई संग नमिसाई निरन्तर सुनुवाई हुने मुद्धा मात्रको छुट्टै पेसी सूची</a:t>
            </a:r>
          </a:p>
          <a:p>
            <a:r>
              <a:rPr lang="ne-NP" sz="4400" b="1" dirty="0" smtClean="0">
                <a:solidFill>
                  <a:srgbClr val="0070C0"/>
                </a:solidFill>
                <a:latin typeface="Kokila" pitchFamily="34" charset="0"/>
                <a:cs typeface="Kokila" pitchFamily="34" charset="0"/>
              </a:rPr>
              <a:t>न्यायाधीश स्वयंसमक्ष अभियुक्तको बयान र थुनछेक वहस र </a:t>
            </a:r>
            <a:r>
              <a:rPr lang="ne-NP" sz="4400" b="1" dirty="0" smtClean="0">
                <a:solidFill>
                  <a:srgbClr val="0070C0"/>
                </a:solidFill>
                <a:latin typeface="Kokila" pitchFamily="34" charset="0"/>
                <a:cs typeface="Kokila" pitchFamily="34" charset="0"/>
              </a:rPr>
              <a:t>आदेश</a:t>
            </a:r>
          </a:p>
          <a:p>
            <a:pPr>
              <a:buNone/>
            </a:pPr>
            <a:r>
              <a:rPr lang="ne-NP" dirty="0" smtClean="0"/>
              <a:t/>
            </a:r>
            <a:br>
              <a:rPr lang="ne-NP" dirty="0" smtClean="0"/>
            </a:br>
            <a:endParaRPr lang="en-US" dirty="0"/>
          </a:p>
        </p:txBody>
      </p:sp>
      <p:sp>
        <p:nvSpPr>
          <p:cNvPr id="3" name="Title 2"/>
          <p:cNvSpPr>
            <a:spLocks noGrp="1"/>
          </p:cNvSpPr>
          <p:nvPr>
            <p:ph type="title"/>
          </p:nvPr>
        </p:nvSpPr>
        <p:spPr/>
        <p:txBody>
          <a:bodyPr>
            <a:normAutofit/>
          </a:bodyPr>
          <a:lstStyle/>
          <a:p>
            <a:r>
              <a:rPr lang="ne-NP" dirty="0" smtClean="0">
                <a:solidFill>
                  <a:srgbClr val="002060"/>
                </a:solidFill>
                <a:latin typeface="Kokila" pitchFamily="34" charset="0"/>
                <a:cs typeface="Kokila" pitchFamily="34" charset="0"/>
              </a:rPr>
              <a:t>लगातार </a:t>
            </a:r>
            <a:r>
              <a:rPr lang="ne-NP" dirty="0" smtClean="0">
                <a:solidFill>
                  <a:srgbClr val="002060"/>
                </a:solidFill>
                <a:latin typeface="Kokila" pitchFamily="34" charset="0"/>
                <a:cs typeface="Kokila" pitchFamily="34" charset="0"/>
              </a:rPr>
              <a:t>सुनुवाई गर्नु पर्ने अवस्थामा अवलम्बन गर्न सकिने प्रक्रिया </a:t>
            </a:r>
            <a:endParaRPr lang="en-US" dirty="0">
              <a:solidFill>
                <a:srgbClr val="002060"/>
              </a:solidFill>
              <a:latin typeface="Kokila" pitchFamily="34" charset="0"/>
              <a:cs typeface="Kokila" pitchFamily="34"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84909" y="774748"/>
            <a:ext cx="10972800" cy="5376670"/>
          </a:xfrm>
        </p:spPr>
        <p:txBody>
          <a:bodyPr>
            <a:noAutofit/>
          </a:bodyPr>
          <a:lstStyle/>
          <a:p>
            <a:r>
              <a:rPr lang="ne-NP" sz="3200" b="1" dirty="0" smtClean="0">
                <a:solidFill>
                  <a:srgbClr val="0070C0"/>
                </a:solidFill>
                <a:latin typeface="Kokila" pitchFamily="34" charset="0"/>
                <a:cs typeface="Kokila" pitchFamily="34" charset="0"/>
              </a:rPr>
              <a:t>दुबै पक्षका कानून व्यवसायीहरुको उपस्थितिको सुनिश्चितता</a:t>
            </a:r>
          </a:p>
          <a:p>
            <a:r>
              <a:rPr lang="ne-NP" sz="3200" b="1" dirty="0" smtClean="0">
                <a:solidFill>
                  <a:srgbClr val="0070C0"/>
                </a:solidFill>
                <a:latin typeface="Kokila" pitchFamily="34" charset="0"/>
                <a:cs typeface="Kokila" pitchFamily="34" charset="0"/>
              </a:rPr>
              <a:t>प्रतिवादीले कानून व्यवसायी राख्न नसकेमा वैतनिक वकीलको सुविधा </a:t>
            </a:r>
          </a:p>
          <a:p>
            <a:r>
              <a:rPr lang="ne-NP" sz="3200" b="1" dirty="0" smtClean="0">
                <a:solidFill>
                  <a:srgbClr val="0070C0"/>
                </a:solidFill>
                <a:latin typeface="Kokila" pitchFamily="34" charset="0"/>
                <a:cs typeface="Kokila" pitchFamily="34" charset="0"/>
              </a:rPr>
              <a:t>कानून व्यवसायीलाई मिसिल अध्ययनको सुविधा</a:t>
            </a:r>
          </a:p>
          <a:p>
            <a:r>
              <a:rPr lang="ne-NP" sz="3200" b="1" dirty="0" smtClean="0">
                <a:solidFill>
                  <a:srgbClr val="0070C0"/>
                </a:solidFill>
                <a:latin typeface="Kokila" pitchFamily="34" charset="0"/>
                <a:cs typeface="Kokila" pitchFamily="34" charset="0"/>
              </a:rPr>
              <a:t>बहस र समय व्यवस्थापन </a:t>
            </a:r>
          </a:p>
          <a:p>
            <a:r>
              <a:rPr lang="ne-NP" sz="3200" b="1" dirty="0" smtClean="0">
                <a:solidFill>
                  <a:srgbClr val="0070C0"/>
                </a:solidFill>
                <a:latin typeface="Kokila" pitchFamily="34" charset="0"/>
                <a:cs typeface="Kokila" pitchFamily="34" charset="0"/>
              </a:rPr>
              <a:t>पीडित र अभियुक्तले चाहेमा आफ्ना कुरा राख्न अवसर प्रदान</a:t>
            </a:r>
          </a:p>
          <a:p>
            <a:r>
              <a:rPr lang="ne-NP" sz="3200" b="1" dirty="0" smtClean="0">
                <a:solidFill>
                  <a:srgbClr val="0070C0"/>
                </a:solidFill>
                <a:latin typeface="Kokila" pitchFamily="34" charset="0"/>
                <a:cs typeface="Kokila" pitchFamily="34" charset="0"/>
              </a:rPr>
              <a:t>पीडित र साक्षीको वकपत्र र अन्य प्रमाण वुझ्ने </a:t>
            </a:r>
          </a:p>
          <a:p>
            <a:r>
              <a:rPr lang="ne-NP" sz="3200" b="1" dirty="0" smtClean="0">
                <a:solidFill>
                  <a:srgbClr val="0070C0"/>
                </a:solidFill>
                <a:latin typeface="Kokila" pitchFamily="34" charset="0"/>
                <a:cs typeface="Kokila" pitchFamily="34" charset="0"/>
              </a:rPr>
              <a:t>पीडित र साक्षीको सुरक्षा </a:t>
            </a:r>
          </a:p>
          <a:p>
            <a:r>
              <a:rPr lang="ne-NP" sz="3200" b="1" dirty="0" smtClean="0">
                <a:solidFill>
                  <a:srgbClr val="0070C0"/>
                </a:solidFill>
                <a:latin typeface="Kokila" pitchFamily="34" charset="0"/>
                <a:cs typeface="Kokila" pitchFamily="34" charset="0"/>
              </a:rPr>
              <a:t>श्रव्य दृष्य सम्बाद </a:t>
            </a:r>
            <a:r>
              <a:rPr lang="en-US" sz="3200" b="1" dirty="0" smtClean="0">
                <a:solidFill>
                  <a:srgbClr val="0070C0"/>
                </a:solidFill>
                <a:latin typeface="Kokila" pitchFamily="34" charset="0"/>
                <a:cs typeface="Kokila" pitchFamily="34" charset="0"/>
              </a:rPr>
              <a:t>(</a:t>
            </a:r>
            <a:r>
              <a:rPr lang="ne-NP" sz="3200" b="1" dirty="0" smtClean="0">
                <a:solidFill>
                  <a:srgbClr val="0070C0"/>
                </a:solidFill>
                <a:latin typeface="Kokila" pitchFamily="34" charset="0"/>
                <a:cs typeface="Kokila" pitchFamily="34" charset="0"/>
              </a:rPr>
              <a:t>भिडियो कन्फरेन्स</a:t>
            </a:r>
            <a:r>
              <a:rPr lang="en-US" sz="3200" b="1" dirty="0" smtClean="0">
                <a:solidFill>
                  <a:srgbClr val="0070C0"/>
                </a:solidFill>
                <a:latin typeface="Kokila" pitchFamily="34" charset="0"/>
                <a:cs typeface="Kokila" pitchFamily="34" charset="0"/>
              </a:rPr>
              <a:t>)</a:t>
            </a:r>
            <a:endParaRPr lang="ne-NP" sz="3200" b="1" dirty="0" smtClean="0">
              <a:solidFill>
                <a:srgbClr val="0070C0"/>
              </a:solidFill>
              <a:latin typeface="Kokila" pitchFamily="34" charset="0"/>
              <a:cs typeface="Kokila" pitchFamily="34" charset="0"/>
            </a:endParaRPr>
          </a:p>
          <a:p>
            <a:r>
              <a:rPr lang="ne-NP" sz="3200" b="1" dirty="0" smtClean="0">
                <a:solidFill>
                  <a:srgbClr val="0070C0"/>
                </a:solidFill>
                <a:latin typeface="Kokila" pitchFamily="34" charset="0"/>
                <a:cs typeface="Kokila" pitchFamily="34" charset="0"/>
              </a:rPr>
              <a:t>निरन्तर सुनुवाई र तत्काल फैसला</a:t>
            </a:r>
          </a:p>
          <a:p>
            <a:r>
              <a:rPr lang="ne-NP" sz="3200" b="1" dirty="0" smtClean="0">
                <a:solidFill>
                  <a:srgbClr val="0070C0"/>
                </a:solidFill>
                <a:latin typeface="Kokila" pitchFamily="34" charset="0"/>
                <a:cs typeface="Kokila" pitchFamily="34" charset="0"/>
              </a:rPr>
              <a:t>फैसलाको सिघ्र तयारी</a:t>
            </a:r>
            <a:r>
              <a:rPr lang="ne-NP" sz="2400" b="1" dirty="0" smtClean="0">
                <a:solidFill>
                  <a:srgbClr val="0070C0"/>
                </a:solidFill>
                <a:latin typeface="Kokila" pitchFamily="34" charset="0"/>
                <a:cs typeface="Kokila" pitchFamily="34" charset="0"/>
              </a:rPr>
              <a:t/>
            </a:r>
            <a:br>
              <a:rPr lang="ne-NP" sz="2400" b="1" dirty="0" smtClean="0">
                <a:solidFill>
                  <a:srgbClr val="0070C0"/>
                </a:solidFill>
                <a:latin typeface="Kokila" pitchFamily="34" charset="0"/>
                <a:cs typeface="Kokila" pitchFamily="34" charset="0"/>
              </a:rPr>
            </a:br>
            <a:r>
              <a:rPr lang="ne-NP" sz="2800" b="1" dirty="0" smtClean="0">
                <a:solidFill>
                  <a:srgbClr val="0070C0"/>
                </a:solidFill>
                <a:latin typeface="Kokila" pitchFamily="34" charset="0"/>
                <a:cs typeface="Kokila" pitchFamily="34" charset="0"/>
              </a:rPr>
              <a:t/>
            </a:r>
            <a:br>
              <a:rPr lang="ne-NP" sz="2800" b="1" dirty="0" smtClean="0">
                <a:solidFill>
                  <a:srgbClr val="0070C0"/>
                </a:solidFill>
                <a:latin typeface="Kokila" pitchFamily="34" charset="0"/>
                <a:cs typeface="Kokila" pitchFamily="34" charset="0"/>
              </a:rPr>
            </a:br>
            <a:endParaRPr lang="en-US" sz="2800" b="1" dirty="0" smtClean="0">
              <a:solidFill>
                <a:srgbClr val="0070C0"/>
              </a:solidFill>
              <a:latin typeface="Kokila" pitchFamily="34" charset="0"/>
              <a:cs typeface="Kokila" pitchFamily="34" charset="0"/>
            </a:endParaRPr>
          </a:p>
        </p:txBody>
      </p:sp>
      <p:sp>
        <p:nvSpPr>
          <p:cNvPr id="3" name="Title 2"/>
          <p:cNvSpPr>
            <a:spLocks noGrp="1"/>
          </p:cNvSpPr>
          <p:nvPr>
            <p:ph type="title"/>
          </p:nvPr>
        </p:nvSpPr>
        <p:spPr>
          <a:xfrm>
            <a:off x="609600" y="274638"/>
            <a:ext cx="10972800" cy="515071"/>
          </a:xfrm>
        </p:spPr>
        <p:txBody>
          <a:bodyPr>
            <a:normAutofit fontScale="90000"/>
          </a:bodyPr>
          <a:lstStyle/>
          <a:p>
            <a:pPr algn="r"/>
            <a:r>
              <a:rPr lang="ne-NP" dirty="0" smtClean="0"/>
              <a:t>क्रमशः</a:t>
            </a:r>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sz="3200" b="1" dirty="0">
                <a:solidFill>
                  <a:srgbClr val="0070C0"/>
                </a:solidFill>
                <a:latin typeface="Kokila" pitchFamily="34" charset="0"/>
                <a:cs typeface="Kokila" pitchFamily="34" charset="0"/>
              </a:rPr>
              <a:t>Justice delayed is justice denied</a:t>
            </a:r>
          </a:p>
          <a:p>
            <a:r>
              <a:rPr lang="en-US" sz="3200" b="1" dirty="0">
                <a:solidFill>
                  <a:srgbClr val="0070C0"/>
                </a:solidFill>
                <a:latin typeface="Kokila" pitchFamily="34" charset="0"/>
                <a:cs typeface="Kokila" pitchFamily="34" charset="0"/>
              </a:rPr>
              <a:t>Justice hurried is justice buried</a:t>
            </a:r>
          </a:p>
          <a:p>
            <a:r>
              <a:rPr lang="en-US" sz="3200" b="1" dirty="0">
                <a:solidFill>
                  <a:srgbClr val="0070C0"/>
                </a:solidFill>
                <a:latin typeface="Kokila" pitchFamily="34" charset="0"/>
                <a:cs typeface="Kokila" pitchFamily="34" charset="0"/>
              </a:rPr>
              <a:t>Right to justice</a:t>
            </a:r>
          </a:p>
          <a:p>
            <a:r>
              <a:rPr lang="en-US" sz="3200" b="1" dirty="0">
                <a:solidFill>
                  <a:srgbClr val="0070C0"/>
                </a:solidFill>
                <a:latin typeface="Kokila" pitchFamily="34" charset="0"/>
                <a:cs typeface="Kokila" pitchFamily="34" charset="0"/>
              </a:rPr>
              <a:t>Access to Justice</a:t>
            </a:r>
          </a:p>
          <a:p>
            <a:r>
              <a:rPr lang="en-US" sz="3200" b="1" dirty="0">
                <a:solidFill>
                  <a:srgbClr val="0070C0"/>
                </a:solidFill>
                <a:latin typeface="Kokila" pitchFamily="34" charset="0"/>
                <a:cs typeface="Kokila" pitchFamily="34" charset="0"/>
              </a:rPr>
              <a:t>Speedy </a:t>
            </a:r>
            <a:r>
              <a:rPr lang="en-US" sz="3200" b="1" dirty="0" smtClean="0">
                <a:solidFill>
                  <a:srgbClr val="0070C0"/>
                </a:solidFill>
                <a:latin typeface="Kokila" pitchFamily="34" charset="0"/>
                <a:cs typeface="Kokila" pitchFamily="34" charset="0"/>
              </a:rPr>
              <a:t>and immediate Justice</a:t>
            </a:r>
            <a:endParaRPr lang="ne-NP" sz="3200" b="1" dirty="0" smtClean="0">
              <a:solidFill>
                <a:srgbClr val="0070C0"/>
              </a:solidFill>
              <a:latin typeface="Kokila" pitchFamily="34" charset="0"/>
              <a:cs typeface="Kokila" pitchFamily="34" charset="0"/>
            </a:endParaRPr>
          </a:p>
          <a:p>
            <a:r>
              <a:rPr lang="en-US" sz="3200" b="1" dirty="0" smtClean="0">
                <a:solidFill>
                  <a:srgbClr val="0070C0"/>
                </a:solidFill>
                <a:latin typeface="Kokila" pitchFamily="34" charset="0"/>
                <a:cs typeface="Kokila" pitchFamily="34" charset="0"/>
              </a:rPr>
              <a:t>Expedite Process</a:t>
            </a:r>
            <a:endParaRPr lang="en-US" sz="3200" b="1" dirty="0">
              <a:solidFill>
                <a:srgbClr val="0070C0"/>
              </a:solidFill>
              <a:latin typeface="Kokila" pitchFamily="34" charset="0"/>
              <a:cs typeface="Kokila" pitchFamily="34" charset="0"/>
            </a:endParaRPr>
          </a:p>
          <a:p>
            <a:r>
              <a:rPr lang="en-US" sz="3200" b="1" dirty="0" smtClean="0">
                <a:solidFill>
                  <a:srgbClr val="0070C0"/>
                </a:solidFill>
                <a:latin typeface="Kokila" pitchFamily="34" charset="0"/>
                <a:cs typeface="Kokila" pitchFamily="34" charset="0"/>
              </a:rPr>
              <a:t>Proved relief to marginalized </a:t>
            </a:r>
            <a:r>
              <a:rPr lang="en-US" sz="3200" b="1" dirty="0">
                <a:solidFill>
                  <a:srgbClr val="0070C0"/>
                </a:solidFill>
                <a:latin typeface="Kokila" pitchFamily="34" charset="0"/>
                <a:cs typeface="Kokila" pitchFamily="34" charset="0"/>
              </a:rPr>
              <a:t>section of people</a:t>
            </a:r>
          </a:p>
          <a:p>
            <a:r>
              <a:rPr lang="en-US" sz="3200" b="1" dirty="0" smtClean="0">
                <a:solidFill>
                  <a:srgbClr val="0070C0"/>
                </a:solidFill>
                <a:latin typeface="Kokila" pitchFamily="34" charset="0"/>
                <a:cs typeface="Kokila" pitchFamily="34" charset="0"/>
              </a:rPr>
              <a:t>Avoid Lengthy </a:t>
            </a:r>
            <a:r>
              <a:rPr lang="en-US" sz="3200" b="1" dirty="0">
                <a:solidFill>
                  <a:srgbClr val="0070C0"/>
                </a:solidFill>
                <a:latin typeface="Kokila" pitchFamily="34" charset="0"/>
                <a:cs typeface="Kokila" pitchFamily="34" charset="0"/>
              </a:rPr>
              <a:t>Court </a:t>
            </a:r>
            <a:r>
              <a:rPr lang="en-US" sz="3200" b="1" dirty="0" smtClean="0">
                <a:solidFill>
                  <a:srgbClr val="0070C0"/>
                </a:solidFill>
                <a:latin typeface="Kokila" pitchFamily="34" charset="0"/>
                <a:cs typeface="Kokila" pitchFamily="34" charset="0"/>
              </a:rPr>
              <a:t>Proceeding</a:t>
            </a:r>
            <a:endParaRPr lang="ne-NP" sz="3200" b="1" dirty="0" smtClean="0">
              <a:solidFill>
                <a:srgbClr val="0070C0"/>
              </a:solidFill>
              <a:latin typeface="Kokila" pitchFamily="34" charset="0"/>
              <a:cs typeface="Kokila" pitchFamily="34" charset="0"/>
            </a:endParaRPr>
          </a:p>
          <a:p>
            <a:r>
              <a:rPr lang="en-US" sz="3200" b="1" dirty="0" smtClean="0">
                <a:solidFill>
                  <a:srgbClr val="0070C0"/>
                </a:solidFill>
                <a:latin typeface="Kokila" pitchFamily="34" charset="0"/>
                <a:cs typeface="Kokila" pitchFamily="34" charset="0"/>
              </a:rPr>
              <a:t>Protection of evidence</a:t>
            </a:r>
          </a:p>
          <a:p>
            <a:r>
              <a:rPr lang="en-US" sz="3200" b="1" dirty="0" smtClean="0">
                <a:solidFill>
                  <a:srgbClr val="0070C0"/>
                </a:solidFill>
                <a:latin typeface="Kokila" pitchFamily="34" charset="0"/>
                <a:cs typeface="Kokila" pitchFamily="34" charset="0"/>
              </a:rPr>
              <a:t>Protection of the victims</a:t>
            </a:r>
            <a:endParaRPr lang="en-US" sz="3200" b="1" dirty="0">
              <a:solidFill>
                <a:srgbClr val="0070C0"/>
              </a:solidFill>
              <a:latin typeface="Kokila" pitchFamily="34" charset="0"/>
              <a:cs typeface="Kokila" pitchFamily="34" charset="0"/>
            </a:endParaRPr>
          </a:p>
          <a:p>
            <a:endParaRPr lang="en-US" dirty="0"/>
          </a:p>
          <a:p>
            <a:endParaRPr lang="en-US" dirty="0"/>
          </a:p>
        </p:txBody>
      </p:sp>
      <p:sp>
        <p:nvSpPr>
          <p:cNvPr id="2" name="Title 1"/>
          <p:cNvSpPr>
            <a:spLocks noGrp="1"/>
          </p:cNvSpPr>
          <p:nvPr>
            <p:ph type="title"/>
          </p:nvPr>
        </p:nvSpPr>
        <p:spPr/>
        <p:txBody>
          <a:bodyPr>
            <a:normAutofit/>
          </a:bodyPr>
          <a:lstStyle/>
          <a:p>
            <a:r>
              <a:rPr lang="en-US" dirty="0">
                <a:solidFill>
                  <a:srgbClr val="002060"/>
                </a:solidFill>
                <a:latin typeface="Kokila" pitchFamily="34" charset="0"/>
                <a:cs typeface="Kokila" pitchFamily="34" charset="0"/>
              </a:rPr>
              <a:t>Why Fast Track Court and Continuous Hearing ?</a:t>
            </a:r>
          </a:p>
        </p:txBody>
      </p:sp>
    </p:spTree>
    <p:extLst>
      <p:ext uri="{BB962C8B-B14F-4D97-AF65-F5344CB8AC3E}">
        <p14:creationId xmlns:p14="http://schemas.microsoft.com/office/powerpoint/2010/main" xmlns="" val="270558788"/>
      </p:ext>
    </p:extLst>
  </p:cSld>
  <p:clrMapOvr>
    <a:masterClrMapping/>
  </p:clrMapOvr>
  <p:transition>
    <p:wheel spokes="8"/>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149927"/>
            <a:ext cx="10972800" cy="4857365"/>
          </a:xfrm>
        </p:spPr>
        <p:txBody>
          <a:bodyPr>
            <a:normAutofit fontScale="77500" lnSpcReduction="20000"/>
          </a:bodyPr>
          <a:lstStyle/>
          <a:p>
            <a:r>
              <a:rPr lang="ne-NP" sz="3600" b="1" dirty="0">
                <a:solidFill>
                  <a:srgbClr val="0070C0"/>
                </a:solidFill>
                <a:latin typeface="Kokila" pitchFamily="34" charset="0"/>
                <a:cs typeface="Kokila" pitchFamily="34" charset="0"/>
              </a:rPr>
              <a:t>नियम ९६- मुद्दामा लगातार कारवाही र सुनुवाई </a:t>
            </a:r>
            <a:r>
              <a:rPr lang="ne-NP" sz="3600" b="1" dirty="0" smtClean="0">
                <a:solidFill>
                  <a:srgbClr val="0070C0"/>
                </a:solidFill>
                <a:latin typeface="Kokila" pitchFamily="34" charset="0"/>
                <a:cs typeface="Kokila" pitchFamily="34" charset="0"/>
              </a:rPr>
              <a:t>गरिने</a:t>
            </a:r>
          </a:p>
          <a:p>
            <a:pPr lvl="1" algn="just"/>
            <a:r>
              <a:rPr lang="ne-NP" sz="2800" b="1" dirty="0" smtClean="0">
                <a:solidFill>
                  <a:srgbClr val="0070C0"/>
                </a:solidFill>
                <a:latin typeface="Kokila" pitchFamily="34" charset="0"/>
                <a:cs typeface="Kokila" pitchFamily="34" charset="0"/>
              </a:rPr>
              <a:t>अनुसूची -३० मा उल्लेख भएका नेपाल सरकार वादी भई चलेका फौजदारी मुद्दाको हकमा सवै प्रतिवादी उपस्थित गराईएकोमा वा  प्रतिवादी उपस्थित हुने अवधि समाप्त भएपछि लगातार कारबाही र सुनुवाई गरी कनारा गरिनेछ। </a:t>
            </a:r>
            <a:r>
              <a:rPr lang="ne-NP" sz="2800" b="1" dirty="0" smtClean="0">
                <a:solidFill>
                  <a:srgbClr val="FF0000"/>
                </a:solidFill>
                <a:latin typeface="Kokila" pitchFamily="34" charset="0"/>
                <a:cs typeface="Kokila" pitchFamily="34" charset="0"/>
              </a:rPr>
              <a:t>तर लगातार कारबाही र सुनुवाई नहुने मुद्दासँग लगाउमा रहेको भए त्यस्तो मुद्दामा लगातार कारबाही र सुनुवाई गरने छैन।</a:t>
            </a:r>
          </a:p>
          <a:p>
            <a:pPr lvl="1" algn="just"/>
            <a:r>
              <a:rPr lang="ne-NP" sz="2800" b="1" dirty="0" smtClean="0">
                <a:solidFill>
                  <a:srgbClr val="0070C0"/>
                </a:solidFill>
                <a:latin typeface="Kokila" pitchFamily="34" charset="0"/>
                <a:cs typeface="Kokila" pitchFamily="34" charset="0"/>
              </a:rPr>
              <a:t>लगातार कारबाही र सुनुवाई हुने मुद्दाको पेशी तोक्दा इजलासको आदेशअनुसार गर्नु पर्नेछ। </a:t>
            </a:r>
          </a:p>
          <a:p>
            <a:pPr lvl="1" algn="just"/>
            <a:r>
              <a:rPr lang="ne-NP" sz="2800" b="1" dirty="0" smtClean="0">
                <a:solidFill>
                  <a:srgbClr val="0070C0"/>
                </a:solidFill>
                <a:latin typeface="Kokila" pitchFamily="34" charset="0"/>
                <a:cs typeface="Kokila" pitchFamily="34" charset="0"/>
              </a:rPr>
              <a:t>त्यस्तो मुद्दामा अदालतले तोकेको दिनमा पक्षले आफ्ना साक्षी प्रमाण पेश गर्नु पर्नेछ।</a:t>
            </a:r>
          </a:p>
          <a:p>
            <a:pPr lvl="1" algn="just"/>
            <a:r>
              <a:rPr lang="ne-NP" sz="2800" b="1" dirty="0" smtClean="0">
                <a:solidFill>
                  <a:srgbClr val="0070C0"/>
                </a:solidFill>
                <a:latin typeface="Kokila" pitchFamily="34" charset="0"/>
                <a:cs typeface="Kokila" pitchFamily="34" charset="0"/>
              </a:rPr>
              <a:t>सो कार्य सम्पन्न भएपछि थप प्रमाण वुझ्न आवश्यक नभए अदालतले तकालै निर्णय गर्न सक्नेछ।</a:t>
            </a:r>
            <a:endParaRPr lang="en-US" sz="2800" b="1" dirty="0" smtClean="0">
              <a:solidFill>
                <a:srgbClr val="0070C0"/>
              </a:solidFill>
              <a:latin typeface="Kokila" pitchFamily="34" charset="0"/>
              <a:cs typeface="Kokila" pitchFamily="34" charset="0"/>
            </a:endParaRPr>
          </a:p>
          <a:p>
            <a:r>
              <a:rPr lang="ne-NP" sz="3600" b="1" dirty="0" smtClean="0">
                <a:solidFill>
                  <a:srgbClr val="0070C0"/>
                </a:solidFill>
                <a:latin typeface="Kokila" pitchFamily="34" charset="0"/>
                <a:cs typeface="Kokila" pitchFamily="34" charset="0"/>
              </a:rPr>
              <a:t>अनुसूची </a:t>
            </a:r>
            <a:r>
              <a:rPr lang="ne-NP" sz="3600" b="1" dirty="0">
                <a:solidFill>
                  <a:srgbClr val="0070C0"/>
                </a:solidFill>
                <a:latin typeface="Kokila" pitchFamily="34" charset="0"/>
                <a:cs typeface="Kokila" pitchFamily="34" charset="0"/>
              </a:rPr>
              <a:t>– ३०</a:t>
            </a:r>
          </a:p>
          <a:p>
            <a:pPr lvl="1"/>
            <a:r>
              <a:rPr lang="ne-NP" sz="3100" b="1" dirty="0">
                <a:solidFill>
                  <a:srgbClr val="002060"/>
                </a:solidFill>
                <a:latin typeface="Kokila" pitchFamily="34" charset="0"/>
                <a:cs typeface="Kokila" pitchFamily="34" charset="0"/>
              </a:rPr>
              <a:t>जबरजस्ती करणी सम्बन्धी कसूर, </a:t>
            </a:r>
            <a:endParaRPr lang="ne-NP" sz="3100" b="1" dirty="0" smtClean="0">
              <a:solidFill>
                <a:srgbClr val="002060"/>
              </a:solidFill>
              <a:latin typeface="Kokila" pitchFamily="34" charset="0"/>
              <a:cs typeface="Kokila" pitchFamily="34" charset="0"/>
            </a:endParaRPr>
          </a:p>
          <a:p>
            <a:pPr lvl="1"/>
            <a:r>
              <a:rPr lang="ne-NP" sz="3100" b="1" dirty="0" smtClean="0">
                <a:solidFill>
                  <a:srgbClr val="002060"/>
                </a:solidFill>
                <a:latin typeface="Kokila" pitchFamily="34" charset="0"/>
                <a:cs typeface="Kokila" pitchFamily="34" charset="0"/>
              </a:rPr>
              <a:t>भेदभाव </a:t>
            </a:r>
            <a:r>
              <a:rPr lang="ne-NP" sz="3100" b="1" dirty="0">
                <a:solidFill>
                  <a:srgbClr val="002060"/>
                </a:solidFill>
                <a:latin typeface="Kokila" pitchFamily="34" charset="0"/>
                <a:cs typeface="Kokila" pitchFamily="34" charset="0"/>
              </a:rPr>
              <a:t>तथा अन्य अपमानजन्य व्यबहार सम्बन्धी कसूर, </a:t>
            </a:r>
            <a:endParaRPr lang="ne-NP" sz="3100" b="1" dirty="0" smtClean="0">
              <a:solidFill>
                <a:srgbClr val="002060"/>
              </a:solidFill>
              <a:latin typeface="Kokila" pitchFamily="34" charset="0"/>
              <a:cs typeface="Kokila" pitchFamily="34" charset="0"/>
            </a:endParaRPr>
          </a:p>
          <a:p>
            <a:pPr lvl="1"/>
            <a:r>
              <a:rPr lang="ne-NP" sz="3100" b="1" dirty="0" smtClean="0">
                <a:solidFill>
                  <a:srgbClr val="002060"/>
                </a:solidFill>
                <a:latin typeface="Kokila" pitchFamily="34" charset="0"/>
                <a:cs typeface="Kokila" pitchFamily="34" charset="0"/>
              </a:rPr>
              <a:t>गर्भसँरक्षण </a:t>
            </a:r>
            <a:r>
              <a:rPr lang="ne-NP" sz="3100" b="1" dirty="0">
                <a:solidFill>
                  <a:srgbClr val="002060"/>
                </a:solidFill>
                <a:latin typeface="Kokila" pitchFamily="34" charset="0"/>
                <a:cs typeface="Kokila" pitchFamily="34" charset="0"/>
              </a:rPr>
              <a:t>सम्बन्धी कसूर, </a:t>
            </a:r>
            <a:endParaRPr lang="ne-NP" sz="3100" b="1" dirty="0" smtClean="0">
              <a:solidFill>
                <a:srgbClr val="002060"/>
              </a:solidFill>
              <a:latin typeface="Kokila" pitchFamily="34" charset="0"/>
              <a:cs typeface="Kokila" pitchFamily="34" charset="0"/>
            </a:endParaRPr>
          </a:p>
          <a:p>
            <a:pPr lvl="1"/>
            <a:r>
              <a:rPr lang="ne-NP" sz="3100" b="1" dirty="0" smtClean="0">
                <a:solidFill>
                  <a:srgbClr val="002060"/>
                </a:solidFill>
                <a:latin typeface="Kokila" pitchFamily="34" charset="0"/>
                <a:cs typeface="Kokila" pitchFamily="34" charset="0"/>
              </a:rPr>
              <a:t>व्यक्ति वेपत्ता पार्ने कसुर</a:t>
            </a:r>
          </a:p>
          <a:p>
            <a:pPr lvl="1"/>
            <a:r>
              <a:rPr lang="ne-NP" sz="3100" b="1" dirty="0" smtClean="0">
                <a:solidFill>
                  <a:srgbClr val="002060"/>
                </a:solidFill>
                <a:latin typeface="Kokila" pitchFamily="34" charset="0"/>
                <a:cs typeface="Kokila" pitchFamily="34" charset="0"/>
              </a:rPr>
              <a:t>अपहरण वा शरिर वन्धक सम्बन्धी कसुर</a:t>
            </a:r>
            <a:endParaRPr lang="ne-NP" sz="3100" b="1" dirty="0">
              <a:solidFill>
                <a:srgbClr val="002060"/>
              </a:solidFill>
              <a:latin typeface="Kokila" pitchFamily="34" charset="0"/>
              <a:cs typeface="Kokila" pitchFamily="34" charset="0"/>
            </a:endParaRPr>
          </a:p>
          <a:p>
            <a:pPr lvl="1"/>
            <a:r>
              <a:rPr lang="ne-NP" sz="3100" b="1" dirty="0" smtClean="0">
                <a:solidFill>
                  <a:srgbClr val="002060"/>
                </a:solidFill>
                <a:latin typeface="Kokila" pitchFamily="34" charset="0"/>
                <a:cs typeface="Kokila" pitchFamily="34" charset="0"/>
              </a:rPr>
              <a:t>सर्वोच्च </a:t>
            </a:r>
            <a:r>
              <a:rPr lang="ne-NP" sz="3100" b="1" dirty="0">
                <a:solidFill>
                  <a:srgbClr val="002060"/>
                </a:solidFill>
                <a:latin typeface="Kokila" pitchFamily="34" charset="0"/>
                <a:cs typeface="Kokila" pitchFamily="34" charset="0"/>
              </a:rPr>
              <a:t>अदालतले नेपाल राजपत्रमा सूचना प्रकाशित गरी तोकेका कसूर</a:t>
            </a:r>
            <a:endParaRPr lang="en-US" sz="3100" b="1" dirty="0">
              <a:solidFill>
                <a:srgbClr val="002060"/>
              </a:solidFill>
              <a:latin typeface="Kokila" pitchFamily="34" charset="0"/>
              <a:cs typeface="Kokila" pitchFamily="34" charset="0"/>
            </a:endParaRPr>
          </a:p>
        </p:txBody>
      </p:sp>
      <p:sp>
        <p:nvSpPr>
          <p:cNvPr id="5" name="Title 4"/>
          <p:cNvSpPr>
            <a:spLocks noGrp="1"/>
          </p:cNvSpPr>
          <p:nvPr>
            <p:ph type="title"/>
          </p:nvPr>
        </p:nvSpPr>
        <p:spPr>
          <a:xfrm>
            <a:off x="609600" y="274638"/>
            <a:ext cx="10972800" cy="769441"/>
          </a:xfrm>
          <a:prstGeom prst="rect">
            <a:avLst/>
          </a:prstGeom>
        </p:spPr>
        <p:txBody>
          <a:bodyPr wrap="square">
            <a:spAutoFit/>
          </a:bodyPr>
          <a:lstStyle/>
          <a:p>
            <a:r>
              <a:rPr lang="ne-NP" sz="4400" dirty="0" smtClean="0">
                <a:solidFill>
                  <a:srgbClr val="002060"/>
                </a:solidFill>
                <a:latin typeface="Kokila" pitchFamily="34" charset="0"/>
                <a:cs typeface="Kokila" pitchFamily="34" charset="0"/>
              </a:rPr>
              <a:t>फौजदारी कार्यविधि नियमावली</a:t>
            </a:r>
            <a:r>
              <a:rPr lang="en-US" sz="4400" dirty="0" smtClean="0">
                <a:solidFill>
                  <a:srgbClr val="002060"/>
                </a:solidFill>
                <a:latin typeface="Kokila" pitchFamily="34" charset="0"/>
                <a:cs typeface="Kokila" pitchFamily="34" charset="0"/>
              </a:rPr>
              <a:t>,</a:t>
            </a:r>
            <a:r>
              <a:rPr lang="ne-NP" sz="4400" dirty="0" smtClean="0">
                <a:solidFill>
                  <a:srgbClr val="002060"/>
                </a:solidFill>
                <a:latin typeface="Kokila" pitchFamily="34" charset="0"/>
                <a:cs typeface="Kokila" pitchFamily="34" charset="0"/>
              </a:rPr>
              <a:t> २०७५ लगातार कारवाही र सुनुवाई</a:t>
            </a:r>
            <a:endParaRPr lang="en-US" sz="4400" dirty="0">
              <a:solidFill>
                <a:srgbClr val="002060"/>
              </a:solidFill>
              <a:latin typeface="Kokila" pitchFamily="34" charset="0"/>
              <a:cs typeface="Kokila" pitchFamily="34" charset="0"/>
            </a:endParaRPr>
          </a:p>
        </p:txBody>
      </p:sp>
    </p:spTree>
    <p:extLst>
      <p:ext uri="{BB962C8B-B14F-4D97-AF65-F5344CB8AC3E}">
        <p14:creationId xmlns:p14="http://schemas.microsoft.com/office/powerpoint/2010/main" xmlns="" val="202469884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6472" y="1024129"/>
            <a:ext cx="11208327" cy="5321253"/>
          </a:xfrm>
        </p:spPr>
        <p:txBody>
          <a:bodyPr>
            <a:noAutofit/>
          </a:bodyPr>
          <a:lstStyle/>
          <a:p>
            <a:r>
              <a:rPr lang="ne-NP" sz="2800" b="1" dirty="0">
                <a:solidFill>
                  <a:srgbClr val="0070C0"/>
                </a:solidFill>
                <a:latin typeface="Kokila" pitchFamily="34" charset="0"/>
                <a:cs typeface="Kokila" pitchFamily="34" charset="0"/>
              </a:rPr>
              <a:t>नियम ३६- </a:t>
            </a:r>
            <a:r>
              <a:rPr lang="ne-NP" sz="2800" b="1" dirty="0" smtClean="0">
                <a:solidFill>
                  <a:srgbClr val="0070C0"/>
                </a:solidFill>
                <a:latin typeface="Kokila" pitchFamily="34" charset="0"/>
                <a:cs typeface="Kokila" pitchFamily="34" charset="0"/>
              </a:rPr>
              <a:t>मुद्दामा </a:t>
            </a:r>
            <a:r>
              <a:rPr lang="ne-NP" sz="2800" b="1" dirty="0">
                <a:solidFill>
                  <a:srgbClr val="0070C0"/>
                </a:solidFill>
                <a:latin typeface="Kokila" pitchFamily="34" charset="0"/>
                <a:cs typeface="Kokila" pitchFamily="34" charset="0"/>
              </a:rPr>
              <a:t>लगातार कारवाही र सुनुवाई गरिने</a:t>
            </a:r>
          </a:p>
          <a:p>
            <a:pPr lvl="1" algn="just"/>
            <a:r>
              <a:rPr lang="ne-NP" sz="2400" b="1" dirty="0" smtClean="0">
                <a:solidFill>
                  <a:srgbClr val="0070C0"/>
                </a:solidFill>
                <a:latin typeface="Kokila" pitchFamily="34" charset="0"/>
                <a:cs typeface="Kokila" pitchFamily="34" charset="0"/>
              </a:rPr>
              <a:t>अनुसूची -१० मा उल्लेख भएका मुद्दाको प्रतिउत्तर परेपछि वा पर्ने अवधि समाप्त भएपछि लगातार कारबाही र सुनुवाई गरी कनारा गरिनेछ। तर लगातार कारबाही र सुनुवाई नहुने मुद्दासँग लगाउमा रहेको भए त्यस्तो मुद्दामा लगातार कारबाही र सुनुवाई गरने छैन।</a:t>
            </a:r>
          </a:p>
          <a:p>
            <a:pPr lvl="1" algn="just"/>
            <a:r>
              <a:rPr lang="ne-NP" sz="2400" b="1" dirty="0" smtClean="0">
                <a:solidFill>
                  <a:srgbClr val="0070C0"/>
                </a:solidFill>
                <a:latin typeface="Kokila" pitchFamily="34" charset="0"/>
                <a:cs typeface="Kokila" pitchFamily="34" charset="0"/>
              </a:rPr>
              <a:t>लगातार कारबाही र सुनुवाई हुने मुद्दाको पेशी तोक्दा इजलासको आदेशअनुसार गर्नु पर्नेछ। </a:t>
            </a:r>
          </a:p>
          <a:p>
            <a:pPr lvl="1" algn="just"/>
            <a:r>
              <a:rPr lang="ne-NP" sz="2400" b="1" dirty="0" smtClean="0">
                <a:solidFill>
                  <a:srgbClr val="0070C0"/>
                </a:solidFill>
                <a:latin typeface="Kokila" pitchFamily="34" charset="0"/>
                <a:cs typeface="Kokila" pitchFamily="34" charset="0"/>
              </a:rPr>
              <a:t>त्यस्तो मुद्दामा अदालतले तोकेको दिनमा पक्षले आफ्ना साक्षी प्रमाण पेश गर्नु पर्नेछ।</a:t>
            </a:r>
          </a:p>
          <a:p>
            <a:pPr lvl="1" algn="just"/>
            <a:r>
              <a:rPr lang="ne-NP" sz="2400" b="1" dirty="0" smtClean="0">
                <a:solidFill>
                  <a:srgbClr val="0070C0"/>
                </a:solidFill>
                <a:latin typeface="Kokila" pitchFamily="34" charset="0"/>
                <a:cs typeface="Kokila" pitchFamily="34" charset="0"/>
              </a:rPr>
              <a:t>सो कार्य सम्पन्न भएपछि थप प्रमाण वुझ्न आवश्यक नभए अदालतले तकालै निर्णय गर्न सक्नेछ।</a:t>
            </a:r>
            <a:endParaRPr lang="en-US" sz="2400" b="1" dirty="0" smtClean="0">
              <a:solidFill>
                <a:srgbClr val="0070C0"/>
              </a:solidFill>
              <a:latin typeface="Kokila" pitchFamily="34" charset="0"/>
              <a:cs typeface="Kokila" pitchFamily="34" charset="0"/>
            </a:endParaRPr>
          </a:p>
          <a:p>
            <a:pPr lvl="1"/>
            <a:r>
              <a:rPr lang="ne-NP" sz="2400" b="1" dirty="0" smtClean="0">
                <a:solidFill>
                  <a:srgbClr val="0070C0"/>
                </a:solidFill>
                <a:latin typeface="Kokila" pitchFamily="34" charset="0"/>
                <a:cs typeface="Kokila" pitchFamily="34" charset="0"/>
              </a:rPr>
              <a:t>अनुसूची- </a:t>
            </a:r>
            <a:r>
              <a:rPr lang="ne-NP" sz="2400" b="1" dirty="0">
                <a:solidFill>
                  <a:srgbClr val="0070C0"/>
                </a:solidFill>
                <a:latin typeface="Kokila" pitchFamily="34" charset="0"/>
                <a:cs typeface="Kokila" pitchFamily="34" charset="0"/>
              </a:rPr>
              <a:t>१०</a:t>
            </a:r>
          </a:p>
          <a:p>
            <a:pPr lvl="2"/>
            <a:r>
              <a:rPr lang="ne-NP" sz="2200" b="1" dirty="0">
                <a:solidFill>
                  <a:srgbClr val="002060"/>
                </a:solidFill>
                <a:latin typeface="Kokila" pitchFamily="34" charset="0"/>
                <a:cs typeface="Kokila" pitchFamily="34" charset="0"/>
              </a:rPr>
              <a:t>मानाचामल, नाताकायम, जेष्ठ नागरिक र वालवालिका वादी भएको अँशमुद्दा, नाबालकसँग भेटघाट गराइ पाँउ भन्ने, नाबालक जिम्मा लगाइ पाँउ भन्ने, धर्मपुत्र-धर्मपुत्री भेटघाट सम्बन्धी, सँरक्षक माथवर नियुक्ति सम्बन्धी, वालवालिकाको हेरचाह स्यहार सम्भार सम्बन्धी, मातृत्व र पितृत्व निर्धारण सम्बन्धी, मातृक तथा पैतृक अख्तियारी सम्बन्धी</a:t>
            </a:r>
          </a:p>
          <a:p>
            <a:pPr lvl="2"/>
            <a:r>
              <a:rPr lang="ne-NP" sz="2200" b="1" dirty="0">
                <a:solidFill>
                  <a:srgbClr val="002060"/>
                </a:solidFill>
                <a:latin typeface="Kokila" pitchFamily="34" charset="0"/>
                <a:cs typeface="Kokila" pitchFamily="34" charset="0"/>
              </a:rPr>
              <a:t>यसका अलावा सर्वोच्च अदालतले नेपाल राजपत्रमा सूचना प्रकाशन गरी तोकेका मुद्दाहरु ।</a:t>
            </a:r>
            <a:endParaRPr lang="en-US" sz="2200" b="1" dirty="0">
              <a:solidFill>
                <a:srgbClr val="002060"/>
              </a:solidFill>
              <a:latin typeface="Kokila" pitchFamily="34" charset="0"/>
              <a:cs typeface="Kokila" pitchFamily="34" charset="0"/>
            </a:endParaRPr>
          </a:p>
        </p:txBody>
      </p:sp>
      <p:sp>
        <p:nvSpPr>
          <p:cNvPr id="2" name="Title 1"/>
          <p:cNvSpPr>
            <a:spLocks noGrp="1"/>
          </p:cNvSpPr>
          <p:nvPr>
            <p:ph type="title"/>
          </p:nvPr>
        </p:nvSpPr>
        <p:spPr>
          <a:xfrm>
            <a:off x="609599" y="274638"/>
            <a:ext cx="11291455" cy="819871"/>
          </a:xfrm>
        </p:spPr>
        <p:txBody>
          <a:bodyPr>
            <a:normAutofit fontScale="90000"/>
          </a:bodyPr>
          <a:lstStyle/>
          <a:p>
            <a:r>
              <a:rPr lang="en-US" dirty="0">
                <a:cs typeface="Kalimati" panose="00000400000000000000" pitchFamily="2"/>
              </a:rPr>
              <a:t/>
            </a:r>
            <a:br>
              <a:rPr lang="en-US" dirty="0">
                <a:cs typeface="Kalimati" panose="00000400000000000000" pitchFamily="2"/>
              </a:rPr>
            </a:br>
            <a:r>
              <a:rPr lang="ne-NP" sz="4400" dirty="0">
                <a:solidFill>
                  <a:srgbClr val="002060"/>
                </a:solidFill>
                <a:latin typeface="Kokila" pitchFamily="34" charset="0"/>
                <a:cs typeface="Kokila" pitchFamily="34" charset="0"/>
              </a:rPr>
              <a:t>मुलुकी देवानी कार्यविधि </a:t>
            </a:r>
            <a:r>
              <a:rPr lang="ne-NP" sz="4400" dirty="0" smtClean="0">
                <a:solidFill>
                  <a:srgbClr val="002060"/>
                </a:solidFill>
                <a:latin typeface="Kokila" pitchFamily="34" charset="0"/>
                <a:cs typeface="Kokila" pitchFamily="34" charset="0"/>
              </a:rPr>
              <a:t>नियमावली,२०७५ लगातार कारवाही र सुनुवाई </a:t>
            </a:r>
            <a:br>
              <a:rPr lang="ne-NP" sz="4400" dirty="0" smtClean="0">
                <a:solidFill>
                  <a:srgbClr val="002060"/>
                </a:solidFill>
                <a:latin typeface="Kokila" pitchFamily="34" charset="0"/>
                <a:cs typeface="Kokila" pitchFamily="34" charset="0"/>
              </a:rPr>
            </a:br>
            <a:endParaRPr lang="en-US" sz="4400" dirty="0" smtClean="0">
              <a:solidFill>
                <a:srgbClr val="002060"/>
              </a:solidFill>
              <a:latin typeface="Kokila" pitchFamily="34" charset="0"/>
              <a:cs typeface="Kokila" pitchFamily="34" charset="0"/>
            </a:endParaRPr>
          </a:p>
        </p:txBody>
      </p:sp>
    </p:spTree>
    <p:extLst>
      <p:ext uri="{BB962C8B-B14F-4D97-AF65-F5344CB8AC3E}">
        <p14:creationId xmlns:p14="http://schemas.microsoft.com/office/powerpoint/2010/main" xmlns="" val="59273355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607127"/>
            <a:ext cx="10972800" cy="4752109"/>
          </a:xfrm>
        </p:spPr>
        <p:txBody>
          <a:bodyPr>
            <a:normAutofit fontScale="77500" lnSpcReduction="20000"/>
          </a:bodyPr>
          <a:lstStyle/>
          <a:p>
            <a:r>
              <a:rPr lang="ne-NP" sz="3600" b="1" dirty="0" smtClean="0">
                <a:solidFill>
                  <a:srgbClr val="002060"/>
                </a:solidFill>
                <a:latin typeface="Kokila" pitchFamily="34" charset="0"/>
                <a:cs typeface="Kokila" pitchFamily="34" charset="0"/>
              </a:rPr>
              <a:t>लगातार कारवाही र सुनुवाइको व्यवस्था विशेष खालका मुद्दालाई विलम्बबिना शीघ्र निर्णयमा पुग्नको लागि गरिएको नौलो प्रयोग मानिने।</a:t>
            </a:r>
          </a:p>
          <a:p>
            <a:endParaRPr lang="ne-NP" sz="3600" b="1" dirty="0" smtClean="0">
              <a:solidFill>
                <a:srgbClr val="0070C0"/>
              </a:solidFill>
              <a:latin typeface="Kokila" pitchFamily="34" charset="0"/>
              <a:cs typeface="Kokila" pitchFamily="34" charset="0"/>
            </a:endParaRPr>
          </a:p>
          <a:p>
            <a:r>
              <a:rPr lang="ne-NP" sz="3600" b="1" dirty="0" smtClean="0">
                <a:solidFill>
                  <a:srgbClr val="0070C0"/>
                </a:solidFill>
                <a:latin typeface="Kokila" pitchFamily="34" charset="0"/>
                <a:cs typeface="Kokila" pitchFamily="34" charset="0"/>
              </a:rPr>
              <a:t>लगातार सुनुवाइ गर्ने कानूनी व्यवस्थाको प्रयोगलाई ऐच्क्षिकरूपमा नभई अनिवार्यरूपमा कार्यान्वयन गर्न गराउन जो चाहिने निर्देशिका निर्माण गर्ने, जनशक्तिलाई प्रशिक्षित गर्न पर्ने भए सो गर्नसमेतको लागि आवश्यक स्रोत साधनको व्यवस्था गर्ने, लगातार सुनुवाइ गरिने मुद्दाहरूको सुनुवाइ प्रक्रियालाई पूर्वानुमानमा आधारित तुल्याई सुनिश्चित गर्न मुद्दा व्यवस्थापनको क्षेत्रमा गर्नुपर्ने सुधारसमेत गर्नका लागि आवश्यक पर्ने बजेट विनियोजनको लागि सरकारसँग माग गर्नुपर्ने भए सो गर्ने गराउने र मुद्दाको सुनुवाइ तालिका निर्माण गर्ने गराउने, लगातार सुनुवाइको व्यवस्थालाई सुचारू गरी न्यायलाई सुनिश्चित गर्न मुद्दाका सरोकारवाला पक्ष, सरकारी वकील, प्रतिवादीका कानून व्यवसायीसमेतसँग निरन्तररूपमा आवश्यक छलफल, सहयोग र समन्वय गरी मुद्दाको कारवाहीलाई सहजीकरण गर्न सम्बन्धित अदालतभित्रै एक छुट्टै संयन्त्र गठन गरी शीघ्रातिशीघ्र जो चाहिने आवश्यकीय व्यवस्था मिलाउनु भनी सर्वोच्च अदालतका रजिष्ट्रारको नाममा परमादेश जारी गरी भएको ।</a:t>
            </a:r>
            <a:endParaRPr lang="en-US" sz="3600" b="1" dirty="0">
              <a:solidFill>
                <a:srgbClr val="0070C0"/>
              </a:solidFill>
              <a:latin typeface="Kokila" pitchFamily="34" charset="0"/>
              <a:cs typeface="Kokila" pitchFamily="34" charset="0"/>
            </a:endParaRPr>
          </a:p>
        </p:txBody>
      </p:sp>
      <p:sp>
        <p:nvSpPr>
          <p:cNvPr id="2" name="Title 1"/>
          <p:cNvSpPr>
            <a:spLocks noGrp="1"/>
          </p:cNvSpPr>
          <p:nvPr>
            <p:ph type="title"/>
          </p:nvPr>
        </p:nvSpPr>
        <p:spPr>
          <a:xfrm>
            <a:off x="581891" y="0"/>
            <a:ext cx="10972800" cy="1667020"/>
          </a:xfrm>
        </p:spPr>
        <p:txBody>
          <a:bodyPr>
            <a:normAutofit/>
          </a:bodyPr>
          <a:lstStyle/>
          <a:p>
            <a:r>
              <a:rPr lang="ne-NP" sz="4400" dirty="0">
                <a:solidFill>
                  <a:srgbClr val="002060"/>
                </a:solidFill>
                <a:latin typeface="Kokila" pitchFamily="34" charset="0"/>
                <a:cs typeface="Kokila" pitchFamily="34" charset="0"/>
              </a:rPr>
              <a:t>उमा तामाङ्ग समेत वि. प्रधानमन्त्री तथा प्रधानमन्त्री कार्यालय समेत  </a:t>
            </a:r>
            <a:r>
              <a:rPr lang="en-US" sz="4400" dirty="0" smtClean="0">
                <a:solidFill>
                  <a:srgbClr val="002060"/>
                </a:solidFill>
                <a:latin typeface="Kokila" pitchFamily="34" charset="0"/>
                <a:cs typeface="Kokila" pitchFamily="34" charset="0"/>
              </a:rPr>
              <a:t>(</a:t>
            </a:r>
            <a:r>
              <a:rPr lang="ne-NP" sz="4400" dirty="0" smtClean="0">
                <a:solidFill>
                  <a:srgbClr val="002060"/>
                </a:solidFill>
                <a:latin typeface="Kokila" pitchFamily="34" charset="0"/>
                <a:cs typeface="Kokila" pitchFamily="34" charset="0"/>
              </a:rPr>
              <a:t>फैसला मिति २०७०।४।१६ ने का प २०७० अङ्क ११ नि नं  ९०७८</a:t>
            </a:r>
            <a:r>
              <a:rPr lang="en-US" sz="4400" dirty="0" smtClean="0">
                <a:solidFill>
                  <a:srgbClr val="002060"/>
                </a:solidFill>
                <a:latin typeface="Kokila" pitchFamily="34" charset="0"/>
                <a:cs typeface="Kokila" pitchFamily="34" charset="0"/>
              </a:rPr>
              <a:t>)</a:t>
            </a:r>
            <a:endParaRPr lang="en-US" sz="4400" dirty="0">
              <a:solidFill>
                <a:srgbClr val="002060"/>
              </a:solidFill>
              <a:latin typeface="Kokila" pitchFamily="34" charset="0"/>
              <a:cs typeface="Kokila" pitchFamily="34" charset="0"/>
            </a:endParaRPr>
          </a:p>
        </p:txBody>
      </p:sp>
    </p:spTree>
    <p:extLst>
      <p:ext uri="{BB962C8B-B14F-4D97-AF65-F5344CB8AC3E}">
        <p14:creationId xmlns:p14="http://schemas.microsoft.com/office/powerpoint/2010/main" xmlns="" val="3344789063"/>
      </p:ext>
    </p:extLst>
  </p:cSld>
  <p:clrMapOvr>
    <a:masterClrMapping/>
  </p:clrMapOvr>
  <p:transition>
    <p:wheel spokes="8"/>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177636"/>
            <a:ext cx="10972800" cy="5209309"/>
          </a:xfrm>
        </p:spPr>
        <p:txBody>
          <a:bodyPr>
            <a:normAutofit fontScale="92500" lnSpcReduction="10000"/>
          </a:bodyPr>
          <a:lstStyle/>
          <a:p>
            <a:r>
              <a:rPr lang="ne-NP" b="1" dirty="0" smtClean="0">
                <a:solidFill>
                  <a:srgbClr val="0070C0"/>
                </a:solidFill>
                <a:latin typeface="Kokila" pitchFamily="34" charset="0"/>
                <a:cs typeface="Kokila" pitchFamily="34" charset="0"/>
              </a:rPr>
              <a:t>न्यायमा सहज पहुँच पुग्ने</a:t>
            </a:r>
            <a:endParaRPr lang="en-US" b="1" dirty="0" smtClean="0">
              <a:solidFill>
                <a:srgbClr val="0070C0"/>
              </a:solidFill>
              <a:latin typeface="Kokila" pitchFamily="34" charset="0"/>
              <a:cs typeface="Kokila" pitchFamily="34" charset="0"/>
            </a:endParaRPr>
          </a:p>
          <a:p>
            <a:r>
              <a:rPr lang="ne-NP" b="1" dirty="0" smtClean="0">
                <a:solidFill>
                  <a:srgbClr val="0070C0"/>
                </a:solidFill>
                <a:latin typeface="Kokila" pitchFamily="34" charset="0"/>
                <a:cs typeface="Kokila" pitchFamily="34" charset="0"/>
              </a:rPr>
              <a:t>न्यायिक प्रक्रियाले सुनिश्चितता प्राप्त गर्ने</a:t>
            </a:r>
          </a:p>
          <a:p>
            <a:r>
              <a:rPr lang="ne-NP" b="1" dirty="0" smtClean="0">
                <a:solidFill>
                  <a:srgbClr val="0070C0"/>
                </a:solidFill>
                <a:latin typeface="Kokila" pitchFamily="34" charset="0"/>
                <a:cs typeface="Kokila" pitchFamily="34" charset="0"/>
              </a:rPr>
              <a:t>मुद्दाका पक्षहरूको मुद्दामा लाग्ने समय र खर्च कम हुने, </a:t>
            </a:r>
            <a:endParaRPr lang="en-US" b="1" dirty="0" smtClean="0">
              <a:solidFill>
                <a:srgbClr val="0070C0"/>
              </a:solidFill>
              <a:latin typeface="Kokila" pitchFamily="34" charset="0"/>
              <a:cs typeface="Kokila" pitchFamily="34" charset="0"/>
            </a:endParaRPr>
          </a:p>
          <a:p>
            <a:r>
              <a:rPr lang="ne-NP" b="1" dirty="0" smtClean="0">
                <a:solidFill>
                  <a:srgbClr val="0070C0"/>
                </a:solidFill>
                <a:latin typeface="Kokila" pitchFamily="34" charset="0"/>
                <a:cs typeface="Kokila" pitchFamily="34" charset="0"/>
              </a:rPr>
              <a:t>छिटोछरितो र उचित समयमा मुद्दाका पक्षहरूले न्याय प्राप्त गर्ने अधिकारको सुनिश्चितता हुने, </a:t>
            </a:r>
            <a:endParaRPr lang="en-US" b="1" dirty="0" smtClean="0">
              <a:solidFill>
                <a:srgbClr val="0070C0"/>
              </a:solidFill>
              <a:latin typeface="Kokila" pitchFamily="34" charset="0"/>
              <a:cs typeface="Kokila" pitchFamily="34" charset="0"/>
            </a:endParaRPr>
          </a:p>
          <a:p>
            <a:r>
              <a:rPr lang="ne-NP" b="1" dirty="0" smtClean="0">
                <a:solidFill>
                  <a:srgbClr val="0070C0"/>
                </a:solidFill>
                <a:latin typeface="Kokila" pitchFamily="34" charset="0"/>
                <a:cs typeface="Kokila" pitchFamily="34" charset="0"/>
              </a:rPr>
              <a:t>मुद्दाको अङ्ग पुर्‍याउनेक्रममा हुने ढीलासुस्ती अन्त्य हुने, </a:t>
            </a:r>
            <a:endParaRPr lang="en-US" b="1" dirty="0" smtClean="0">
              <a:solidFill>
                <a:srgbClr val="0070C0"/>
              </a:solidFill>
              <a:latin typeface="Kokila" pitchFamily="34" charset="0"/>
              <a:cs typeface="Kokila" pitchFamily="34" charset="0"/>
            </a:endParaRPr>
          </a:p>
          <a:p>
            <a:r>
              <a:rPr lang="ne-NP" b="1" dirty="0" smtClean="0">
                <a:solidFill>
                  <a:srgbClr val="0070C0"/>
                </a:solidFill>
                <a:latin typeface="Kokila" pitchFamily="34" charset="0"/>
                <a:cs typeface="Kokila" pitchFamily="34" charset="0"/>
              </a:rPr>
              <a:t>कानूनले निर्धारण गरेको समयभित्रै मुद्दाको किनारा गरिसक्ने परिपाटीको विकास हुने, </a:t>
            </a:r>
            <a:endParaRPr lang="en-US" b="1" dirty="0" smtClean="0">
              <a:solidFill>
                <a:srgbClr val="0070C0"/>
              </a:solidFill>
              <a:latin typeface="Kokila" pitchFamily="34" charset="0"/>
              <a:cs typeface="Kokila" pitchFamily="34" charset="0"/>
            </a:endParaRPr>
          </a:p>
          <a:p>
            <a:r>
              <a:rPr lang="ne-NP" b="1" dirty="0" smtClean="0">
                <a:solidFill>
                  <a:srgbClr val="0070C0"/>
                </a:solidFill>
                <a:latin typeface="Kokila" pitchFamily="34" charset="0"/>
                <a:cs typeface="Kokila" pitchFamily="34" charset="0"/>
              </a:rPr>
              <a:t>नागरिकहरूलाई छिटो छरितोरूपमा न्याय पाइन्छ भन्ने कुराप्रति विश्वस्त तुल्याउन सकिने, </a:t>
            </a:r>
            <a:endParaRPr lang="en-US" b="1" dirty="0" smtClean="0">
              <a:solidFill>
                <a:srgbClr val="0070C0"/>
              </a:solidFill>
              <a:latin typeface="Kokila" pitchFamily="34" charset="0"/>
              <a:cs typeface="Kokila" pitchFamily="34" charset="0"/>
            </a:endParaRPr>
          </a:p>
          <a:p>
            <a:r>
              <a:rPr lang="ne-NP" b="1" dirty="0" smtClean="0">
                <a:solidFill>
                  <a:srgbClr val="0070C0"/>
                </a:solidFill>
                <a:latin typeface="Kokila" pitchFamily="34" charset="0"/>
                <a:cs typeface="Kokila" pitchFamily="34" charset="0"/>
              </a:rPr>
              <a:t>पीडित साक्षीलाई अनुचित आर्थिक लाभमा पारी प्रतिकूल हुनबाट रोकिने, </a:t>
            </a:r>
            <a:endParaRPr lang="en-US" b="1" dirty="0" smtClean="0">
              <a:solidFill>
                <a:srgbClr val="0070C0"/>
              </a:solidFill>
              <a:latin typeface="Kokila" pitchFamily="34" charset="0"/>
              <a:cs typeface="Kokila" pitchFamily="34" charset="0"/>
            </a:endParaRPr>
          </a:p>
          <a:p>
            <a:r>
              <a:rPr lang="ne-NP" b="1" dirty="0" smtClean="0">
                <a:solidFill>
                  <a:srgbClr val="0070C0"/>
                </a:solidFill>
                <a:latin typeface="Kokila" pitchFamily="34" charset="0"/>
                <a:cs typeface="Kokila" pitchFamily="34" charset="0"/>
              </a:rPr>
              <a:t>अभियुक्तबाट पीडितप्रति हुने डर, त्रास, धम्की जस्ता क्रियाकलाप नियन्त्रित हुने, </a:t>
            </a:r>
            <a:endParaRPr lang="en-US" b="1" dirty="0" smtClean="0">
              <a:solidFill>
                <a:srgbClr val="0070C0"/>
              </a:solidFill>
              <a:latin typeface="Kokila" pitchFamily="34" charset="0"/>
              <a:cs typeface="Kokila" pitchFamily="34" charset="0"/>
            </a:endParaRPr>
          </a:p>
          <a:p>
            <a:r>
              <a:rPr lang="ne-NP" b="1" dirty="0" smtClean="0">
                <a:solidFill>
                  <a:srgbClr val="0070C0"/>
                </a:solidFill>
                <a:latin typeface="Kokila" pitchFamily="34" charset="0"/>
                <a:cs typeface="Kokila" pitchFamily="34" charset="0"/>
              </a:rPr>
              <a:t>अभियुक्तले प्रमाण नष्ट गर्ने सम्भावनामा कमी आउने भई समष्टिमा न्याय सम्पादनको गुणस्तरमा पनि बृद्धि हुने</a:t>
            </a:r>
            <a:r>
              <a:rPr lang="en-US" b="1" dirty="0" smtClean="0">
                <a:solidFill>
                  <a:srgbClr val="0070C0"/>
                </a:solidFill>
                <a:latin typeface="Kokila" pitchFamily="34" charset="0"/>
                <a:cs typeface="Kokila" pitchFamily="34" charset="0"/>
              </a:rPr>
              <a:t>,</a:t>
            </a:r>
          </a:p>
          <a:p>
            <a:r>
              <a:rPr lang="ne-NP" b="1" dirty="0" smtClean="0">
                <a:solidFill>
                  <a:srgbClr val="0070C0"/>
                </a:solidFill>
                <a:latin typeface="Kokila" pitchFamily="34" charset="0"/>
                <a:cs typeface="Kokila" pitchFamily="34" charset="0"/>
              </a:rPr>
              <a:t>पीडितको पक्षमा मात्र नभै समयमै न्यायिक प्रक्रिया टुङ्गिई निर्दोष अभियुक्तले समेत समयमै सफाइ पाई फौजदारी न्याय प्रशासनको क्षेत्रमा देखिएको न्यायिक अनिश्चिततासमेत हट्न जाने </a:t>
            </a:r>
          </a:p>
          <a:p>
            <a:r>
              <a:rPr lang="ne-NP" b="1" dirty="0" smtClean="0">
                <a:solidFill>
                  <a:srgbClr val="0070C0"/>
                </a:solidFill>
                <a:latin typeface="Kokila" pitchFamily="34" charset="0"/>
                <a:cs typeface="Kokila" pitchFamily="34" charset="0"/>
              </a:rPr>
              <a:t>न्याय ढीलो दिनु भनेको न्याय दिन इन्कार गर्नु हो भन्ने स्थापित मान्यतालाई व्यावहारिक रूप दिन सकिने ।</a:t>
            </a:r>
            <a:endParaRPr lang="en-US" b="1" dirty="0" smtClean="0">
              <a:solidFill>
                <a:srgbClr val="0070C0"/>
              </a:solidFill>
              <a:latin typeface="Kokila" pitchFamily="34" charset="0"/>
              <a:cs typeface="Kokila" pitchFamily="34" charset="0"/>
            </a:endParaRPr>
          </a:p>
        </p:txBody>
      </p:sp>
      <p:sp>
        <p:nvSpPr>
          <p:cNvPr id="3" name="Title 2"/>
          <p:cNvSpPr>
            <a:spLocks noGrp="1"/>
          </p:cNvSpPr>
          <p:nvPr>
            <p:ph type="title"/>
          </p:nvPr>
        </p:nvSpPr>
        <p:spPr>
          <a:xfrm>
            <a:off x="609600" y="274638"/>
            <a:ext cx="10972800" cy="847580"/>
          </a:xfrm>
        </p:spPr>
        <p:txBody>
          <a:bodyPr>
            <a:normAutofit/>
          </a:bodyPr>
          <a:lstStyle/>
          <a:p>
            <a:r>
              <a:rPr lang="ne-NP" dirty="0" smtClean="0">
                <a:latin typeface="Kokila" pitchFamily="34" charset="0"/>
                <a:cs typeface="Kokila" pitchFamily="34" charset="0"/>
              </a:rPr>
              <a:t>लगातार सुनुवाइका फाईदा </a:t>
            </a:r>
            <a:endParaRPr lang="en-US" dirty="0">
              <a:latin typeface="Kokila" pitchFamily="34" charset="0"/>
              <a:cs typeface="Kokila" pitchFamily="34"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3"/>
          <p:cNvSpPr>
            <a:spLocks noGrp="1" noChangeArrowheads="1"/>
          </p:cNvSpPr>
          <p:nvPr>
            <p:ph idx="1"/>
          </p:nvPr>
        </p:nvSpPr>
        <p:spPr>
          <a:xfrm>
            <a:off x="1440873" y="1600200"/>
            <a:ext cx="9227127" cy="3941618"/>
          </a:xfrm>
        </p:spPr>
        <p:txBody>
          <a:bodyPr>
            <a:noAutofit/>
          </a:bodyPr>
          <a:lstStyle/>
          <a:p>
            <a:pPr>
              <a:lnSpc>
                <a:spcPct val="150000"/>
              </a:lnSpc>
            </a:pPr>
            <a:r>
              <a:rPr lang="ne-NP" sz="3200" b="1" dirty="0">
                <a:solidFill>
                  <a:srgbClr val="0070C0"/>
                </a:solidFill>
                <a:latin typeface="Kokila" pitchFamily="34" charset="0"/>
                <a:cs typeface="Kokila" pitchFamily="34" charset="0"/>
              </a:rPr>
              <a:t>पक्षले सुरक्षित महसूस गर्ने हुन्छ, </a:t>
            </a:r>
          </a:p>
          <a:p>
            <a:pPr>
              <a:lnSpc>
                <a:spcPct val="150000"/>
              </a:lnSpc>
            </a:pPr>
            <a:r>
              <a:rPr lang="ne-NP" sz="3200" b="1" dirty="0">
                <a:solidFill>
                  <a:srgbClr val="0070C0"/>
                </a:solidFill>
                <a:latin typeface="Kokila" pitchFamily="34" charset="0"/>
                <a:cs typeface="Kokila" pitchFamily="34" charset="0"/>
              </a:rPr>
              <a:t>सामाजिक लोक लज्जाबाट बच्ने हुन्छ, </a:t>
            </a:r>
          </a:p>
          <a:p>
            <a:pPr>
              <a:lnSpc>
                <a:spcPct val="150000"/>
              </a:lnSpc>
            </a:pPr>
            <a:r>
              <a:rPr lang="ne-NP" sz="3200" b="1" dirty="0">
                <a:solidFill>
                  <a:srgbClr val="0070C0"/>
                </a:solidFill>
                <a:latin typeface="Kokila" pitchFamily="34" charset="0"/>
                <a:cs typeface="Kokila" pitchFamily="34" charset="0"/>
              </a:rPr>
              <a:t>मुद्दाको तथ्यहरु </a:t>
            </a:r>
            <a:r>
              <a:rPr lang="ne-NP" sz="3200" b="1" dirty="0" smtClean="0">
                <a:solidFill>
                  <a:srgbClr val="0070C0"/>
                </a:solidFill>
                <a:latin typeface="Kokila" pitchFamily="34" charset="0"/>
                <a:cs typeface="Kokila" pitchFamily="34" charset="0"/>
              </a:rPr>
              <a:t>वाहिर प्रकाश </a:t>
            </a:r>
            <a:r>
              <a:rPr lang="ne-NP" sz="3200" b="1" dirty="0">
                <a:solidFill>
                  <a:srgbClr val="0070C0"/>
                </a:solidFill>
                <a:latin typeface="Kokila" pitchFamily="34" charset="0"/>
                <a:cs typeface="Kokila" pitchFamily="34" charset="0"/>
              </a:rPr>
              <a:t>हुनबाट रोकिन्छ, </a:t>
            </a:r>
          </a:p>
          <a:p>
            <a:pPr>
              <a:lnSpc>
                <a:spcPct val="150000"/>
              </a:lnSpc>
            </a:pPr>
            <a:r>
              <a:rPr lang="ne-NP" sz="3200" b="1" dirty="0">
                <a:solidFill>
                  <a:srgbClr val="0070C0"/>
                </a:solidFill>
                <a:latin typeface="Kokila" pitchFamily="34" charset="0"/>
                <a:cs typeface="Kokila" pitchFamily="34" charset="0"/>
              </a:rPr>
              <a:t>पीडितको अदालतप्रतिको आस्थामा अभिवृद्धि हुन्छ, </a:t>
            </a:r>
          </a:p>
          <a:p>
            <a:pPr>
              <a:lnSpc>
                <a:spcPct val="150000"/>
              </a:lnSpc>
            </a:pPr>
            <a:r>
              <a:rPr lang="en-US" sz="3200" b="1" dirty="0">
                <a:solidFill>
                  <a:srgbClr val="0070C0"/>
                </a:solidFill>
                <a:latin typeface="Kokila" pitchFamily="34" charset="0"/>
                <a:cs typeface="Kokila" pitchFamily="34" charset="0"/>
              </a:rPr>
              <a:t>Dignity</a:t>
            </a:r>
            <a:r>
              <a:rPr lang="ne-NP" sz="3200" b="1" dirty="0">
                <a:solidFill>
                  <a:srgbClr val="0070C0"/>
                </a:solidFill>
                <a:latin typeface="Kokila" pitchFamily="34" charset="0"/>
                <a:cs typeface="Kokila" pitchFamily="34" charset="0"/>
              </a:rPr>
              <a:t> लगायतका पक्षका आधारभूत कुराहरुको संरक्षण गर्न सकिन्छ।</a:t>
            </a:r>
          </a:p>
        </p:txBody>
      </p:sp>
      <p:sp>
        <p:nvSpPr>
          <p:cNvPr id="79874" name="Rectangle 2"/>
          <p:cNvSpPr>
            <a:spLocks noGrp="1" noChangeArrowheads="1"/>
          </p:cNvSpPr>
          <p:nvPr>
            <p:ph type="title"/>
          </p:nvPr>
        </p:nvSpPr>
        <p:spPr>
          <a:xfrm>
            <a:off x="1981200" y="228600"/>
            <a:ext cx="8229600" cy="1143000"/>
          </a:xfrm>
        </p:spPr>
        <p:txBody>
          <a:bodyPr>
            <a:normAutofit/>
          </a:bodyPr>
          <a:lstStyle/>
          <a:p>
            <a:r>
              <a:rPr lang="ne-NP" sz="4000" dirty="0">
                <a:solidFill>
                  <a:srgbClr val="002060"/>
                </a:solidFill>
                <a:latin typeface="Kokila" pitchFamily="34" charset="0"/>
                <a:cs typeface="Kokila" pitchFamily="34" charset="0"/>
              </a:rPr>
              <a:t>बन्द इजलास र गोपनीयताले</a:t>
            </a:r>
            <a:endParaRPr lang="en-US" sz="4000" dirty="0">
              <a:solidFill>
                <a:srgbClr val="002060"/>
              </a:solidFill>
              <a:latin typeface="Kokila" pitchFamily="34" charset="0"/>
              <a:cs typeface="Kokila" pitchFamily="34" charset="0"/>
            </a:endParaRPr>
          </a:p>
        </p:txBody>
      </p:sp>
    </p:spTree>
    <p:extLst>
      <p:ext uri="{BB962C8B-B14F-4D97-AF65-F5344CB8AC3E}">
        <p14:creationId xmlns:p14="http://schemas.microsoft.com/office/powerpoint/2010/main" xmlns="" val="3067574545"/>
      </p:ext>
    </p:extLst>
  </p:cSld>
  <p:clrMapOvr>
    <a:masterClrMapping/>
  </p:clrMapOvr>
  <p:transition>
    <p:split orient="vert" dir="in"/>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ne-NP" sz="3200" b="1" dirty="0">
                <a:solidFill>
                  <a:srgbClr val="0070C0"/>
                </a:solidFill>
                <a:latin typeface="Kokila" pitchFamily="34" charset="0"/>
                <a:cs typeface="Kokila" pitchFamily="34" charset="0"/>
              </a:rPr>
              <a:t>न्याय छिटो छरितो हुन गई पीडितले न्यायको अनुभुति गर्न सक्ने ।</a:t>
            </a:r>
          </a:p>
          <a:p>
            <a:r>
              <a:rPr lang="ne-NP" sz="3200" b="1" dirty="0">
                <a:solidFill>
                  <a:srgbClr val="0070C0"/>
                </a:solidFill>
                <a:latin typeface="Kokila" pitchFamily="34" charset="0"/>
                <a:cs typeface="Kokila" pitchFamily="34" charset="0"/>
              </a:rPr>
              <a:t>समयमै सुनुवाई भएमा कथम कदाचित अभियोग लागेका व्यक्ति निर्दोष ठहरे समयमै सफाई पाई अनावश्यक हैरानीबाट बचावट हुने ।</a:t>
            </a:r>
          </a:p>
          <a:p>
            <a:r>
              <a:rPr lang="ne-NP" sz="3200" b="1" dirty="0">
                <a:solidFill>
                  <a:srgbClr val="0070C0"/>
                </a:solidFill>
                <a:latin typeface="Kokila" pitchFamily="34" charset="0"/>
                <a:cs typeface="Kokila" pitchFamily="34" charset="0"/>
              </a:rPr>
              <a:t>पीडित साक्षीलाई अनुचित आर्थिक लाभमा पारी अदालतमा उपस्थित हुनवाट रोक्ने अवसर सीमित हुने भई त्यस्तो प्रयास निरुत्साहित हुने ।</a:t>
            </a:r>
          </a:p>
          <a:p>
            <a:r>
              <a:rPr lang="ne-NP" sz="3200" b="1" dirty="0">
                <a:solidFill>
                  <a:srgbClr val="0070C0"/>
                </a:solidFill>
                <a:latin typeface="Kokila" pitchFamily="34" charset="0"/>
                <a:cs typeface="Kokila" pitchFamily="34" charset="0"/>
              </a:rPr>
              <a:t>अभियुक्तवाट पीडितप्रति हुने डर त्रास धम्की जस्ता क्रियाकलाप नियन्त्रित हुने । </a:t>
            </a:r>
          </a:p>
          <a:p>
            <a:endParaRPr lang="pt-BR" dirty="0">
              <a:latin typeface="Preeti" pitchFamily="2" charset="0"/>
              <a:cs typeface="Kalimati" panose="00000400000000000000" pitchFamily="2"/>
            </a:endParaRPr>
          </a:p>
          <a:p>
            <a:endParaRPr lang="en-US" dirty="0">
              <a:latin typeface="Preeti" pitchFamily="2" charset="0"/>
              <a:cs typeface="Kalimati" panose="00000400000000000000" pitchFamily="2"/>
            </a:endParaRPr>
          </a:p>
        </p:txBody>
      </p:sp>
      <p:sp>
        <p:nvSpPr>
          <p:cNvPr id="2" name="Title 1"/>
          <p:cNvSpPr>
            <a:spLocks noGrp="1"/>
          </p:cNvSpPr>
          <p:nvPr>
            <p:ph type="title"/>
          </p:nvPr>
        </p:nvSpPr>
        <p:spPr/>
        <p:txBody>
          <a:bodyPr/>
          <a:lstStyle/>
          <a:p>
            <a:r>
              <a:rPr lang="ne-NP" dirty="0">
                <a:solidFill>
                  <a:srgbClr val="002060"/>
                </a:solidFill>
                <a:latin typeface="Kokila" pitchFamily="34" charset="0"/>
                <a:cs typeface="Kokila" pitchFamily="34" charset="0"/>
              </a:rPr>
              <a:t>मुद्दा प्रवाहमा  परेको प्रभाव</a:t>
            </a:r>
            <a:endParaRPr lang="en-US" dirty="0">
              <a:solidFill>
                <a:srgbClr val="002060"/>
              </a:solidFill>
              <a:latin typeface="Kokila" pitchFamily="34" charset="0"/>
              <a:cs typeface="Kokila" pitchFamily="34" charset="0"/>
            </a:endParaRPr>
          </a:p>
        </p:txBody>
      </p:sp>
    </p:spTree>
    <p:extLst>
      <p:ext uri="{BB962C8B-B14F-4D97-AF65-F5344CB8AC3E}">
        <p14:creationId xmlns:p14="http://schemas.microsoft.com/office/powerpoint/2010/main" xmlns="" val="1389613771"/>
      </p:ext>
    </p:extLst>
  </p:cSld>
  <p:clrMapOvr>
    <a:masterClrMapping/>
  </p:clrMapOvr>
  <p:transition>
    <p:wheel spokes="8"/>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ne-NP" sz="3200" b="1" dirty="0" smtClean="0">
                <a:solidFill>
                  <a:srgbClr val="0070C0"/>
                </a:solidFill>
                <a:latin typeface="Kokila" pitchFamily="34" charset="0"/>
                <a:cs typeface="Kokila" pitchFamily="34" charset="0"/>
              </a:rPr>
              <a:t>वैवाहिक जवरजस्ती करणी मुद्दामा जिल्ला अदालतले १ वर्ष कैद गरे उपर वादी प्रतिवादीको पुनरावेदन परेको छ।</a:t>
            </a:r>
          </a:p>
          <a:p>
            <a:r>
              <a:rPr lang="ne-NP" sz="3200" b="1" dirty="0" smtClean="0">
                <a:solidFill>
                  <a:srgbClr val="0070C0"/>
                </a:solidFill>
                <a:latin typeface="Kokila" pitchFamily="34" charset="0"/>
                <a:cs typeface="Kokila" pitchFamily="34" charset="0"/>
              </a:rPr>
              <a:t>प्रतिवादी अदालतको अनुमतिले जापानमा र पीडित नेपालमा छन्।</a:t>
            </a:r>
          </a:p>
          <a:p>
            <a:r>
              <a:rPr lang="ne-NP" sz="3200" b="1" dirty="0" smtClean="0">
                <a:solidFill>
                  <a:srgbClr val="0070C0"/>
                </a:solidFill>
                <a:latin typeface="Kokila" pitchFamily="34" charset="0"/>
                <a:cs typeface="Kokila" pitchFamily="34" charset="0"/>
              </a:rPr>
              <a:t>प्रतिवादी पुनरावेदन दर्ता गरेपछी वारेस राख्ने सुविधा लिई जापानमा वसेको छ।</a:t>
            </a:r>
          </a:p>
          <a:p>
            <a:r>
              <a:rPr lang="ne-NP" sz="3200" b="1" dirty="0" smtClean="0">
                <a:solidFill>
                  <a:srgbClr val="0070C0"/>
                </a:solidFill>
                <a:latin typeface="Kokila" pitchFamily="34" charset="0"/>
                <a:cs typeface="Kokila" pitchFamily="34" charset="0"/>
              </a:rPr>
              <a:t>वारदात पीडित जापानमा रहेको समयमा जापानमै घटीत भएको भनिएको छ।</a:t>
            </a:r>
          </a:p>
          <a:p>
            <a:r>
              <a:rPr lang="ne-NP" sz="3200" b="1" dirty="0" smtClean="0">
                <a:solidFill>
                  <a:srgbClr val="0070C0"/>
                </a:solidFill>
                <a:latin typeface="Kokila" pitchFamily="34" charset="0"/>
                <a:cs typeface="Kokila" pitchFamily="34" charset="0"/>
              </a:rPr>
              <a:t>पीडितले प्रतिवादीसंगको व्यवहार सम्बन्धी विषय समावेश भएको प्रमाणको रुपमा  पेन ड्राईभ पेश गर्दछिन। त्यसमा पीडित र प्रतिवादी वीचको झगडालाई कैद गरिएको छ।</a:t>
            </a:r>
          </a:p>
          <a:p>
            <a:r>
              <a:rPr lang="ne-NP" sz="3200" b="1" dirty="0" smtClean="0">
                <a:solidFill>
                  <a:srgbClr val="0070C0"/>
                </a:solidFill>
                <a:latin typeface="Kokila" pitchFamily="34" charset="0"/>
                <a:cs typeface="Kokila" pitchFamily="34" charset="0"/>
              </a:rPr>
              <a:t>सो पेन ड्राईभमा कैद भएको </a:t>
            </a:r>
            <a:r>
              <a:rPr lang="ne-NP" sz="3200" b="1" smtClean="0">
                <a:solidFill>
                  <a:srgbClr val="0070C0"/>
                </a:solidFill>
                <a:latin typeface="Kokila" pitchFamily="34" charset="0"/>
                <a:cs typeface="Kokila" pitchFamily="34" charset="0"/>
              </a:rPr>
              <a:t>विषयमा प्रतिवादीको </a:t>
            </a:r>
            <a:r>
              <a:rPr lang="ne-NP" sz="3200" b="1" dirty="0" smtClean="0">
                <a:solidFill>
                  <a:srgbClr val="0070C0"/>
                </a:solidFill>
                <a:latin typeface="Kokila" pitchFamily="34" charset="0"/>
                <a:cs typeface="Kokila" pitchFamily="34" charset="0"/>
              </a:rPr>
              <a:t>सनाखत वयान लिनु पर्ने छ। श्रव्य दृष्य माध्यमबाट सनाखत वयान लिँदा पीडितले आफ्नो गोपनीयताको अधिकार हनन हुने जिकिर लिएको अवस्था छ।  अव प्रतिवादीबाट त्यस पेन ड्राईभमा भएको विषयको सनाखत</a:t>
            </a:r>
            <a:r>
              <a:rPr lang="en-US" sz="3200" b="1" dirty="0" smtClean="0">
                <a:solidFill>
                  <a:srgbClr val="0070C0"/>
                </a:solidFill>
                <a:latin typeface="Kokila" pitchFamily="34" charset="0"/>
                <a:cs typeface="Kokila" pitchFamily="34" charset="0"/>
              </a:rPr>
              <a:t> </a:t>
            </a:r>
            <a:r>
              <a:rPr lang="ne-NP" sz="3200" b="1" dirty="0" smtClean="0">
                <a:solidFill>
                  <a:srgbClr val="0070C0"/>
                </a:solidFill>
                <a:latin typeface="Kokila" pitchFamily="34" charset="0"/>
                <a:cs typeface="Kokila" pitchFamily="34" charset="0"/>
              </a:rPr>
              <a:t>वयान  पीडितको गोपनियता कायम हुने गरी कसरी गर्न सकिएला </a:t>
            </a:r>
            <a:r>
              <a:rPr lang="en-US" sz="3200" b="1" dirty="0" smtClean="0">
                <a:solidFill>
                  <a:srgbClr val="0070C0"/>
                </a:solidFill>
                <a:latin typeface="Kokila" pitchFamily="34" charset="0"/>
                <a:cs typeface="Kokila" pitchFamily="34" charset="0"/>
              </a:rPr>
              <a:t>?</a:t>
            </a:r>
            <a:r>
              <a:rPr lang="ne-NP" sz="3200" b="1" dirty="0" smtClean="0">
                <a:solidFill>
                  <a:srgbClr val="0070C0"/>
                </a:solidFill>
                <a:latin typeface="Kokila" pitchFamily="34" charset="0"/>
                <a:cs typeface="Kokila" pitchFamily="34" charset="0"/>
              </a:rPr>
              <a:t> </a:t>
            </a:r>
            <a:endParaRPr lang="en-US" sz="3200" b="1" dirty="0">
              <a:solidFill>
                <a:srgbClr val="0070C0"/>
              </a:solidFill>
              <a:latin typeface="Kokila" pitchFamily="34" charset="0"/>
              <a:cs typeface="Kokila" pitchFamily="34" charset="0"/>
            </a:endParaRPr>
          </a:p>
        </p:txBody>
      </p:sp>
      <p:sp>
        <p:nvSpPr>
          <p:cNvPr id="3" name="Title 2"/>
          <p:cNvSpPr>
            <a:spLocks noGrp="1"/>
          </p:cNvSpPr>
          <p:nvPr>
            <p:ph type="title"/>
          </p:nvPr>
        </p:nvSpPr>
        <p:spPr/>
        <p:txBody>
          <a:bodyPr>
            <a:normAutofit/>
          </a:bodyPr>
          <a:lstStyle/>
          <a:p>
            <a:r>
              <a:rPr lang="ne-NP" dirty="0" smtClean="0">
                <a:solidFill>
                  <a:srgbClr val="002060"/>
                </a:solidFill>
                <a:latin typeface="Kokila" pitchFamily="34" charset="0"/>
                <a:cs typeface="Kokila" pitchFamily="34" charset="0"/>
              </a:rPr>
              <a:t>जवाफको अपेक्षा</a:t>
            </a:r>
            <a:endParaRPr lang="en-US" dirty="0">
              <a:solidFill>
                <a:srgbClr val="002060"/>
              </a:solidFill>
              <a:latin typeface="Kokila" pitchFamily="34" charset="0"/>
              <a:cs typeface="Kokila" pitchFamily="34"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ctr">
              <a:buNone/>
            </a:pPr>
            <a:endParaRPr lang="ne-NP" sz="3200" b="1" dirty="0" smtClean="0">
              <a:solidFill>
                <a:srgbClr val="002060"/>
              </a:solidFill>
              <a:latin typeface="Kokila" pitchFamily="34" charset="0"/>
              <a:cs typeface="Kokila" pitchFamily="34" charset="0"/>
            </a:endParaRPr>
          </a:p>
          <a:p>
            <a:pPr algn="ctr">
              <a:buNone/>
            </a:pPr>
            <a:r>
              <a:rPr lang="ne-NP" sz="9600" b="1" dirty="0" smtClean="0">
                <a:solidFill>
                  <a:srgbClr val="002060"/>
                </a:solidFill>
                <a:latin typeface="Kokila" pitchFamily="34" charset="0"/>
                <a:cs typeface="Kokila" pitchFamily="34" charset="0"/>
              </a:rPr>
              <a:t>छलफल</a:t>
            </a:r>
            <a:endParaRPr lang="en-US" sz="9600" b="1" dirty="0">
              <a:solidFill>
                <a:srgbClr val="002060"/>
              </a:solidFill>
              <a:latin typeface="Kokila" pitchFamily="34" charset="0"/>
              <a:cs typeface="Kokila" pitchFamily="34"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Placeholder 2"/>
          <p:cNvPicPr>
            <a:picLocks noGrp="1" noChangeAspect="1"/>
          </p:cNvPicPr>
          <p:nvPr>
            <p:ph type="pic" idx="1"/>
          </p:nvPr>
        </p:nvPicPr>
        <p:blipFill>
          <a:blip r:embed="rId2"/>
          <a:srcRect l="1183" r="1183"/>
          <a:stretch>
            <a:fillRect/>
          </a:stretch>
        </p:blipFill>
        <p:spPr>
          <a:xfrm>
            <a:off x="812801" y="914400"/>
            <a:ext cx="10960100" cy="5105400"/>
          </a:xfrm>
        </p:spPr>
      </p:pic>
      <p:pic>
        <p:nvPicPr>
          <p:cNvPr id="2050" name="Picture 2" descr="C:\Users\NEC\Desktop\download (28).gif"/>
          <p:cNvPicPr>
            <a:picLocks noChangeAspect="1" noChangeArrowheads="1" noCrop="1"/>
          </p:cNvPicPr>
          <p:nvPr/>
        </p:nvPicPr>
        <p:blipFill>
          <a:blip r:embed="rId3">
            <a:extLst>
              <a:ext uri="{28A0092B-C50C-407E-A947-70E740481C1C}"/>
            </a:extLst>
          </a:blip>
          <a:srcRect/>
          <a:stretch>
            <a:fillRect/>
          </a:stretch>
        </p:blipFill>
        <p:spPr bwMode="auto">
          <a:xfrm>
            <a:off x="7378700" y="4752764"/>
            <a:ext cx="4584699" cy="106976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extLst>
        </p:spPr>
      </p:pic>
    </p:spTree>
  </p:cSld>
  <p:clrMapOvr>
    <a:masterClrMapping/>
  </p:clrMapOvr>
  <p:transition spd="slow">
    <p:wipe/>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1089</TotalTime>
  <Words>4830</Words>
  <Application>Microsoft Office PowerPoint</Application>
  <PresentationFormat>Custom</PresentationFormat>
  <Paragraphs>538</Paragraphs>
  <Slides>73</Slides>
  <Notes>5</Notes>
  <HiddenSlides>0</HiddenSlides>
  <MMClips>0</MMClips>
  <ScaleCrop>false</ScaleCrop>
  <HeadingPairs>
    <vt:vector size="4" baseType="variant">
      <vt:variant>
        <vt:lpstr>Theme</vt:lpstr>
      </vt:variant>
      <vt:variant>
        <vt:i4>1</vt:i4>
      </vt:variant>
      <vt:variant>
        <vt:lpstr>Slide Titles</vt:lpstr>
      </vt:variant>
      <vt:variant>
        <vt:i4>73</vt:i4>
      </vt:variant>
    </vt:vector>
  </HeadingPairs>
  <TitlesOfParts>
    <vt:vector size="74" baseType="lpstr">
      <vt:lpstr>Concourse</vt:lpstr>
      <vt:lpstr>गोपनीयता कायम गर्ने र निरन्तर सुनुवाई सम्बन्धी कानून </vt:lpstr>
      <vt:lpstr>यस सत्रमा छलफल गरिने विषय</vt:lpstr>
      <vt:lpstr>न्याय के हो ? </vt:lpstr>
      <vt:lpstr>न्यायका मान्य सिद्धान्तहरु (PRINCIPLES OF Justice)</vt:lpstr>
      <vt:lpstr>न्यायका आधिकारिक संवाहक</vt:lpstr>
      <vt:lpstr>मानवीय मर्यादा, समानता र आत्म सम्मान गोपनीयताको हकका आधार</vt:lpstr>
      <vt:lpstr>गोपनीयताको हकसम्बन्धी सैद्धान्तिक, संवैधानिक र कानूनी पक्ष</vt:lpstr>
      <vt:lpstr>गोपनीयता सम्बन्धी अन्तर्राष्ट्रिय कानून</vt:lpstr>
      <vt:lpstr>क्रमशः</vt:lpstr>
      <vt:lpstr>क्रमशः</vt:lpstr>
      <vt:lpstr>Slide 11</vt:lpstr>
      <vt:lpstr>Slide 12</vt:lpstr>
      <vt:lpstr>वन्द इजलास क्रमशः</vt:lpstr>
      <vt:lpstr>गोपनीयता किन ?</vt:lpstr>
      <vt:lpstr> गोपनीयता सम्बन्धी कानूनी व्यवस्थाहरू </vt:lpstr>
      <vt:lpstr>Slide 16</vt:lpstr>
      <vt:lpstr>नेपालको संविधान</vt:lpstr>
      <vt:lpstr>क्रमश</vt:lpstr>
      <vt:lpstr>मानव बेचबिखन तथा ओसारपोसार (नियन्त्रण) ऐन, २०६४</vt:lpstr>
      <vt:lpstr>संगठित अपराध निवारण ऐन २०७०</vt:lpstr>
      <vt:lpstr>घरेलु हिंसा(कसूर र सजाय) ऐन २०६६</vt:lpstr>
      <vt:lpstr>Slide 22</vt:lpstr>
      <vt:lpstr>Slide 23</vt:lpstr>
      <vt:lpstr>Slide 24</vt:lpstr>
      <vt:lpstr>Slide 25</vt:lpstr>
      <vt:lpstr>Slide 26</vt:lpstr>
      <vt:lpstr>Slide 27</vt:lpstr>
      <vt:lpstr>बालबालिका सम्बन्धी ऐन, २०७५ क्रमशः  </vt:lpstr>
      <vt:lpstr>Slide 29</vt:lpstr>
      <vt:lpstr>Slide 30</vt:lpstr>
      <vt:lpstr>Slide 31</vt:lpstr>
      <vt:lpstr>Slide 32</vt:lpstr>
      <vt:lpstr>Slide 33</vt:lpstr>
      <vt:lpstr>Slide 34</vt:lpstr>
      <vt:lpstr>Slide 35</vt:lpstr>
      <vt:lpstr>अदालतसङ्ग सम्बद्द कानूनी प्रावधानहरु </vt:lpstr>
      <vt:lpstr>Slide 37</vt:lpstr>
      <vt:lpstr>पक्षहरूको गोपनीयता कायम राख्ने सम्बन्धी कार्यविधि निर्देशिका २०६४</vt:lpstr>
      <vt:lpstr>Slide 39</vt:lpstr>
      <vt:lpstr>गोपनीयता कायम गर्ने प्रक्रिया </vt:lpstr>
      <vt:lpstr>बन्द इजलास र गोपनीयता सम्बन्धी कार्यविधि </vt:lpstr>
      <vt:lpstr>बन्द इजलास र गोपनीयता सम्बन्धी कार्यविधि (क्रमश...)</vt:lpstr>
      <vt:lpstr>बन्द इजलास र गोपनीयता सम्बन्धी कार्यविधि (क्रमश...)</vt:lpstr>
      <vt:lpstr>व्यक्तिगत परिचयात्मक विवरण गोप्य राख्नुपर्ने मुद्दा</vt:lpstr>
      <vt:lpstr>सम्बद्ध निकाय र व्यक्तिहरू</vt:lpstr>
      <vt:lpstr>परिचयात्मक विवरण गोप्य राख्ने निर्णय गर्दा विचार गर्नुपर्ने अवस्थाहरू</vt:lpstr>
      <vt:lpstr>परिचयात्मक विवरण गोप्य राख्नु नपर्ने अवस्था </vt:lpstr>
      <vt:lpstr>गोपनीयता कायम राख्नुपर्ने विवरणहरू </vt:lpstr>
      <vt:lpstr>अनुसन्धान तहकिकातको अवस्थामा गोपनियता कायम गर्ने कार्यविधि </vt:lpstr>
      <vt:lpstr>अभियोजनको अवस्थामा गोपनियता कायम गर्ने कार्यविधि</vt:lpstr>
      <vt:lpstr> सरकारवादी फौजदारी मुद्दाको कारवाहीमा गोपनियता कायम गर्ने कार्यविधि </vt:lpstr>
      <vt:lpstr> इजलासको ढोका राख्न प्रस्तावित स्टिकर वा वोर्ड </vt:lpstr>
      <vt:lpstr>दुनियावादी फौजदारी तथा देवानी मुद्दाको कारवाहीमा गोपनियता कायम गर्ने कार्यविधि</vt:lpstr>
      <vt:lpstr>फैसला कार्यान्वयनको अवस्थामा गोपनीयता कायम गर्ने कार्यविधि </vt:lpstr>
      <vt:lpstr>अन्य कारबाहीमा गोपनियता कायम गर्ने कार्यविधि</vt:lpstr>
      <vt:lpstr>उदाहरणः फैसलाको शिरमा लेख्नेः</vt:lpstr>
      <vt:lpstr>बन्द इजलासबाट सुनुवाइ गर्नुपर्ने मुद्दाहरू </vt:lpstr>
      <vt:lpstr>बन्द इजलासमा मुद्दा सुनुवाइ हुँदा उपस्थित हुन पाउने व्यक्तिहरू </vt:lpstr>
      <vt:lpstr>निरन्तर सुनुवाई – अर्थ/ परिभाषा</vt:lpstr>
      <vt:lpstr>The main purposes of speedy trial</vt:lpstr>
      <vt:lpstr>क्रमशः</vt:lpstr>
      <vt:lpstr>लगातार सुनुवाई गर्नु पर्ने अवस्थामा अवलम्बन गर्न सकिने प्रक्रिया </vt:lpstr>
      <vt:lpstr>क्रमशः</vt:lpstr>
      <vt:lpstr>Why Fast Track Court and Continuous Hearing ?</vt:lpstr>
      <vt:lpstr>फौजदारी कार्यविधि नियमावली, २०७५ लगातार कारवाही र सुनुवाई</vt:lpstr>
      <vt:lpstr> मुलुकी देवानी कार्यविधि नियमावली,२०७५ लगातार कारवाही र सुनुवाई  </vt:lpstr>
      <vt:lpstr>उमा तामाङ्ग समेत वि. प्रधानमन्त्री तथा प्रधानमन्त्री कार्यालय समेत  (फैसला मिति २०७०।४।१६ ने का प २०७० अङ्क ११ नि नं  ९०७८)</vt:lpstr>
      <vt:lpstr>लगातार सुनुवाइका फाईदा </vt:lpstr>
      <vt:lpstr>बन्द इजलास र गोपनीयताले</vt:lpstr>
      <vt:lpstr>मुद्दा प्रवाहमा  परेको प्रभाव</vt:lpstr>
      <vt:lpstr>जवाफको अपेक्षा</vt:lpstr>
      <vt:lpstr>Slide 72</vt:lpstr>
      <vt:lpstr>Slide 73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गोपनीयता कायम राख्ने विधि र लगातार सुनुवाई</dc:title>
  <dc:creator>user</dc:creator>
  <cp:lastModifiedBy>Bastola</cp:lastModifiedBy>
  <cp:revision>165</cp:revision>
  <dcterms:created xsi:type="dcterms:W3CDTF">2021-09-11T03:01:52Z</dcterms:created>
  <dcterms:modified xsi:type="dcterms:W3CDTF">2026-01-22T18:39:35Z</dcterms:modified>
</cp:coreProperties>
</file>