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8" r:id="rId3"/>
    <p:sldId id="257" r:id="rId4"/>
    <p:sldId id="259" r:id="rId5"/>
    <p:sldId id="260" r:id="rId6"/>
    <p:sldId id="267" r:id="rId7"/>
    <p:sldId id="261" r:id="rId8"/>
    <p:sldId id="262" r:id="rId9"/>
    <p:sldId id="263" r:id="rId10"/>
    <p:sldId id="264" r:id="rId11"/>
    <p:sldId id="265" r:id="rId12"/>
    <p:sldId id="266"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704"/>
  </p:normalViewPr>
  <p:slideViewPr>
    <p:cSldViewPr snapToGrid="0">
      <p:cViewPr varScale="1">
        <p:scale>
          <a:sx n="105" d="100"/>
          <a:sy n="105" d="100"/>
        </p:scale>
        <p:origin x="16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F91700F-FA62-7840-A2B2-2B927EE6DED5}" type="datetimeFigureOut">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2970675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F91700F-FA62-7840-A2B2-2B927EE6DED5}" type="datetimeFigureOut">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1798836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F91700F-FA62-7840-A2B2-2B927EE6DED5}" type="datetimeFigureOut">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2936006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F91700F-FA62-7840-A2B2-2B927EE6DED5}" type="datetimeFigureOut">
              <a:rPr lang="en-US" smtClean="0"/>
              <a:t>1/22/26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1268017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F91700F-FA62-7840-A2B2-2B927EE6DED5}" type="datetimeFigureOut">
              <a:rPr lang="en-US" smtClean="0"/>
              <a:t>1/22/26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3954483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F91700F-FA62-7840-A2B2-2B927EE6DED5}" type="datetimeFigureOut">
              <a:rPr lang="en-US" smtClean="0"/>
              <a:t>1/22/26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2348170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91700F-FA62-7840-A2B2-2B927EE6DED5}" type="datetimeFigureOut">
              <a:rPr lang="en-US" smtClean="0"/>
              <a:t>1/22/26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855381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F91700F-FA62-7840-A2B2-2B927EE6DED5}" type="datetimeFigureOut">
              <a:rPr lang="en-US" smtClean="0"/>
              <a:t>1/22/26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865004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F91700F-FA62-7840-A2B2-2B927EE6DED5}" type="datetimeFigureOut">
              <a:rPr lang="en-US" smtClean="0"/>
              <a:t>1/22/26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115753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F91700F-FA62-7840-A2B2-2B927EE6DED5}" type="datetimeFigureOut">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3061718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F91700F-FA62-7840-A2B2-2B927EE6DED5}" type="datetimeFigureOut">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FECE52-A2AB-F84F-8411-A36E6DCB6FF0}" type="slidenum">
              <a:rPr lang="en-US" smtClean="0"/>
              <a:t>‹#›</a:t>
            </a:fld>
            <a:endParaRPr lang="en-US"/>
          </a:p>
        </p:txBody>
      </p:sp>
    </p:spTree>
    <p:extLst>
      <p:ext uri="{BB962C8B-B14F-4D97-AF65-F5344CB8AC3E}">
        <p14:creationId xmlns:p14="http://schemas.microsoft.com/office/powerpoint/2010/main" val="2653165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91700F-FA62-7840-A2B2-2B927EE6DED5}" type="datetimeFigureOut">
              <a:rPr lang="en-US" smtClean="0"/>
              <a:t>1/22/26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FECE52-A2AB-F84F-8411-A36E6DCB6FF0}" type="slidenum">
              <a:rPr lang="en-US" smtClean="0"/>
              <a:t>‹#›</a:t>
            </a:fld>
            <a:endParaRPr lang="en-US"/>
          </a:p>
        </p:txBody>
      </p:sp>
    </p:spTree>
    <p:extLst>
      <p:ext uri="{BB962C8B-B14F-4D97-AF65-F5344CB8AC3E}">
        <p14:creationId xmlns:p14="http://schemas.microsoft.com/office/powerpoint/2010/main" val="3076471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61074-9E16-42CF-4F83-6CA6AD456E6B}"/>
              </a:ext>
            </a:extLst>
          </p:cNvPr>
          <p:cNvSpPr>
            <a:spLocks noGrp="1"/>
          </p:cNvSpPr>
          <p:nvPr>
            <p:ph type="ctrTitle"/>
          </p:nvPr>
        </p:nvSpPr>
        <p:spPr/>
        <p:txBody>
          <a:bodyPr>
            <a:normAutofit fontScale="90000"/>
          </a:bodyPr>
          <a:lstStyle/>
          <a:p>
            <a:r>
              <a:rPr lang="en-US" dirty="0"/>
              <a:t>Application of Private International Law in a Dispute</a:t>
            </a:r>
          </a:p>
        </p:txBody>
      </p:sp>
      <p:sp>
        <p:nvSpPr>
          <p:cNvPr id="3" name="Subtitle 2">
            <a:extLst>
              <a:ext uri="{FF2B5EF4-FFF2-40B4-BE49-F238E27FC236}">
                <a16:creationId xmlns:a16="http://schemas.microsoft.com/office/drawing/2014/main" id="{14EAC01B-C7EC-4403-FF50-D36125E8494A}"/>
              </a:ext>
            </a:extLst>
          </p:cNvPr>
          <p:cNvSpPr>
            <a:spLocks noGrp="1"/>
          </p:cNvSpPr>
          <p:nvPr>
            <p:ph type="subTitle" idx="1"/>
          </p:nvPr>
        </p:nvSpPr>
        <p:spPr/>
        <p:txBody>
          <a:bodyPr/>
          <a:lstStyle/>
          <a:p>
            <a:r>
              <a:rPr lang="en-US" dirty="0"/>
              <a:t>PREM CHANDRA RAI</a:t>
            </a:r>
          </a:p>
        </p:txBody>
      </p:sp>
    </p:spTree>
    <p:extLst>
      <p:ext uri="{BB962C8B-B14F-4D97-AF65-F5344CB8AC3E}">
        <p14:creationId xmlns:p14="http://schemas.microsoft.com/office/powerpoint/2010/main" val="254789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0794-0CF2-A51C-0717-975AB511DF23}"/>
              </a:ext>
            </a:extLst>
          </p:cNvPr>
          <p:cNvSpPr>
            <a:spLocks noGrp="1"/>
          </p:cNvSpPr>
          <p:nvPr>
            <p:ph type="title"/>
          </p:nvPr>
        </p:nvSpPr>
        <p:spPr/>
        <p:txBody>
          <a:bodyPr/>
          <a:lstStyle/>
          <a:p>
            <a:r>
              <a:rPr lang="en-US" dirty="0"/>
              <a:t>PRIVATE INTERNATIONAL LAW: SCOPES</a:t>
            </a:r>
          </a:p>
        </p:txBody>
      </p:sp>
      <p:sp>
        <p:nvSpPr>
          <p:cNvPr id="3" name="Content Placeholder 2">
            <a:extLst>
              <a:ext uri="{FF2B5EF4-FFF2-40B4-BE49-F238E27FC236}">
                <a16:creationId xmlns:a16="http://schemas.microsoft.com/office/drawing/2014/main" id="{988CE3B4-F614-2FA3-860A-ECC75FBF9594}"/>
              </a:ext>
            </a:extLst>
          </p:cNvPr>
          <p:cNvSpPr>
            <a:spLocks noGrp="1"/>
          </p:cNvSpPr>
          <p:nvPr>
            <p:ph idx="1"/>
          </p:nvPr>
        </p:nvSpPr>
        <p:spPr/>
        <p:txBody>
          <a:bodyPr/>
          <a:lstStyle/>
          <a:p>
            <a:pPr marL="0" indent="0">
              <a:buNone/>
            </a:pPr>
            <a:r>
              <a:rPr lang="en-US" dirty="0"/>
              <a:t>When a foreign element is involved in a dispute, decision must be given applying private international law rules regarding the following issues:</a:t>
            </a:r>
          </a:p>
          <a:p>
            <a:r>
              <a:rPr lang="en-US" dirty="0"/>
              <a:t>Jurisdiction</a:t>
            </a:r>
          </a:p>
          <a:p>
            <a:r>
              <a:rPr lang="en-US" dirty="0"/>
              <a:t>Choice of Law (in the situation of conflict of laws)</a:t>
            </a:r>
          </a:p>
          <a:p>
            <a:r>
              <a:rPr lang="en-US" dirty="0"/>
              <a:t>Recognition and enforcement of foreign judgments</a:t>
            </a:r>
          </a:p>
          <a:p>
            <a:pPr marL="0" indent="0">
              <a:buNone/>
            </a:pPr>
            <a:endParaRPr lang="en-US" i="1" dirty="0"/>
          </a:p>
          <a:p>
            <a:pPr marL="0" indent="0">
              <a:buNone/>
            </a:pPr>
            <a:r>
              <a:rPr lang="en-US" i="1" dirty="0"/>
              <a:t>Note: It is not necessarily all the pattern are relevant in one single dispute</a:t>
            </a:r>
          </a:p>
        </p:txBody>
      </p:sp>
    </p:spTree>
    <p:extLst>
      <p:ext uri="{BB962C8B-B14F-4D97-AF65-F5344CB8AC3E}">
        <p14:creationId xmlns:p14="http://schemas.microsoft.com/office/powerpoint/2010/main" val="3838197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12B2E-1754-FA81-4C28-26C826A63596}"/>
              </a:ext>
            </a:extLst>
          </p:cNvPr>
          <p:cNvSpPr>
            <a:spLocks noGrp="1"/>
          </p:cNvSpPr>
          <p:nvPr>
            <p:ph type="title"/>
          </p:nvPr>
        </p:nvSpPr>
        <p:spPr/>
        <p:txBody>
          <a:bodyPr/>
          <a:lstStyle/>
          <a:p>
            <a:r>
              <a:rPr lang="en-US" dirty="0"/>
              <a:t>2. JURISDICTION</a:t>
            </a:r>
          </a:p>
        </p:txBody>
      </p:sp>
      <p:sp>
        <p:nvSpPr>
          <p:cNvPr id="3" name="Content Placeholder 2">
            <a:extLst>
              <a:ext uri="{FF2B5EF4-FFF2-40B4-BE49-F238E27FC236}">
                <a16:creationId xmlns:a16="http://schemas.microsoft.com/office/drawing/2014/main" id="{ACA7D79C-4F5B-B616-5D88-F0B89B86F3F4}"/>
              </a:ext>
            </a:extLst>
          </p:cNvPr>
          <p:cNvSpPr>
            <a:spLocks noGrp="1"/>
          </p:cNvSpPr>
          <p:nvPr>
            <p:ph idx="1"/>
          </p:nvPr>
        </p:nvSpPr>
        <p:spPr/>
        <p:txBody>
          <a:bodyPr>
            <a:normAutofit/>
          </a:bodyPr>
          <a:lstStyle/>
          <a:p>
            <a:pPr marL="0" indent="0">
              <a:buNone/>
            </a:pPr>
            <a:r>
              <a:rPr lang="en-US" dirty="0"/>
              <a:t>SITUATION</a:t>
            </a:r>
          </a:p>
          <a:p>
            <a:r>
              <a:rPr lang="en-US" dirty="0"/>
              <a:t>A Nepali dies in Australia, leaving a home he owned there, and his wife, who has been living in Nepal, want to claim that property as his successor along with the property situated in Nepal, where should the case be initiated?</a:t>
            </a:r>
          </a:p>
        </p:txBody>
      </p:sp>
    </p:spTree>
    <p:extLst>
      <p:ext uri="{BB962C8B-B14F-4D97-AF65-F5344CB8AC3E}">
        <p14:creationId xmlns:p14="http://schemas.microsoft.com/office/powerpoint/2010/main" val="3193516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B3610-5FE4-65AE-B7C9-B2C6C9135E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DAE270-1443-46B2-58B9-E1D81185B064}"/>
              </a:ext>
            </a:extLst>
          </p:cNvPr>
          <p:cNvSpPr>
            <a:spLocks noGrp="1"/>
          </p:cNvSpPr>
          <p:nvPr>
            <p:ph idx="1"/>
          </p:nvPr>
        </p:nvSpPr>
        <p:spPr/>
        <p:txBody>
          <a:bodyPr>
            <a:normAutofit fontScale="92500"/>
          </a:bodyPr>
          <a:lstStyle/>
          <a:p>
            <a:pPr marL="0" indent="0">
              <a:buNone/>
            </a:pPr>
            <a:r>
              <a:rPr lang="en-US" dirty="0"/>
              <a:t>SITUATION…</a:t>
            </a:r>
          </a:p>
          <a:p>
            <a:r>
              <a:rPr lang="en-US" dirty="0"/>
              <a:t>A commercial contract was entered by and between a Nepali and Chinese business persons in Singapore to supply goods, manufactured in Korea, to Tokyo, where an action may be filed in the following situations: </a:t>
            </a:r>
          </a:p>
          <a:p>
            <a:pPr lvl="1"/>
            <a:r>
              <a:rPr lang="en-US" dirty="0"/>
              <a:t>After receiving advance payment, the Chinese returned to Shanghai and never tried to fulfil contractual obligation;</a:t>
            </a:r>
          </a:p>
          <a:p>
            <a:pPr lvl="1"/>
            <a:r>
              <a:rPr lang="en-US" dirty="0"/>
              <a:t>The goods were reached to Tokyo but a dispute arises as to the manufacturing defect; or</a:t>
            </a:r>
          </a:p>
          <a:p>
            <a:pPr lvl="1"/>
            <a:r>
              <a:rPr lang="en-US" dirty="0"/>
              <a:t>The Hong Kong registered ship carrying the goods was crashed at the coast of Japan and the goods were damaged.</a:t>
            </a:r>
          </a:p>
          <a:p>
            <a:pPr marL="0" indent="0">
              <a:buNone/>
            </a:pPr>
            <a:endParaRPr lang="en-US" dirty="0"/>
          </a:p>
        </p:txBody>
      </p:sp>
    </p:spTree>
    <p:extLst>
      <p:ext uri="{BB962C8B-B14F-4D97-AF65-F5344CB8AC3E}">
        <p14:creationId xmlns:p14="http://schemas.microsoft.com/office/powerpoint/2010/main" val="1528656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E6DF3-828E-5AD9-C4A4-578B80788A5A}"/>
              </a:ext>
            </a:extLst>
          </p:cNvPr>
          <p:cNvSpPr>
            <a:spLocks noGrp="1"/>
          </p:cNvSpPr>
          <p:nvPr>
            <p:ph type="title"/>
          </p:nvPr>
        </p:nvSpPr>
        <p:spPr/>
        <p:txBody>
          <a:bodyPr/>
          <a:lstStyle/>
          <a:p>
            <a:r>
              <a:rPr lang="en-US" dirty="0"/>
              <a:t>QUESTION OF JURISDICTION &amp; RULES</a:t>
            </a:r>
          </a:p>
        </p:txBody>
      </p:sp>
      <p:sp>
        <p:nvSpPr>
          <p:cNvPr id="3" name="Content Placeholder 2">
            <a:extLst>
              <a:ext uri="{FF2B5EF4-FFF2-40B4-BE49-F238E27FC236}">
                <a16:creationId xmlns:a16="http://schemas.microsoft.com/office/drawing/2014/main" id="{71B2D8EF-FE46-2E0D-B98E-F74BA69B701A}"/>
              </a:ext>
            </a:extLst>
          </p:cNvPr>
          <p:cNvSpPr>
            <a:spLocks noGrp="1"/>
          </p:cNvSpPr>
          <p:nvPr>
            <p:ph idx="1"/>
          </p:nvPr>
        </p:nvSpPr>
        <p:spPr/>
        <p:txBody>
          <a:bodyPr/>
          <a:lstStyle/>
          <a:p>
            <a:pPr marL="0" indent="0">
              <a:buNone/>
            </a:pPr>
            <a:r>
              <a:rPr lang="en-US" dirty="0"/>
              <a:t>QUESTION OF JURISDITION ARISES IN TWO STAGES:</a:t>
            </a:r>
          </a:p>
          <a:p>
            <a:pPr marL="0" indent="0">
              <a:buNone/>
            </a:pPr>
            <a:r>
              <a:rPr lang="en-US" dirty="0"/>
              <a:t>Stage 1, at the time of filing a case: direct jurisdiction</a:t>
            </a:r>
          </a:p>
          <a:p>
            <a:pPr marL="0" indent="0">
              <a:buNone/>
            </a:pPr>
            <a:r>
              <a:rPr lang="en-US" dirty="0"/>
              <a:t>Stage 2, at the time of enforcement: indirect J…</a:t>
            </a:r>
          </a:p>
          <a:p>
            <a:pPr marL="0" indent="0">
              <a:buNone/>
            </a:pPr>
            <a:endParaRPr lang="en-US" dirty="0"/>
          </a:p>
          <a:p>
            <a:pPr marL="0" indent="0">
              <a:buNone/>
            </a:pPr>
            <a:r>
              <a:rPr lang="en-US" dirty="0"/>
              <a:t>GENERAL RULES</a:t>
            </a:r>
          </a:p>
          <a:p>
            <a:pPr marL="514350" indent="-514350">
              <a:buAutoNum type="arabicPeriod"/>
            </a:pPr>
            <a:r>
              <a:rPr lang="en-US" i="1" dirty="0"/>
              <a:t>In rem </a:t>
            </a:r>
            <a:r>
              <a:rPr lang="en-US" dirty="0"/>
              <a:t>jurisdiction - territorial</a:t>
            </a:r>
          </a:p>
          <a:p>
            <a:pPr marL="514350" indent="-514350">
              <a:buAutoNum type="arabicPeriod"/>
            </a:pPr>
            <a:r>
              <a:rPr lang="en-US" i="1" dirty="0"/>
              <a:t>In personam </a:t>
            </a:r>
            <a:r>
              <a:rPr lang="en-US" dirty="0"/>
              <a:t>jurisdiction – domicile/habitual residence; in other case:</a:t>
            </a:r>
          </a:p>
          <a:p>
            <a:pPr lvl="1"/>
            <a:r>
              <a:rPr lang="en-US" i="1" dirty="0"/>
              <a:t>Submission to the jurisdiction</a:t>
            </a:r>
          </a:p>
        </p:txBody>
      </p:sp>
    </p:spTree>
    <p:extLst>
      <p:ext uri="{BB962C8B-B14F-4D97-AF65-F5344CB8AC3E}">
        <p14:creationId xmlns:p14="http://schemas.microsoft.com/office/powerpoint/2010/main" val="1480675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E9F2-E839-BF98-D44D-F88C84B4C67E}"/>
              </a:ext>
            </a:extLst>
          </p:cNvPr>
          <p:cNvSpPr>
            <a:spLocks noGrp="1"/>
          </p:cNvSpPr>
          <p:nvPr>
            <p:ph type="title"/>
          </p:nvPr>
        </p:nvSpPr>
        <p:spPr/>
        <p:txBody>
          <a:bodyPr/>
          <a:lstStyle/>
          <a:p>
            <a:r>
              <a:rPr lang="en-US" dirty="0"/>
              <a:t>FORUM AND RELATED TOPIC	</a:t>
            </a:r>
          </a:p>
        </p:txBody>
      </p:sp>
      <p:sp>
        <p:nvSpPr>
          <p:cNvPr id="3" name="Content Placeholder 2">
            <a:extLst>
              <a:ext uri="{FF2B5EF4-FFF2-40B4-BE49-F238E27FC236}">
                <a16:creationId xmlns:a16="http://schemas.microsoft.com/office/drawing/2014/main" id="{52A1C8D2-DAEB-1DF6-4F1E-6BBECDBAD65C}"/>
              </a:ext>
            </a:extLst>
          </p:cNvPr>
          <p:cNvSpPr>
            <a:spLocks noGrp="1"/>
          </p:cNvSpPr>
          <p:nvPr>
            <p:ph idx="1"/>
          </p:nvPr>
        </p:nvSpPr>
        <p:spPr/>
        <p:txBody>
          <a:bodyPr/>
          <a:lstStyle/>
          <a:p>
            <a:pPr marL="514350" indent="-514350">
              <a:buFont typeface="+mj-lt"/>
              <a:buAutoNum type="arabicPeriod"/>
            </a:pPr>
            <a:r>
              <a:rPr lang="en-US" dirty="0"/>
              <a:t>Meaning of forum</a:t>
            </a:r>
          </a:p>
          <a:p>
            <a:pPr marL="514350" indent="-514350">
              <a:buFont typeface="+mj-lt"/>
              <a:buAutoNum type="arabicPeriod"/>
            </a:pPr>
            <a:r>
              <a:rPr lang="en-US" dirty="0"/>
              <a:t>Forum shopping </a:t>
            </a:r>
          </a:p>
          <a:p>
            <a:pPr marL="514350" indent="-514350">
              <a:buFont typeface="+mj-lt"/>
              <a:buAutoNum type="arabicPeriod"/>
            </a:pPr>
            <a:r>
              <a:rPr lang="en-US" dirty="0"/>
              <a:t>Doctrine of forum non conveniens </a:t>
            </a:r>
          </a:p>
        </p:txBody>
      </p:sp>
    </p:spTree>
    <p:extLst>
      <p:ext uri="{BB962C8B-B14F-4D97-AF65-F5344CB8AC3E}">
        <p14:creationId xmlns:p14="http://schemas.microsoft.com/office/powerpoint/2010/main" val="3591962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0BFB8-9B4E-AEA3-D52A-DB818C487B42}"/>
              </a:ext>
            </a:extLst>
          </p:cNvPr>
          <p:cNvSpPr>
            <a:spLocks noGrp="1"/>
          </p:cNvSpPr>
          <p:nvPr>
            <p:ph type="title"/>
          </p:nvPr>
        </p:nvSpPr>
        <p:spPr/>
        <p:txBody>
          <a:bodyPr/>
          <a:lstStyle/>
          <a:p>
            <a:r>
              <a:rPr lang="en-US" dirty="0"/>
              <a:t>2. CHOICE OF LAW</a:t>
            </a:r>
          </a:p>
        </p:txBody>
      </p:sp>
      <p:sp>
        <p:nvSpPr>
          <p:cNvPr id="3" name="Content Placeholder 2">
            <a:extLst>
              <a:ext uri="{FF2B5EF4-FFF2-40B4-BE49-F238E27FC236}">
                <a16:creationId xmlns:a16="http://schemas.microsoft.com/office/drawing/2014/main" id="{A74638B0-8880-716B-7E4F-F0F999FCE504}"/>
              </a:ext>
            </a:extLst>
          </p:cNvPr>
          <p:cNvSpPr>
            <a:spLocks noGrp="1"/>
          </p:cNvSpPr>
          <p:nvPr>
            <p:ph idx="1"/>
          </p:nvPr>
        </p:nvSpPr>
        <p:spPr/>
        <p:txBody>
          <a:bodyPr>
            <a:normAutofit fontScale="85000" lnSpcReduction="10000"/>
          </a:bodyPr>
          <a:lstStyle/>
          <a:p>
            <a:pPr marL="0" indent="0">
              <a:buNone/>
            </a:pPr>
            <a:r>
              <a:rPr lang="en-US" dirty="0"/>
              <a:t>SITUATION	</a:t>
            </a:r>
          </a:p>
          <a:p>
            <a:r>
              <a:rPr lang="en-US" dirty="0"/>
              <a:t>A Norwegian woman who married a Nepali, died in Nepal living a will in </a:t>
            </a:r>
            <a:r>
              <a:rPr lang="en-US" dirty="0" err="1"/>
              <a:t>favour</a:t>
            </a:r>
            <a:r>
              <a:rPr lang="en-US" dirty="0"/>
              <a:t> of her son of previous Norwegian husband, covering the properties situated both in Nepal and Norway. The will is valid in Norway but invalid in Nepal, how to determine the dispute?</a:t>
            </a:r>
          </a:p>
          <a:p>
            <a:r>
              <a:rPr lang="en-US" dirty="0"/>
              <a:t>A boy married another boy in The Netherlands, and the one sought a dependent visa in Hong Kong where same sex marriage is not allowed, the case approach to the court. </a:t>
            </a:r>
          </a:p>
          <a:p>
            <a:r>
              <a:rPr lang="en-US" dirty="0"/>
              <a:t>A Nepali died leaving property in Germany, under the law of which it must be divided between wife and children but under Nepali legal system all the property goes to the wife.</a:t>
            </a:r>
          </a:p>
        </p:txBody>
      </p:sp>
    </p:spTree>
    <p:extLst>
      <p:ext uri="{BB962C8B-B14F-4D97-AF65-F5344CB8AC3E}">
        <p14:creationId xmlns:p14="http://schemas.microsoft.com/office/powerpoint/2010/main" val="3570317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FB5-660D-5828-4D60-B9E84A8EF68E}"/>
              </a:ext>
            </a:extLst>
          </p:cNvPr>
          <p:cNvSpPr>
            <a:spLocks noGrp="1"/>
          </p:cNvSpPr>
          <p:nvPr>
            <p:ph type="title"/>
          </p:nvPr>
        </p:nvSpPr>
        <p:spPr/>
        <p:txBody>
          <a:bodyPr/>
          <a:lstStyle/>
          <a:p>
            <a:r>
              <a:rPr lang="en-US" dirty="0"/>
              <a:t>TECHNIQUES FOR SELECTING RIGHT LAWS</a:t>
            </a:r>
          </a:p>
        </p:txBody>
      </p:sp>
      <p:sp>
        <p:nvSpPr>
          <p:cNvPr id="3" name="Content Placeholder 2">
            <a:extLst>
              <a:ext uri="{FF2B5EF4-FFF2-40B4-BE49-F238E27FC236}">
                <a16:creationId xmlns:a16="http://schemas.microsoft.com/office/drawing/2014/main" id="{295283FF-95D3-001C-799D-F6E8BE8A2236}"/>
              </a:ext>
            </a:extLst>
          </p:cNvPr>
          <p:cNvSpPr>
            <a:spLocks noGrp="1"/>
          </p:cNvSpPr>
          <p:nvPr>
            <p:ph idx="1"/>
          </p:nvPr>
        </p:nvSpPr>
        <p:spPr/>
        <p:txBody>
          <a:bodyPr>
            <a:normAutofit lnSpcReduction="10000"/>
          </a:bodyPr>
          <a:lstStyle/>
          <a:p>
            <a:pPr marL="0" indent="0">
              <a:buNone/>
            </a:pPr>
            <a:r>
              <a:rPr lang="en-US" dirty="0"/>
              <a:t>1. Classification of Couse of Action </a:t>
            </a:r>
          </a:p>
          <a:p>
            <a:pPr lvl="1"/>
            <a:r>
              <a:rPr lang="en-US" dirty="0"/>
              <a:t>What is the actual dispute about? (the main characteristics of the case) </a:t>
            </a:r>
          </a:p>
          <a:p>
            <a:pPr marL="457200" lvl="1" indent="0">
              <a:buNone/>
            </a:pPr>
            <a:r>
              <a:rPr lang="en-US" dirty="0"/>
              <a:t>For example: whether the dispute is related to contract or to succession</a:t>
            </a:r>
          </a:p>
          <a:p>
            <a:pPr marL="0" indent="0">
              <a:buNone/>
            </a:pPr>
            <a:r>
              <a:rPr lang="en-US" dirty="0"/>
              <a:t>2. Connecting factors: </a:t>
            </a:r>
            <a:r>
              <a:rPr lang="en-GB" i="1" dirty="0"/>
              <a:t>a link between the governing law and an event, an object or a person in question</a:t>
            </a:r>
            <a:endParaRPr lang="en-US" dirty="0"/>
          </a:p>
          <a:p>
            <a:pPr lvl="1"/>
            <a:r>
              <a:rPr lang="en-US" dirty="0"/>
              <a:t>Personal connecting factors: </a:t>
            </a:r>
            <a:r>
              <a:rPr lang="en-US" i="1" dirty="0"/>
              <a:t>habitual residence/domicile/nationality</a:t>
            </a:r>
          </a:p>
          <a:p>
            <a:pPr lvl="1"/>
            <a:r>
              <a:rPr lang="en-US" dirty="0"/>
              <a:t>Casual connecting factors: </a:t>
            </a:r>
            <a:r>
              <a:rPr lang="en-US" i="1" dirty="0"/>
              <a:t>territory where property is situated/where an accident occurred/ where marriage was taken place/where contract was created</a:t>
            </a:r>
            <a:endParaRPr lang="en-US" dirty="0"/>
          </a:p>
          <a:p>
            <a:pPr marL="457200" lvl="1" indent="0">
              <a:buNone/>
            </a:pPr>
            <a:endParaRPr lang="en-US" dirty="0"/>
          </a:p>
        </p:txBody>
      </p:sp>
    </p:spTree>
    <p:extLst>
      <p:ext uri="{BB962C8B-B14F-4D97-AF65-F5344CB8AC3E}">
        <p14:creationId xmlns:p14="http://schemas.microsoft.com/office/powerpoint/2010/main" val="2397644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C2F68-065E-5B48-0FA1-625B842D3DE5}"/>
              </a:ext>
            </a:extLst>
          </p:cNvPr>
          <p:cNvSpPr>
            <a:spLocks noGrp="1"/>
          </p:cNvSpPr>
          <p:nvPr>
            <p:ph type="title"/>
          </p:nvPr>
        </p:nvSpPr>
        <p:spPr/>
        <p:txBody>
          <a:bodyPr/>
          <a:lstStyle/>
          <a:p>
            <a:r>
              <a:rPr lang="en-US" dirty="0"/>
              <a:t>FORMULA TO CONNECT RIGHT LEGAL SYSTEM</a:t>
            </a:r>
          </a:p>
        </p:txBody>
      </p:sp>
      <p:sp>
        <p:nvSpPr>
          <p:cNvPr id="3" name="Content Placeholder 2">
            <a:extLst>
              <a:ext uri="{FF2B5EF4-FFF2-40B4-BE49-F238E27FC236}">
                <a16:creationId xmlns:a16="http://schemas.microsoft.com/office/drawing/2014/main" id="{68D14A04-9867-5105-AED9-48C346BB4F9A}"/>
              </a:ext>
            </a:extLst>
          </p:cNvPr>
          <p:cNvSpPr>
            <a:spLocks noGrp="1"/>
          </p:cNvSpPr>
          <p:nvPr>
            <p:ph idx="1"/>
          </p:nvPr>
        </p:nvSpPr>
        <p:spPr/>
        <p:txBody>
          <a:bodyPr>
            <a:normAutofit/>
          </a:bodyPr>
          <a:lstStyle/>
          <a:p>
            <a:r>
              <a:rPr lang="en-GB" i="1" dirty="0"/>
              <a:t>lex loci </a:t>
            </a:r>
            <a:r>
              <a:rPr lang="en-GB" i="1" dirty="0" err="1"/>
              <a:t>contractus</a:t>
            </a:r>
            <a:r>
              <a:rPr lang="en-GB" i="1" dirty="0"/>
              <a:t> </a:t>
            </a:r>
            <a:endParaRPr lang="en-GB" dirty="0"/>
          </a:p>
          <a:p>
            <a:r>
              <a:rPr lang="en-GB" i="1" dirty="0"/>
              <a:t>lex loci actus</a:t>
            </a:r>
            <a:endParaRPr lang="en-GB" dirty="0"/>
          </a:p>
          <a:p>
            <a:r>
              <a:rPr lang="en-GB" i="1" dirty="0"/>
              <a:t>lex loci </a:t>
            </a:r>
            <a:r>
              <a:rPr lang="en-GB" i="1" dirty="0" err="1"/>
              <a:t>celebrationis</a:t>
            </a:r>
            <a:endParaRPr lang="en-GB" dirty="0"/>
          </a:p>
          <a:p>
            <a:r>
              <a:rPr lang="en-GB" i="1" dirty="0"/>
              <a:t>lex </a:t>
            </a:r>
            <a:r>
              <a:rPr lang="en-GB" i="1" dirty="0" err="1"/>
              <a:t>incorporationis</a:t>
            </a:r>
            <a:endParaRPr lang="en-GB" dirty="0"/>
          </a:p>
          <a:p>
            <a:r>
              <a:rPr lang="en-GB" i="1" dirty="0"/>
              <a:t>lex loci delicti </a:t>
            </a:r>
            <a:r>
              <a:rPr lang="en-GB" i="1" dirty="0" err="1"/>
              <a:t>commiss</a:t>
            </a:r>
            <a:r>
              <a:rPr lang="en-GB" i="1" dirty="0"/>
              <a:t> </a:t>
            </a:r>
            <a:endParaRPr lang="en-GB" dirty="0"/>
          </a:p>
          <a:p>
            <a:r>
              <a:rPr lang="en-US" i="1" dirty="0"/>
              <a:t>l</a:t>
            </a:r>
            <a:r>
              <a:rPr lang="en-US" dirty="0"/>
              <a:t>ex </a:t>
            </a:r>
            <a:r>
              <a:rPr lang="en-US" i="1" dirty="0"/>
              <a:t>situs</a:t>
            </a:r>
          </a:p>
          <a:p>
            <a:r>
              <a:rPr lang="en-US" i="1" dirty="0"/>
              <a:t>Lex </a:t>
            </a:r>
            <a:r>
              <a:rPr lang="en-US" i="1" dirty="0" err="1"/>
              <a:t>domicilii</a:t>
            </a:r>
            <a:endParaRPr lang="en-US" i="1" dirty="0"/>
          </a:p>
          <a:p>
            <a:r>
              <a:rPr lang="en-US" i="1" dirty="0"/>
              <a:t>Lex </a:t>
            </a:r>
            <a:r>
              <a:rPr lang="en-US" i="1" dirty="0" err="1"/>
              <a:t>patreae</a:t>
            </a:r>
            <a:endParaRPr lang="en-US" i="1" dirty="0"/>
          </a:p>
          <a:p>
            <a:endParaRPr lang="en-US" i="1" dirty="0"/>
          </a:p>
        </p:txBody>
      </p:sp>
    </p:spTree>
    <p:extLst>
      <p:ext uri="{BB962C8B-B14F-4D97-AF65-F5344CB8AC3E}">
        <p14:creationId xmlns:p14="http://schemas.microsoft.com/office/powerpoint/2010/main" val="2827402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F0A4-DCAE-F043-4C88-F57A6A6EFB99}"/>
              </a:ext>
            </a:extLst>
          </p:cNvPr>
          <p:cNvSpPr>
            <a:spLocks noGrp="1"/>
          </p:cNvSpPr>
          <p:nvPr>
            <p:ph type="title"/>
          </p:nvPr>
        </p:nvSpPr>
        <p:spPr/>
        <p:txBody>
          <a:bodyPr/>
          <a:lstStyle/>
          <a:p>
            <a:r>
              <a:rPr lang="en-US" dirty="0"/>
              <a:t>3. FOREIGN JUDGMENTS</a:t>
            </a:r>
          </a:p>
        </p:txBody>
      </p:sp>
      <p:sp>
        <p:nvSpPr>
          <p:cNvPr id="3" name="Content Placeholder 2">
            <a:extLst>
              <a:ext uri="{FF2B5EF4-FFF2-40B4-BE49-F238E27FC236}">
                <a16:creationId xmlns:a16="http://schemas.microsoft.com/office/drawing/2014/main" id="{D36B5528-40B5-A202-2ABB-981E762CF148}"/>
              </a:ext>
            </a:extLst>
          </p:cNvPr>
          <p:cNvSpPr>
            <a:spLocks noGrp="1"/>
          </p:cNvSpPr>
          <p:nvPr>
            <p:ph idx="1"/>
          </p:nvPr>
        </p:nvSpPr>
        <p:spPr/>
        <p:txBody>
          <a:bodyPr/>
          <a:lstStyle/>
          <a:p>
            <a:pPr marL="0" indent="0">
              <a:buNone/>
            </a:pPr>
            <a:r>
              <a:rPr lang="en-US" dirty="0"/>
              <a:t>TWO SITUATIONS WHERE QUESTIONS ARISES</a:t>
            </a:r>
          </a:p>
          <a:p>
            <a:pPr marL="514350" indent="-514350">
              <a:buAutoNum type="arabicPeriod"/>
            </a:pPr>
            <a:r>
              <a:rPr lang="en-US" dirty="0"/>
              <a:t>Actual case of recognition:</a:t>
            </a:r>
          </a:p>
          <a:p>
            <a:pPr lvl="1"/>
            <a:r>
              <a:rPr lang="en-US" dirty="0"/>
              <a:t>Where winning parties seek to enforce award granted by foreign tribunal</a:t>
            </a:r>
          </a:p>
          <a:p>
            <a:pPr lvl="1"/>
            <a:r>
              <a:rPr lang="en-US" dirty="0"/>
              <a:t>Recognition sought by loosing party where same case is opened in local court by the same petitioner</a:t>
            </a:r>
          </a:p>
          <a:p>
            <a:pPr marL="514350" indent="-514350">
              <a:buAutoNum type="arabicPeriod"/>
            </a:pPr>
            <a:r>
              <a:rPr lang="en-US" dirty="0"/>
              <a:t>Recognition as an incidental question</a:t>
            </a:r>
          </a:p>
          <a:p>
            <a:pPr marL="514350" indent="-514350">
              <a:buAutoNum type="arabicPeriod"/>
            </a:pPr>
            <a:endParaRPr lang="en-US" dirty="0"/>
          </a:p>
        </p:txBody>
      </p:sp>
    </p:spTree>
    <p:extLst>
      <p:ext uri="{BB962C8B-B14F-4D97-AF65-F5344CB8AC3E}">
        <p14:creationId xmlns:p14="http://schemas.microsoft.com/office/powerpoint/2010/main" val="2716170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7670C-5EFC-A68F-2F10-DD947C4F9738}"/>
              </a:ext>
            </a:extLst>
          </p:cNvPr>
          <p:cNvSpPr>
            <a:spLocks noGrp="1"/>
          </p:cNvSpPr>
          <p:nvPr>
            <p:ph type="title"/>
          </p:nvPr>
        </p:nvSpPr>
        <p:spPr/>
        <p:txBody>
          <a:bodyPr/>
          <a:lstStyle/>
          <a:p>
            <a:r>
              <a:rPr lang="en-US" dirty="0"/>
              <a:t>RULES OF RECOGNITION	</a:t>
            </a:r>
          </a:p>
        </p:txBody>
      </p:sp>
      <p:sp>
        <p:nvSpPr>
          <p:cNvPr id="3" name="Content Placeholder 2">
            <a:extLst>
              <a:ext uri="{FF2B5EF4-FFF2-40B4-BE49-F238E27FC236}">
                <a16:creationId xmlns:a16="http://schemas.microsoft.com/office/drawing/2014/main" id="{87A57AC4-20BF-EE13-179B-3744E52D6E5F}"/>
              </a:ext>
            </a:extLst>
          </p:cNvPr>
          <p:cNvSpPr>
            <a:spLocks noGrp="1"/>
          </p:cNvSpPr>
          <p:nvPr>
            <p:ph idx="1"/>
          </p:nvPr>
        </p:nvSpPr>
        <p:spPr/>
        <p:txBody>
          <a:bodyPr/>
          <a:lstStyle/>
          <a:p>
            <a:pPr marL="0" indent="0">
              <a:buNone/>
            </a:pPr>
            <a:r>
              <a:rPr lang="en-US" dirty="0"/>
              <a:t>For recognition, the judgment must be: </a:t>
            </a:r>
          </a:p>
          <a:p>
            <a:pPr marL="514350" indent="-514350">
              <a:buFont typeface="+mj-lt"/>
              <a:buAutoNum type="arabicPeriod"/>
            </a:pPr>
            <a:r>
              <a:rPr lang="en-US" dirty="0"/>
              <a:t>Enforceable in the court of origin</a:t>
            </a:r>
          </a:p>
          <a:p>
            <a:pPr marL="514350" indent="-514350">
              <a:buFont typeface="+mj-lt"/>
              <a:buAutoNum type="arabicPeriod"/>
            </a:pPr>
            <a:r>
              <a:rPr lang="en-US" dirty="0"/>
              <a:t>Final in the court of origin </a:t>
            </a:r>
          </a:p>
          <a:p>
            <a:pPr marL="514350" indent="-514350">
              <a:buFont typeface="+mj-lt"/>
              <a:buAutoNum type="arabicPeriod"/>
            </a:pPr>
            <a:r>
              <a:rPr lang="en-US" dirty="0"/>
              <a:t>Rendered by competent court</a:t>
            </a:r>
          </a:p>
          <a:p>
            <a:pPr marL="0" indent="0">
              <a:buNone/>
            </a:pPr>
            <a:r>
              <a:rPr lang="en-US" dirty="0"/>
              <a:t>Therefore: </a:t>
            </a:r>
          </a:p>
          <a:p>
            <a:pPr marL="0" indent="0">
              <a:buNone/>
            </a:pPr>
            <a:r>
              <a:rPr lang="en-US" i="1" dirty="0"/>
              <a:t>Merit cannot be tested in requested court (forum court)</a:t>
            </a:r>
          </a:p>
          <a:p>
            <a:pPr marL="514350" indent="-514350">
              <a:buFont typeface="+mj-lt"/>
              <a:buAutoNum type="arabicPeriod"/>
            </a:pPr>
            <a:endParaRPr lang="en-US" dirty="0"/>
          </a:p>
        </p:txBody>
      </p:sp>
    </p:spTree>
    <p:extLst>
      <p:ext uri="{BB962C8B-B14F-4D97-AF65-F5344CB8AC3E}">
        <p14:creationId xmlns:p14="http://schemas.microsoft.com/office/powerpoint/2010/main" val="2373196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249EA-030E-18AF-E9F5-6D8B78BEB6EE}"/>
              </a:ext>
            </a:extLst>
          </p:cNvPr>
          <p:cNvSpPr>
            <a:spLocks noGrp="1"/>
          </p:cNvSpPr>
          <p:nvPr>
            <p:ph type="title"/>
          </p:nvPr>
        </p:nvSpPr>
        <p:spPr/>
        <p:txBody>
          <a:bodyPr/>
          <a:lstStyle/>
          <a:p>
            <a:r>
              <a:rPr lang="en-US" dirty="0"/>
              <a:t>RULES FOR NON-RECOGNITION</a:t>
            </a:r>
          </a:p>
        </p:txBody>
      </p:sp>
      <p:sp>
        <p:nvSpPr>
          <p:cNvPr id="3" name="Content Placeholder 2">
            <a:extLst>
              <a:ext uri="{FF2B5EF4-FFF2-40B4-BE49-F238E27FC236}">
                <a16:creationId xmlns:a16="http://schemas.microsoft.com/office/drawing/2014/main" id="{094AEA36-1564-CA97-3F5A-72E04923920E}"/>
              </a:ext>
            </a:extLst>
          </p:cNvPr>
          <p:cNvSpPr>
            <a:spLocks noGrp="1"/>
          </p:cNvSpPr>
          <p:nvPr>
            <p:ph idx="1"/>
          </p:nvPr>
        </p:nvSpPr>
        <p:spPr/>
        <p:txBody>
          <a:bodyPr/>
          <a:lstStyle/>
          <a:p>
            <a:pPr marL="0" indent="0">
              <a:buNone/>
            </a:pPr>
            <a:r>
              <a:rPr lang="en-US" dirty="0"/>
              <a:t>Recognition be refused if </a:t>
            </a:r>
          </a:p>
          <a:p>
            <a:pPr marL="514350" indent="-514350">
              <a:buAutoNum type="arabicPeriod"/>
            </a:pPr>
            <a:r>
              <a:rPr lang="en-US" dirty="0"/>
              <a:t>Judgment was obtained fraudulently; </a:t>
            </a:r>
          </a:p>
          <a:p>
            <a:pPr marL="514350" indent="-514350">
              <a:buAutoNum type="arabicPeriod"/>
            </a:pPr>
            <a:r>
              <a:rPr lang="en-US" dirty="0"/>
              <a:t>Judgment was rendered against natural law; and </a:t>
            </a:r>
          </a:p>
          <a:p>
            <a:pPr marL="514350" indent="-514350">
              <a:buAutoNum type="arabicPeriod"/>
            </a:pPr>
            <a:r>
              <a:rPr lang="en-US" dirty="0"/>
              <a:t>If recognition would be against local public policy </a:t>
            </a:r>
          </a:p>
        </p:txBody>
      </p:sp>
    </p:spTree>
    <p:extLst>
      <p:ext uri="{BB962C8B-B14F-4D97-AF65-F5344CB8AC3E}">
        <p14:creationId xmlns:p14="http://schemas.microsoft.com/office/powerpoint/2010/main" val="3069902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F13DC-36C6-048F-13F8-88697174ABCB}"/>
              </a:ext>
            </a:extLst>
          </p:cNvPr>
          <p:cNvSpPr>
            <a:spLocks noGrp="1"/>
          </p:cNvSpPr>
          <p:nvPr>
            <p:ph type="title"/>
          </p:nvPr>
        </p:nvSpPr>
        <p:spPr/>
        <p:txBody>
          <a:bodyPr/>
          <a:lstStyle/>
          <a:p>
            <a:r>
              <a:rPr lang="en-US" dirty="0"/>
              <a:t>REFERENCE </a:t>
            </a:r>
          </a:p>
        </p:txBody>
      </p:sp>
      <p:sp>
        <p:nvSpPr>
          <p:cNvPr id="3" name="Content Placeholder 2">
            <a:extLst>
              <a:ext uri="{FF2B5EF4-FFF2-40B4-BE49-F238E27FC236}">
                <a16:creationId xmlns:a16="http://schemas.microsoft.com/office/drawing/2014/main" id="{C93FFB3F-7D38-D104-3AAA-BBD1E4068B68}"/>
              </a:ext>
            </a:extLst>
          </p:cNvPr>
          <p:cNvSpPr>
            <a:spLocks noGrp="1"/>
          </p:cNvSpPr>
          <p:nvPr>
            <p:ph idx="1"/>
          </p:nvPr>
        </p:nvSpPr>
        <p:spPr/>
        <p:txBody>
          <a:bodyPr/>
          <a:lstStyle/>
          <a:p>
            <a:pPr marL="0" indent="0">
              <a:buNone/>
            </a:pPr>
            <a:r>
              <a:rPr lang="en-US" dirty="0"/>
              <a:t>1. Instruments developed by the Hague Conference on Private International Law (HCCH) including: </a:t>
            </a:r>
          </a:p>
          <a:p>
            <a:pPr lvl="1"/>
            <a:r>
              <a:rPr lang="en-US" dirty="0"/>
              <a:t>Choice of Court Convention 2005</a:t>
            </a:r>
          </a:p>
          <a:p>
            <a:pPr lvl="1"/>
            <a:r>
              <a:rPr lang="en-US" dirty="0"/>
              <a:t>Judgment Convention 2019</a:t>
            </a:r>
          </a:p>
          <a:p>
            <a:pPr lvl="1"/>
            <a:r>
              <a:rPr lang="en-GB" dirty="0"/>
              <a:t>Choice of Law Principles in International Commercial Contract 2015</a:t>
            </a:r>
          </a:p>
          <a:p>
            <a:pPr marL="0" indent="0">
              <a:buNone/>
            </a:pPr>
            <a:r>
              <a:rPr lang="en-GB" dirty="0"/>
              <a:t>2. EU Regulations</a:t>
            </a:r>
          </a:p>
          <a:p>
            <a:pPr marL="0" indent="0">
              <a:buNone/>
            </a:pPr>
            <a:r>
              <a:rPr lang="en-GB" dirty="0"/>
              <a:t>3. Nepali Legislations:</a:t>
            </a:r>
          </a:p>
          <a:p>
            <a:pPr marL="457200" lvl="1" indent="0">
              <a:buNone/>
            </a:pPr>
            <a:r>
              <a:rPr lang="en-GB" dirty="0"/>
              <a:t>The National Civil Code 2017, Part VI</a:t>
            </a:r>
          </a:p>
          <a:p>
            <a:pPr marL="457200" lvl="1" indent="0">
              <a:buNone/>
            </a:pPr>
            <a:r>
              <a:rPr lang="en-GB" dirty="0"/>
              <a:t>The Mutual Legal Assistance Act 2014, Section 37</a:t>
            </a:r>
          </a:p>
          <a:p>
            <a:pPr marL="0" indent="0">
              <a:buNone/>
            </a:pPr>
            <a:endParaRPr lang="en-US" dirty="0"/>
          </a:p>
        </p:txBody>
      </p:sp>
    </p:spTree>
    <p:extLst>
      <p:ext uri="{BB962C8B-B14F-4D97-AF65-F5344CB8AC3E}">
        <p14:creationId xmlns:p14="http://schemas.microsoft.com/office/powerpoint/2010/main" val="256513605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282</TotalTime>
  <Words>725</Words>
  <Application>Microsoft Macintosh PowerPoint</Application>
  <PresentationFormat>On-screen Show (4:3)</PresentationFormat>
  <Paragraphs>78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Application of Private International Law in a Dispute</vt:lpstr>
      <vt:lpstr>PRIVATE INTERNATIONAL LAW: SCOPES</vt:lpstr>
      <vt:lpstr>2. JURISDICTION</vt:lpstr>
      <vt:lpstr>PowerPoint Presentation</vt:lpstr>
      <vt:lpstr>QUESTION OF JURISDICTION &amp; RULES</vt:lpstr>
      <vt:lpstr>FORUM AND RELATED TOPIC </vt:lpstr>
      <vt:lpstr>2. CHOICE OF LAW</vt:lpstr>
      <vt:lpstr>TECHNIQUES FOR SELECTING RIGHT LAWS</vt:lpstr>
      <vt:lpstr>FORMULA TO CONNECT RIGHT LEGAL SYSTEM</vt:lpstr>
      <vt:lpstr>3. FOREIGN JUDGMENTS</vt:lpstr>
      <vt:lpstr>RULES OF RECOGNITION </vt:lpstr>
      <vt:lpstr>RULES FOR NON-RECOGNITION</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6</cp:revision>
  <dcterms:created xsi:type="dcterms:W3CDTF">2026-01-21T02:48:26Z</dcterms:created>
  <dcterms:modified xsi:type="dcterms:W3CDTF">2026-01-22T03:26:01Z</dcterms:modified>
</cp:coreProperties>
</file>