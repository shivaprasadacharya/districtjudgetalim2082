
<file path=[Content_Types].xml><?xml version="1.0" encoding="utf-8"?>
<Types xmlns="http://schemas.openxmlformats.org/package/2006/content-types">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68" r:id="rId1"/>
  </p:sldMasterIdLst>
  <p:sldIdLst>
    <p:sldId id="256" r:id="rId2"/>
    <p:sldId id="257" r:id="rId3"/>
    <p:sldId id="326" r:id="rId4"/>
    <p:sldId id="258" r:id="rId5"/>
    <p:sldId id="295" r:id="rId6"/>
    <p:sldId id="296" r:id="rId7"/>
    <p:sldId id="297" r:id="rId8"/>
    <p:sldId id="330" r:id="rId9"/>
    <p:sldId id="272" r:id="rId10"/>
    <p:sldId id="327" r:id="rId11"/>
    <p:sldId id="318" r:id="rId12"/>
    <p:sldId id="328" r:id="rId13"/>
    <p:sldId id="331" r:id="rId14"/>
    <p:sldId id="332" r:id="rId15"/>
    <p:sldId id="337" r:id="rId16"/>
    <p:sldId id="333" r:id="rId17"/>
    <p:sldId id="334" r:id="rId18"/>
    <p:sldId id="335" r:id="rId19"/>
    <p:sldId id="336" r:id="rId20"/>
    <p:sldId id="338" r:id="rId21"/>
    <p:sldId id="339" r:id="rId22"/>
    <p:sldId id="340" r:id="rId23"/>
    <p:sldId id="283" r:id="rId24"/>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7" autoAdjust="0"/>
    <p:restoredTop sz="94660"/>
  </p:normalViewPr>
  <p:slideViewPr>
    <p:cSldViewPr snapToGrid="0">
      <p:cViewPr varScale="1">
        <p:scale>
          <a:sx n="69" d="100"/>
          <a:sy n="69" d="100"/>
        </p:scale>
        <p:origin x="564" y="52"/>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theme" Target="theme/theme1.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914400" y="2130428"/>
            <a:ext cx="103632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828800" y="3886200"/>
            <a:ext cx="85344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pPr/>
              <a:t>1/20/2026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pPr/>
              <a:t>1/20/2026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963084" y="4406903"/>
            <a:ext cx="103632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963084" y="2906713"/>
            <a:ext cx="103632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B61BEF0D-F0BB-DE4B-95CE-6DB70DBA9567}" type="datetimeFigureOut">
              <a:rPr lang="en-US" smtClean="0"/>
              <a:pPr/>
              <a:t>1/20/2026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812800" y="1600203"/>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8229600" y="1600203"/>
            <a:ext cx="7213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EB712588-04B1-427B-82EE-E8DB90309F08}" type="datetimeFigureOut">
              <a:rPr lang="en-US" smtClean="0"/>
              <a:pPr/>
              <a:t>1/20/2026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6FF9F0C5-380F-41C2-899A-BAC0F0927E16}" type="slidenum">
              <a:rPr lang="en-US" smtClean="0"/>
              <a:pPr/>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1143000"/>
          </a:xfrm>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609600" y="1535113"/>
            <a:ext cx="5386917"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609600" y="2174875"/>
            <a:ext cx="5386917"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6193369" y="1535113"/>
            <a:ext cx="5389033"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93369" y="2174875"/>
            <a:ext cx="5389033"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B61BEF0D-F0BB-DE4B-95CE-6DB70DBA9567}" type="datetimeFigureOut">
              <a:rPr lang="en-US" smtClean="0"/>
              <a:pPr/>
              <a:t>1/20/2026</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B61BEF0D-F0BB-DE4B-95CE-6DB70DBA9567}" type="datetimeFigureOut">
              <a:rPr lang="en-US" smtClean="0"/>
              <a:pPr/>
              <a:t>1/20/2026</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B61BEF0D-F0BB-DE4B-95CE-6DB70DBA9567}" type="datetimeFigureOut">
              <a:rPr lang="en-US" smtClean="0"/>
              <a:pPr/>
              <a:t>1/20/2026</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09602" y="273050"/>
            <a:ext cx="4011084"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4766733" y="273053"/>
            <a:ext cx="6815667"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609602" y="1435103"/>
            <a:ext cx="4011084"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42A54C80-263E-416B-A8E0-580EDEADCBDC}" type="datetimeFigureOut">
              <a:rPr lang="en-US" smtClean="0"/>
              <a:pPr/>
              <a:t>1/20/2026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519954A3-9DFD-4C44-94BA-B95130A3BA1C}" type="slidenum">
              <a:rPr lang="en-US" smtClean="0"/>
              <a:pPr/>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389717" y="4800600"/>
            <a:ext cx="73152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2389717" y="612775"/>
            <a:ext cx="73152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2389717" y="5367338"/>
            <a:ext cx="73152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61BEF0D-F0BB-DE4B-95CE-6DB70DBA9567}" type="datetimeFigureOut">
              <a:rPr lang="en-US" smtClean="0"/>
              <a:pPr/>
              <a:t>1/20/2026</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5C6B4A9-1611-4792-9094-5F34BCA07E0B}" type="datetimeFigureOut">
              <a:rPr lang="en-US" smtClean="0"/>
              <a:pPr/>
              <a:t>1/20/2026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89333C77-0158-454C-844F-B7AB9BD7DAD4}" type="slidenum">
              <a:rPr lang="en-US" smtClean="0"/>
              <a:pPr/>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1785600" y="274641"/>
            <a:ext cx="36576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812800" y="274641"/>
            <a:ext cx="107696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B61BEF0D-F0BB-DE4B-95CE-6DB70DBA9567}" type="datetimeFigureOut">
              <a:rPr lang="en-US" smtClean="0"/>
              <a:pPr/>
              <a:t>1/20/2026</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D57F1E4F-1CFF-5643-939E-217C01CDF565}" type="slidenum">
              <a:rPr lang="en-US" smtClean="0"/>
              <a:pPr/>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09600" y="274638"/>
            <a:ext cx="109728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609600" y="1600203"/>
            <a:ext cx="109728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609600" y="6356353"/>
            <a:ext cx="28448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B61BEF0D-F0BB-DE4B-95CE-6DB70DBA9567}" type="datetimeFigureOut">
              <a:rPr lang="en-US" smtClean="0"/>
              <a:pPr/>
              <a:t>1/20/2026</a:t>
            </a:fld>
            <a:endParaRPr lang="en-US" dirty="0"/>
          </a:p>
        </p:txBody>
      </p:sp>
      <p:sp>
        <p:nvSpPr>
          <p:cNvPr id="5" name="Footer Placeholder 4"/>
          <p:cNvSpPr>
            <a:spLocks noGrp="1"/>
          </p:cNvSpPr>
          <p:nvPr>
            <p:ph type="ftr" sz="quarter" idx="3"/>
          </p:nvPr>
        </p:nvSpPr>
        <p:spPr>
          <a:xfrm>
            <a:off x="4165600" y="6356353"/>
            <a:ext cx="3860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dirty="0"/>
          </a:p>
        </p:txBody>
      </p:sp>
      <p:sp>
        <p:nvSpPr>
          <p:cNvPr id="6" name="Slide Number Placeholder 5"/>
          <p:cNvSpPr>
            <a:spLocks noGrp="1"/>
          </p:cNvSpPr>
          <p:nvPr>
            <p:ph type="sldNum" sz="quarter" idx="4"/>
          </p:nvPr>
        </p:nvSpPr>
        <p:spPr>
          <a:xfrm>
            <a:off x="8737600" y="6356353"/>
            <a:ext cx="28448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D57F1E4F-1CFF-5643-939E-217C01CDF565}" type="slidenum">
              <a:rPr lang="en-US" smtClean="0"/>
              <a:pPr/>
              <a:t>‹#›</a:t>
            </a:fld>
            <a:endParaRPr lang="en-US" dirty="0"/>
          </a:p>
        </p:txBody>
      </p:sp>
    </p:spTree>
  </p:cSld>
  <p:clrMap bg1="lt1" tx1="dk1" bg2="lt2" tx2="dk2" accent1="accent1" accent2="accent2" accent3="accent3" accent4="accent4" accent5="accent5" accent6="accent6" hlink="hlink" folHlink="folHlink"/>
  <p:sldLayoutIdLst>
    <p:sldLayoutId id="2147483669" r:id="rId1"/>
    <p:sldLayoutId id="2147483670" r:id="rId2"/>
    <p:sldLayoutId id="2147483671" r:id="rId3"/>
    <p:sldLayoutId id="2147483672" r:id="rId4"/>
    <p:sldLayoutId id="2147483673" r:id="rId5"/>
    <p:sldLayoutId id="2147483674" r:id="rId6"/>
    <p:sldLayoutId id="2147483675" r:id="rId7"/>
    <p:sldLayoutId id="2147483676" r:id="rId8"/>
    <p:sldLayoutId id="2147483677" r:id="rId9"/>
    <p:sldLayoutId id="2147483678" r:id="rId10"/>
    <p:sldLayoutId id="214748367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hyperlink" Target="&#2360;&#2381;&#2357;&#2328;&#2379;&#2359;&#2339;&#2366;%20&#2347;&#2366;&#2352;&#2366;&#2350;.docx" TargetMode="Externa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hyperlink" Target="&#2360;&#2381;&#2357;&#2328;&#2379;&#2359;&#2339;&#2366;%20&#2347;&#2366;&#2352;&#2366;&#2350;.docx" TargetMode="Externa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745958" y="1112520"/>
            <a:ext cx="10745457" cy="2438400"/>
          </a:xfrm>
        </p:spPr>
        <p:txBody>
          <a:bodyPr/>
          <a:lstStyle/>
          <a:p>
            <a:pPr algn="ctr"/>
            <a:r>
              <a:rPr lang="ne-NP" b="1" dirty="0" smtClean="0">
                <a:solidFill>
                  <a:srgbClr val="0070C0"/>
                </a:solidFill>
                <a:latin typeface="Kokila" pitchFamily="34" charset="0"/>
                <a:cs typeface="Kalimati" panose="00000400000000000000" pitchFamily="2"/>
              </a:rPr>
              <a:t>फरक मुद्दा व्यवस्थापन </a:t>
            </a:r>
            <a:r>
              <a:rPr lang="en-US" b="1" dirty="0" smtClean="0">
                <a:solidFill>
                  <a:srgbClr val="0070C0"/>
                </a:solidFill>
                <a:latin typeface="Kokila" pitchFamily="34" charset="0"/>
                <a:cs typeface="Kalimati" panose="00000400000000000000" pitchFamily="2"/>
              </a:rPr>
              <a:t>(Differentiated Case Management System)</a:t>
            </a:r>
            <a:endParaRPr lang="en-AU" sz="3600" dirty="0">
              <a:solidFill>
                <a:srgbClr val="0070C0"/>
              </a:solidFill>
              <a:latin typeface="Kokila" pitchFamily="34" charset="0"/>
              <a:cs typeface="Kalimati" panose="00000400000000000000" pitchFamily="2"/>
            </a:endParaRPr>
          </a:p>
        </p:txBody>
      </p:sp>
      <p:sp>
        <p:nvSpPr>
          <p:cNvPr id="3" name="Subtitle 2"/>
          <p:cNvSpPr>
            <a:spLocks noGrp="1"/>
          </p:cNvSpPr>
          <p:nvPr>
            <p:ph type="subTitle" idx="1"/>
          </p:nvPr>
        </p:nvSpPr>
        <p:spPr>
          <a:xfrm>
            <a:off x="1507067" y="4050833"/>
            <a:ext cx="9997996" cy="2446220"/>
          </a:xfrm>
        </p:spPr>
        <p:txBody>
          <a:bodyPr>
            <a:noAutofit/>
          </a:bodyPr>
          <a:lstStyle/>
          <a:p>
            <a:endParaRPr lang="en-AU" sz="3600" b="1" dirty="0"/>
          </a:p>
          <a:p>
            <a:pPr algn="ctr"/>
            <a:r>
              <a:rPr lang="ne-NP" sz="3600" b="1" dirty="0" smtClean="0">
                <a:solidFill>
                  <a:srgbClr val="0070C0"/>
                </a:solidFill>
                <a:latin typeface="Kokila" pitchFamily="34" charset="0"/>
                <a:cs typeface="Kalimati" panose="00000400000000000000" pitchFamily="2"/>
              </a:rPr>
              <a:t>टेकप्रसाद ढुङ्गाना</a:t>
            </a:r>
          </a:p>
          <a:p>
            <a:pPr algn="ctr"/>
            <a:r>
              <a:rPr lang="ne-NP" sz="3600" b="1" dirty="0" smtClean="0">
                <a:solidFill>
                  <a:srgbClr val="0070C0"/>
                </a:solidFill>
                <a:latin typeface="Kokila" pitchFamily="34" charset="0"/>
                <a:cs typeface="Kalimati" panose="00000400000000000000" pitchFamily="2"/>
              </a:rPr>
              <a:t>न्यायाधीश</a:t>
            </a:r>
            <a:r>
              <a:rPr lang="en-US" sz="3600" b="1" dirty="0" smtClean="0">
                <a:solidFill>
                  <a:srgbClr val="0070C0"/>
                </a:solidFill>
                <a:latin typeface="Kokila" pitchFamily="34" charset="0"/>
                <a:cs typeface="Kalimati" panose="00000400000000000000" pitchFamily="2"/>
              </a:rPr>
              <a:t>,</a:t>
            </a:r>
            <a:r>
              <a:rPr lang="ne-NP" sz="3600" b="1" dirty="0" smtClean="0">
                <a:solidFill>
                  <a:srgbClr val="0070C0"/>
                </a:solidFill>
                <a:latin typeface="Kokila" pitchFamily="34" charset="0"/>
                <a:cs typeface="Kalimati" panose="00000400000000000000" pitchFamily="2"/>
              </a:rPr>
              <a:t> सर्वोच्च अदालत</a:t>
            </a:r>
          </a:p>
          <a:p>
            <a:pPr algn="ctr"/>
            <a:endParaRPr lang="en-AU" sz="3600" dirty="0"/>
          </a:p>
          <a:p>
            <a:endParaRPr lang="en-AU" sz="3600" dirty="0"/>
          </a:p>
          <a:p>
            <a:endParaRPr lang="en-AU" sz="3600" dirty="0"/>
          </a:p>
        </p:txBody>
      </p:sp>
    </p:spTree>
    <p:extLst>
      <p:ext uri="{BB962C8B-B14F-4D97-AF65-F5344CB8AC3E}">
        <p14:creationId xmlns:p14="http://schemas.microsoft.com/office/powerpoint/2010/main" val="196580248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3" y="609600"/>
            <a:ext cx="10704899" cy="579120"/>
          </a:xfrm>
        </p:spPr>
        <p:txBody>
          <a:bodyPr>
            <a:noAutofit/>
          </a:bodyPr>
          <a:lstStyle/>
          <a:p>
            <a:pPr algn="ctr"/>
            <a:r>
              <a:rPr lang="ne-NP" sz="3600" b="1" dirty="0" smtClean="0">
                <a:solidFill>
                  <a:srgbClr val="0070C0"/>
                </a:solidFill>
                <a:latin typeface="Kokila" pitchFamily="34" charset="0"/>
                <a:cs typeface="Kalimati" panose="00000400000000000000" pitchFamily="2"/>
              </a:rPr>
              <a:t>प्रस्तुतीको संरचना</a:t>
            </a:r>
            <a:endParaRPr lang="en-AU" sz="3600" b="1" dirty="0">
              <a:solidFill>
                <a:srgbClr val="0070C0"/>
              </a:solidFill>
              <a:latin typeface="Kokila" pitchFamily="34" charset="0"/>
              <a:cs typeface="Kalimati" panose="00000400000000000000" pitchFamily="2"/>
            </a:endParaRPr>
          </a:p>
        </p:txBody>
      </p:sp>
      <p:sp>
        <p:nvSpPr>
          <p:cNvPr id="3" name="Content Placeholder 2"/>
          <p:cNvSpPr>
            <a:spLocks noGrp="1"/>
          </p:cNvSpPr>
          <p:nvPr>
            <p:ph idx="1"/>
          </p:nvPr>
        </p:nvSpPr>
        <p:spPr>
          <a:xfrm>
            <a:off x="249382" y="1188720"/>
            <a:ext cx="11573163" cy="5296301"/>
          </a:xfrm>
        </p:spPr>
        <p:txBody>
          <a:bodyPr>
            <a:noAutofit/>
          </a:bodyPr>
          <a:lstStyle/>
          <a:p>
            <a:pPr marL="731520" lvl="2" indent="-274320">
              <a:buFont typeface="Wingdings" pitchFamily="2" charset="2"/>
              <a:buChar char="q"/>
            </a:pPr>
            <a:r>
              <a:rPr lang="ne-NP" altLang="en-US" sz="2600" b="1" dirty="0">
                <a:effectLst>
                  <a:outerShdw blurRad="38100" dist="38100" dir="2700000" algn="tl">
                    <a:srgbClr val="000000">
                      <a:alpha val="43137"/>
                    </a:srgbClr>
                  </a:outerShdw>
                </a:effectLst>
                <a:latin typeface="Kokila" panose="020B0604020202020204" pitchFamily="34" charset="0"/>
                <a:cs typeface="Kalimati" panose="00000400000000000000" pitchFamily="2"/>
              </a:rPr>
              <a:t>फरक मुद्दा व्यवस्थापनको अवधारणा</a:t>
            </a:r>
          </a:p>
          <a:p>
            <a:pPr marL="731520" lvl="2" indent="-274320">
              <a:buFont typeface="Wingdings" pitchFamily="2" charset="2"/>
              <a:buChar char="q"/>
            </a:pPr>
            <a:r>
              <a:rPr lang="ne-NP" altLang="en-US" sz="2800" b="1" dirty="0">
                <a:effectLst>
                  <a:outerShdw blurRad="38100" dist="38100" dir="2700000" algn="tl">
                    <a:srgbClr val="000000">
                      <a:alpha val="43137"/>
                    </a:srgbClr>
                  </a:outerShdw>
                </a:effectLst>
                <a:latin typeface="Kokila" panose="020B0604020202020204" pitchFamily="34" charset="0"/>
                <a:cs typeface="Kalimati" panose="00000400000000000000" pitchFamily="2"/>
              </a:rPr>
              <a:t>फरक मुद्दा व्यवस्थापनमा रहने मार्ग </a:t>
            </a:r>
            <a:r>
              <a:rPr lang="ne-NP" altLang="en-US" sz="2800" b="1" dirty="0" smtClean="0">
                <a:effectLst>
                  <a:outerShdw blurRad="38100" dist="38100" dir="2700000" algn="tl">
                    <a:srgbClr val="000000">
                      <a:alpha val="43137"/>
                    </a:srgbClr>
                  </a:outerShdw>
                </a:effectLst>
                <a:latin typeface="Kokila" panose="020B0604020202020204" pitchFamily="34" charset="0"/>
                <a:cs typeface="Kalimati" panose="00000400000000000000" pitchFamily="2"/>
              </a:rPr>
              <a:t>समूह</a:t>
            </a:r>
            <a:endParaRPr lang="en-US" altLang="en-US" sz="2800" b="1" dirty="0">
              <a:effectLst>
                <a:outerShdw blurRad="38100" dist="38100" dir="2700000" algn="tl">
                  <a:srgbClr val="000000">
                    <a:alpha val="43137"/>
                  </a:srgbClr>
                </a:outerShdw>
              </a:effectLst>
              <a:latin typeface="Kokila" panose="020B0604020202020204" pitchFamily="34" charset="0"/>
              <a:cs typeface="Kalimati" panose="00000400000000000000" pitchFamily="2"/>
            </a:endParaRPr>
          </a:p>
          <a:p>
            <a:pPr marL="731520" lvl="2" indent="-274320">
              <a:buFont typeface="Wingdings" pitchFamily="2" charset="2"/>
              <a:buChar char="q"/>
            </a:pPr>
            <a:r>
              <a:rPr lang="ne-NP" altLang="en-US" sz="2800" b="1" dirty="0">
                <a:effectLst>
                  <a:outerShdw blurRad="38100" dist="38100" dir="2700000" algn="tl">
                    <a:srgbClr val="000000">
                      <a:alpha val="43137"/>
                    </a:srgbClr>
                  </a:outerShdw>
                </a:effectLst>
                <a:latin typeface="Kokila" panose="020B0604020202020204" pitchFamily="34" charset="0"/>
                <a:cs typeface="Kalimati" panose="00000400000000000000" pitchFamily="2"/>
              </a:rPr>
              <a:t>नेपालमा फरक मुद्दा व्यवस्थापनको अवधारणागत विकास</a:t>
            </a:r>
          </a:p>
          <a:p>
            <a:pPr marL="731520" lvl="2" indent="-274320">
              <a:buFont typeface="Wingdings" pitchFamily="2" charset="2"/>
              <a:buChar char="q"/>
            </a:pPr>
            <a:r>
              <a:rPr lang="ne-NP" altLang="en-US" sz="2800" b="1" dirty="0">
                <a:effectLst>
                  <a:outerShdw blurRad="38100" dist="38100" dir="2700000" algn="tl">
                    <a:srgbClr val="000000">
                      <a:alpha val="43137"/>
                    </a:srgbClr>
                  </a:outerShdw>
                </a:effectLst>
                <a:latin typeface="Kokila" panose="020B0604020202020204" pitchFamily="34" charset="0"/>
                <a:cs typeface="Kalimati" panose="00000400000000000000" pitchFamily="2"/>
              </a:rPr>
              <a:t>फरक मुद्दा व्यवस्थापनका </a:t>
            </a:r>
            <a:r>
              <a:rPr lang="ne-NP" altLang="en-US" sz="2800" b="1" dirty="0" smtClean="0">
                <a:effectLst>
                  <a:outerShdw blurRad="38100" dist="38100" dir="2700000" algn="tl">
                    <a:srgbClr val="000000">
                      <a:alpha val="43137"/>
                    </a:srgbClr>
                  </a:outerShdw>
                </a:effectLst>
                <a:latin typeface="Kokila" panose="020B0604020202020204" pitchFamily="34" charset="0"/>
                <a:cs typeface="Kalimati" panose="00000400000000000000" pitchFamily="2"/>
              </a:rPr>
              <a:t>सम्बन्धमा</a:t>
            </a:r>
            <a:r>
              <a:rPr lang="en-US" altLang="en-US" sz="2800" b="1" dirty="0" smtClean="0">
                <a:effectLst>
                  <a:outerShdw blurRad="38100" dist="38100" dir="2700000" algn="tl">
                    <a:srgbClr val="000000">
                      <a:alpha val="43137"/>
                    </a:srgbClr>
                  </a:outerShdw>
                </a:effectLst>
                <a:latin typeface="Kokila" panose="020B0604020202020204" pitchFamily="34" charset="0"/>
                <a:cs typeface="Kalimati" panose="00000400000000000000" pitchFamily="2"/>
              </a:rPr>
              <a:t> </a:t>
            </a:r>
            <a:r>
              <a:rPr lang="ne-NP" altLang="en-US" sz="2800" b="1" dirty="0" smtClean="0">
                <a:effectLst>
                  <a:outerShdw blurRad="38100" dist="38100" dir="2700000" algn="tl">
                    <a:srgbClr val="000000">
                      <a:alpha val="43137"/>
                    </a:srgbClr>
                  </a:outerShdw>
                </a:effectLst>
                <a:latin typeface="Kokila" panose="020B0604020202020204" pitchFamily="34" charset="0"/>
                <a:cs typeface="Kalimati" panose="00000400000000000000" pitchFamily="2"/>
              </a:rPr>
              <a:t>जिल्ला अदालत </a:t>
            </a:r>
            <a:r>
              <a:rPr lang="ne-NP" altLang="en-US" sz="2800" b="1" dirty="0">
                <a:effectLst>
                  <a:outerShdw blurRad="38100" dist="38100" dir="2700000" algn="tl">
                    <a:srgbClr val="000000">
                      <a:alpha val="43137"/>
                    </a:srgbClr>
                  </a:outerShdw>
                </a:effectLst>
                <a:latin typeface="Kokila" panose="020B0604020202020204" pitchFamily="34" charset="0"/>
                <a:cs typeface="Kalimati" panose="00000400000000000000" pitchFamily="2"/>
              </a:rPr>
              <a:t>नियमावलीमा भएका व्यवस्थाहरु</a:t>
            </a:r>
          </a:p>
          <a:p>
            <a:pPr marL="731520" lvl="2" indent="-274320">
              <a:buFont typeface="Wingdings" pitchFamily="2" charset="2"/>
              <a:buChar char="q"/>
            </a:pPr>
            <a:r>
              <a:rPr lang="ne-NP" altLang="en-US" sz="2800" b="1" dirty="0">
                <a:effectLst>
                  <a:outerShdw blurRad="38100" dist="38100" dir="2700000" algn="tl">
                    <a:srgbClr val="000000">
                      <a:alpha val="43137"/>
                    </a:srgbClr>
                  </a:outerShdw>
                </a:effectLst>
                <a:latin typeface="Kokila" panose="020B0604020202020204" pitchFamily="34" charset="0"/>
                <a:cs typeface="Kalimati" panose="00000400000000000000" pitchFamily="2"/>
              </a:rPr>
              <a:t>फरक मुद्दा व्यवस्थापन </a:t>
            </a:r>
            <a:r>
              <a:rPr lang="ne-NP" altLang="en-US" sz="2800" b="1" dirty="0" smtClean="0">
                <a:effectLst>
                  <a:outerShdw blurRad="38100" dist="38100" dir="2700000" algn="tl">
                    <a:srgbClr val="000000">
                      <a:alpha val="43137"/>
                    </a:srgbClr>
                  </a:outerShdw>
                </a:effectLst>
                <a:latin typeface="Kokila" panose="020B0604020202020204" pitchFamily="34" charset="0"/>
                <a:cs typeface="Kalimati" panose="00000400000000000000" pitchFamily="2"/>
              </a:rPr>
              <a:t>सम्बन्धी </a:t>
            </a:r>
            <a:r>
              <a:rPr lang="ne-NP" altLang="en-US" sz="2800" b="1" dirty="0">
                <a:effectLst>
                  <a:outerShdw blurRad="38100" dist="38100" dir="2700000" algn="tl">
                    <a:srgbClr val="000000">
                      <a:alpha val="43137"/>
                    </a:srgbClr>
                  </a:outerShdw>
                </a:effectLst>
                <a:latin typeface="Kokila" panose="020B0604020202020204" pitchFamily="34" charset="0"/>
                <a:cs typeface="Kalimati" panose="00000400000000000000" pitchFamily="2"/>
              </a:rPr>
              <a:t>दिग्दर्शनका व्यवस्थाहरु</a:t>
            </a:r>
            <a:endParaRPr lang="en-US" altLang="en-US" sz="2800" b="1" dirty="0">
              <a:effectLst>
                <a:outerShdw blurRad="38100" dist="38100" dir="2700000" algn="tl">
                  <a:srgbClr val="000000">
                    <a:alpha val="43137"/>
                  </a:srgbClr>
                </a:outerShdw>
              </a:effectLst>
              <a:latin typeface="Kokila" panose="020B0604020202020204" pitchFamily="34" charset="0"/>
              <a:cs typeface="Kalimati" panose="00000400000000000000" pitchFamily="2"/>
            </a:endParaRPr>
          </a:p>
          <a:p>
            <a:pPr marL="731520" lvl="2" indent="-274320">
              <a:buFont typeface="Wingdings" pitchFamily="2" charset="2"/>
              <a:buChar char="q"/>
            </a:pPr>
            <a:r>
              <a:rPr lang="ne-NP" sz="2800" b="1" dirty="0">
                <a:effectLst>
                  <a:outerShdw blurRad="38100" dist="38100" dir="2700000" algn="tl">
                    <a:srgbClr val="000000">
                      <a:alpha val="43137"/>
                    </a:srgbClr>
                  </a:outerShdw>
                </a:effectLst>
                <a:latin typeface="Kokila" pitchFamily="34" charset="0"/>
                <a:cs typeface="Kalimati" panose="00000400000000000000" pitchFamily="2"/>
              </a:rPr>
              <a:t>नेपालमा लागू हुने फरक मुद्दा व्यवस्थापनका विशेषताहरु</a:t>
            </a:r>
          </a:p>
          <a:p>
            <a:pPr marL="731520" lvl="2" indent="-274320">
              <a:buFont typeface="Wingdings" pitchFamily="2" charset="2"/>
              <a:buChar char="q"/>
            </a:pPr>
            <a:r>
              <a:rPr lang="ne-NP" sz="2800" b="1" dirty="0">
                <a:effectLst>
                  <a:outerShdw blurRad="38100" dist="38100" dir="2700000" algn="tl">
                    <a:srgbClr val="000000">
                      <a:alpha val="43137"/>
                    </a:srgbClr>
                  </a:outerShdw>
                </a:effectLst>
                <a:latin typeface="Kokila" pitchFamily="34" charset="0"/>
                <a:cs typeface="Kalimati" panose="00000400000000000000" pitchFamily="2"/>
              </a:rPr>
              <a:t>फरक मुद्दा व्यवस्थापन पद्धति लागू गर्न सबै अदालतहरूले गर्नुपर्ने कार्यहरू</a:t>
            </a:r>
          </a:p>
          <a:p>
            <a:pPr marL="731520" lvl="2" indent="-274320">
              <a:buFont typeface="Wingdings" pitchFamily="2" charset="2"/>
              <a:buChar char="q"/>
            </a:pPr>
            <a:r>
              <a:rPr lang="ne-NP" altLang="en-US" sz="2800" b="1" dirty="0">
                <a:effectLst>
                  <a:outerShdw blurRad="38100" dist="38100" dir="2700000" algn="tl">
                    <a:srgbClr val="000000">
                      <a:alpha val="43137"/>
                    </a:srgbClr>
                  </a:outerShdw>
                </a:effectLst>
                <a:latin typeface="Kokila" pitchFamily="34" charset="0"/>
                <a:cs typeface="Kalimati" panose="00000400000000000000" pitchFamily="2"/>
              </a:rPr>
              <a:t>फरक मुद्दा व्यवस्थापनको कार्यान्वयनमा हाम्रो भूमिका</a:t>
            </a:r>
          </a:p>
          <a:p>
            <a:pPr marL="731520" lvl="2" indent="-274320">
              <a:buFont typeface="Wingdings" pitchFamily="2" charset="2"/>
              <a:buChar char="q"/>
            </a:pPr>
            <a:r>
              <a:rPr lang="ne-NP" altLang="en-US" sz="2800" b="1" dirty="0">
                <a:effectLst>
                  <a:outerShdw blurRad="38100" dist="38100" dir="2700000" algn="tl">
                    <a:srgbClr val="000000">
                      <a:alpha val="43137"/>
                    </a:srgbClr>
                  </a:outerShdw>
                </a:effectLst>
                <a:latin typeface="Kokila" pitchFamily="34" charset="0"/>
                <a:cs typeface="Kalimati" panose="00000400000000000000" pitchFamily="2"/>
              </a:rPr>
              <a:t>फरक मुद्दा व्यवस्थापनको कार्यान्वयनमा देखिएका समस्याहरू</a:t>
            </a:r>
          </a:p>
          <a:p>
            <a:pPr marL="731520" lvl="2" indent="-274320">
              <a:buFont typeface="Wingdings" pitchFamily="2" charset="2"/>
              <a:buChar char="q"/>
            </a:pPr>
            <a:r>
              <a:rPr lang="ne-NP" altLang="en-US" sz="2800" b="1" dirty="0">
                <a:effectLst>
                  <a:outerShdw blurRad="38100" dist="38100" dir="2700000" algn="tl">
                    <a:srgbClr val="000000">
                      <a:alpha val="43137"/>
                    </a:srgbClr>
                  </a:outerShdw>
                </a:effectLst>
                <a:latin typeface="Kokila" pitchFamily="34" charset="0"/>
                <a:cs typeface="Kalimati" panose="00000400000000000000" pitchFamily="2"/>
              </a:rPr>
              <a:t>निष्कर्ष</a:t>
            </a:r>
          </a:p>
          <a:p>
            <a:endParaRPr lang="ne-NP" sz="3200" b="1" dirty="0" smtClean="0">
              <a:solidFill>
                <a:schemeClr val="tx1"/>
              </a:solidFill>
              <a:latin typeface="Kokila" pitchFamily="34" charset="0"/>
              <a:cs typeface="Kalimati" panose="00000400000000000000" pitchFamily="2"/>
            </a:endParaRPr>
          </a:p>
        </p:txBody>
      </p:sp>
    </p:spTree>
    <p:extLst>
      <p:ext uri="{BB962C8B-B14F-4D97-AF65-F5344CB8AC3E}">
        <p14:creationId xmlns:p14="http://schemas.microsoft.com/office/powerpoint/2010/main" val="336750889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0"/>
            <a:ext cx="10868672" cy="1237673"/>
          </a:xfrm>
        </p:spPr>
        <p:txBody>
          <a:bodyPr>
            <a:normAutofit/>
          </a:bodyPr>
          <a:lstStyle/>
          <a:p>
            <a:r>
              <a:rPr lang="ne-NP" sz="3600" b="1" dirty="0">
                <a:solidFill>
                  <a:srgbClr val="00B050"/>
                </a:solidFill>
                <a:latin typeface="Kokila" pitchFamily="34" charset="0"/>
                <a:cs typeface="Kalimati" panose="00000400000000000000" pitchFamily="2"/>
              </a:rPr>
              <a:t/>
            </a:r>
            <a:br>
              <a:rPr lang="ne-NP" sz="3600" b="1" dirty="0">
                <a:solidFill>
                  <a:srgbClr val="00B050"/>
                </a:solidFill>
                <a:latin typeface="Kokila" pitchFamily="34" charset="0"/>
                <a:cs typeface="Kalimati" panose="00000400000000000000" pitchFamily="2"/>
              </a:rPr>
            </a:br>
            <a:r>
              <a:rPr lang="ne-NP" sz="3600" b="1" dirty="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१</a:t>
            </a:r>
            <a:r>
              <a:rPr lang="en-US" sz="3600" b="1" dirty="0" smtClean="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a:t>
            </a:r>
            <a:r>
              <a:rPr lang="ne-NP" sz="3600" b="1" dirty="0" smtClean="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 फरक </a:t>
            </a:r>
            <a:r>
              <a:rPr lang="ne-NP" sz="3600" b="1" dirty="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मुद्दा व्यवस्थापनको अर्थ</a:t>
            </a:r>
            <a:endParaRPr lang="en-AU" sz="3600" b="1" dirty="0">
              <a:solidFill>
                <a:srgbClr val="0070C0"/>
              </a:solidFill>
              <a:effectLst>
                <a:outerShdw blurRad="38100" dist="38100" dir="2700000" algn="tl">
                  <a:srgbClr val="000000">
                    <a:alpha val="43137"/>
                  </a:srgbClr>
                </a:outerShdw>
              </a:effectLst>
              <a:cs typeface="Kalimati" panose="00000400000000000000" pitchFamily="2"/>
            </a:endParaRPr>
          </a:p>
        </p:txBody>
      </p:sp>
      <p:sp>
        <p:nvSpPr>
          <p:cNvPr id="3" name="Content Placeholder 2"/>
          <p:cNvSpPr>
            <a:spLocks noGrp="1"/>
          </p:cNvSpPr>
          <p:nvPr>
            <p:ph idx="1"/>
          </p:nvPr>
        </p:nvSpPr>
        <p:spPr>
          <a:xfrm>
            <a:off x="182880" y="1487054"/>
            <a:ext cx="11602720" cy="4901713"/>
          </a:xfrm>
        </p:spPr>
        <p:txBody>
          <a:bodyPr>
            <a:normAutofit/>
          </a:bodyPr>
          <a:lstStyle/>
          <a:p>
            <a:pPr algn="just">
              <a:buFont typeface="Wingdings" pitchFamily="2" charset="2"/>
              <a:buChar char="§"/>
            </a:pPr>
            <a:r>
              <a:rPr lang="en-US" dirty="0">
                <a:effectLst>
                  <a:outerShdw blurRad="38100" dist="38100" dir="2700000" algn="tl">
                    <a:srgbClr val="000000">
                      <a:alpha val="43137"/>
                    </a:srgbClr>
                  </a:outerShdw>
                </a:effectLst>
                <a:latin typeface="Times New Roman" pitchFamily="18" charset="0"/>
                <a:cs typeface="Times New Roman" pitchFamily="18" charset="0"/>
              </a:rPr>
              <a:t>DCM is the process of screening cases for complexity and assigning them to various tracks with tailored judicial processes, case management, and allocation of resources based on the needs of the case in order to:</a:t>
            </a:r>
          </a:p>
          <a:p>
            <a:pPr lvl="1">
              <a:buFont typeface="Wingdings" pitchFamily="2" charset="2"/>
              <a:buChar char="§"/>
            </a:pPr>
            <a:r>
              <a:rPr lang="en-US" sz="3200" dirty="0">
                <a:effectLst>
                  <a:outerShdw blurRad="38100" dist="38100" dir="2700000" algn="tl">
                    <a:srgbClr val="000000">
                      <a:alpha val="43137"/>
                    </a:srgbClr>
                  </a:outerShdw>
                </a:effectLst>
                <a:latin typeface="Times New Roman" pitchFamily="18" charset="0"/>
                <a:cs typeface="Times New Roman" pitchFamily="18" charset="0"/>
              </a:rPr>
              <a:t>Reduce delay</a:t>
            </a:r>
          </a:p>
          <a:p>
            <a:pPr lvl="1">
              <a:buFont typeface="Wingdings" pitchFamily="2" charset="2"/>
              <a:buChar char="§"/>
            </a:pPr>
            <a:r>
              <a:rPr lang="en-US" sz="3200" dirty="0">
                <a:effectLst>
                  <a:outerShdw blurRad="38100" dist="38100" dir="2700000" algn="tl">
                    <a:srgbClr val="000000">
                      <a:alpha val="43137"/>
                    </a:srgbClr>
                  </a:outerShdw>
                </a:effectLst>
                <a:latin typeface="Times New Roman" pitchFamily="18" charset="0"/>
                <a:cs typeface="Times New Roman" pitchFamily="18" charset="0"/>
              </a:rPr>
              <a:t>Make courts more accessible </a:t>
            </a:r>
          </a:p>
          <a:p>
            <a:pPr lvl="1">
              <a:buFont typeface="Wingdings" pitchFamily="2" charset="2"/>
              <a:buChar char="§"/>
            </a:pPr>
            <a:r>
              <a:rPr lang="en-US" sz="3200" dirty="0">
                <a:effectLst>
                  <a:outerShdw blurRad="38100" dist="38100" dir="2700000" algn="tl">
                    <a:srgbClr val="000000">
                      <a:alpha val="43137"/>
                    </a:srgbClr>
                  </a:outerShdw>
                </a:effectLst>
                <a:latin typeface="Times New Roman" pitchFamily="18" charset="0"/>
                <a:cs typeface="Times New Roman" pitchFamily="18" charset="0"/>
              </a:rPr>
              <a:t>Improve predictability and certainty in calendar management.</a:t>
            </a:r>
          </a:p>
          <a:p>
            <a:pPr algn="just"/>
            <a:endParaRPr lang="ne-NP" dirty="0" smtClean="0">
              <a:cs typeface="Kalimati" panose="00000400000000000000" pitchFamily="2"/>
            </a:endParaRPr>
          </a:p>
        </p:txBody>
      </p:sp>
    </p:spTree>
    <p:extLst>
      <p:ext uri="{BB962C8B-B14F-4D97-AF65-F5344CB8AC3E}">
        <p14:creationId xmlns:p14="http://schemas.microsoft.com/office/powerpoint/2010/main" val="2115156426"/>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36946"/>
            <a:ext cx="10868672" cy="775855"/>
          </a:xfrm>
        </p:spPr>
        <p:txBody>
          <a:bodyPr>
            <a:normAutofit fontScale="90000"/>
          </a:bodyPr>
          <a:lstStyle/>
          <a:p>
            <a:r>
              <a:rPr lang="ne-NP" sz="4000" b="1" dirty="0" smtClean="0">
                <a:solidFill>
                  <a:srgbClr val="00B050"/>
                </a:solidFill>
                <a:latin typeface="Kokila" pitchFamily="34" charset="0"/>
                <a:cs typeface="Kokila" pitchFamily="34" charset="0"/>
              </a:rPr>
              <a:t/>
            </a:r>
            <a:br>
              <a:rPr lang="ne-NP" sz="4000" b="1" dirty="0" smtClean="0">
                <a:solidFill>
                  <a:srgbClr val="00B050"/>
                </a:solidFill>
                <a:latin typeface="Kokila" pitchFamily="34" charset="0"/>
                <a:cs typeface="Kokila" pitchFamily="34" charset="0"/>
              </a:rPr>
            </a:br>
            <a:r>
              <a:rPr lang="ne-NP" sz="4000" b="1" dirty="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फरक मुद्दा व्यवस्थापनको अर्थ</a:t>
            </a:r>
            <a:endParaRPr lang="en-AU" sz="4000" b="1" dirty="0">
              <a:solidFill>
                <a:schemeClr val="tx1"/>
              </a:solidFill>
              <a:effectLst>
                <a:outerShdw blurRad="38100" dist="38100" dir="2700000" algn="tl">
                  <a:srgbClr val="000000">
                    <a:alpha val="43137"/>
                  </a:srgbClr>
                </a:outerShdw>
              </a:effectLst>
              <a:cs typeface="Kalimati" panose="00000400000000000000" pitchFamily="2"/>
            </a:endParaRPr>
          </a:p>
        </p:txBody>
      </p:sp>
      <p:sp>
        <p:nvSpPr>
          <p:cNvPr id="3" name="Content Placeholder 2"/>
          <p:cNvSpPr>
            <a:spLocks noGrp="1"/>
          </p:cNvSpPr>
          <p:nvPr>
            <p:ph idx="1"/>
          </p:nvPr>
        </p:nvSpPr>
        <p:spPr>
          <a:xfrm>
            <a:off x="182880" y="1570182"/>
            <a:ext cx="11805920" cy="4818586"/>
          </a:xfrm>
        </p:spPr>
        <p:txBody>
          <a:bodyPr>
            <a:normAutofit/>
          </a:bodyPr>
          <a:lstStyle/>
          <a:p>
            <a:pPr>
              <a:lnSpc>
                <a:spcPct val="150000"/>
              </a:lnSpc>
              <a:buFont typeface="Wingdings" pitchFamily="2" charset="2"/>
              <a:buChar char="v"/>
            </a:pPr>
            <a:r>
              <a:rPr lang="ne-NP" sz="2800" dirty="0">
                <a:effectLst>
                  <a:outerShdw blurRad="38100" dist="38100" dir="2700000" algn="tl">
                    <a:srgbClr val="000000">
                      <a:alpha val="43137"/>
                    </a:srgbClr>
                  </a:outerShdw>
                </a:effectLst>
                <a:latin typeface="Kokila" pitchFamily="34" charset="0"/>
                <a:cs typeface="Kalimati" panose="00000400000000000000" pitchFamily="2"/>
              </a:rPr>
              <a:t>फरक मुद्दा व्यवस्थापन पछिल्लो समयमा बिकसित मुद्दा व्यवस्थापनको आधुनिक र  बैज्ञानिक पद्धति हो ।</a:t>
            </a:r>
            <a:endParaRPr lang="en-US" sz="2800" dirty="0">
              <a:effectLst>
                <a:outerShdw blurRad="38100" dist="38100" dir="2700000" algn="tl">
                  <a:srgbClr val="000000">
                    <a:alpha val="43137"/>
                  </a:srgbClr>
                </a:outerShdw>
              </a:effectLst>
              <a:latin typeface="Kokila" pitchFamily="34" charset="0"/>
              <a:cs typeface="Kalimati" panose="00000400000000000000" pitchFamily="2"/>
            </a:endParaRPr>
          </a:p>
          <a:p>
            <a:pPr>
              <a:lnSpc>
                <a:spcPct val="110000"/>
              </a:lnSpc>
              <a:buFont typeface="Wingdings" pitchFamily="2" charset="2"/>
              <a:buChar char="v"/>
            </a:pPr>
            <a:r>
              <a:rPr lang="ne-NP" sz="2800" dirty="0">
                <a:effectLst>
                  <a:outerShdw blurRad="38100" dist="38100" dir="2700000" algn="tl">
                    <a:srgbClr val="000000">
                      <a:alpha val="43137"/>
                    </a:srgbClr>
                  </a:outerShdw>
                </a:effectLst>
                <a:latin typeface="Kokila" pitchFamily="34" charset="0"/>
                <a:cs typeface="Kalimati" panose="00000400000000000000" pitchFamily="2"/>
              </a:rPr>
              <a:t>मुद्दाको प्रकृतिअनुसार फरक तरिकाले व्यवस्थापन गर्ने पद्धतिलाई फरक मुद्दा व्यवस्थापन (</a:t>
            </a:r>
            <a:r>
              <a:rPr lang="en-US" sz="2800" dirty="0">
                <a:effectLst>
                  <a:outerShdw blurRad="38100" dist="38100" dir="2700000" algn="tl">
                    <a:srgbClr val="000000">
                      <a:alpha val="43137"/>
                    </a:srgbClr>
                  </a:outerShdw>
                </a:effectLst>
                <a:latin typeface="Kokila" pitchFamily="34" charset="0"/>
                <a:cs typeface="Kalimati" panose="00000400000000000000" pitchFamily="2"/>
              </a:rPr>
              <a:t>Differentiated Case Management –DCM</a:t>
            </a:r>
            <a:r>
              <a:rPr lang="ne-NP" sz="2800" dirty="0">
                <a:effectLst>
                  <a:outerShdw blurRad="38100" dist="38100" dir="2700000" algn="tl">
                    <a:srgbClr val="000000">
                      <a:alpha val="43137"/>
                    </a:srgbClr>
                  </a:outerShdw>
                </a:effectLst>
                <a:latin typeface="Kokila" pitchFamily="34" charset="0"/>
                <a:cs typeface="Kalimati" panose="00000400000000000000" pitchFamily="2"/>
              </a:rPr>
              <a:t>) भनिन्छ</a:t>
            </a:r>
            <a:r>
              <a:rPr lang="en-US" sz="2800" dirty="0">
                <a:effectLst>
                  <a:outerShdw blurRad="38100" dist="38100" dir="2700000" algn="tl">
                    <a:srgbClr val="000000">
                      <a:alpha val="43137"/>
                    </a:srgbClr>
                  </a:outerShdw>
                </a:effectLst>
                <a:latin typeface="Kokila" pitchFamily="34" charset="0"/>
                <a:cs typeface="Kalimati" panose="00000400000000000000" pitchFamily="2"/>
              </a:rPr>
              <a:t> </a:t>
            </a:r>
            <a:r>
              <a:rPr lang="ne-NP" sz="2800" dirty="0">
                <a:effectLst>
                  <a:outerShdw blurRad="38100" dist="38100" dir="2700000" algn="tl">
                    <a:srgbClr val="000000">
                      <a:alpha val="43137"/>
                    </a:srgbClr>
                  </a:outerShdw>
                </a:effectLst>
                <a:latin typeface="Kokila" pitchFamily="34" charset="0"/>
                <a:cs typeface="Kalimati" panose="00000400000000000000" pitchFamily="2"/>
              </a:rPr>
              <a:t>।</a:t>
            </a:r>
            <a:endParaRPr lang="en-US" sz="2800" dirty="0">
              <a:effectLst>
                <a:outerShdw blurRad="38100" dist="38100" dir="2700000" algn="tl">
                  <a:srgbClr val="000000">
                    <a:alpha val="43137"/>
                  </a:srgbClr>
                </a:outerShdw>
              </a:effectLst>
              <a:latin typeface="Kokila" pitchFamily="34" charset="0"/>
              <a:cs typeface="Kalimati" panose="00000400000000000000" pitchFamily="2"/>
            </a:endParaRPr>
          </a:p>
          <a:p>
            <a:pPr>
              <a:lnSpc>
                <a:spcPts val="3360"/>
              </a:lnSpc>
              <a:buFont typeface="Wingdings" pitchFamily="2" charset="2"/>
              <a:buChar char="v"/>
            </a:pPr>
            <a:r>
              <a:rPr lang="en-US" sz="2800" dirty="0">
                <a:effectLst>
                  <a:outerShdw blurRad="38100" dist="38100" dir="2700000" algn="tl">
                    <a:srgbClr val="000000">
                      <a:alpha val="43137"/>
                    </a:srgbClr>
                  </a:outerShdw>
                </a:effectLst>
                <a:latin typeface="Kokila" pitchFamily="34" charset="0"/>
                <a:cs typeface="Kalimati" panose="00000400000000000000" pitchFamily="2"/>
              </a:rPr>
              <a:t>"</a:t>
            </a:r>
            <a:r>
              <a:rPr lang="ne-NP" sz="2800" dirty="0">
                <a:effectLst>
                  <a:outerShdw blurRad="38100" dist="38100" dir="2700000" algn="tl">
                    <a:srgbClr val="000000">
                      <a:alpha val="43137"/>
                    </a:srgbClr>
                  </a:outerShdw>
                </a:effectLst>
                <a:latin typeface="Kokila" pitchFamily="34" charset="0"/>
                <a:cs typeface="Kalimati" panose="00000400000000000000" pitchFamily="2"/>
              </a:rPr>
              <a:t>फरक मुद्दा व्यवस्थापन</a:t>
            </a:r>
            <a:r>
              <a:rPr lang="en-US" sz="2800" dirty="0">
                <a:effectLst>
                  <a:outerShdw blurRad="38100" dist="38100" dir="2700000" algn="tl">
                    <a:srgbClr val="000000">
                      <a:alpha val="43137"/>
                    </a:srgbClr>
                  </a:outerShdw>
                </a:effectLst>
                <a:latin typeface="Kokila" pitchFamily="34" charset="0"/>
                <a:cs typeface="Kalimati" panose="00000400000000000000" pitchFamily="2"/>
              </a:rPr>
              <a:t>"</a:t>
            </a:r>
            <a:r>
              <a:rPr lang="ne-NP" sz="2800" dirty="0">
                <a:effectLst>
                  <a:outerShdw blurRad="38100" dist="38100" dir="2700000" algn="tl">
                    <a:srgbClr val="000000">
                      <a:alpha val="43137"/>
                    </a:srgbClr>
                  </a:outerShdw>
                </a:effectLst>
                <a:latin typeface="Kokila" pitchFamily="34" charset="0"/>
                <a:cs typeface="Kalimati" panose="00000400000000000000" pitchFamily="2"/>
              </a:rPr>
              <a:t> भन्नाले अदालतमा दर्ता हुने मुद्दाको कारवाही र किनारा गर्ने प्रयोजनको लागि </a:t>
            </a:r>
            <a:r>
              <a:rPr lang="ne-NP" sz="2800" dirty="0" smtClean="0">
                <a:effectLst>
                  <a:outerShdw blurRad="38100" dist="38100" dir="2700000" algn="tl">
                    <a:srgbClr val="000000">
                      <a:alpha val="43137"/>
                    </a:srgbClr>
                  </a:outerShdw>
                </a:effectLst>
                <a:latin typeface="Kokila" pitchFamily="34" charset="0"/>
                <a:cs typeface="Kalimati" panose="00000400000000000000" pitchFamily="2"/>
              </a:rPr>
              <a:t>परिच्छेद</a:t>
            </a:r>
            <a:r>
              <a:rPr lang="en-US" sz="2800" dirty="0" smtClean="0">
                <a:effectLst>
                  <a:outerShdw blurRad="38100" dist="38100" dir="2700000" algn="tl">
                    <a:srgbClr val="000000">
                      <a:alpha val="43137"/>
                    </a:srgbClr>
                  </a:outerShdw>
                </a:effectLst>
                <a:latin typeface="Kokila" pitchFamily="34" charset="0"/>
                <a:cs typeface="Kalimati" panose="00000400000000000000" pitchFamily="2"/>
              </a:rPr>
              <a:t> </a:t>
            </a:r>
            <a:r>
              <a:rPr lang="ne-NP" sz="2800" dirty="0" smtClean="0">
                <a:effectLst>
                  <a:outerShdw blurRad="38100" dist="38100" dir="2700000" algn="tl">
                    <a:srgbClr val="000000">
                      <a:alpha val="43137"/>
                    </a:srgbClr>
                  </a:outerShdw>
                </a:effectLst>
                <a:latin typeface="Kokila" pitchFamily="34" charset="0"/>
                <a:cs typeface="Kalimati" panose="00000400000000000000" pitchFamily="2"/>
              </a:rPr>
              <a:t> ५क </a:t>
            </a:r>
            <a:r>
              <a:rPr lang="ne-NP" sz="2800" dirty="0">
                <a:effectLst>
                  <a:outerShdw blurRad="38100" dist="38100" dir="2700000" algn="tl">
                    <a:srgbClr val="000000">
                      <a:alpha val="43137"/>
                    </a:srgbClr>
                  </a:outerShdw>
                </a:effectLst>
                <a:latin typeface="Kokila" pitchFamily="34" charset="0"/>
                <a:cs typeface="Kalimati" panose="00000400000000000000" pitchFamily="2"/>
              </a:rPr>
              <a:t>बमोजिम विभिन्न मार्गसमूहमा राखी गरिने व्यवस्थापनलाई सम्झनु पर्छ</a:t>
            </a:r>
            <a:r>
              <a:rPr lang="ne-NP" sz="2800" dirty="0" smtClean="0">
                <a:effectLst>
                  <a:outerShdw blurRad="38100" dist="38100" dir="2700000" algn="tl">
                    <a:srgbClr val="000000">
                      <a:alpha val="43137"/>
                    </a:srgbClr>
                  </a:outerShdw>
                </a:effectLst>
                <a:latin typeface="Kokila" pitchFamily="34" charset="0"/>
                <a:cs typeface="Kalimati" panose="00000400000000000000" pitchFamily="2"/>
              </a:rPr>
              <a:t>।</a:t>
            </a:r>
            <a:r>
              <a:rPr lang="en-US" sz="2800" dirty="0" smtClean="0">
                <a:effectLst>
                  <a:outerShdw blurRad="38100" dist="38100" dir="2700000" algn="tl">
                    <a:srgbClr val="000000">
                      <a:alpha val="43137"/>
                    </a:srgbClr>
                  </a:outerShdw>
                </a:effectLst>
                <a:latin typeface="Kokila" pitchFamily="34" charset="0"/>
                <a:cs typeface="Kalimati" panose="00000400000000000000" pitchFamily="2"/>
              </a:rPr>
              <a:t> –</a:t>
            </a:r>
            <a:r>
              <a:rPr lang="ne-NP" sz="2800" i="1" dirty="0" smtClean="0">
                <a:solidFill>
                  <a:srgbClr val="FF0000"/>
                </a:solidFill>
                <a:effectLst>
                  <a:outerShdw blurRad="38100" dist="38100" dir="2700000" algn="tl">
                    <a:srgbClr val="000000">
                      <a:alpha val="43137"/>
                    </a:srgbClr>
                  </a:outerShdw>
                </a:effectLst>
                <a:latin typeface="Kokila" pitchFamily="34" charset="0"/>
                <a:cs typeface="Kalimati" panose="00000400000000000000" pitchFamily="2"/>
              </a:rPr>
              <a:t>जिल्ला अदालत </a:t>
            </a:r>
            <a:r>
              <a:rPr lang="ne-NP" sz="2800" i="1" dirty="0">
                <a:solidFill>
                  <a:srgbClr val="FF0000"/>
                </a:solidFill>
                <a:effectLst>
                  <a:outerShdw blurRad="38100" dist="38100" dir="2700000" algn="tl">
                    <a:srgbClr val="000000">
                      <a:alpha val="43137"/>
                    </a:srgbClr>
                  </a:outerShdw>
                </a:effectLst>
                <a:latin typeface="Kokila" pitchFamily="34" charset="0"/>
                <a:cs typeface="Kalimati" panose="00000400000000000000" pitchFamily="2"/>
              </a:rPr>
              <a:t>नियमावली </a:t>
            </a:r>
            <a:r>
              <a:rPr lang="ne-NP" sz="2800" i="1" dirty="0" smtClean="0">
                <a:solidFill>
                  <a:srgbClr val="FF0000"/>
                </a:solidFill>
                <a:effectLst>
                  <a:outerShdw blurRad="38100" dist="38100" dir="2700000" algn="tl">
                    <a:srgbClr val="000000">
                      <a:alpha val="43137"/>
                    </a:srgbClr>
                  </a:outerShdw>
                </a:effectLst>
                <a:latin typeface="Kokila" pitchFamily="34" charset="0"/>
                <a:cs typeface="Kalimati" panose="00000400000000000000" pitchFamily="2"/>
              </a:rPr>
              <a:t>२०७५को </a:t>
            </a:r>
            <a:r>
              <a:rPr lang="ne-NP" sz="2800" i="1" dirty="0">
                <a:solidFill>
                  <a:srgbClr val="FF0000"/>
                </a:solidFill>
                <a:effectLst>
                  <a:outerShdw blurRad="38100" dist="38100" dir="2700000" algn="tl">
                    <a:srgbClr val="000000">
                      <a:alpha val="43137"/>
                    </a:srgbClr>
                  </a:outerShdw>
                </a:effectLst>
                <a:latin typeface="Kokila" pitchFamily="34" charset="0"/>
                <a:cs typeface="Kalimati" panose="00000400000000000000" pitchFamily="2"/>
              </a:rPr>
              <a:t>नियम </a:t>
            </a:r>
            <a:r>
              <a:rPr lang="ne-NP" sz="2800" i="1" dirty="0" smtClean="0">
                <a:solidFill>
                  <a:srgbClr val="FF0000"/>
                </a:solidFill>
                <a:effectLst>
                  <a:outerShdw blurRad="38100" dist="38100" dir="2700000" algn="tl">
                    <a:srgbClr val="000000">
                      <a:alpha val="43137"/>
                    </a:srgbClr>
                  </a:outerShdw>
                </a:effectLst>
                <a:latin typeface="Kokila" pitchFamily="34" charset="0"/>
                <a:cs typeface="Kalimati" panose="00000400000000000000" pitchFamily="2"/>
              </a:rPr>
              <a:t>२(छ१</a:t>
            </a:r>
            <a:r>
              <a:rPr lang="ne-NP" sz="2800" i="1" dirty="0">
                <a:solidFill>
                  <a:srgbClr val="FF0000"/>
                </a:solidFill>
                <a:effectLst>
                  <a:outerShdw blurRad="38100" dist="38100" dir="2700000" algn="tl">
                    <a:srgbClr val="000000">
                      <a:alpha val="43137"/>
                    </a:srgbClr>
                  </a:outerShdw>
                </a:effectLst>
                <a:latin typeface="Kokila" pitchFamily="34" charset="0"/>
                <a:cs typeface="Kalimati" panose="00000400000000000000" pitchFamily="2"/>
              </a:rPr>
              <a:t>)</a:t>
            </a:r>
            <a:r>
              <a:rPr lang="ne-NP" sz="2800" b="1" i="1" dirty="0">
                <a:solidFill>
                  <a:srgbClr val="FF0000"/>
                </a:solidFill>
                <a:effectLst>
                  <a:outerShdw blurRad="38100" dist="38100" dir="2700000" algn="tl">
                    <a:srgbClr val="000000">
                      <a:alpha val="43137"/>
                    </a:srgbClr>
                  </a:outerShdw>
                </a:effectLst>
                <a:latin typeface="Kokila" pitchFamily="34" charset="0"/>
                <a:cs typeface="Kalimati" panose="00000400000000000000" pitchFamily="2"/>
              </a:rPr>
              <a:t> </a:t>
            </a:r>
            <a:endParaRPr lang="en-US" sz="2800" i="1" dirty="0">
              <a:solidFill>
                <a:srgbClr val="FF0000"/>
              </a:solidFill>
              <a:effectLst>
                <a:outerShdw blurRad="38100" dist="38100" dir="2700000" algn="tl">
                  <a:srgbClr val="000000">
                    <a:alpha val="43137"/>
                  </a:srgbClr>
                </a:outerShdw>
              </a:effectLst>
              <a:latin typeface="Kokila" pitchFamily="34" charset="0"/>
              <a:cs typeface="Kalimati" panose="00000400000000000000" pitchFamily="2"/>
            </a:endParaRPr>
          </a:p>
        </p:txBody>
      </p:sp>
    </p:spTree>
    <p:extLst>
      <p:ext uri="{BB962C8B-B14F-4D97-AF65-F5344CB8AC3E}">
        <p14:creationId xmlns:p14="http://schemas.microsoft.com/office/powerpoint/2010/main" val="233877139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3" y="609600"/>
            <a:ext cx="10800433" cy="548640"/>
          </a:xfrm>
        </p:spPr>
        <p:txBody>
          <a:bodyPr>
            <a:noAutofit/>
          </a:bodyPr>
          <a:lstStyle/>
          <a:p>
            <a:r>
              <a:rPr lang="ne-NP" sz="3600" b="1" dirty="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२</a:t>
            </a:r>
            <a:r>
              <a:rPr lang="en-US" sz="3600" b="1" dirty="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a:t>
            </a:r>
            <a:r>
              <a:rPr lang="ne-NP" sz="3600" b="1" dirty="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 फरक मुद्दा व्यवस्थापनका आधारभुत तत्वहरु</a:t>
            </a:r>
            <a:endParaRPr lang="en-US" sz="3600" dirty="0">
              <a:solidFill>
                <a:srgbClr val="0070C0"/>
              </a:solidFill>
              <a:effectLst>
                <a:outerShdw blurRad="38100" dist="38100" dir="2700000" algn="tl">
                  <a:srgbClr val="000000">
                    <a:alpha val="43137"/>
                  </a:srgbClr>
                </a:outerShdw>
              </a:effectLst>
              <a:cs typeface="Kalimati" panose="00000400000000000000" pitchFamily="2"/>
            </a:endParaRPr>
          </a:p>
        </p:txBody>
      </p:sp>
      <p:sp>
        <p:nvSpPr>
          <p:cNvPr id="3" name="Content Placeholder 2"/>
          <p:cNvSpPr>
            <a:spLocks noGrp="1"/>
          </p:cNvSpPr>
          <p:nvPr>
            <p:ph idx="1"/>
          </p:nvPr>
        </p:nvSpPr>
        <p:spPr>
          <a:xfrm>
            <a:off x="677333" y="1295401"/>
            <a:ext cx="10827729" cy="4745962"/>
          </a:xfrm>
        </p:spPr>
        <p:txBody>
          <a:bodyPr>
            <a:normAutofit/>
          </a:bodyPr>
          <a:lstStyle/>
          <a:p>
            <a:pPr lvl="0">
              <a:buFont typeface="Wingdings" pitchFamily="2" charset="2"/>
              <a:buChar char="q"/>
            </a:pPr>
            <a:r>
              <a:rPr lang="en-US" dirty="0">
                <a:cs typeface="Kalimati" panose="00000400000000000000" pitchFamily="2"/>
              </a:rPr>
              <a:t>Case </a:t>
            </a:r>
            <a:r>
              <a:rPr lang="en-US" dirty="0">
                <a:solidFill>
                  <a:srgbClr val="000000"/>
                </a:solidFill>
                <a:cs typeface="Kalimati" panose="00000400000000000000" pitchFamily="2"/>
              </a:rPr>
              <a:t>differentiation criteria</a:t>
            </a:r>
          </a:p>
          <a:p>
            <a:pPr lvl="0">
              <a:buFont typeface="Wingdings" pitchFamily="2" charset="2"/>
              <a:buChar char="q"/>
            </a:pPr>
            <a:r>
              <a:rPr lang="en-US" dirty="0">
                <a:solidFill>
                  <a:srgbClr val="000000"/>
                </a:solidFill>
                <a:cs typeface="Kalimati" panose="00000400000000000000" pitchFamily="2"/>
              </a:rPr>
              <a:t>Case processing tracks and procedures</a:t>
            </a:r>
          </a:p>
          <a:p>
            <a:pPr lvl="0">
              <a:buFont typeface="Wingdings" pitchFamily="2" charset="2"/>
              <a:buChar char="q"/>
            </a:pPr>
            <a:r>
              <a:rPr lang="en-US" dirty="0">
                <a:solidFill>
                  <a:srgbClr val="000000"/>
                </a:solidFill>
                <a:cs typeface="Kalimati" panose="00000400000000000000" pitchFamily="2"/>
              </a:rPr>
              <a:t>Case screening and track determination</a:t>
            </a:r>
          </a:p>
          <a:p>
            <a:pPr lvl="0">
              <a:buFont typeface="Wingdings" pitchFamily="2" charset="2"/>
              <a:buChar char="q"/>
            </a:pPr>
            <a:r>
              <a:rPr lang="en-US" dirty="0">
                <a:solidFill>
                  <a:srgbClr val="000000"/>
                </a:solidFill>
                <a:cs typeface="Kalimati" panose="00000400000000000000" pitchFamily="2"/>
              </a:rPr>
              <a:t>Court control of case progress and deadlines</a:t>
            </a:r>
          </a:p>
          <a:p>
            <a:pPr lvl="0">
              <a:buFont typeface="Wingdings" pitchFamily="2" charset="2"/>
              <a:buChar char="q"/>
            </a:pPr>
            <a:r>
              <a:rPr lang="en-US" dirty="0">
                <a:solidFill>
                  <a:srgbClr val="000000"/>
                </a:solidFill>
                <a:cs typeface="Kalimati" panose="00000400000000000000" pitchFamily="2"/>
              </a:rPr>
              <a:t>Information support</a:t>
            </a:r>
          </a:p>
          <a:p>
            <a:pPr lvl="0">
              <a:buFont typeface="Wingdings" pitchFamily="2" charset="2"/>
              <a:buChar char="q"/>
            </a:pPr>
            <a:r>
              <a:rPr lang="en-US" dirty="0">
                <a:solidFill>
                  <a:srgbClr val="000000"/>
                </a:solidFill>
                <a:cs typeface="Kalimati" panose="00000400000000000000" pitchFamily="2"/>
              </a:rPr>
              <a:t>Judicial system leadership</a:t>
            </a:r>
          </a:p>
          <a:p>
            <a:pPr lvl="0">
              <a:buFont typeface="Wingdings" pitchFamily="2" charset="2"/>
              <a:buChar char="q"/>
            </a:pPr>
            <a:r>
              <a:rPr lang="en-US" dirty="0">
                <a:solidFill>
                  <a:srgbClr val="000000"/>
                </a:solidFill>
                <a:cs typeface="Kalimati" panose="00000400000000000000" pitchFamily="2"/>
              </a:rPr>
              <a:t>Mechanisms for interagency </a:t>
            </a:r>
            <a:r>
              <a:rPr lang="en-US" dirty="0" smtClean="0">
                <a:solidFill>
                  <a:srgbClr val="000000"/>
                </a:solidFill>
                <a:cs typeface="Kalimati" panose="00000400000000000000" pitchFamily="2"/>
              </a:rPr>
              <a:t>coordination</a:t>
            </a:r>
            <a:endParaRPr lang="ne-NP" dirty="0" smtClean="0">
              <a:solidFill>
                <a:srgbClr val="000000"/>
              </a:solidFill>
              <a:cs typeface="Kalimati" panose="00000400000000000000" pitchFamily="2"/>
            </a:endParaRPr>
          </a:p>
          <a:p>
            <a:pPr marL="0" lvl="0" indent="0" algn="r">
              <a:buNone/>
            </a:pPr>
            <a:r>
              <a:rPr lang="en-US" sz="2800" i="1" dirty="0" smtClean="0">
                <a:solidFill>
                  <a:srgbClr val="FF0000"/>
                </a:solidFill>
                <a:cs typeface="Kalimati" panose="00000400000000000000" pitchFamily="2"/>
              </a:rPr>
              <a:t>US </a:t>
            </a:r>
            <a:r>
              <a:rPr lang="en-US" sz="2800" i="1" dirty="0" smtClean="0">
                <a:solidFill>
                  <a:srgbClr val="FF0000"/>
                </a:solidFill>
              </a:rPr>
              <a:t>Bureau </a:t>
            </a:r>
            <a:r>
              <a:rPr lang="en-US" sz="2800" i="1" dirty="0">
                <a:solidFill>
                  <a:srgbClr val="FF0000"/>
                </a:solidFill>
              </a:rPr>
              <a:t>of Justice Assistance</a:t>
            </a:r>
            <a:endParaRPr lang="en-US" sz="2800" b="1" i="1" dirty="0">
              <a:solidFill>
                <a:srgbClr val="FF0000"/>
              </a:solidFill>
              <a:latin typeface="Kokila" pitchFamily="34" charset="0"/>
              <a:cs typeface="Kokila" pitchFamily="34" charset="0"/>
            </a:endParaRPr>
          </a:p>
        </p:txBody>
      </p:sp>
    </p:spTree>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381000"/>
            <a:ext cx="10991502" cy="459509"/>
          </a:xfrm>
        </p:spPr>
        <p:txBody>
          <a:bodyPr>
            <a:noAutofit/>
          </a:bodyPr>
          <a:lstStyle/>
          <a:p>
            <a:r>
              <a:rPr lang="ne-NP" sz="3600" b="1" dirty="0">
                <a:solidFill>
                  <a:srgbClr val="0070C0"/>
                </a:solidFill>
                <a:latin typeface="Kokila" pitchFamily="34" charset="0"/>
                <a:cs typeface="Kalimati" panose="00000400000000000000" pitchFamily="2"/>
              </a:rPr>
              <a:t>३</a:t>
            </a:r>
            <a:r>
              <a:rPr lang="en-US" sz="3600" b="1" dirty="0">
                <a:solidFill>
                  <a:srgbClr val="0070C0"/>
                </a:solidFill>
                <a:latin typeface="Kokila" pitchFamily="34" charset="0"/>
                <a:cs typeface="Kalimati" panose="00000400000000000000" pitchFamily="2"/>
              </a:rPr>
              <a:t>.</a:t>
            </a:r>
            <a:r>
              <a:rPr lang="ne-NP" sz="3600" b="1" dirty="0">
                <a:solidFill>
                  <a:srgbClr val="0070C0"/>
                </a:solidFill>
                <a:latin typeface="Kokila" pitchFamily="34" charset="0"/>
                <a:cs typeface="Kalimati" panose="00000400000000000000" pitchFamily="2"/>
              </a:rPr>
              <a:t> </a:t>
            </a:r>
            <a:r>
              <a:rPr lang="ne-NP" sz="3600" b="1" dirty="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फरक मुद्दा व्यवस्थापनका फाइदाहरु</a:t>
            </a:r>
            <a:endParaRPr lang="en-US" sz="3600" b="1" dirty="0">
              <a:solidFill>
                <a:srgbClr val="0070C0"/>
              </a:solidFill>
              <a:effectLst>
                <a:outerShdw blurRad="38100" dist="38100" dir="2700000" algn="tl">
                  <a:srgbClr val="000000">
                    <a:alpha val="43137"/>
                  </a:srgbClr>
                </a:outerShdw>
              </a:effectLst>
              <a:latin typeface="Kokila" pitchFamily="34" charset="0"/>
              <a:cs typeface="Kalimati" panose="00000400000000000000" pitchFamily="2"/>
            </a:endParaRPr>
          </a:p>
        </p:txBody>
      </p:sp>
      <p:sp>
        <p:nvSpPr>
          <p:cNvPr id="3" name="Content Placeholder 2"/>
          <p:cNvSpPr>
            <a:spLocks noGrp="1"/>
          </p:cNvSpPr>
          <p:nvPr>
            <p:ph idx="1"/>
          </p:nvPr>
        </p:nvSpPr>
        <p:spPr>
          <a:xfrm>
            <a:off x="548640" y="840510"/>
            <a:ext cx="11384742" cy="5484090"/>
          </a:xfrm>
        </p:spPr>
        <p:txBody>
          <a:bodyPr>
            <a:normAutofit lnSpcReduction="10000"/>
          </a:bodyPr>
          <a:lstStyle/>
          <a:p>
            <a:pPr>
              <a:lnSpc>
                <a:spcPct val="150000"/>
              </a:lnSpc>
              <a:buFont typeface="Wingdings" pitchFamily="2" charset="2"/>
              <a:buChar char="§"/>
            </a:pPr>
            <a:r>
              <a:rPr lang="ne-NP" sz="2800" dirty="0">
                <a:effectLst>
                  <a:outerShdw blurRad="38100" dist="38100" dir="2700000" algn="tl">
                    <a:srgbClr val="000000">
                      <a:alpha val="43137"/>
                    </a:srgbClr>
                  </a:outerShdw>
                </a:effectLst>
                <a:latin typeface="Kokila" pitchFamily="34" charset="0"/>
                <a:cs typeface="Kalimati" panose="00000400000000000000" pitchFamily="2"/>
              </a:rPr>
              <a:t>फरक मुद्दा व्यवस्थापनलाई  मुद्दा व्यवस्थापनको  आधुनिक र  बैज्ञानिक पद्धतिको रुपमा स्वीकार गर्ने गरिएको । जसबाट</a:t>
            </a:r>
            <a:r>
              <a:rPr lang="en-US" sz="2800" dirty="0">
                <a:effectLst>
                  <a:outerShdw blurRad="38100" dist="38100" dir="2700000" algn="tl">
                    <a:srgbClr val="000000">
                      <a:alpha val="43137"/>
                    </a:srgbClr>
                  </a:outerShdw>
                </a:effectLst>
                <a:latin typeface="Kokila" pitchFamily="34" charset="0"/>
                <a:cs typeface="Kalimati" panose="00000400000000000000" pitchFamily="2"/>
              </a:rPr>
              <a:t>-</a:t>
            </a:r>
            <a:endParaRPr lang="ne-NP" sz="2800" dirty="0">
              <a:effectLst>
                <a:outerShdw blurRad="38100" dist="38100" dir="2700000" algn="tl">
                  <a:srgbClr val="000000">
                    <a:alpha val="43137"/>
                  </a:srgbClr>
                </a:outerShdw>
              </a:effectLst>
              <a:latin typeface="Kokila" pitchFamily="34" charset="0"/>
              <a:cs typeface="Kalimati" panose="00000400000000000000" pitchFamily="2"/>
            </a:endParaRPr>
          </a:p>
          <a:p>
            <a:pPr lvl="1">
              <a:lnSpc>
                <a:spcPct val="150000"/>
              </a:lnSpc>
              <a:buFont typeface="Wingdings" pitchFamily="2" charset="2"/>
              <a:buChar char="§"/>
            </a:pPr>
            <a:r>
              <a:rPr lang="ne-NP" dirty="0">
                <a:effectLst>
                  <a:outerShdw blurRad="38100" dist="38100" dir="2700000" algn="tl">
                    <a:srgbClr val="000000">
                      <a:alpha val="43137"/>
                    </a:srgbClr>
                  </a:outerShdw>
                </a:effectLst>
                <a:latin typeface="Kokila" pitchFamily="34" charset="0"/>
                <a:cs typeface="Kalimati" panose="00000400000000000000" pitchFamily="2"/>
              </a:rPr>
              <a:t>मुद्दाको कारवाही र निर्णयमा शीघ्रता</a:t>
            </a:r>
            <a:r>
              <a:rPr lang="en-US" dirty="0">
                <a:effectLst>
                  <a:outerShdw blurRad="38100" dist="38100" dir="2700000" algn="tl">
                    <a:srgbClr val="000000">
                      <a:alpha val="43137"/>
                    </a:srgbClr>
                  </a:outerShdw>
                </a:effectLst>
                <a:latin typeface="Kokila" pitchFamily="34" charset="0"/>
                <a:cs typeface="Kalimati" panose="00000400000000000000" pitchFamily="2"/>
              </a:rPr>
              <a:t>,</a:t>
            </a:r>
          </a:p>
          <a:p>
            <a:pPr lvl="1">
              <a:lnSpc>
                <a:spcPct val="150000"/>
              </a:lnSpc>
              <a:buFont typeface="Wingdings" pitchFamily="2" charset="2"/>
              <a:buChar char="§"/>
            </a:pPr>
            <a:r>
              <a:rPr lang="ne-NP" dirty="0">
                <a:effectLst>
                  <a:outerShdw blurRad="38100" dist="38100" dir="2700000" algn="tl">
                    <a:srgbClr val="000000">
                      <a:alpha val="43137"/>
                    </a:srgbClr>
                  </a:outerShdw>
                </a:effectLst>
                <a:latin typeface="Kokila" pitchFamily="34" charset="0"/>
                <a:cs typeface="Kalimati" panose="00000400000000000000" pitchFamily="2"/>
              </a:rPr>
              <a:t>मुद्दाको कारवाहीमा निश्चितता र पूर्वानुमान</a:t>
            </a:r>
            <a:r>
              <a:rPr lang="en-US" dirty="0">
                <a:effectLst>
                  <a:outerShdw blurRad="38100" dist="38100" dir="2700000" algn="tl">
                    <a:srgbClr val="000000">
                      <a:alpha val="43137"/>
                    </a:srgbClr>
                  </a:outerShdw>
                </a:effectLst>
                <a:latin typeface="Kokila" pitchFamily="34" charset="0"/>
                <a:cs typeface="Kalimati" panose="00000400000000000000" pitchFamily="2"/>
              </a:rPr>
              <a:t>,</a:t>
            </a:r>
          </a:p>
          <a:p>
            <a:pPr lvl="1">
              <a:lnSpc>
                <a:spcPct val="150000"/>
              </a:lnSpc>
              <a:buFont typeface="Wingdings" pitchFamily="2" charset="2"/>
              <a:buChar char="§"/>
            </a:pPr>
            <a:r>
              <a:rPr lang="ne-NP" dirty="0">
                <a:effectLst>
                  <a:outerShdw blurRad="38100" dist="38100" dir="2700000" algn="tl">
                    <a:srgbClr val="000000">
                      <a:alpha val="43137"/>
                    </a:srgbClr>
                  </a:outerShdw>
                </a:effectLst>
                <a:latin typeface="Kokila" pitchFamily="34" charset="0"/>
                <a:cs typeface="Kalimati" panose="00000400000000000000" pitchFamily="2"/>
              </a:rPr>
              <a:t>अदालतको श्रोत साधनको प्रभावकारी उपयोग</a:t>
            </a:r>
            <a:r>
              <a:rPr lang="en-US" dirty="0">
                <a:effectLst>
                  <a:outerShdw blurRad="38100" dist="38100" dir="2700000" algn="tl">
                    <a:srgbClr val="000000">
                      <a:alpha val="43137"/>
                    </a:srgbClr>
                  </a:outerShdw>
                </a:effectLst>
                <a:latin typeface="Kokila" pitchFamily="34" charset="0"/>
                <a:cs typeface="Kalimati" panose="00000400000000000000" pitchFamily="2"/>
              </a:rPr>
              <a:t>,</a:t>
            </a:r>
          </a:p>
          <a:p>
            <a:pPr lvl="1">
              <a:lnSpc>
                <a:spcPct val="150000"/>
              </a:lnSpc>
              <a:buFont typeface="Wingdings" pitchFamily="2" charset="2"/>
              <a:buChar char="§"/>
            </a:pPr>
            <a:r>
              <a:rPr lang="ne-NP" dirty="0">
                <a:effectLst>
                  <a:outerShdw blurRad="38100" dist="38100" dir="2700000" algn="tl">
                    <a:srgbClr val="000000">
                      <a:alpha val="43137"/>
                    </a:srgbClr>
                  </a:outerShdw>
                </a:effectLst>
                <a:latin typeface="Kokila" pitchFamily="34" charset="0"/>
                <a:cs typeface="Kalimati" panose="00000400000000000000" pitchFamily="2"/>
              </a:rPr>
              <a:t>मुद्दामा लाग्ने खर्चमा कमी</a:t>
            </a:r>
            <a:r>
              <a:rPr lang="en-US" dirty="0">
                <a:effectLst>
                  <a:outerShdw blurRad="38100" dist="38100" dir="2700000" algn="tl">
                    <a:srgbClr val="000000">
                      <a:alpha val="43137"/>
                    </a:srgbClr>
                  </a:outerShdw>
                </a:effectLst>
                <a:latin typeface="Kokila" pitchFamily="34" charset="0"/>
                <a:cs typeface="Kalimati" panose="00000400000000000000" pitchFamily="2"/>
              </a:rPr>
              <a:t>,</a:t>
            </a:r>
            <a:r>
              <a:rPr lang="ne-NP" dirty="0">
                <a:effectLst>
                  <a:outerShdw blurRad="38100" dist="38100" dir="2700000" algn="tl">
                    <a:srgbClr val="000000">
                      <a:alpha val="43137"/>
                    </a:srgbClr>
                  </a:outerShdw>
                </a:effectLst>
                <a:latin typeface="Kokila" pitchFamily="34" charset="0"/>
                <a:cs typeface="Kalimati" panose="00000400000000000000" pitchFamily="2"/>
              </a:rPr>
              <a:t> मुद्दाको कारवाहीमा अदालतको नियन्त्रण</a:t>
            </a:r>
            <a:r>
              <a:rPr lang="en-US" dirty="0">
                <a:effectLst>
                  <a:outerShdw blurRad="38100" dist="38100" dir="2700000" algn="tl">
                    <a:srgbClr val="000000">
                      <a:alpha val="43137"/>
                    </a:srgbClr>
                  </a:outerShdw>
                </a:effectLst>
                <a:latin typeface="Kokila" pitchFamily="34" charset="0"/>
                <a:cs typeface="Kalimati" panose="00000400000000000000" pitchFamily="2"/>
              </a:rPr>
              <a:t>,</a:t>
            </a:r>
          </a:p>
          <a:p>
            <a:pPr lvl="1">
              <a:lnSpc>
                <a:spcPct val="150000"/>
              </a:lnSpc>
              <a:buFont typeface="Wingdings" pitchFamily="2" charset="2"/>
              <a:buChar char="§"/>
            </a:pPr>
            <a:r>
              <a:rPr lang="ne-NP" dirty="0">
                <a:effectLst>
                  <a:outerShdw blurRad="38100" dist="38100" dir="2700000" algn="tl">
                    <a:srgbClr val="000000">
                      <a:alpha val="43137"/>
                    </a:srgbClr>
                  </a:outerShdw>
                </a:effectLst>
                <a:latin typeface="Kokila" pitchFamily="34" charset="0"/>
                <a:cs typeface="Kalimati" panose="00000400000000000000" pitchFamily="2"/>
              </a:rPr>
              <a:t>मुद्दाको सरोकारवालाहरूबीच समन्वयमा बृद्धि</a:t>
            </a:r>
            <a:r>
              <a:rPr lang="en-US" dirty="0">
                <a:effectLst>
                  <a:outerShdw blurRad="38100" dist="38100" dir="2700000" algn="tl">
                    <a:srgbClr val="000000">
                      <a:alpha val="43137"/>
                    </a:srgbClr>
                  </a:outerShdw>
                </a:effectLst>
                <a:latin typeface="Kokila" pitchFamily="34" charset="0"/>
                <a:cs typeface="Kalimati" panose="00000400000000000000" pitchFamily="2"/>
              </a:rPr>
              <a:t>,</a:t>
            </a:r>
          </a:p>
          <a:p>
            <a:pPr lvl="1">
              <a:lnSpc>
                <a:spcPct val="150000"/>
              </a:lnSpc>
              <a:buFont typeface="Wingdings" pitchFamily="2" charset="2"/>
              <a:buChar char="§"/>
            </a:pPr>
            <a:r>
              <a:rPr lang="ne-NP" dirty="0">
                <a:effectLst>
                  <a:outerShdw blurRad="38100" dist="38100" dir="2700000" algn="tl">
                    <a:srgbClr val="000000">
                      <a:alpha val="43137"/>
                    </a:srgbClr>
                  </a:outerShdw>
                </a:effectLst>
                <a:latin typeface="Kokila" pitchFamily="34" charset="0"/>
                <a:cs typeface="Kalimati" panose="00000400000000000000" pitchFamily="2"/>
              </a:rPr>
              <a:t>न्यायिक प्रक्रियाको गुणस्तरमा बृद्धि।</a:t>
            </a:r>
            <a:endParaRPr lang="en-US" dirty="0">
              <a:effectLst>
                <a:outerShdw blurRad="38100" dist="38100" dir="2700000" algn="tl">
                  <a:srgbClr val="000000">
                    <a:alpha val="43137"/>
                  </a:srgbClr>
                </a:outerShdw>
              </a:effectLst>
              <a:latin typeface="Kokila" pitchFamily="34" charset="0"/>
              <a:cs typeface="Kalimati" panose="00000400000000000000" pitchFamily="2"/>
            </a:endParaRPr>
          </a:p>
          <a:p>
            <a:endParaRPr lang="en-US" dirty="0">
              <a:cs typeface="Kalimati" panose="00000400000000000000" pitchFamily="2"/>
            </a:endParaRPr>
          </a:p>
        </p:txBody>
      </p:sp>
    </p:spTree>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9552" y="738909"/>
            <a:ext cx="10909615" cy="670560"/>
          </a:xfrm>
        </p:spPr>
        <p:txBody>
          <a:bodyPr>
            <a:normAutofit/>
          </a:bodyPr>
          <a:lstStyle/>
          <a:p>
            <a:r>
              <a:rPr lang="ne-NP" sz="3600" b="1" dirty="0" smtClean="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४</a:t>
            </a:r>
            <a:r>
              <a:rPr lang="en-US" sz="3600" b="1" dirty="0" smtClean="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a:t>
            </a:r>
            <a:r>
              <a:rPr lang="ne-NP" sz="3600" b="1" dirty="0" smtClean="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 </a:t>
            </a:r>
            <a:r>
              <a:rPr lang="ne-NP" sz="3600" b="1" dirty="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नेपालको न्यायपालिकामा यो अवधारणाको विकास </a:t>
            </a:r>
            <a:endParaRPr lang="en-US" sz="3600" dirty="0">
              <a:solidFill>
                <a:srgbClr val="0070C0"/>
              </a:solidFill>
              <a:effectLst>
                <a:outerShdw blurRad="38100" dist="38100" dir="2700000" algn="tl">
                  <a:srgbClr val="000000">
                    <a:alpha val="43137"/>
                  </a:srgbClr>
                </a:outerShdw>
              </a:effectLst>
              <a:cs typeface="Kalimati" panose="00000400000000000000" pitchFamily="2"/>
            </a:endParaRPr>
          </a:p>
        </p:txBody>
      </p:sp>
      <p:sp>
        <p:nvSpPr>
          <p:cNvPr id="3" name="Content Placeholder 2"/>
          <p:cNvSpPr>
            <a:spLocks noGrp="1"/>
          </p:cNvSpPr>
          <p:nvPr>
            <p:ph idx="1"/>
          </p:nvPr>
        </p:nvSpPr>
        <p:spPr>
          <a:xfrm>
            <a:off x="426719" y="1280160"/>
            <a:ext cx="11478954" cy="5213003"/>
          </a:xfrm>
        </p:spPr>
        <p:txBody>
          <a:bodyPr>
            <a:normAutofit/>
          </a:bodyPr>
          <a:lstStyle/>
          <a:p>
            <a:pPr marL="731520" lvl="2" indent="-274320" algn="just">
              <a:lnSpc>
                <a:spcPct val="150000"/>
              </a:lnSpc>
              <a:buFont typeface="Wingdings" pitchFamily="2" charset="2"/>
              <a:buChar char="q"/>
            </a:pPr>
            <a:r>
              <a:rPr lang="ne-NP" altLang="en-US" sz="2600" dirty="0">
                <a:latin typeface="Kokila" panose="020B0604020202020204" pitchFamily="34" charset="0"/>
                <a:cs typeface="Kalimati" panose="00000400000000000000" pitchFamily="2"/>
              </a:rPr>
              <a:t>न्यायपालिकाको प्रथम रणनीतिक योजनादेखि नै बैज्ञानिक मुद्दा व्यवस्थापनमा जोड दिइएको ।</a:t>
            </a:r>
          </a:p>
          <a:p>
            <a:pPr marL="731520" lvl="2" indent="-274320" algn="just">
              <a:lnSpc>
                <a:spcPct val="150000"/>
              </a:lnSpc>
              <a:buFont typeface="Wingdings" pitchFamily="2" charset="2"/>
              <a:buChar char="q"/>
            </a:pPr>
            <a:r>
              <a:rPr lang="ne-NP" altLang="en-US" sz="2600" dirty="0">
                <a:latin typeface="Kokila" panose="020B0604020202020204" pitchFamily="34" charset="0"/>
                <a:cs typeface="Kalimati" panose="00000400000000000000" pitchFamily="2"/>
              </a:rPr>
              <a:t>मुद्दा व्यवस्थापन पद्धति विकास सम्बन्धी अध्ययन प्रतिवेदन २०६६</a:t>
            </a:r>
          </a:p>
          <a:p>
            <a:pPr marL="731520" lvl="2" indent="-274320" algn="just">
              <a:lnSpc>
                <a:spcPct val="150000"/>
              </a:lnSpc>
              <a:buFont typeface="Wingdings" pitchFamily="2" charset="2"/>
              <a:buChar char="q"/>
            </a:pPr>
            <a:r>
              <a:rPr lang="ne-NP" altLang="en-US" sz="2600" dirty="0">
                <a:latin typeface="Kokila" panose="020B0604020202020204" pitchFamily="34" charset="0"/>
                <a:cs typeface="Kalimati" panose="00000400000000000000" pitchFamily="2"/>
              </a:rPr>
              <a:t>दोस्रो र तेस्रो रणनीतिक योजनामा फरक मुद्दा व्यवस्थापन पद्धति लागु गर्ने उल्लेख भएको ।</a:t>
            </a:r>
          </a:p>
          <a:p>
            <a:pPr marL="731520" lvl="2" indent="-274320" algn="just">
              <a:lnSpc>
                <a:spcPct val="150000"/>
              </a:lnSpc>
              <a:buFont typeface="Wingdings" pitchFamily="2" charset="2"/>
              <a:buChar char="q"/>
            </a:pPr>
            <a:r>
              <a:rPr lang="ne-NP" altLang="en-US" sz="2600" dirty="0">
                <a:latin typeface="Kokila" panose="020B0604020202020204" pitchFamily="34" charset="0"/>
                <a:cs typeface="Kalimati" panose="00000400000000000000" pitchFamily="2"/>
              </a:rPr>
              <a:t>समयतालिका पद्धति २५ जिल्ला अदालतहरुमा लागू भएको ।</a:t>
            </a:r>
          </a:p>
          <a:p>
            <a:pPr algn="just"/>
            <a:endParaRPr lang="ne-NP" dirty="0" smtClean="0">
              <a:cs typeface="Kalimati" panose="00000400000000000000" pitchFamily="2"/>
            </a:endParaRPr>
          </a:p>
          <a:p>
            <a:pPr algn="just"/>
            <a:endParaRPr lang="en-US" dirty="0">
              <a:cs typeface="Kalimati" panose="00000400000000000000" pitchFamily="2"/>
            </a:endParaRPr>
          </a:p>
        </p:txBody>
      </p:sp>
    </p:spTree>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29552" y="738909"/>
            <a:ext cx="10909615" cy="670560"/>
          </a:xfrm>
        </p:spPr>
        <p:txBody>
          <a:bodyPr>
            <a:normAutofit/>
          </a:bodyPr>
          <a:lstStyle/>
          <a:p>
            <a:r>
              <a:rPr lang="ne-NP" sz="3600" b="1" dirty="0" smtClean="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नेपालको </a:t>
            </a:r>
            <a:r>
              <a:rPr lang="ne-NP" sz="3600" b="1" dirty="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न्यायपालिकामा यो अवधारणाको विकास </a:t>
            </a:r>
            <a:endParaRPr lang="en-US" sz="3600" dirty="0">
              <a:solidFill>
                <a:srgbClr val="0070C0"/>
              </a:solidFill>
              <a:effectLst>
                <a:outerShdw blurRad="38100" dist="38100" dir="2700000" algn="tl">
                  <a:srgbClr val="000000">
                    <a:alpha val="43137"/>
                  </a:srgbClr>
                </a:outerShdw>
              </a:effectLst>
              <a:cs typeface="Kalimati" panose="00000400000000000000" pitchFamily="2"/>
            </a:endParaRPr>
          </a:p>
        </p:txBody>
      </p:sp>
      <p:sp>
        <p:nvSpPr>
          <p:cNvPr id="3" name="Content Placeholder 2"/>
          <p:cNvSpPr>
            <a:spLocks noGrp="1"/>
          </p:cNvSpPr>
          <p:nvPr>
            <p:ph idx="1"/>
          </p:nvPr>
        </p:nvSpPr>
        <p:spPr>
          <a:xfrm>
            <a:off x="426719" y="1280160"/>
            <a:ext cx="11478954" cy="5213003"/>
          </a:xfrm>
        </p:spPr>
        <p:txBody>
          <a:bodyPr>
            <a:normAutofit/>
          </a:bodyPr>
          <a:lstStyle/>
          <a:p>
            <a:pPr marL="731520" lvl="2" indent="-274320" algn="just">
              <a:lnSpc>
                <a:spcPct val="150000"/>
              </a:lnSpc>
              <a:buFont typeface="Wingdings" pitchFamily="2" charset="2"/>
              <a:buChar char="q"/>
            </a:pPr>
            <a:r>
              <a:rPr lang="ne-NP" altLang="en-US" sz="2600" dirty="0">
                <a:latin typeface="Kokila" panose="020B0604020202020204" pitchFamily="34" charset="0"/>
                <a:cs typeface="Kalimati" panose="00000400000000000000" pitchFamily="2"/>
              </a:rPr>
              <a:t>मुद्दा व्यवस्थापन पद्धति विकास सम्बन्धी अध्ययन प्रतिवेदन २०७५ लाई पूर्ण बैठकबाट  मिति २०७५।११।१५मा स्वीकृत ।</a:t>
            </a:r>
          </a:p>
          <a:p>
            <a:pPr marL="731520" lvl="2" indent="-274320" algn="just">
              <a:lnSpc>
                <a:spcPct val="150000"/>
              </a:lnSpc>
              <a:buFont typeface="Wingdings" pitchFamily="2" charset="2"/>
              <a:buChar char="q"/>
            </a:pPr>
            <a:r>
              <a:rPr lang="ne-NP" altLang="en-US" sz="2600" dirty="0">
                <a:latin typeface="Kokila" panose="020B0604020202020204" pitchFamily="34" charset="0"/>
                <a:cs typeface="Kalimati" panose="00000400000000000000" pitchFamily="2"/>
              </a:rPr>
              <a:t>न्यायपालिकाको चौथो पञ्चबर्षीय रणनीतिक योजनामा </a:t>
            </a:r>
            <a:r>
              <a:rPr lang="ne-NP" altLang="en-US" sz="2600" dirty="0" smtClean="0">
                <a:latin typeface="Kokila" panose="020B0604020202020204" pitchFamily="34" charset="0"/>
                <a:cs typeface="Kalimati" panose="00000400000000000000" pitchFamily="2"/>
              </a:rPr>
              <a:t>मिति २०७७</a:t>
            </a:r>
            <a:r>
              <a:rPr lang="ne-NP" altLang="en-US" sz="2600" dirty="0">
                <a:latin typeface="Kokila" panose="020B0604020202020204" pitchFamily="34" charset="0"/>
                <a:cs typeface="Kalimati" panose="00000400000000000000" pitchFamily="2"/>
              </a:rPr>
              <a:t>।४।१ देखि जिल्ला तथा उच्च अदालतहरूमा फरक मुद्दा व्यवस्थापन पद्धति लागु गर्ने कार्यक्रम </a:t>
            </a:r>
            <a:r>
              <a:rPr lang="ne-NP" altLang="en-US" sz="2600" dirty="0" smtClean="0">
                <a:latin typeface="Kokila" panose="020B0604020202020204" pitchFamily="34" charset="0"/>
                <a:cs typeface="Kalimati" panose="00000400000000000000" pitchFamily="2"/>
              </a:rPr>
              <a:t>रहेको। </a:t>
            </a:r>
            <a:endParaRPr lang="ne-NP" altLang="en-US" sz="2600" dirty="0">
              <a:latin typeface="Kokila" panose="020B0604020202020204" pitchFamily="34" charset="0"/>
              <a:cs typeface="Kalimati" panose="00000400000000000000" pitchFamily="2"/>
            </a:endParaRPr>
          </a:p>
          <a:p>
            <a:pPr marL="731520" lvl="2" indent="-274320" algn="just">
              <a:lnSpc>
                <a:spcPct val="150000"/>
              </a:lnSpc>
              <a:buFont typeface="Wingdings" pitchFamily="2" charset="2"/>
              <a:buChar char="q"/>
            </a:pPr>
            <a:r>
              <a:rPr lang="ne-NP" altLang="en-US" sz="2600" dirty="0">
                <a:latin typeface="Kokila" panose="020B0604020202020204" pitchFamily="34" charset="0"/>
                <a:cs typeface="Kalimati" panose="00000400000000000000" pitchFamily="2"/>
              </a:rPr>
              <a:t>सर्वोच्च अदालतमा फरक मुद्दा व्यवस्थापन निर्देशक समितिको </a:t>
            </a:r>
            <a:r>
              <a:rPr lang="ne-NP" altLang="en-US" sz="2600" dirty="0" smtClean="0">
                <a:latin typeface="Kokila" panose="020B0604020202020204" pitchFamily="34" charset="0"/>
                <a:cs typeface="Kalimati" panose="00000400000000000000" pitchFamily="2"/>
              </a:rPr>
              <a:t>गठन।</a:t>
            </a:r>
            <a:endParaRPr lang="ne-NP" altLang="en-US" sz="2600" dirty="0">
              <a:latin typeface="Kokila" panose="020B0604020202020204" pitchFamily="34" charset="0"/>
              <a:cs typeface="Kalimati" panose="00000400000000000000" pitchFamily="2"/>
            </a:endParaRPr>
          </a:p>
          <a:p>
            <a:pPr marL="731520" lvl="2" indent="-274320" algn="just">
              <a:lnSpc>
                <a:spcPct val="150000"/>
              </a:lnSpc>
              <a:buFont typeface="Wingdings" pitchFamily="2" charset="2"/>
              <a:buChar char="q"/>
            </a:pPr>
            <a:r>
              <a:rPr lang="ne-NP" altLang="en-US" sz="2600" dirty="0">
                <a:latin typeface="Kokila" panose="020B0604020202020204" pitchFamily="34" charset="0"/>
                <a:cs typeface="Kalimati" panose="00000400000000000000" pitchFamily="2"/>
              </a:rPr>
              <a:t>नियमावलीमा संशोधन गर्न र फरक मुद्दा व्यवस्थापन सम्बन्धी दिग्दर्शन निर्माण गर्न </a:t>
            </a:r>
            <a:r>
              <a:rPr lang="ne-NP" altLang="en-US" sz="2600" dirty="0" smtClean="0">
                <a:latin typeface="Kokila" panose="020B0604020202020204" pitchFamily="34" charset="0"/>
                <a:cs typeface="Kalimati" panose="00000400000000000000" pitchFamily="2"/>
              </a:rPr>
              <a:t>कार्यदल </a:t>
            </a:r>
            <a:r>
              <a:rPr lang="ne-NP" altLang="en-US" sz="2600" dirty="0">
                <a:latin typeface="Kokila" panose="020B0604020202020204" pitchFamily="34" charset="0"/>
                <a:cs typeface="Kalimati" panose="00000400000000000000" pitchFamily="2"/>
              </a:rPr>
              <a:t>गठन  र प्रतिवेदन </a:t>
            </a:r>
            <a:r>
              <a:rPr lang="ne-NP" altLang="en-US" sz="2600" dirty="0" smtClean="0">
                <a:latin typeface="Kokila" panose="020B0604020202020204" pitchFamily="34" charset="0"/>
                <a:cs typeface="Kalimati" panose="00000400000000000000" pitchFamily="2"/>
              </a:rPr>
              <a:t>स्वीकृत।</a:t>
            </a:r>
          </a:p>
          <a:p>
            <a:pPr marL="457200" lvl="2" indent="0" algn="just">
              <a:lnSpc>
                <a:spcPct val="150000"/>
              </a:lnSpc>
              <a:buNone/>
            </a:pPr>
            <a:endParaRPr lang="ne-NP" altLang="en-US" sz="2600" dirty="0">
              <a:latin typeface="Kokila" panose="020B0604020202020204" pitchFamily="34" charset="0"/>
              <a:cs typeface="Kalimati" panose="00000400000000000000" pitchFamily="2"/>
            </a:endParaRPr>
          </a:p>
          <a:p>
            <a:pPr marL="731520" lvl="2" indent="-274320">
              <a:buFont typeface="Wingdings" pitchFamily="2" charset="2"/>
              <a:buChar char="q"/>
            </a:pPr>
            <a:endParaRPr lang="en-US" altLang="en-US" sz="2600" b="1" dirty="0">
              <a:effectLst>
                <a:outerShdw blurRad="38100" dist="38100" dir="2700000" algn="tl">
                  <a:srgbClr val="000000">
                    <a:alpha val="43137"/>
                  </a:srgbClr>
                </a:outerShdw>
              </a:effectLst>
              <a:latin typeface="Kokila" panose="020B0604020202020204" pitchFamily="34" charset="0"/>
              <a:cs typeface="Kokila" panose="020B0604020202020204" pitchFamily="34" charset="0"/>
            </a:endParaRPr>
          </a:p>
          <a:p>
            <a:pPr algn="just"/>
            <a:endParaRPr lang="en-US" dirty="0">
              <a:cs typeface="Kalimati" panose="00000400000000000000" pitchFamily="2"/>
            </a:endParaRPr>
          </a:p>
        </p:txBody>
      </p:sp>
    </p:spTree>
    <p:extLst>
      <p:ext uri="{BB962C8B-B14F-4D97-AF65-F5344CB8AC3E}">
        <p14:creationId xmlns:p14="http://schemas.microsoft.com/office/powerpoint/2010/main" val="211508882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3" y="73891"/>
            <a:ext cx="10827729" cy="1130070"/>
          </a:xfrm>
        </p:spPr>
        <p:txBody>
          <a:bodyPr>
            <a:normAutofit fontScale="90000"/>
          </a:bodyPr>
          <a:lstStyle/>
          <a:p>
            <a:r>
              <a:rPr lang="ne-NP" sz="4000" b="1" dirty="0" smtClean="0">
                <a:solidFill>
                  <a:srgbClr val="00B050"/>
                </a:solidFill>
                <a:latin typeface="Kokila" pitchFamily="34" charset="0"/>
                <a:cs typeface="Kokila" pitchFamily="34" charset="0"/>
              </a:rPr>
              <a:t/>
            </a:r>
            <a:br>
              <a:rPr lang="ne-NP" sz="4000" b="1" dirty="0" smtClean="0">
                <a:solidFill>
                  <a:srgbClr val="00B050"/>
                </a:solidFill>
                <a:latin typeface="Kokila" pitchFamily="34" charset="0"/>
                <a:cs typeface="Kokila" pitchFamily="34" charset="0"/>
              </a:rPr>
            </a:br>
            <a:r>
              <a:rPr lang="ne-NP" sz="4000" b="1" dirty="0">
                <a:solidFill>
                  <a:srgbClr val="00B050"/>
                </a:solidFill>
                <a:latin typeface="Kokila" pitchFamily="34" charset="0"/>
                <a:cs typeface="Kokila" pitchFamily="34" charset="0"/>
              </a:rPr>
              <a:t/>
            </a:r>
            <a:br>
              <a:rPr lang="ne-NP" sz="4000" b="1" dirty="0">
                <a:solidFill>
                  <a:srgbClr val="00B050"/>
                </a:solidFill>
                <a:latin typeface="Kokila" pitchFamily="34" charset="0"/>
                <a:cs typeface="Kokila" pitchFamily="34" charset="0"/>
              </a:rPr>
            </a:br>
            <a:r>
              <a:rPr lang="ne-NP" sz="4000" b="1" dirty="0" smtClean="0">
                <a:solidFill>
                  <a:srgbClr val="00B050"/>
                </a:solidFill>
                <a:latin typeface="Kokila" pitchFamily="34" charset="0"/>
                <a:cs typeface="Kokila" pitchFamily="34" charset="0"/>
              </a:rPr>
              <a:t/>
            </a:r>
            <a:br>
              <a:rPr lang="ne-NP" sz="4000" b="1" dirty="0" smtClean="0">
                <a:solidFill>
                  <a:srgbClr val="00B050"/>
                </a:solidFill>
                <a:latin typeface="Kokila" pitchFamily="34" charset="0"/>
                <a:cs typeface="Kokila" pitchFamily="34" charset="0"/>
              </a:rPr>
            </a:br>
            <a:r>
              <a:rPr lang="ne-NP" sz="4000" b="1" dirty="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६</a:t>
            </a:r>
            <a:r>
              <a:rPr lang="en-US" sz="4000" b="1" dirty="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a:t>
            </a:r>
            <a:r>
              <a:rPr lang="ne-NP" sz="4000" b="1" dirty="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 </a:t>
            </a:r>
            <a:r>
              <a:rPr lang="ne-NP" sz="4000" b="1" dirty="0" smtClean="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जिल्ला अदालतमा </a:t>
            </a:r>
            <a:r>
              <a:rPr lang="ne-NP" sz="4000" b="1" dirty="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रहने मार्गसमूह र फर्छ्यौट अवधि</a:t>
            </a:r>
            <a:r>
              <a:rPr lang="en-AU" b="1" dirty="0">
                <a:solidFill>
                  <a:srgbClr val="FF0000"/>
                </a:solidFill>
              </a:rPr>
              <a:t/>
            </a:r>
            <a:br>
              <a:rPr lang="en-AU" b="1" dirty="0">
                <a:solidFill>
                  <a:srgbClr val="FF0000"/>
                </a:solidFill>
              </a:rPr>
            </a:br>
            <a:r>
              <a:rPr lang="en-AU" b="1" dirty="0">
                <a:solidFill>
                  <a:srgbClr val="FF0000"/>
                </a:solidFill>
              </a:rPr>
              <a:t/>
            </a:r>
            <a:br>
              <a:rPr lang="en-AU" b="1" dirty="0">
                <a:solidFill>
                  <a:srgbClr val="FF0000"/>
                </a:solidFill>
              </a:rPr>
            </a:br>
            <a:endParaRPr lang="en-AU" b="1" dirty="0">
              <a:solidFill>
                <a:srgbClr val="FF0000"/>
              </a:solidFill>
            </a:endParaRPr>
          </a:p>
        </p:txBody>
      </p:sp>
      <p:sp>
        <p:nvSpPr>
          <p:cNvPr id="3" name="Content Placeholder 2"/>
          <p:cNvSpPr>
            <a:spLocks noGrp="1"/>
          </p:cNvSpPr>
          <p:nvPr>
            <p:ph idx="1"/>
          </p:nvPr>
        </p:nvSpPr>
        <p:spPr>
          <a:xfrm>
            <a:off x="677333" y="1348509"/>
            <a:ext cx="10895967" cy="4692853"/>
          </a:xfrm>
        </p:spPr>
        <p:txBody>
          <a:bodyPr>
            <a:normAutofit/>
          </a:bodyPr>
          <a:lstStyle/>
          <a:p>
            <a:r>
              <a:rPr lang="ne-NP" b="1" dirty="0">
                <a:latin typeface="Kokila" pitchFamily="34" charset="0"/>
                <a:cs typeface="Kalimati" panose="00000400000000000000" pitchFamily="2"/>
              </a:rPr>
              <a:t>सरल मार्ग </a:t>
            </a:r>
            <a:r>
              <a:rPr lang="en-US" b="1" dirty="0">
                <a:latin typeface="Kokila" pitchFamily="34" charset="0"/>
                <a:cs typeface="Kalimati" panose="00000400000000000000" pitchFamily="2"/>
              </a:rPr>
              <a:t>(</a:t>
            </a:r>
            <a:r>
              <a:rPr lang="ne-NP" b="1" dirty="0">
                <a:latin typeface="Kokila" pitchFamily="34" charset="0"/>
                <a:cs typeface="Kalimati" panose="00000400000000000000" pitchFamily="2"/>
              </a:rPr>
              <a:t>६</a:t>
            </a:r>
            <a:r>
              <a:rPr lang="en-US" b="1" dirty="0">
                <a:latin typeface="Kokila" pitchFamily="34" charset="0"/>
                <a:cs typeface="Kalimati" panose="00000400000000000000" pitchFamily="2"/>
              </a:rPr>
              <a:t> </a:t>
            </a:r>
            <a:r>
              <a:rPr lang="ne-NP" b="1" dirty="0">
                <a:latin typeface="Kokila" pitchFamily="34" charset="0"/>
                <a:cs typeface="Kalimati" panose="00000400000000000000" pitchFamily="2"/>
              </a:rPr>
              <a:t>महिना भित्र</a:t>
            </a:r>
            <a:r>
              <a:rPr lang="en-US" b="1" dirty="0">
                <a:latin typeface="Kokila" pitchFamily="34" charset="0"/>
                <a:cs typeface="Kalimati" panose="00000400000000000000" pitchFamily="2"/>
              </a:rPr>
              <a:t>)</a:t>
            </a:r>
            <a:r>
              <a:rPr lang="ne-NP" b="1" dirty="0">
                <a:latin typeface="Kokila" pitchFamily="34" charset="0"/>
                <a:cs typeface="Kalimati" panose="00000400000000000000" pitchFamily="2"/>
              </a:rPr>
              <a:t> </a:t>
            </a:r>
            <a:r>
              <a:rPr lang="ne-NP" dirty="0">
                <a:latin typeface="Kokila" pitchFamily="34" charset="0"/>
                <a:cs typeface="Kalimati" panose="00000400000000000000" pitchFamily="2"/>
              </a:rPr>
              <a:t>सबै प्रकृतिका मुद्दामा रहने </a:t>
            </a:r>
          </a:p>
          <a:p>
            <a:r>
              <a:rPr lang="ne-NP" b="1" dirty="0">
                <a:latin typeface="Kokila" pitchFamily="34" charset="0"/>
                <a:cs typeface="Kalimati" panose="00000400000000000000" pitchFamily="2"/>
              </a:rPr>
              <a:t>सामान्य मार्ग </a:t>
            </a:r>
            <a:r>
              <a:rPr lang="en-US" b="1" dirty="0">
                <a:latin typeface="Kokila" pitchFamily="34" charset="0"/>
                <a:cs typeface="Kalimati" panose="00000400000000000000" pitchFamily="2"/>
              </a:rPr>
              <a:t>(</a:t>
            </a:r>
            <a:r>
              <a:rPr lang="ne-NP" b="1" dirty="0">
                <a:latin typeface="Kokila" pitchFamily="34" charset="0"/>
                <a:cs typeface="Kalimati" panose="00000400000000000000" pitchFamily="2"/>
              </a:rPr>
              <a:t>१२</a:t>
            </a:r>
            <a:r>
              <a:rPr lang="en-US" b="1" dirty="0">
                <a:latin typeface="Kokila" pitchFamily="34" charset="0"/>
                <a:cs typeface="Kalimati" panose="00000400000000000000" pitchFamily="2"/>
              </a:rPr>
              <a:t> </a:t>
            </a:r>
            <a:r>
              <a:rPr lang="ne-NP" b="1" dirty="0">
                <a:latin typeface="Kokila" pitchFamily="34" charset="0"/>
                <a:cs typeface="Kalimati" panose="00000400000000000000" pitchFamily="2"/>
              </a:rPr>
              <a:t>महिना भित्र</a:t>
            </a:r>
            <a:r>
              <a:rPr lang="en-US" b="1" dirty="0">
                <a:latin typeface="Kokila" pitchFamily="34" charset="0"/>
                <a:cs typeface="Kalimati" panose="00000400000000000000" pitchFamily="2"/>
              </a:rPr>
              <a:t>)</a:t>
            </a:r>
            <a:r>
              <a:rPr lang="ne-NP" b="1" dirty="0">
                <a:latin typeface="Kokila" pitchFamily="34" charset="0"/>
                <a:cs typeface="Kalimati" panose="00000400000000000000" pitchFamily="2"/>
              </a:rPr>
              <a:t> </a:t>
            </a:r>
            <a:r>
              <a:rPr lang="ne-NP" dirty="0">
                <a:latin typeface="Kokila" pitchFamily="34" charset="0"/>
                <a:cs typeface="Kalimati" panose="00000400000000000000" pitchFamily="2"/>
              </a:rPr>
              <a:t>सबै प्रकृतिका मुद्दामा रहने</a:t>
            </a:r>
          </a:p>
          <a:p>
            <a:r>
              <a:rPr lang="ne-NP" b="1" dirty="0">
                <a:latin typeface="Kokila" pitchFamily="34" charset="0"/>
                <a:cs typeface="Kalimati" panose="00000400000000000000" pitchFamily="2"/>
              </a:rPr>
              <a:t>विशेष मार्ग </a:t>
            </a:r>
            <a:r>
              <a:rPr lang="en-US" b="1" dirty="0">
                <a:latin typeface="Kokila" pitchFamily="34" charset="0"/>
                <a:cs typeface="Kalimati" panose="00000400000000000000" pitchFamily="2"/>
              </a:rPr>
              <a:t>(</a:t>
            </a:r>
            <a:r>
              <a:rPr lang="ne-NP" b="1" dirty="0">
                <a:latin typeface="Kokila" pitchFamily="34" charset="0"/>
                <a:cs typeface="Kalimati" panose="00000400000000000000" pitchFamily="2"/>
              </a:rPr>
              <a:t>१८</a:t>
            </a:r>
            <a:r>
              <a:rPr lang="en-US" b="1" dirty="0">
                <a:latin typeface="Kokila" pitchFamily="34" charset="0"/>
                <a:cs typeface="Kalimati" panose="00000400000000000000" pitchFamily="2"/>
              </a:rPr>
              <a:t> </a:t>
            </a:r>
            <a:r>
              <a:rPr lang="ne-NP" b="1" dirty="0">
                <a:latin typeface="Kokila" pitchFamily="34" charset="0"/>
                <a:cs typeface="Kalimati" panose="00000400000000000000" pitchFamily="2"/>
              </a:rPr>
              <a:t>महिना भित्र</a:t>
            </a:r>
            <a:r>
              <a:rPr lang="en-US" b="1" dirty="0">
                <a:latin typeface="Kokila" pitchFamily="34" charset="0"/>
                <a:cs typeface="Kalimati" panose="00000400000000000000" pitchFamily="2"/>
              </a:rPr>
              <a:t>)</a:t>
            </a:r>
            <a:r>
              <a:rPr lang="ne-NP" b="1" dirty="0">
                <a:latin typeface="Kokila" pitchFamily="34" charset="0"/>
                <a:cs typeface="Kalimati" panose="00000400000000000000" pitchFamily="2"/>
              </a:rPr>
              <a:t> </a:t>
            </a:r>
            <a:r>
              <a:rPr lang="ne-NP" dirty="0" smtClean="0">
                <a:latin typeface="Kokila" pitchFamily="34" charset="0"/>
                <a:cs typeface="Kalimati" panose="00000400000000000000" pitchFamily="2"/>
              </a:rPr>
              <a:t>शुरु </a:t>
            </a:r>
            <a:r>
              <a:rPr lang="ne-NP" dirty="0">
                <a:latin typeface="Kokila" pitchFamily="34" charset="0"/>
                <a:cs typeface="Kalimati" panose="00000400000000000000" pitchFamily="2"/>
              </a:rPr>
              <a:t>कारवाही हुने सरकारवादी फौजदारी मुद्दा </a:t>
            </a:r>
            <a:endParaRPr lang="en-US" dirty="0">
              <a:latin typeface="Kokila" pitchFamily="34" charset="0"/>
              <a:cs typeface="Kalimati" panose="00000400000000000000" pitchFamily="2"/>
            </a:endParaRPr>
          </a:p>
          <a:p>
            <a:pPr>
              <a:buNone/>
            </a:pPr>
            <a:endParaRPr lang="en-AU" sz="3200" dirty="0">
              <a:latin typeface="Kokila" pitchFamily="34" charset="0"/>
              <a:cs typeface="Kokila" pitchFamily="34" charset="0"/>
            </a:endParaRPr>
          </a:p>
        </p:txBody>
      </p:sp>
    </p:spTree>
    <p:extLst>
      <p:ext uri="{BB962C8B-B14F-4D97-AF65-F5344CB8AC3E}">
        <p14:creationId xmlns:p14="http://schemas.microsoft.com/office/powerpoint/2010/main" val="277343177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3" y="110836"/>
            <a:ext cx="10814081" cy="618837"/>
          </a:xfrm>
        </p:spPr>
        <p:txBody>
          <a:bodyPr>
            <a:normAutofit fontScale="90000"/>
          </a:bodyPr>
          <a:lstStyle/>
          <a:p>
            <a:r>
              <a:rPr lang="ne-NP" b="1" dirty="0" smtClean="0">
                <a:solidFill>
                  <a:srgbClr val="00B050"/>
                </a:solidFill>
                <a:latin typeface="Kokila" pitchFamily="34" charset="0"/>
                <a:cs typeface="Kokila" pitchFamily="34" charset="0"/>
              </a:rPr>
              <a:t/>
            </a:r>
            <a:br>
              <a:rPr lang="ne-NP" b="1" dirty="0" smtClean="0">
                <a:solidFill>
                  <a:srgbClr val="00B050"/>
                </a:solidFill>
                <a:latin typeface="Kokila" pitchFamily="34" charset="0"/>
                <a:cs typeface="Kokila" pitchFamily="34" charset="0"/>
              </a:rPr>
            </a:br>
            <a:r>
              <a:rPr lang="ne-NP" sz="4000" b="1" dirty="0" smtClean="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७</a:t>
            </a:r>
            <a:r>
              <a:rPr lang="en-US" sz="4000" b="1" dirty="0" smtClean="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 </a:t>
            </a:r>
            <a:r>
              <a:rPr lang="ne-NP" sz="4000" b="1" dirty="0" smtClean="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मार्गसमूह निर्धारणका आधारहरु</a:t>
            </a:r>
            <a:endParaRPr lang="en-US" sz="4000" b="1"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a:xfrm>
            <a:off x="461818" y="1188720"/>
            <a:ext cx="11388437" cy="5350625"/>
          </a:xfrm>
        </p:spPr>
        <p:txBody>
          <a:bodyPr>
            <a:normAutofit fontScale="92500"/>
          </a:bodyPr>
          <a:lstStyle/>
          <a:p>
            <a:pPr>
              <a:buFont typeface="Wingdings" pitchFamily="2" charset="2"/>
              <a:buChar char="§"/>
            </a:pPr>
            <a:r>
              <a:rPr lang="ne-NP" sz="2400" dirty="0">
                <a:latin typeface="Kokila" pitchFamily="34" charset="0"/>
                <a:cs typeface="Kalimati" panose="00000400000000000000" pitchFamily="2"/>
              </a:rPr>
              <a:t>अन्तरार्ष्ट्रिय अभ्यास र पूर्व अध्ययन प्रतिवेदन तथा अदालतहरुबाट प्राप्त सुझाव समेतका आधारमा २ देखि ३ वटा मार्ग समूहहरु निर्धारण गरिएको।</a:t>
            </a:r>
          </a:p>
          <a:p>
            <a:pPr algn="just">
              <a:lnSpc>
                <a:spcPct val="150000"/>
              </a:lnSpc>
            </a:pPr>
            <a:r>
              <a:rPr lang="ne-NP" sz="2400" dirty="0">
                <a:latin typeface="Kokila" pitchFamily="34" charset="0"/>
                <a:cs typeface="Kalimati" panose="00000400000000000000" pitchFamily="2"/>
              </a:rPr>
              <a:t>मुद्दाको मार्ग समूह निर्धारण गर्दा मुद्दाको नामको आधारमा नभै देहायका बिषयलाई आधार लिइएको </a:t>
            </a:r>
          </a:p>
          <a:p>
            <a:pPr lvl="1">
              <a:lnSpc>
                <a:spcPct val="150000"/>
              </a:lnSpc>
            </a:pPr>
            <a:r>
              <a:rPr lang="ne-NP" sz="2400" dirty="0">
                <a:latin typeface="Kokila" pitchFamily="34" charset="0"/>
                <a:cs typeface="Kalimati" panose="00000400000000000000" pitchFamily="2"/>
              </a:rPr>
              <a:t> मुद्दामा प्रतिवादीहरूको संख्या</a:t>
            </a:r>
            <a:r>
              <a:rPr lang="en-US" sz="2400" dirty="0" smtClean="0">
                <a:latin typeface="Kokila" pitchFamily="34" charset="0"/>
                <a:cs typeface="Kalimati" panose="00000400000000000000" pitchFamily="2"/>
              </a:rPr>
              <a:t>, </a:t>
            </a:r>
            <a:r>
              <a:rPr lang="ne-NP" sz="2400" i="1" dirty="0" smtClean="0">
                <a:solidFill>
                  <a:srgbClr val="FF0000"/>
                </a:solidFill>
                <a:latin typeface="Kokila" pitchFamily="34" charset="0"/>
                <a:cs typeface="Kalimati" panose="00000400000000000000" pitchFamily="2"/>
              </a:rPr>
              <a:t>१० जना भन्दा बढी भए विशेष मार्गमा</a:t>
            </a:r>
            <a:endParaRPr lang="ne-NP" sz="2400" i="1" dirty="0">
              <a:solidFill>
                <a:srgbClr val="FF0000"/>
              </a:solidFill>
              <a:latin typeface="Kokila" pitchFamily="34" charset="0"/>
              <a:cs typeface="Kalimati" panose="00000400000000000000" pitchFamily="2"/>
            </a:endParaRPr>
          </a:p>
          <a:p>
            <a:pPr lvl="1">
              <a:lnSpc>
                <a:spcPct val="150000"/>
              </a:lnSpc>
            </a:pPr>
            <a:r>
              <a:rPr lang="ne-NP" sz="2400" dirty="0">
                <a:latin typeface="Kokila" pitchFamily="34" charset="0"/>
                <a:cs typeface="Kalimati" panose="00000400000000000000" pitchFamily="2"/>
              </a:rPr>
              <a:t> मुद्दालाई दिनुपर्ने प्राथिमकता </a:t>
            </a:r>
          </a:p>
          <a:p>
            <a:pPr lvl="1">
              <a:lnSpc>
                <a:spcPct val="150000"/>
              </a:lnSpc>
            </a:pPr>
            <a:r>
              <a:rPr lang="ne-NP" sz="2400" dirty="0">
                <a:latin typeface="Kokila" pitchFamily="34" charset="0"/>
                <a:cs typeface="Kalimati" panose="00000400000000000000" pitchFamily="2"/>
              </a:rPr>
              <a:t>मुद्दामा प्रयोग हुने कार्यविधि</a:t>
            </a:r>
            <a:r>
              <a:rPr lang="en-US" sz="2400" dirty="0" smtClean="0">
                <a:latin typeface="Kokila" pitchFamily="34" charset="0"/>
                <a:cs typeface="Kalimati" panose="00000400000000000000" pitchFamily="2"/>
              </a:rPr>
              <a:t>,</a:t>
            </a:r>
            <a:r>
              <a:rPr lang="ne-NP" sz="2400" dirty="0" smtClean="0">
                <a:latin typeface="Kokila" pitchFamily="34" charset="0"/>
                <a:cs typeface="Kalimati" panose="00000400000000000000" pitchFamily="2"/>
              </a:rPr>
              <a:t> </a:t>
            </a:r>
            <a:r>
              <a:rPr lang="ne-NP" sz="2400" dirty="0" smtClean="0">
                <a:solidFill>
                  <a:srgbClr val="FF0000"/>
                </a:solidFill>
                <a:latin typeface="Kokila" pitchFamily="34" charset="0"/>
                <a:cs typeface="Kalimati" panose="00000400000000000000" pitchFamily="2"/>
              </a:rPr>
              <a:t>पटक पटक थमाएमा वा विशेष परिस्थिति परेमा </a:t>
            </a:r>
            <a:endParaRPr lang="ne-NP" sz="2400" dirty="0">
              <a:solidFill>
                <a:srgbClr val="FF0000"/>
              </a:solidFill>
              <a:latin typeface="Kokila" pitchFamily="34" charset="0"/>
              <a:cs typeface="Kalimati" panose="00000400000000000000" pitchFamily="2"/>
            </a:endParaRPr>
          </a:p>
          <a:p>
            <a:pPr lvl="1">
              <a:lnSpc>
                <a:spcPct val="150000"/>
              </a:lnSpc>
            </a:pPr>
            <a:r>
              <a:rPr lang="ne-NP" sz="2400" dirty="0">
                <a:latin typeface="Kokila" pitchFamily="34" charset="0"/>
                <a:cs typeface="Kalimati" panose="00000400000000000000" pitchFamily="2"/>
              </a:rPr>
              <a:t>मुद्दामा लाग्ने समय</a:t>
            </a:r>
            <a:r>
              <a:rPr lang="en-US" sz="2400" dirty="0" smtClean="0">
                <a:latin typeface="Kokila" pitchFamily="34" charset="0"/>
                <a:cs typeface="Kalimati" panose="00000400000000000000" pitchFamily="2"/>
              </a:rPr>
              <a:t>,</a:t>
            </a:r>
            <a:r>
              <a:rPr lang="ne-NP" sz="2400" dirty="0" smtClean="0">
                <a:latin typeface="Kokila" pitchFamily="34" charset="0"/>
                <a:cs typeface="Kalimati" panose="00000400000000000000" pitchFamily="2"/>
              </a:rPr>
              <a:t> </a:t>
            </a:r>
            <a:r>
              <a:rPr lang="en-US" sz="2400" dirty="0" smtClean="0">
                <a:solidFill>
                  <a:srgbClr val="FF0000"/>
                </a:solidFill>
                <a:latin typeface="Kokila" pitchFamily="34" charset="0"/>
                <a:cs typeface="Kalimati" panose="00000400000000000000" pitchFamily="2"/>
              </a:rPr>
              <a:t>MLA </a:t>
            </a:r>
            <a:r>
              <a:rPr lang="ne-NP" sz="2400" dirty="0" smtClean="0">
                <a:solidFill>
                  <a:srgbClr val="FF0000"/>
                </a:solidFill>
                <a:latin typeface="Kokila" pitchFamily="34" charset="0"/>
                <a:cs typeface="Kalimati" panose="00000400000000000000" pitchFamily="2"/>
              </a:rPr>
              <a:t>मार्फत विदेशमा म्याद तामेल वा प्रमाण संकलन गर्न पर्ने भए</a:t>
            </a:r>
            <a:endParaRPr lang="ne-NP" sz="2400" dirty="0">
              <a:solidFill>
                <a:srgbClr val="FF0000"/>
              </a:solidFill>
              <a:latin typeface="Kokila" pitchFamily="34" charset="0"/>
              <a:cs typeface="Kalimati" panose="00000400000000000000" pitchFamily="2"/>
            </a:endParaRPr>
          </a:p>
          <a:p>
            <a:pPr lvl="1">
              <a:lnSpc>
                <a:spcPct val="150000"/>
              </a:lnSpc>
            </a:pPr>
            <a:r>
              <a:rPr lang="ne-NP" sz="2400" dirty="0">
                <a:latin typeface="Kokila" pitchFamily="34" charset="0"/>
                <a:cs typeface="Kalimati" panose="00000400000000000000" pitchFamily="2"/>
              </a:rPr>
              <a:t>मुद्दामा गर्नुपर्ने कार्यहरु</a:t>
            </a:r>
            <a:r>
              <a:rPr lang="en-US" sz="2400" dirty="0" smtClean="0">
                <a:latin typeface="Kokila" pitchFamily="34" charset="0"/>
                <a:cs typeface="Kalimati" panose="00000400000000000000" pitchFamily="2"/>
              </a:rPr>
              <a:t>,</a:t>
            </a:r>
            <a:r>
              <a:rPr lang="ne-NP" sz="2400" dirty="0" smtClean="0">
                <a:latin typeface="Kokila" pitchFamily="34" charset="0"/>
                <a:cs typeface="Kalimati" panose="00000400000000000000" pitchFamily="2"/>
              </a:rPr>
              <a:t> </a:t>
            </a:r>
            <a:r>
              <a:rPr lang="ne-NP" sz="2400" dirty="0" smtClean="0">
                <a:solidFill>
                  <a:srgbClr val="FF0000"/>
                </a:solidFill>
                <a:latin typeface="Kokila" pitchFamily="34" charset="0"/>
                <a:cs typeface="Kalimati" panose="00000400000000000000" pitchFamily="2"/>
              </a:rPr>
              <a:t>म्याद बदर भई </a:t>
            </a:r>
            <a:r>
              <a:rPr lang="ne-NP" sz="2400" i="1" dirty="0" smtClean="0">
                <a:solidFill>
                  <a:srgbClr val="FF0000"/>
                </a:solidFill>
                <a:latin typeface="Kokila" pitchFamily="34" charset="0"/>
                <a:cs typeface="Kalimati" panose="00000400000000000000" pitchFamily="2"/>
              </a:rPr>
              <a:t>पुनः जारी गर्नुपर्ने भए सामान्य पटक पटक भए विशेष</a:t>
            </a:r>
            <a:endParaRPr lang="ne-NP" sz="2400" i="1" dirty="0">
              <a:solidFill>
                <a:srgbClr val="FF0000"/>
              </a:solidFill>
              <a:latin typeface="Kokila" pitchFamily="34" charset="0"/>
              <a:cs typeface="Kalimati" panose="00000400000000000000" pitchFamily="2"/>
            </a:endParaRPr>
          </a:p>
          <a:p>
            <a:pPr lvl="1">
              <a:lnSpc>
                <a:spcPct val="150000"/>
              </a:lnSpc>
            </a:pPr>
            <a:r>
              <a:rPr lang="ne-NP" sz="2400" dirty="0">
                <a:latin typeface="Kokila" pitchFamily="34" charset="0"/>
                <a:cs typeface="Kalimati" panose="00000400000000000000" pitchFamily="2"/>
              </a:rPr>
              <a:t>मुद्दाको जटिलता र लगाउ मुद्दाहरूको संख्या</a:t>
            </a:r>
            <a:r>
              <a:rPr lang="ne-NP" sz="2400" dirty="0" smtClean="0">
                <a:latin typeface="Kokila" pitchFamily="34" charset="0"/>
                <a:cs typeface="Kalimati" panose="00000400000000000000" pitchFamily="2"/>
              </a:rPr>
              <a:t>।</a:t>
            </a:r>
            <a:r>
              <a:rPr lang="ne-NP" sz="2400" i="1" dirty="0" smtClean="0">
                <a:solidFill>
                  <a:srgbClr val="FF0000"/>
                </a:solidFill>
                <a:latin typeface="Kokila" pitchFamily="34" charset="0"/>
                <a:cs typeface="Kalimati" panose="00000400000000000000" pitchFamily="2"/>
              </a:rPr>
              <a:t>३</a:t>
            </a:r>
            <a:r>
              <a:rPr lang="en-US" sz="2400" i="1" dirty="0" smtClean="0">
                <a:solidFill>
                  <a:srgbClr val="FF0000"/>
                </a:solidFill>
                <a:latin typeface="Kokila" pitchFamily="34" charset="0"/>
                <a:cs typeface="Kalimati" panose="00000400000000000000" pitchFamily="2"/>
              </a:rPr>
              <a:t>-</a:t>
            </a:r>
            <a:r>
              <a:rPr lang="ne-NP" sz="2400" i="1" dirty="0" smtClean="0">
                <a:solidFill>
                  <a:srgbClr val="FF0000"/>
                </a:solidFill>
                <a:latin typeface="Kokila" pitchFamily="34" charset="0"/>
                <a:cs typeface="Kalimati" panose="00000400000000000000" pitchFamily="2"/>
              </a:rPr>
              <a:t>१० सम्म </a:t>
            </a:r>
            <a:r>
              <a:rPr lang="ne-NP" sz="2400" i="1" dirty="0" smtClean="0">
                <a:solidFill>
                  <a:srgbClr val="FF0000"/>
                </a:solidFill>
                <a:latin typeface="Kokila" pitchFamily="34" charset="0"/>
                <a:cs typeface="Kalimati" panose="00000400000000000000" pitchFamily="2"/>
              </a:rPr>
              <a:t>सामान्य १०भन्दा </a:t>
            </a:r>
            <a:r>
              <a:rPr lang="ne-NP" sz="2400" i="1" dirty="0">
                <a:solidFill>
                  <a:srgbClr val="FF0000"/>
                </a:solidFill>
                <a:latin typeface="Kokila" pitchFamily="34" charset="0"/>
                <a:cs typeface="Kalimati" panose="00000400000000000000" pitchFamily="2"/>
              </a:rPr>
              <a:t>बढी </a:t>
            </a:r>
            <a:r>
              <a:rPr lang="ne-NP" sz="2400" i="1" dirty="0" smtClean="0">
                <a:solidFill>
                  <a:srgbClr val="FF0000"/>
                </a:solidFill>
                <a:latin typeface="Kokila" pitchFamily="34" charset="0"/>
                <a:cs typeface="Kalimati" panose="00000400000000000000" pitchFamily="2"/>
              </a:rPr>
              <a:t>विशेष</a:t>
            </a:r>
            <a:endParaRPr lang="ne-NP" sz="2400" i="1" dirty="0">
              <a:solidFill>
                <a:srgbClr val="FF0000"/>
              </a:solidFill>
              <a:latin typeface="Kokila" pitchFamily="34" charset="0"/>
              <a:cs typeface="Kalimati" panose="00000400000000000000" pitchFamily="2"/>
            </a:endParaRPr>
          </a:p>
          <a:p>
            <a:pPr algn="just"/>
            <a:endParaRPr lang="en-US" sz="3200" i="1" dirty="0">
              <a:solidFill>
                <a:srgbClr val="0070C0"/>
              </a:solidFill>
              <a:latin typeface="Kokila" pitchFamily="34" charset="0"/>
              <a:cs typeface="Kalimati" panose="00000400000000000000" pitchFamily="2"/>
            </a:endParaRPr>
          </a:p>
        </p:txBody>
      </p:sp>
    </p:spTree>
    <p:extLst>
      <p:ext uri="{BB962C8B-B14F-4D97-AF65-F5344CB8AC3E}">
        <p14:creationId xmlns:p14="http://schemas.microsoft.com/office/powerpoint/2010/main" val="273777857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3" y="120073"/>
            <a:ext cx="10814081" cy="1007688"/>
          </a:xfrm>
        </p:spPr>
        <p:txBody>
          <a:bodyPr>
            <a:normAutofit fontScale="90000"/>
          </a:bodyPr>
          <a:lstStyle/>
          <a:p>
            <a:r>
              <a:rPr lang="ne-NP" b="1" dirty="0" smtClean="0">
                <a:solidFill>
                  <a:srgbClr val="00B050"/>
                </a:solidFill>
                <a:latin typeface="Kokila" pitchFamily="34" charset="0"/>
                <a:cs typeface="Kokila" pitchFamily="34" charset="0"/>
              </a:rPr>
              <a:t/>
            </a:r>
            <a:br>
              <a:rPr lang="ne-NP" b="1" dirty="0" smtClean="0">
                <a:solidFill>
                  <a:srgbClr val="00B050"/>
                </a:solidFill>
                <a:latin typeface="Kokila" pitchFamily="34" charset="0"/>
                <a:cs typeface="Kokila" pitchFamily="34" charset="0"/>
              </a:rPr>
            </a:br>
            <a:r>
              <a:rPr lang="ne-NP" sz="4000" dirty="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८</a:t>
            </a:r>
            <a:r>
              <a:rPr lang="en-US" sz="4000" dirty="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a:t>
            </a:r>
            <a:r>
              <a:rPr lang="ne-NP" sz="4000" dirty="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 मार्ग समूह नराखी कारवाही हुने विषयहरु </a:t>
            </a:r>
            <a:endParaRPr lang="en-US" sz="4000" dirty="0">
              <a:solidFill>
                <a:srgbClr val="0070C0"/>
              </a:solidFill>
              <a:effectLst>
                <a:outerShdw blurRad="38100" dist="38100" dir="2700000" algn="tl">
                  <a:srgbClr val="000000">
                    <a:alpha val="43137"/>
                  </a:srgbClr>
                </a:outerShdw>
              </a:effectLst>
              <a:cs typeface="Kalimati" panose="00000400000000000000" pitchFamily="2"/>
            </a:endParaRPr>
          </a:p>
        </p:txBody>
      </p:sp>
      <p:sp>
        <p:nvSpPr>
          <p:cNvPr id="3" name="Content Placeholder 2"/>
          <p:cNvSpPr>
            <a:spLocks noGrp="1"/>
          </p:cNvSpPr>
          <p:nvPr>
            <p:ph idx="1"/>
          </p:nvPr>
        </p:nvSpPr>
        <p:spPr>
          <a:xfrm>
            <a:off x="677333" y="1188720"/>
            <a:ext cx="11228340" cy="5230553"/>
          </a:xfrm>
        </p:spPr>
        <p:txBody>
          <a:bodyPr>
            <a:normAutofit/>
          </a:bodyPr>
          <a:lstStyle/>
          <a:p>
            <a:pPr algn="just"/>
            <a:endParaRPr lang="ne-NP" sz="2800" dirty="0" smtClean="0">
              <a:latin typeface="Kokila" pitchFamily="34" charset="0"/>
              <a:cs typeface="Kalimati" panose="00000400000000000000" pitchFamily="2"/>
            </a:endParaRPr>
          </a:p>
          <a:p>
            <a:pPr algn="just"/>
            <a:r>
              <a:rPr lang="ne-NP" sz="2800" dirty="0" smtClean="0">
                <a:latin typeface="Kokila" pitchFamily="34" charset="0"/>
                <a:cs typeface="Kalimati" panose="00000400000000000000" pitchFamily="2"/>
              </a:rPr>
              <a:t>२०८१ साल साउन १ गते भन्दा अघि एक वर्ष ६ महिना पुगेका मुद्दा </a:t>
            </a:r>
          </a:p>
          <a:p>
            <a:pPr algn="just"/>
            <a:r>
              <a:rPr lang="ne-NP" sz="2800" dirty="0" smtClean="0">
                <a:latin typeface="Kokila" pitchFamily="34" charset="0"/>
                <a:cs typeface="Kalimati" panose="00000400000000000000" pitchFamily="2"/>
              </a:rPr>
              <a:t>बन्दीप्रत्यक्षीकरणको निवेदन</a:t>
            </a:r>
          </a:p>
          <a:p>
            <a:pPr algn="just"/>
            <a:r>
              <a:rPr lang="ne-NP" sz="2800" dirty="0" smtClean="0">
                <a:latin typeface="Kokila" pitchFamily="34" charset="0"/>
                <a:cs typeface="Kalimati" panose="00000400000000000000" pitchFamily="2"/>
              </a:rPr>
              <a:t>अन्तरकालीन आदेश उपर परेका निवेदन प्रतिवेदन</a:t>
            </a:r>
          </a:p>
          <a:p>
            <a:pPr algn="just"/>
            <a:r>
              <a:rPr lang="ne-NP" sz="2800" dirty="0" smtClean="0">
                <a:latin typeface="Kokila" pitchFamily="34" charset="0"/>
                <a:cs typeface="Kalimati" panose="00000400000000000000" pitchFamily="2"/>
              </a:rPr>
              <a:t>विशेष प्रकृतिका निवेदन</a:t>
            </a:r>
          </a:p>
          <a:p>
            <a:pPr algn="just"/>
            <a:r>
              <a:rPr lang="ne-NP" sz="2800" dirty="0" smtClean="0">
                <a:latin typeface="Kokila" pitchFamily="34" charset="0"/>
                <a:cs typeface="Kalimati" panose="00000400000000000000" pitchFamily="2"/>
              </a:rPr>
              <a:t>फुटकर निवेदन</a:t>
            </a:r>
            <a:endParaRPr lang="ne-NP" sz="2800" dirty="0">
              <a:latin typeface="Kokila" pitchFamily="34" charset="0"/>
              <a:cs typeface="Kalimati" panose="00000400000000000000" pitchFamily="2"/>
            </a:endParaRPr>
          </a:p>
          <a:p>
            <a:pPr algn="just"/>
            <a:r>
              <a:rPr lang="ne-NP" sz="2800" dirty="0" smtClean="0">
                <a:latin typeface="Kokila" pitchFamily="34" charset="0"/>
                <a:cs typeface="Kalimati" panose="00000400000000000000" pitchFamily="2"/>
              </a:rPr>
              <a:t>बाल इजलास र पारिवारिक इजलासबाट हेरिने मुद्दा सरलमार्गमा मात्र</a:t>
            </a:r>
          </a:p>
          <a:p>
            <a:pPr algn="just"/>
            <a:r>
              <a:rPr lang="ne-NP" sz="2800" dirty="0" smtClean="0">
                <a:latin typeface="Kokila" pitchFamily="34" charset="0"/>
                <a:cs typeface="Kalimati" panose="00000400000000000000" pitchFamily="2"/>
              </a:rPr>
              <a:t>पुनरावेदन सरल र सामान्य मार्गमा मात्र रहने</a:t>
            </a:r>
          </a:p>
          <a:p>
            <a:pPr algn="just"/>
            <a:endParaRPr lang="en-US" sz="3200" i="1" dirty="0">
              <a:solidFill>
                <a:srgbClr val="0070C0"/>
              </a:solidFill>
              <a:latin typeface="Kokila" pitchFamily="34" charset="0"/>
              <a:cs typeface="Kalimati" panose="00000400000000000000" pitchFamily="2"/>
            </a:endParaRPr>
          </a:p>
        </p:txBody>
      </p:sp>
    </p:spTree>
    <p:extLst>
      <p:ext uri="{BB962C8B-B14F-4D97-AF65-F5344CB8AC3E}">
        <p14:creationId xmlns:p14="http://schemas.microsoft.com/office/powerpoint/2010/main" val="2318361262"/>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4656"/>
            <a:ext cx="10882320" cy="748144"/>
          </a:xfrm>
        </p:spPr>
        <p:txBody>
          <a:bodyPr>
            <a:normAutofit fontScale="90000"/>
          </a:bodyPr>
          <a:lstStyle/>
          <a:p>
            <a:r>
              <a:rPr lang="ne-NP" sz="4000" b="1" dirty="0" smtClean="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
            </a:r>
            <a:br>
              <a:rPr lang="ne-NP" sz="4000" b="1" dirty="0" smtClean="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br>
            <a:r>
              <a:rPr lang="ne-NP" sz="4000" dirty="0" smtClean="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९</a:t>
            </a:r>
            <a:r>
              <a:rPr lang="en-US" sz="4000" dirty="0" smtClean="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a:t>
            </a:r>
            <a:r>
              <a:rPr lang="ne-NP" sz="4000" dirty="0" smtClean="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 </a:t>
            </a:r>
            <a:r>
              <a:rPr lang="ne-NP" sz="4000" b="1" dirty="0" smtClean="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कार्यतालिका निर्माण</a:t>
            </a:r>
            <a:endParaRPr lang="en-US" b="1" dirty="0">
              <a:solidFill>
                <a:srgbClr val="0070C0"/>
              </a:solidFill>
              <a:latin typeface="Kokila" pitchFamily="34" charset="0"/>
              <a:cs typeface="Kokila" pitchFamily="34" charset="0"/>
            </a:endParaRPr>
          </a:p>
        </p:txBody>
      </p:sp>
      <p:sp>
        <p:nvSpPr>
          <p:cNvPr id="3" name="Content Placeholder 2"/>
          <p:cNvSpPr>
            <a:spLocks noGrp="1"/>
          </p:cNvSpPr>
          <p:nvPr>
            <p:ph idx="1"/>
          </p:nvPr>
        </p:nvSpPr>
        <p:spPr>
          <a:xfrm>
            <a:off x="387927" y="996287"/>
            <a:ext cx="11425382" cy="5543057"/>
          </a:xfrm>
        </p:spPr>
        <p:txBody>
          <a:bodyPr>
            <a:noAutofit/>
          </a:bodyPr>
          <a:lstStyle/>
          <a:p>
            <a:pPr algn="just"/>
            <a:r>
              <a:rPr lang="ne-NP" sz="2400" dirty="0">
                <a:latin typeface="Kokila" pitchFamily="34" charset="0"/>
                <a:cs typeface="Kalimati" panose="00000400000000000000" pitchFamily="2"/>
              </a:rPr>
              <a:t>कार्यतालिकामा मुद्दाको दर्तादेखि कारवाही, सनुवाई र किनारासम्मका मुख्यमुख्य कार्य </a:t>
            </a:r>
            <a:r>
              <a:rPr lang="ne-NP" sz="2400" dirty="0" smtClean="0">
                <a:latin typeface="Kokila" pitchFamily="34" charset="0"/>
                <a:cs typeface="Kalimati" panose="00000400000000000000" pitchFamily="2"/>
              </a:rPr>
              <a:t>समेटिने ।श्रेष्तेदारले प्रमाणित गरी मिसिलमा राख्न लगाउने।</a:t>
            </a:r>
            <a:endParaRPr lang="ne-NP" sz="2400" dirty="0">
              <a:latin typeface="Kokila" pitchFamily="34" charset="0"/>
              <a:cs typeface="Kalimati" panose="00000400000000000000" pitchFamily="2"/>
            </a:endParaRPr>
          </a:p>
          <a:p>
            <a:pPr algn="just"/>
            <a:r>
              <a:rPr lang="ne-NP" sz="2400" dirty="0">
                <a:latin typeface="Kokila" pitchFamily="34" charset="0"/>
                <a:cs typeface="Kalimati" panose="00000400000000000000" pitchFamily="2"/>
              </a:rPr>
              <a:t>फर्छ्यौटको लागि लाग्ने अधिकतम् दिनका आधारमा कार्यतालिकामा कार्य सम्पन्न हुने मिति निर्धारण </a:t>
            </a:r>
            <a:r>
              <a:rPr lang="ne-NP" sz="2400" dirty="0" smtClean="0">
                <a:latin typeface="Kokila" pitchFamily="34" charset="0"/>
                <a:cs typeface="Kalimati" panose="00000400000000000000" pitchFamily="2"/>
              </a:rPr>
              <a:t>गरिने </a:t>
            </a:r>
            <a:r>
              <a:rPr lang="ne-NP" sz="2400" dirty="0">
                <a:latin typeface="Kokila" pitchFamily="34" charset="0"/>
                <a:cs typeface="Kalimati" panose="00000400000000000000" pitchFamily="2"/>
              </a:rPr>
              <a:t>।</a:t>
            </a:r>
          </a:p>
          <a:p>
            <a:pPr lvl="0" algn="just"/>
            <a:r>
              <a:rPr lang="ne-NP" sz="2400" dirty="0">
                <a:latin typeface="Kokila" pitchFamily="34" charset="0"/>
                <a:cs typeface="Kalimati" panose="00000400000000000000" pitchFamily="2"/>
              </a:rPr>
              <a:t>कार्यतालिकाको समय कानूनलाई आधार मानी र कानूनले समयावधि नतोकेको कार्यको हकमा रणनीतिक योजनाले निर्धारण गरेको अवधि, अदालती अभ्यास र अनुभवलाई आधार लिइएको ।</a:t>
            </a:r>
            <a:endParaRPr lang="en-US" sz="2400" dirty="0">
              <a:latin typeface="Kokila" pitchFamily="34" charset="0"/>
              <a:cs typeface="Kalimati" panose="00000400000000000000" pitchFamily="2"/>
            </a:endParaRPr>
          </a:p>
          <a:p>
            <a:pPr lvl="0" algn="just"/>
            <a:r>
              <a:rPr lang="ne-NP" sz="2400" dirty="0">
                <a:latin typeface="Kokila" pitchFamily="34" charset="0"/>
                <a:cs typeface="Kalimati" panose="00000400000000000000" pitchFamily="2"/>
              </a:rPr>
              <a:t>कार्यतालिका सफ्टवेयरबाट तयार हुने ।</a:t>
            </a:r>
            <a:endParaRPr lang="en-US" sz="2400" dirty="0">
              <a:latin typeface="Kokila" pitchFamily="34" charset="0"/>
              <a:cs typeface="Kalimati" panose="00000400000000000000" pitchFamily="2"/>
            </a:endParaRPr>
          </a:p>
          <a:p>
            <a:pPr algn="just"/>
            <a:r>
              <a:rPr lang="ne-NP" sz="2400" dirty="0">
                <a:latin typeface="Kokila" pitchFamily="34" charset="0"/>
                <a:cs typeface="Kalimati" panose="00000400000000000000" pitchFamily="2"/>
              </a:rPr>
              <a:t>मुद्दाको प्रकृति र मार्गसमूह अनुसार बार छुट्याई सुनुवाई हुने गरी </a:t>
            </a:r>
            <a:r>
              <a:rPr lang="ne-NP" sz="2400" dirty="0" smtClean="0">
                <a:latin typeface="Kokila" pitchFamily="34" charset="0"/>
                <a:cs typeface="Kalimati" panose="00000400000000000000" pitchFamily="2"/>
              </a:rPr>
              <a:t>कुनै </a:t>
            </a:r>
            <a:r>
              <a:rPr lang="ne-NP" sz="2400" dirty="0">
                <a:latin typeface="Kokila" pitchFamily="34" charset="0"/>
                <a:cs typeface="Kalimati" panose="00000400000000000000" pitchFamily="2"/>
              </a:rPr>
              <a:t>अदालतले नीति निर्धारण गरेमा सफ्टवेयरले सोही हप्‍ताभित्रको कुनै दिन मिलाउन सकिने ।</a:t>
            </a:r>
          </a:p>
          <a:p>
            <a:pPr algn="just"/>
            <a:r>
              <a:rPr lang="ne-NP" sz="2400" dirty="0" smtClean="0">
                <a:cs typeface="Kalimati" panose="00000400000000000000" pitchFamily="2"/>
              </a:rPr>
              <a:t>पहिलो सुनुवाई वा पूर्व सुनुवाईको दिन पक्ष वा कानून व्यवसायीसंग परामर्श गरी न्यायाधीशले परिमार्जन गर्न आदेश दिन सक्ने।कुनै कार्य निर्धारित मितिमा हुन नसकेमा न्यायाधीशको निर्देशनमा कारण खोली फैसला हुने मिति ननाघ्ने गरी परिमार्जन गर्न सक्ने।</a:t>
            </a:r>
            <a:endParaRPr lang="ne-NP" sz="2400" dirty="0">
              <a:cs typeface="Kalimati" panose="00000400000000000000" pitchFamily="2"/>
            </a:endParaRPr>
          </a:p>
          <a:p>
            <a:pPr algn="just"/>
            <a:endParaRPr lang="en-US" sz="2400" b="1" dirty="0">
              <a:latin typeface="Kokila" pitchFamily="34" charset="0"/>
              <a:cs typeface="Kalimati" panose="00000400000000000000" pitchFamily="2"/>
            </a:endParaRPr>
          </a:p>
        </p:txBody>
      </p:sp>
    </p:spTree>
    <p:extLst>
      <p:ext uri="{BB962C8B-B14F-4D97-AF65-F5344CB8AC3E}">
        <p14:creationId xmlns:p14="http://schemas.microsoft.com/office/powerpoint/2010/main" val="287530229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4656"/>
            <a:ext cx="10882320" cy="748144"/>
          </a:xfrm>
        </p:spPr>
        <p:txBody>
          <a:bodyPr>
            <a:normAutofit fontScale="90000"/>
          </a:bodyPr>
          <a:lstStyle/>
          <a:p>
            <a:r>
              <a:rPr lang="ne-NP" sz="4000" b="1" dirty="0" smtClean="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
            </a:r>
            <a:br>
              <a:rPr lang="ne-NP" sz="4000" b="1" dirty="0" smtClean="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br>
            <a:r>
              <a:rPr lang="ne-NP" sz="4000" dirty="0" smtClean="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१०</a:t>
            </a:r>
            <a:r>
              <a:rPr lang="en-US" sz="4000" dirty="0" smtClean="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a:t>
            </a:r>
            <a:r>
              <a:rPr lang="ne-NP" sz="4000" b="1" dirty="0" smtClean="0">
                <a:solidFill>
                  <a:schemeClr val="tx2">
                    <a:lumMod val="75000"/>
                  </a:schemeClr>
                </a:solidFill>
                <a:effectLst>
                  <a:outerShdw blurRad="38100" dist="38100" dir="2700000" algn="tl">
                    <a:srgbClr val="000000">
                      <a:alpha val="43137"/>
                    </a:srgbClr>
                  </a:outerShdw>
                </a:effectLst>
                <a:latin typeface="Kokila" pitchFamily="34" charset="0"/>
                <a:cs typeface="Kokila" pitchFamily="34" charset="0"/>
              </a:rPr>
              <a:t> </a:t>
            </a:r>
            <a:r>
              <a:rPr lang="hi-IN" sz="4000" b="1" dirty="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फरक मुद्दा व्यवस्थापन सम्बन्धी दि</a:t>
            </a:r>
            <a:r>
              <a:rPr lang="ne-NP" sz="4000" b="1" dirty="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ग्दर्शन २०७६</a:t>
            </a:r>
            <a:r>
              <a:rPr lang="ne-NP" sz="4000" dirty="0" smtClean="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 </a:t>
            </a:r>
            <a:endParaRPr lang="en-US" b="1" dirty="0">
              <a:solidFill>
                <a:srgbClr val="0070C0"/>
              </a:solidFill>
              <a:latin typeface="Kokila" pitchFamily="34" charset="0"/>
              <a:cs typeface="Kalimati" panose="00000400000000000000" pitchFamily="2"/>
            </a:endParaRPr>
          </a:p>
        </p:txBody>
      </p:sp>
      <p:sp>
        <p:nvSpPr>
          <p:cNvPr id="3" name="Content Placeholder 2"/>
          <p:cNvSpPr>
            <a:spLocks noGrp="1"/>
          </p:cNvSpPr>
          <p:nvPr>
            <p:ph idx="1"/>
          </p:nvPr>
        </p:nvSpPr>
        <p:spPr>
          <a:xfrm>
            <a:off x="387927" y="996287"/>
            <a:ext cx="11425382" cy="5543057"/>
          </a:xfrm>
        </p:spPr>
        <p:txBody>
          <a:bodyPr>
            <a:noAutofit/>
          </a:bodyPr>
          <a:lstStyle/>
          <a:p>
            <a:pPr>
              <a:lnSpc>
                <a:spcPct val="150000"/>
              </a:lnSpc>
            </a:pPr>
            <a:r>
              <a:rPr lang="ne-NP" sz="2400" dirty="0">
                <a:cs typeface="Kalimati" panose="00000400000000000000" pitchFamily="2"/>
              </a:rPr>
              <a:t>दिग्दर्शनको </a:t>
            </a:r>
            <a:r>
              <a:rPr lang="ne-NP" sz="2400" dirty="0" smtClean="0">
                <a:cs typeface="Kalimati" panose="00000400000000000000" pitchFamily="2"/>
              </a:rPr>
              <a:t>परिचय</a:t>
            </a:r>
            <a:r>
              <a:rPr lang="en-US" sz="2400" dirty="0" smtClean="0">
                <a:cs typeface="Kalimati" panose="00000400000000000000" pitchFamily="2"/>
              </a:rPr>
              <a:t> (</a:t>
            </a:r>
            <a:r>
              <a:rPr lang="ne-NP" sz="2400" dirty="0" smtClean="0">
                <a:cs typeface="Kalimati" panose="00000400000000000000" pitchFamily="2"/>
              </a:rPr>
              <a:t>नयाँ विषय भएकोले न्यायिक जनशक्तिलाई प्रयोगमा सहजताको लागि</a:t>
            </a:r>
            <a:r>
              <a:rPr lang="en-US" sz="2400" dirty="0" smtClean="0">
                <a:cs typeface="Kalimati" panose="00000400000000000000" pitchFamily="2"/>
              </a:rPr>
              <a:t>)</a:t>
            </a:r>
            <a:endParaRPr lang="ne-NP" sz="2400" dirty="0">
              <a:cs typeface="Kalimati" panose="00000400000000000000" pitchFamily="2"/>
            </a:endParaRPr>
          </a:p>
          <a:p>
            <a:pPr lvl="0">
              <a:lnSpc>
                <a:spcPct val="150000"/>
              </a:lnSpc>
            </a:pPr>
            <a:r>
              <a:rPr lang="ne-NP" sz="2400" dirty="0">
                <a:cs typeface="Kalimati" panose="00000400000000000000" pitchFamily="2"/>
              </a:rPr>
              <a:t>फरक मुद्दा व्यवस्थापनको </a:t>
            </a:r>
            <a:r>
              <a:rPr lang="ne-NP" sz="2400" dirty="0" smtClean="0">
                <a:cs typeface="Kalimati" panose="00000400000000000000" pitchFamily="2"/>
              </a:rPr>
              <a:t>अवधारणा </a:t>
            </a:r>
            <a:r>
              <a:rPr lang="en-US" sz="2400" dirty="0" smtClean="0">
                <a:cs typeface="Kalimati" panose="00000400000000000000" pitchFamily="2"/>
              </a:rPr>
              <a:t>(</a:t>
            </a:r>
            <a:r>
              <a:rPr lang="en-US" sz="2400" i="1" dirty="0">
                <a:cs typeface="Kalimati" panose="00000400000000000000" pitchFamily="2"/>
              </a:rPr>
              <a:t>US </a:t>
            </a:r>
            <a:r>
              <a:rPr lang="en-US" sz="2400" i="1" dirty="0"/>
              <a:t>Bureau of Justice </a:t>
            </a:r>
            <a:r>
              <a:rPr lang="en-US" sz="2400" i="1" dirty="0" smtClean="0"/>
              <a:t>Assistance</a:t>
            </a:r>
            <a:r>
              <a:rPr lang="en-US" sz="2400" dirty="0" smtClean="0">
                <a:cs typeface="Kalimati" panose="00000400000000000000" pitchFamily="2"/>
              </a:rPr>
              <a:t>)</a:t>
            </a:r>
            <a:endParaRPr lang="ne-NP" sz="2400" dirty="0">
              <a:cs typeface="Kalimati" panose="00000400000000000000" pitchFamily="2"/>
            </a:endParaRPr>
          </a:p>
          <a:p>
            <a:pPr>
              <a:lnSpc>
                <a:spcPct val="150000"/>
              </a:lnSpc>
            </a:pPr>
            <a:r>
              <a:rPr lang="ne-NP" sz="2400" dirty="0">
                <a:cs typeface="Kalimati" panose="00000400000000000000" pitchFamily="2"/>
              </a:rPr>
              <a:t>फरक मुद्दा व्यवस्थापनमा रहने मार्गसमूह र फर्छ्यौट अवधि</a:t>
            </a:r>
          </a:p>
          <a:p>
            <a:pPr>
              <a:lnSpc>
                <a:spcPct val="150000"/>
              </a:lnSpc>
            </a:pPr>
            <a:r>
              <a:rPr lang="ne-NP" sz="2400" dirty="0">
                <a:cs typeface="Kalimati" panose="00000400000000000000" pitchFamily="2"/>
              </a:rPr>
              <a:t>मुद्दामा मार्गसमूह निर्धारण र परिवर्तनका आधारहरू </a:t>
            </a:r>
            <a:endParaRPr lang="en-US" sz="2400" dirty="0">
              <a:cs typeface="Kalimati" pitchFamily="2"/>
            </a:endParaRPr>
          </a:p>
          <a:p>
            <a:pPr>
              <a:lnSpc>
                <a:spcPct val="150000"/>
              </a:lnSpc>
            </a:pPr>
            <a:r>
              <a:rPr lang="ne-NP" sz="2400" dirty="0">
                <a:cs typeface="Kalimati" panose="00000400000000000000" pitchFamily="2"/>
              </a:rPr>
              <a:t>मुद्दामा कार्यतालिका निर्माण र परिमार्जन</a:t>
            </a:r>
          </a:p>
          <a:p>
            <a:pPr>
              <a:lnSpc>
                <a:spcPct val="150000"/>
              </a:lnSpc>
            </a:pPr>
            <a:r>
              <a:rPr lang="ne-NP" sz="2400" dirty="0">
                <a:cs typeface="Kalimati" panose="00000400000000000000" pitchFamily="2"/>
              </a:rPr>
              <a:t>मुद्दाको कारवाही</a:t>
            </a:r>
            <a:r>
              <a:rPr lang="en-US" sz="2400" dirty="0">
                <a:cs typeface="Kalimati" pitchFamily="2"/>
              </a:rPr>
              <a:t>,</a:t>
            </a:r>
            <a:r>
              <a:rPr lang="ne-NP" sz="2400" dirty="0">
                <a:cs typeface="Kalimati" pitchFamily="2"/>
              </a:rPr>
              <a:t> सुनुवाई र फैसला</a:t>
            </a:r>
            <a:endParaRPr lang="en-US" sz="2400" dirty="0">
              <a:cs typeface="Kalimati" pitchFamily="2"/>
            </a:endParaRPr>
          </a:p>
          <a:p>
            <a:pPr>
              <a:lnSpc>
                <a:spcPct val="150000"/>
              </a:lnSpc>
            </a:pPr>
            <a:r>
              <a:rPr lang="ne-NP" sz="2400" dirty="0">
                <a:cs typeface="Kalimati" panose="00000400000000000000" pitchFamily="2"/>
              </a:rPr>
              <a:t>आन्तरिक व्यवस्थापन</a:t>
            </a:r>
            <a:r>
              <a:rPr lang="en-US" sz="2400" dirty="0">
                <a:cs typeface="Kalimati" panose="00000400000000000000" pitchFamily="2"/>
              </a:rPr>
              <a:t>, </a:t>
            </a:r>
            <a:r>
              <a:rPr lang="ne-NP" sz="2400" dirty="0">
                <a:cs typeface="Kalimati" panose="00000400000000000000" pitchFamily="2"/>
              </a:rPr>
              <a:t>सहयोग तथा समन्वय</a:t>
            </a:r>
          </a:p>
          <a:p>
            <a:pPr>
              <a:lnSpc>
                <a:spcPct val="150000"/>
              </a:lnSpc>
            </a:pPr>
            <a:r>
              <a:rPr lang="ne-NP" sz="2400" dirty="0">
                <a:cs typeface="Kalimati" panose="00000400000000000000" pitchFamily="2"/>
              </a:rPr>
              <a:t>सन्दर्भ सामग्री</a:t>
            </a:r>
          </a:p>
          <a:p>
            <a:pPr algn="just"/>
            <a:endParaRPr lang="en-US" sz="2400" b="1" dirty="0">
              <a:latin typeface="Kokila" pitchFamily="34" charset="0"/>
              <a:cs typeface="Kalimati" panose="00000400000000000000" pitchFamily="2"/>
            </a:endParaRPr>
          </a:p>
        </p:txBody>
      </p:sp>
    </p:spTree>
    <p:extLst>
      <p:ext uri="{BB962C8B-B14F-4D97-AF65-F5344CB8AC3E}">
        <p14:creationId xmlns:p14="http://schemas.microsoft.com/office/powerpoint/2010/main" val="251439965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77334" y="64656"/>
            <a:ext cx="10882320" cy="748144"/>
          </a:xfrm>
        </p:spPr>
        <p:txBody>
          <a:bodyPr>
            <a:normAutofit fontScale="90000"/>
          </a:bodyPr>
          <a:lstStyle/>
          <a:p>
            <a:r>
              <a:rPr lang="ne-NP" sz="4000" b="1" dirty="0" smtClean="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
            </a:r>
            <a:br>
              <a:rPr lang="ne-NP" sz="4000" b="1" dirty="0" smtClean="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br>
            <a:r>
              <a:rPr lang="ne-NP" sz="4000" b="1" dirty="0" smtClean="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११</a:t>
            </a:r>
            <a:r>
              <a:rPr lang="en-US" sz="4000" b="1" dirty="0" smtClean="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a:t>
            </a:r>
            <a:r>
              <a:rPr lang="ne-NP" sz="4000" b="1" dirty="0" smtClean="0">
                <a:solidFill>
                  <a:schemeClr val="tx2">
                    <a:lumMod val="75000"/>
                  </a:schemeClr>
                </a:solidFill>
                <a:effectLst>
                  <a:outerShdw blurRad="38100" dist="38100" dir="2700000" algn="tl">
                    <a:srgbClr val="000000">
                      <a:alpha val="43137"/>
                    </a:srgbClr>
                  </a:outerShdw>
                </a:effectLst>
                <a:latin typeface="Kokila" pitchFamily="34" charset="0"/>
                <a:cs typeface="Kokila" pitchFamily="34" charset="0"/>
              </a:rPr>
              <a:t>  </a:t>
            </a:r>
            <a:r>
              <a:rPr lang="ne-NP" sz="4000" b="1" dirty="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सम्बन्धित अदालतको जिम्मेवारी </a:t>
            </a:r>
            <a:endParaRPr lang="en-US" sz="4000" b="1" dirty="0">
              <a:solidFill>
                <a:srgbClr val="0070C0"/>
              </a:solidFill>
              <a:effectLst>
                <a:outerShdw blurRad="38100" dist="38100" dir="2700000" algn="tl">
                  <a:srgbClr val="000000">
                    <a:alpha val="43137"/>
                  </a:srgbClr>
                </a:outerShdw>
              </a:effectLst>
              <a:latin typeface="Kokila" pitchFamily="34" charset="0"/>
              <a:cs typeface="Kalimati" panose="00000400000000000000" pitchFamily="2"/>
            </a:endParaRPr>
          </a:p>
        </p:txBody>
      </p:sp>
      <p:sp>
        <p:nvSpPr>
          <p:cNvPr id="3" name="Content Placeholder 2"/>
          <p:cNvSpPr>
            <a:spLocks noGrp="1"/>
          </p:cNvSpPr>
          <p:nvPr>
            <p:ph idx="1"/>
          </p:nvPr>
        </p:nvSpPr>
        <p:spPr>
          <a:xfrm>
            <a:off x="240146" y="996287"/>
            <a:ext cx="11757890" cy="5543057"/>
          </a:xfrm>
        </p:spPr>
        <p:txBody>
          <a:bodyPr>
            <a:noAutofit/>
          </a:bodyPr>
          <a:lstStyle/>
          <a:p>
            <a:pPr algn="just">
              <a:buFont typeface="Wingdings" pitchFamily="2" charset="2"/>
              <a:buChar char="§"/>
            </a:pPr>
            <a:r>
              <a:rPr lang="ne-NP" sz="2800" dirty="0" smtClean="0">
                <a:latin typeface="Kokila" pitchFamily="34" charset="0"/>
                <a:cs typeface="Kalimati" panose="00000400000000000000" pitchFamily="2"/>
              </a:rPr>
              <a:t>जिल्ला </a:t>
            </a:r>
            <a:r>
              <a:rPr lang="ne-NP" sz="2800" dirty="0">
                <a:latin typeface="Kokila" pitchFamily="34" charset="0"/>
                <a:cs typeface="Kalimati" panose="00000400000000000000" pitchFamily="2"/>
              </a:rPr>
              <a:t>न्यायाधीशले नेतृत्वदायी र संयोजनकारी भूमिका निर्वाह गर्ने ।</a:t>
            </a:r>
          </a:p>
          <a:p>
            <a:pPr algn="just">
              <a:buFont typeface="Wingdings" pitchFamily="2" charset="2"/>
              <a:buChar char="§"/>
            </a:pPr>
            <a:r>
              <a:rPr lang="ne-NP" sz="2800" dirty="0" smtClean="0">
                <a:latin typeface="Kokila" pitchFamily="34" charset="0"/>
                <a:cs typeface="Kalimati" panose="00000400000000000000" pitchFamily="2"/>
              </a:rPr>
              <a:t>स्रेस्तेदारले </a:t>
            </a:r>
            <a:r>
              <a:rPr lang="ne-NP" sz="2800" dirty="0">
                <a:latin typeface="Kokila" pitchFamily="34" charset="0"/>
                <a:cs typeface="Kalimati" panose="00000400000000000000" pitchFamily="2"/>
              </a:rPr>
              <a:t>कार्यान्वयनमा सक्रियता  देखाउनु पर्ने।</a:t>
            </a:r>
          </a:p>
          <a:p>
            <a:pPr algn="just">
              <a:buFont typeface="Wingdings" pitchFamily="2" charset="2"/>
              <a:buChar char="§"/>
            </a:pPr>
            <a:r>
              <a:rPr lang="ne-NP" sz="2800" dirty="0">
                <a:latin typeface="Kokila" pitchFamily="34" charset="0"/>
                <a:cs typeface="Kalimati" panose="00000400000000000000" pitchFamily="2"/>
              </a:rPr>
              <a:t>आवश्यक जनशक्ति</a:t>
            </a:r>
            <a:r>
              <a:rPr lang="en-US" sz="2800" dirty="0">
                <a:latin typeface="Kokila" pitchFamily="34" charset="0"/>
                <a:cs typeface="Kalimati" panose="00000400000000000000" pitchFamily="2"/>
              </a:rPr>
              <a:t>,</a:t>
            </a:r>
            <a:r>
              <a:rPr lang="ne-NP" sz="2800" dirty="0">
                <a:latin typeface="Kokila" pitchFamily="34" charset="0"/>
                <a:cs typeface="Kalimati" panose="00000400000000000000" pitchFamily="2"/>
              </a:rPr>
              <a:t> कम्प्युटर</a:t>
            </a:r>
            <a:r>
              <a:rPr lang="en-US" sz="2800" dirty="0">
                <a:latin typeface="Kokila" pitchFamily="34" charset="0"/>
                <a:cs typeface="Kalimati" panose="00000400000000000000" pitchFamily="2"/>
              </a:rPr>
              <a:t>,</a:t>
            </a:r>
            <a:r>
              <a:rPr lang="ne-NP" sz="2800" dirty="0">
                <a:latin typeface="Kokila" pitchFamily="34" charset="0"/>
                <a:cs typeface="Kalimati" panose="00000400000000000000" pitchFamily="2"/>
              </a:rPr>
              <a:t> इन्टरनेट क्षमता बृद्धिलगायतका आवश्यक पूर्वाधारको व्यवस्था गर्ने।</a:t>
            </a:r>
          </a:p>
          <a:p>
            <a:pPr algn="just">
              <a:buFont typeface="Wingdings" pitchFamily="2" charset="2"/>
              <a:buChar char="§"/>
            </a:pPr>
            <a:r>
              <a:rPr lang="ne-NP" sz="2800" dirty="0">
                <a:latin typeface="Kokila" pitchFamily="34" charset="0"/>
                <a:cs typeface="Kalimati" panose="00000400000000000000" pitchFamily="2"/>
              </a:rPr>
              <a:t>जनशक्तिलाई फरक मुद्दा व्यवस्थापनको अवधारणा</a:t>
            </a:r>
            <a:r>
              <a:rPr lang="en-US" sz="2800" dirty="0">
                <a:latin typeface="Kokila" pitchFamily="34" charset="0"/>
                <a:cs typeface="Kalimati" panose="00000400000000000000" pitchFamily="2"/>
              </a:rPr>
              <a:t>, </a:t>
            </a:r>
            <a:r>
              <a:rPr lang="ne-NP" sz="2800" dirty="0">
                <a:latin typeface="Kokila" pitchFamily="34" charset="0"/>
                <a:cs typeface="Kalimati" panose="00000400000000000000" pitchFamily="2"/>
              </a:rPr>
              <a:t>प्रयोजन र यस सम्बन्धी सफ्टवेयर सम्बन्धमा आवश्यक प्रशिक्षण दिनुपर्ने</a:t>
            </a:r>
            <a:r>
              <a:rPr lang="en-US" sz="2800" dirty="0">
                <a:latin typeface="Kokila" pitchFamily="34" charset="0"/>
                <a:cs typeface="Kalimati" panose="00000400000000000000" pitchFamily="2"/>
              </a:rPr>
              <a:t>,</a:t>
            </a:r>
            <a:endParaRPr lang="ne-NP" sz="2800" dirty="0">
              <a:latin typeface="Kokila" pitchFamily="34" charset="0"/>
              <a:cs typeface="Kalimati" panose="00000400000000000000" pitchFamily="2"/>
            </a:endParaRPr>
          </a:p>
          <a:p>
            <a:pPr algn="just">
              <a:buFont typeface="Wingdings" pitchFamily="2" charset="2"/>
              <a:buChar char="§"/>
            </a:pPr>
            <a:r>
              <a:rPr lang="ne-NP" sz="2800" dirty="0">
                <a:latin typeface="Kokila" pitchFamily="34" charset="0"/>
                <a:cs typeface="Kalimati" panose="00000400000000000000" pitchFamily="2"/>
              </a:rPr>
              <a:t>कार्यतालिकामा तोकिएको काम तोकिएको समयमा सम्पन्न </a:t>
            </a:r>
            <a:r>
              <a:rPr lang="ne-NP" sz="2800" dirty="0" smtClean="0">
                <a:latin typeface="Kokila" pitchFamily="34" charset="0"/>
                <a:cs typeface="Kalimati" panose="00000400000000000000" pitchFamily="2"/>
              </a:rPr>
              <a:t>गर्ने</a:t>
            </a:r>
            <a:r>
              <a:rPr lang="en-US" sz="2800" dirty="0" smtClean="0">
                <a:latin typeface="Kokila" pitchFamily="34" charset="0"/>
                <a:cs typeface="Kalimati" panose="00000400000000000000" pitchFamily="2"/>
              </a:rPr>
              <a:t> </a:t>
            </a:r>
            <a:r>
              <a:rPr lang="ne-NP" sz="2800" dirty="0" smtClean="0">
                <a:latin typeface="Kokila" pitchFamily="34" charset="0"/>
                <a:cs typeface="Kalimati" panose="00000400000000000000" pitchFamily="2"/>
              </a:rPr>
              <a:t>शैली र संस्कार।</a:t>
            </a:r>
            <a:endParaRPr lang="ne-NP" sz="2800" dirty="0">
              <a:latin typeface="Kokila" pitchFamily="34" charset="0"/>
              <a:cs typeface="Kalimati" panose="00000400000000000000" pitchFamily="2"/>
            </a:endParaRPr>
          </a:p>
          <a:p>
            <a:pPr algn="just">
              <a:buFont typeface="Wingdings" pitchFamily="2" charset="2"/>
              <a:buChar char="§"/>
            </a:pPr>
            <a:r>
              <a:rPr lang="ne-NP" sz="2800" dirty="0">
                <a:latin typeface="Kokila" pitchFamily="34" charset="0"/>
                <a:cs typeface="Kalimati" panose="00000400000000000000" pitchFamily="2"/>
              </a:rPr>
              <a:t>सुपरीवेक्षक तोकी कामको नियमित अनुगमन गर्ने।</a:t>
            </a:r>
          </a:p>
          <a:p>
            <a:pPr algn="just">
              <a:buFont typeface="Wingdings" pitchFamily="2" charset="2"/>
              <a:buChar char="§"/>
            </a:pPr>
            <a:r>
              <a:rPr lang="ne-NP" sz="2800" dirty="0">
                <a:latin typeface="Kokila" pitchFamily="34" charset="0"/>
                <a:cs typeface="Kalimati" panose="00000400000000000000" pitchFamily="2"/>
              </a:rPr>
              <a:t>पक्षको </a:t>
            </a:r>
            <a:r>
              <a:rPr lang="ne-NP" sz="2800" dirty="0">
                <a:latin typeface="Kokila" pitchFamily="34" charset="0"/>
                <a:cs typeface="Kalimati" panose="00000400000000000000" pitchFamily="2"/>
                <a:hlinkClick r:id="rId2" action="ppaction://hlinkfile"/>
              </a:rPr>
              <a:t>स्वघोषणा फाराम </a:t>
            </a:r>
            <a:r>
              <a:rPr lang="ne-NP" sz="2800" dirty="0">
                <a:latin typeface="Kokila" pitchFamily="34" charset="0"/>
                <a:cs typeface="Kalimati" panose="00000400000000000000" pitchFamily="2"/>
              </a:rPr>
              <a:t>भरी मिसिल संलग्न गर्नुपर्ने</a:t>
            </a:r>
            <a:r>
              <a:rPr lang="en-US" sz="2800" dirty="0">
                <a:latin typeface="Kokila" pitchFamily="34" charset="0"/>
                <a:cs typeface="Kalimati" panose="00000400000000000000" pitchFamily="2"/>
              </a:rPr>
              <a:t>,</a:t>
            </a:r>
            <a:endParaRPr lang="ne-NP" sz="2800" dirty="0">
              <a:latin typeface="Kokila" pitchFamily="34" charset="0"/>
              <a:cs typeface="Kalimati" panose="00000400000000000000" pitchFamily="2"/>
            </a:endParaRPr>
          </a:p>
          <a:p>
            <a:pPr algn="just"/>
            <a:endParaRPr lang="en-US" sz="2400" dirty="0">
              <a:latin typeface="Kokila" pitchFamily="34" charset="0"/>
              <a:cs typeface="Kalimati" panose="00000400000000000000" pitchFamily="2"/>
            </a:endParaRPr>
          </a:p>
        </p:txBody>
      </p:sp>
    </p:spTree>
    <p:extLst>
      <p:ext uri="{BB962C8B-B14F-4D97-AF65-F5344CB8AC3E}">
        <p14:creationId xmlns:p14="http://schemas.microsoft.com/office/powerpoint/2010/main" val="184975155"/>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04799" y="274638"/>
            <a:ext cx="11610109" cy="1143000"/>
          </a:xfrm>
        </p:spPr>
        <p:txBody>
          <a:bodyPr>
            <a:normAutofit/>
          </a:bodyPr>
          <a:lstStyle/>
          <a:p>
            <a:r>
              <a:rPr lang="ne-NP" sz="3200" b="1" u="sng" dirty="0">
                <a:solidFill>
                  <a:srgbClr val="0070C0"/>
                </a:solidFill>
                <a:cs typeface="Kalimati" panose="00000400000000000000" pitchFamily="2"/>
                <a:hlinkClick r:id="rId2" action="ppaction://hlinkfile"/>
              </a:rPr>
              <a:t>स्वघोषणा</a:t>
            </a:r>
            <a:r>
              <a:rPr lang="ne-NP" sz="3200" b="1" u="sng" dirty="0">
                <a:solidFill>
                  <a:srgbClr val="0070C0"/>
                </a:solidFill>
                <a:cs typeface="Kalimati" panose="00000400000000000000" pitchFamily="2"/>
              </a:rPr>
              <a:t> फाराम </a:t>
            </a:r>
            <a:r>
              <a:rPr lang="ne-NP" sz="3200" b="1" u="sng" dirty="0" smtClean="0">
                <a:solidFill>
                  <a:srgbClr val="0070C0"/>
                </a:solidFill>
                <a:cs typeface="Kalimati" panose="00000400000000000000" pitchFamily="2"/>
              </a:rPr>
              <a:t>भर्ने (जिल्ला </a:t>
            </a:r>
            <a:r>
              <a:rPr lang="ne-NP" sz="3200" b="1" u="sng" dirty="0">
                <a:solidFill>
                  <a:srgbClr val="0070C0"/>
                </a:solidFill>
                <a:cs typeface="Kalimati" panose="00000400000000000000" pitchFamily="2"/>
              </a:rPr>
              <a:t>अदालत </a:t>
            </a:r>
            <a:r>
              <a:rPr lang="ne-NP" sz="3200" b="1" u="sng" dirty="0" smtClean="0">
                <a:solidFill>
                  <a:srgbClr val="0070C0"/>
                </a:solidFill>
                <a:cs typeface="Kalimati" panose="00000400000000000000" pitchFamily="2"/>
              </a:rPr>
              <a:t>नियमावलीको </a:t>
            </a:r>
            <a:r>
              <a:rPr lang="ne-NP" sz="3200" b="1" u="sng" dirty="0">
                <a:solidFill>
                  <a:srgbClr val="0070C0"/>
                </a:solidFill>
                <a:cs typeface="Kalimati" panose="00000400000000000000" pitchFamily="2"/>
              </a:rPr>
              <a:t>नियम ४०ङ</a:t>
            </a:r>
            <a:r>
              <a:rPr lang="en-US" sz="3200" b="1" u="sng" dirty="0">
                <a:solidFill>
                  <a:srgbClr val="0070C0"/>
                </a:solidFill>
                <a:cs typeface="Kalimati" panose="00000400000000000000" pitchFamily="2"/>
              </a:rPr>
              <a:t>,</a:t>
            </a:r>
          </a:p>
        </p:txBody>
      </p:sp>
      <p:sp>
        <p:nvSpPr>
          <p:cNvPr id="3" name="Content Placeholder 2"/>
          <p:cNvSpPr>
            <a:spLocks noGrp="1"/>
          </p:cNvSpPr>
          <p:nvPr>
            <p:ph idx="1"/>
          </p:nvPr>
        </p:nvSpPr>
        <p:spPr/>
        <p:txBody>
          <a:bodyPr>
            <a:normAutofit fontScale="92500" lnSpcReduction="10000"/>
          </a:bodyPr>
          <a:lstStyle/>
          <a:p>
            <a:pPr>
              <a:lnSpc>
                <a:spcPct val="150000"/>
              </a:lnSpc>
            </a:pPr>
            <a:r>
              <a:rPr lang="ne-NP" dirty="0">
                <a:cs typeface="Kalimati" panose="00000400000000000000" pitchFamily="2"/>
              </a:rPr>
              <a:t>फिरादपत्र</a:t>
            </a:r>
            <a:r>
              <a:rPr lang="en-US" dirty="0">
                <a:cs typeface="Kalimati" panose="00000400000000000000" pitchFamily="2"/>
              </a:rPr>
              <a:t>,</a:t>
            </a:r>
            <a:r>
              <a:rPr lang="ne-NP" dirty="0">
                <a:cs typeface="Kalimati" panose="00000400000000000000" pitchFamily="2"/>
              </a:rPr>
              <a:t> प्रतिउत्तरपत्र</a:t>
            </a:r>
            <a:r>
              <a:rPr lang="en-US" dirty="0">
                <a:cs typeface="Kalimati" panose="00000400000000000000" pitchFamily="2"/>
              </a:rPr>
              <a:t>,</a:t>
            </a:r>
            <a:r>
              <a:rPr lang="ne-NP" dirty="0">
                <a:cs typeface="Kalimati" panose="00000400000000000000" pitchFamily="2"/>
              </a:rPr>
              <a:t> रिट निवेदन</a:t>
            </a:r>
            <a:r>
              <a:rPr lang="en-US" dirty="0">
                <a:cs typeface="Kalimati" panose="00000400000000000000" pitchFamily="2"/>
              </a:rPr>
              <a:t>, </a:t>
            </a:r>
            <a:r>
              <a:rPr lang="ne-NP" dirty="0">
                <a:cs typeface="Kalimati" panose="00000400000000000000" pitchFamily="2"/>
              </a:rPr>
              <a:t>लिखित जवाफका साथ</a:t>
            </a:r>
            <a:r>
              <a:rPr lang="en-US" dirty="0">
                <a:cs typeface="Kalimati" panose="00000400000000000000" pitchFamily="2"/>
              </a:rPr>
              <a:t>,</a:t>
            </a:r>
          </a:p>
          <a:p>
            <a:pPr>
              <a:lnSpc>
                <a:spcPct val="150000"/>
              </a:lnSpc>
            </a:pPr>
            <a:r>
              <a:rPr lang="ne-NP" dirty="0">
                <a:cs typeface="Kalimati" panose="00000400000000000000" pitchFamily="2"/>
              </a:rPr>
              <a:t>अभियुक्तको वयान हुँदा</a:t>
            </a:r>
            <a:r>
              <a:rPr lang="en-US" dirty="0">
                <a:cs typeface="Kalimati" panose="00000400000000000000" pitchFamily="2"/>
              </a:rPr>
              <a:t>,</a:t>
            </a:r>
            <a:endParaRPr lang="ne-NP" dirty="0">
              <a:cs typeface="Kalimati" panose="00000400000000000000" pitchFamily="2"/>
            </a:endParaRPr>
          </a:p>
          <a:p>
            <a:pPr>
              <a:lnSpc>
                <a:spcPct val="150000"/>
              </a:lnSpc>
            </a:pPr>
            <a:r>
              <a:rPr lang="ne-NP" dirty="0">
                <a:cs typeface="Kalimati" panose="00000400000000000000" pitchFamily="2"/>
              </a:rPr>
              <a:t>एकपटक भरेपछि कुनै बेहोरा परिवर्तन भएमा जानकारी गराउनु पर्ने</a:t>
            </a:r>
            <a:r>
              <a:rPr lang="en-US" dirty="0">
                <a:cs typeface="Kalimati" panose="00000400000000000000" pitchFamily="2"/>
              </a:rPr>
              <a:t>,</a:t>
            </a:r>
          </a:p>
          <a:p>
            <a:pPr>
              <a:lnSpc>
                <a:spcPct val="150000"/>
              </a:lnSpc>
            </a:pPr>
            <a:r>
              <a:rPr lang="ne-NP" dirty="0">
                <a:cs typeface="Kalimati" panose="00000400000000000000" pitchFamily="2"/>
              </a:rPr>
              <a:t>बेहोरा परिवर्तन भएमा बाहेक पुनरावेदन तहमा भर्नु नपर्ने</a:t>
            </a:r>
            <a:r>
              <a:rPr lang="en-US" dirty="0">
                <a:cs typeface="Kalimati" panose="00000400000000000000" pitchFamily="2"/>
              </a:rPr>
              <a:t>,</a:t>
            </a:r>
            <a:endParaRPr lang="ne-NP" dirty="0">
              <a:cs typeface="Kalimati" panose="00000400000000000000" pitchFamily="2"/>
            </a:endParaRPr>
          </a:p>
          <a:p>
            <a:pPr>
              <a:lnSpc>
                <a:spcPct val="150000"/>
              </a:lnSpc>
            </a:pPr>
            <a:r>
              <a:rPr lang="ne-NP" dirty="0">
                <a:cs typeface="Kalimati" panose="00000400000000000000" pitchFamily="2"/>
              </a:rPr>
              <a:t>केही विवरणहरू दर्ताको विवरणसँग मिल्ने भएकोले दोहोरो पर्ने विवरणहरू इन्ट्री गर्न नपर्ने गरी सफ्टवेयर बनाउने।</a:t>
            </a:r>
          </a:p>
          <a:p>
            <a:endParaRPr lang="en-US" dirty="0"/>
          </a:p>
        </p:txBody>
      </p:sp>
    </p:spTree>
    <p:extLst>
      <p:ext uri="{BB962C8B-B14F-4D97-AF65-F5344CB8AC3E}">
        <p14:creationId xmlns:p14="http://schemas.microsoft.com/office/powerpoint/2010/main" val="1135884488"/>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e-NP" sz="3600" b="1" dirty="0" smtClean="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१</a:t>
            </a:r>
            <a:r>
              <a:rPr lang="ne-NP" sz="3600" b="1" dirty="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२</a:t>
            </a:r>
            <a:r>
              <a:rPr lang="en-US" sz="3600" b="1" dirty="0" smtClean="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a:t>
            </a:r>
            <a:r>
              <a:rPr lang="ne-NP" sz="3600" b="1" dirty="0" smtClean="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 मुद्दा शाखाबाट गर्नुपर्ने काम </a:t>
            </a:r>
            <a:endParaRPr lang="en-US" sz="3600"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fontScale="77500" lnSpcReduction="20000"/>
          </a:bodyPr>
          <a:lstStyle/>
          <a:p>
            <a:pPr>
              <a:buFont typeface="Wingdings" pitchFamily="2" charset="2"/>
              <a:buChar char="§"/>
            </a:pPr>
            <a:r>
              <a:rPr lang="ne-NP" dirty="0">
                <a:latin typeface="Kokila" pitchFamily="34" charset="0"/>
                <a:cs typeface="Kalimati" panose="00000400000000000000" pitchFamily="2"/>
              </a:rPr>
              <a:t>पक्षको व्यक्तिगत विवरण  र स्वघोषरणा फाराममा भरेको विवरण सफ्टवेयरमा  प्रबिष्ट गर्ने।</a:t>
            </a:r>
          </a:p>
          <a:p>
            <a:pPr>
              <a:buFont typeface="Wingdings" pitchFamily="2" charset="2"/>
              <a:buChar char="§"/>
            </a:pPr>
            <a:r>
              <a:rPr lang="ne-NP" dirty="0">
                <a:latin typeface="Kokila" pitchFamily="34" charset="0"/>
                <a:cs typeface="Kalimati" panose="00000400000000000000" pitchFamily="2"/>
              </a:rPr>
              <a:t>सफ्टवेयरले निर्दिष्ट गरेको मार्ग समूहमा मुद्दा दर्ता गर्ने।</a:t>
            </a:r>
          </a:p>
          <a:p>
            <a:pPr>
              <a:buFont typeface="Wingdings" pitchFamily="2" charset="2"/>
              <a:buChar char="§"/>
            </a:pPr>
            <a:r>
              <a:rPr lang="ne-NP" dirty="0">
                <a:latin typeface="Kokila" pitchFamily="34" charset="0"/>
                <a:cs typeface="Kalimati" panose="00000400000000000000" pitchFamily="2"/>
              </a:rPr>
              <a:t>लगाउको मुद्दा भएमा बढी समय लाग्ने मार्ग समूहमा दर्ता गर्ने ।</a:t>
            </a:r>
          </a:p>
          <a:p>
            <a:pPr>
              <a:buFont typeface="Wingdings" pitchFamily="2" charset="2"/>
              <a:buChar char="§"/>
            </a:pPr>
            <a:r>
              <a:rPr lang="ne-NP" dirty="0">
                <a:latin typeface="Kokila" pitchFamily="34" charset="0"/>
                <a:cs typeface="Kalimati" panose="00000400000000000000" pitchFamily="2"/>
              </a:rPr>
              <a:t>मुद्दा दर्ता किताव</a:t>
            </a:r>
            <a:r>
              <a:rPr lang="en-US" dirty="0">
                <a:latin typeface="Kokila" pitchFamily="34" charset="0"/>
                <a:cs typeface="Kalimati" panose="00000400000000000000" pitchFamily="2"/>
              </a:rPr>
              <a:t>, </a:t>
            </a:r>
            <a:r>
              <a:rPr lang="ne-NP" dirty="0">
                <a:latin typeface="Kokila" pitchFamily="34" charset="0"/>
                <a:cs typeface="Kalimati" panose="00000400000000000000" pitchFamily="2"/>
              </a:rPr>
              <a:t> तारिख भरपाई र तारिख पर्चामा कारवाही हुने मुद्दाको मार्ग समूह उल्लेख गर्ने।</a:t>
            </a:r>
          </a:p>
          <a:p>
            <a:pPr>
              <a:buFont typeface="Wingdings" pitchFamily="2" charset="2"/>
              <a:buChar char="§"/>
            </a:pPr>
            <a:r>
              <a:rPr lang="ne-NP" dirty="0">
                <a:latin typeface="Kokila" pitchFamily="34" charset="0"/>
                <a:cs typeface="Kalimati" panose="00000400000000000000" pitchFamily="2"/>
              </a:rPr>
              <a:t>फरक मुद्दा व्यवस्थापनको प्रयोजन र यसबाट हासिल गर्न खोजिएको नतिजा सम्बन्धमा सेवाग्राहीलाई जानकारी दिने।</a:t>
            </a:r>
          </a:p>
          <a:p>
            <a:pPr>
              <a:buFont typeface="Wingdings" pitchFamily="2" charset="2"/>
              <a:buChar char="§"/>
            </a:pPr>
            <a:r>
              <a:rPr lang="ne-NP" dirty="0">
                <a:latin typeface="Kokila" pitchFamily="34" charset="0"/>
                <a:cs typeface="Kalimati" panose="00000400000000000000" pitchFamily="2"/>
              </a:rPr>
              <a:t>सफ्टवेयरले निर्धारण गरेको कार्यतालिका मिसिल संलग्न गरी एक प्रति पक्षहरुलाई उपलब्ध गराउने।</a:t>
            </a:r>
          </a:p>
          <a:p>
            <a:pPr>
              <a:buFont typeface="Wingdings" pitchFamily="2" charset="2"/>
              <a:buChar char="§"/>
            </a:pPr>
            <a:r>
              <a:rPr lang="ne-NP" dirty="0">
                <a:latin typeface="Kokila" pitchFamily="34" charset="0"/>
                <a:cs typeface="Kalimati" panose="00000400000000000000" pitchFamily="2"/>
              </a:rPr>
              <a:t>मार्ग समूह निर्धारण र कार्यतालिका निर्धारणमा  कुनै समस्या देखिएमा </a:t>
            </a:r>
            <a:r>
              <a:rPr lang="ne-NP" dirty="0" smtClean="0">
                <a:latin typeface="Kokila" pitchFamily="34" charset="0"/>
                <a:cs typeface="Kalimati" panose="00000400000000000000" pitchFamily="2"/>
              </a:rPr>
              <a:t>श्रेष्तेदार </a:t>
            </a:r>
            <a:r>
              <a:rPr lang="ne-NP" dirty="0">
                <a:latin typeface="Kokila" pitchFamily="34" charset="0"/>
                <a:cs typeface="Kalimati" panose="00000400000000000000" pitchFamily="2"/>
              </a:rPr>
              <a:t>वा निजले तोकेको अधिकृतसमक्ष पेश गरी निकाशा लिने।</a:t>
            </a:r>
          </a:p>
        </p:txBody>
      </p:sp>
    </p:spTree>
    <p:extLst>
      <p:ext uri="{BB962C8B-B14F-4D97-AF65-F5344CB8AC3E}">
        <p14:creationId xmlns:p14="http://schemas.microsoft.com/office/powerpoint/2010/main" val="409558842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621289"/>
          </a:xfrm>
        </p:spPr>
        <p:txBody>
          <a:bodyPr>
            <a:normAutofit fontScale="90000"/>
          </a:bodyPr>
          <a:lstStyle/>
          <a:p>
            <a:r>
              <a:rPr lang="ne-NP" sz="3600" b="1" dirty="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१३</a:t>
            </a:r>
            <a:r>
              <a:rPr lang="en-US" sz="3600" b="1" dirty="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a:t>
            </a:r>
            <a:r>
              <a:rPr lang="ne-NP" sz="3600" b="1" dirty="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 फाँटवाला वा शाखा प्रमुखले गर्नुपर्ने काम </a:t>
            </a:r>
            <a:endParaRPr lang="en-US" sz="3600" b="1" dirty="0">
              <a:solidFill>
                <a:srgbClr val="0070C0"/>
              </a:solidFill>
              <a:effectLst>
                <a:outerShdw blurRad="38100" dist="38100" dir="2700000" algn="tl">
                  <a:srgbClr val="000000">
                    <a:alpha val="43137"/>
                  </a:srgbClr>
                </a:outerShdw>
              </a:effectLst>
              <a:cs typeface="Kalimati" panose="00000400000000000000" pitchFamily="2"/>
            </a:endParaRPr>
          </a:p>
        </p:txBody>
      </p:sp>
      <p:sp>
        <p:nvSpPr>
          <p:cNvPr id="3" name="Content Placeholder 2"/>
          <p:cNvSpPr>
            <a:spLocks noGrp="1"/>
          </p:cNvSpPr>
          <p:nvPr>
            <p:ph idx="1"/>
          </p:nvPr>
        </p:nvSpPr>
        <p:spPr>
          <a:xfrm>
            <a:off x="341745" y="895927"/>
            <a:ext cx="11545455" cy="5230240"/>
          </a:xfrm>
        </p:spPr>
        <p:txBody>
          <a:bodyPr>
            <a:normAutofit fontScale="85000" lnSpcReduction="20000"/>
          </a:bodyPr>
          <a:lstStyle/>
          <a:p>
            <a:pPr algn="just">
              <a:buFont typeface="Wingdings" pitchFamily="2" charset="2"/>
              <a:buChar char="§"/>
            </a:pPr>
            <a:r>
              <a:rPr lang="ne-NP" dirty="0">
                <a:latin typeface="Kokila" pitchFamily="34" charset="0"/>
                <a:cs typeface="Kalimati" panose="00000400000000000000" pitchFamily="2"/>
              </a:rPr>
              <a:t>झिकाइएको पक्षको व्यक्तिगत विवरण  र </a:t>
            </a:r>
            <a:r>
              <a:rPr lang="ne-NP" dirty="0" smtClean="0">
                <a:latin typeface="Kokila" pitchFamily="34" charset="0"/>
                <a:cs typeface="Kalimati" panose="00000400000000000000" pitchFamily="2"/>
              </a:rPr>
              <a:t>स्वघोषणा </a:t>
            </a:r>
            <a:r>
              <a:rPr lang="ne-NP" dirty="0">
                <a:latin typeface="Kokila" pitchFamily="34" charset="0"/>
                <a:cs typeface="Kalimati" panose="00000400000000000000" pitchFamily="2"/>
              </a:rPr>
              <a:t>फाराममा भरेको विवरण सफ्टवेयरमा  प्रबिष्ट गर्ने ।</a:t>
            </a:r>
          </a:p>
          <a:p>
            <a:pPr algn="just">
              <a:buFont typeface="Wingdings" pitchFamily="2" charset="2"/>
              <a:buChar char="§"/>
            </a:pPr>
            <a:r>
              <a:rPr lang="ne-NP" dirty="0">
                <a:latin typeface="Kokila" pitchFamily="34" charset="0"/>
                <a:cs typeface="Kalimati" panose="00000400000000000000" pitchFamily="2"/>
              </a:rPr>
              <a:t>सफ्टवेयरले निर्धारण गरेको कार्यतालिका मिसिल संलग्न गरी एक प्रति पक्षहरुलाई उपलब्ध गराउने ।</a:t>
            </a:r>
          </a:p>
          <a:p>
            <a:pPr algn="just">
              <a:buFont typeface="Wingdings" pitchFamily="2" charset="2"/>
              <a:buChar char="§"/>
            </a:pPr>
            <a:r>
              <a:rPr lang="ne-NP" dirty="0">
                <a:latin typeface="Kokila" pitchFamily="34" charset="0"/>
                <a:cs typeface="Kalimati" panose="00000400000000000000" pitchFamily="2"/>
              </a:rPr>
              <a:t>तारिख भरपाई र तारिख पर्चामा कारवाही हुने मुद्दाको मार्ग समूह उल्लेख गर्ने ।</a:t>
            </a:r>
          </a:p>
          <a:p>
            <a:pPr algn="just">
              <a:buFont typeface="Wingdings" pitchFamily="2" charset="2"/>
              <a:buChar char="§"/>
            </a:pPr>
            <a:r>
              <a:rPr lang="ne-NP" dirty="0" smtClean="0">
                <a:latin typeface="Kokila" pitchFamily="34" charset="0"/>
                <a:cs typeface="Kalimati" panose="00000400000000000000" pitchFamily="2"/>
              </a:rPr>
              <a:t>मार्ग </a:t>
            </a:r>
            <a:r>
              <a:rPr lang="ne-NP" dirty="0">
                <a:latin typeface="Kokila" pitchFamily="34" charset="0"/>
                <a:cs typeface="Kalimati" panose="00000400000000000000" pitchFamily="2"/>
              </a:rPr>
              <a:t>समूहअनुसारको फाइल वा स्टिकर प्रयोग गर्ने ।</a:t>
            </a:r>
          </a:p>
          <a:p>
            <a:pPr algn="just">
              <a:buFont typeface="Wingdings" pitchFamily="2" charset="2"/>
              <a:buChar char="§"/>
            </a:pPr>
            <a:r>
              <a:rPr lang="ne-NP" dirty="0">
                <a:latin typeface="Kokila" pitchFamily="34" charset="0"/>
                <a:cs typeface="Kalimati" panose="00000400000000000000" pitchFamily="2"/>
              </a:rPr>
              <a:t>निर्धारित कार्यतालिका अनुसारको समयभित्र मुद्दामा अङ्ग पुर्याउने र पेशीमा </a:t>
            </a:r>
            <a:r>
              <a:rPr lang="ne-NP" dirty="0" smtClean="0">
                <a:latin typeface="Kokila" pitchFamily="34" charset="0"/>
                <a:cs typeface="Kalimati" panose="00000400000000000000" pitchFamily="2"/>
              </a:rPr>
              <a:t>चढाउने।</a:t>
            </a:r>
            <a:endParaRPr lang="ne-NP" dirty="0">
              <a:latin typeface="Kokila" pitchFamily="34" charset="0"/>
              <a:cs typeface="Kalimati" panose="00000400000000000000" pitchFamily="2"/>
            </a:endParaRPr>
          </a:p>
          <a:p>
            <a:pPr algn="just">
              <a:buFont typeface="Wingdings" pitchFamily="2" charset="2"/>
              <a:buChar char="§"/>
            </a:pPr>
            <a:r>
              <a:rPr lang="ne-NP" dirty="0">
                <a:latin typeface="Kokila" pitchFamily="34" charset="0"/>
                <a:cs typeface="Kalimati" panose="00000400000000000000" pitchFamily="2"/>
              </a:rPr>
              <a:t>लगाउको मुद्दा भएमा बढी समय लाग्ने मार्ग समूहमा दर्ता </a:t>
            </a:r>
            <a:r>
              <a:rPr lang="ne-NP" dirty="0" smtClean="0">
                <a:latin typeface="Kokila" pitchFamily="34" charset="0"/>
                <a:cs typeface="Kalimati" panose="00000400000000000000" pitchFamily="2"/>
              </a:rPr>
              <a:t>गर्ने।</a:t>
            </a:r>
            <a:endParaRPr lang="ne-NP" dirty="0">
              <a:latin typeface="Kokila" pitchFamily="34" charset="0"/>
              <a:cs typeface="Kalimati" panose="00000400000000000000" pitchFamily="2"/>
            </a:endParaRPr>
          </a:p>
          <a:p>
            <a:pPr algn="just">
              <a:buFont typeface="Wingdings" pitchFamily="2" charset="2"/>
              <a:buChar char="§"/>
            </a:pPr>
            <a:r>
              <a:rPr lang="ne-NP" dirty="0">
                <a:latin typeface="Kokila" pitchFamily="34" charset="0"/>
                <a:cs typeface="Kalimati" panose="00000400000000000000" pitchFamily="2"/>
              </a:rPr>
              <a:t>तोकिएको मार्गसमूह </a:t>
            </a:r>
            <a:r>
              <a:rPr lang="ne-NP" dirty="0" smtClean="0">
                <a:latin typeface="Kokila" pitchFamily="34" charset="0"/>
                <a:cs typeface="Kalimati" panose="00000400000000000000" pitchFamily="2"/>
              </a:rPr>
              <a:t>वा </a:t>
            </a:r>
            <a:r>
              <a:rPr lang="ne-NP" dirty="0">
                <a:latin typeface="Kokila" pitchFamily="34" charset="0"/>
                <a:cs typeface="Kalimati" panose="00000400000000000000" pitchFamily="2"/>
              </a:rPr>
              <a:t>कार्यतालिका परिमार्जन गर्नु पर्ने देखिएमा सुपरीवेक्षकमार्फत </a:t>
            </a:r>
            <a:r>
              <a:rPr lang="ne-NP" dirty="0" smtClean="0">
                <a:latin typeface="Kokila" pitchFamily="34" charset="0"/>
                <a:cs typeface="Kalimati" panose="00000400000000000000" pitchFamily="2"/>
              </a:rPr>
              <a:t>श्रेष्तेदार समक्ष </a:t>
            </a:r>
            <a:r>
              <a:rPr lang="ne-NP" dirty="0">
                <a:latin typeface="Kokila" pitchFamily="34" charset="0"/>
                <a:cs typeface="Kalimati" panose="00000400000000000000" pitchFamily="2"/>
              </a:rPr>
              <a:t>पेश </a:t>
            </a:r>
            <a:r>
              <a:rPr lang="ne-NP" dirty="0" smtClean="0">
                <a:latin typeface="Kokila" pitchFamily="34" charset="0"/>
                <a:cs typeface="Kalimati" panose="00000400000000000000" pitchFamily="2"/>
              </a:rPr>
              <a:t>गर्ने।</a:t>
            </a:r>
            <a:endParaRPr lang="ne-NP" dirty="0">
              <a:latin typeface="Kokila" pitchFamily="34" charset="0"/>
              <a:cs typeface="Kalimati" panose="00000400000000000000" pitchFamily="2"/>
            </a:endParaRPr>
          </a:p>
          <a:p>
            <a:pPr algn="just">
              <a:buFont typeface="Wingdings" pitchFamily="2" charset="2"/>
              <a:buChar char="§"/>
            </a:pPr>
            <a:r>
              <a:rPr lang="ne-NP" dirty="0">
                <a:latin typeface="Kokila" pitchFamily="34" charset="0"/>
                <a:cs typeface="Kalimati" panose="00000400000000000000" pitchFamily="2"/>
              </a:rPr>
              <a:t>फरक मुद्दा व्यवस्थापनको प्रयोजन र यसबाट हासिल गर्न खोजिएको नतिजा सम्बन्धमा सेवाग्राहीलाई जानकारी </a:t>
            </a:r>
            <a:r>
              <a:rPr lang="ne-NP" dirty="0" smtClean="0">
                <a:latin typeface="Kokila" pitchFamily="34" charset="0"/>
                <a:cs typeface="Kalimati" panose="00000400000000000000" pitchFamily="2"/>
              </a:rPr>
              <a:t>दिने।</a:t>
            </a:r>
            <a:endParaRPr lang="ne-NP" dirty="0">
              <a:latin typeface="Kokila" pitchFamily="34" charset="0"/>
              <a:cs typeface="Kalimati" panose="00000400000000000000" pitchFamily="2"/>
            </a:endParaRPr>
          </a:p>
          <a:p>
            <a:pPr>
              <a:buFont typeface="Wingdings" pitchFamily="2" charset="2"/>
              <a:buChar char="§"/>
            </a:pPr>
            <a:endParaRPr lang="ne-NP" b="1" dirty="0">
              <a:effectLst>
                <a:outerShdw blurRad="38100" dist="38100" dir="2700000" algn="tl">
                  <a:srgbClr val="000000">
                    <a:alpha val="43137"/>
                  </a:srgbClr>
                </a:outerShdw>
              </a:effectLst>
              <a:latin typeface="Kokila" pitchFamily="34" charset="0"/>
              <a:cs typeface="Kokila" pitchFamily="34" charset="0"/>
            </a:endParaRPr>
          </a:p>
          <a:p>
            <a:endParaRPr lang="en-US" dirty="0"/>
          </a:p>
        </p:txBody>
      </p:sp>
    </p:spTree>
    <p:extLst>
      <p:ext uri="{BB962C8B-B14F-4D97-AF65-F5344CB8AC3E}">
        <p14:creationId xmlns:p14="http://schemas.microsoft.com/office/powerpoint/2010/main" val="149011570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575107"/>
          </a:xfrm>
        </p:spPr>
        <p:txBody>
          <a:bodyPr>
            <a:normAutofit fontScale="90000"/>
          </a:bodyPr>
          <a:lstStyle/>
          <a:p>
            <a:r>
              <a:rPr lang="ne-NP" sz="3600" dirty="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१४</a:t>
            </a:r>
            <a:r>
              <a:rPr lang="en-US" sz="3600" dirty="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a:t>
            </a:r>
            <a:r>
              <a:rPr lang="ne-NP" sz="3600" dirty="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 सुपरीवेक्षकले गर्नुपर्ने कामहरु </a:t>
            </a:r>
            <a:endParaRPr lang="en-US" sz="3600" dirty="0">
              <a:solidFill>
                <a:srgbClr val="0070C0"/>
              </a:solidFill>
              <a:effectLst>
                <a:outerShdw blurRad="38100" dist="38100" dir="2700000" algn="tl">
                  <a:srgbClr val="000000">
                    <a:alpha val="43137"/>
                  </a:srgbClr>
                </a:outerShdw>
              </a:effectLst>
              <a:cs typeface="Kalimati" panose="00000400000000000000" pitchFamily="2"/>
            </a:endParaRPr>
          </a:p>
        </p:txBody>
      </p:sp>
      <p:sp>
        <p:nvSpPr>
          <p:cNvPr id="3" name="Content Placeholder 2"/>
          <p:cNvSpPr>
            <a:spLocks noGrp="1"/>
          </p:cNvSpPr>
          <p:nvPr>
            <p:ph idx="1"/>
          </p:nvPr>
        </p:nvSpPr>
        <p:spPr>
          <a:xfrm>
            <a:off x="1163782" y="1089891"/>
            <a:ext cx="10741890" cy="5523345"/>
          </a:xfrm>
        </p:spPr>
        <p:txBody>
          <a:bodyPr>
            <a:normAutofit fontScale="62500" lnSpcReduction="20000"/>
          </a:bodyPr>
          <a:lstStyle/>
          <a:p>
            <a:pPr algn="just">
              <a:buFont typeface="Wingdings" pitchFamily="2" charset="2"/>
              <a:buChar char="§"/>
            </a:pPr>
            <a:r>
              <a:rPr lang="ne-NP" sz="4000" dirty="0">
                <a:latin typeface="Kokila" pitchFamily="34" charset="0"/>
                <a:cs typeface="Kalimati" panose="00000400000000000000" pitchFamily="2"/>
              </a:rPr>
              <a:t>अदालतका चालु मिसिलमा आन्तरिक निरीक्षण गरी समयमै (कार्यतालिका अनुसारको समयभित्र) अङ्ग पुर्‍याउने</a:t>
            </a:r>
            <a:r>
              <a:rPr lang="en-US" sz="4000" dirty="0">
                <a:latin typeface="Kokila" pitchFamily="34" charset="0"/>
                <a:cs typeface="Kalimati" panose="00000400000000000000" pitchFamily="2"/>
              </a:rPr>
              <a:t>,</a:t>
            </a:r>
            <a:endParaRPr lang="ne-NP" sz="4000" dirty="0">
              <a:latin typeface="Kokila" pitchFamily="34" charset="0"/>
              <a:cs typeface="Kalimati" panose="00000400000000000000" pitchFamily="2"/>
            </a:endParaRPr>
          </a:p>
          <a:p>
            <a:pPr algn="just">
              <a:buFont typeface="Wingdings" pitchFamily="2" charset="2"/>
              <a:buChar char="§"/>
            </a:pPr>
            <a:r>
              <a:rPr lang="ne-NP" sz="4000" dirty="0">
                <a:latin typeface="Kokila" pitchFamily="34" charset="0"/>
                <a:cs typeface="Kalimati" panose="00000400000000000000" pitchFamily="2"/>
              </a:rPr>
              <a:t>अदालतका चालु मिसिलमा भएका आदेशहरू यथाशीघ्र कार्यान्वयन गर्ने गराउने</a:t>
            </a:r>
            <a:r>
              <a:rPr lang="en-US" sz="4000" dirty="0">
                <a:latin typeface="Kokila" pitchFamily="34" charset="0"/>
                <a:cs typeface="Kalimati" panose="00000400000000000000" pitchFamily="2"/>
              </a:rPr>
              <a:t>,</a:t>
            </a:r>
            <a:r>
              <a:rPr lang="ne-NP" sz="4000" dirty="0">
                <a:latin typeface="Kokila" pitchFamily="34" charset="0"/>
                <a:cs typeface="Kalimati" panose="00000400000000000000" pitchFamily="2"/>
              </a:rPr>
              <a:t> </a:t>
            </a:r>
          </a:p>
          <a:p>
            <a:pPr algn="just">
              <a:buFont typeface="Wingdings" pitchFamily="2" charset="2"/>
              <a:buChar char="§"/>
            </a:pPr>
            <a:r>
              <a:rPr lang="ne-NP" sz="4000" dirty="0">
                <a:latin typeface="Kokila" pitchFamily="34" charset="0"/>
                <a:cs typeface="Kalimati" panose="00000400000000000000" pitchFamily="2"/>
              </a:rPr>
              <a:t>मुद्दामा कार्यतालिका बमोजिम काम भए नभएको अनुगमन गरी सम्बन्धित कर्मचारीलाई आवश्‍यक निर्देशन दिने</a:t>
            </a:r>
            <a:r>
              <a:rPr lang="en-US" sz="4000" dirty="0">
                <a:latin typeface="Kokila" pitchFamily="34" charset="0"/>
                <a:cs typeface="Kalimati" panose="00000400000000000000" pitchFamily="2"/>
              </a:rPr>
              <a:t>,</a:t>
            </a:r>
            <a:endParaRPr lang="ne-NP" sz="4000" dirty="0">
              <a:latin typeface="Kokila" pitchFamily="34" charset="0"/>
              <a:cs typeface="Kalimati" panose="00000400000000000000" pitchFamily="2"/>
            </a:endParaRPr>
          </a:p>
          <a:p>
            <a:pPr algn="just">
              <a:buFont typeface="Wingdings" pitchFamily="2" charset="2"/>
              <a:buChar char="§"/>
            </a:pPr>
            <a:r>
              <a:rPr lang="ne-NP" sz="4000" dirty="0">
                <a:latin typeface="Kokila" pitchFamily="34" charset="0"/>
                <a:cs typeface="Kalimati" panose="00000400000000000000" pitchFamily="2"/>
              </a:rPr>
              <a:t>कार्यतालिकामा निर्धारित समयसीमा नाघ्न लागेका मुद्दाहरू पहिचान गरी सो को जानकारी </a:t>
            </a:r>
            <a:r>
              <a:rPr lang="ne-NP" sz="4000" dirty="0" smtClean="0">
                <a:latin typeface="Kokila" pitchFamily="34" charset="0"/>
                <a:cs typeface="Kalimati" panose="00000400000000000000" pitchFamily="2"/>
              </a:rPr>
              <a:t>श्रेष्तेदारलाई </a:t>
            </a:r>
            <a:r>
              <a:rPr lang="ne-NP" sz="4000" dirty="0">
                <a:latin typeface="Kokila" pitchFamily="34" charset="0"/>
                <a:cs typeface="Kalimati" panose="00000400000000000000" pitchFamily="2"/>
              </a:rPr>
              <a:t>दिई प्राप्त निर्देशन बमोजिम तोकिएको समयभित्रै कार्य सम्पन्न गर्ने</a:t>
            </a:r>
            <a:r>
              <a:rPr lang="en-US" sz="4000" dirty="0">
                <a:latin typeface="Kokila" pitchFamily="34" charset="0"/>
                <a:cs typeface="Kalimati" panose="00000400000000000000" pitchFamily="2"/>
              </a:rPr>
              <a:t>,</a:t>
            </a:r>
            <a:r>
              <a:rPr lang="ne-NP" sz="4000" dirty="0">
                <a:latin typeface="Kokila" pitchFamily="34" charset="0"/>
                <a:cs typeface="Kalimati" panose="00000400000000000000" pitchFamily="2"/>
              </a:rPr>
              <a:t> </a:t>
            </a:r>
          </a:p>
          <a:p>
            <a:pPr algn="just">
              <a:buFont typeface="Wingdings" pitchFamily="2" charset="2"/>
              <a:buChar char="§"/>
            </a:pPr>
            <a:r>
              <a:rPr lang="ne-NP" sz="4000" dirty="0">
                <a:latin typeface="Kokila" pitchFamily="34" charset="0"/>
                <a:cs typeface="Kalimati" panose="00000400000000000000" pitchFamily="2"/>
              </a:rPr>
              <a:t>मुद्दाको मार्गसमूह परिवर्तन गर्नु पर्ने देखिएमा </a:t>
            </a:r>
            <a:r>
              <a:rPr lang="ne-NP" sz="4000" dirty="0" smtClean="0">
                <a:latin typeface="Kokila" pitchFamily="34" charset="0"/>
                <a:cs typeface="Kalimati" panose="00000400000000000000" pitchFamily="2"/>
              </a:rPr>
              <a:t>श्रेष्तेदार </a:t>
            </a:r>
            <a:r>
              <a:rPr lang="ne-NP" sz="4000" dirty="0">
                <a:latin typeface="Kokila" pitchFamily="34" charset="0"/>
                <a:cs typeface="Kalimati" panose="00000400000000000000" pitchFamily="2"/>
              </a:rPr>
              <a:t>समक्ष पेश गर्ने</a:t>
            </a:r>
            <a:r>
              <a:rPr lang="en-US" sz="4000" dirty="0">
                <a:latin typeface="Kokila" pitchFamily="34" charset="0"/>
                <a:cs typeface="Kalimati" panose="00000400000000000000" pitchFamily="2"/>
              </a:rPr>
              <a:t>,</a:t>
            </a:r>
            <a:endParaRPr lang="ne-NP" sz="4000" dirty="0">
              <a:latin typeface="Kokila" pitchFamily="34" charset="0"/>
              <a:cs typeface="Kalimati" panose="00000400000000000000" pitchFamily="2"/>
            </a:endParaRPr>
          </a:p>
          <a:p>
            <a:pPr algn="just">
              <a:buFont typeface="Wingdings" pitchFamily="2" charset="2"/>
              <a:buChar char="§"/>
            </a:pPr>
            <a:r>
              <a:rPr lang="ne-NP" sz="4000" dirty="0">
                <a:latin typeface="Kokila" pitchFamily="34" charset="0"/>
                <a:cs typeface="Kalimati" panose="00000400000000000000" pitchFamily="2"/>
              </a:rPr>
              <a:t>अदालतको काम सुचारु रूपले चलाउन </a:t>
            </a:r>
            <a:r>
              <a:rPr lang="ne-NP" sz="4000" dirty="0" smtClean="0">
                <a:latin typeface="Kokila" pitchFamily="34" charset="0"/>
                <a:cs typeface="Kalimati" panose="00000400000000000000" pitchFamily="2"/>
              </a:rPr>
              <a:t>श्रेष्तेदारलाई </a:t>
            </a:r>
            <a:r>
              <a:rPr lang="ne-NP" sz="4000" dirty="0">
                <a:latin typeface="Kokila" pitchFamily="34" charset="0"/>
                <a:cs typeface="Kalimati" panose="00000400000000000000" pitchFamily="2"/>
              </a:rPr>
              <a:t>सहयोग गर्ने । </a:t>
            </a:r>
            <a:endParaRPr lang="en-US" sz="4000" dirty="0">
              <a:latin typeface="Kokila" pitchFamily="34" charset="0"/>
              <a:cs typeface="Kalimati" panose="00000400000000000000" pitchFamily="2"/>
            </a:endParaRPr>
          </a:p>
          <a:p>
            <a:pPr algn="just">
              <a:buFont typeface="Wingdings" pitchFamily="2" charset="2"/>
              <a:buChar char="§"/>
            </a:pPr>
            <a:r>
              <a:rPr lang="ne-NP" sz="4000" dirty="0">
                <a:latin typeface="Kokila" pitchFamily="34" charset="0"/>
                <a:cs typeface="Kalimati" panose="00000400000000000000" pitchFamily="2"/>
              </a:rPr>
              <a:t>मुद्दा दर्ता र कारवाहीमा निर्देशिका र नियमावलीको पालना भए नभएको </a:t>
            </a:r>
            <a:r>
              <a:rPr lang="ne-NP" sz="4000" dirty="0" smtClean="0">
                <a:latin typeface="Kokila" pitchFamily="34" charset="0"/>
                <a:cs typeface="Kalimati" panose="00000400000000000000" pitchFamily="2"/>
              </a:rPr>
              <a:t>अनुगमन गर्ने।</a:t>
            </a:r>
            <a:endParaRPr lang="ne-NP" sz="4000" dirty="0">
              <a:latin typeface="Kokila" pitchFamily="34" charset="0"/>
              <a:cs typeface="Kalimati" panose="00000400000000000000" pitchFamily="2"/>
            </a:endParaRPr>
          </a:p>
          <a:p>
            <a:pPr algn="just">
              <a:buFont typeface="Wingdings" pitchFamily="2" charset="2"/>
              <a:buChar char="§"/>
            </a:pPr>
            <a:r>
              <a:rPr lang="ne-NP" sz="4000" dirty="0">
                <a:latin typeface="Kokila" pitchFamily="34" charset="0"/>
                <a:cs typeface="Kalimati" panose="00000400000000000000" pitchFamily="2"/>
              </a:rPr>
              <a:t>मार्ग समूह निर्धारण र कार्यतालिका कार्यान्वयनमा  कुनै समस्या देखिएमा </a:t>
            </a:r>
            <a:r>
              <a:rPr lang="ne-NP" sz="4000" dirty="0" smtClean="0">
                <a:latin typeface="Kokila" pitchFamily="34" charset="0"/>
                <a:cs typeface="Kalimati" panose="00000400000000000000" pitchFamily="2"/>
              </a:rPr>
              <a:t>श्रेष्तेदारसमक्ष </a:t>
            </a:r>
            <a:r>
              <a:rPr lang="ne-NP" sz="4000" dirty="0">
                <a:latin typeface="Kokila" pitchFamily="34" charset="0"/>
                <a:cs typeface="Kalimati" panose="00000400000000000000" pitchFamily="2"/>
              </a:rPr>
              <a:t>पेश गरी निकाशा लिने ।</a:t>
            </a:r>
          </a:p>
          <a:p>
            <a:endParaRPr lang="en-US" dirty="0"/>
          </a:p>
        </p:txBody>
      </p:sp>
    </p:spTree>
    <p:extLst>
      <p:ext uri="{BB962C8B-B14F-4D97-AF65-F5344CB8AC3E}">
        <p14:creationId xmlns:p14="http://schemas.microsoft.com/office/powerpoint/2010/main" val="260632463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Autofit/>
          </a:bodyPr>
          <a:lstStyle/>
          <a:p>
            <a:r>
              <a:rPr lang="ne-NP" sz="3600" dirty="0" smtClean="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१</a:t>
            </a:r>
            <a:r>
              <a:rPr lang="ne-NP" sz="3600" dirty="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५</a:t>
            </a:r>
            <a:r>
              <a:rPr lang="en-US" sz="3600" dirty="0" smtClean="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a:t>
            </a:r>
            <a:r>
              <a:rPr lang="ne-NP" sz="3600" dirty="0" smtClean="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 </a:t>
            </a:r>
            <a:r>
              <a:rPr lang="ne-NP" sz="3600" b="1" dirty="0" smtClean="0">
                <a:solidFill>
                  <a:srgbClr val="0070C0"/>
                </a:solidFill>
                <a:effectLst>
                  <a:outerShdw blurRad="38100" dist="38100" dir="2700000" algn="tl">
                    <a:srgbClr val="000000">
                      <a:alpha val="43137"/>
                    </a:srgbClr>
                  </a:outerShdw>
                </a:effectLst>
                <a:latin typeface="Nirmala UI" panose="020B0502040204020203" pitchFamily="34" charset="0"/>
                <a:ea typeface="Nirmala UI" panose="020B0502040204020203" pitchFamily="34" charset="0"/>
                <a:cs typeface="Kalimati" panose="00000400000000000000" pitchFamily="2"/>
              </a:rPr>
              <a:t>फरक </a:t>
            </a:r>
            <a:r>
              <a:rPr lang="ne-NP" sz="3600" b="1" dirty="0">
                <a:solidFill>
                  <a:srgbClr val="0070C0"/>
                </a:solidFill>
                <a:effectLst>
                  <a:outerShdw blurRad="38100" dist="38100" dir="2700000" algn="tl">
                    <a:srgbClr val="000000">
                      <a:alpha val="43137"/>
                    </a:srgbClr>
                  </a:outerShdw>
                </a:effectLst>
                <a:latin typeface="Nirmala UI" panose="020B0502040204020203" pitchFamily="34" charset="0"/>
                <a:ea typeface="Nirmala UI" panose="020B0502040204020203" pitchFamily="34" charset="0"/>
                <a:cs typeface="Kalimati" panose="00000400000000000000" pitchFamily="2"/>
              </a:rPr>
              <a:t>मुद्दा </a:t>
            </a:r>
            <a:r>
              <a:rPr lang="ne-NP" sz="3600" b="1" dirty="0" smtClean="0">
                <a:solidFill>
                  <a:srgbClr val="0070C0"/>
                </a:solidFill>
                <a:effectLst>
                  <a:outerShdw blurRad="38100" dist="38100" dir="2700000" algn="tl">
                    <a:srgbClr val="000000">
                      <a:alpha val="43137"/>
                    </a:srgbClr>
                  </a:outerShdw>
                </a:effectLst>
                <a:latin typeface="Nirmala UI" panose="020B0502040204020203" pitchFamily="34" charset="0"/>
                <a:ea typeface="Nirmala UI" panose="020B0502040204020203" pitchFamily="34" charset="0"/>
                <a:cs typeface="Kalimati" panose="00000400000000000000" pitchFamily="2"/>
              </a:rPr>
              <a:t>व्यवस्थापन </a:t>
            </a:r>
            <a:r>
              <a:rPr lang="ne-NP" sz="3600" b="1" dirty="0">
                <a:solidFill>
                  <a:srgbClr val="0070C0"/>
                </a:solidFill>
                <a:effectLst>
                  <a:outerShdw blurRad="38100" dist="38100" dir="2700000" algn="tl">
                    <a:srgbClr val="000000">
                      <a:alpha val="43137"/>
                    </a:srgbClr>
                  </a:outerShdw>
                </a:effectLst>
                <a:latin typeface="Nirmala UI" panose="020B0502040204020203" pitchFamily="34" charset="0"/>
                <a:ea typeface="Nirmala UI" panose="020B0502040204020203" pitchFamily="34" charset="0"/>
                <a:cs typeface="Kalimati" panose="00000400000000000000" pitchFamily="2"/>
              </a:rPr>
              <a:t>पद्दतिको कार्यान्वयनमा देखिएका </a:t>
            </a:r>
            <a:r>
              <a:rPr lang="ne-NP" sz="3600" b="1" dirty="0" smtClean="0">
                <a:solidFill>
                  <a:srgbClr val="0070C0"/>
                </a:solidFill>
                <a:effectLst>
                  <a:outerShdw blurRad="38100" dist="38100" dir="2700000" algn="tl">
                    <a:srgbClr val="000000">
                      <a:alpha val="43137"/>
                    </a:srgbClr>
                  </a:outerShdw>
                </a:effectLst>
                <a:latin typeface="Nirmala UI" panose="020B0502040204020203" pitchFamily="34" charset="0"/>
                <a:ea typeface="Nirmala UI" panose="020B0502040204020203" pitchFamily="34" charset="0"/>
                <a:cs typeface="Kalimati" panose="00000400000000000000" pitchFamily="2"/>
              </a:rPr>
              <a:t>समस्याहरु</a:t>
            </a:r>
            <a:endParaRPr lang="en-US" sz="3600"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fontScale="85000" lnSpcReduction="20000"/>
          </a:bodyPr>
          <a:lstStyle/>
          <a:p>
            <a:pPr algn="just"/>
            <a:r>
              <a:rPr lang="ne-NP" dirty="0" smtClean="0">
                <a:latin typeface="Nirmala UI" panose="020B0502040204020203" pitchFamily="34" charset="0"/>
                <a:ea typeface="Nirmala UI" panose="020B0502040204020203" pitchFamily="34" charset="0"/>
                <a:cs typeface="Kalimati" panose="00000400000000000000" pitchFamily="2"/>
              </a:rPr>
              <a:t>भाद्र २३ र २४ पछिको आगजनी र लुटपाट पछि स्थान</a:t>
            </a:r>
            <a:r>
              <a:rPr lang="en-US" dirty="0" smtClean="0">
                <a:latin typeface="Nirmala UI" panose="020B0502040204020203" pitchFamily="34" charset="0"/>
                <a:ea typeface="Nirmala UI" panose="020B0502040204020203" pitchFamily="34" charset="0"/>
                <a:cs typeface="Kalimati" panose="00000400000000000000" pitchFamily="2"/>
              </a:rPr>
              <a:t>,</a:t>
            </a:r>
            <a:r>
              <a:rPr lang="ne-NP" dirty="0" smtClean="0">
                <a:latin typeface="Nirmala UI" panose="020B0502040204020203" pitchFamily="34" charset="0"/>
                <a:ea typeface="Nirmala UI" panose="020B0502040204020203" pitchFamily="34" charset="0"/>
                <a:cs typeface="Kalimati" panose="00000400000000000000" pitchFamily="2"/>
              </a:rPr>
              <a:t> साधन र उपकरण </a:t>
            </a:r>
            <a:r>
              <a:rPr lang="ne-NP" dirty="0" smtClean="0">
                <a:latin typeface="Nirmala UI" panose="020B0502040204020203" pitchFamily="34" charset="0"/>
                <a:ea typeface="Nirmala UI" panose="020B0502040204020203" pitchFamily="34" charset="0"/>
                <a:cs typeface="Kalimati" panose="00000400000000000000" pitchFamily="2"/>
              </a:rPr>
              <a:t>को अभाव</a:t>
            </a:r>
            <a:endParaRPr lang="ne-NP" dirty="0" smtClean="0">
              <a:latin typeface="Nirmala UI" panose="020B0502040204020203" pitchFamily="34" charset="0"/>
              <a:ea typeface="Nirmala UI" panose="020B0502040204020203" pitchFamily="34" charset="0"/>
              <a:cs typeface="Kalimati" panose="00000400000000000000" pitchFamily="2"/>
            </a:endParaRPr>
          </a:p>
          <a:p>
            <a:pPr algn="just"/>
            <a:r>
              <a:rPr lang="ne-NP" dirty="0" smtClean="0">
                <a:latin typeface="Nirmala UI" panose="020B0502040204020203" pitchFamily="34" charset="0"/>
                <a:ea typeface="Nirmala UI" panose="020B0502040204020203" pitchFamily="34" charset="0"/>
                <a:cs typeface="Kalimati" panose="00000400000000000000" pitchFamily="2"/>
              </a:rPr>
              <a:t>मार्ग </a:t>
            </a:r>
            <a:r>
              <a:rPr lang="ne-NP" dirty="0">
                <a:latin typeface="Nirmala UI" panose="020B0502040204020203" pitchFamily="34" charset="0"/>
                <a:ea typeface="Nirmala UI" panose="020B0502040204020203" pitchFamily="34" charset="0"/>
                <a:cs typeface="Kalimati" panose="00000400000000000000" pitchFamily="2"/>
              </a:rPr>
              <a:t>समूह बमोजिम मुद्दा दर्ता गर्ने तर दिग्दर्शन बमोजिमका आधारमा मार्ग समूह नछुटाउने साथै आवश्यकतानुसार मार्ग समूह परिमार्जन नगरेको</a:t>
            </a:r>
            <a:r>
              <a:rPr lang="en-US" dirty="0">
                <a:latin typeface="Nirmala UI" panose="020B0502040204020203" pitchFamily="34" charset="0"/>
                <a:ea typeface="Nirmala UI" panose="020B0502040204020203" pitchFamily="34" charset="0"/>
                <a:cs typeface="Kalimati" panose="00000400000000000000" pitchFamily="2"/>
              </a:rPr>
              <a:t>,</a:t>
            </a:r>
            <a:endParaRPr lang="ne-NP" dirty="0">
              <a:latin typeface="Nirmala UI" panose="020B0502040204020203" pitchFamily="34" charset="0"/>
              <a:ea typeface="Nirmala UI" panose="020B0502040204020203" pitchFamily="34" charset="0"/>
              <a:cs typeface="Kalimati" panose="00000400000000000000" pitchFamily="2"/>
            </a:endParaRPr>
          </a:p>
          <a:p>
            <a:pPr algn="just"/>
            <a:r>
              <a:rPr lang="ne-NP" dirty="0">
                <a:latin typeface="Nirmala UI" panose="020B0502040204020203" pitchFamily="34" charset="0"/>
                <a:ea typeface="Nirmala UI" panose="020B0502040204020203" pitchFamily="34" charset="0"/>
                <a:cs typeface="Kalimati" panose="00000400000000000000" pitchFamily="2"/>
              </a:rPr>
              <a:t>कम्प्युटरबाट तयार भएको समयतालिका शुरुमा दिने तर अर्को पक्षलाई उपलब्ध नगराउने साथै संशोधित कार्यतालिका उपलब्ध नगराएको</a:t>
            </a:r>
            <a:r>
              <a:rPr lang="en-US" dirty="0">
                <a:latin typeface="Nirmala UI" panose="020B0502040204020203" pitchFamily="34" charset="0"/>
                <a:ea typeface="Nirmala UI" panose="020B0502040204020203" pitchFamily="34" charset="0"/>
                <a:cs typeface="Kalimati" panose="00000400000000000000" pitchFamily="2"/>
              </a:rPr>
              <a:t>,</a:t>
            </a:r>
          </a:p>
          <a:p>
            <a:pPr lvl="0" algn="just"/>
            <a:r>
              <a:rPr lang="ne-NP" dirty="0">
                <a:latin typeface="Nirmala UI" panose="020B0502040204020203" pitchFamily="34" charset="0"/>
                <a:ea typeface="Nirmala UI" panose="020B0502040204020203" pitchFamily="34" charset="0"/>
                <a:cs typeface="Kalimati" panose="00000400000000000000" pitchFamily="2"/>
              </a:rPr>
              <a:t>मार्ग समूहका आधारमा </a:t>
            </a:r>
            <a:r>
              <a:rPr lang="en-US" dirty="0">
                <a:latin typeface="Nirmala UI" panose="020B0502040204020203" pitchFamily="34" charset="0"/>
                <a:ea typeface="Nirmala UI" panose="020B0502040204020203" pitchFamily="34" charset="0"/>
                <a:cs typeface="Kalimati" panose="00000400000000000000" pitchFamily="2"/>
              </a:rPr>
              <a:t>Track</a:t>
            </a:r>
            <a:r>
              <a:rPr lang="ne-NP" dirty="0">
                <a:latin typeface="Nirmala UI" panose="020B0502040204020203" pitchFamily="34" charset="0"/>
                <a:ea typeface="Nirmala UI" panose="020B0502040204020203" pitchFamily="34" charset="0"/>
                <a:cs typeface="Kalimati" panose="00000400000000000000" pitchFamily="2"/>
              </a:rPr>
              <a:t> </a:t>
            </a:r>
            <a:r>
              <a:rPr lang="en-US" dirty="0">
                <a:latin typeface="Nirmala UI" panose="020B0502040204020203" pitchFamily="34" charset="0"/>
                <a:ea typeface="Nirmala UI" panose="020B0502040204020203" pitchFamily="34" charset="0"/>
                <a:cs typeface="Kalimati" panose="00000400000000000000" pitchFamily="2"/>
              </a:rPr>
              <a:t>Color </a:t>
            </a:r>
            <a:r>
              <a:rPr lang="ne-NP" dirty="0">
                <a:latin typeface="Nirmala UI" panose="020B0502040204020203" pitchFamily="34" charset="0"/>
                <a:ea typeface="Nirmala UI" panose="020B0502040204020203" pitchFamily="34" charset="0"/>
                <a:cs typeface="Kalimati" panose="00000400000000000000" pitchFamily="2"/>
              </a:rPr>
              <a:t>वा पहिचान खुल्ने सूचक प्रयोग नगरेको</a:t>
            </a:r>
            <a:r>
              <a:rPr lang="en-US" dirty="0">
                <a:latin typeface="Nirmala UI" panose="020B0502040204020203" pitchFamily="34" charset="0"/>
                <a:ea typeface="Nirmala UI" panose="020B0502040204020203" pitchFamily="34" charset="0"/>
                <a:cs typeface="Kalimati" panose="00000400000000000000" pitchFamily="2"/>
              </a:rPr>
              <a:t>,</a:t>
            </a:r>
          </a:p>
          <a:p>
            <a:pPr lvl="0" algn="just"/>
            <a:r>
              <a:rPr lang="ne-NP" dirty="0">
                <a:latin typeface="Nirmala UI" panose="020B0502040204020203" pitchFamily="34" charset="0"/>
                <a:ea typeface="Nirmala UI" panose="020B0502040204020203" pitchFamily="34" charset="0"/>
                <a:cs typeface="Kalimati" panose="00000400000000000000" pitchFamily="2"/>
              </a:rPr>
              <a:t>मुद्दा र समयतालिकामा निर्धारित क्रियाकलाप तोकिएको समयमा भए नभएको अनुगमन नगरेको</a:t>
            </a:r>
            <a:r>
              <a:rPr lang="en-US" dirty="0">
                <a:latin typeface="Nirmala UI" panose="020B0502040204020203" pitchFamily="34" charset="0"/>
                <a:ea typeface="Nirmala UI" panose="020B0502040204020203" pitchFamily="34" charset="0"/>
                <a:cs typeface="Kalimati" panose="00000400000000000000" pitchFamily="2"/>
              </a:rPr>
              <a:t>,</a:t>
            </a:r>
            <a:r>
              <a:rPr lang="ne-NP" dirty="0">
                <a:latin typeface="Nirmala UI" panose="020B0502040204020203" pitchFamily="34" charset="0"/>
                <a:ea typeface="Nirmala UI" panose="020B0502040204020203" pitchFamily="34" charset="0"/>
                <a:cs typeface="Kalimati" panose="00000400000000000000" pitchFamily="2"/>
              </a:rPr>
              <a:t> </a:t>
            </a:r>
          </a:p>
          <a:p>
            <a:pPr lvl="0" algn="just"/>
            <a:r>
              <a:rPr lang="ne-NP" dirty="0">
                <a:latin typeface="Nirmala UI" panose="020B0502040204020203" pitchFamily="34" charset="0"/>
                <a:ea typeface="Nirmala UI" panose="020B0502040204020203" pitchFamily="34" charset="0"/>
                <a:cs typeface="Kalimati" panose="00000400000000000000" pitchFamily="2"/>
              </a:rPr>
              <a:t>तालिम कार्यक्रम प्रदान गरेको तर सीप हस्तान्तरणमा समस्या देखिएको</a:t>
            </a:r>
            <a:r>
              <a:rPr lang="en-US" dirty="0">
                <a:latin typeface="Nirmala UI" panose="020B0502040204020203" pitchFamily="34" charset="0"/>
                <a:ea typeface="Nirmala UI" panose="020B0502040204020203" pitchFamily="34" charset="0"/>
                <a:cs typeface="Kalimati" panose="00000400000000000000" pitchFamily="2"/>
              </a:rPr>
              <a:t>,</a:t>
            </a:r>
          </a:p>
          <a:p>
            <a:pPr algn="just"/>
            <a:r>
              <a:rPr lang="ne-NP" dirty="0">
                <a:latin typeface="Nirmala UI" panose="020B0502040204020203" pitchFamily="34" charset="0"/>
                <a:ea typeface="Nirmala UI" panose="020B0502040204020203" pitchFamily="34" charset="0"/>
                <a:cs typeface="Kalimati" panose="00000400000000000000" pitchFamily="2"/>
              </a:rPr>
              <a:t>फरक मुद्दा व्यवस्थापन पद्धति प्रतिको </a:t>
            </a:r>
            <a:r>
              <a:rPr lang="ne-NP" dirty="0" smtClean="0">
                <a:latin typeface="Nirmala UI" panose="020B0502040204020203" pitchFamily="34" charset="0"/>
                <a:ea typeface="Nirmala UI" panose="020B0502040204020203" pitchFamily="34" charset="0"/>
                <a:cs typeface="Kalimati" panose="00000400000000000000" pitchFamily="2"/>
              </a:rPr>
              <a:t>स्वामित्व र प्रतिबद्धताको </a:t>
            </a:r>
            <a:r>
              <a:rPr lang="ne-NP" dirty="0">
                <a:latin typeface="Nirmala UI" panose="020B0502040204020203" pitchFamily="34" charset="0"/>
                <a:ea typeface="Nirmala UI" panose="020B0502040204020203" pitchFamily="34" charset="0"/>
                <a:cs typeface="Kalimati" panose="00000400000000000000" pitchFamily="2"/>
              </a:rPr>
              <a:t>कमी आदि।</a:t>
            </a:r>
            <a:endParaRPr lang="en-US" dirty="0">
              <a:latin typeface="Nirmala UI" panose="020B0502040204020203" pitchFamily="34" charset="0"/>
              <a:ea typeface="Nirmala UI" panose="020B0502040204020203" pitchFamily="34" charset="0"/>
              <a:cs typeface="Kalimati" panose="00000400000000000000" pitchFamily="2"/>
            </a:endParaRPr>
          </a:p>
          <a:p>
            <a:endParaRPr lang="en-US" dirty="0"/>
          </a:p>
        </p:txBody>
      </p:sp>
    </p:spTree>
    <p:extLst>
      <p:ext uri="{BB962C8B-B14F-4D97-AF65-F5344CB8AC3E}">
        <p14:creationId xmlns:p14="http://schemas.microsoft.com/office/powerpoint/2010/main" val="3658912476"/>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 y="274638"/>
            <a:ext cx="10972800" cy="455035"/>
          </a:xfrm>
        </p:spPr>
        <p:txBody>
          <a:bodyPr>
            <a:normAutofit fontScale="90000"/>
          </a:bodyPr>
          <a:lstStyle/>
          <a:p>
            <a:r>
              <a:rPr lang="ne-NP" sz="3600" dirty="0" smtClean="0">
                <a:solidFill>
                  <a:srgbClr val="0070C0"/>
                </a:solidFill>
                <a:effectLst>
                  <a:outerShdw blurRad="38100" dist="38100" dir="2700000" algn="tl">
                    <a:srgbClr val="000000">
                      <a:alpha val="43137"/>
                    </a:srgbClr>
                  </a:outerShdw>
                </a:effectLst>
                <a:cs typeface="Kalimati" panose="00000400000000000000" pitchFamily="2"/>
              </a:rPr>
              <a:t>समस्याहरु</a:t>
            </a:r>
            <a:endParaRPr lang="en-US" sz="3600" dirty="0">
              <a:solidFill>
                <a:srgbClr val="0070C0"/>
              </a:solidFill>
              <a:effectLst>
                <a:outerShdw blurRad="38100" dist="38100" dir="2700000" algn="tl">
                  <a:srgbClr val="000000">
                    <a:alpha val="43137"/>
                  </a:srgbClr>
                </a:outerShdw>
              </a:effectLst>
              <a:cs typeface="Kalimati" panose="00000400000000000000" pitchFamily="2"/>
            </a:endParaRPr>
          </a:p>
        </p:txBody>
      </p:sp>
      <p:sp>
        <p:nvSpPr>
          <p:cNvPr id="3" name="Content Placeholder 2"/>
          <p:cNvSpPr>
            <a:spLocks noGrp="1"/>
          </p:cNvSpPr>
          <p:nvPr>
            <p:ph idx="1"/>
          </p:nvPr>
        </p:nvSpPr>
        <p:spPr>
          <a:xfrm>
            <a:off x="609600" y="877455"/>
            <a:ext cx="10972800" cy="5248711"/>
          </a:xfrm>
        </p:spPr>
        <p:txBody>
          <a:bodyPr>
            <a:normAutofit fontScale="77500" lnSpcReduction="20000"/>
          </a:bodyPr>
          <a:lstStyle/>
          <a:p>
            <a:pPr algn="just">
              <a:spcBef>
                <a:spcPts val="1200"/>
              </a:spcBef>
              <a:spcAft>
                <a:spcPts val="600"/>
              </a:spcAft>
            </a:pPr>
            <a:r>
              <a:rPr lang="ne-NP" dirty="0">
                <a:cs typeface="Kalimati" panose="00000400000000000000" pitchFamily="2"/>
              </a:rPr>
              <a:t>मुद्दा दर्ता</a:t>
            </a:r>
            <a:r>
              <a:rPr lang="en-US" dirty="0">
                <a:cs typeface="Kalimati" panose="00000400000000000000" pitchFamily="2"/>
              </a:rPr>
              <a:t>, </a:t>
            </a:r>
            <a:r>
              <a:rPr lang="ne-NP" dirty="0">
                <a:cs typeface="Kalimati" panose="00000400000000000000" pitchFamily="2"/>
              </a:rPr>
              <a:t>मुद्दाको विवरण प्रविष्ठ</a:t>
            </a:r>
            <a:r>
              <a:rPr lang="en-US" dirty="0">
                <a:cs typeface="Kalimati" panose="00000400000000000000" pitchFamily="2"/>
              </a:rPr>
              <a:t>,</a:t>
            </a:r>
            <a:r>
              <a:rPr lang="en-SG" dirty="0">
                <a:cs typeface="Kalimati" panose="00000400000000000000" pitchFamily="2"/>
              </a:rPr>
              <a:t> </a:t>
            </a:r>
            <a:r>
              <a:rPr lang="ne-NP" dirty="0">
                <a:cs typeface="Kalimati" panose="00000400000000000000" pitchFamily="2"/>
              </a:rPr>
              <a:t>कागजातहरुको विद्युतीय प्रति विकास र सफ्टवेयरमा प्रविष्ठ तथा सुपरिवेक्षकबाट निरन्तर सुपरिवेक्षण।</a:t>
            </a:r>
          </a:p>
          <a:p>
            <a:pPr lvl="0" algn="just">
              <a:spcBef>
                <a:spcPts val="1200"/>
              </a:spcBef>
              <a:spcAft>
                <a:spcPts val="600"/>
              </a:spcAft>
            </a:pPr>
            <a:r>
              <a:rPr lang="ne-NP" dirty="0">
                <a:cs typeface="Kalimati" panose="00000400000000000000" pitchFamily="2"/>
              </a:rPr>
              <a:t>मार्ग समूह निर्धारण तथा मार्ग समूह परिवर्तन तथा कार्यतालिका निर्धारण र कार्यतालिका परिमार्जन।</a:t>
            </a:r>
          </a:p>
          <a:p>
            <a:pPr lvl="0" algn="just">
              <a:spcBef>
                <a:spcPts val="1200"/>
              </a:spcBef>
              <a:spcAft>
                <a:spcPts val="600"/>
              </a:spcAft>
            </a:pPr>
            <a:r>
              <a:rPr lang="ne-NP" dirty="0">
                <a:cs typeface="Kalimati" panose="00000400000000000000" pitchFamily="2"/>
              </a:rPr>
              <a:t>स्वघोषणा फाराम भराउने तथा सेवा प्रवाहमा सूचना प्रविधिको उच्चतम प्रयोगको लागि आवश्यक पूर्वाधार सहितको कार्य योजना तयार गरी कार्यान्वयनमा ल्याउने। </a:t>
            </a:r>
          </a:p>
          <a:p>
            <a:pPr lvl="0" algn="just">
              <a:spcBef>
                <a:spcPts val="1200"/>
              </a:spcBef>
              <a:spcAft>
                <a:spcPts val="600"/>
              </a:spcAft>
            </a:pPr>
            <a:r>
              <a:rPr lang="ne-NP" dirty="0">
                <a:cs typeface="Kalimati" panose="00000400000000000000" pitchFamily="2"/>
              </a:rPr>
              <a:t>आवश्यक क्षमताको इन्टरनेट लगायतका पूर्वाधार विकास र पद्धति सञ्चालन एवम् व्यवस्थापनका लागि निरन्तर सीप हस्तान्तरण</a:t>
            </a:r>
            <a:r>
              <a:rPr lang="en-US" dirty="0">
                <a:cs typeface="Kalimati" panose="00000400000000000000" pitchFamily="2"/>
              </a:rPr>
              <a:t>,</a:t>
            </a:r>
          </a:p>
          <a:p>
            <a:pPr lvl="0" algn="just">
              <a:spcBef>
                <a:spcPts val="1200"/>
              </a:spcBef>
              <a:spcAft>
                <a:spcPts val="600"/>
              </a:spcAft>
            </a:pPr>
            <a:r>
              <a:rPr lang="ne-NP" dirty="0">
                <a:cs typeface="Kalimati" panose="00000400000000000000" pitchFamily="2"/>
              </a:rPr>
              <a:t>नेतृत्व</a:t>
            </a:r>
            <a:r>
              <a:rPr lang="en-US" dirty="0">
                <a:cs typeface="Kalimati" panose="00000400000000000000" pitchFamily="2"/>
              </a:rPr>
              <a:t>, </a:t>
            </a:r>
            <a:r>
              <a:rPr lang="ne-NP" dirty="0">
                <a:cs typeface="Kalimati" panose="00000400000000000000" pitchFamily="2"/>
              </a:rPr>
              <a:t>कार्यरत जनशक्ति र सम्वद्ध सरोकारवालाको सार्थक एवम् सक्रिय सहभागिताको सुनिश्चितता र पूर्ण प्रतिवद्धता</a:t>
            </a:r>
            <a:r>
              <a:rPr lang="en-US" dirty="0">
                <a:cs typeface="Kalimati" panose="00000400000000000000" pitchFamily="2"/>
              </a:rPr>
              <a:t>,</a:t>
            </a:r>
          </a:p>
          <a:p>
            <a:pPr lvl="0" algn="just">
              <a:spcBef>
                <a:spcPts val="1200"/>
              </a:spcBef>
              <a:spcAft>
                <a:spcPts val="600"/>
              </a:spcAft>
            </a:pPr>
            <a:r>
              <a:rPr lang="ne-NP" dirty="0" smtClean="0">
                <a:cs typeface="Kalimati" panose="00000400000000000000" pitchFamily="2"/>
              </a:rPr>
              <a:t>आन्तरिक </a:t>
            </a:r>
            <a:r>
              <a:rPr lang="ne-NP" dirty="0">
                <a:cs typeface="Kalimati" panose="00000400000000000000" pitchFamily="2"/>
              </a:rPr>
              <a:t>सहयोग तथा समन्वय एवम् अनुगमन</a:t>
            </a:r>
            <a:r>
              <a:rPr lang="en-US" dirty="0">
                <a:cs typeface="Kalimati" panose="00000400000000000000" pitchFamily="2"/>
              </a:rPr>
              <a:t>, </a:t>
            </a:r>
            <a:r>
              <a:rPr lang="ne-NP" dirty="0">
                <a:cs typeface="Kalimati" panose="00000400000000000000" pitchFamily="2"/>
              </a:rPr>
              <a:t>मूल्यांकन</a:t>
            </a:r>
            <a:r>
              <a:rPr lang="en-US" dirty="0">
                <a:cs typeface="Kalimati" panose="00000400000000000000" pitchFamily="2"/>
              </a:rPr>
              <a:t>,</a:t>
            </a:r>
            <a:r>
              <a:rPr lang="ne-NP" dirty="0">
                <a:cs typeface="Kalimati" panose="00000400000000000000" pitchFamily="2"/>
              </a:rPr>
              <a:t> </a:t>
            </a:r>
            <a:r>
              <a:rPr lang="ne-NP" dirty="0" smtClean="0">
                <a:cs typeface="Kalimati" panose="00000400000000000000" pitchFamily="2"/>
              </a:rPr>
              <a:t>समीक्षा </a:t>
            </a:r>
            <a:r>
              <a:rPr lang="ne-NP" dirty="0">
                <a:cs typeface="Kalimati" panose="00000400000000000000" pitchFamily="2"/>
              </a:rPr>
              <a:t>र निरन्तरको सुधार प्रक्रियालाई संस्थागत गर्ने</a:t>
            </a:r>
            <a:r>
              <a:rPr lang="en-US" dirty="0">
                <a:cs typeface="Kalimati" panose="00000400000000000000" pitchFamily="2"/>
              </a:rPr>
              <a:t>,</a:t>
            </a:r>
          </a:p>
          <a:p>
            <a:endParaRPr lang="en-US" dirty="0"/>
          </a:p>
        </p:txBody>
      </p:sp>
    </p:spTree>
    <p:extLst>
      <p:ext uri="{BB962C8B-B14F-4D97-AF65-F5344CB8AC3E}">
        <p14:creationId xmlns:p14="http://schemas.microsoft.com/office/powerpoint/2010/main" val="14394060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e-NP" sz="3600" dirty="0">
                <a:solidFill>
                  <a:srgbClr val="0070C0"/>
                </a:solidFill>
                <a:effectLst>
                  <a:outerShdw blurRad="38100" dist="38100" dir="2700000" algn="tl">
                    <a:srgbClr val="000000">
                      <a:alpha val="43137"/>
                    </a:srgbClr>
                  </a:outerShdw>
                </a:effectLst>
                <a:cs typeface="Kalimati" panose="00000400000000000000" pitchFamily="2"/>
              </a:rPr>
              <a:t>समस्याहरु</a:t>
            </a:r>
            <a:endParaRPr lang="en-US" sz="3600" dirty="0">
              <a:effectLst>
                <a:outerShdw blurRad="38100" dist="38100" dir="2700000" algn="tl">
                  <a:srgbClr val="000000">
                    <a:alpha val="43137"/>
                  </a:srgbClr>
                </a:outerShdw>
              </a:effectLst>
            </a:endParaRPr>
          </a:p>
        </p:txBody>
      </p:sp>
      <p:sp>
        <p:nvSpPr>
          <p:cNvPr id="3" name="Content Placeholder 2"/>
          <p:cNvSpPr>
            <a:spLocks noGrp="1"/>
          </p:cNvSpPr>
          <p:nvPr>
            <p:ph idx="1"/>
          </p:nvPr>
        </p:nvSpPr>
        <p:spPr/>
        <p:txBody>
          <a:bodyPr>
            <a:normAutofit fontScale="77500" lnSpcReduction="20000"/>
          </a:bodyPr>
          <a:lstStyle/>
          <a:p>
            <a:pPr marL="205740" indent="-205740" algn="just">
              <a:spcBef>
                <a:spcPts val="1200"/>
              </a:spcBef>
              <a:spcAft>
                <a:spcPts val="600"/>
              </a:spcAft>
            </a:pPr>
            <a:r>
              <a:rPr lang="ne-NP" dirty="0">
                <a:cs typeface="Kalimati" panose="00000400000000000000" pitchFamily="2"/>
              </a:rPr>
              <a:t>फरक मुद्दा व्यवस्थापनको सैद्धान्तिक अवधारणा र उक्त पद्धतिको प्रभावकारी कार्यान्वयनका लागि न्यायिक जनशक्तिको भूमिका र सफ्टवेयर सम्बन्धमा कर्मचारीहरुका लागि प्रशिक्षण</a:t>
            </a:r>
            <a:r>
              <a:rPr lang="en-US" dirty="0">
                <a:cs typeface="Kalimati" panose="00000400000000000000" pitchFamily="2"/>
              </a:rPr>
              <a:t>,</a:t>
            </a:r>
          </a:p>
          <a:p>
            <a:pPr marL="205740" indent="-205740" algn="just">
              <a:spcBef>
                <a:spcPts val="1200"/>
              </a:spcBef>
              <a:spcAft>
                <a:spcPts val="600"/>
              </a:spcAft>
            </a:pPr>
            <a:r>
              <a:rPr lang="ne-NP" dirty="0">
                <a:cs typeface="Kalimati" panose="00000400000000000000" pitchFamily="2"/>
              </a:rPr>
              <a:t>कार्यतालिका अनुसार समयमा म्याद तामेलीको कार्य सम्पन्‍न गर्न आवश्यक व्यवस्था </a:t>
            </a:r>
          </a:p>
          <a:p>
            <a:pPr marL="205740" indent="-205740" algn="just">
              <a:spcBef>
                <a:spcPts val="1200"/>
              </a:spcBef>
              <a:spcAft>
                <a:spcPts val="600"/>
              </a:spcAft>
            </a:pPr>
            <a:r>
              <a:rPr lang="ne-NP" dirty="0">
                <a:cs typeface="Kalimati" panose="00000400000000000000" pitchFamily="2"/>
              </a:rPr>
              <a:t>आवधिक रुपमा फरक मुद्दा व्यवस्थापन पद्धति कार्यान्वयनको समीक्षा</a:t>
            </a:r>
            <a:r>
              <a:rPr lang="en-US" dirty="0">
                <a:cs typeface="Kalimati" panose="00000400000000000000" pitchFamily="2"/>
              </a:rPr>
              <a:t>,</a:t>
            </a:r>
          </a:p>
          <a:p>
            <a:pPr marL="205740" indent="-205740" algn="just">
              <a:spcBef>
                <a:spcPts val="1200"/>
              </a:spcBef>
              <a:spcAft>
                <a:spcPts val="600"/>
              </a:spcAft>
            </a:pPr>
            <a:r>
              <a:rPr lang="ne-NP" dirty="0">
                <a:cs typeface="Kalimati" panose="00000400000000000000" pitchFamily="2"/>
              </a:rPr>
              <a:t>फरक मुद्दा व्यवस्थापनका लागि आवश्यक पर्ने स्रोत साधनको व्यवस्थापनका लागि प्रभावकारी रुपमा समन्वय</a:t>
            </a:r>
            <a:r>
              <a:rPr lang="en-US" dirty="0">
                <a:cs typeface="Kalimati" panose="00000400000000000000" pitchFamily="2"/>
              </a:rPr>
              <a:t>,</a:t>
            </a:r>
          </a:p>
          <a:p>
            <a:pPr marL="205740" indent="-205740" algn="just">
              <a:spcBef>
                <a:spcPts val="1200"/>
              </a:spcBef>
              <a:spcAft>
                <a:spcPts val="600"/>
              </a:spcAft>
            </a:pPr>
            <a:r>
              <a:rPr lang="en-US" dirty="0">
                <a:cs typeface="Kalimati" panose="00000400000000000000" pitchFamily="2"/>
              </a:rPr>
              <a:t>DCM</a:t>
            </a:r>
            <a:r>
              <a:rPr lang="ne-NP" dirty="0">
                <a:cs typeface="Kalimati" panose="00000400000000000000" pitchFamily="2"/>
              </a:rPr>
              <a:t> पद्धति कार्यान्वयनका सूचकहरु निर्धारण गरी सोको आधारमा अनुगमन तथा मूल्यांकन गर्दै प्राप्त पृष्ठपोषण तथा अनुभवका आधारमा सुधार प्रक्रियालाई संस्थागत</a:t>
            </a:r>
            <a:r>
              <a:rPr lang="en-US" dirty="0">
                <a:cs typeface="Kalimati" panose="00000400000000000000" pitchFamily="2"/>
              </a:rPr>
              <a:t> </a:t>
            </a:r>
            <a:r>
              <a:rPr lang="ne-NP" dirty="0">
                <a:cs typeface="Kalimati" panose="00000400000000000000" pitchFamily="2"/>
              </a:rPr>
              <a:t>गर्ने।</a:t>
            </a:r>
            <a:endParaRPr lang="en-US" dirty="0">
              <a:cs typeface="Kalimati" panose="00000400000000000000" pitchFamily="2"/>
            </a:endParaRPr>
          </a:p>
          <a:p>
            <a:endParaRPr lang="en-US" dirty="0"/>
          </a:p>
        </p:txBody>
      </p:sp>
    </p:spTree>
    <p:extLst>
      <p:ext uri="{BB962C8B-B14F-4D97-AF65-F5344CB8AC3E}">
        <p14:creationId xmlns:p14="http://schemas.microsoft.com/office/powerpoint/2010/main" val="332793354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ne-NP" sz="3600" dirty="0" smtClean="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१६</a:t>
            </a:r>
            <a:r>
              <a:rPr lang="en-US" sz="3600" dirty="0" smtClean="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a:t>
            </a:r>
            <a:r>
              <a:rPr lang="ne-NP" sz="3600" dirty="0" smtClean="0">
                <a:solidFill>
                  <a:srgbClr val="0070C0"/>
                </a:solidFill>
                <a:effectLst>
                  <a:outerShdw blurRad="38100" dist="38100" dir="2700000" algn="tl">
                    <a:srgbClr val="000000">
                      <a:alpha val="43137"/>
                    </a:srgbClr>
                  </a:outerShdw>
                </a:effectLst>
                <a:latin typeface="Kokila" pitchFamily="34" charset="0"/>
                <a:cs typeface="Kalimati" panose="00000400000000000000" pitchFamily="2"/>
              </a:rPr>
              <a:t> </a:t>
            </a:r>
            <a:r>
              <a:rPr lang="ne-NP" sz="3600" b="1" dirty="0" smtClean="0">
                <a:solidFill>
                  <a:srgbClr val="0070C0"/>
                </a:solidFill>
                <a:effectLst>
                  <a:outerShdw blurRad="38100" dist="38100" dir="2700000" algn="tl">
                    <a:srgbClr val="000000">
                      <a:alpha val="43137"/>
                    </a:srgbClr>
                  </a:outerShdw>
                </a:effectLst>
                <a:cs typeface="Kalimati" panose="00000400000000000000" pitchFamily="2"/>
              </a:rPr>
              <a:t>फरक मुद्दा पद्धतिको प्रभावकारीता अभिबृद्धि गर्ने उपाय</a:t>
            </a:r>
            <a:endParaRPr lang="en-US" sz="3600" b="1" dirty="0">
              <a:solidFill>
                <a:srgbClr val="0070C0"/>
              </a:solidFill>
              <a:effectLst>
                <a:outerShdw blurRad="38100" dist="38100" dir="2700000" algn="tl">
                  <a:srgbClr val="000000">
                    <a:alpha val="43137"/>
                  </a:srgbClr>
                </a:outerShdw>
              </a:effectLst>
              <a:cs typeface="Kalimati" panose="00000400000000000000" pitchFamily="2"/>
            </a:endParaRPr>
          </a:p>
        </p:txBody>
      </p:sp>
      <p:sp>
        <p:nvSpPr>
          <p:cNvPr id="3" name="Content Placeholder 2"/>
          <p:cNvSpPr>
            <a:spLocks noGrp="1"/>
          </p:cNvSpPr>
          <p:nvPr>
            <p:ph idx="1"/>
          </p:nvPr>
        </p:nvSpPr>
        <p:spPr/>
        <p:txBody>
          <a:bodyPr>
            <a:normAutofit fontScale="77500" lnSpcReduction="20000"/>
          </a:bodyPr>
          <a:lstStyle/>
          <a:p>
            <a:pPr algn="just">
              <a:spcBef>
                <a:spcPts val="900"/>
              </a:spcBef>
              <a:spcAft>
                <a:spcPts val="450"/>
              </a:spcAft>
            </a:pPr>
            <a:r>
              <a:rPr lang="ne-NP" dirty="0" smtClean="0">
                <a:cs typeface="Kalimati" panose="00000400000000000000" pitchFamily="2"/>
              </a:rPr>
              <a:t>सर्वोच्च अदालतबाट तयार भएको संकट व्यवस्थापन कार्ययोजनाको अधीनमा रही भौतिक पूर्वाधार साधन उपकरणको मध्यकालीन र दीर्घकालीन कार्ययोजना </a:t>
            </a:r>
            <a:r>
              <a:rPr lang="ne-NP" dirty="0">
                <a:cs typeface="Kalimati" panose="00000400000000000000" pitchFamily="2"/>
              </a:rPr>
              <a:t>तयार गर्ने</a:t>
            </a:r>
            <a:r>
              <a:rPr lang="en-US" dirty="0">
                <a:cs typeface="Kalimati" panose="00000400000000000000" pitchFamily="2"/>
              </a:rPr>
              <a:t>,</a:t>
            </a:r>
          </a:p>
          <a:p>
            <a:pPr algn="just">
              <a:spcBef>
                <a:spcPts val="900"/>
              </a:spcBef>
              <a:spcAft>
                <a:spcPts val="450"/>
              </a:spcAft>
            </a:pPr>
            <a:r>
              <a:rPr lang="ne-NP" dirty="0">
                <a:cs typeface="Kalimati" panose="00000400000000000000" pitchFamily="2"/>
              </a:rPr>
              <a:t>फरक मुद्दा व्यवस्थापन पद्धतिको प्रभावकारी कार्यान्वयनका लागि तयार कार्यक्रमका लागि प्रक्षेपित स्रोत साधनको सुनिश्चितता</a:t>
            </a:r>
            <a:r>
              <a:rPr lang="en-US" dirty="0">
                <a:cs typeface="Kalimati" panose="00000400000000000000" pitchFamily="2"/>
              </a:rPr>
              <a:t>,</a:t>
            </a:r>
          </a:p>
          <a:p>
            <a:pPr algn="just">
              <a:spcBef>
                <a:spcPts val="900"/>
              </a:spcBef>
              <a:spcAft>
                <a:spcPts val="450"/>
              </a:spcAft>
            </a:pPr>
            <a:r>
              <a:rPr lang="ne-NP" dirty="0">
                <a:cs typeface="Kalimati" panose="00000400000000000000" pitchFamily="2"/>
              </a:rPr>
              <a:t>नविन पद्धति लागू गर्दा हुन सक्ने प्रतिरोधको पहिचान गरी सो को व्यवस्थापन तथा निरन्तरको अनुगमन</a:t>
            </a:r>
            <a:r>
              <a:rPr lang="en-US" dirty="0">
                <a:cs typeface="Kalimati" panose="00000400000000000000" pitchFamily="2"/>
              </a:rPr>
              <a:t>,</a:t>
            </a:r>
            <a:r>
              <a:rPr lang="ne-NP" dirty="0">
                <a:cs typeface="Kalimati" panose="00000400000000000000" pitchFamily="2"/>
              </a:rPr>
              <a:t> समिक्षा तथा मूल्यांकन एवम् कार्य अनुभव समेतका आधारमा सुधार प्रक्रियालाई संस्थागत गर्ने</a:t>
            </a:r>
            <a:r>
              <a:rPr lang="en-US" dirty="0">
                <a:cs typeface="Kalimati" panose="00000400000000000000" pitchFamily="2"/>
              </a:rPr>
              <a:t>,</a:t>
            </a:r>
          </a:p>
          <a:p>
            <a:pPr algn="just">
              <a:spcBef>
                <a:spcPts val="900"/>
              </a:spcBef>
              <a:spcAft>
                <a:spcPts val="450"/>
              </a:spcAft>
            </a:pPr>
            <a:r>
              <a:rPr lang="ne-NP" dirty="0">
                <a:cs typeface="Kalimati" panose="00000400000000000000" pitchFamily="2"/>
              </a:rPr>
              <a:t>फरक मुद्दा व्यवस्थापन पद्धतिको कार्यान्वयनको निरन्तर अनुगमन गर्नका लागि सोको अनलाइन रिपोटिङ प्रणालीको विकास गर्ने</a:t>
            </a:r>
            <a:r>
              <a:rPr lang="en-US" dirty="0">
                <a:cs typeface="Kalimati" panose="00000400000000000000" pitchFamily="2"/>
              </a:rPr>
              <a:t>,</a:t>
            </a:r>
            <a:endParaRPr lang="ne-NP" dirty="0">
              <a:cs typeface="Kalimati" panose="00000400000000000000" pitchFamily="2"/>
            </a:endParaRPr>
          </a:p>
          <a:p>
            <a:pPr algn="just">
              <a:spcBef>
                <a:spcPts val="900"/>
              </a:spcBef>
              <a:spcAft>
                <a:spcPts val="450"/>
              </a:spcAft>
            </a:pPr>
            <a:r>
              <a:rPr lang="ne-NP" dirty="0" smtClean="0">
                <a:cs typeface="Kalimati" panose="00000400000000000000" pitchFamily="2"/>
              </a:rPr>
              <a:t>न्यायाधीश</a:t>
            </a:r>
            <a:r>
              <a:rPr lang="ne-NP" dirty="0">
                <a:cs typeface="Kalimati" panose="00000400000000000000" pitchFamily="2"/>
              </a:rPr>
              <a:t>,</a:t>
            </a:r>
            <a:r>
              <a:rPr lang="en-US" dirty="0">
                <a:cs typeface="Kalimati" panose="00000400000000000000" pitchFamily="2"/>
              </a:rPr>
              <a:t> </a:t>
            </a:r>
            <a:r>
              <a:rPr lang="ne-NP" dirty="0" smtClean="0">
                <a:cs typeface="Kalimati" panose="00000400000000000000" pitchFamily="2"/>
              </a:rPr>
              <a:t>श्रेस्तेदार </a:t>
            </a:r>
            <a:r>
              <a:rPr lang="ne-NP" dirty="0">
                <a:cs typeface="Kalimati" panose="00000400000000000000" pitchFamily="2"/>
              </a:rPr>
              <a:t>तथा </a:t>
            </a:r>
            <a:r>
              <a:rPr lang="ne-NP" dirty="0" smtClean="0">
                <a:cs typeface="Kalimati" panose="00000400000000000000" pitchFamily="2"/>
              </a:rPr>
              <a:t>सुपरिवेक्षकले </a:t>
            </a:r>
            <a:r>
              <a:rPr lang="ne-NP" dirty="0">
                <a:cs typeface="Kalimati" panose="00000400000000000000" pitchFamily="2"/>
              </a:rPr>
              <a:t>नियमित अनुगमन र अपनत्व</a:t>
            </a:r>
            <a:r>
              <a:rPr lang="en-US" dirty="0">
                <a:cs typeface="Kalimati" panose="00000400000000000000" pitchFamily="2"/>
              </a:rPr>
              <a:t> </a:t>
            </a:r>
            <a:r>
              <a:rPr lang="ne-NP" dirty="0">
                <a:cs typeface="Kalimati" panose="00000400000000000000" pitchFamily="2"/>
              </a:rPr>
              <a:t>विकास</a:t>
            </a:r>
            <a:r>
              <a:rPr lang="en-US" dirty="0">
                <a:cs typeface="Kalimati" panose="00000400000000000000" pitchFamily="2"/>
              </a:rPr>
              <a:t> </a:t>
            </a:r>
            <a:r>
              <a:rPr lang="ne-NP" dirty="0">
                <a:cs typeface="Kalimati" panose="00000400000000000000" pitchFamily="2"/>
              </a:rPr>
              <a:t>गर्ने</a:t>
            </a:r>
            <a:r>
              <a:rPr lang="en-US" dirty="0">
                <a:cs typeface="Kalimati" panose="00000400000000000000" pitchFamily="2"/>
              </a:rPr>
              <a:t>,</a:t>
            </a:r>
            <a:r>
              <a:rPr lang="ne-NP" dirty="0">
                <a:cs typeface="Kalimati" panose="00000400000000000000" pitchFamily="2"/>
              </a:rPr>
              <a:t> </a:t>
            </a:r>
            <a:endParaRPr lang="en-US" dirty="0">
              <a:cs typeface="Kalimati" panose="00000400000000000000" pitchFamily="2"/>
            </a:endParaRPr>
          </a:p>
          <a:p>
            <a:endParaRPr lang="en-US" dirty="0"/>
          </a:p>
        </p:txBody>
      </p:sp>
    </p:spTree>
    <p:extLst>
      <p:ext uri="{BB962C8B-B14F-4D97-AF65-F5344CB8AC3E}">
        <p14:creationId xmlns:p14="http://schemas.microsoft.com/office/powerpoint/2010/main" val="3111208355"/>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US" dirty="0"/>
          </a:p>
        </p:txBody>
      </p:sp>
      <p:sp>
        <p:nvSpPr>
          <p:cNvPr id="3" name="Content Placeholder 2"/>
          <p:cNvSpPr>
            <a:spLocks noGrp="1"/>
          </p:cNvSpPr>
          <p:nvPr>
            <p:ph idx="1"/>
          </p:nvPr>
        </p:nvSpPr>
        <p:spPr/>
        <p:txBody>
          <a:bodyPr/>
          <a:lstStyle/>
          <a:p>
            <a:endParaRPr lang="en-US" dirty="0" smtClean="0"/>
          </a:p>
          <a:p>
            <a:endParaRPr lang="en-US" dirty="0" smtClean="0"/>
          </a:p>
          <a:p>
            <a:endParaRPr lang="en-US" dirty="0" smtClean="0"/>
          </a:p>
          <a:p>
            <a:endParaRPr lang="en-US" dirty="0" smtClean="0">
              <a:solidFill>
                <a:srgbClr val="0070C0"/>
              </a:solidFill>
            </a:endParaRPr>
          </a:p>
          <a:p>
            <a:pPr algn="ctr">
              <a:buNone/>
            </a:pPr>
            <a:r>
              <a:rPr lang="en-US" sz="3600" b="1" dirty="0" smtClean="0">
                <a:solidFill>
                  <a:srgbClr val="0070C0"/>
                </a:solidFill>
              </a:rPr>
              <a:t>THANKS FOR YOUR PATIENCE</a:t>
            </a:r>
            <a:endParaRPr lang="en-US" sz="3600" b="1" dirty="0">
              <a:solidFill>
                <a:srgbClr val="0070C0"/>
              </a:solidFill>
            </a:endParaRPr>
          </a:p>
        </p:txBody>
      </p:sp>
    </p:spTree>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3314</TotalTime>
  <Words>1631</Words>
  <Application>Microsoft Office PowerPoint</Application>
  <PresentationFormat>Widescreen</PresentationFormat>
  <Paragraphs>163</Paragraphs>
  <Slides>23</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23</vt:i4>
      </vt:variant>
    </vt:vector>
  </HeadingPairs>
  <TitlesOfParts>
    <vt:vector size="31" baseType="lpstr">
      <vt:lpstr>Arial</vt:lpstr>
      <vt:lpstr>Calibri</vt:lpstr>
      <vt:lpstr>Kalimati</vt:lpstr>
      <vt:lpstr>Kokila</vt:lpstr>
      <vt:lpstr>Nirmala UI</vt:lpstr>
      <vt:lpstr>Times New Roman</vt:lpstr>
      <vt:lpstr>Wingdings</vt:lpstr>
      <vt:lpstr>Office Theme</vt:lpstr>
      <vt:lpstr>फरक मुद्दा व्यवस्थापन (Differentiated Case Management System)</vt:lpstr>
      <vt:lpstr>प्रस्तुतीको संरचना</vt:lpstr>
      <vt:lpstr> १. फरक मुद्दा व्यवस्थापनको अर्थ</vt:lpstr>
      <vt:lpstr> फरक मुद्दा व्यवस्थापनको अर्थ</vt:lpstr>
      <vt:lpstr>२. फरक मुद्दा व्यवस्थापनका आधारभुत तत्वहरु</vt:lpstr>
      <vt:lpstr>३. फरक मुद्दा व्यवस्थापनका फाइदाहरु</vt:lpstr>
      <vt:lpstr>४. नेपालको न्यायपालिकामा यो अवधारणाको विकास </vt:lpstr>
      <vt:lpstr>नेपालको न्यायपालिकामा यो अवधारणाको विकास </vt:lpstr>
      <vt:lpstr>   ६. जिल्ला अदालतमा रहने मार्गसमूह र फर्छ्यौट अवधि  </vt:lpstr>
      <vt:lpstr> ७. मार्गसमूह निर्धारणका आधारहरु</vt:lpstr>
      <vt:lpstr> ८. मार्ग समूह नराखी कारवाही हुने विषयहरु </vt:lpstr>
      <vt:lpstr> ९. कार्यतालिका निर्माण</vt:lpstr>
      <vt:lpstr> १०. फरक मुद्दा व्यवस्थापन सम्बन्धी दिग्दर्शन २०७६ </vt:lpstr>
      <vt:lpstr> ११.  सम्बन्धित अदालतको जिम्मेवारी </vt:lpstr>
      <vt:lpstr>स्वघोषणा फाराम भर्ने (जिल्ला अदालत नियमावलीको नियम ४०ङ,</vt:lpstr>
      <vt:lpstr>१२. मुद्दा शाखाबाट गर्नुपर्ने काम </vt:lpstr>
      <vt:lpstr>१३. फाँटवाला वा शाखा प्रमुखले गर्नुपर्ने काम </vt:lpstr>
      <vt:lpstr>१४. सुपरीवेक्षकले गर्नुपर्ने कामहरु </vt:lpstr>
      <vt:lpstr>१५. फरक मुद्दा व्यवस्थापन पद्दतिको कार्यान्वयनमा देखिएका समस्याहरु</vt:lpstr>
      <vt:lpstr>समस्याहरु</vt:lpstr>
      <vt:lpstr>समस्याहरु</vt:lpstr>
      <vt:lpstr>१६. फरक मुद्दा पद्धतिको प्रभावकारीता अभिबृद्धि गर्ने उपाय</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JUDICIAL REVIEW IN NEPAL</dc:title>
  <dc:subject>Judicial Review</dc:subject>
  <dc:creator>Surya</dc:creator>
  <cp:lastModifiedBy>user</cp:lastModifiedBy>
  <cp:revision>302</cp:revision>
  <dcterms:created xsi:type="dcterms:W3CDTF">2017-01-28T06:46:48Z</dcterms:created>
  <dcterms:modified xsi:type="dcterms:W3CDTF">2026-01-20T13:39:10Z</dcterms:modified>
</cp:coreProperties>
</file>