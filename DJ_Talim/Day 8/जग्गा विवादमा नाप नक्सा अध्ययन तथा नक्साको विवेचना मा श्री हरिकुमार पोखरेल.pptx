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40" r:id="rId3"/>
    <p:sldId id="342" r:id="rId4"/>
    <p:sldId id="334" r:id="rId5"/>
    <p:sldId id="337" r:id="rId6"/>
    <p:sldId id="261" r:id="rId7"/>
    <p:sldId id="264" r:id="rId8"/>
    <p:sldId id="263" r:id="rId9"/>
    <p:sldId id="320" r:id="rId10"/>
    <p:sldId id="265" r:id="rId11"/>
    <p:sldId id="268" r:id="rId12"/>
    <p:sldId id="260" r:id="rId13"/>
    <p:sldId id="269" r:id="rId14"/>
    <p:sldId id="259" r:id="rId15"/>
    <p:sldId id="272" r:id="rId16"/>
    <p:sldId id="266" r:id="rId17"/>
    <p:sldId id="267" r:id="rId18"/>
    <p:sldId id="276" r:id="rId19"/>
    <p:sldId id="277" r:id="rId20"/>
    <p:sldId id="280" r:id="rId21"/>
    <p:sldId id="336" r:id="rId22"/>
    <p:sldId id="317" r:id="rId23"/>
    <p:sldId id="324" r:id="rId24"/>
    <p:sldId id="299" r:id="rId25"/>
    <p:sldId id="322" r:id="rId26"/>
    <p:sldId id="301" r:id="rId27"/>
    <p:sldId id="262" r:id="rId28"/>
    <p:sldId id="303" r:id="rId29"/>
    <p:sldId id="285" r:id="rId30"/>
    <p:sldId id="286" r:id="rId31"/>
    <p:sldId id="330" r:id="rId32"/>
    <p:sldId id="319" r:id="rId33"/>
    <p:sldId id="329" r:id="rId34"/>
    <p:sldId id="311" r:id="rId35"/>
    <p:sldId id="328" r:id="rId36"/>
    <p:sldId id="273" r:id="rId37"/>
    <p:sldId id="327" r:id="rId38"/>
    <p:sldId id="274" r:id="rId39"/>
    <p:sldId id="326" r:id="rId40"/>
    <p:sldId id="275" r:id="rId41"/>
    <p:sldId id="32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E2EC81-3F07-49E4-B0A0-512F3426E7FB}"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83E9E-2475-4015-876A-8766D0676824}" type="slidenum">
              <a:rPr lang="en-US" smtClean="0"/>
              <a:t>‹#›</a:t>
            </a:fld>
            <a:endParaRPr lang="en-US"/>
          </a:p>
        </p:txBody>
      </p:sp>
    </p:spTree>
    <p:extLst>
      <p:ext uri="{BB962C8B-B14F-4D97-AF65-F5344CB8AC3E}">
        <p14:creationId xmlns:p14="http://schemas.microsoft.com/office/powerpoint/2010/main" val="1172551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521277-7ED3-4DF8-9AAB-D98EE83F0D01}"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7237C-A4C7-59E3-0BD0-D9A488F415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5F4B09-7DC9-9A3F-8CB8-8CA6424FCB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02BD6F-F24E-035E-2661-48CA980403F6}"/>
              </a:ext>
            </a:extLst>
          </p:cNvPr>
          <p:cNvSpPr>
            <a:spLocks noGrp="1"/>
          </p:cNvSpPr>
          <p:nvPr>
            <p:ph type="dt" sz="half" idx="10"/>
          </p:nvPr>
        </p:nvSpPr>
        <p:spPr/>
        <p:txBody>
          <a:bodyPr/>
          <a:lstStyle/>
          <a:p>
            <a:fld id="{E9E1691A-90E4-4888-BBEA-5B2209144475}" type="datetime1">
              <a:rPr lang="en-US" smtClean="0"/>
              <a:t>1/21/2026</a:t>
            </a:fld>
            <a:endParaRPr lang="en-US"/>
          </a:p>
        </p:txBody>
      </p:sp>
      <p:sp>
        <p:nvSpPr>
          <p:cNvPr id="5" name="Footer Placeholder 4">
            <a:extLst>
              <a:ext uri="{FF2B5EF4-FFF2-40B4-BE49-F238E27FC236}">
                <a16:creationId xmlns:a16="http://schemas.microsoft.com/office/drawing/2014/main" id="{C96B8573-4EAE-289F-2F72-238804446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40E14-2F5C-F22E-F0F4-EB68BEBBA93C}"/>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716410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2161E-2FBB-A73D-A39D-814DE02DA7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82629F-1B2D-D066-49ED-106F3C7556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CC327D-B24F-9D85-F702-F7BE7CFE0FA2}"/>
              </a:ext>
            </a:extLst>
          </p:cNvPr>
          <p:cNvSpPr>
            <a:spLocks noGrp="1"/>
          </p:cNvSpPr>
          <p:nvPr>
            <p:ph type="dt" sz="half" idx="10"/>
          </p:nvPr>
        </p:nvSpPr>
        <p:spPr/>
        <p:txBody>
          <a:bodyPr/>
          <a:lstStyle/>
          <a:p>
            <a:fld id="{76EC2643-A3F0-4118-A0DC-B87624284A0F}" type="datetime1">
              <a:rPr lang="en-US" smtClean="0"/>
              <a:t>1/21/2026</a:t>
            </a:fld>
            <a:endParaRPr lang="en-US"/>
          </a:p>
        </p:txBody>
      </p:sp>
      <p:sp>
        <p:nvSpPr>
          <p:cNvPr id="5" name="Footer Placeholder 4">
            <a:extLst>
              <a:ext uri="{FF2B5EF4-FFF2-40B4-BE49-F238E27FC236}">
                <a16:creationId xmlns:a16="http://schemas.microsoft.com/office/drawing/2014/main" id="{947AF9FC-1758-87AC-ED78-9F05DBBA1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228702-18A1-7692-9FBC-5F75B8983B05}"/>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1391488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5A5C-957B-4204-56FF-77964B486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5EE8FB-2A65-31D7-6BC2-97CD4DAE99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7C4271-5945-8C53-15D1-0B17B9D4A4A4}"/>
              </a:ext>
            </a:extLst>
          </p:cNvPr>
          <p:cNvSpPr>
            <a:spLocks noGrp="1"/>
          </p:cNvSpPr>
          <p:nvPr>
            <p:ph type="dt" sz="half" idx="10"/>
          </p:nvPr>
        </p:nvSpPr>
        <p:spPr/>
        <p:txBody>
          <a:bodyPr/>
          <a:lstStyle/>
          <a:p>
            <a:fld id="{FC6619A1-C32E-4477-8B79-D71DC69D9DF3}" type="datetime1">
              <a:rPr lang="en-US" smtClean="0"/>
              <a:t>1/21/2026</a:t>
            </a:fld>
            <a:endParaRPr lang="en-US"/>
          </a:p>
        </p:txBody>
      </p:sp>
      <p:sp>
        <p:nvSpPr>
          <p:cNvPr id="5" name="Footer Placeholder 4">
            <a:extLst>
              <a:ext uri="{FF2B5EF4-FFF2-40B4-BE49-F238E27FC236}">
                <a16:creationId xmlns:a16="http://schemas.microsoft.com/office/drawing/2014/main" id="{D8642F17-7AEA-F72A-DF8A-42BD8B79D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396C1-246C-2B90-0F50-31D143622471}"/>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33697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E6C3C-7C3C-9F00-E18B-7343B36A8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9018C4-36F6-1DFB-D8AA-BE63D80464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CBEFD1-1718-36B1-7318-AD76574592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72ADF7-2AC3-535A-7672-E110067B6F54}"/>
              </a:ext>
            </a:extLst>
          </p:cNvPr>
          <p:cNvSpPr>
            <a:spLocks noGrp="1"/>
          </p:cNvSpPr>
          <p:nvPr>
            <p:ph type="dt" sz="half" idx="10"/>
          </p:nvPr>
        </p:nvSpPr>
        <p:spPr/>
        <p:txBody>
          <a:bodyPr/>
          <a:lstStyle/>
          <a:p>
            <a:fld id="{89E2A996-4637-455B-A2CE-F7852284942A}" type="datetime1">
              <a:rPr lang="en-US" smtClean="0"/>
              <a:t>1/21/2026</a:t>
            </a:fld>
            <a:endParaRPr lang="en-US"/>
          </a:p>
        </p:txBody>
      </p:sp>
      <p:sp>
        <p:nvSpPr>
          <p:cNvPr id="6" name="Footer Placeholder 5">
            <a:extLst>
              <a:ext uri="{FF2B5EF4-FFF2-40B4-BE49-F238E27FC236}">
                <a16:creationId xmlns:a16="http://schemas.microsoft.com/office/drawing/2014/main" id="{E33EB924-D503-9256-32FC-BE217F4F19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D14C8-E4A4-E5BF-CAFF-57CB7DFD8EC4}"/>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130670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C672-3690-AFAB-CD58-D1A20A33BE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C06E18-4CDA-F153-B43C-505A23C7A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4812A7-C80F-B11E-28A8-A92D41F57E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C10A9A-6EF0-3943-7908-A477E93799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732CD-7391-7EA6-82F6-F6F9D9F5D4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6329EC-AB84-307B-6B8B-46B01A00D243}"/>
              </a:ext>
            </a:extLst>
          </p:cNvPr>
          <p:cNvSpPr>
            <a:spLocks noGrp="1"/>
          </p:cNvSpPr>
          <p:nvPr>
            <p:ph type="dt" sz="half" idx="10"/>
          </p:nvPr>
        </p:nvSpPr>
        <p:spPr/>
        <p:txBody>
          <a:bodyPr/>
          <a:lstStyle/>
          <a:p>
            <a:fld id="{4D912226-A295-4DC8-96C3-ED2A8F15482F}" type="datetime1">
              <a:rPr lang="en-US" smtClean="0"/>
              <a:t>1/21/2026</a:t>
            </a:fld>
            <a:endParaRPr lang="en-US"/>
          </a:p>
        </p:txBody>
      </p:sp>
      <p:sp>
        <p:nvSpPr>
          <p:cNvPr id="8" name="Footer Placeholder 7">
            <a:extLst>
              <a:ext uri="{FF2B5EF4-FFF2-40B4-BE49-F238E27FC236}">
                <a16:creationId xmlns:a16="http://schemas.microsoft.com/office/drawing/2014/main" id="{EC2092F4-EBEC-4723-D23E-123D043245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1AA527-84ED-D01F-E168-C00463F26CF9}"/>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355030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7BC6-F1A0-CCF0-AF16-1E2AE2994E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A4A179-8C05-08F1-1096-9F429CCDCFE0}"/>
              </a:ext>
            </a:extLst>
          </p:cNvPr>
          <p:cNvSpPr>
            <a:spLocks noGrp="1"/>
          </p:cNvSpPr>
          <p:nvPr>
            <p:ph type="dt" sz="half" idx="10"/>
          </p:nvPr>
        </p:nvSpPr>
        <p:spPr/>
        <p:txBody>
          <a:bodyPr/>
          <a:lstStyle/>
          <a:p>
            <a:fld id="{F9F3EF87-BB7F-4694-8AEC-D1775FCD09FB}" type="datetime1">
              <a:rPr lang="en-US" smtClean="0"/>
              <a:t>1/21/2026</a:t>
            </a:fld>
            <a:endParaRPr lang="en-US"/>
          </a:p>
        </p:txBody>
      </p:sp>
      <p:sp>
        <p:nvSpPr>
          <p:cNvPr id="4" name="Footer Placeholder 3">
            <a:extLst>
              <a:ext uri="{FF2B5EF4-FFF2-40B4-BE49-F238E27FC236}">
                <a16:creationId xmlns:a16="http://schemas.microsoft.com/office/drawing/2014/main" id="{6DF4F973-9772-8B45-6E70-FF07B24A48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E63706-5E75-2976-F435-A4CDBCF0A33B}"/>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2612032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A53B21-35A8-9058-7F6E-91465C16A8D6}"/>
              </a:ext>
            </a:extLst>
          </p:cNvPr>
          <p:cNvSpPr>
            <a:spLocks noGrp="1"/>
          </p:cNvSpPr>
          <p:nvPr>
            <p:ph type="dt" sz="half" idx="10"/>
          </p:nvPr>
        </p:nvSpPr>
        <p:spPr/>
        <p:txBody>
          <a:bodyPr/>
          <a:lstStyle/>
          <a:p>
            <a:fld id="{32F0AA5E-C8A1-4E3A-ACFB-D0FEF0F51E31}" type="datetime1">
              <a:rPr lang="en-US" smtClean="0"/>
              <a:t>1/21/2026</a:t>
            </a:fld>
            <a:endParaRPr lang="en-US"/>
          </a:p>
        </p:txBody>
      </p:sp>
      <p:sp>
        <p:nvSpPr>
          <p:cNvPr id="3" name="Footer Placeholder 2">
            <a:extLst>
              <a:ext uri="{FF2B5EF4-FFF2-40B4-BE49-F238E27FC236}">
                <a16:creationId xmlns:a16="http://schemas.microsoft.com/office/drawing/2014/main" id="{64B94C55-F70D-CB0F-4560-593E65A3AA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C6C2C6-9E7D-DE7B-B65A-F729C51B781B}"/>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985145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99B0-FD9C-703D-903E-B3FACB4B6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75FB08-D5AC-4B47-9109-C4A23B8DEA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16E0DC-8724-153D-BA16-94F8E3B87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84639C-B945-6D05-E84D-794DB20A0294}"/>
              </a:ext>
            </a:extLst>
          </p:cNvPr>
          <p:cNvSpPr>
            <a:spLocks noGrp="1"/>
          </p:cNvSpPr>
          <p:nvPr>
            <p:ph type="dt" sz="half" idx="10"/>
          </p:nvPr>
        </p:nvSpPr>
        <p:spPr/>
        <p:txBody>
          <a:bodyPr/>
          <a:lstStyle/>
          <a:p>
            <a:fld id="{8E6B0780-7985-4DF6-A0DD-DAD7D92941D5}" type="datetime1">
              <a:rPr lang="en-US" smtClean="0"/>
              <a:t>1/21/2026</a:t>
            </a:fld>
            <a:endParaRPr lang="en-US"/>
          </a:p>
        </p:txBody>
      </p:sp>
      <p:sp>
        <p:nvSpPr>
          <p:cNvPr id="6" name="Footer Placeholder 5">
            <a:extLst>
              <a:ext uri="{FF2B5EF4-FFF2-40B4-BE49-F238E27FC236}">
                <a16:creationId xmlns:a16="http://schemas.microsoft.com/office/drawing/2014/main" id="{53D36566-8F15-F6B7-BBD7-3ED21494A9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50914A-1AEC-C6A4-EBBF-4525D076A131}"/>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571991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F3908-7B52-9188-7A53-0926A6E3CB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92811-2F7C-4B54-5D93-DA268CEF2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65A4BB-2770-D556-9DEC-33B8B3939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227F5-917C-F0AA-B846-5A2DB16DCAFF}"/>
              </a:ext>
            </a:extLst>
          </p:cNvPr>
          <p:cNvSpPr>
            <a:spLocks noGrp="1"/>
          </p:cNvSpPr>
          <p:nvPr>
            <p:ph type="dt" sz="half" idx="10"/>
          </p:nvPr>
        </p:nvSpPr>
        <p:spPr/>
        <p:txBody>
          <a:bodyPr/>
          <a:lstStyle/>
          <a:p>
            <a:fld id="{714DEDFC-7980-44C1-BCC3-1A041CCCB805}" type="datetime1">
              <a:rPr lang="en-US" smtClean="0"/>
              <a:t>1/21/2026</a:t>
            </a:fld>
            <a:endParaRPr lang="en-US"/>
          </a:p>
        </p:txBody>
      </p:sp>
      <p:sp>
        <p:nvSpPr>
          <p:cNvPr id="6" name="Footer Placeholder 5">
            <a:extLst>
              <a:ext uri="{FF2B5EF4-FFF2-40B4-BE49-F238E27FC236}">
                <a16:creationId xmlns:a16="http://schemas.microsoft.com/office/drawing/2014/main" id="{62FBCB4A-04D4-5FCE-1331-1760184133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2B630-CAB7-92AC-868D-EA2F3D10B6D9}"/>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198139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ADEE-58C3-F9EE-D6AE-48D27F1F83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0F914E-9482-CC97-592B-A1DE03D236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9E371C-996A-2319-69B1-F030D0D6ED3E}"/>
              </a:ext>
            </a:extLst>
          </p:cNvPr>
          <p:cNvSpPr>
            <a:spLocks noGrp="1"/>
          </p:cNvSpPr>
          <p:nvPr>
            <p:ph type="dt" sz="half" idx="10"/>
          </p:nvPr>
        </p:nvSpPr>
        <p:spPr/>
        <p:txBody>
          <a:bodyPr/>
          <a:lstStyle/>
          <a:p>
            <a:fld id="{8BACA8BF-E1E7-42B6-8655-E5EB407A6545}" type="datetime1">
              <a:rPr lang="en-US" smtClean="0"/>
              <a:t>1/21/2026</a:t>
            </a:fld>
            <a:endParaRPr lang="en-US"/>
          </a:p>
        </p:txBody>
      </p:sp>
      <p:sp>
        <p:nvSpPr>
          <p:cNvPr id="5" name="Footer Placeholder 4">
            <a:extLst>
              <a:ext uri="{FF2B5EF4-FFF2-40B4-BE49-F238E27FC236}">
                <a16:creationId xmlns:a16="http://schemas.microsoft.com/office/drawing/2014/main" id="{0DC0CC41-3361-4FAC-899E-32310CA3DC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4C216-8DC3-A630-096A-A3A3FD3644CB}"/>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529730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33831D-5BE5-87BF-3F52-61F5078FBC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517E72-48DD-8420-15BF-EF9E5FCA98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2084D-E8C5-F5C3-EF5B-47C1AD6E4A38}"/>
              </a:ext>
            </a:extLst>
          </p:cNvPr>
          <p:cNvSpPr>
            <a:spLocks noGrp="1"/>
          </p:cNvSpPr>
          <p:nvPr>
            <p:ph type="dt" sz="half" idx="10"/>
          </p:nvPr>
        </p:nvSpPr>
        <p:spPr/>
        <p:txBody>
          <a:bodyPr/>
          <a:lstStyle/>
          <a:p>
            <a:fld id="{81C88CEF-4E9E-4293-9E99-38F95CA60F22}" type="datetime1">
              <a:rPr lang="en-US" smtClean="0"/>
              <a:t>1/21/2026</a:t>
            </a:fld>
            <a:endParaRPr lang="en-US"/>
          </a:p>
        </p:txBody>
      </p:sp>
      <p:sp>
        <p:nvSpPr>
          <p:cNvPr id="5" name="Footer Placeholder 4">
            <a:extLst>
              <a:ext uri="{FF2B5EF4-FFF2-40B4-BE49-F238E27FC236}">
                <a16:creationId xmlns:a16="http://schemas.microsoft.com/office/drawing/2014/main" id="{853053F1-B999-817C-4604-EBD58DC551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88EDE-3AFC-04B9-0CDB-74B9009787E6}"/>
              </a:ext>
            </a:extLst>
          </p:cNvPr>
          <p:cNvSpPr>
            <a:spLocks noGrp="1"/>
          </p:cNvSpPr>
          <p:nvPr>
            <p:ph type="sldNum" sz="quarter" idx="12"/>
          </p:nvPr>
        </p:nvSpPr>
        <p:spPr/>
        <p:txBody>
          <a:bodyPr/>
          <a:lstStyle/>
          <a:p>
            <a:fld id="{FBEE1443-9B50-414A-932B-DC12F1E761CB}" type="slidenum">
              <a:rPr lang="en-US" smtClean="0"/>
              <a:t>‹#›</a:t>
            </a:fld>
            <a:endParaRPr lang="en-US"/>
          </a:p>
        </p:txBody>
      </p:sp>
    </p:spTree>
    <p:extLst>
      <p:ext uri="{BB962C8B-B14F-4D97-AF65-F5344CB8AC3E}">
        <p14:creationId xmlns:p14="http://schemas.microsoft.com/office/powerpoint/2010/main" val="7333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A0D192-6112-2A5A-A2A9-EE7F5DC0A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C9B449-49B9-A01A-6261-9F488FAAB4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630B13-F2DF-C002-2999-9BD0C1537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AD4B2-C973-4794-B8D9-8CB38E1DBB24}" type="datetime1">
              <a:rPr lang="en-US" smtClean="0"/>
              <a:t>1/21/2026</a:t>
            </a:fld>
            <a:endParaRPr lang="en-US"/>
          </a:p>
        </p:txBody>
      </p:sp>
      <p:sp>
        <p:nvSpPr>
          <p:cNvPr id="5" name="Footer Placeholder 4">
            <a:extLst>
              <a:ext uri="{FF2B5EF4-FFF2-40B4-BE49-F238E27FC236}">
                <a16:creationId xmlns:a16="http://schemas.microsoft.com/office/drawing/2014/main" id="{1088DBC9-B3E1-5AE0-C3EC-A706FF213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1C4D3B-6718-73FF-05D1-09A0CA5655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E1443-9B50-414A-932B-DC12F1E761CB}" type="slidenum">
              <a:rPr lang="en-US" smtClean="0"/>
              <a:t>‹#›</a:t>
            </a:fld>
            <a:endParaRPr lang="en-US"/>
          </a:p>
        </p:txBody>
      </p:sp>
    </p:spTree>
    <p:extLst>
      <p:ext uri="{BB962C8B-B14F-4D97-AF65-F5344CB8AC3E}">
        <p14:creationId xmlns:p14="http://schemas.microsoft.com/office/powerpoint/2010/main" val="3662044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CB9B1-53A8-F1C7-D3CA-F898FD48C0AD}"/>
              </a:ext>
            </a:extLst>
          </p:cNvPr>
          <p:cNvSpPr>
            <a:spLocks noGrp="1"/>
          </p:cNvSpPr>
          <p:nvPr>
            <p:ph type="ctrTitle"/>
          </p:nvPr>
        </p:nvSpPr>
        <p:spPr>
          <a:xfrm>
            <a:off x="256674" y="1266045"/>
            <a:ext cx="11518230" cy="1368398"/>
          </a:xfrm>
        </p:spPr>
        <p:txBody>
          <a:bodyPr>
            <a:normAutofit/>
          </a:bodyPr>
          <a:lstStyle/>
          <a:p>
            <a:r>
              <a:rPr lang="ne-NP" sz="3600" b="1" u="sng" dirty="0">
                <a:cs typeface="Kalimati" panose="00000400000000000000" pitchFamily="2"/>
              </a:rPr>
              <a:t>जग्गा विवादमा नाप नक्सा अध्ययन तथा नक्साको विवेचना</a:t>
            </a:r>
            <a:endParaRPr lang="en-US" sz="3600" b="1" u="sng" dirty="0">
              <a:cs typeface="Kalimati" panose="00000400000000000000" pitchFamily="2"/>
            </a:endParaRPr>
          </a:p>
        </p:txBody>
      </p:sp>
      <p:sp>
        <p:nvSpPr>
          <p:cNvPr id="3" name="Subtitle 2">
            <a:extLst>
              <a:ext uri="{FF2B5EF4-FFF2-40B4-BE49-F238E27FC236}">
                <a16:creationId xmlns:a16="http://schemas.microsoft.com/office/drawing/2014/main" id="{D969DCB7-6514-14FB-07D6-BC030266E054}"/>
              </a:ext>
            </a:extLst>
          </p:cNvPr>
          <p:cNvSpPr>
            <a:spLocks noGrp="1"/>
          </p:cNvSpPr>
          <p:nvPr>
            <p:ph type="subTitle" idx="1"/>
          </p:nvPr>
        </p:nvSpPr>
        <p:spPr>
          <a:xfrm>
            <a:off x="569626" y="3667515"/>
            <a:ext cx="10784174" cy="1655762"/>
          </a:xfrm>
        </p:spPr>
        <p:txBody>
          <a:bodyPr>
            <a:noAutofit/>
          </a:bodyPr>
          <a:lstStyle/>
          <a:p>
            <a:pPr algn="r"/>
            <a:endParaRPr lang="en-US" sz="3200" b="1" dirty="0">
              <a:cs typeface="Kalimati" panose="00000400000000000000" pitchFamily="2"/>
            </a:endParaRPr>
          </a:p>
          <a:p>
            <a:pPr algn="r"/>
            <a:r>
              <a:rPr lang="ne-NP" sz="3200" b="1" dirty="0">
                <a:cs typeface="Kalimati" panose="00000400000000000000" pitchFamily="2"/>
              </a:rPr>
              <a:t>-हरि कुमार पोखरेल</a:t>
            </a:r>
          </a:p>
          <a:p>
            <a:pPr algn="r"/>
            <a:r>
              <a:rPr lang="ne-NP" sz="3200" b="1" dirty="0">
                <a:cs typeface="Kalimati" panose="00000400000000000000" pitchFamily="2"/>
              </a:rPr>
              <a:t>२०८२।१०।०७</a:t>
            </a:r>
            <a:endParaRPr lang="en-US" sz="3200" b="1" dirty="0">
              <a:cs typeface="Kalimati" panose="00000400000000000000" pitchFamily="2"/>
            </a:endParaRPr>
          </a:p>
        </p:txBody>
      </p:sp>
      <p:sp>
        <p:nvSpPr>
          <p:cNvPr id="4" name="Slide Number Placeholder 3">
            <a:extLst>
              <a:ext uri="{FF2B5EF4-FFF2-40B4-BE49-F238E27FC236}">
                <a16:creationId xmlns:a16="http://schemas.microsoft.com/office/drawing/2014/main" id="{4A12C6C0-41E9-5AC3-7F12-09D291704E8E}"/>
              </a:ext>
            </a:extLst>
          </p:cNvPr>
          <p:cNvSpPr>
            <a:spLocks noGrp="1"/>
          </p:cNvSpPr>
          <p:nvPr>
            <p:ph type="sldNum" sz="quarter" idx="12"/>
          </p:nvPr>
        </p:nvSpPr>
        <p:spPr/>
        <p:txBody>
          <a:bodyPr/>
          <a:lstStyle/>
          <a:p>
            <a:fld id="{FBEE1443-9B50-414A-932B-DC12F1E761CB}" type="slidenum">
              <a:rPr lang="en-US" sz="2400" smtClean="0"/>
              <a:t>1</a:t>
            </a:fld>
            <a:endParaRPr lang="en-US" sz="2400" dirty="0"/>
          </a:p>
        </p:txBody>
      </p:sp>
    </p:spTree>
    <p:extLst>
      <p:ext uri="{BB962C8B-B14F-4D97-AF65-F5344CB8AC3E}">
        <p14:creationId xmlns:p14="http://schemas.microsoft.com/office/powerpoint/2010/main" val="1284752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6D40A-37BB-5856-1574-3FEE2549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DDDF7-AFC3-C006-D861-63AF19A55FCF}"/>
              </a:ext>
            </a:extLst>
          </p:cNvPr>
          <p:cNvSpPr>
            <a:spLocks noGrp="1"/>
          </p:cNvSpPr>
          <p:nvPr>
            <p:ph type="title"/>
          </p:nvPr>
        </p:nvSpPr>
        <p:spPr>
          <a:xfrm>
            <a:off x="838200" y="136525"/>
            <a:ext cx="10515600" cy="373141"/>
          </a:xfrm>
        </p:spPr>
        <p:txBody>
          <a:bodyPr>
            <a:noAutofit/>
          </a:bodyPr>
          <a:lstStyle/>
          <a:p>
            <a:pPr algn="ctr"/>
            <a:r>
              <a:rPr lang="ne-NP" sz="3200" b="1" u="sng" dirty="0">
                <a:cs typeface="Kalimati" panose="00000400000000000000" pitchFamily="2"/>
              </a:rPr>
              <a:t>जग्गाको स्वामित्व</a:t>
            </a:r>
            <a:r>
              <a:rPr lang="en-US" sz="3200" b="1" u="sng" dirty="0">
                <a:cs typeface="Kalimati" panose="00000400000000000000" pitchFamily="2"/>
              </a:rPr>
              <a:t> </a:t>
            </a:r>
            <a:r>
              <a:rPr lang="en-US" sz="3200" b="1" dirty="0">
                <a:cs typeface="Kalimati" panose="00000400000000000000" pitchFamily="2"/>
              </a:rPr>
              <a:t>??</a:t>
            </a:r>
            <a:endParaRPr lang="en-US" sz="3200" dirty="0">
              <a:cs typeface="Kalimati" panose="00000400000000000000" pitchFamily="2"/>
            </a:endParaRPr>
          </a:p>
        </p:txBody>
      </p:sp>
      <p:sp>
        <p:nvSpPr>
          <p:cNvPr id="3" name="Content Placeholder 2">
            <a:extLst>
              <a:ext uri="{FF2B5EF4-FFF2-40B4-BE49-F238E27FC236}">
                <a16:creationId xmlns:a16="http://schemas.microsoft.com/office/drawing/2014/main" id="{88C7B7E7-DC2B-3026-4935-3368B49A8CD8}"/>
              </a:ext>
            </a:extLst>
          </p:cNvPr>
          <p:cNvSpPr>
            <a:spLocks noGrp="1"/>
          </p:cNvSpPr>
          <p:nvPr>
            <p:ph idx="1"/>
          </p:nvPr>
        </p:nvSpPr>
        <p:spPr>
          <a:xfrm>
            <a:off x="194872" y="509666"/>
            <a:ext cx="11842230" cy="6211809"/>
          </a:xfrm>
        </p:spPr>
        <p:txBody>
          <a:bodyPr>
            <a:normAutofit/>
          </a:bodyPr>
          <a:lstStyle/>
          <a:p>
            <a:pPr algn="just">
              <a:buFont typeface="Wingdings" panose="05000000000000000000" pitchFamily="2" charset="2"/>
              <a:buChar char="v"/>
            </a:pPr>
            <a:endParaRPr lang="en-US" sz="3200" b="1" dirty="0"/>
          </a:p>
          <a:p>
            <a:pPr algn="just">
              <a:buFont typeface="Wingdings" panose="05000000000000000000" pitchFamily="2" charset="2"/>
              <a:buChar char="v"/>
            </a:pPr>
            <a:r>
              <a:rPr lang="en-US" sz="3200" b="1" dirty="0"/>
              <a:t>“Land belongs to a vast family of which many were dead, few are living and countless members are still unborn.”</a:t>
            </a:r>
          </a:p>
          <a:p>
            <a:pPr algn="r">
              <a:buNone/>
            </a:pPr>
            <a:r>
              <a:rPr lang="en-US" sz="3200" b="1" dirty="0"/>
              <a:t>                               - Dr. C. K. Meek</a:t>
            </a:r>
          </a:p>
          <a:p>
            <a:pPr algn="ctr">
              <a:buNone/>
            </a:pPr>
            <a:endParaRPr lang="en-US" sz="3200" b="1" u="sng" dirty="0">
              <a:cs typeface="Kalimati" panose="00000400000000000000" pitchFamily="2"/>
            </a:endParaRPr>
          </a:p>
          <a:p>
            <a:pPr algn="ctr">
              <a:buNone/>
            </a:pPr>
            <a:r>
              <a:rPr lang="ne-NP" sz="3200" b="1" u="sng" dirty="0">
                <a:cs typeface="Kalimati" panose="00000400000000000000" pitchFamily="2"/>
              </a:rPr>
              <a:t>नाप नक्सा</a:t>
            </a:r>
            <a:endParaRPr lang="en-US" sz="3200" b="1" u="sng" dirty="0">
              <a:cs typeface="Kalimati" panose="00000400000000000000" pitchFamily="2"/>
            </a:endParaRPr>
          </a:p>
          <a:p>
            <a:pPr algn="just">
              <a:buFont typeface="Wingdings" panose="05000000000000000000" pitchFamily="2" charset="2"/>
              <a:buChar char="v"/>
            </a:pPr>
            <a:r>
              <a:rPr lang="en-US" sz="3200" b="1" dirty="0"/>
              <a:t>Every rule, however specific has within it a free space for rationalization to a certain degree in every decision. Similarly, every measurement on earth’s surface and its depiction is relatively accurate but never correct.”</a:t>
            </a:r>
          </a:p>
          <a:p>
            <a:pPr algn="r">
              <a:buNone/>
            </a:pPr>
            <a:r>
              <a:rPr lang="en-US" sz="3200" b="1" dirty="0"/>
              <a:t>                                                       - ? (Unknown)</a:t>
            </a:r>
          </a:p>
          <a:p>
            <a:pPr algn="just">
              <a:buNone/>
            </a:pPr>
            <a:endParaRPr lang="ne-NP" sz="3200" b="1" u="sng" dirty="0">
              <a:cs typeface="Kalimati" panose="00000400000000000000" pitchFamily="2"/>
            </a:endParaRPr>
          </a:p>
          <a:p>
            <a:pPr algn="ctr">
              <a:buNone/>
            </a:pPr>
            <a:endParaRPr lang="ne-NP" sz="3200" b="1" dirty="0"/>
          </a:p>
          <a:p>
            <a:endParaRPr lang="en-US" sz="3200" dirty="0"/>
          </a:p>
        </p:txBody>
      </p:sp>
      <p:sp>
        <p:nvSpPr>
          <p:cNvPr id="4" name="Slide Number Placeholder 3">
            <a:extLst>
              <a:ext uri="{FF2B5EF4-FFF2-40B4-BE49-F238E27FC236}">
                <a16:creationId xmlns:a16="http://schemas.microsoft.com/office/drawing/2014/main" id="{F3CF76E7-2270-24D2-459B-D590C5D5B0F2}"/>
              </a:ext>
            </a:extLst>
          </p:cNvPr>
          <p:cNvSpPr>
            <a:spLocks noGrp="1"/>
          </p:cNvSpPr>
          <p:nvPr>
            <p:ph type="sldNum" sz="quarter" idx="12"/>
          </p:nvPr>
        </p:nvSpPr>
        <p:spPr/>
        <p:txBody>
          <a:bodyPr/>
          <a:lstStyle/>
          <a:p>
            <a:fld id="{FBEE1443-9B50-414A-932B-DC12F1E761CB}" type="slidenum">
              <a:rPr lang="en-US" smtClean="0"/>
              <a:t>2</a:t>
            </a:fld>
            <a:endParaRPr lang="en-US"/>
          </a:p>
        </p:txBody>
      </p:sp>
    </p:spTree>
    <p:extLst>
      <p:ext uri="{BB962C8B-B14F-4D97-AF65-F5344CB8AC3E}">
        <p14:creationId xmlns:p14="http://schemas.microsoft.com/office/powerpoint/2010/main" val="269394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608A-DEF0-01B8-64B9-5C84AB669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5F6B9-CDE6-78F0-6060-08D72CCED635}"/>
              </a:ext>
            </a:extLst>
          </p:cNvPr>
          <p:cNvSpPr>
            <a:spLocks noGrp="1"/>
          </p:cNvSpPr>
          <p:nvPr>
            <p:ph type="title"/>
          </p:nvPr>
        </p:nvSpPr>
        <p:spPr>
          <a:xfrm>
            <a:off x="1676400" y="152399"/>
            <a:ext cx="8839200" cy="1010053"/>
          </a:xfrm>
        </p:spPr>
        <p:txBody>
          <a:bodyPr>
            <a:noAutofit/>
          </a:bodyPr>
          <a:lstStyle/>
          <a:p>
            <a:pPr algn="ctr"/>
            <a:r>
              <a:rPr lang="ne-NP" sz="3200" b="1" dirty="0">
                <a:cs typeface="Kalimati" pitchFamily="2"/>
              </a:rPr>
              <a:t>जग्गा खिचोला मुद्दाको संख्यात्मक स्थिति</a:t>
            </a:r>
            <a:br>
              <a:rPr lang="ne-NP" sz="3200" b="1" dirty="0">
                <a:cs typeface="Kalimati" pitchFamily="2"/>
              </a:rPr>
            </a:br>
            <a:r>
              <a:rPr lang="ne-NP" sz="3200" b="1" u="sng" dirty="0">
                <a:cs typeface="Kalimati" pitchFamily="2"/>
              </a:rPr>
              <a:t>(सर्वोच्च अदालतको वार्षिक प्रतिवेदन)</a:t>
            </a:r>
            <a:endParaRPr lang="en-US" sz="3200" b="1" u="sng" dirty="0">
              <a:cs typeface="Kalimati" pitchFamily="2"/>
            </a:endParaRPr>
          </a:p>
        </p:txBody>
      </p:sp>
      <p:graphicFrame>
        <p:nvGraphicFramePr>
          <p:cNvPr id="4" name="Content Placeholder 3">
            <a:extLst>
              <a:ext uri="{FF2B5EF4-FFF2-40B4-BE49-F238E27FC236}">
                <a16:creationId xmlns:a16="http://schemas.microsoft.com/office/drawing/2014/main" id="{E92E9B76-FF1C-FB24-69C6-D0D6B20A24EA}"/>
              </a:ext>
            </a:extLst>
          </p:cNvPr>
          <p:cNvGraphicFramePr>
            <a:graphicFrameLocks noGrp="1"/>
          </p:cNvGraphicFramePr>
          <p:nvPr>
            <p:ph idx="1"/>
          </p:nvPr>
        </p:nvGraphicFramePr>
        <p:xfrm>
          <a:off x="288758" y="1219201"/>
          <a:ext cx="11614484" cy="5821680"/>
        </p:xfrm>
        <a:graphic>
          <a:graphicData uri="http://schemas.openxmlformats.org/drawingml/2006/table">
            <a:tbl>
              <a:tblPr firstRow="1" bandRow="1">
                <a:tableStyleId>{5C22544A-7EE6-4342-B048-85BDC9FD1C3A}</a:tableStyleId>
              </a:tblPr>
              <a:tblGrid>
                <a:gridCol w="3364555">
                  <a:extLst>
                    <a:ext uri="{9D8B030D-6E8A-4147-A177-3AD203B41FA5}">
                      <a16:colId xmlns:a16="http://schemas.microsoft.com/office/drawing/2014/main" val="20000"/>
                    </a:ext>
                  </a:extLst>
                </a:gridCol>
                <a:gridCol w="4288157">
                  <a:extLst>
                    <a:ext uri="{9D8B030D-6E8A-4147-A177-3AD203B41FA5}">
                      <a16:colId xmlns:a16="http://schemas.microsoft.com/office/drawing/2014/main" val="20001"/>
                    </a:ext>
                  </a:extLst>
                </a:gridCol>
                <a:gridCol w="3961772">
                  <a:extLst>
                    <a:ext uri="{9D8B030D-6E8A-4147-A177-3AD203B41FA5}">
                      <a16:colId xmlns:a16="http://schemas.microsoft.com/office/drawing/2014/main" val="20002"/>
                    </a:ext>
                  </a:extLst>
                </a:gridCol>
              </a:tblGrid>
              <a:tr h="1008270">
                <a:tc>
                  <a:txBody>
                    <a:bodyPr/>
                    <a:lstStyle/>
                    <a:p>
                      <a:pPr algn="l"/>
                      <a:r>
                        <a:rPr lang="ne-NP" sz="3200" b="1" dirty="0">
                          <a:cs typeface="Kalimati" pitchFamily="2"/>
                        </a:rPr>
                        <a:t>अदालतको नाम</a:t>
                      </a:r>
                    </a:p>
                    <a:p>
                      <a:pPr algn="l"/>
                      <a:endParaRPr lang="en-US" sz="3200" b="1" dirty="0">
                        <a:cs typeface="Kalimati" pitchFamily="2"/>
                      </a:endParaRPr>
                    </a:p>
                  </a:txBody>
                  <a:tcPr/>
                </a:tc>
                <a:tc>
                  <a:txBody>
                    <a:bodyPr/>
                    <a:lstStyle/>
                    <a:p>
                      <a:pPr algn="ctr"/>
                      <a:r>
                        <a:rPr lang="ne-NP" sz="3200" b="1" dirty="0">
                          <a:cs typeface="Kalimati" pitchFamily="2"/>
                        </a:rPr>
                        <a:t>जम्मा मुद्दा र जग्गासँग</a:t>
                      </a:r>
                      <a:r>
                        <a:rPr lang="ne-NP" sz="3200" b="1" baseline="0" dirty="0">
                          <a:cs typeface="Kalimati" pitchFamily="2"/>
                        </a:rPr>
                        <a:t> सम्बन्धित मुद्दा</a:t>
                      </a:r>
                      <a:endParaRPr lang="ne-NP" sz="3200" b="1" dirty="0">
                        <a:cs typeface="Kalimati" pitchFamily="2"/>
                      </a:endParaRPr>
                    </a:p>
                  </a:txBody>
                  <a:tcPr/>
                </a:tc>
                <a:tc>
                  <a:txBody>
                    <a:bodyPr/>
                    <a:lstStyle/>
                    <a:p>
                      <a:pPr algn="ctr"/>
                      <a:r>
                        <a:rPr lang="ne-NP" sz="3200" b="1" dirty="0">
                          <a:cs typeface="Kalimati" pitchFamily="2"/>
                        </a:rPr>
                        <a:t>जग्गा खिचोला मुद्दा</a:t>
                      </a:r>
                    </a:p>
                    <a:p>
                      <a:pPr algn="ctr"/>
                      <a:endParaRPr lang="en-US" sz="3200" b="1" dirty="0">
                        <a:cs typeface="Kalimati" pitchFamily="2"/>
                      </a:endParaRPr>
                    </a:p>
                  </a:txBody>
                  <a:tcPr/>
                </a:tc>
                <a:extLst>
                  <a:ext uri="{0D108BD9-81ED-4DB2-BD59-A6C34878D82A}">
                    <a16:rowId xmlns:a16="http://schemas.microsoft.com/office/drawing/2014/main" val="10000"/>
                  </a:ext>
                </a:extLst>
              </a:tr>
              <a:tr h="1008270">
                <a:tc>
                  <a:txBody>
                    <a:bodyPr/>
                    <a:lstStyle/>
                    <a:p>
                      <a:pPr algn="l"/>
                      <a:endParaRPr lang="ne-NP" sz="3200" b="1" dirty="0">
                        <a:cs typeface="Kalimati" pitchFamily="2"/>
                      </a:endParaRPr>
                    </a:p>
                    <a:p>
                      <a:pPr algn="l"/>
                      <a:r>
                        <a:rPr lang="ne-NP" sz="3200" b="1" dirty="0">
                          <a:cs typeface="Kalimati" pitchFamily="2"/>
                        </a:rPr>
                        <a:t>सर्वोच्च अदालत</a:t>
                      </a:r>
                      <a:endParaRPr lang="en-US" sz="3200" b="1" dirty="0">
                        <a:cs typeface="Kalimati" pitchFamily="2"/>
                      </a:endParaRPr>
                    </a:p>
                  </a:txBody>
                  <a:tcPr/>
                </a:tc>
                <a:tc>
                  <a:txBody>
                    <a:bodyPr/>
                    <a:lstStyle/>
                    <a:p>
                      <a:pPr algn="ctr"/>
                      <a:r>
                        <a:rPr lang="ne-NP" sz="2800" b="0" dirty="0">
                          <a:cs typeface="Kalimati" pitchFamily="2"/>
                        </a:rPr>
                        <a:t>३४३५३</a:t>
                      </a:r>
                      <a:endParaRPr lang="en-US" sz="2800" b="0" dirty="0">
                        <a:cs typeface="Kalimati" pitchFamily="2"/>
                      </a:endParaRPr>
                    </a:p>
                    <a:p>
                      <a:pPr algn="ctr"/>
                      <a:r>
                        <a:rPr lang="ne-NP" sz="3600" b="1" dirty="0">
                          <a:solidFill>
                            <a:srgbClr val="C00000"/>
                          </a:solidFill>
                          <a:cs typeface="Kalimati" pitchFamily="2"/>
                        </a:rPr>
                        <a:t>(६३४३)</a:t>
                      </a:r>
                      <a:endParaRPr lang="en-US" sz="3600" b="1" dirty="0">
                        <a:solidFill>
                          <a:srgbClr val="C00000"/>
                        </a:solidFill>
                        <a:cs typeface="Kalimati" pitchFamily="2"/>
                      </a:endParaRPr>
                    </a:p>
                  </a:txBody>
                  <a:tcPr/>
                </a:tc>
                <a:tc>
                  <a:txBody>
                    <a:bodyPr/>
                    <a:lstStyle/>
                    <a:p>
                      <a:pPr algn="ctr"/>
                      <a:endParaRPr lang="ne-NP" sz="3200" b="1" dirty="0">
                        <a:solidFill>
                          <a:srgbClr val="7030A0"/>
                        </a:solidFill>
                        <a:cs typeface="Kalimati" pitchFamily="2"/>
                      </a:endParaRPr>
                    </a:p>
                    <a:p>
                      <a:pPr algn="ctr"/>
                      <a:r>
                        <a:rPr lang="ne-NP" sz="3200" b="1" dirty="0">
                          <a:solidFill>
                            <a:srgbClr val="7030A0"/>
                          </a:solidFill>
                          <a:cs typeface="Kalimati" pitchFamily="2"/>
                        </a:rPr>
                        <a:t>६३३</a:t>
                      </a:r>
                      <a:endParaRPr lang="en-US" sz="3200" b="1" dirty="0">
                        <a:solidFill>
                          <a:srgbClr val="7030A0"/>
                        </a:solidFill>
                        <a:cs typeface="Kalimati" pitchFamily="2"/>
                      </a:endParaRPr>
                    </a:p>
                  </a:txBody>
                  <a:tcPr/>
                </a:tc>
                <a:extLst>
                  <a:ext uri="{0D108BD9-81ED-4DB2-BD59-A6C34878D82A}">
                    <a16:rowId xmlns:a16="http://schemas.microsoft.com/office/drawing/2014/main" val="10001"/>
                  </a:ext>
                </a:extLst>
              </a:tr>
              <a:tr h="1469194">
                <a:tc>
                  <a:txBody>
                    <a:bodyPr/>
                    <a:lstStyle/>
                    <a:p>
                      <a:pPr algn="l"/>
                      <a:endParaRPr lang="ne-NP" sz="3200" b="1" dirty="0">
                        <a:cs typeface="Kalimati" pitchFamily="2"/>
                      </a:endParaRPr>
                    </a:p>
                    <a:p>
                      <a:pPr algn="l"/>
                      <a:r>
                        <a:rPr lang="ne-NP" sz="3200" b="1" dirty="0">
                          <a:cs typeface="Kalimati" pitchFamily="2"/>
                        </a:rPr>
                        <a:t>उच्च अदालत</a:t>
                      </a:r>
                      <a:endParaRPr lang="en-US" sz="3200" b="1" dirty="0">
                        <a:cs typeface="Kalimati" pitchFamily="2"/>
                      </a:endParaRPr>
                    </a:p>
                  </a:txBody>
                  <a:tcPr/>
                </a:tc>
                <a:tc>
                  <a:txBody>
                    <a:bodyPr/>
                    <a:lstStyle/>
                    <a:p>
                      <a:pPr algn="ctr"/>
                      <a:r>
                        <a:rPr lang="ne-NP" sz="2800" b="0" dirty="0">
                          <a:cs typeface="Kalimati" pitchFamily="2"/>
                        </a:rPr>
                        <a:t>५४०३०</a:t>
                      </a:r>
                    </a:p>
                    <a:p>
                      <a:pPr algn="ctr"/>
                      <a:r>
                        <a:rPr lang="ne-NP" sz="3600" b="1" dirty="0">
                          <a:solidFill>
                            <a:srgbClr val="C00000"/>
                          </a:solidFill>
                          <a:cs typeface="Kalimati" pitchFamily="2"/>
                        </a:rPr>
                        <a:t>(१००४७)</a:t>
                      </a:r>
                      <a:endParaRPr lang="en-US" sz="3600" b="1" dirty="0">
                        <a:solidFill>
                          <a:srgbClr val="C00000"/>
                        </a:solidFill>
                        <a:cs typeface="Kalimati" pitchFamily="2"/>
                      </a:endParaRPr>
                    </a:p>
                  </a:txBody>
                  <a:tcPr/>
                </a:tc>
                <a:tc>
                  <a:txBody>
                    <a:bodyPr/>
                    <a:lstStyle/>
                    <a:p>
                      <a:pPr algn="ctr"/>
                      <a:endParaRPr lang="ne-NP" sz="3200" b="1" dirty="0">
                        <a:solidFill>
                          <a:srgbClr val="7030A0"/>
                        </a:solidFill>
                        <a:cs typeface="Kalimati" pitchFamily="2"/>
                      </a:endParaRPr>
                    </a:p>
                    <a:p>
                      <a:pPr algn="ctr"/>
                      <a:r>
                        <a:rPr lang="ne-NP" sz="3200" b="1" dirty="0">
                          <a:solidFill>
                            <a:srgbClr val="7030A0"/>
                          </a:solidFill>
                          <a:cs typeface="Kalimati" pitchFamily="2"/>
                        </a:rPr>
                        <a:t>२२४६</a:t>
                      </a:r>
                    </a:p>
                    <a:p>
                      <a:pPr algn="ctr"/>
                      <a:endParaRPr lang="en-US" sz="3200" b="1" dirty="0">
                        <a:solidFill>
                          <a:srgbClr val="7030A0"/>
                        </a:solidFill>
                        <a:cs typeface="Kalimati" pitchFamily="2"/>
                      </a:endParaRPr>
                    </a:p>
                  </a:txBody>
                  <a:tcPr/>
                </a:tc>
                <a:extLst>
                  <a:ext uri="{0D108BD9-81ED-4DB2-BD59-A6C34878D82A}">
                    <a16:rowId xmlns:a16="http://schemas.microsoft.com/office/drawing/2014/main" val="10002"/>
                  </a:ext>
                </a:extLst>
              </a:tr>
              <a:tr h="1008270">
                <a:tc>
                  <a:txBody>
                    <a:bodyPr/>
                    <a:lstStyle/>
                    <a:p>
                      <a:pPr algn="l"/>
                      <a:endParaRPr lang="ne-NP" sz="3200" b="1" dirty="0">
                        <a:cs typeface="Kalimati" pitchFamily="2"/>
                      </a:endParaRPr>
                    </a:p>
                    <a:p>
                      <a:pPr algn="l"/>
                      <a:r>
                        <a:rPr lang="ne-NP" sz="3200" b="1" dirty="0">
                          <a:cs typeface="Kalimati" pitchFamily="2"/>
                        </a:rPr>
                        <a:t>जिल्ला अदालत</a:t>
                      </a:r>
                      <a:endParaRPr lang="en-US" sz="3200" b="1" dirty="0">
                        <a:cs typeface="Kalimati" pitchFamily="2"/>
                      </a:endParaRPr>
                    </a:p>
                  </a:txBody>
                  <a:tcPr/>
                </a:tc>
                <a:tc>
                  <a:txBody>
                    <a:bodyPr/>
                    <a:lstStyle/>
                    <a:p>
                      <a:pPr algn="ctr"/>
                      <a:r>
                        <a:rPr lang="ne-NP" sz="2800" b="0" dirty="0">
                          <a:cs typeface="Kalimati" pitchFamily="2"/>
                        </a:rPr>
                        <a:t>१६३३४३</a:t>
                      </a:r>
                    </a:p>
                    <a:p>
                      <a:pPr algn="ctr"/>
                      <a:r>
                        <a:rPr lang="ne-NP" sz="3600" b="1" dirty="0">
                          <a:solidFill>
                            <a:srgbClr val="C00000"/>
                          </a:solidFill>
                          <a:cs typeface="Kalimati" pitchFamily="2"/>
                        </a:rPr>
                        <a:t>(४०२९३)</a:t>
                      </a:r>
                      <a:endParaRPr lang="en-US" sz="3600" b="1" dirty="0">
                        <a:solidFill>
                          <a:srgbClr val="C00000"/>
                        </a:solidFill>
                        <a:cs typeface="Kalimati" pitchFamily="2"/>
                      </a:endParaRPr>
                    </a:p>
                  </a:txBody>
                  <a:tcPr/>
                </a:tc>
                <a:tc>
                  <a:txBody>
                    <a:bodyPr/>
                    <a:lstStyle/>
                    <a:p>
                      <a:pPr algn="ctr"/>
                      <a:endParaRPr lang="ne-NP" sz="3200" b="1" dirty="0">
                        <a:solidFill>
                          <a:srgbClr val="7030A0"/>
                        </a:solidFill>
                        <a:cs typeface="Kalimati" pitchFamily="2"/>
                      </a:endParaRPr>
                    </a:p>
                    <a:p>
                      <a:pPr algn="ctr"/>
                      <a:r>
                        <a:rPr lang="ne-NP" sz="3200" b="1" dirty="0">
                          <a:solidFill>
                            <a:srgbClr val="7030A0"/>
                          </a:solidFill>
                          <a:cs typeface="Kalimati" pitchFamily="2"/>
                        </a:rPr>
                        <a:t>६६१६</a:t>
                      </a:r>
                    </a:p>
                  </a:txBody>
                  <a:tcPr/>
                </a:tc>
                <a:extLst>
                  <a:ext uri="{0D108BD9-81ED-4DB2-BD59-A6C34878D82A}">
                    <a16:rowId xmlns:a16="http://schemas.microsoft.com/office/drawing/2014/main" val="10003"/>
                  </a:ext>
                </a:extLst>
              </a:tr>
              <a:tr h="1008270">
                <a:tc>
                  <a:txBody>
                    <a:bodyPr/>
                    <a:lstStyle/>
                    <a:p>
                      <a:pPr algn="l"/>
                      <a:endParaRPr lang="ne-NP" sz="3200" b="1" dirty="0">
                        <a:cs typeface="Kalimati" pitchFamily="2"/>
                      </a:endParaRPr>
                    </a:p>
                    <a:p>
                      <a:pPr algn="l"/>
                      <a:r>
                        <a:rPr lang="ne-NP" sz="3200" b="1" dirty="0">
                          <a:cs typeface="Kalimati" pitchFamily="2"/>
                        </a:rPr>
                        <a:t>जम्मा</a:t>
                      </a:r>
                      <a:endParaRPr lang="en-US" sz="3200" b="1" dirty="0">
                        <a:cs typeface="Kalimati" pitchFamily="2"/>
                      </a:endParaRPr>
                    </a:p>
                  </a:txBody>
                  <a:tcPr/>
                </a:tc>
                <a:tc>
                  <a:txBody>
                    <a:bodyPr/>
                    <a:lstStyle/>
                    <a:p>
                      <a:pPr algn="ctr"/>
                      <a:r>
                        <a:rPr lang="ne-NP" sz="2800" b="1" baseline="0" dirty="0">
                          <a:cs typeface="Kalimati" pitchFamily="2"/>
                        </a:rPr>
                        <a:t>२५१७२६</a:t>
                      </a:r>
                    </a:p>
                    <a:p>
                      <a:pPr algn="ctr"/>
                      <a:r>
                        <a:rPr lang="ne-NP" sz="3600" b="1" baseline="0" dirty="0">
                          <a:solidFill>
                            <a:srgbClr val="C00000"/>
                          </a:solidFill>
                          <a:cs typeface="Kalimati" pitchFamily="2"/>
                        </a:rPr>
                        <a:t>(५६६८३)</a:t>
                      </a:r>
                    </a:p>
                  </a:txBody>
                  <a:tcPr/>
                </a:tc>
                <a:tc>
                  <a:txBody>
                    <a:bodyPr/>
                    <a:lstStyle/>
                    <a:p>
                      <a:pPr algn="ctr"/>
                      <a:endParaRPr lang="ne-NP" sz="3200" b="1" dirty="0">
                        <a:solidFill>
                          <a:srgbClr val="7030A0"/>
                        </a:solidFill>
                        <a:cs typeface="Kalimati" pitchFamily="2"/>
                      </a:endParaRPr>
                    </a:p>
                    <a:p>
                      <a:pPr algn="ctr"/>
                      <a:r>
                        <a:rPr lang="ne-NP" sz="3200" b="1" dirty="0">
                          <a:solidFill>
                            <a:srgbClr val="7030A0"/>
                          </a:solidFill>
                          <a:cs typeface="Kalimati" pitchFamily="2"/>
                        </a:rPr>
                        <a:t>९४९५ </a:t>
                      </a:r>
                      <a:endParaRPr lang="ne-NP" sz="3200" b="1" baseline="0" dirty="0">
                        <a:solidFill>
                          <a:srgbClr val="7030A0"/>
                        </a:solidFill>
                        <a:cs typeface="Kalimati" pitchFamily="2"/>
                      </a:endParaRPr>
                    </a:p>
                  </a:txBody>
                  <a:tcPr/>
                </a:tc>
                <a:extLst>
                  <a:ext uri="{0D108BD9-81ED-4DB2-BD59-A6C34878D82A}">
                    <a16:rowId xmlns:a16="http://schemas.microsoft.com/office/drawing/2014/main" val="10004"/>
                  </a:ext>
                </a:extLst>
              </a:tr>
            </a:tbl>
          </a:graphicData>
        </a:graphic>
      </p:graphicFrame>
      <p:sp>
        <p:nvSpPr>
          <p:cNvPr id="5" name="Slide Number Placeholder 4">
            <a:extLst>
              <a:ext uri="{FF2B5EF4-FFF2-40B4-BE49-F238E27FC236}">
                <a16:creationId xmlns:a16="http://schemas.microsoft.com/office/drawing/2014/main" id="{E2435602-8CEE-3072-A97B-E5BE1B465413}"/>
              </a:ext>
            </a:extLst>
          </p:cNvPr>
          <p:cNvSpPr>
            <a:spLocks noGrp="1"/>
          </p:cNvSpPr>
          <p:nvPr>
            <p:ph type="sldNum" sz="quarter" idx="12"/>
          </p:nvPr>
        </p:nvSpPr>
        <p:spPr/>
        <p:txBody>
          <a:bodyPr/>
          <a:lstStyle/>
          <a:p>
            <a:fld id="{1AB988AC-FA38-437B-B260-9A3FBAC857AD}" type="slidenum">
              <a:rPr lang="en-US" sz="2400" smtClean="0"/>
              <a:pPr/>
              <a:t>3</a:t>
            </a:fld>
            <a:endParaRPr lang="en-US" sz="2400" dirty="0"/>
          </a:p>
        </p:txBody>
      </p:sp>
    </p:spTree>
    <p:extLst>
      <p:ext uri="{BB962C8B-B14F-4D97-AF65-F5344CB8AC3E}">
        <p14:creationId xmlns:p14="http://schemas.microsoft.com/office/powerpoint/2010/main" val="863894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ED033-C154-918A-C6D3-EAE441EEC406}"/>
              </a:ext>
            </a:extLst>
          </p:cNvPr>
          <p:cNvSpPr>
            <a:spLocks noGrp="1"/>
          </p:cNvSpPr>
          <p:nvPr>
            <p:ph type="title"/>
          </p:nvPr>
        </p:nvSpPr>
        <p:spPr>
          <a:xfrm>
            <a:off x="838200" y="136526"/>
            <a:ext cx="10515600" cy="388130"/>
          </a:xfrm>
        </p:spPr>
        <p:txBody>
          <a:bodyPr>
            <a:noAutofit/>
          </a:bodyPr>
          <a:lstStyle/>
          <a:p>
            <a:pPr algn="ctr"/>
            <a:r>
              <a:rPr lang="ne-NP" sz="3200" b="1" u="sng" dirty="0">
                <a:cs typeface="Kalimati" panose="00000400000000000000" pitchFamily="2"/>
              </a:rPr>
              <a:t>अदालतमा आउने जग्गा सम्बन्धी विवादका स्वरूपहरू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1A070F49-E32B-CE79-6F66-EB7F919554F7}"/>
              </a:ext>
            </a:extLst>
          </p:cNvPr>
          <p:cNvSpPr>
            <a:spLocks noGrp="1"/>
          </p:cNvSpPr>
          <p:nvPr>
            <p:ph idx="1"/>
          </p:nvPr>
        </p:nvSpPr>
        <p:spPr>
          <a:xfrm>
            <a:off x="719528" y="629588"/>
            <a:ext cx="11332564" cy="6091888"/>
          </a:xfrm>
        </p:spPr>
        <p:txBody>
          <a:bodyPr>
            <a:normAutofit fontScale="92500" lnSpcReduction="20000"/>
          </a:bodyPr>
          <a:lstStyle/>
          <a:p>
            <a:pPr algn="just">
              <a:buFont typeface="Wingdings" panose="05000000000000000000" pitchFamily="2" charset="2"/>
              <a:buChar char="v"/>
            </a:pPr>
            <a:r>
              <a:rPr lang="ne-NP" sz="3200" u="sng" dirty="0">
                <a:solidFill>
                  <a:srgbClr val="FF0000"/>
                </a:solidFill>
                <a:cs typeface="Kalimati" panose="00000400000000000000" pitchFamily="2"/>
              </a:rPr>
              <a:t>जग्गा खिचोला,</a:t>
            </a:r>
          </a:p>
          <a:p>
            <a:pPr algn="just">
              <a:buFont typeface="Wingdings" panose="05000000000000000000" pitchFamily="2" charset="2"/>
              <a:buChar char="v"/>
            </a:pPr>
            <a:r>
              <a:rPr lang="ne-NP" sz="3200" dirty="0">
                <a:cs typeface="Kalimati" panose="00000400000000000000" pitchFamily="2"/>
              </a:rPr>
              <a:t>छुट जग्गा दर्ता,</a:t>
            </a:r>
          </a:p>
          <a:p>
            <a:pPr algn="just">
              <a:buFont typeface="Wingdings" panose="05000000000000000000" pitchFamily="2" charset="2"/>
              <a:buChar char="v"/>
            </a:pPr>
            <a:r>
              <a:rPr lang="ne-NP" sz="3200" dirty="0">
                <a:cs typeface="Kalimati" panose="00000400000000000000" pitchFamily="2"/>
              </a:rPr>
              <a:t>दूषित दर्ता,</a:t>
            </a:r>
          </a:p>
          <a:p>
            <a:pPr algn="just">
              <a:buFont typeface="Wingdings" panose="05000000000000000000" pitchFamily="2" charset="2"/>
              <a:buChar char="v"/>
            </a:pPr>
            <a:r>
              <a:rPr lang="ne-NP" sz="3200" dirty="0">
                <a:cs typeface="Kalimati" panose="00000400000000000000" pitchFamily="2"/>
              </a:rPr>
              <a:t>लिलाम बदर,</a:t>
            </a:r>
          </a:p>
          <a:p>
            <a:pPr algn="just">
              <a:buFont typeface="Wingdings" panose="05000000000000000000" pitchFamily="2" charset="2"/>
              <a:buChar char="v"/>
            </a:pPr>
            <a:r>
              <a:rPr lang="ne-NP" sz="3200" dirty="0">
                <a:cs typeface="Kalimati" panose="00000400000000000000" pitchFamily="2"/>
              </a:rPr>
              <a:t>लिखत बदर,</a:t>
            </a:r>
          </a:p>
          <a:p>
            <a:pPr algn="just">
              <a:buFont typeface="Wingdings" panose="05000000000000000000" pitchFamily="2" charset="2"/>
              <a:buChar char="v"/>
            </a:pPr>
            <a:r>
              <a:rPr lang="ne-NP" sz="3200" dirty="0">
                <a:cs typeface="Kalimati" panose="00000400000000000000" pitchFamily="2"/>
              </a:rPr>
              <a:t>हकसफा,</a:t>
            </a:r>
          </a:p>
          <a:p>
            <a:pPr algn="just">
              <a:buFont typeface="Wingdings" panose="05000000000000000000" pitchFamily="2" charset="2"/>
              <a:buChar char="v"/>
            </a:pPr>
            <a:r>
              <a:rPr lang="ne-NP" sz="3200" dirty="0">
                <a:cs typeface="Kalimati" panose="00000400000000000000" pitchFamily="2"/>
              </a:rPr>
              <a:t>हक-बेहक,</a:t>
            </a:r>
          </a:p>
          <a:p>
            <a:pPr algn="just">
              <a:buFont typeface="Wingdings" panose="05000000000000000000" pitchFamily="2" charset="2"/>
              <a:buChar char="v"/>
            </a:pPr>
            <a:r>
              <a:rPr lang="ne-NP" sz="3200" dirty="0">
                <a:cs typeface="Kalimati" panose="00000400000000000000" pitchFamily="2"/>
              </a:rPr>
              <a:t>सार्वजनिक जग्गा दर्ता,</a:t>
            </a:r>
          </a:p>
          <a:p>
            <a:pPr algn="just">
              <a:buFont typeface="Wingdings" panose="05000000000000000000" pitchFamily="2" charset="2"/>
              <a:buChar char="v"/>
            </a:pPr>
            <a:r>
              <a:rPr lang="ne-NP" sz="3200" dirty="0">
                <a:cs typeface="Kalimati" panose="00000400000000000000" pitchFamily="2"/>
              </a:rPr>
              <a:t>सरकारी जग्गा दर्ता,</a:t>
            </a:r>
          </a:p>
          <a:p>
            <a:pPr algn="just">
              <a:buFont typeface="Wingdings" panose="05000000000000000000" pitchFamily="2" charset="2"/>
              <a:buChar char="v"/>
            </a:pPr>
            <a:r>
              <a:rPr lang="ne-NP" sz="3200" dirty="0">
                <a:cs typeface="Kalimati" panose="00000400000000000000" pitchFamily="2"/>
              </a:rPr>
              <a:t>गुठी,</a:t>
            </a:r>
          </a:p>
          <a:p>
            <a:pPr algn="just">
              <a:buFont typeface="Wingdings" panose="05000000000000000000" pitchFamily="2" charset="2"/>
              <a:buChar char="v"/>
            </a:pPr>
            <a:r>
              <a:rPr lang="ne-NP" sz="3200" dirty="0">
                <a:cs typeface="Kalimati" panose="00000400000000000000" pitchFamily="2"/>
              </a:rPr>
              <a:t>मोही</a:t>
            </a:r>
          </a:p>
          <a:p>
            <a:pPr algn="just">
              <a:buFont typeface="Wingdings" panose="05000000000000000000" pitchFamily="2" charset="2"/>
              <a:buChar char="v"/>
            </a:pPr>
            <a:r>
              <a:rPr lang="ne-NP" sz="3200" dirty="0">
                <a:cs typeface="Kalimati" panose="00000400000000000000" pitchFamily="2"/>
              </a:rPr>
              <a:t>जग्गा पजनीको महलको २क नं. र </a:t>
            </a:r>
            <a:r>
              <a:rPr lang="ne-NP" sz="3200" dirty="0" err="1">
                <a:cs typeface="Kalimati" panose="00000400000000000000" pitchFamily="2"/>
              </a:rPr>
              <a:t>मुदेसंको</a:t>
            </a:r>
            <a:r>
              <a:rPr lang="ne-NP" sz="3200" dirty="0">
                <a:cs typeface="Kalimati" panose="00000400000000000000" pitchFamily="2"/>
              </a:rPr>
              <a:t> दफा २९७ को </a:t>
            </a:r>
            <a:r>
              <a:rPr lang="ne-NP" sz="3200" dirty="0" err="1">
                <a:cs typeface="Kalimati" panose="00000400000000000000" pitchFamily="2"/>
              </a:rPr>
              <a:t>कानूनी</a:t>
            </a:r>
            <a:r>
              <a:rPr lang="ne-NP" sz="3200" dirty="0">
                <a:cs typeface="Kalimati" panose="00000400000000000000" pitchFamily="2"/>
              </a:rPr>
              <a:t> प्रावधानले पनि विवाद </a:t>
            </a:r>
            <a:r>
              <a:rPr lang="ne-NP" sz="3200" dirty="0" err="1">
                <a:cs typeface="Kalimati" panose="00000400000000000000" pitchFamily="2"/>
              </a:rPr>
              <a:t>ह्वात्तै</a:t>
            </a:r>
            <a:r>
              <a:rPr lang="ne-NP" sz="3200" dirty="0">
                <a:cs typeface="Kalimati" panose="00000400000000000000" pitchFamily="2"/>
              </a:rPr>
              <a:t> बढाएको पाइएको छ।</a:t>
            </a:r>
          </a:p>
          <a:p>
            <a:pPr algn="just">
              <a:buFont typeface="Wingdings" panose="05000000000000000000" pitchFamily="2" charset="2"/>
              <a:buChar char="v"/>
            </a:pP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217A3DB5-8A37-0850-6648-DBE727E4C274}"/>
              </a:ext>
            </a:extLst>
          </p:cNvPr>
          <p:cNvSpPr>
            <a:spLocks noGrp="1"/>
          </p:cNvSpPr>
          <p:nvPr>
            <p:ph type="sldNum" sz="quarter" idx="12"/>
          </p:nvPr>
        </p:nvSpPr>
        <p:spPr/>
        <p:txBody>
          <a:bodyPr/>
          <a:lstStyle/>
          <a:p>
            <a:fld id="{FBEE1443-9B50-414A-932B-DC12F1E761CB}" type="slidenum">
              <a:rPr lang="en-US" sz="2400" smtClean="0"/>
              <a:t>4</a:t>
            </a:fld>
            <a:endParaRPr lang="en-US" sz="2400" dirty="0"/>
          </a:p>
        </p:txBody>
      </p:sp>
    </p:spTree>
    <p:extLst>
      <p:ext uri="{BB962C8B-B14F-4D97-AF65-F5344CB8AC3E}">
        <p14:creationId xmlns:p14="http://schemas.microsoft.com/office/powerpoint/2010/main" val="98345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CE49F-A559-235D-6396-0B88BD0BF468}"/>
              </a:ext>
            </a:extLst>
          </p:cNvPr>
          <p:cNvSpPr>
            <a:spLocks noGrp="1"/>
          </p:cNvSpPr>
          <p:nvPr>
            <p:ph type="title"/>
          </p:nvPr>
        </p:nvSpPr>
        <p:spPr>
          <a:xfrm>
            <a:off x="128337" y="136526"/>
            <a:ext cx="11935325" cy="544512"/>
          </a:xfrm>
        </p:spPr>
        <p:txBody>
          <a:bodyPr>
            <a:normAutofit/>
          </a:bodyPr>
          <a:lstStyle/>
          <a:p>
            <a:pPr algn="ctr"/>
            <a:r>
              <a:rPr lang="ne-NP" sz="3200" b="1" u="sng" dirty="0">
                <a:cs typeface="Kalimati" panose="00000400000000000000" pitchFamily="2"/>
              </a:rPr>
              <a:t>खिचोला के हो ?</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CA0CE407-2F2D-6AAD-B45C-FD1D2E028D26}"/>
              </a:ext>
            </a:extLst>
          </p:cNvPr>
          <p:cNvSpPr>
            <a:spLocks noGrp="1"/>
          </p:cNvSpPr>
          <p:nvPr>
            <p:ph idx="1"/>
          </p:nvPr>
        </p:nvSpPr>
        <p:spPr>
          <a:xfrm>
            <a:off x="192505" y="866274"/>
            <a:ext cx="11871158" cy="5855200"/>
          </a:xfrm>
        </p:spPr>
        <p:txBody>
          <a:bodyPr>
            <a:normAutofit/>
          </a:bodyPr>
          <a:lstStyle/>
          <a:p>
            <a:pPr algn="just">
              <a:buFont typeface="Wingdings" panose="05000000000000000000" pitchFamily="2" charset="2"/>
              <a:buChar char="v"/>
            </a:pPr>
            <a:r>
              <a:rPr lang="ne-NP" sz="3200" dirty="0">
                <a:cs typeface="Kalimati" panose="00000400000000000000" pitchFamily="2"/>
              </a:rPr>
              <a:t>अन्य व्यक्तिको सम्पत्ति च्यापी, मिची आफ्नो </a:t>
            </a:r>
            <a:r>
              <a:rPr lang="ne-NP" sz="3200" dirty="0">
                <a:solidFill>
                  <a:srgbClr val="C00000"/>
                </a:solidFill>
                <a:cs typeface="Kalimati" panose="00000400000000000000" pitchFamily="2"/>
              </a:rPr>
              <a:t>कब्जा</a:t>
            </a:r>
            <a:r>
              <a:rPr lang="ne-NP" sz="3200" dirty="0">
                <a:cs typeface="Kalimati" panose="00000400000000000000" pitchFamily="2"/>
              </a:rPr>
              <a:t>मा </a:t>
            </a:r>
            <a:r>
              <a:rPr lang="ne-NP" sz="3200" dirty="0" err="1">
                <a:cs typeface="Kalimati" panose="00000400000000000000" pitchFamily="2"/>
              </a:rPr>
              <a:t>लिएमा</a:t>
            </a:r>
            <a:r>
              <a:rPr lang="ne-NP" sz="3200" dirty="0">
                <a:cs typeface="Kalimati" panose="00000400000000000000" pitchFamily="2"/>
              </a:rPr>
              <a:t> खिचोला वा अतिक्रमण गरेको मानिने (</a:t>
            </a:r>
            <a:r>
              <a:rPr lang="ne-NP" sz="3200" dirty="0" err="1">
                <a:cs typeface="Kalimati" panose="00000400000000000000" pitchFamily="2"/>
              </a:rPr>
              <a:t>मुदेसं</a:t>
            </a:r>
            <a:r>
              <a:rPr lang="ne-NP" sz="3200" dirty="0">
                <a:cs typeface="Kalimati" panose="00000400000000000000" pitchFamily="2"/>
              </a:rPr>
              <a:t> दफा २७७)।</a:t>
            </a:r>
          </a:p>
          <a:p>
            <a:pPr algn="just">
              <a:buFont typeface="Wingdings" panose="05000000000000000000" pitchFamily="2" charset="2"/>
              <a:buChar char="v"/>
            </a:pPr>
            <a:r>
              <a:rPr lang="ne-NP" sz="3200" dirty="0">
                <a:cs typeface="Kalimati" panose="00000400000000000000" pitchFamily="2"/>
              </a:rPr>
              <a:t>आफ्नो हक नभएको जग्गामा कसैले बाधा विरोध सिर्जना गरी भोग चलन गर्न नदिई विवाद उत्पन्न गराउने कार्य (</a:t>
            </a:r>
            <a:r>
              <a:rPr lang="ne-NP" sz="3200" dirty="0" err="1">
                <a:cs typeface="Kalimati" panose="00000400000000000000" pitchFamily="2"/>
              </a:rPr>
              <a:t>ने</a:t>
            </a:r>
            <a:r>
              <a:rPr lang="ne-NP" sz="3200" dirty="0">
                <a:cs typeface="Kalimati" panose="00000400000000000000" pitchFamily="2"/>
              </a:rPr>
              <a:t>. का. प. २०७२ नि. नं. ७५९२)।</a:t>
            </a:r>
          </a:p>
          <a:p>
            <a:pPr algn="just">
              <a:buFont typeface="Wingdings" panose="05000000000000000000" pitchFamily="2" charset="2"/>
              <a:buChar char="v"/>
            </a:pPr>
            <a:r>
              <a:rPr lang="ne-NP" sz="3200" dirty="0">
                <a:cs typeface="Kalimati" panose="00000400000000000000" pitchFamily="2"/>
              </a:rPr>
              <a:t>अर्काको हकको जग्गामा हकै नपुग्ने व्यक्तिले जोत्ने, बाली </a:t>
            </a:r>
            <a:r>
              <a:rPr lang="ne-NP" sz="3200" dirty="0" err="1">
                <a:cs typeface="Kalimati" panose="00000400000000000000" pitchFamily="2"/>
              </a:rPr>
              <a:t>लिने</a:t>
            </a:r>
            <a:r>
              <a:rPr lang="ne-NP" sz="3200" dirty="0">
                <a:cs typeface="Kalimati" panose="00000400000000000000" pitchFamily="2"/>
              </a:rPr>
              <a:t> जस्ता कार्यलाई खिचोला मान्नु पर्ने (</a:t>
            </a:r>
            <a:r>
              <a:rPr lang="ne-NP" sz="3200" dirty="0" err="1">
                <a:cs typeface="Kalimati" panose="00000400000000000000" pitchFamily="2"/>
              </a:rPr>
              <a:t>ने</a:t>
            </a:r>
            <a:r>
              <a:rPr lang="ne-NP" sz="3200" dirty="0">
                <a:cs typeface="Kalimati" panose="00000400000000000000" pitchFamily="2"/>
              </a:rPr>
              <a:t>. का. प. २०४७ नि. नं. ४११३)।</a:t>
            </a:r>
          </a:p>
          <a:p>
            <a:pPr algn="just">
              <a:buFont typeface="Wingdings" panose="05000000000000000000" pitchFamily="2" charset="2"/>
              <a:buChar char="v"/>
            </a:pPr>
            <a:r>
              <a:rPr lang="ne-NP" sz="3200" dirty="0">
                <a:cs typeface="Kalimati" panose="00000400000000000000" pitchFamily="2"/>
              </a:rPr>
              <a:t>खिचोला गर्नु भनेको </a:t>
            </a:r>
            <a:r>
              <a:rPr lang="ne-NP" sz="3200" dirty="0" err="1">
                <a:cs typeface="Kalimati" panose="00000400000000000000" pitchFamily="2"/>
              </a:rPr>
              <a:t>एकाको</a:t>
            </a:r>
            <a:r>
              <a:rPr lang="ne-NP" sz="3200" dirty="0">
                <a:cs typeface="Kalimati" panose="00000400000000000000" pitchFamily="2"/>
              </a:rPr>
              <a:t> हकको सम्पत्तिमा अरू कसैले </a:t>
            </a:r>
            <a:r>
              <a:rPr lang="ne-NP" sz="3200" dirty="0" err="1">
                <a:cs typeface="Kalimati" panose="00000400000000000000" pitchFamily="2"/>
              </a:rPr>
              <a:t>कानून</a:t>
            </a:r>
            <a:r>
              <a:rPr lang="ne-NP" sz="3200" dirty="0">
                <a:cs typeface="Kalimati" panose="00000400000000000000" pitchFamily="2"/>
              </a:rPr>
              <a:t> </a:t>
            </a:r>
            <a:r>
              <a:rPr lang="ne-NP" sz="3200" dirty="0" err="1">
                <a:cs typeface="Kalimati" panose="00000400000000000000" pitchFamily="2"/>
              </a:rPr>
              <a:t>विपरित</a:t>
            </a:r>
            <a:r>
              <a:rPr lang="ne-NP" sz="3200" dirty="0">
                <a:cs typeface="Kalimati" panose="00000400000000000000" pitchFamily="2"/>
              </a:rPr>
              <a:t> भोग गर्नु हो (स. अ. बुलेटिन २०७५, पूर्णाङ्क ६२९ पृष्ठ३४)।</a:t>
            </a:r>
          </a:p>
        </p:txBody>
      </p:sp>
      <p:sp>
        <p:nvSpPr>
          <p:cNvPr id="4" name="Slide Number Placeholder 3">
            <a:extLst>
              <a:ext uri="{FF2B5EF4-FFF2-40B4-BE49-F238E27FC236}">
                <a16:creationId xmlns:a16="http://schemas.microsoft.com/office/drawing/2014/main" id="{4EFC2448-DCC5-ECE4-6884-011147AD431C}"/>
              </a:ext>
            </a:extLst>
          </p:cNvPr>
          <p:cNvSpPr>
            <a:spLocks noGrp="1"/>
          </p:cNvSpPr>
          <p:nvPr>
            <p:ph type="sldNum" sz="quarter" idx="12"/>
          </p:nvPr>
        </p:nvSpPr>
        <p:spPr/>
        <p:txBody>
          <a:bodyPr/>
          <a:lstStyle/>
          <a:p>
            <a:fld id="{FBEE1443-9B50-414A-932B-DC12F1E761CB}" type="slidenum">
              <a:rPr lang="en-US" smtClean="0"/>
              <a:t>5</a:t>
            </a:fld>
            <a:endParaRPr lang="en-US"/>
          </a:p>
        </p:txBody>
      </p:sp>
    </p:spTree>
    <p:extLst>
      <p:ext uri="{BB962C8B-B14F-4D97-AF65-F5344CB8AC3E}">
        <p14:creationId xmlns:p14="http://schemas.microsoft.com/office/powerpoint/2010/main" val="24888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9AADF-99D9-CC3A-41B8-DD028C4EFAA2}"/>
              </a:ext>
            </a:extLst>
          </p:cNvPr>
          <p:cNvSpPr>
            <a:spLocks noGrp="1"/>
          </p:cNvSpPr>
          <p:nvPr>
            <p:ph type="title"/>
          </p:nvPr>
        </p:nvSpPr>
        <p:spPr>
          <a:xfrm>
            <a:off x="838200" y="136526"/>
            <a:ext cx="10515600" cy="890170"/>
          </a:xfrm>
        </p:spPr>
        <p:txBody>
          <a:bodyPr>
            <a:normAutofit/>
          </a:bodyPr>
          <a:lstStyle/>
          <a:p>
            <a:pPr algn="ctr"/>
            <a:r>
              <a:rPr lang="ne-NP" sz="3200" b="1" u="sng" dirty="0">
                <a:cs typeface="Kalimati" panose="00000400000000000000" pitchFamily="2"/>
              </a:rPr>
              <a:t>जग्गाको स्वामित्व यकिन गर्ने </a:t>
            </a:r>
            <a:r>
              <a:rPr lang="ne-NP" sz="3200" b="1" u="sng" dirty="0" err="1">
                <a:cs typeface="Kalimati" panose="00000400000000000000" pitchFamily="2"/>
              </a:rPr>
              <a:t>कानूनी</a:t>
            </a:r>
            <a:r>
              <a:rPr lang="ne-NP" sz="3200" b="1" u="sng" dirty="0">
                <a:cs typeface="Kalimati" panose="00000400000000000000" pitchFamily="2"/>
              </a:rPr>
              <a:t> आधार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D96D194D-FE6A-1DBF-B1DE-F0496BCE74BC}"/>
              </a:ext>
            </a:extLst>
          </p:cNvPr>
          <p:cNvSpPr>
            <a:spLocks noGrp="1"/>
          </p:cNvSpPr>
          <p:nvPr>
            <p:ph idx="1"/>
          </p:nvPr>
        </p:nvSpPr>
        <p:spPr>
          <a:xfrm>
            <a:off x="144379" y="930442"/>
            <a:ext cx="11903242" cy="5807074"/>
          </a:xfrm>
        </p:spPr>
        <p:txBody>
          <a:bodyPr>
            <a:normAutofit/>
          </a:bodyPr>
          <a:lstStyle/>
          <a:p>
            <a:pPr algn="just">
              <a:buFont typeface="Wingdings" panose="05000000000000000000" pitchFamily="2" charset="2"/>
              <a:buChar char="v"/>
            </a:pPr>
            <a:r>
              <a:rPr lang="ne-NP" sz="3200" b="1" u="sng" dirty="0">
                <a:cs typeface="Kalimati" panose="00000400000000000000" pitchFamily="2"/>
              </a:rPr>
              <a:t>दर्ता स्रेस्ता-</a:t>
            </a:r>
            <a:r>
              <a:rPr lang="ne-NP" sz="3200" b="1" dirty="0">
                <a:cs typeface="Kalimati" panose="00000400000000000000" pitchFamily="2"/>
              </a:rPr>
              <a:t> </a:t>
            </a:r>
            <a:r>
              <a:rPr lang="ne-NP" sz="3200" dirty="0">
                <a:cs typeface="Kalimati" panose="00000400000000000000" pitchFamily="2"/>
              </a:rPr>
              <a:t>जग्गा नाप जाँच भएर तयार भएको नक्सा र क्षेत्रीय किताबको आधारमा जग्गावाला, मोही, जग्गाको कित्ता, क्षेत्रफल जस्ता कुराहरू स्पष्ट देखिने गरी तयार गरिएको जग्गा धनी स्रेस्ता (</a:t>
            </a:r>
            <a:r>
              <a:rPr lang="ne-NP" sz="3200" dirty="0" err="1">
                <a:cs typeface="Kalimati" panose="00000400000000000000" pitchFamily="2"/>
              </a:rPr>
              <a:t>जनाजाँ</a:t>
            </a:r>
            <a:r>
              <a:rPr lang="ne-NP" sz="3200" dirty="0">
                <a:cs typeface="Kalimati" panose="00000400000000000000" pitchFamily="2"/>
              </a:rPr>
              <a:t> ऐनको दफा २ (क२),</a:t>
            </a:r>
          </a:p>
          <a:p>
            <a:pPr algn="just">
              <a:buFont typeface="Wingdings" panose="05000000000000000000" pitchFamily="2" charset="2"/>
              <a:buChar char="v"/>
            </a:pPr>
            <a:r>
              <a:rPr lang="ne-NP" sz="3200" b="1" u="sng" dirty="0">
                <a:cs typeface="Kalimati" panose="00000400000000000000" pitchFamily="2"/>
              </a:rPr>
              <a:t>तिरो तिरेको रसिद- </a:t>
            </a:r>
            <a:r>
              <a:rPr lang="ne-NP" sz="3200" dirty="0">
                <a:cs typeface="Kalimati" panose="00000400000000000000" pitchFamily="2"/>
              </a:rPr>
              <a:t>जग्गावालाले नेपाल सरकारलाई तिर्नु पर्ने मालपोत तथा अरू कुनै तिरो तिरेको रसिद (मालपोत ऐनको दफा २ (ख),</a:t>
            </a:r>
          </a:p>
          <a:p>
            <a:pPr algn="just">
              <a:buFont typeface="Wingdings" panose="05000000000000000000" pitchFamily="2" charset="2"/>
              <a:buChar char="§"/>
            </a:pPr>
            <a:r>
              <a:rPr lang="ne-NP" sz="3200" dirty="0">
                <a:cs typeface="Kalimati" panose="00000400000000000000" pitchFamily="2"/>
              </a:rPr>
              <a:t>सोही ऐनको दफा १६</a:t>
            </a:r>
            <a:r>
              <a:rPr lang="en-US" sz="3200" dirty="0">
                <a:cs typeface="Kalimati" panose="00000400000000000000" pitchFamily="2"/>
              </a:rPr>
              <a:t>-</a:t>
            </a:r>
            <a:r>
              <a:rPr lang="ne-NP" sz="3200" dirty="0">
                <a:cs typeface="Kalimati" panose="00000400000000000000" pitchFamily="2"/>
              </a:rPr>
              <a:t> मालपोत नतिरेको अवस्थामा जग्गा लिलाम हुन सक्ने।</a:t>
            </a:r>
          </a:p>
          <a:p>
            <a:pPr algn="just">
              <a:buFont typeface="Wingdings" panose="05000000000000000000" pitchFamily="2" charset="2"/>
              <a:buChar char="v"/>
            </a:pPr>
            <a:r>
              <a:rPr lang="ne-NP" sz="3200" b="1" u="sng" dirty="0">
                <a:cs typeface="Kalimati" panose="00000400000000000000" pitchFamily="2"/>
              </a:rPr>
              <a:t>जग्गावाला-</a:t>
            </a:r>
            <a:r>
              <a:rPr lang="ne-NP" sz="3200" dirty="0">
                <a:cs typeface="Kalimati" panose="00000400000000000000" pitchFamily="2"/>
              </a:rPr>
              <a:t> </a:t>
            </a:r>
            <a:r>
              <a:rPr lang="ne-NP" sz="3200" dirty="0">
                <a:solidFill>
                  <a:srgbClr val="FF0000"/>
                </a:solidFill>
                <a:cs typeface="Kalimati" panose="00000400000000000000" pitchFamily="2"/>
              </a:rPr>
              <a:t>प्रचलित नेपाल </a:t>
            </a:r>
            <a:r>
              <a:rPr lang="ne-NP" sz="3200" dirty="0" err="1">
                <a:solidFill>
                  <a:srgbClr val="FF0000"/>
                </a:solidFill>
                <a:cs typeface="Kalimati" panose="00000400000000000000" pitchFamily="2"/>
              </a:rPr>
              <a:t>कानून</a:t>
            </a:r>
            <a:r>
              <a:rPr lang="ne-NP" sz="3200" dirty="0">
                <a:solidFill>
                  <a:srgbClr val="FF0000"/>
                </a:solidFill>
                <a:cs typeface="Kalimati" panose="00000400000000000000" pitchFamily="2"/>
              </a:rPr>
              <a:t> बमोजिम </a:t>
            </a:r>
            <a:r>
              <a:rPr lang="ne-NP" sz="3200" b="1" dirty="0">
                <a:solidFill>
                  <a:srgbClr val="FF0000"/>
                </a:solidFill>
                <a:cs typeface="Kalimati" panose="00000400000000000000" pitchFamily="2"/>
              </a:rPr>
              <a:t>जग्गामा जग्गा धनी हक हुने व्यक्ति</a:t>
            </a:r>
            <a:r>
              <a:rPr lang="ne-NP" sz="3200" dirty="0">
                <a:cs typeface="Kalimati" panose="00000400000000000000" pitchFamily="2"/>
              </a:rPr>
              <a:t> (</a:t>
            </a:r>
            <a:r>
              <a:rPr lang="ne-NP" sz="3600" b="1" dirty="0">
                <a:solidFill>
                  <a:srgbClr val="FF0000"/>
                </a:solidFill>
                <a:cs typeface="Kalimati" panose="00000400000000000000" pitchFamily="2"/>
              </a:rPr>
              <a:t>?</a:t>
            </a:r>
            <a:r>
              <a:rPr lang="ne-NP" sz="3200" dirty="0">
                <a:cs typeface="Kalimati" panose="00000400000000000000" pitchFamily="2"/>
              </a:rPr>
              <a:t>)  (</a:t>
            </a:r>
            <a:r>
              <a:rPr lang="ne-NP" sz="3200" dirty="0" err="1">
                <a:cs typeface="Kalimati" panose="00000400000000000000" pitchFamily="2"/>
              </a:rPr>
              <a:t>जनाजाँ</a:t>
            </a:r>
            <a:r>
              <a:rPr lang="ne-NP" sz="3200" dirty="0">
                <a:cs typeface="Kalimati" panose="00000400000000000000" pitchFamily="2"/>
              </a:rPr>
              <a:t> ऐनको दफा २ (ख)।</a:t>
            </a:r>
          </a:p>
          <a:p>
            <a:pPr algn="just">
              <a:buFont typeface="Wingdings" panose="05000000000000000000" pitchFamily="2" charset="2"/>
              <a:buChar char="v"/>
            </a:pPr>
            <a:endParaRPr lang="ne-NP" sz="3200" dirty="0">
              <a:cs typeface="Kalimati" panose="00000400000000000000" pitchFamily="2"/>
            </a:endParaRPr>
          </a:p>
        </p:txBody>
      </p:sp>
      <p:sp>
        <p:nvSpPr>
          <p:cNvPr id="4" name="Slide Number Placeholder 3">
            <a:extLst>
              <a:ext uri="{FF2B5EF4-FFF2-40B4-BE49-F238E27FC236}">
                <a16:creationId xmlns:a16="http://schemas.microsoft.com/office/drawing/2014/main" id="{25641C3E-1554-3756-842A-96BB5093E3DF}"/>
              </a:ext>
            </a:extLst>
          </p:cNvPr>
          <p:cNvSpPr>
            <a:spLocks noGrp="1"/>
          </p:cNvSpPr>
          <p:nvPr>
            <p:ph type="sldNum" sz="quarter" idx="12"/>
          </p:nvPr>
        </p:nvSpPr>
        <p:spPr/>
        <p:txBody>
          <a:bodyPr/>
          <a:lstStyle/>
          <a:p>
            <a:fld id="{FBEE1443-9B50-414A-932B-DC12F1E761CB}" type="slidenum">
              <a:rPr lang="en-US" sz="2400" smtClean="0"/>
              <a:t>6</a:t>
            </a:fld>
            <a:endParaRPr lang="en-US" sz="2400" dirty="0"/>
          </a:p>
        </p:txBody>
      </p:sp>
    </p:spTree>
    <p:extLst>
      <p:ext uri="{BB962C8B-B14F-4D97-AF65-F5344CB8AC3E}">
        <p14:creationId xmlns:p14="http://schemas.microsoft.com/office/powerpoint/2010/main" val="304300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6340-8EF4-AFE4-0944-A34C6F0B9CB4}"/>
              </a:ext>
            </a:extLst>
          </p:cNvPr>
          <p:cNvSpPr>
            <a:spLocks noGrp="1"/>
          </p:cNvSpPr>
          <p:nvPr>
            <p:ph type="title"/>
          </p:nvPr>
        </p:nvSpPr>
        <p:spPr>
          <a:xfrm>
            <a:off x="838200" y="136525"/>
            <a:ext cx="10515600" cy="568013"/>
          </a:xfrm>
        </p:spPr>
        <p:txBody>
          <a:bodyPr>
            <a:normAutofit/>
          </a:bodyPr>
          <a:lstStyle/>
          <a:p>
            <a:pPr algn="ctr"/>
            <a:r>
              <a:rPr lang="ne-NP" sz="3200" b="1" u="sng" dirty="0">
                <a:cs typeface="Kalimati" panose="00000400000000000000" pitchFamily="2"/>
              </a:rPr>
              <a:t>जग्गामा जग्गाधनी</a:t>
            </a:r>
            <a:r>
              <a:rPr lang="en-US" sz="3200" b="1" u="sng" dirty="0">
                <a:cs typeface="Kalimati" panose="00000400000000000000" pitchFamily="2"/>
              </a:rPr>
              <a:t>  </a:t>
            </a:r>
            <a:r>
              <a:rPr lang="ne-NP" sz="3200" b="1" u="sng" dirty="0">
                <a:cs typeface="Kalimati" panose="00000400000000000000" pitchFamily="2"/>
              </a:rPr>
              <a:t>हक हुने व्यक्ति र हक प्राप्तिका आधार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B4458951-BE0D-B42B-CE2A-60DC20DE7FC4}"/>
              </a:ext>
            </a:extLst>
          </p:cNvPr>
          <p:cNvSpPr>
            <a:spLocks noGrp="1"/>
          </p:cNvSpPr>
          <p:nvPr>
            <p:ph idx="1"/>
          </p:nvPr>
        </p:nvSpPr>
        <p:spPr>
          <a:xfrm>
            <a:off x="288757" y="704539"/>
            <a:ext cx="11758863" cy="6016936"/>
          </a:xfrm>
        </p:spPr>
        <p:txBody>
          <a:bodyPr>
            <a:normAutofit/>
          </a:bodyPr>
          <a:lstStyle/>
          <a:p>
            <a:pPr marL="514350" indent="-514350" algn="just">
              <a:buFont typeface="+mj-lt"/>
              <a:buAutoNum type="arabicPeriod"/>
            </a:pPr>
            <a:r>
              <a:rPr lang="ne-NP" sz="3200" dirty="0">
                <a:cs typeface="Kalimati" panose="00000400000000000000" pitchFamily="2"/>
              </a:rPr>
              <a:t>राजीनामाको लिखत गरी बिक्री गरेर (</a:t>
            </a:r>
            <a:r>
              <a:rPr lang="ne-NP" sz="3200" dirty="0" err="1">
                <a:cs typeface="Kalimati" panose="00000400000000000000" pitchFamily="2"/>
              </a:rPr>
              <a:t>मुदेसं</a:t>
            </a:r>
            <a:r>
              <a:rPr lang="ne-NP" sz="3200" dirty="0">
                <a:cs typeface="Kalimati" panose="00000400000000000000" pitchFamily="2"/>
              </a:rPr>
              <a:t> दफा ४१३),</a:t>
            </a:r>
          </a:p>
          <a:p>
            <a:pPr marL="514350" indent="-514350" algn="just">
              <a:buFont typeface="+mj-lt"/>
              <a:buAutoNum type="arabicPeriod"/>
            </a:pPr>
            <a:r>
              <a:rPr lang="ne-NP" sz="3200" dirty="0">
                <a:cs typeface="Kalimati" panose="00000400000000000000" pitchFamily="2"/>
              </a:rPr>
              <a:t>हालै देखीको बकसपत्रको लिखत गरेर ( ,,   ,,),</a:t>
            </a:r>
          </a:p>
          <a:p>
            <a:pPr marL="514350" indent="-514350" algn="just">
              <a:buFont typeface="+mj-lt"/>
              <a:buAutoNum type="arabicPeriod"/>
            </a:pPr>
            <a:r>
              <a:rPr lang="ne-NP" sz="3200" dirty="0">
                <a:cs typeface="Kalimati" panose="00000400000000000000" pitchFamily="2"/>
              </a:rPr>
              <a:t>शेष पछिको बकसपत्रको लिखत गरेर (,,   ,,),</a:t>
            </a:r>
          </a:p>
          <a:p>
            <a:pPr marL="514350" indent="-514350" algn="just">
              <a:buFont typeface="+mj-lt"/>
              <a:buAutoNum type="arabicPeriod"/>
            </a:pPr>
            <a:r>
              <a:rPr lang="ne-NP" sz="3200" dirty="0">
                <a:cs typeface="Kalimati" panose="00000400000000000000" pitchFamily="2"/>
              </a:rPr>
              <a:t>सट्टापट्टाको लिखत गरेर            (,,  दफा ४३१),</a:t>
            </a:r>
          </a:p>
          <a:p>
            <a:pPr marL="514350" indent="-514350" algn="just">
              <a:buFont typeface="+mj-lt"/>
              <a:buAutoNum type="arabicPeriod"/>
            </a:pPr>
            <a:r>
              <a:rPr lang="ne-NP" sz="3200" dirty="0">
                <a:cs typeface="Kalimati" panose="00000400000000000000" pitchFamily="2"/>
              </a:rPr>
              <a:t>अंशबण्डाको लिखत वा फैसलाबाट (</a:t>
            </a:r>
            <a:r>
              <a:rPr lang="ne-NP" sz="3200" dirty="0" err="1">
                <a:cs typeface="Kalimati" panose="00000400000000000000" pitchFamily="2"/>
              </a:rPr>
              <a:t>मुदेकासं</a:t>
            </a:r>
            <a:r>
              <a:rPr lang="ne-NP" sz="3200" dirty="0">
                <a:cs typeface="Kalimati" panose="00000400000000000000" pitchFamily="2"/>
              </a:rPr>
              <a:t> दफा २४१),</a:t>
            </a:r>
          </a:p>
          <a:p>
            <a:pPr marL="514350" indent="-514350" algn="just">
              <a:buFont typeface="+mj-lt"/>
              <a:buAutoNum type="arabicPeriod"/>
            </a:pPr>
            <a:r>
              <a:rPr lang="ne-NP" sz="3200" dirty="0">
                <a:cs typeface="Kalimati" panose="00000400000000000000" pitchFamily="2"/>
              </a:rPr>
              <a:t>बिगो भराउने कार्यबाट           ( ,,  ,, दफा २४२),</a:t>
            </a:r>
          </a:p>
          <a:p>
            <a:pPr marL="514350" indent="-514350" algn="just">
              <a:buFont typeface="+mj-lt"/>
              <a:buAutoNum type="arabicPeriod"/>
            </a:pPr>
            <a:r>
              <a:rPr lang="ne-NP" sz="3200" dirty="0">
                <a:cs typeface="Kalimati" panose="00000400000000000000" pitchFamily="2"/>
              </a:rPr>
              <a:t>तिर्नु बुझाउनु पर्ने सरकारी बिगो बापत धरौट वा जेथा जमानत दिएको सम्पत्ति लिलाम बिक्री गरेर (</a:t>
            </a:r>
            <a:r>
              <a:rPr lang="ne-NP" sz="3200" dirty="0" err="1">
                <a:cs typeface="Kalimati" panose="00000400000000000000" pitchFamily="2"/>
              </a:rPr>
              <a:t>मुफौकासंको</a:t>
            </a:r>
            <a:r>
              <a:rPr lang="ne-NP" sz="3200" dirty="0">
                <a:cs typeface="Kalimati" panose="00000400000000000000" pitchFamily="2"/>
              </a:rPr>
              <a:t> दफा १६६),</a:t>
            </a:r>
          </a:p>
          <a:p>
            <a:pPr marL="514350" indent="-514350" algn="just">
              <a:buFont typeface="+mj-lt"/>
              <a:buAutoNum type="arabicPeriod"/>
            </a:pPr>
            <a:r>
              <a:rPr lang="ne-NP" sz="3200" dirty="0">
                <a:cs typeface="Kalimati" panose="00000400000000000000" pitchFamily="2"/>
              </a:rPr>
              <a:t>प्रतिकूल </a:t>
            </a:r>
            <a:r>
              <a:rPr lang="ne-NP" sz="3200" dirty="0" err="1">
                <a:cs typeface="Kalimati" panose="00000400000000000000" pitchFamily="2"/>
              </a:rPr>
              <a:t>भोगाधिकारबाट</a:t>
            </a:r>
            <a:r>
              <a:rPr lang="ne-NP" sz="3200" dirty="0">
                <a:cs typeface="Kalimati" panose="00000400000000000000" pitchFamily="2"/>
              </a:rPr>
              <a:t> (राम </a:t>
            </a:r>
            <a:r>
              <a:rPr lang="ne-NP" sz="3200" dirty="0" err="1">
                <a:cs typeface="Kalimati" panose="00000400000000000000" pitchFamily="2"/>
              </a:rPr>
              <a:t>दुलारी</a:t>
            </a:r>
            <a:r>
              <a:rPr lang="ne-NP" sz="3200" dirty="0">
                <a:cs typeface="Kalimati" panose="00000400000000000000" pitchFamily="2"/>
              </a:rPr>
              <a:t> शरण वैष्णव वि. शालिग्राम शरण वैष्णव, मुद्दा- निर्णय दर्ता बदर गरी दर्ता गरी पाउँ, </a:t>
            </a:r>
            <a:r>
              <a:rPr lang="ne-NP" sz="3200" dirty="0" err="1">
                <a:cs typeface="Kalimati" panose="00000400000000000000" pitchFamily="2"/>
              </a:rPr>
              <a:t>ने</a:t>
            </a:r>
            <a:r>
              <a:rPr lang="ne-NP" sz="3200" dirty="0">
                <a:cs typeface="Kalimati" panose="00000400000000000000" pitchFamily="2"/>
              </a:rPr>
              <a:t>. का. प. २०६५ नि. नं. ७९३९ पृष्ठ २७१ ।</a:t>
            </a:r>
            <a:endParaRPr lang="en-US" sz="3200" dirty="0">
              <a:cs typeface="Kalimati" panose="00000400000000000000" pitchFamily="2"/>
            </a:endParaRPr>
          </a:p>
          <a:p>
            <a:pPr marL="514350" indent="-514350" algn="just">
              <a:buFont typeface="+mj-lt"/>
              <a:buAutoNum type="arabicPeriod"/>
            </a:pPr>
            <a:endParaRPr lang="ne-NP" sz="3200" dirty="0">
              <a:cs typeface="Kalimati" panose="00000400000000000000" pitchFamily="2"/>
            </a:endParaRPr>
          </a:p>
          <a:p>
            <a:pPr marL="0" indent="0" algn="just">
              <a:buNone/>
            </a:pPr>
            <a:endParaRPr lang="ne-NP" sz="3200" dirty="0">
              <a:cs typeface="Kalimati" panose="00000400000000000000" pitchFamily="2"/>
            </a:endParaRPr>
          </a:p>
          <a:p>
            <a:pPr marL="514350" indent="-514350" algn="just">
              <a:buFont typeface="+mj-lt"/>
              <a:buAutoNum type="arabicPeriod"/>
            </a:pPr>
            <a:endParaRPr lang="ne-NP" sz="3200" dirty="0">
              <a:cs typeface="Kalimati" panose="00000400000000000000" pitchFamily="2"/>
            </a:endParaRPr>
          </a:p>
          <a:p>
            <a:pPr marL="514350" indent="-514350" algn="just">
              <a:buFont typeface="+mj-lt"/>
              <a:buAutoNum type="arabicPeriod"/>
            </a:pPr>
            <a:endParaRPr lang="en-US" sz="3200"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47A85F72-8A8D-FAEC-3D69-34CE3A9942FB}"/>
              </a:ext>
            </a:extLst>
          </p:cNvPr>
          <p:cNvSpPr>
            <a:spLocks noGrp="1"/>
          </p:cNvSpPr>
          <p:nvPr>
            <p:ph type="sldNum" sz="quarter" idx="12"/>
          </p:nvPr>
        </p:nvSpPr>
        <p:spPr/>
        <p:txBody>
          <a:bodyPr/>
          <a:lstStyle/>
          <a:p>
            <a:fld id="{FBEE1443-9B50-414A-932B-DC12F1E761CB}" type="slidenum">
              <a:rPr lang="en-US" sz="2400" smtClean="0"/>
              <a:t>7</a:t>
            </a:fld>
            <a:endParaRPr lang="en-US" sz="2400" dirty="0"/>
          </a:p>
        </p:txBody>
      </p:sp>
    </p:spTree>
    <p:extLst>
      <p:ext uri="{BB962C8B-B14F-4D97-AF65-F5344CB8AC3E}">
        <p14:creationId xmlns:p14="http://schemas.microsoft.com/office/powerpoint/2010/main" val="202394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B141-27B9-8417-1B40-427A6969BC46}"/>
              </a:ext>
            </a:extLst>
          </p:cNvPr>
          <p:cNvSpPr>
            <a:spLocks noGrp="1"/>
          </p:cNvSpPr>
          <p:nvPr>
            <p:ph type="title"/>
          </p:nvPr>
        </p:nvSpPr>
        <p:spPr>
          <a:xfrm>
            <a:off x="838200" y="136526"/>
            <a:ext cx="10515600" cy="344738"/>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EAC17F46-DF51-C726-E953-26394ABAD3DF}"/>
              </a:ext>
            </a:extLst>
          </p:cNvPr>
          <p:cNvSpPr>
            <a:spLocks noGrp="1"/>
          </p:cNvSpPr>
          <p:nvPr>
            <p:ph idx="1"/>
          </p:nvPr>
        </p:nvSpPr>
        <p:spPr>
          <a:xfrm>
            <a:off x="128337" y="481264"/>
            <a:ext cx="11919284" cy="6240210"/>
          </a:xfrm>
        </p:spPr>
        <p:txBody>
          <a:bodyPr>
            <a:normAutofit/>
          </a:bodyPr>
          <a:lstStyle/>
          <a:p>
            <a:pPr marL="0" indent="0" algn="just">
              <a:buNone/>
            </a:pPr>
            <a:endParaRPr lang="en-US" sz="3200" dirty="0">
              <a:cs typeface="Kalimati" panose="00000400000000000000" pitchFamily="2"/>
            </a:endParaRPr>
          </a:p>
          <a:p>
            <a:pPr marL="0" indent="0" algn="just">
              <a:buNone/>
            </a:pPr>
            <a:r>
              <a:rPr lang="en-US" sz="3200" dirty="0">
                <a:cs typeface="Kalimati" panose="00000400000000000000" pitchFamily="2"/>
              </a:rPr>
              <a:t>8. </a:t>
            </a:r>
            <a:r>
              <a:rPr lang="ne-NP" sz="3200" dirty="0">
                <a:cs typeface="Kalimati" panose="00000400000000000000" pitchFamily="2"/>
              </a:rPr>
              <a:t>   </a:t>
            </a:r>
            <a:r>
              <a:rPr lang="en-US" sz="3200" dirty="0">
                <a:cs typeface="Kalimati" panose="00000400000000000000" pitchFamily="2"/>
              </a:rPr>
              <a:t>BAFIA </a:t>
            </a:r>
            <a:r>
              <a:rPr lang="ne-NP" sz="3200" dirty="0">
                <a:cs typeface="Kalimati" panose="00000400000000000000" pitchFamily="2"/>
              </a:rPr>
              <a:t>ऐन, २०६३ को दफा ५७,</a:t>
            </a:r>
            <a:r>
              <a:rPr lang="en-US" sz="3200" dirty="0">
                <a:cs typeface="Kalimati" panose="00000400000000000000" pitchFamily="2"/>
              </a:rPr>
              <a:t> NBA,</a:t>
            </a:r>
            <a:endParaRPr lang="ne-NP" sz="3200" dirty="0">
              <a:cs typeface="Kalimati" panose="00000400000000000000" pitchFamily="2"/>
            </a:endParaRPr>
          </a:p>
          <a:p>
            <a:pPr marL="0" indent="0" algn="just">
              <a:buNone/>
            </a:pPr>
            <a:r>
              <a:rPr lang="en-US" sz="3200" dirty="0">
                <a:cs typeface="Kalimati" panose="00000400000000000000" pitchFamily="2"/>
              </a:rPr>
              <a:t>9. </a:t>
            </a:r>
            <a:r>
              <a:rPr lang="ne-NP" sz="3200" dirty="0">
                <a:cs typeface="Kalimati" panose="00000400000000000000" pitchFamily="2"/>
              </a:rPr>
              <a:t> लागू औषध ऐन, भ्रष्टाचार निवारण ऐन र </a:t>
            </a:r>
            <a:r>
              <a:rPr lang="ne-NP" sz="3200" dirty="0" err="1">
                <a:cs typeface="Kalimati" panose="00000400000000000000" pitchFamily="2"/>
              </a:rPr>
              <a:t>अदुअआ</a:t>
            </a:r>
            <a:r>
              <a:rPr lang="ne-NP" sz="3200" dirty="0">
                <a:cs typeface="Kalimati" panose="00000400000000000000" pitchFamily="2"/>
              </a:rPr>
              <a:t> ऐनको क्रमशः  	दफा </a:t>
            </a:r>
            <a:r>
              <a:rPr lang="en-US" sz="3200" dirty="0">
                <a:cs typeface="Kalimati" panose="00000400000000000000" pitchFamily="2"/>
              </a:rPr>
              <a:t>  </a:t>
            </a:r>
            <a:r>
              <a:rPr lang="ne-NP" sz="3200" dirty="0">
                <a:cs typeface="Kalimati" panose="00000400000000000000" pitchFamily="2"/>
              </a:rPr>
              <a:t>१८क, ४७ र २९ख बमोजिम सम्पत्ति जफत भएर,</a:t>
            </a:r>
            <a:endParaRPr lang="en-US" sz="3200" dirty="0">
              <a:cs typeface="Kalimati" panose="00000400000000000000" pitchFamily="2"/>
            </a:endParaRPr>
          </a:p>
          <a:p>
            <a:pPr marL="514350" indent="-514350" algn="just">
              <a:buAutoNum type="arabicPeriod" startAt="10"/>
            </a:pPr>
            <a:r>
              <a:rPr lang="ne-NP" sz="3200" dirty="0">
                <a:cs typeface="Kalimati" panose="00000400000000000000" pitchFamily="2"/>
              </a:rPr>
              <a:t>  ........ आदि।</a:t>
            </a:r>
            <a:endParaRPr lang="en-US" sz="3200" dirty="0">
              <a:cs typeface="Kalimati" panose="00000400000000000000" pitchFamily="2"/>
            </a:endParaRPr>
          </a:p>
          <a:p>
            <a:pPr algn="just">
              <a:buFont typeface="Wingdings" panose="05000000000000000000" pitchFamily="2" charset="2"/>
              <a:buChar char="v"/>
            </a:pPr>
            <a:endParaRPr lang="ne-NP" sz="3200" dirty="0">
              <a:cs typeface="Kalimati" pitchFamily="2"/>
            </a:endParaRPr>
          </a:p>
          <a:p>
            <a:pPr marL="0" indent="0">
              <a:buNone/>
            </a:pPr>
            <a:endParaRPr lang="en-US" sz="3200" dirty="0"/>
          </a:p>
        </p:txBody>
      </p:sp>
      <p:sp>
        <p:nvSpPr>
          <p:cNvPr id="4" name="Slide Number Placeholder 3">
            <a:extLst>
              <a:ext uri="{FF2B5EF4-FFF2-40B4-BE49-F238E27FC236}">
                <a16:creationId xmlns:a16="http://schemas.microsoft.com/office/drawing/2014/main" id="{B34FC3C8-F8E0-F861-419E-3FCA9B868170}"/>
              </a:ext>
            </a:extLst>
          </p:cNvPr>
          <p:cNvSpPr>
            <a:spLocks noGrp="1"/>
          </p:cNvSpPr>
          <p:nvPr>
            <p:ph type="sldNum" sz="quarter" idx="12"/>
          </p:nvPr>
        </p:nvSpPr>
        <p:spPr/>
        <p:txBody>
          <a:bodyPr/>
          <a:lstStyle/>
          <a:p>
            <a:fld id="{FBEE1443-9B50-414A-932B-DC12F1E761CB}" type="slidenum">
              <a:rPr lang="en-US" sz="2400" smtClean="0"/>
              <a:t>8</a:t>
            </a:fld>
            <a:endParaRPr lang="en-US" sz="2400" dirty="0"/>
          </a:p>
        </p:txBody>
      </p:sp>
    </p:spTree>
    <p:extLst>
      <p:ext uri="{BB962C8B-B14F-4D97-AF65-F5344CB8AC3E}">
        <p14:creationId xmlns:p14="http://schemas.microsoft.com/office/powerpoint/2010/main" val="36436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4E78-6C59-52DB-96AC-2B1ED90409A0}"/>
              </a:ext>
            </a:extLst>
          </p:cNvPr>
          <p:cNvSpPr>
            <a:spLocks noGrp="1"/>
          </p:cNvSpPr>
          <p:nvPr>
            <p:ph type="title"/>
          </p:nvPr>
        </p:nvSpPr>
        <p:spPr>
          <a:xfrm>
            <a:off x="838200" y="136525"/>
            <a:ext cx="10515600" cy="713707"/>
          </a:xfrm>
        </p:spPr>
        <p:txBody>
          <a:bodyPr>
            <a:normAutofit/>
          </a:bodyPr>
          <a:lstStyle/>
          <a:p>
            <a:pPr algn="ctr"/>
            <a:r>
              <a:rPr lang="ne-NP" sz="3200" b="1" u="sng" dirty="0">
                <a:cs typeface="Kalimati" panose="00000400000000000000" pitchFamily="2"/>
              </a:rPr>
              <a:t>सर्वोच्च अदालतबाट भएका केही व्याख्या</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E662FA96-F1C0-7CE6-82C7-C3C176DFC581}"/>
              </a:ext>
            </a:extLst>
          </p:cNvPr>
          <p:cNvSpPr>
            <a:spLocks noGrp="1"/>
          </p:cNvSpPr>
          <p:nvPr>
            <p:ph idx="1"/>
          </p:nvPr>
        </p:nvSpPr>
        <p:spPr>
          <a:xfrm>
            <a:off x="112295" y="721895"/>
            <a:ext cx="11935326" cy="5999580"/>
          </a:xfrm>
        </p:spPr>
        <p:txBody>
          <a:bodyPr>
            <a:normAutofit/>
          </a:bodyPr>
          <a:lstStyle/>
          <a:p>
            <a:pPr algn="just">
              <a:buFont typeface="Wingdings" panose="05000000000000000000" pitchFamily="2" charset="2"/>
              <a:buChar char="v"/>
            </a:pPr>
            <a:r>
              <a:rPr lang="ne-NP" sz="3200" dirty="0">
                <a:cs typeface="Kalimati" panose="00000400000000000000" pitchFamily="2"/>
              </a:rPr>
              <a:t>जग्गाको भोग र स्वामित्वको सम्बन्धमा लिखत प्रमाण नै सर्वोत्तम प्रमाण हुने हुँदा सो बाहेकका अन्य प्रमाणले हकको श्रोतको लिखत प्रमाण सरहको स्थान </a:t>
            </a:r>
            <a:r>
              <a:rPr lang="ne-NP" sz="3200" dirty="0" err="1">
                <a:cs typeface="Kalimati" panose="00000400000000000000" pitchFamily="2"/>
              </a:rPr>
              <a:t>लिन</a:t>
            </a:r>
            <a:r>
              <a:rPr lang="ne-NP" sz="3200" dirty="0">
                <a:cs typeface="Kalimati" panose="00000400000000000000" pitchFamily="2"/>
              </a:rPr>
              <a:t> नसक्ने। </a:t>
            </a:r>
          </a:p>
          <a:p>
            <a:pPr marL="0" indent="0" algn="r">
              <a:buNone/>
            </a:pPr>
            <a:r>
              <a:rPr lang="ne-NP" sz="3200" b="1" dirty="0" err="1">
                <a:cs typeface="Kalimati" panose="00000400000000000000" pitchFamily="2"/>
              </a:rPr>
              <a:t>ने</a:t>
            </a:r>
            <a:r>
              <a:rPr lang="ne-NP" sz="3200" b="1" dirty="0">
                <a:cs typeface="Kalimati" panose="00000400000000000000" pitchFamily="2"/>
              </a:rPr>
              <a:t>. का. प. २०६४ नि. नं. ७८८९ पृष्ठ १३३१।</a:t>
            </a:r>
          </a:p>
          <a:p>
            <a:pPr algn="just">
              <a:buFont typeface="Wingdings" panose="05000000000000000000" pitchFamily="2" charset="2"/>
              <a:buChar char="v"/>
            </a:pPr>
            <a:r>
              <a:rPr lang="ne-NP" sz="3200" dirty="0">
                <a:cs typeface="Kalimati" panose="00000400000000000000" pitchFamily="2"/>
              </a:rPr>
              <a:t>जुन पक्षसँग जग्गा धनी प्रमाण पुर्जा हुन्छ र त्यो अन्यथा भएको हुँदैन भने  स्वामित्वको परिचायक त्यही पुर्जा नै हो। </a:t>
            </a:r>
          </a:p>
          <a:p>
            <a:pPr marL="0" indent="0" algn="r">
              <a:buNone/>
            </a:pPr>
            <a:r>
              <a:rPr lang="ne-NP" sz="3200" b="1" dirty="0" err="1">
                <a:cs typeface="Kalimati" panose="00000400000000000000" pitchFamily="2"/>
              </a:rPr>
              <a:t>ने</a:t>
            </a:r>
            <a:r>
              <a:rPr lang="ne-NP" sz="3200" b="1" dirty="0">
                <a:cs typeface="Kalimati" panose="00000400000000000000" pitchFamily="2"/>
              </a:rPr>
              <a:t>. का. प. २०६६ नि. नं. ८०९५ पृष्ठ ४०७।</a:t>
            </a:r>
          </a:p>
          <a:p>
            <a:pPr algn="just">
              <a:buFont typeface="Wingdings" panose="05000000000000000000" pitchFamily="2" charset="2"/>
              <a:buChar char="v"/>
            </a:pPr>
            <a:r>
              <a:rPr lang="ne-NP" sz="3200" dirty="0">
                <a:cs typeface="Kalimati" panose="00000400000000000000" pitchFamily="2"/>
              </a:rPr>
              <a:t>भोग तिरो भई राखेको कुरामा विरोध नभए भोग तिरोबाटै हक पक्का भई सकेको मान्नु पर्ने। </a:t>
            </a:r>
          </a:p>
          <a:p>
            <a:pPr marL="0" indent="0" algn="r">
              <a:buNone/>
            </a:pPr>
            <a:r>
              <a:rPr lang="ne-NP" sz="3200" b="1" dirty="0" err="1">
                <a:cs typeface="Kalimati" panose="00000400000000000000" pitchFamily="2"/>
              </a:rPr>
              <a:t>ने</a:t>
            </a:r>
            <a:r>
              <a:rPr lang="ne-NP" sz="3200" b="1" dirty="0">
                <a:cs typeface="Kalimati" panose="00000400000000000000" pitchFamily="2"/>
              </a:rPr>
              <a:t>. का. प. २०३० नि. नं. ७१८ पृष्ठ १२।</a:t>
            </a:r>
          </a:p>
          <a:p>
            <a:pPr algn="just">
              <a:buFont typeface="Wingdings" panose="05000000000000000000" pitchFamily="2" charset="2"/>
              <a:buChar char="v"/>
            </a:pP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C532FFBC-7DFE-6F1C-1393-C408BA2D3A78}"/>
              </a:ext>
            </a:extLst>
          </p:cNvPr>
          <p:cNvSpPr>
            <a:spLocks noGrp="1"/>
          </p:cNvSpPr>
          <p:nvPr>
            <p:ph type="sldNum" sz="quarter" idx="12"/>
          </p:nvPr>
        </p:nvSpPr>
        <p:spPr/>
        <p:txBody>
          <a:bodyPr/>
          <a:lstStyle/>
          <a:p>
            <a:fld id="{FBEE1443-9B50-414A-932B-DC12F1E761CB}" type="slidenum">
              <a:rPr lang="en-US" sz="2400" smtClean="0"/>
              <a:t>9</a:t>
            </a:fld>
            <a:endParaRPr lang="en-US" sz="2400" dirty="0"/>
          </a:p>
        </p:txBody>
      </p:sp>
    </p:spTree>
    <p:extLst>
      <p:ext uri="{BB962C8B-B14F-4D97-AF65-F5344CB8AC3E}">
        <p14:creationId xmlns:p14="http://schemas.microsoft.com/office/powerpoint/2010/main" val="194790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589712"/>
          </a:xfrm>
        </p:spPr>
        <p:txBody>
          <a:bodyPr>
            <a:noAutofit/>
          </a:bodyPr>
          <a:lstStyle/>
          <a:p>
            <a:pPr algn="ctr"/>
            <a:r>
              <a:rPr lang="ne-NP" sz="3200" b="1" u="sng" dirty="0">
                <a:cs typeface="Kalimati" pitchFamily="2"/>
              </a:rPr>
              <a:t>जग्गाको नाप जाँच के हो ?</a:t>
            </a:r>
            <a:endParaRPr lang="en-US" sz="3200" b="1" u="sng" dirty="0">
              <a:cs typeface="Kalimati" pitchFamily="2"/>
            </a:endParaRPr>
          </a:p>
        </p:txBody>
      </p:sp>
      <p:sp>
        <p:nvSpPr>
          <p:cNvPr id="3" name="Content Placeholder 2"/>
          <p:cNvSpPr>
            <a:spLocks noGrp="1"/>
          </p:cNvSpPr>
          <p:nvPr>
            <p:ph idx="1"/>
          </p:nvPr>
        </p:nvSpPr>
        <p:spPr>
          <a:xfrm>
            <a:off x="160421" y="834188"/>
            <a:ext cx="11871158" cy="5795211"/>
          </a:xfrm>
        </p:spPr>
        <p:txBody>
          <a:bodyPr>
            <a:normAutofit/>
          </a:bodyPr>
          <a:lstStyle/>
          <a:p>
            <a:pPr algn="just">
              <a:buNone/>
            </a:pPr>
            <a:r>
              <a:rPr lang="ne-NP" sz="3200" dirty="0">
                <a:cs typeface="Kalimati" pitchFamily="2"/>
              </a:rPr>
              <a:t>	</a:t>
            </a:r>
            <a:r>
              <a:rPr lang="ne-NP" sz="3200" b="1" dirty="0">
                <a:cs typeface="Kalimati" pitchFamily="2"/>
              </a:rPr>
              <a:t>“नाप जाँच” </a:t>
            </a:r>
            <a:r>
              <a:rPr lang="ne-NP" sz="3200" dirty="0">
                <a:cs typeface="Kalimati" pitchFamily="2"/>
              </a:rPr>
              <a:t>भन्नाले जग्गाको नाप जाँच वा पुनः नाप जाँच गरी जग्गावाला र मोहीसंग सम्बन्धित तथ्याङ्क संकलन गर्ने, जग्गाको नक्सा तयार गर्ने, क्षेत्रफल यकिन गर्ने, किसिम वर्गीकरण गर्ने वा श्रेस्ताको आधारमा क्षेत्रीय किताबमा जग्गा दर्ता गर्ने काम सम्झनु पर्छ र सो शब्दले नापीको लागि हवाई सर्भेक्षण, नियन्त्रण बिन्दु स्थान खडा गर्ने तथा विभिन्न मानमा स्थल रुप नापी गरी नक्सा प्रकाशन गर्ने गराउने कार्यलाई समेत जनाउँछ।</a:t>
            </a:r>
          </a:p>
          <a:p>
            <a:pPr algn="r">
              <a:buNone/>
            </a:pPr>
            <a:r>
              <a:rPr lang="ne-NP" sz="3200" dirty="0">
                <a:cs typeface="Kalimati" pitchFamily="2"/>
              </a:rPr>
              <a:t>  </a:t>
            </a:r>
            <a:r>
              <a:rPr lang="ne-NP" sz="3200" b="1" u="sng" dirty="0">
                <a:cs typeface="Kalimati" pitchFamily="2"/>
              </a:rPr>
              <a:t>-जग्गा नाप जाँच ऐन, २०१९ को दफा २ (क१)</a:t>
            </a:r>
            <a:endParaRPr lang="en-US" sz="3200" b="1" u="sng" dirty="0">
              <a:cs typeface="Kalimati" pitchFamily="2"/>
            </a:endParaRPr>
          </a:p>
          <a:p>
            <a:pPr algn="just">
              <a:buNone/>
            </a:pPr>
            <a:r>
              <a:rPr lang="ne-NP" sz="3200" b="1" dirty="0">
                <a:cs typeface="Kalimati" pitchFamily="2"/>
              </a:rPr>
              <a:t>	</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10</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304800"/>
          </a:xfrm>
        </p:spPr>
        <p:txBody>
          <a:bodyPr>
            <a:noAutofit/>
          </a:bodyPr>
          <a:lstStyle/>
          <a:p>
            <a:pPr algn="ctr"/>
            <a:r>
              <a:rPr lang="ne-NP" sz="3200" b="1" u="sng" dirty="0">
                <a:cs typeface="Kalimati" pitchFamily="2"/>
              </a:rPr>
              <a:t>जग्गाको साँध सिमाना</a:t>
            </a:r>
            <a:endParaRPr lang="en-US" sz="3200" b="1" u="sng" dirty="0">
              <a:cs typeface="Kalimati" pitchFamily="2"/>
            </a:endParaRPr>
          </a:p>
        </p:txBody>
      </p:sp>
      <p:sp>
        <p:nvSpPr>
          <p:cNvPr id="3" name="Content Placeholder 2"/>
          <p:cNvSpPr>
            <a:spLocks noGrp="1"/>
          </p:cNvSpPr>
          <p:nvPr>
            <p:ph idx="1"/>
          </p:nvPr>
        </p:nvSpPr>
        <p:spPr>
          <a:xfrm>
            <a:off x="160421" y="609600"/>
            <a:ext cx="11839074" cy="6019800"/>
          </a:xfrm>
        </p:spPr>
        <p:txBody>
          <a:bodyPr>
            <a:normAutofit/>
          </a:bodyPr>
          <a:lstStyle/>
          <a:p>
            <a:pPr algn="just">
              <a:buNone/>
            </a:pPr>
            <a:r>
              <a:rPr lang="ne-NP" sz="3200" dirty="0">
                <a:cs typeface="Kalimati" pitchFamily="2"/>
              </a:rPr>
              <a:t>	दुई भिन्ना भिन्नै कित्ता जग्गाहरु, जसको स्वामित्व पनि भिन्ना भिन्नै व्यक्तिमा रहेको हुन्छ; सो छुट्याउने रेखालाई साँध सिमाना भनिन्छ। कुनै कित्ता जग्गामा पृथ्वीको केन्द्र बिन्दूबाट अनन्त आकाशसम्म यो फैलिएको </a:t>
            </a:r>
            <a:r>
              <a:rPr lang="ne-NP" sz="3200" dirty="0" err="1">
                <a:cs typeface="Kalimati" pitchFamily="2"/>
              </a:rPr>
              <a:t>हुन्छ।जग्गा</a:t>
            </a:r>
            <a:r>
              <a:rPr lang="ne-NP" sz="3200" dirty="0">
                <a:cs typeface="Kalimati" pitchFamily="2"/>
              </a:rPr>
              <a:t> नाप जाँच ऐन, २०१९ को दफा (क३) मा साँध भन्नाले दुई भिन्न टुक्रा जग्गाको विचको सिमाना निर्धारण गर्ने सिमा रेखा सम्झनु पर्छ भनी साँधको परिभाषा गरिएको छ।</a:t>
            </a:r>
          </a:p>
          <a:p>
            <a:pPr algn="just">
              <a:buNone/>
            </a:pPr>
            <a:endParaRPr lang="ne-NP" sz="3200" b="1" u="sng" dirty="0">
              <a:cs typeface="Kalimati" pitchFamily="2"/>
            </a:endParaRPr>
          </a:p>
          <a:p>
            <a:pPr algn="just">
              <a:buNone/>
            </a:pPr>
            <a:r>
              <a:rPr lang="ne-NP" sz="3200" b="1" u="sng" dirty="0">
                <a:cs typeface="Kalimati" pitchFamily="2"/>
              </a:rPr>
              <a:t>जग्गाका सिमानाका प्रकारहरु</a:t>
            </a:r>
          </a:p>
          <a:p>
            <a:pPr algn="just">
              <a:buFont typeface="Wingdings" pitchFamily="2" charset="2"/>
              <a:buChar char="v"/>
            </a:pPr>
            <a:r>
              <a:rPr lang="en-US" sz="3200" b="1" u="sng" dirty="0">
                <a:cs typeface="Kalimati" pitchFamily="2"/>
              </a:rPr>
              <a:t>Guaranteed Boundaries</a:t>
            </a:r>
            <a:r>
              <a:rPr lang="en-US" sz="3200" b="1" dirty="0">
                <a:cs typeface="Kalimati" pitchFamily="2"/>
              </a:rPr>
              <a:t>:- </a:t>
            </a:r>
            <a:r>
              <a:rPr lang="ne-NP" sz="3200" dirty="0">
                <a:cs typeface="Kalimati" pitchFamily="2"/>
              </a:rPr>
              <a:t>जग्गा नाप जाँचको समयमा जग्गाधनी, साँध सँधियार र जनप्रतिनिधिहरूको उपस्थितिमा सर्जमीन गरेर निर्धारण गरिएको सिमा हो यो र यसकै आधारमा जग्गा नाप जाँच गरिएको हुन्छ।</a:t>
            </a:r>
          </a:p>
          <a:p>
            <a:pPr algn="just">
              <a:buNone/>
            </a:pP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11</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ECDCD-0827-6B55-4226-747B54FA5E10}"/>
              </a:ext>
            </a:extLst>
          </p:cNvPr>
          <p:cNvSpPr>
            <a:spLocks noGrp="1"/>
          </p:cNvSpPr>
          <p:nvPr>
            <p:ph type="title"/>
          </p:nvPr>
        </p:nvSpPr>
        <p:spPr>
          <a:xfrm>
            <a:off x="838200" y="136525"/>
            <a:ext cx="10515600" cy="544513"/>
          </a:xfrm>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23BA1145-6E90-3BF6-FAB2-719C1BD65F0F}"/>
              </a:ext>
            </a:extLst>
          </p:cNvPr>
          <p:cNvSpPr>
            <a:spLocks noGrp="1"/>
          </p:cNvSpPr>
          <p:nvPr>
            <p:ph idx="1"/>
          </p:nvPr>
        </p:nvSpPr>
        <p:spPr>
          <a:xfrm>
            <a:off x="112295" y="681038"/>
            <a:ext cx="11855116" cy="6040437"/>
          </a:xfrm>
        </p:spPr>
        <p:txBody>
          <a:bodyPr>
            <a:normAutofit/>
          </a:bodyPr>
          <a:lstStyle/>
          <a:p>
            <a:pPr algn="just">
              <a:buFont typeface="Wingdings" pitchFamily="2" charset="2"/>
              <a:buChar char="v"/>
            </a:pPr>
            <a:r>
              <a:rPr lang="en-US" sz="3200" b="1" u="sng" dirty="0">
                <a:cs typeface="Kalimati" pitchFamily="2"/>
              </a:rPr>
              <a:t>Fixed Boundaries:-</a:t>
            </a:r>
            <a:r>
              <a:rPr lang="ne-NP" sz="3200" dirty="0">
                <a:cs typeface="Kalimati" pitchFamily="2"/>
              </a:rPr>
              <a:t>जग्गा नाप जाँचको समयमा शुद्धताका साथ </a:t>
            </a:r>
            <a:r>
              <a:rPr lang="ne-NP" sz="3200" dirty="0" err="1">
                <a:cs typeface="Kalimati" pitchFamily="2"/>
              </a:rPr>
              <a:t>छुट्याइएको</a:t>
            </a:r>
            <a:r>
              <a:rPr lang="ne-NP" sz="3200" dirty="0">
                <a:cs typeface="Kalimati" pitchFamily="2"/>
              </a:rPr>
              <a:t> सिमानालाई </a:t>
            </a:r>
            <a:r>
              <a:rPr lang="en-US" sz="3200" dirty="0">
                <a:cs typeface="Kalimati" pitchFamily="2"/>
              </a:rPr>
              <a:t>Fixed Boundaries</a:t>
            </a:r>
            <a:r>
              <a:rPr lang="ne-NP" sz="3200" dirty="0">
                <a:cs typeface="Kalimati" pitchFamily="2"/>
              </a:rPr>
              <a:t> भनिन्छ।</a:t>
            </a:r>
            <a:r>
              <a:rPr lang="en-US" sz="3200" dirty="0">
                <a:cs typeface="Kalimati" pitchFamily="2"/>
              </a:rPr>
              <a:t>Natural features,</a:t>
            </a:r>
            <a:r>
              <a:rPr lang="ne-NP" sz="3200" dirty="0">
                <a:cs typeface="Kalimati" pitchFamily="2"/>
              </a:rPr>
              <a:t> सरकारी तवर बाट</a:t>
            </a:r>
            <a:r>
              <a:rPr lang="en-US" sz="3200" dirty="0">
                <a:cs typeface="Kalimati" pitchFamily="2"/>
              </a:rPr>
              <a:t> </a:t>
            </a:r>
            <a:r>
              <a:rPr lang="ne-NP" sz="3200" dirty="0">
                <a:cs typeface="Kalimati" pitchFamily="2"/>
              </a:rPr>
              <a:t>कुनै चिन्ह लगाइएको भए सो, स्तम्भ </a:t>
            </a:r>
            <a:r>
              <a:rPr lang="en-US" sz="3200" dirty="0">
                <a:cs typeface="Kalimati" pitchFamily="2"/>
              </a:rPr>
              <a:t>(Monuments)</a:t>
            </a:r>
            <a:r>
              <a:rPr lang="ne-NP" sz="3200" dirty="0">
                <a:cs typeface="Kalimati" pitchFamily="2"/>
              </a:rPr>
              <a:t>, व्यक्तिगत रूपमा नाप नक्सा गरी कायम गरिएको कुनै चिन्ह भए सो, पर्खाल, तार बार, र भोग आदिबाट देखिने कुराहरू यस अन्तर्गत पर्छन्।</a:t>
            </a:r>
          </a:p>
          <a:p>
            <a:pPr algn="just">
              <a:buFont typeface="Wingdings" pitchFamily="2" charset="2"/>
              <a:buChar char="v"/>
            </a:pPr>
            <a:r>
              <a:rPr lang="en-US" sz="3200" b="1" u="sng" dirty="0">
                <a:cs typeface="Kalimati" pitchFamily="2"/>
              </a:rPr>
              <a:t>General Boundaries</a:t>
            </a:r>
            <a:r>
              <a:rPr lang="en-US" sz="3200" dirty="0">
                <a:cs typeface="Kalimati" pitchFamily="2"/>
              </a:rPr>
              <a:t>:-</a:t>
            </a:r>
            <a:r>
              <a:rPr lang="ne-NP" sz="3200" dirty="0">
                <a:cs typeface="Kalimati" pitchFamily="2"/>
              </a:rPr>
              <a:t>कुनै जग्गाको सिमाना सरजमिन गर्न नसकिएको अवस्थामा नर्कट घारी, </a:t>
            </a:r>
            <a:r>
              <a:rPr lang="ne-NP" sz="3200" dirty="0" err="1">
                <a:cs typeface="Kalimati" pitchFamily="2"/>
              </a:rPr>
              <a:t>उन्युको</a:t>
            </a:r>
            <a:r>
              <a:rPr lang="ne-NP" sz="3200" dirty="0">
                <a:cs typeface="Kalimati" pitchFamily="2"/>
              </a:rPr>
              <a:t> घारी, बाक्लो झाडी वा ठूलठूला आली, </a:t>
            </a:r>
            <a:r>
              <a:rPr lang="ne-NP" sz="3200" dirty="0" err="1">
                <a:cs typeface="Kalimati" pitchFamily="2"/>
              </a:rPr>
              <a:t>कान्ला</a:t>
            </a:r>
            <a:r>
              <a:rPr lang="ne-NP" sz="3200" dirty="0">
                <a:cs typeface="Kalimati" pitchFamily="2"/>
              </a:rPr>
              <a:t> वा कुनै स्थायी चिन्ह लगाई </a:t>
            </a:r>
            <a:r>
              <a:rPr lang="ne-NP" sz="3200" dirty="0" err="1">
                <a:cs typeface="Kalimati" pitchFamily="2"/>
              </a:rPr>
              <a:t>छुट्याइएको</a:t>
            </a:r>
            <a:r>
              <a:rPr lang="ne-NP" sz="3200" dirty="0">
                <a:cs typeface="Kalimati" pitchFamily="2"/>
              </a:rPr>
              <a:t> सिमाना हो </a:t>
            </a:r>
            <a:r>
              <a:rPr lang="ne-NP" sz="3200" dirty="0" err="1">
                <a:cs typeface="Kalimati" pitchFamily="2"/>
              </a:rPr>
              <a:t>यो।आली</a:t>
            </a:r>
            <a:r>
              <a:rPr lang="ne-NP" sz="3200" dirty="0">
                <a:cs typeface="Kalimati" pitchFamily="2"/>
              </a:rPr>
              <a:t>, कान्लो, बाटो आदिबाट यस प्रकारको  सिमाना छुट्टाइएको हुन्छ।</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8E08C326-0F01-AF88-1DAC-E8AA9B06889C}"/>
              </a:ext>
            </a:extLst>
          </p:cNvPr>
          <p:cNvSpPr>
            <a:spLocks noGrp="1"/>
          </p:cNvSpPr>
          <p:nvPr>
            <p:ph type="sldNum" sz="quarter" idx="12"/>
          </p:nvPr>
        </p:nvSpPr>
        <p:spPr/>
        <p:txBody>
          <a:bodyPr/>
          <a:lstStyle/>
          <a:p>
            <a:fld id="{FBEE1443-9B50-414A-932B-DC12F1E761CB}" type="slidenum">
              <a:rPr lang="en-US" sz="2400" smtClean="0"/>
              <a:t>12</a:t>
            </a:fld>
            <a:endParaRPr lang="en-US" sz="2400" dirty="0"/>
          </a:p>
        </p:txBody>
      </p:sp>
    </p:spTree>
    <p:extLst>
      <p:ext uri="{BB962C8B-B14F-4D97-AF65-F5344CB8AC3E}">
        <p14:creationId xmlns:p14="http://schemas.microsoft.com/office/powerpoint/2010/main" val="35004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8763000" cy="487362"/>
          </a:xfrm>
        </p:spPr>
        <p:txBody>
          <a:bodyPr>
            <a:noAutofit/>
          </a:bodyPr>
          <a:lstStyle/>
          <a:p>
            <a:pPr algn="ctr"/>
            <a:r>
              <a:rPr lang="ne-NP" sz="3200" b="1" dirty="0">
                <a:cs typeface="Kalimati" pitchFamily="2"/>
              </a:rPr>
              <a:t> </a:t>
            </a:r>
            <a:r>
              <a:rPr lang="ne-NP" sz="3200" b="1" u="sng" dirty="0">
                <a:cs typeface="Kalimati" pitchFamily="2"/>
              </a:rPr>
              <a:t>जग्गा खिचोला मुद्दामा भेटिने विवादका स्वरुपहरु</a:t>
            </a:r>
            <a:endParaRPr lang="en-US" sz="3200" b="1" u="sng" dirty="0">
              <a:cs typeface="Kalimati" pitchFamily="2"/>
            </a:endParaRPr>
          </a:p>
        </p:txBody>
      </p:sp>
      <p:sp>
        <p:nvSpPr>
          <p:cNvPr id="3" name="Content Placeholder 2"/>
          <p:cNvSpPr>
            <a:spLocks noGrp="1"/>
          </p:cNvSpPr>
          <p:nvPr>
            <p:ph idx="1"/>
          </p:nvPr>
        </p:nvSpPr>
        <p:spPr>
          <a:xfrm>
            <a:off x="176463" y="838200"/>
            <a:ext cx="11855116" cy="5791200"/>
          </a:xfrm>
        </p:spPr>
        <p:txBody>
          <a:bodyPr>
            <a:normAutofit/>
          </a:bodyPr>
          <a:lstStyle/>
          <a:p>
            <a:pPr algn="just">
              <a:buNone/>
            </a:pPr>
            <a:r>
              <a:rPr lang="ne-NP" sz="3200" b="1" dirty="0">
                <a:cs typeface="Kalimati" pitchFamily="2"/>
              </a:rPr>
              <a:t>क. </a:t>
            </a:r>
            <a:r>
              <a:rPr lang="ne-NP" sz="3200" b="1" u="sng" dirty="0">
                <a:cs typeface="Kalimati" pitchFamily="2"/>
              </a:rPr>
              <a:t>जग्गाको क्षेत्रफल सम्बन्धी विवाद</a:t>
            </a:r>
          </a:p>
          <a:p>
            <a:pPr algn="just">
              <a:buFont typeface="Wingdings" pitchFamily="2" charset="2"/>
              <a:buChar char="v"/>
            </a:pPr>
            <a:r>
              <a:rPr lang="ne-NP" sz="3200" dirty="0">
                <a:cs typeface="Kalimati" pitchFamily="2"/>
              </a:rPr>
              <a:t>पुरानो पद्धतिमा जग्गाको क्षेत्रफल कायम गर्दा निश्चित नापबाट नभई तत्कालिन प्रचलन अनुसार हले, पाटे, कोदाले, कुटे जस्ता प्रकृतिबाट जग्गा भोग चलन गरिएकाले बलिया गोरुले जोत्दा, बलियाले कोदाले खन्दा धेरै क्षेत्रफल कायम भएको छ।</a:t>
            </a:r>
          </a:p>
          <a:p>
            <a:pPr algn="just">
              <a:buFont typeface="Wingdings" pitchFamily="2" charset="2"/>
              <a:buChar char="v"/>
            </a:pPr>
            <a:r>
              <a:rPr lang="ne-NP" sz="3200" dirty="0">
                <a:cs typeface="Kalimati" pitchFamily="2"/>
              </a:rPr>
              <a:t>बिजनका आधारमा क्षेत्रफल कायम गरिएकाले जग्गाको क्षेत्रफल घटी बढी हुने गरेको छ।</a:t>
            </a:r>
          </a:p>
          <a:p>
            <a:pPr algn="just">
              <a:buFont typeface="Wingdings" pitchFamily="2" charset="2"/>
              <a:buChar char="v"/>
            </a:pPr>
            <a:r>
              <a:rPr lang="ne-NP" sz="3200" dirty="0">
                <a:cs typeface="Kalimati" pitchFamily="2"/>
              </a:rPr>
              <a:t>२०२१ सालमा भएको सर्भे नाप जाँचबाट तयार भएको फिल्डबुक र श्रेस्तामा सबै जग्गाको यकिन क्षेत्रफल कायम हुन सकेको छैन, कतिपय जग्गामा </a:t>
            </a:r>
            <a:r>
              <a:rPr lang="ne-NP" sz="3200" b="1" dirty="0" err="1">
                <a:solidFill>
                  <a:srgbClr val="FF0000"/>
                </a:solidFill>
                <a:cs typeface="Kalimati" pitchFamily="2"/>
              </a:rPr>
              <a:t>नरबढी</a:t>
            </a:r>
            <a:r>
              <a:rPr lang="ne-NP" sz="3200" b="1" dirty="0">
                <a:solidFill>
                  <a:srgbClr val="FF0000"/>
                </a:solidFill>
                <a:cs typeface="Kalimati" pitchFamily="2"/>
              </a:rPr>
              <a:t> </a:t>
            </a:r>
            <a:r>
              <a:rPr lang="ne-NP" sz="3200" dirty="0">
                <a:cs typeface="Kalimati" pitchFamily="2"/>
              </a:rPr>
              <a:t>वा </a:t>
            </a:r>
            <a:r>
              <a:rPr lang="ne-NP" sz="3200" b="1" dirty="0" err="1">
                <a:solidFill>
                  <a:srgbClr val="FF0000"/>
                </a:solidFill>
                <a:cs typeface="Kalimati" pitchFamily="2"/>
              </a:rPr>
              <a:t>नरघटी</a:t>
            </a:r>
            <a:r>
              <a:rPr lang="ne-NP" sz="3200" b="1" dirty="0">
                <a:solidFill>
                  <a:srgbClr val="FF0000"/>
                </a:solidFill>
                <a:cs typeface="Kalimati" pitchFamily="2"/>
              </a:rPr>
              <a:t> </a:t>
            </a:r>
            <a:r>
              <a:rPr lang="ne-NP" sz="3200" dirty="0">
                <a:cs typeface="Kalimati" pitchFamily="2"/>
              </a:rPr>
              <a:t>क्षेत्रफल पाइएको छ।</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13</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AAFF-61CA-C684-6A15-A59922D149FF}"/>
              </a:ext>
            </a:extLst>
          </p:cNvPr>
          <p:cNvSpPr>
            <a:spLocks noGrp="1"/>
          </p:cNvSpPr>
          <p:nvPr>
            <p:ph type="title"/>
          </p:nvPr>
        </p:nvSpPr>
        <p:spPr>
          <a:xfrm>
            <a:off x="838200" y="136525"/>
            <a:ext cx="10515600" cy="544513"/>
          </a:xfrm>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CECB9611-191C-EF3D-D756-FB8432FE0DB6}"/>
              </a:ext>
            </a:extLst>
          </p:cNvPr>
          <p:cNvSpPr>
            <a:spLocks noGrp="1"/>
          </p:cNvSpPr>
          <p:nvPr>
            <p:ph idx="1"/>
          </p:nvPr>
        </p:nvSpPr>
        <p:spPr>
          <a:xfrm>
            <a:off x="176463" y="681038"/>
            <a:ext cx="11758863" cy="6040437"/>
          </a:xfrm>
        </p:spPr>
        <p:txBody>
          <a:bodyPr>
            <a:normAutofit/>
          </a:bodyPr>
          <a:lstStyle/>
          <a:p>
            <a:pPr algn="just">
              <a:buFont typeface="Wingdings" pitchFamily="2" charset="2"/>
              <a:buChar char="v"/>
            </a:pPr>
            <a:r>
              <a:rPr lang="en-US" sz="3200" dirty="0">
                <a:cs typeface="Kalimati" pitchFamily="2"/>
              </a:rPr>
              <a:t>Overlap</a:t>
            </a:r>
            <a:r>
              <a:rPr lang="ne-NP" sz="3200" dirty="0">
                <a:cs typeface="Kalimati" pitchFamily="2"/>
              </a:rPr>
              <a:t> र</a:t>
            </a:r>
            <a:r>
              <a:rPr lang="en-US" sz="3200" dirty="0">
                <a:cs typeface="Kalimati" pitchFamily="2"/>
              </a:rPr>
              <a:t> technical fault</a:t>
            </a:r>
            <a:r>
              <a:rPr lang="ne-NP" sz="3200" dirty="0">
                <a:cs typeface="Kalimati" pitchFamily="2"/>
              </a:rPr>
              <a:t> को कारणले नक्सामा भएका कतिपय जग्गाहरू फिल्डमा फेला पर्दैनन्। नक्सामा त्रुटि, कर्मचारीको त्रुटि तथा लापरवाहका कारणले यस्तो भएको हुन सक्छ।</a:t>
            </a:r>
          </a:p>
          <a:p>
            <a:pPr algn="just">
              <a:buFont typeface="Wingdings" pitchFamily="2" charset="2"/>
              <a:buChar char="v"/>
            </a:pPr>
            <a:r>
              <a:rPr lang="ne-NP" sz="3200" dirty="0">
                <a:cs typeface="Kalimati" pitchFamily="2"/>
              </a:rPr>
              <a:t>नक्साको मान</a:t>
            </a:r>
            <a:r>
              <a:rPr lang="en-US" sz="3200" dirty="0">
                <a:cs typeface="Kalimati" pitchFamily="2"/>
              </a:rPr>
              <a:t> </a:t>
            </a:r>
            <a:r>
              <a:rPr lang="ne-NP" sz="3200" dirty="0">
                <a:cs typeface="Kalimati" pitchFamily="2"/>
              </a:rPr>
              <a:t>नापको कारणले पनि क्षेत्रफलमा विवाद उत्पन्न भएका यदाकदा भेटिन्छन्।</a:t>
            </a:r>
          </a:p>
          <a:p>
            <a:pPr algn="just">
              <a:buFont typeface="Wingdings" pitchFamily="2" charset="2"/>
              <a:buChar char="v"/>
            </a:pPr>
            <a:r>
              <a:rPr lang="ne-NP" sz="3200" dirty="0">
                <a:cs typeface="Kalimati" pitchFamily="2"/>
              </a:rPr>
              <a:t>जग्गाको हदबन्दीबाट बच्ने प्रयासले पनि क्षेत्रफलमा विवाद उत्पन्न भएका छन्।</a:t>
            </a:r>
          </a:p>
          <a:p>
            <a:pPr algn="just">
              <a:buFont typeface="Wingdings" pitchFamily="2" charset="2"/>
              <a:buChar char="v"/>
            </a:pPr>
            <a:r>
              <a:rPr lang="ne-NP" sz="3200" dirty="0">
                <a:cs typeface="Kalimati" pitchFamily="2"/>
              </a:rPr>
              <a:t>ग्रामीण तथा </a:t>
            </a:r>
            <a:r>
              <a:rPr lang="ne-NP" sz="3200" dirty="0" err="1">
                <a:cs typeface="Kalimati" pitchFamily="2"/>
              </a:rPr>
              <a:t>शहरी</a:t>
            </a:r>
            <a:r>
              <a:rPr lang="ne-NP" sz="3200" dirty="0">
                <a:cs typeface="Kalimati" pitchFamily="2"/>
              </a:rPr>
              <a:t> क्षेत्रका जग्गा हक हस्तान्तरण गर्ने लिखत पारित गर्दा फिल्डमा गएर कित्ताकाट नगरिएको कारणले नक्सा र जमिन नमिलेर क्षेत्रफलमा विवाद देखा परेका छन्।</a:t>
            </a:r>
          </a:p>
          <a:p>
            <a:pPr algn="just">
              <a:buFont typeface="Wingdings" pitchFamily="2" charset="2"/>
              <a:buChar char="v"/>
            </a:pPr>
            <a:r>
              <a:rPr lang="ne-NP" sz="3200" dirty="0" err="1">
                <a:cs typeface="Kalimati" pitchFamily="2"/>
              </a:rPr>
              <a:t>बलियाले</a:t>
            </a:r>
            <a:r>
              <a:rPr lang="ne-NP" sz="3200" dirty="0">
                <a:cs typeface="Kalimati" pitchFamily="2"/>
              </a:rPr>
              <a:t> निर्धोलाई हेपेर जग्गा मिच्ने प्रवृत्तिले क्षेत्रफल सम्बन्धी विवाद श्रृजना भएका पाइन्छन्।</a:t>
            </a:r>
            <a:endParaRPr lang="en-US" sz="3200" dirty="0">
              <a:cs typeface="Kalimati" pitchFamily="2"/>
            </a:endParaRPr>
          </a:p>
          <a:p>
            <a:endParaRPr lang="en-US" sz="3200" dirty="0"/>
          </a:p>
        </p:txBody>
      </p:sp>
      <p:sp>
        <p:nvSpPr>
          <p:cNvPr id="4" name="Slide Number Placeholder 3">
            <a:extLst>
              <a:ext uri="{FF2B5EF4-FFF2-40B4-BE49-F238E27FC236}">
                <a16:creationId xmlns:a16="http://schemas.microsoft.com/office/drawing/2014/main" id="{79F5FC23-6231-AB8E-4898-DFA21E22DD18}"/>
              </a:ext>
            </a:extLst>
          </p:cNvPr>
          <p:cNvSpPr>
            <a:spLocks noGrp="1"/>
          </p:cNvSpPr>
          <p:nvPr>
            <p:ph type="sldNum" sz="quarter" idx="12"/>
          </p:nvPr>
        </p:nvSpPr>
        <p:spPr/>
        <p:txBody>
          <a:bodyPr/>
          <a:lstStyle/>
          <a:p>
            <a:fld id="{FBEE1443-9B50-414A-932B-DC12F1E761CB}" type="slidenum">
              <a:rPr lang="en-US" sz="2400" smtClean="0"/>
              <a:t>14</a:t>
            </a:fld>
            <a:endParaRPr lang="en-US" sz="2400" dirty="0"/>
          </a:p>
        </p:txBody>
      </p:sp>
    </p:spTree>
    <p:extLst>
      <p:ext uri="{BB962C8B-B14F-4D97-AF65-F5344CB8AC3E}">
        <p14:creationId xmlns:p14="http://schemas.microsoft.com/office/powerpoint/2010/main" val="124435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228600"/>
          </a:xfrm>
        </p:spPr>
        <p:txBody>
          <a:bodyPr>
            <a:noAutofit/>
          </a:bodyPr>
          <a:lstStyle/>
          <a:p>
            <a:pPr algn="r"/>
            <a:r>
              <a:rPr lang="ne-NP" sz="2400" b="1" dirty="0">
                <a:cs typeface="Kalimati" pitchFamily="2"/>
              </a:rPr>
              <a:t>                      ...क्रमश</a:t>
            </a:r>
            <a:endParaRPr lang="en-US" sz="2400" b="1" dirty="0">
              <a:cs typeface="Kalimati" pitchFamily="2"/>
            </a:endParaRPr>
          </a:p>
        </p:txBody>
      </p:sp>
      <p:sp>
        <p:nvSpPr>
          <p:cNvPr id="3" name="Content Placeholder 2"/>
          <p:cNvSpPr>
            <a:spLocks noGrp="1"/>
          </p:cNvSpPr>
          <p:nvPr>
            <p:ph idx="1"/>
          </p:nvPr>
        </p:nvSpPr>
        <p:spPr>
          <a:xfrm>
            <a:off x="160421" y="457200"/>
            <a:ext cx="11806990" cy="6248400"/>
          </a:xfrm>
        </p:spPr>
        <p:txBody>
          <a:bodyPr>
            <a:normAutofit/>
          </a:bodyPr>
          <a:lstStyle/>
          <a:p>
            <a:pPr algn="just">
              <a:buFont typeface="Wingdings" pitchFamily="2" charset="2"/>
              <a:buChar char="v"/>
            </a:pPr>
            <a:r>
              <a:rPr lang="en-US" sz="3200" dirty="0">
                <a:cs typeface="Kalimati" pitchFamily="2"/>
              </a:rPr>
              <a:t>Land escape </a:t>
            </a:r>
            <a:r>
              <a:rPr lang="ne-NP" sz="3200" dirty="0">
                <a:cs typeface="Kalimati" pitchFamily="2"/>
              </a:rPr>
              <a:t>मा आएको परिवर्तन, बिकास निर्माण पश्चात बाटो, नहर आदि निर्माण गरिंदा कित्ता नापीको नक्सामा यथार्थ विवरण नदेखाईएको कारणले पनि जग्गाको क्षेत्रफलमा विवाद उठ्ने गरेका छन्।</a:t>
            </a:r>
          </a:p>
          <a:p>
            <a:pPr algn="just">
              <a:buFont typeface="Wingdings" pitchFamily="2" charset="2"/>
              <a:buChar char="v"/>
            </a:pPr>
            <a:r>
              <a:rPr lang="ne-NP" sz="3200" dirty="0">
                <a:cs typeface="Kalimati" pitchFamily="2"/>
              </a:rPr>
              <a:t>सरकारी बा सार्बजनिक जग्गा अतिक्रमण गरी आफ्नो श्रेस्ताभित्रको जग्गामा ठूलाठालुले मिसाउनाले पनि विवाद उत्पन्न भएका छन्।</a:t>
            </a:r>
          </a:p>
          <a:p>
            <a:pPr algn="just">
              <a:buFont typeface="Wingdings" pitchFamily="2" charset="2"/>
              <a:buChar char="v"/>
            </a:pPr>
            <a:r>
              <a:rPr lang="ne-NP" sz="3200" dirty="0">
                <a:cs typeface="Kalimati" pitchFamily="2"/>
              </a:rPr>
              <a:t>बाङ्गोटिङ्गो जग्गा आपसी समझदारीबाट नरम करम मिलाई भोग गर्ने, पछि समझदारी नमिलेको कारणले पनि क्षेत्रफल सम्बन्धी मुद्दा आउने गरेका छन्।</a:t>
            </a:r>
          </a:p>
          <a:p>
            <a:pPr algn="just">
              <a:buFont typeface="Wingdings" pitchFamily="2" charset="2"/>
              <a:buChar char="v"/>
            </a:pPr>
            <a:r>
              <a:rPr lang="ne-NP" sz="3200" dirty="0">
                <a:cs typeface="Kalimati" pitchFamily="2"/>
              </a:rPr>
              <a:t>तराईका घना बस्तीको जग्गा नाप जाँच नभएको र नक्सा बनी नसकेको कारणले पनि क्षेत्रफल सम्बन्धी विवाद जन्माएको छ।</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15</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228600"/>
          </a:xfrm>
        </p:spPr>
        <p:txBody>
          <a:bodyPr>
            <a:noAutofit/>
          </a:bodyPr>
          <a:lstStyle/>
          <a:p>
            <a:pPr algn="r"/>
            <a:r>
              <a:rPr lang="ne-NP" sz="2400" b="1" dirty="0">
                <a:cs typeface="Kalimati" pitchFamily="2"/>
              </a:rPr>
              <a:t>                      ...क्रमश</a:t>
            </a:r>
            <a:endParaRPr lang="en-US" sz="2400" b="1" dirty="0">
              <a:cs typeface="Kalimati" pitchFamily="2"/>
            </a:endParaRPr>
          </a:p>
        </p:txBody>
      </p:sp>
      <p:sp>
        <p:nvSpPr>
          <p:cNvPr id="3" name="Content Placeholder 2"/>
          <p:cNvSpPr>
            <a:spLocks noGrp="1"/>
          </p:cNvSpPr>
          <p:nvPr>
            <p:ph idx="1"/>
          </p:nvPr>
        </p:nvSpPr>
        <p:spPr>
          <a:xfrm>
            <a:off x="176463" y="457200"/>
            <a:ext cx="11758863" cy="6248400"/>
          </a:xfrm>
        </p:spPr>
        <p:txBody>
          <a:bodyPr>
            <a:normAutofit/>
          </a:bodyPr>
          <a:lstStyle/>
          <a:p>
            <a:pPr algn="just">
              <a:buFont typeface="Wingdings" pitchFamily="2" charset="2"/>
              <a:buChar char="v"/>
            </a:pPr>
            <a:r>
              <a:rPr lang="ne-NP" sz="3200" dirty="0">
                <a:cs typeface="Kalimati" pitchFamily="2"/>
              </a:rPr>
              <a:t>जग्गा नाप जाँचको समयमा जग्गाधनी स्वयं उपस्थित भई जग्गाको साँध सिमाना छुट्याएर सिमाना चिन्ह लगाई आफ्नो जग्गा छुट्याउनु पर्नेमा सो नगरिएको कारणले पनि क्षेत्रफल सम्बन्धी विवाद देखिने गरेका छन्।</a:t>
            </a:r>
          </a:p>
          <a:p>
            <a:pPr algn="just">
              <a:buFont typeface="Wingdings" pitchFamily="2" charset="2"/>
              <a:buChar char="v"/>
            </a:pPr>
            <a:r>
              <a:rPr lang="ne-NP" sz="3200" dirty="0">
                <a:cs typeface="Kalimati" pitchFamily="2"/>
              </a:rPr>
              <a:t>नापी कार्यालयमा कार्यरत कर्मचारीको लापरवाही र बद्नियतबाट पनि जग्गाको क्षेत्रफल सम्बन्धी विवाद उठेका छन्।</a:t>
            </a:r>
          </a:p>
          <a:p>
            <a:pPr algn="just">
              <a:buFont typeface="Wingdings" pitchFamily="2" charset="2"/>
              <a:buChar char="v"/>
            </a:pPr>
            <a:r>
              <a:rPr lang="ne-NP" sz="3200" dirty="0">
                <a:cs typeface="Kalimati" pitchFamily="2"/>
              </a:rPr>
              <a:t>लेखन्दास, जग्गा दलाल र भूमाफियाको नक्सा उपरको सहज पहुँचको कारणले पनि विवाद श्रृजना भएका छन्।</a:t>
            </a:r>
          </a:p>
          <a:p>
            <a:pPr algn="just">
              <a:buFont typeface="Wingdings" pitchFamily="2" charset="2"/>
              <a:buChar char="v"/>
            </a:pPr>
            <a:r>
              <a:rPr lang="ne-NP" sz="3200" dirty="0">
                <a:cs typeface="Kalimati" pitchFamily="2"/>
              </a:rPr>
              <a:t>नक्साको बारम्बार प्रयोगबाट </a:t>
            </a:r>
            <a:r>
              <a:rPr lang="en-US" sz="3200" dirty="0">
                <a:cs typeface="Kalimati" pitchFamily="2"/>
              </a:rPr>
              <a:t>Wear and tear </a:t>
            </a:r>
            <a:r>
              <a:rPr lang="ne-NP" sz="3200" dirty="0">
                <a:cs typeface="Kalimati" pitchFamily="2"/>
              </a:rPr>
              <a:t>हुन गएको कारणले पनि विवाद उठेका छन्।</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16</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6525"/>
            <a:ext cx="8229600" cy="473075"/>
          </a:xfrm>
        </p:spPr>
        <p:txBody>
          <a:bodyPr>
            <a:noAutofit/>
          </a:bodyPr>
          <a:lstStyle/>
          <a:p>
            <a:pPr algn="ctr"/>
            <a:r>
              <a:rPr lang="ne-NP" sz="3200" b="1" dirty="0">
                <a:cs typeface="Kalimati" pitchFamily="2"/>
              </a:rPr>
              <a:t>ख. </a:t>
            </a:r>
            <a:r>
              <a:rPr lang="ne-NP" sz="3200" b="1" u="sng" dirty="0">
                <a:cs typeface="Kalimati" pitchFamily="2"/>
              </a:rPr>
              <a:t>जग्गाको साँध सिमाना सम्बन्धी विवाद</a:t>
            </a:r>
            <a:endParaRPr lang="en-US" sz="3200" b="1" u="sng" dirty="0">
              <a:cs typeface="Kalimati" pitchFamily="2"/>
            </a:endParaRPr>
          </a:p>
        </p:txBody>
      </p:sp>
      <p:sp>
        <p:nvSpPr>
          <p:cNvPr id="3" name="Content Placeholder 2"/>
          <p:cNvSpPr>
            <a:spLocks noGrp="1"/>
          </p:cNvSpPr>
          <p:nvPr>
            <p:ph idx="1"/>
          </p:nvPr>
        </p:nvSpPr>
        <p:spPr>
          <a:xfrm>
            <a:off x="272715" y="762000"/>
            <a:ext cx="11694695" cy="5943600"/>
          </a:xfrm>
        </p:spPr>
        <p:txBody>
          <a:bodyPr>
            <a:normAutofit/>
          </a:bodyPr>
          <a:lstStyle/>
          <a:p>
            <a:pPr algn="just">
              <a:buFont typeface="Wingdings" pitchFamily="2" charset="2"/>
              <a:buChar char="v"/>
            </a:pPr>
            <a:r>
              <a:rPr lang="ne-NP" sz="3200" dirty="0">
                <a:cs typeface="Kalimati" pitchFamily="2"/>
              </a:rPr>
              <a:t>दुई वा सो भन्दा बढी कित्ता जग्गाको सिमाना बैज्ञानिक नभएको कारणले सिमाना सम्बन्धी विवाद भएका मुद्दाको बाहुल्यता छ।</a:t>
            </a:r>
          </a:p>
          <a:p>
            <a:pPr algn="just">
              <a:buFont typeface="Wingdings" pitchFamily="2" charset="2"/>
              <a:buChar char="v"/>
            </a:pPr>
            <a:r>
              <a:rPr lang="ne-NP" sz="3200" dirty="0">
                <a:cs typeface="Kalimati" pitchFamily="2"/>
              </a:rPr>
              <a:t>मान नापको कारणले पनि सिमानामा विवाद आउन सक्छ, सामान्ययता १</a:t>
            </a:r>
            <a:r>
              <a:rPr lang="en-US" sz="3200" dirty="0">
                <a:cs typeface="Kalimati" pitchFamily="2"/>
              </a:rPr>
              <a:t>:</a:t>
            </a:r>
            <a:r>
              <a:rPr lang="ne-NP" sz="3200" dirty="0">
                <a:cs typeface="Kalimati" pitchFamily="2"/>
              </a:rPr>
              <a:t>५०० मान नापको नक्सामा १२.५ से.मी., १</a:t>
            </a:r>
            <a:r>
              <a:rPr lang="en-US" sz="3200" dirty="0">
                <a:cs typeface="Kalimati" pitchFamily="2"/>
              </a:rPr>
              <a:t>:</a:t>
            </a:r>
            <a:r>
              <a:rPr lang="ne-NP" sz="3200" dirty="0">
                <a:cs typeface="Kalimati" pitchFamily="2"/>
              </a:rPr>
              <a:t>१२५० मान नापको नक्सामा ३१.२५ से.मी. र १</a:t>
            </a:r>
            <a:r>
              <a:rPr lang="en-US" sz="3200" dirty="0">
                <a:cs typeface="Kalimati" pitchFamily="2"/>
              </a:rPr>
              <a:t>:</a:t>
            </a:r>
            <a:r>
              <a:rPr lang="ne-NP" sz="3200" dirty="0">
                <a:cs typeface="Kalimati" pitchFamily="2"/>
              </a:rPr>
              <a:t>२५०० मान नापको नक्सामा ६२.५० से.मी. फरक हुन सक्छ।कर्मचारीको ससाना त्रुटि भएको अवस्थामा यसको दोव्वर पनि हुन सक्ने विज्ञहरु बताउँछन्।</a:t>
            </a:r>
          </a:p>
          <a:p>
            <a:pPr algn="just">
              <a:buFont typeface="Wingdings" pitchFamily="2" charset="2"/>
              <a:buChar char="v"/>
            </a:pPr>
            <a:r>
              <a:rPr lang="ne-NP" sz="3200" dirty="0">
                <a:cs typeface="Kalimati" pitchFamily="2"/>
              </a:rPr>
              <a:t>जग्गाको मालपोत बढी तिर्नु पर्दछ भन्ने आशयले कम मालपोत तिरेर बढी जग्गा भोग गर्ने अभिप्रायले जग्गा नाप जाँच हुँदा कतिपय ठाँउमा आफ्नो जग्गाको छेउछाउका ठूल्ठूला कान्ला, आँठा, झाडी ननपाएको र</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17</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228600"/>
          </a:xfrm>
        </p:spPr>
        <p:txBody>
          <a:bodyPr>
            <a:noAutofit/>
          </a:bodyPr>
          <a:lstStyle/>
          <a:p>
            <a:pPr algn="r"/>
            <a:r>
              <a:rPr lang="ne-NP" sz="2800" b="1" dirty="0">
                <a:cs typeface="Kalimati" pitchFamily="2"/>
              </a:rPr>
              <a:t>                       ...क्रमश</a:t>
            </a:r>
            <a:endParaRPr lang="en-US" sz="2800" b="1" dirty="0">
              <a:cs typeface="Kalimati" pitchFamily="2"/>
            </a:endParaRPr>
          </a:p>
        </p:txBody>
      </p:sp>
      <p:sp>
        <p:nvSpPr>
          <p:cNvPr id="3" name="Content Placeholder 2"/>
          <p:cNvSpPr>
            <a:spLocks noGrp="1"/>
          </p:cNvSpPr>
          <p:nvPr>
            <p:ph idx="1"/>
          </p:nvPr>
        </p:nvSpPr>
        <p:spPr>
          <a:xfrm>
            <a:off x="256673" y="533400"/>
            <a:ext cx="11806989" cy="6019800"/>
          </a:xfrm>
        </p:spPr>
        <p:txBody>
          <a:bodyPr>
            <a:normAutofit/>
          </a:bodyPr>
          <a:lstStyle/>
          <a:p>
            <a:pPr algn="just">
              <a:buNone/>
            </a:pPr>
            <a:r>
              <a:rPr lang="ne-NP" sz="3200" dirty="0">
                <a:cs typeface="Kalimati" pitchFamily="2"/>
              </a:rPr>
              <a:t>	</a:t>
            </a:r>
          </a:p>
          <a:p>
            <a:pPr algn="just">
              <a:buNone/>
            </a:pPr>
            <a:r>
              <a:rPr lang="ne-NP" sz="3200" dirty="0">
                <a:cs typeface="Kalimati" pitchFamily="2"/>
              </a:rPr>
              <a:t>	अहिले जग्गाको मूल्य बढ्न गएको कारणले पनि जग्गाको सिमाना सम्बन्धी विवाद आउने गरेका छन्।</a:t>
            </a:r>
          </a:p>
          <a:p>
            <a:pPr algn="just">
              <a:buFont typeface="Wingdings" pitchFamily="2" charset="2"/>
              <a:buChar char="v"/>
            </a:pPr>
            <a:r>
              <a:rPr lang="ne-NP" sz="3200" dirty="0">
                <a:cs typeface="Kalimati" pitchFamily="2"/>
              </a:rPr>
              <a:t>शहरी क्षेत्रमा नाप नक्सा गर्ने समयमा सिमाना चिन्ह लगाएर बाङ्गोटिङ्गो भाग</a:t>
            </a:r>
            <a:r>
              <a:rPr lang="en-US" sz="3200" dirty="0">
                <a:cs typeface="Kalimati" pitchFamily="2"/>
              </a:rPr>
              <a:t> (Turning Point)</a:t>
            </a:r>
            <a:r>
              <a:rPr lang="ne-NP" sz="3200" dirty="0">
                <a:cs typeface="Kalimati" pitchFamily="2"/>
              </a:rPr>
              <a:t> को नाप लिई </a:t>
            </a:r>
            <a:r>
              <a:rPr lang="en-US" sz="3200" dirty="0">
                <a:cs typeface="Kalimati" pitchFamily="2"/>
              </a:rPr>
              <a:t>Dimension </a:t>
            </a:r>
            <a:r>
              <a:rPr lang="ne-NP" sz="3200" dirty="0">
                <a:cs typeface="Kalimati" pitchFamily="2"/>
              </a:rPr>
              <a:t>सहितको कित्ता नाप नभएको कारणले पनि सिमाना सम्बन्धी विवाद उठ्ने गरेका पाइन्छन्।</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18</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533400"/>
          </a:xfrm>
        </p:spPr>
        <p:txBody>
          <a:bodyPr>
            <a:noAutofit/>
          </a:bodyPr>
          <a:lstStyle/>
          <a:p>
            <a:pPr algn="ctr"/>
            <a:r>
              <a:rPr lang="ne-NP" sz="3200" b="1" dirty="0">
                <a:cs typeface="Kalimati" pitchFamily="2"/>
              </a:rPr>
              <a:t>ग. </a:t>
            </a:r>
            <a:r>
              <a:rPr lang="ne-NP" sz="3200" b="1" u="sng" dirty="0">
                <a:cs typeface="Kalimati" pitchFamily="2"/>
              </a:rPr>
              <a:t>जग्गाको स्वामित्व सम्बन्धी विवाद</a:t>
            </a:r>
            <a:endParaRPr lang="en-US" sz="3200" b="1" u="sng" dirty="0">
              <a:cs typeface="Kalimati" pitchFamily="2"/>
            </a:endParaRPr>
          </a:p>
        </p:txBody>
      </p:sp>
      <p:sp>
        <p:nvSpPr>
          <p:cNvPr id="3" name="Content Placeholder 2"/>
          <p:cNvSpPr>
            <a:spLocks noGrp="1"/>
          </p:cNvSpPr>
          <p:nvPr>
            <p:ph idx="1"/>
          </p:nvPr>
        </p:nvSpPr>
        <p:spPr>
          <a:xfrm>
            <a:off x="160421" y="685800"/>
            <a:ext cx="11903242" cy="6019800"/>
          </a:xfrm>
        </p:spPr>
        <p:txBody>
          <a:bodyPr>
            <a:normAutofit/>
          </a:bodyPr>
          <a:lstStyle/>
          <a:p>
            <a:pPr algn="just">
              <a:buFont typeface="Wingdings" pitchFamily="2" charset="2"/>
              <a:buChar char="v"/>
            </a:pPr>
            <a:r>
              <a:rPr lang="ne-NP" sz="3200" dirty="0">
                <a:cs typeface="Kalimati" pitchFamily="2"/>
              </a:rPr>
              <a:t>२०३४।०९।२७ पूर्व रु. १००।– सम्मको घरसारको लिखत पारित नगरे पनि कानूनी मान्यता पाउने व्यवस्था थियो।</a:t>
            </a:r>
          </a:p>
          <a:p>
            <a:pPr algn="just">
              <a:buFont typeface="Wingdings" pitchFamily="2" charset="2"/>
              <a:buChar char="v"/>
            </a:pPr>
            <a:r>
              <a:rPr lang="ne-NP" sz="3200" dirty="0">
                <a:cs typeface="Kalimati" pitchFamily="2"/>
              </a:rPr>
              <a:t>जिम्मुवाल,</a:t>
            </a:r>
            <a:r>
              <a:rPr lang="en-US" sz="3200" dirty="0">
                <a:cs typeface="Kalimati" pitchFamily="2"/>
              </a:rPr>
              <a:t> </a:t>
            </a:r>
            <a:r>
              <a:rPr lang="ne-NP" sz="3200" dirty="0">
                <a:cs typeface="Kalimati" pitchFamily="2"/>
              </a:rPr>
              <a:t>मुखिया,</a:t>
            </a:r>
            <a:r>
              <a:rPr lang="en-US" sz="3200" dirty="0">
                <a:cs typeface="Kalimati" pitchFamily="2"/>
              </a:rPr>
              <a:t> </a:t>
            </a:r>
            <a:r>
              <a:rPr lang="ne-NP" sz="3200" dirty="0">
                <a:cs typeface="Kalimati" pitchFamily="2"/>
              </a:rPr>
              <a:t>पटवारीको मिलिभगतबाट जग्गाको स्वामित्वमा विवाद आउने गरेका छन्।</a:t>
            </a:r>
          </a:p>
          <a:p>
            <a:pPr algn="just">
              <a:buFont typeface="Wingdings" pitchFamily="2" charset="2"/>
              <a:buChar char="v"/>
            </a:pPr>
            <a:r>
              <a:rPr lang="ne-NP" sz="3200" dirty="0">
                <a:cs typeface="Kalimati" pitchFamily="2"/>
              </a:rPr>
              <a:t>जग्गा पजनीको महलको २क नं. र </a:t>
            </a:r>
            <a:r>
              <a:rPr lang="ne-NP" sz="3200" dirty="0" err="1">
                <a:cs typeface="Kalimati" pitchFamily="2"/>
              </a:rPr>
              <a:t>मुदेसंको</a:t>
            </a:r>
            <a:r>
              <a:rPr lang="ne-NP" sz="3200" dirty="0">
                <a:cs typeface="Kalimati" pitchFamily="2"/>
              </a:rPr>
              <a:t> दफा २९७ को कानूनी प्रावधानले पनि विवाद ह्वात्तै बढाएको पाईएको छ।</a:t>
            </a:r>
          </a:p>
          <a:p>
            <a:pPr algn="just">
              <a:buFont typeface="Wingdings" pitchFamily="2" charset="2"/>
              <a:buChar char="v"/>
            </a:pPr>
            <a:r>
              <a:rPr lang="ne-NP" sz="3200" dirty="0">
                <a:cs typeface="Kalimati" pitchFamily="2"/>
              </a:rPr>
              <a:t>समय-समयमा गठन भएका सुकुम्बासी समाधान आयोगबाट जग्गा वितरण हुँदा गरिएका त्रुटिको कारणले पनि विवाद उठेका छन्।</a:t>
            </a:r>
          </a:p>
          <a:p>
            <a:pPr algn="just">
              <a:buFont typeface="Wingdings" pitchFamily="2" charset="2"/>
              <a:buChar char="v"/>
            </a:pPr>
            <a:r>
              <a:rPr lang="ne-NP" sz="3200" dirty="0">
                <a:cs typeface="Kalimati" pitchFamily="2"/>
              </a:rPr>
              <a:t>राष्ट्रिय निकुञ्ज, संरक्षण क्षेत्र र आरक्ष तोक्दा वा विस्तार गर्दा सो क्षेत्रका जग्गाधनीलाई अन्य ठाउँमा सारी नेपाल ...</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19</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381000"/>
          </a:xfrm>
        </p:spPr>
        <p:txBody>
          <a:bodyPr>
            <a:noAutofit/>
          </a:bodyPr>
          <a:lstStyle/>
          <a:p>
            <a:pPr algn="r"/>
            <a:r>
              <a:rPr lang="ne-NP" sz="2800" b="1" dirty="0">
                <a:cs typeface="Kalimati" pitchFamily="2"/>
              </a:rPr>
              <a:t>                       ...क्रमश</a:t>
            </a:r>
            <a:endParaRPr lang="en-US" sz="2800" b="1" dirty="0">
              <a:cs typeface="Kalimati" pitchFamily="2"/>
            </a:endParaRPr>
          </a:p>
        </p:txBody>
      </p:sp>
      <p:sp>
        <p:nvSpPr>
          <p:cNvPr id="3" name="Content Placeholder 2"/>
          <p:cNvSpPr>
            <a:spLocks noGrp="1"/>
          </p:cNvSpPr>
          <p:nvPr>
            <p:ph idx="1"/>
          </p:nvPr>
        </p:nvSpPr>
        <p:spPr>
          <a:xfrm>
            <a:off x="160421" y="533400"/>
            <a:ext cx="11726779" cy="6096000"/>
          </a:xfrm>
        </p:spPr>
        <p:txBody>
          <a:bodyPr>
            <a:normAutofit/>
          </a:bodyPr>
          <a:lstStyle/>
          <a:p>
            <a:pPr algn="just">
              <a:buNone/>
            </a:pPr>
            <a:r>
              <a:rPr lang="ne-NP" sz="3200" dirty="0">
                <a:cs typeface="Kalimati" pitchFamily="2"/>
              </a:rPr>
              <a:t>	</a:t>
            </a:r>
          </a:p>
          <a:p>
            <a:pPr algn="just">
              <a:buNone/>
            </a:pPr>
            <a:r>
              <a:rPr lang="ne-NP" sz="3200" dirty="0">
                <a:cs typeface="Kalimati" pitchFamily="2"/>
              </a:rPr>
              <a:t>...सरकारको नाममा रहेको अन्य क्षेत्रको जग्गा हस्तान्तरण (चितवन, बर्दिया, रारा आदि) गर्दा लगत कट्टा नगरिएको कारणले पनि जग्गाको स्वामित्व सम्बन्धी विवाद आएका छन्।</a:t>
            </a:r>
          </a:p>
          <a:p>
            <a:pPr algn="just">
              <a:buFont typeface="Wingdings" pitchFamily="2" charset="2"/>
              <a:buChar char="v"/>
            </a:pPr>
            <a:r>
              <a:rPr lang="ne-NP" sz="3200" dirty="0">
                <a:cs typeface="Kalimati" pitchFamily="2"/>
              </a:rPr>
              <a:t>सडक, नहर, विद्युतगृह आदि जस्ता विकास निर्माणको लागि जग्गा अधिग्रहण गर्दा लगत कट्टा नगरिएको कारणले पनि जग्गाको स्वामित्व र खिचोला समावेश भएका विवादहरु अदालतमा विचाराधिन छन्।</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20</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ECDD-CA8C-6E26-9C0B-751F278E1415}"/>
              </a:ext>
            </a:extLst>
          </p:cNvPr>
          <p:cNvSpPr>
            <a:spLocks noGrp="1"/>
          </p:cNvSpPr>
          <p:nvPr>
            <p:ph type="title"/>
          </p:nvPr>
        </p:nvSpPr>
        <p:spPr>
          <a:xfrm>
            <a:off x="838200" y="134912"/>
            <a:ext cx="10515600" cy="644578"/>
          </a:xfrm>
        </p:spPr>
        <p:txBody>
          <a:bodyPr>
            <a:normAutofit/>
          </a:bodyPr>
          <a:lstStyle/>
          <a:p>
            <a:pPr algn="ctr"/>
            <a:r>
              <a:rPr lang="ne-NP" sz="3200" b="1" u="sng" dirty="0">
                <a:cs typeface="Kalimati" panose="00000400000000000000" pitchFamily="2"/>
              </a:rPr>
              <a:t>जग्गाको क्षेत्रफल मापनको लागि लेखिने पुरानो चलन</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667D2BDF-085E-0D51-8DD7-2501345E45B7}"/>
              </a:ext>
            </a:extLst>
          </p:cNvPr>
          <p:cNvSpPr>
            <a:spLocks noGrp="1"/>
          </p:cNvSpPr>
          <p:nvPr>
            <p:ph idx="1"/>
          </p:nvPr>
        </p:nvSpPr>
        <p:spPr>
          <a:xfrm>
            <a:off x="119921" y="779489"/>
            <a:ext cx="11917181" cy="5943600"/>
          </a:xfrm>
        </p:spPr>
        <p:txBody>
          <a:bodyPr>
            <a:normAutofit fontScale="92500" lnSpcReduction="10000"/>
          </a:bodyPr>
          <a:lstStyle/>
          <a:p>
            <a:pPr>
              <a:buFont typeface="Wingdings" panose="05000000000000000000" pitchFamily="2" charset="2"/>
              <a:buChar char="v"/>
            </a:pPr>
            <a:r>
              <a:rPr lang="ne-NP" sz="3200" b="1" u="sng" dirty="0" err="1">
                <a:cs typeface="Kalimati" panose="00000400000000000000" pitchFamily="2"/>
              </a:rPr>
              <a:t>बिगहा</a:t>
            </a:r>
            <a:r>
              <a:rPr lang="ne-NP" sz="3200" b="1" u="sng" dirty="0">
                <a:cs typeface="Kalimati" panose="00000400000000000000" pitchFamily="2"/>
              </a:rPr>
              <a:t>, </a:t>
            </a:r>
            <a:r>
              <a:rPr lang="ne-NP" sz="3200" b="1" u="sng" dirty="0" err="1">
                <a:cs typeface="Kalimati" panose="00000400000000000000" pitchFamily="2"/>
              </a:rPr>
              <a:t>कठ्टा</a:t>
            </a:r>
            <a:r>
              <a:rPr lang="ne-NP" sz="3200" b="1" u="sng" dirty="0">
                <a:cs typeface="Kalimati" panose="00000400000000000000" pitchFamily="2"/>
              </a:rPr>
              <a:t>, धुर र कनुवा</a:t>
            </a:r>
          </a:p>
          <a:p>
            <a:pPr marL="0" indent="0">
              <a:buNone/>
            </a:pPr>
            <a:r>
              <a:rPr lang="ne-NP" sz="3200" dirty="0">
                <a:cs typeface="Kalimati" panose="00000400000000000000" pitchFamily="2"/>
              </a:rPr>
              <a:t>४ कनुवाको १ धुर, २० धुरको १ कट्ठा र २० कट्ठाको १ </a:t>
            </a:r>
            <a:r>
              <a:rPr lang="ne-NP" sz="3200" dirty="0" err="1">
                <a:cs typeface="Kalimati" panose="00000400000000000000" pitchFamily="2"/>
              </a:rPr>
              <a:t>बिगहा</a:t>
            </a:r>
            <a:r>
              <a:rPr lang="ne-NP" sz="3200" dirty="0">
                <a:cs typeface="Kalimati" panose="00000400000000000000" pitchFamily="2"/>
              </a:rPr>
              <a:t> ।</a:t>
            </a:r>
          </a:p>
          <a:p>
            <a:pPr marL="0" indent="0" algn="just">
              <a:buNone/>
            </a:pPr>
            <a:r>
              <a:rPr lang="ne-NP" sz="3200" dirty="0">
                <a:cs typeface="Kalimati" panose="00000400000000000000" pitchFamily="2"/>
              </a:rPr>
              <a:t>४०।।।१</a:t>
            </a:r>
            <a:r>
              <a:rPr lang="en-US" sz="3200" dirty="0">
                <a:cs typeface="Kalimati" panose="00000400000000000000" pitchFamily="2"/>
              </a:rPr>
              <a:t>s</a:t>
            </a:r>
            <a:r>
              <a:rPr lang="ne-NP" sz="3200" dirty="0">
                <a:cs typeface="Kalimati" panose="00000400000000000000" pitchFamily="2"/>
              </a:rPr>
              <a:t>।।४ ?</a:t>
            </a:r>
          </a:p>
          <a:p>
            <a:pPr marL="0" indent="0" algn="just">
              <a:buNone/>
            </a:pPr>
            <a:r>
              <a:rPr lang="ne-NP" sz="3200" dirty="0">
                <a:cs typeface="Kalimati" panose="00000400000000000000" pitchFamily="2"/>
              </a:rPr>
              <a:t>४० </a:t>
            </a:r>
            <a:r>
              <a:rPr lang="ne-NP" sz="3200" dirty="0" err="1">
                <a:cs typeface="Kalimati" panose="00000400000000000000" pitchFamily="2"/>
              </a:rPr>
              <a:t>बिगहा</a:t>
            </a:r>
            <a:r>
              <a:rPr lang="ne-NP" sz="3200" dirty="0">
                <a:cs typeface="Kalimati" panose="00000400000000000000" pitchFamily="2"/>
              </a:rPr>
              <a:t>, १६ कट्ठा १४ धुर ।</a:t>
            </a:r>
          </a:p>
          <a:p>
            <a:pPr algn="just">
              <a:buFont typeface="Wingdings" panose="05000000000000000000" pitchFamily="2" charset="2"/>
              <a:buChar char="v"/>
            </a:pPr>
            <a:r>
              <a:rPr lang="ne-NP" sz="3200" b="1" u="sng" dirty="0">
                <a:cs typeface="Kalimati" panose="00000400000000000000" pitchFamily="2"/>
              </a:rPr>
              <a:t>रोपनी, आना, पैसा र दाम</a:t>
            </a:r>
          </a:p>
          <a:p>
            <a:pPr marL="0" indent="0" algn="just">
              <a:buNone/>
            </a:pPr>
            <a:r>
              <a:rPr lang="ne-NP" sz="3200" dirty="0">
                <a:cs typeface="Kalimati" panose="00000400000000000000" pitchFamily="2"/>
              </a:rPr>
              <a:t>४ दामको १ पैसा, ४ पैसाको १ आना र १६ आनाको १ रोपनी ।</a:t>
            </a:r>
          </a:p>
          <a:p>
            <a:pPr marL="0" indent="0" algn="just">
              <a:buNone/>
            </a:pPr>
            <a:r>
              <a:rPr lang="ne-NP" sz="3200" dirty="0">
                <a:cs typeface="Kalimati" panose="00000400000000000000" pitchFamily="2"/>
              </a:rPr>
              <a:t>१०।२।।।३ ?</a:t>
            </a:r>
          </a:p>
          <a:p>
            <a:pPr marL="0" indent="0" algn="just">
              <a:buNone/>
            </a:pPr>
            <a:r>
              <a:rPr lang="ne-NP" sz="3200" dirty="0">
                <a:cs typeface="Kalimati" panose="00000400000000000000" pitchFamily="2"/>
              </a:rPr>
              <a:t>१० रोपनी ६ आना ३ पैसा ३ दाम ।</a:t>
            </a:r>
            <a:endParaRPr lang="en-US" sz="3200" dirty="0">
              <a:cs typeface="Kalimati" panose="00000400000000000000" pitchFamily="2"/>
            </a:endParaRPr>
          </a:p>
          <a:p>
            <a:pPr marL="0" indent="0" algn="just">
              <a:buNone/>
            </a:pPr>
            <a:r>
              <a:rPr lang="ne-NP" sz="3200" dirty="0">
                <a:latin typeface="Symbol" panose="05050102010706020507" pitchFamily="18" charset="2"/>
                <a:cs typeface="Kalimati" panose="00000400000000000000" pitchFamily="2"/>
              </a:rPr>
              <a:t>४</a:t>
            </a:r>
            <a:r>
              <a:rPr lang="en-US" sz="3200" dirty="0">
                <a:latin typeface="Symbol" panose="05050102010706020507" pitchFamily="18" charset="2"/>
                <a:cs typeface="Kalimati" panose="00000400000000000000" pitchFamily="2"/>
              </a:rPr>
              <a:t>Ö</a:t>
            </a:r>
            <a:r>
              <a:rPr lang="ne-NP" sz="3200" dirty="0">
                <a:latin typeface="Symbol" panose="05050102010706020507" pitchFamily="18" charset="2"/>
                <a:cs typeface="Kalimati" panose="00000400000000000000" pitchFamily="2"/>
              </a:rPr>
              <a:t>।।।३</a:t>
            </a:r>
            <a:r>
              <a:rPr lang="en-US" sz="3200" dirty="0">
                <a:latin typeface="Symbol" panose="05050102010706020507" pitchFamily="18" charset="2"/>
                <a:cs typeface="Kalimati" panose="00000400000000000000" pitchFamily="2"/>
              </a:rPr>
              <a:t> </a:t>
            </a:r>
            <a:r>
              <a:rPr lang="ne-NP" sz="3200" dirty="0">
                <a:latin typeface="Symbol" panose="05050102010706020507" pitchFamily="18" charset="2"/>
                <a:cs typeface="Kalimati" panose="00000400000000000000" pitchFamily="2"/>
              </a:rPr>
              <a:t>?</a:t>
            </a:r>
          </a:p>
          <a:p>
            <a:pPr marL="0" indent="0" algn="just">
              <a:buNone/>
            </a:pPr>
            <a:r>
              <a:rPr lang="ne-NP" sz="3200" dirty="0">
                <a:cs typeface="Kalimati" panose="00000400000000000000" pitchFamily="2"/>
              </a:rPr>
              <a:t>४ रोपनी तीन आना तीन पैसा ।</a:t>
            </a:r>
          </a:p>
          <a:p>
            <a:pPr marL="0" indent="0" algn="just">
              <a:buNone/>
            </a:pPr>
            <a:r>
              <a:rPr lang="ne-NP" sz="3200" b="1" u="sng" dirty="0">
                <a:cs typeface="Kalimati" panose="00000400000000000000" pitchFamily="2"/>
              </a:rPr>
              <a:t>माटो मुरी</a:t>
            </a:r>
            <a:r>
              <a:rPr lang="en-US" sz="3200" b="1" u="sng" dirty="0">
                <a:cs typeface="Kalimati" panose="00000400000000000000" pitchFamily="2"/>
              </a:rPr>
              <a:t> </a:t>
            </a:r>
            <a:r>
              <a:rPr lang="ne-NP" sz="3200" dirty="0">
                <a:cs typeface="Kalimati" panose="00000400000000000000" pitchFamily="2"/>
              </a:rPr>
              <a:t>१० चिम्टीको १ मुठी, १० मुठीको १ माना ८ मानाको १ पाथी र २० पाथीको १ मुरी ।</a:t>
            </a:r>
            <a:endParaRPr lang="en-US" sz="3200" dirty="0">
              <a:cs typeface="Kalimati" panose="00000400000000000000" pitchFamily="2"/>
            </a:endParaRPr>
          </a:p>
          <a:p>
            <a:pPr marL="0" indent="0" algn="r">
              <a:buNone/>
            </a:pPr>
            <a:endParaRPr lang="ne-NP" sz="3200" dirty="0">
              <a:cs typeface="Kalimati" panose="00000400000000000000" pitchFamily="2"/>
            </a:endParaRPr>
          </a:p>
          <a:p>
            <a:pPr marL="0" indent="0">
              <a:buNone/>
            </a:pP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B7382914-416F-76B3-13D0-60B8CBFA2D4F}"/>
              </a:ext>
            </a:extLst>
          </p:cNvPr>
          <p:cNvSpPr>
            <a:spLocks noGrp="1"/>
          </p:cNvSpPr>
          <p:nvPr>
            <p:ph type="sldNum" sz="quarter" idx="12"/>
          </p:nvPr>
        </p:nvSpPr>
        <p:spPr/>
        <p:txBody>
          <a:bodyPr/>
          <a:lstStyle/>
          <a:p>
            <a:fld id="{FBEE1443-9B50-414A-932B-DC12F1E761CB}" type="slidenum">
              <a:rPr lang="en-US" sz="2400" smtClean="0"/>
              <a:t>21</a:t>
            </a:fld>
            <a:endParaRPr lang="en-US" sz="2400" dirty="0"/>
          </a:p>
        </p:txBody>
      </p:sp>
    </p:spTree>
    <p:extLst>
      <p:ext uri="{BB962C8B-B14F-4D97-AF65-F5344CB8AC3E}">
        <p14:creationId xmlns:p14="http://schemas.microsoft.com/office/powerpoint/2010/main" val="363973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 calcmode="lin" valueType="num">
                                      <p:cBhvr additive="base">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 calcmode="lin" valueType="num">
                                      <p:cBhvr additive="base">
                                        <p:cTn id="6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D2C4-A9D6-995D-64A3-0901502F3C75}"/>
              </a:ext>
            </a:extLst>
          </p:cNvPr>
          <p:cNvSpPr>
            <a:spLocks noGrp="1"/>
          </p:cNvSpPr>
          <p:nvPr>
            <p:ph type="title"/>
          </p:nvPr>
        </p:nvSpPr>
        <p:spPr>
          <a:xfrm>
            <a:off x="838200" y="136526"/>
            <a:ext cx="10515600" cy="478072"/>
          </a:xfrm>
        </p:spPr>
        <p:txBody>
          <a:bodyPr>
            <a:normAutofit fontScale="90000"/>
          </a:bodyPr>
          <a:lstStyle/>
          <a:p>
            <a:pPr algn="ctr"/>
            <a:r>
              <a:rPr lang="ne-NP" sz="3200" b="1" u="sng" dirty="0">
                <a:cs typeface="Kalimati" panose="00000400000000000000" pitchFamily="2"/>
              </a:rPr>
              <a:t>जग्गा खिचोला मुद्दा निर्णय गर्न आवश्यक पर्ने प्रमाणहरू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3D79A41C-C555-E105-FAC7-59E84B03A413}"/>
              </a:ext>
            </a:extLst>
          </p:cNvPr>
          <p:cNvSpPr>
            <a:spLocks noGrp="1"/>
          </p:cNvSpPr>
          <p:nvPr>
            <p:ph idx="1"/>
          </p:nvPr>
        </p:nvSpPr>
        <p:spPr>
          <a:xfrm>
            <a:off x="128337" y="614598"/>
            <a:ext cx="11871158" cy="6106877"/>
          </a:xfrm>
        </p:spPr>
        <p:txBody>
          <a:bodyPr>
            <a:noAutofit/>
          </a:bodyPr>
          <a:lstStyle/>
          <a:p>
            <a:pPr marL="0" indent="0" algn="just">
              <a:buNone/>
            </a:pPr>
            <a:r>
              <a:rPr lang="ne-NP" sz="2900" b="1" u="sng" dirty="0">
                <a:cs typeface="Kalimati" panose="00000400000000000000" pitchFamily="2"/>
              </a:rPr>
              <a:t>प्रमाण ऐन, २०३१ को दफा ३ र ५४</a:t>
            </a:r>
          </a:p>
          <a:p>
            <a:pPr marL="514350" indent="-514350" algn="just">
              <a:buAutoNum type="hindiNumPeriod"/>
            </a:pPr>
            <a:r>
              <a:rPr lang="ne-NP" sz="2900" dirty="0">
                <a:cs typeface="Kalimati" panose="00000400000000000000" pitchFamily="2"/>
              </a:rPr>
              <a:t>दर्ता स्रेस्ता,</a:t>
            </a:r>
          </a:p>
          <a:p>
            <a:pPr marL="514350" indent="-514350" algn="just">
              <a:buAutoNum type="hindiNumPeriod"/>
            </a:pPr>
            <a:r>
              <a:rPr lang="ne-NP" sz="2900" dirty="0">
                <a:cs typeface="Kalimati" panose="00000400000000000000" pitchFamily="2"/>
              </a:rPr>
              <a:t>फिल्ड बुक,</a:t>
            </a:r>
          </a:p>
          <a:p>
            <a:pPr marL="514350" indent="-514350" algn="just">
              <a:buAutoNum type="hindiNumPeriod"/>
            </a:pPr>
            <a:r>
              <a:rPr lang="ne-NP" sz="2900" dirty="0">
                <a:cs typeface="Kalimati" panose="00000400000000000000" pitchFamily="2"/>
              </a:rPr>
              <a:t>सर्भे नक्सा,</a:t>
            </a:r>
          </a:p>
          <a:p>
            <a:pPr marL="514350" indent="-514350" algn="just">
              <a:buAutoNum type="hindiNumPeriod"/>
            </a:pPr>
            <a:r>
              <a:rPr lang="ne-NP" sz="2900" dirty="0">
                <a:cs typeface="Kalimati" panose="00000400000000000000" pitchFamily="2"/>
              </a:rPr>
              <a:t>टायल चेक,</a:t>
            </a:r>
          </a:p>
          <a:p>
            <a:pPr marL="514350" indent="-514350" algn="just">
              <a:buAutoNum type="hindiNumPeriod"/>
            </a:pPr>
            <a:r>
              <a:rPr lang="ne-NP" sz="2900" dirty="0">
                <a:cs typeface="Kalimati" panose="00000400000000000000" pitchFamily="2"/>
              </a:rPr>
              <a:t>अदालतबाट गरिएको नक्सा,</a:t>
            </a:r>
          </a:p>
          <a:p>
            <a:pPr marL="514350" indent="-514350" algn="just">
              <a:buAutoNum type="hindiNumPeriod"/>
            </a:pPr>
            <a:r>
              <a:rPr lang="ne-NP" sz="2900" dirty="0">
                <a:cs typeface="Kalimati" panose="00000400000000000000" pitchFamily="2"/>
              </a:rPr>
              <a:t>लगत कट्टाको प्रमाण,</a:t>
            </a:r>
          </a:p>
          <a:p>
            <a:pPr marL="514350" indent="-514350" algn="just">
              <a:buAutoNum type="hindiNumPeriod"/>
            </a:pPr>
            <a:r>
              <a:rPr lang="ne-NP" sz="2900" dirty="0">
                <a:cs typeface="Kalimati" panose="00000400000000000000" pitchFamily="2"/>
              </a:rPr>
              <a:t>क्षतिपूर्ति बुझेको कागज,</a:t>
            </a:r>
            <a:endParaRPr lang="en-US" sz="2900" dirty="0">
              <a:cs typeface="Kalimati" panose="00000400000000000000" pitchFamily="2"/>
            </a:endParaRPr>
          </a:p>
          <a:p>
            <a:pPr marL="514350" indent="-514350" algn="just">
              <a:buAutoNum type="hindiNumPeriod"/>
            </a:pPr>
            <a:r>
              <a:rPr lang="ne-NP" sz="2900" dirty="0">
                <a:cs typeface="Kalimati" panose="00000400000000000000" pitchFamily="2"/>
              </a:rPr>
              <a:t>ठाउँ अवलोकन (</a:t>
            </a:r>
            <a:r>
              <a:rPr lang="ne-NP" sz="2900" dirty="0" err="1">
                <a:cs typeface="Kalimati" panose="00000400000000000000" pitchFamily="2"/>
              </a:rPr>
              <a:t>मुदेकासंको</a:t>
            </a:r>
            <a:r>
              <a:rPr lang="ne-NP" sz="2900" dirty="0">
                <a:cs typeface="Kalimati" panose="00000400000000000000" pitchFamily="2"/>
              </a:rPr>
              <a:t> दफा १७८),</a:t>
            </a:r>
          </a:p>
          <a:p>
            <a:pPr marL="514350" indent="-514350" algn="just">
              <a:buAutoNum type="hindiNumPeriod"/>
            </a:pPr>
            <a:r>
              <a:rPr lang="ne-NP" sz="2900" dirty="0">
                <a:cs typeface="Kalimati" panose="00000400000000000000" pitchFamily="2"/>
              </a:rPr>
              <a:t>आदेश बमोजिम झिकाइएको अन्य कागज (कुलो, नहर, बाटो, निकुञ्ज, खेल मैदान निर्माण आदि जस्ता प्रयोजनमा कसको कति क्षेत्रफल पर्न गएको र क्षतिपूर्ति बुझे</a:t>
            </a:r>
            <a:r>
              <a:rPr lang="en-US" sz="2900" dirty="0">
                <a:cs typeface="Kalimati" panose="00000400000000000000" pitchFamily="2"/>
              </a:rPr>
              <a:t> /</a:t>
            </a:r>
            <a:r>
              <a:rPr lang="ne-NP" sz="2900" dirty="0">
                <a:cs typeface="Kalimati" panose="00000400000000000000" pitchFamily="2"/>
              </a:rPr>
              <a:t> नबुझेको भन्ने कुराको सम्बन्धित निकायले पठाएको जबाफ)।</a:t>
            </a:r>
            <a:endParaRPr lang="en-US" sz="2900" dirty="0">
              <a:cs typeface="Kalimati" panose="00000400000000000000" pitchFamily="2"/>
            </a:endParaRPr>
          </a:p>
        </p:txBody>
      </p:sp>
      <p:sp>
        <p:nvSpPr>
          <p:cNvPr id="4" name="Slide Number Placeholder 3">
            <a:extLst>
              <a:ext uri="{FF2B5EF4-FFF2-40B4-BE49-F238E27FC236}">
                <a16:creationId xmlns:a16="http://schemas.microsoft.com/office/drawing/2014/main" id="{E8CC5745-36DE-34EC-29DA-43BF5FA73646}"/>
              </a:ext>
            </a:extLst>
          </p:cNvPr>
          <p:cNvSpPr>
            <a:spLocks noGrp="1"/>
          </p:cNvSpPr>
          <p:nvPr>
            <p:ph type="sldNum" sz="quarter" idx="12"/>
          </p:nvPr>
        </p:nvSpPr>
        <p:spPr/>
        <p:txBody>
          <a:bodyPr/>
          <a:lstStyle/>
          <a:p>
            <a:fld id="{FBEE1443-9B50-414A-932B-DC12F1E761CB}" type="slidenum">
              <a:rPr lang="en-US" sz="2400" smtClean="0"/>
              <a:t>22</a:t>
            </a:fld>
            <a:endParaRPr lang="en-US" sz="2400" dirty="0"/>
          </a:p>
        </p:txBody>
      </p:sp>
    </p:spTree>
    <p:extLst>
      <p:ext uri="{BB962C8B-B14F-4D97-AF65-F5344CB8AC3E}">
        <p14:creationId xmlns:p14="http://schemas.microsoft.com/office/powerpoint/2010/main" val="13130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4B45-B9E9-66FF-47ED-D4E0EBD8E8E8}"/>
              </a:ext>
            </a:extLst>
          </p:cNvPr>
          <p:cNvSpPr>
            <a:spLocks noGrp="1"/>
          </p:cNvSpPr>
          <p:nvPr>
            <p:ph type="title"/>
          </p:nvPr>
        </p:nvSpPr>
        <p:spPr>
          <a:xfrm>
            <a:off x="838200" y="136525"/>
            <a:ext cx="10515600" cy="681623"/>
          </a:xfrm>
        </p:spPr>
        <p:txBody>
          <a:bodyPr>
            <a:normAutofit/>
          </a:bodyPr>
          <a:lstStyle/>
          <a:p>
            <a:pPr algn="ctr"/>
            <a:r>
              <a:rPr lang="ne-NP" sz="3200" b="1" u="sng" dirty="0">
                <a:latin typeface="+mn-lt"/>
                <a:cs typeface="Kalimati" panose="00000400000000000000" pitchFamily="2"/>
              </a:rPr>
              <a:t>सर्भे नक्सामा रहने जग्गाको मान</a:t>
            </a:r>
            <a:r>
              <a:rPr lang="en-US" sz="3200" b="1" u="sng" dirty="0">
                <a:latin typeface="+mn-lt"/>
                <a:cs typeface="Kalimati" panose="00000400000000000000" pitchFamily="2"/>
              </a:rPr>
              <a:t> (scale)</a:t>
            </a:r>
            <a:r>
              <a:rPr lang="ne-NP" sz="3200" b="1" u="sng" dirty="0">
                <a:latin typeface="+mn-lt"/>
                <a:cs typeface="Kalimati" panose="00000400000000000000" pitchFamily="2"/>
              </a:rPr>
              <a:t> नाप</a:t>
            </a:r>
            <a:endParaRPr lang="en-US" sz="3200" b="1" u="sng" dirty="0">
              <a:latin typeface="+mn-lt"/>
              <a:cs typeface="Kalimati" panose="00000400000000000000" pitchFamily="2"/>
            </a:endParaRPr>
          </a:p>
        </p:txBody>
      </p:sp>
      <p:sp>
        <p:nvSpPr>
          <p:cNvPr id="3" name="Content Placeholder 2">
            <a:extLst>
              <a:ext uri="{FF2B5EF4-FFF2-40B4-BE49-F238E27FC236}">
                <a16:creationId xmlns:a16="http://schemas.microsoft.com/office/drawing/2014/main" id="{FC685539-0C2B-981D-DB72-BF798FF48F1D}"/>
              </a:ext>
            </a:extLst>
          </p:cNvPr>
          <p:cNvSpPr>
            <a:spLocks noGrp="1"/>
          </p:cNvSpPr>
          <p:nvPr>
            <p:ph idx="1"/>
          </p:nvPr>
        </p:nvSpPr>
        <p:spPr>
          <a:xfrm>
            <a:off x="192505" y="1155032"/>
            <a:ext cx="11790947" cy="5566443"/>
          </a:xfrm>
        </p:spPr>
        <p:txBody>
          <a:bodyPr>
            <a:normAutofit fontScale="92500" lnSpcReduction="20000"/>
          </a:bodyPr>
          <a:lstStyle/>
          <a:p>
            <a:pPr marL="0" indent="0">
              <a:buNone/>
            </a:pPr>
            <a:r>
              <a:rPr lang="ne-NP" sz="4000" dirty="0">
                <a:cs typeface="Kalimati" panose="00000400000000000000" pitchFamily="2"/>
              </a:rPr>
              <a:t>१ </a:t>
            </a:r>
            <a:r>
              <a:rPr lang="he-IL" sz="4000" dirty="0">
                <a:latin typeface="Times New Roman" panose="02020603050405020304" pitchFamily="18" charset="0"/>
                <a:cs typeface="Times New Roman" panose="02020603050405020304" pitchFamily="18" charset="0"/>
              </a:rPr>
              <a:t>׃</a:t>
            </a:r>
            <a:r>
              <a:rPr lang="ne-NP" sz="4000" dirty="0">
                <a:cs typeface="Kalimati" panose="00000400000000000000" pitchFamily="2"/>
              </a:rPr>
              <a:t> ५००</a:t>
            </a:r>
          </a:p>
          <a:p>
            <a:pPr marL="0" indent="0">
              <a:buNone/>
            </a:pPr>
            <a:r>
              <a:rPr lang="ne-NP" sz="4000" dirty="0">
                <a:cs typeface="Kalimati" panose="00000400000000000000" pitchFamily="2"/>
              </a:rPr>
              <a:t>१ </a:t>
            </a:r>
            <a:r>
              <a:rPr lang="he-IL" sz="4000" dirty="0">
                <a:latin typeface="Times New Roman" panose="02020603050405020304" pitchFamily="18" charset="0"/>
                <a:cs typeface="Times New Roman" panose="02020603050405020304" pitchFamily="18" charset="0"/>
              </a:rPr>
              <a:t>׃</a:t>
            </a:r>
            <a:r>
              <a:rPr lang="ne-NP" sz="4000" dirty="0">
                <a:cs typeface="Kalimati" panose="00000400000000000000" pitchFamily="2"/>
              </a:rPr>
              <a:t> १२००</a:t>
            </a:r>
          </a:p>
          <a:p>
            <a:pPr marL="0" indent="0">
              <a:buNone/>
            </a:pPr>
            <a:r>
              <a:rPr lang="ne-NP" sz="4000" dirty="0">
                <a:cs typeface="Kalimati" panose="00000400000000000000" pitchFamily="2"/>
              </a:rPr>
              <a:t>१ </a:t>
            </a:r>
            <a:r>
              <a:rPr lang="he-IL" sz="4000" dirty="0">
                <a:latin typeface="Times New Roman" panose="02020603050405020304" pitchFamily="18" charset="0"/>
                <a:cs typeface="Times New Roman" panose="02020603050405020304" pitchFamily="18" charset="0"/>
              </a:rPr>
              <a:t> ׃</a:t>
            </a:r>
            <a:r>
              <a:rPr lang="ne-NP" sz="4000" dirty="0">
                <a:cs typeface="Kalimati" panose="00000400000000000000" pitchFamily="2"/>
              </a:rPr>
              <a:t> १२५०</a:t>
            </a:r>
            <a:r>
              <a:rPr lang="en-US" sz="4000" dirty="0">
                <a:cs typeface="Kalimati" panose="00000400000000000000" pitchFamily="2"/>
              </a:rPr>
              <a:t>  </a:t>
            </a:r>
            <a:endParaRPr lang="ne-NP" sz="4000" dirty="0">
              <a:cs typeface="Kalimati" panose="00000400000000000000" pitchFamily="2"/>
            </a:endParaRPr>
          </a:p>
          <a:p>
            <a:pPr marL="0" indent="0">
              <a:buNone/>
            </a:pPr>
            <a:r>
              <a:rPr lang="ne-NP" sz="4000" dirty="0">
                <a:cs typeface="Kalimati" panose="00000400000000000000" pitchFamily="2"/>
              </a:rPr>
              <a:t>१ </a:t>
            </a:r>
            <a:r>
              <a:rPr lang="he-IL" sz="4000" dirty="0">
                <a:latin typeface="Times New Roman" panose="02020603050405020304" pitchFamily="18" charset="0"/>
                <a:cs typeface="Times New Roman" panose="02020603050405020304" pitchFamily="18" charset="0"/>
              </a:rPr>
              <a:t> ׃</a:t>
            </a:r>
            <a:r>
              <a:rPr lang="ne-NP" sz="4000" dirty="0">
                <a:cs typeface="Kalimati" panose="00000400000000000000" pitchFamily="2"/>
              </a:rPr>
              <a:t> २५००</a:t>
            </a:r>
          </a:p>
          <a:p>
            <a:pPr algn="just">
              <a:buFont typeface="Wingdings" panose="05000000000000000000" pitchFamily="2" charset="2"/>
              <a:buChar char="v"/>
            </a:pPr>
            <a:endParaRPr lang="ne-NP" sz="3500" dirty="0">
              <a:latin typeface="MS Shell Dlg 2" panose="020B0604030504040204" pitchFamily="34" charset="0"/>
              <a:cs typeface="Kalimati" panose="00000400000000000000" pitchFamily="2"/>
            </a:endParaRPr>
          </a:p>
          <a:p>
            <a:pPr algn="just">
              <a:buFont typeface="Wingdings" panose="05000000000000000000" pitchFamily="2" charset="2"/>
              <a:buChar char="v"/>
            </a:pPr>
            <a:r>
              <a:rPr lang="ne-NP" sz="3500" dirty="0">
                <a:latin typeface="MS Shell Dlg 2" panose="020B0604030504040204" pitchFamily="34" charset="0"/>
                <a:cs typeface="Kalimati" panose="00000400000000000000" pitchFamily="2"/>
              </a:rPr>
              <a:t>ठूलो स्केल र सानो स्केलमा भएको नक्सा झट्ट हेर्दा फरक देखिए जस्तो हुने भए पनि खास वस्तुस्थिति फरक नपरेको अवस्थामा त्यतिकै कारणले भई आएको नक्सालाई प्रमाणको रूपमा ग्रहण गर्न मिल्दैन भन्न युक्ति </a:t>
            </a:r>
            <a:r>
              <a:rPr lang="ne-NP" sz="3500" dirty="0" err="1">
                <a:latin typeface="MS Shell Dlg 2" panose="020B0604030504040204" pitchFamily="34" charset="0"/>
                <a:cs typeface="Kalimati" panose="00000400000000000000" pitchFamily="2"/>
              </a:rPr>
              <a:t>संगत</a:t>
            </a:r>
            <a:r>
              <a:rPr lang="ne-NP" sz="3500" dirty="0">
                <a:latin typeface="MS Shell Dlg 2" panose="020B0604030504040204" pitchFamily="34" charset="0"/>
                <a:cs typeface="Kalimati" panose="00000400000000000000" pitchFamily="2"/>
              </a:rPr>
              <a:t> हुँदैन । </a:t>
            </a:r>
          </a:p>
          <a:p>
            <a:pPr marL="0" indent="0" algn="r">
              <a:buNone/>
            </a:pPr>
            <a:r>
              <a:rPr lang="ne-NP" sz="3200" b="1" dirty="0">
                <a:latin typeface="MS Shell Dlg 2" panose="020B0604030504040204" pitchFamily="34" charset="0"/>
                <a:cs typeface="Kalimati" panose="00000400000000000000" pitchFamily="2"/>
              </a:rPr>
              <a:t>(</a:t>
            </a:r>
            <a:r>
              <a:rPr lang="ne-NP" sz="3200" b="1" dirty="0" err="1">
                <a:latin typeface="MS Shell Dlg 2" panose="020B0604030504040204" pitchFamily="34" charset="0"/>
                <a:cs typeface="Kalimati" panose="00000400000000000000" pitchFamily="2"/>
              </a:rPr>
              <a:t>ने</a:t>
            </a:r>
            <a:r>
              <a:rPr lang="ne-NP" sz="3200" b="1" dirty="0">
                <a:latin typeface="MS Shell Dlg 2" panose="020B0604030504040204" pitchFamily="34" charset="0"/>
                <a:cs typeface="Kalimati" panose="00000400000000000000" pitchFamily="2"/>
              </a:rPr>
              <a:t>. का. प. २०४४ पृष्ठ ७५७) । </a:t>
            </a:r>
            <a:endParaRPr lang="en-US" sz="3200" b="1" dirty="0">
              <a:latin typeface="MS Shell Dlg 2" panose="020B0604030504040204" pitchFamily="34" charset="0"/>
              <a:cs typeface="Kalimati" panose="00000400000000000000" pitchFamily="2"/>
            </a:endParaRPr>
          </a:p>
          <a:p>
            <a:pPr marL="0" indent="0" algn="r">
              <a:buNone/>
            </a:pPr>
            <a:endParaRPr lang="en-US" sz="4000" b="1" dirty="0">
              <a:latin typeface="MS Shell Dlg 2" panose="020B0604030504040204" pitchFamily="34" charset="0"/>
            </a:endParaRPr>
          </a:p>
          <a:p>
            <a:pPr marL="0" indent="0">
              <a:buNone/>
            </a:pPr>
            <a:r>
              <a:rPr lang="ne-NP" sz="4000" dirty="0">
                <a:cs typeface="Kalimati" panose="00000400000000000000" pitchFamily="2"/>
              </a:rPr>
              <a:t>   </a:t>
            </a:r>
            <a:endParaRPr lang="en-US" sz="4000" dirty="0">
              <a:cs typeface="Kalimati" panose="00000400000000000000" pitchFamily="2"/>
            </a:endParaRPr>
          </a:p>
        </p:txBody>
      </p:sp>
      <p:sp>
        <p:nvSpPr>
          <p:cNvPr id="4" name="Slide Number Placeholder 3">
            <a:extLst>
              <a:ext uri="{FF2B5EF4-FFF2-40B4-BE49-F238E27FC236}">
                <a16:creationId xmlns:a16="http://schemas.microsoft.com/office/drawing/2014/main" id="{E9F7C60E-189E-DB3F-94F3-D2B38ADE34DF}"/>
              </a:ext>
            </a:extLst>
          </p:cNvPr>
          <p:cNvSpPr>
            <a:spLocks noGrp="1"/>
          </p:cNvSpPr>
          <p:nvPr>
            <p:ph type="sldNum" sz="quarter" idx="12"/>
          </p:nvPr>
        </p:nvSpPr>
        <p:spPr/>
        <p:txBody>
          <a:bodyPr/>
          <a:lstStyle/>
          <a:p>
            <a:fld id="{FBEE1443-9B50-414A-932B-DC12F1E761CB}" type="slidenum">
              <a:rPr lang="en-US" sz="2400" smtClean="0"/>
              <a:t>23</a:t>
            </a:fld>
            <a:endParaRPr lang="en-US" sz="2400" dirty="0"/>
          </a:p>
        </p:txBody>
      </p:sp>
    </p:spTree>
    <p:extLst>
      <p:ext uri="{BB962C8B-B14F-4D97-AF65-F5344CB8AC3E}">
        <p14:creationId xmlns:p14="http://schemas.microsoft.com/office/powerpoint/2010/main" val="199519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6526"/>
            <a:ext cx="8229600" cy="396875"/>
          </a:xfrm>
        </p:spPr>
        <p:txBody>
          <a:bodyPr>
            <a:noAutofit/>
          </a:bodyPr>
          <a:lstStyle/>
          <a:p>
            <a:pPr algn="ctr"/>
            <a:r>
              <a:rPr lang="ne-NP" sz="3200" b="1" dirty="0">
                <a:cs typeface="Kalimati" pitchFamily="2"/>
              </a:rPr>
              <a:t> </a:t>
            </a:r>
            <a:r>
              <a:rPr lang="ne-NP" sz="3200" b="1" u="sng" dirty="0">
                <a:cs typeface="Kalimati" pitchFamily="2"/>
              </a:rPr>
              <a:t>नाप नक्सा सम्बन्धी कानूनी प्रावधान</a:t>
            </a:r>
            <a:endParaRPr lang="en-US" sz="3200" b="1" u="sng" dirty="0">
              <a:cs typeface="Kalimati" pitchFamily="2"/>
            </a:endParaRPr>
          </a:p>
        </p:txBody>
      </p:sp>
      <p:sp>
        <p:nvSpPr>
          <p:cNvPr id="3" name="Content Placeholder 2"/>
          <p:cNvSpPr>
            <a:spLocks noGrp="1"/>
          </p:cNvSpPr>
          <p:nvPr>
            <p:ph idx="1"/>
          </p:nvPr>
        </p:nvSpPr>
        <p:spPr>
          <a:xfrm>
            <a:off x="176463" y="533400"/>
            <a:ext cx="11855116" cy="6096000"/>
          </a:xfrm>
        </p:spPr>
        <p:txBody>
          <a:bodyPr>
            <a:noAutofit/>
          </a:bodyPr>
          <a:lstStyle/>
          <a:p>
            <a:pPr algn="just">
              <a:buFont typeface="Wingdings" pitchFamily="2" charset="2"/>
              <a:buChar char="v"/>
            </a:pPr>
            <a:r>
              <a:rPr lang="ne-NP" sz="3200" b="1" u="sng" dirty="0">
                <a:cs typeface="Kalimati" pitchFamily="2"/>
              </a:rPr>
              <a:t>अ. वं. १७१ नं.</a:t>
            </a:r>
          </a:p>
          <a:p>
            <a:pPr algn="just">
              <a:buNone/>
            </a:pPr>
            <a:r>
              <a:rPr lang="ne-NP" sz="3200" b="1" dirty="0">
                <a:cs typeface="Kalimati" pitchFamily="2"/>
              </a:rPr>
              <a:t>	</a:t>
            </a:r>
            <a:r>
              <a:rPr lang="en-US" sz="3200" b="1" dirty="0">
                <a:cs typeface="Kalimati" pitchFamily="2"/>
              </a:rPr>
              <a:t>“</a:t>
            </a:r>
            <a:r>
              <a:rPr lang="ne-NP" sz="3200" dirty="0">
                <a:cs typeface="Kalimati" pitchFamily="2"/>
              </a:rPr>
              <a:t>झगडा परेको अचल केहीको नक्सा वा नाप जाँच नगरी .................................अरू कुरा नक्सामा लेख्न हुँदैन”।</a:t>
            </a:r>
          </a:p>
          <a:p>
            <a:pPr algn="just">
              <a:buFont typeface="Wingdings" pitchFamily="2" charset="2"/>
              <a:buChar char="v"/>
            </a:pPr>
            <a:r>
              <a:rPr lang="ne-NP" sz="3200" b="1" u="sng" dirty="0">
                <a:cs typeface="Kalimati" pitchFamily="2"/>
              </a:rPr>
              <a:t>मुलुकी देवानी कार्यविधि (संहिता) ऐन, २०७४ को दफा १७७</a:t>
            </a:r>
          </a:p>
          <a:p>
            <a:pPr algn="just">
              <a:buNone/>
            </a:pPr>
            <a:r>
              <a:rPr lang="ne-NP" sz="3200" dirty="0">
                <a:cs typeface="Kalimati" pitchFamily="2"/>
              </a:rPr>
              <a:t>(१) विवाद परेको अचल सम्पत्तिको नाप, नक्सा वा नाप जाँच नगरी मुद्दाको किनारा गर्न नहुने देखिएमा ..... </a:t>
            </a:r>
          </a:p>
          <a:p>
            <a:pPr algn="just">
              <a:buNone/>
            </a:pPr>
            <a:r>
              <a:rPr lang="ne-NP" sz="3200" dirty="0">
                <a:cs typeface="Kalimati" pitchFamily="2"/>
              </a:rPr>
              <a:t>(८) .....विभागीय कारबाही समेत हुनेछ।</a:t>
            </a:r>
          </a:p>
          <a:p>
            <a:pPr>
              <a:buFont typeface="Wingdings" panose="05000000000000000000" pitchFamily="2" charset="2"/>
              <a:buChar char="v"/>
            </a:pPr>
            <a:r>
              <a:rPr lang="ne-NP" sz="3200" b="1" dirty="0" err="1">
                <a:cs typeface="Kalimati" panose="00000400000000000000" pitchFamily="2"/>
              </a:rPr>
              <a:t>मुदेकासंको</a:t>
            </a:r>
            <a:r>
              <a:rPr lang="ne-NP" sz="3200" b="1" dirty="0">
                <a:cs typeface="Kalimati" panose="00000400000000000000" pitchFamily="2"/>
              </a:rPr>
              <a:t> दफा १७८- </a:t>
            </a:r>
            <a:r>
              <a:rPr lang="ne-NP" sz="3200" dirty="0">
                <a:cs typeface="Kalimati" pitchFamily="2"/>
              </a:rPr>
              <a:t>ठाउँ अवलोकन गर्न सक्ने</a:t>
            </a:r>
          </a:p>
          <a:p>
            <a:pPr algn="just">
              <a:buNone/>
            </a:pPr>
            <a:r>
              <a:rPr lang="ne-NP" sz="3200" dirty="0">
                <a:cs typeface="Kalimati" pitchFamily="2"/>
              </a:rPr>
              <a:t> मुद्दाको विषयवस्तु ..............................कुनै प्राविधिज्ञ वा अन्य कुनै कर्मचारीले  त्यस्तो वस्तु, विषय वा ठाउँको अवलोकन वा निरीक्षण गरेको भए निजले मुद्दाको विषयवस्तुसँग </a:t>
            </a:r>
            <a:r>
              <a:rPr lang="ne-NP" sz="3200" dirty="0" err="1">
                <a:cs typeface="Kalimati" pitchFamily="2"/>
              </a:rPr>
              <a:t>सान्दर्भिक</a:t>
            </a:r>
            <a:r>
              <a:rPr lang="ne-NP" sz="3200" dirty="0">
                <a:cs typeface="Kalimati" pitchFamily="2"/>
              </a:rPr>
              <a:t> विषयमा प्रतिवेदन तयार गरी अदालतमा </a:t>
            </a:r>
            <a:r>
              <a:rPr lang="ne-NP" sz="3200" dirty="0" err="1">
                <a:cs typeface="Kalimati" pitchFamily="2"/>
              </a:rPr>
              <a:t>पेश</a:t>
            </a:r>
            <a:r>
              <a:rPr lang="ne-NP" sz="3200" dirty="0">
                <a:cs typeface="Kalimati" pitchFamily="2"/>
              </a:rPr>
              <a:t> गर्नु पर्नेछ । </a:t>
            </a:r>
            <a:endParaRPr lang="en-US" sz="3200" dirty="0">
              <a:cs typeface="Kalimati" pitchFamily="2"/>
            </a:endParaRPr>
          </a:p>
          <a:p>
            <a:pPr algn="just">
              <a:buNone/>
            </a:pPr>
            <a:endParaRPr lang="ne-NP"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24</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F747-3ACC-D3D9-7E62-A0E1116BADFC}"/>
              </a:ext>
            </a:extLst>
          </p:cNvPr>
          <p:cNvSpPr>
            <a:spLocks noGrp="1"/>
          </p:cNvSpPr>
          <p:nvPr>
            <p:ph type="title"/>
          </p:nvPr>
        </p:nvSpPr>
        <p:spPr>
          <a:xfrm>
            <a:off x="838200" y="136526"/>
            <a:ext cx="10515600" cy="697664"/>
          </a:xfrm>
        </p:spPr>
        <p:txBody>
          <a:bodyPr>
            <a:normAutofit/>
          </a:bodyPr>
          <a:lstStyle/>
          <a:p>
            <a:pPr algn="ctr"/>
            <a:r>
              <a:rPr lang="ne-NP" sz="3200" b="1" dirty="0">
                <a:cs typeface="Kalimati" panose="00000400000000000000" pitchFamily="2"/>
              </a:rPr>
              <a:t> </a:t>
            </a:r>
            <a:r>
              <a:rPr lang="ne-NP" sz="3200" b="1" u="sng" dirty="0">
                <a:cs typeface="Kalimati" panose="00000400000000000000" pitchFamily="2"/>
              </a:rPr>
              <a:t>नाप नक्साको आदेश र नक्सामा खुलाउनु पर्ने कुराहरू</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8413B369-56C7-CC6B-6EC1-7A4D5432594D}"/>
              </a:ext>
            </a:extLst>
          </p:cNvPr>
          <p:cNvSpPr>
            <a:spLocks noGrp="1"/>
          </p:cNvSpPr>
          <p:nvPr>
            <p:ph idx="1"/>
          </p:nvPr>
        </p:nvSpPr>
        <p:spPr>
          <a:xfrm>
            <a:off x="144379" y="834190"/>
            <a:ext cx="11919284" cy="5887284"/>
          </a:xfrm>
        </p:spPr>
        <p:txBody>
          <a:bodyPr>
            <a:normAutofit/>
          </a:bodyPr>
          <a:lstStyle/>
          <a:p>
            <a:pPr marL="0" indent="0" algn="just">
              <a:buNone/>
            </a:pPr>
            <a:r>
              <a:rPr lang="ne-NP" sz="3200" dirty="0">
                <a:cs typeface="Kalimati" panose="00000400000000000000" pitchFamily="2"/>
              </a:rPr>
              <a:t>नाप नक्साको आदेश गर्दा खुलाउने कुरा मुख्यतः मुद्दाको तथ्यमा निर्भर गर्छ, सामान्यतः निम्न विवरण</a:t>
            </a:r>
            <a:r>
              <a:rPr lang="en-US" sz="3200" dirty="0">
                <a:cs typeface="Kalimati" panose="00000400000000000000" pitchFamily="2"/>
              </a:rPr>
              <a:t> (Description)</a:t>
            </a:r>
            <a:r>
              <a:rPr lang="ne-NP" sz="3200" dirty="0">
                <a:cs typeface="Kalimati" panose="00000400000000000000" pitchFamily="2"/>
              </a:rPr>
              <a:t> समावेश हुनु पर्ला कि ?</a:t>
            </a:r>
          </a:p>
          <a:p>
            <a:pPr algn="just">
              <a:buFont typeface="Wingdings" panose="05000000000000000000" pitchFamily="2" charset="2"/>
              <a:buChar char="v"/>
            </a:pPr>
            <a:r>
              <a:rPr lang="ne-NP" sz="3200" dirty="0">
                <a:cs typeface="Kalimati" panose="00000400000000000000" pitchFamily="2"/>
              </a:rPr>
              <a:t>फिराद र प्रतिउत्तर पत्रमा उल्लेख गरिएका जग्गाको क्षेत्रफल, चार किल्ला, सिमाना, लिग लगापात र जग्गाको आकृति प्रकृति, </a:t>
            </a:r>
          </a:p>
          <a:p>
            <a:pPr algn="just">
              <a:buFont typeface="Wingdings" panose="05000000000000000000" pitchFamily="2" charset="2"/>
              <a:buChar char="v"/>
            </a:pPr>
            <a:r>
              <a:rPr lang="ne-NP" sz="3200" dirty="0">
                <a:cs typeface="Kalimati" panose="00000400000000000000" pitchFamily="2"/>
              </a:rPr>
              <a:t>खिचोला गरिएको भनिएको जग्गाको क्षेत्रफल र त्यसको भोग,</a:t>
            </a:r>
          </a:p>
          <a:p>
            <a:pPr algn="just">
              <a:buFont typeface="Wingdings" panose="05000000000000000000" pitchFamily="2" charset="2"/>
              <a:buChar char="v"/>
            </a:pPr>
            <a:r>
              <a:rPr lang="ne-NP" sz="3200" dirty="0">
                <a:cs typeface="Kalimati" panose="00000400000000000000" pitchFamily="2"/>
              </a:rPr>
              <a:t>बादी दाबी र प्रतिउत्तर जिकिरमा उल्लेख भएका जग्गामा नयाँ बाटो खोलिएको वा पुरानो बाटोलाई फराकिलो पारिएको भए बाटोमा पर्न गएको जग्गाको क्षेत्रफल,</a:t>
            </a:r>
          </a:p>
          <a:p>
            <a:pPr algn="just">
              <a:buFont typeface="Wingdings" panose="05000000000000000000" pitchFamily="2" charset="2"/>
              <a:buChar char="v"/>
            </a:pPr>
            <a:r>
              <a:rPr lang="ne-NP" sz="3200" dirty="0">
                <a:cs typeface="Kalimati" panose="00000400000000000000" pitchFamily="2"/>
              </a:rPr>
              <a:t>बादी दाबी र प्रतिउत्तर जिकिरमा उल्लेख भएका जग्गाबाट नहर, कुलो आदि निर्माण गरिएको भए त्यसको क्षेत्रफल,</a:t>
            </a:r>
            <a:endParaRPr lang="en-US" sz="3200" dirty="0">
              <a:cs typeface="Kalimati" panose="00000400000000000000" pitchFamily="2"/>
            </a:endParaRPr>
          </a:p>
          <a:p>
            <a:pPr algn="just">
              <a:buFont typeface="Wingdings" panose="05000000000000000000" pitchFamily="2" charset="2"/>
              <a:buChar char="v"/>
            </a:pPr>
            <a:r>
              <a:rPr lang="ne-NP" sz="3200" dirty="0">
                <a:cs typeface="Kalimati" panose="00000400000000000000" pitchFamily="2"/>
              </a:rPr>
              <a:t>गारो खिचोला ..............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C1D2B423-6892-EEB3-B70F-7DDCC9602AD0}"/>
              </a:ext>
            </a:extLst>
          </p:cNvPr>
          <p:cNvSpPr>
            <a:spLocks noGrp="1"/>
          </p:cNvSpPr>
          <p:nvPr>
            <p:ph type="sldNum" sz="quarter" idx="12"/>
          </p:nvPr>
        </p:nvSpPr>
        <p:spPr/>
        <p:txBody>
          <a:bodyPr/>
          <a:lstStyle/>
          <a:p>
            <a:fld id="{FBEE1443-9B50-414A-932B-DC12F1E761CB}" type="slidenum">
              <a:rPr lang="en-US" sz="2400" smtClean="0"/>
              <a:t>25</a:t>
            </a:fld>
            <a:endParaRPr lang="en-US" sz="2400" dirty="0"/>
          </a:p>
        </p:txBody>
      </p:sp>
    </p:spTree>
    <p:extLst>
      <p:ext uri="{BB962C8B-B14F-4D97-AF65-F5344CB8AC3E}">
        <p14:creationId xmlns:p14="http://schemas.microsoft.com/office/powerpoint/2010/main" val="222497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8839200" cy="411162"/>
          </a:xfrm>
        </p:spPr>
        <p:txBody>
          <a:bodyPr>
            <a:noAutofit/>
          </a:bodyPr>
          <a:lstStyle/>
          <a:p>
            <a:pPr algn="ctr"/>
            <a:r>
              <a:rPr lang="ne-NP" sz="3200" b="1" u="sng" dirty="0">
                <a:cs typeface="Kalimati" pitchFamily="2"/>
              </a:rPr>
              <a:t>नाप नक्साको आदेश भए पछिका कार्यविधि</a:t>
            </a:r>
            <a:endParaRPr lang="en-US" sz="3200" b="1" u="sng" dirty="0">
              <a:cs typeface="Kalimati" pitchFamily="2"/>
            </a:endParaRPr>
          </a:p>
        </p:txBody>
      </p:sp>
      <p:sp>
        <p:nvSpPr>
          <p:cNvPr id="3" name="Content Placeholder 2"/>
          <p:cNvSpPr>
            <a:spLocks noGrp="1"/>
          </p:cNvSpPr>
          <p:nvPr>
            <p:ph idx="1"/>
          </p:nvPr>
        </p:nvSpPr>
        <p:spPr>
          <a:xfrm>
            <a:off x="208547" y="990600"/>
            <a:ext cx="11823032" cy="5638800"/>
          </a:xfrm>
        </p:spPr>
        <p:txBody>
          <a:bodyPr>
            <a:normAutofit/>
          </a:bodyPr>
          <a:lstStyle/>
          <a:p>
            <a:pPr marL="514350" indent="-514350" algn="just">
              <a:buFont typeface="Wingdings" pitchFamily="2" charset="2"/>
              <a:buChar char="v"/>
            </a:pPr>
            <a:r>
              <a:rPr lang="ne-NP" sz="3200" dirty="0">
                <a:cs typeface="Kalimati" pitchFamily="2"/>
              </a:rPr>
              <a:t>नापी कार्यालयबाट विवादित जग्गाको नक्सा प्रिन्ट झिकाउने,</a:t>
            </a:r>
          </a:p>
          <a:p>
            <a:pPr marL="514350" indent="-514350" algn="just">
              <a:buFont typeface="Wingdings" pitchFamily="2" charset="2"/>
              <a:buChar char="v"/>
            </a:pPr>
            <a:r>
              <a:rPr lang="ne-NP" sz="3200" dirty="0">
                <a:cs typeface="Kalimati" pitchFamily="2"/>
              </a:rPr>
              <a:t>मुद्दाको पक्षलाई डोरको तारेख तोक्ने,</a:t>
            </a:r>
          </a:p>
          <a:p>
            <a:pPr marL="514350" indent="-514350" algn="just">
              <a:buFont typeface="Wingdings" pitchFamily="2" charset="2"/>
              <a:buChar char="v"/>
            </a:pPr>
            <a:r>
              <a:rPr lang="ne-NP" sz="3200" dirty="0">
                <a:cs typeface="Kalimati" pitchFamily="2"/>
              </a:rPr>
              <a:t>डोर पुर्जी तयार गर्ने,</a:t>
            </a:r>
          </a:p>
          <a:p>
            <a:pPr marL="514350" indent="-514350" algn="just">
              <a:buFont typeface="Wingdings" pitchFamily="2" charset="2"/>
              <a:buChar char="v"/>
            </a:pPr>
            <a:r>
              <a:rPr lang="ne-NP" sz="3200" dirty="0">
                <a:cs typeface="Kalimati" pitchFamily="2"/>
              </a:rPr>
              <a:t>डोरमा जाने कर्मचारी र अमिनलाई मुद्दाको बस्तुस्थिति र इजलासबाट भएको आदेशको व्यहोराको जानकारी गराउने,</a:t>
            </a:r>
          </a:p>
          <a:p>
            <a:pPr marL="514350" indent="-514350" algn="just">
              <a:buFont typeface="Wingdings" pitchFamily="2" charset="2"/>
              <a:buChar char="v"/>
            </a:pPr>
            <a:r>
              <a:rPr lang="ne-NP" sz="3200" dirty="0">
                <a:cs typeface="Kalimati" pitchFamily="2"/>
              </a:rPr>
              <a:t>स्थानीय निकायका प्रतिनिधिको उपस्थितिका लागि </a:t>
            </a:r>
            <a:r>
              <a:rPr lang="ne-NP" sz="3200" dirty="0" err="1">
                <a:cs typeface="Kalimati" pitchFamily="2"/>
              </a:rPr>
              <a:t>गाउँपालिका</a:t>
            </a:r>
            <a:r>
              <a:rPr lang="ne-NP" sz="3200" dirty="0">
                <a:cs typeface="Kalimati" pitchFamily="2"/>
              </a:rPr>
              <a:t> </a:t>
            </a:r>
            <a:r>
              <a:rPr lang="en-US" sz="3200" dirty="0">
                <a:cs typeface="Kalimati" pitchFamily="2"/>
              </a:rPr>
              <a:t>/ </a:t>
            </a:r>
            <a:r>
              <a:rPr lang="ne-NP" sz="3200" dirty="0">
                <a:cs typeface="Kalimati" pitchFamily="2"/>
              </a:rPr>
              <a:t>नगरपालिकामा पत्र पठाउने,</a:t>
            </a:r>
          </a:p>
          <a:p>
            <a:pPr marL="514350" indent="-514350" algn="just">
              <a:buFont typeface="Wingdings" pitchFamily="2" charset="2"/>
              <a:buChar char="v"/>
            </a:pPr>
            <a:r>
              <a:rPr lang="ne-NP" sz="3200" dirty="0">
                <a:cs typeface="Kalimati" pitchFamily="2"/>
              </a:rPr>
              <a:t>आदेशमा उल्लेख भए बमोजिम विवादित जग्गाको साबिक र हालको अवस्था, चार किल्ला, विवाद परेको क्षेत्रफल समेतका आदेशले निर्दिष्ट गरेका </a:t>
            </a:r>
            <a:r>
              <a:rPr lang="ne-NP" sz="3200" dirty="0" err="1">
                <a:cs typeface="Kalimati" pitchFamily="2"/>
              </a:rPr>
              <a:t>कुराहरु</a:t>
            </a:r>
            <a:r>
              <a:rPr lang="ne-NP" sz="3200" dirty="0">
                <a:cs typeface="Kalimati" pitchFamily="2"/>
              </a:rPr>
              <a:t> स्पष्टसंग खुलाउने,</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26</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381000"/>
          </a:xfrm>
        </p:spPr>
        <p:txBody>
          <a:bodyPr>
            <a:noAutofit/>
          </a:bodyPr>
          <a:lstStyle/>
          <a:p>
            <a:pPr algn="r"/>
            <a:r>
              <a:rPr lang="ne-NP" sz="2400" b="1" dirty="0">
                <a:cs typeface="Kalimati" pitchFamily="2"/>
              </a:rPr>
              <a:t>                      ...क्रमश</a:t>
            </a:r>
            <a:endParaRPr lang="en-US" sz="2400" b="1" dirty="0">
              <a:cs typeface="Kalimati" pitchFamily="2"/>
            </a:endParaRPr>
          </a:p>
        </p:txBody>
      </p:sp>
      <p:sp>
        <p:nvSpPr>
          <p:cNvPr id="3" name="Content Placeholder 2"/>
          <p:cNvSpPr>
            <a:spLocks noGrp="1"/>
          </p:cNvSpPr>
          <p:nvPr>
            <p:ph idx="1"/>
          </p:nvPr>
        </p:nvSpPr>
        <p:spPr>
          <a:xfrm>
            <a:off x="288757" y="609600"/>
            <a:ext cx="11742821" cy="6096000"/>
          </a:xfrm>
        </p:spPr>
        <p:txBody>
          <a:bodyPr>
            <a:normAutofit/>
          </a:bodyPr>
          <a:lstStyle/>
          <a:p>
            <a:pPr marL="514350" indent="-514350" algn="just">
              <a:buFont typeface="Wingdings" pitchFamily="2" charset="2"/>
              <a:buChar char="v"/>
            </a:pPr>
            <a:r>
              <a:rPr lang="ne-NP" sz="3200" dirty="0">
                <a:cs typeface="Kalimati" pitchFamily="2"/>
              </a:rPr>
              <a:t>नक्सा तयार गरे पछि वादी प्रतिवादीको भनाई उल्लेख गरी नक्सा कैफियतको व्यहोरा लेख्ने,</a:t>
            </a:r>
          </a:p>
          <a:p>
            <a:pPr marL="514350" indent="-514350" algn="just">
              <a:buFont typeface="Wingdings" pitchFamily="2" charset="2"/>
              <a:buChar char="v"/>
            </a:pPr>
            <a:r>
              <a:rPr lang="ne-NP" sz="3200" dirty="0">
                <a:cs typeface="Kalimati" pitchFamily="2"/>
              </a:rPr>
              <a:t>मुद्दाका पक्ष, स्थानीय निकायका प्रतिनिधि र भद्र भलादमीको नक्सा मुचुल्काको रोहवरमा सहिछाप गराउने,</a:t>
            </a:r>
          </a:p>
          <a:p>
            <a:pPr marL="514350" indent="-514350" algn="just">
              <a:buFont typeface="Wingdings" pitchFamily="2" charset="2"/>
              <a:buChar char="v"/>
            </a:pPr>
            <a:r>
              <a:rPr lang="ne-NP" sz="3200" dirty="0">
                <a:cs typeface="Kalimati" pitchFamily="2"/>
              </a:rPr>
              <a:t>बढीमा ७ दिनभित्र अदालतमा उपस्थित हुन आउनु भनी मुद्दाका पक्षलाई तारेख तोक्ने,</a:t>
            </a:r>
          </a:p>
          <a:p>
            <a:pPr marL="514350" indent="-514350" algn="just">
              <a:buFont typeface="Wingdings" pitchFamily="2" charset="2"/>
              <a:buChar char="v"/>
            </a:pPr>
            <a:r>
              <a:rPr lang="ne-NP" sz="3200" dirty="0">
                <a:cs typeface="Kalimati" pitchFamily="2"/>
              </a:rPr>
              <a:t>प्रतिवेदनसाथ नक्सा अदालतमा पेश गरी मिसिल संलग्न राख्ने,</a:t>
            </a:r>
          </a:p>
          <a:p>
            <a:pPr marL="514350" indent="-514350" algn="just">
              <a:buFont typeface="Wingdings" pitchFamily="2" charset="2"/>
              <a:buChar char="v"/>
            </a:pPr>
            <a:r>
              <a:rPr lang="ne-NP" sz="3200" dirty="0">
                <a:cs typeface="Kalimati" pitchFamily="2"/>
              </a:rPr>
              <a:t>कुनै कारणले नक्सा हुन नसकेमा सोही व्यहोराको प्रतिवेदन दिने ... आदि।</a:t>
            </a:r>
            <a:endParaRPr lang="en-US" sz="3200"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27</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263" y="196849"/>
            <a:ext cx="11518231" cy="869951"/>
          </a:xfrm>
        </p:spPr>
        <p:txBody>
          <a:bodyPr>
            <a:noAutofit/>
          </a:bodyPr>
          <a:lstStyle/>
          <a:p>
            <a:pPr algn="ctr"/>
            <a:br>
              <a:rPr lang="ne-NP" sz="3200" b="1" dirty="0">
                <a:cs typeface="Kalimati" pitchFamily="2"/>
              </a:rPr>
            </a:br>
            <a:r>
              <a:rPr lang="ne-NP" sz="3200" b="1" u="sng" dirty="0">
                <a:cs typeface="Kalimati" pitchFamily="2"/>
              </a:rPr>
              <a:t>नाप नक्सा बदर गरी पाउन पर्ने </a:t>
            </a:r>
            <a:r>
              <a:rPr lang="ne-NP" sz="3200" b="1" u="sng" dirty="0" err="1">
                <a:cs typeface="Kalimati" pitchFamily="2"/>
              </a:rPr>
              <a:t>निवेदन</a:t>
            </a:r>
            <a:r>
              <a:rPr lang="ne-NP" sz="3200" b="1" u="sng" dirty="0">
                <a:cs typeface="Kalimati" pitchFamily="2"/>
              </a:rPr>
              <a:t> र नक्सा बदर हुने अवस्था</a:t>
            </a:r>
            <a:r>
              <a:rPr lang="ne-NP" sz="3200" b="1" dirty="0">
                <a:cs typeface="Kalimati" pitchFamily="2"/>
              </a:rPr>
              <a:t> </a:t>
            </a:r>
            <a:br>
              <a:rPr lang="ne-NP" sz="3200" b="1" dirty="0">
                <a:cs typeface="Kalimati" pitchFamily="2"/>
              </a:rPr>
            </a:br>
            <a:endParaRPr lang="en-US" sz="3200" b="1" u="sng" dirty="0">
              <a:cs typeface="Kalimati" pitchFamily="2"/>
            </a:endParaRPr>
          </a:p>
        </p:txBody>
      </p:sp>
      <p:sp>
        <p:nvSpPr>
          <p:cNvPr id="3" name="Content Placeholder 2"/>
          <p:cNvSpPr>
            <a:spLocks noGrp="1"/>
          </p:cNvSpPr>
          <p:nvPr>
            <p:ph idx="1"/>
          </p:nvPr>
        </p:nvSpPr>
        <p:spPr>
          <a:xfrm>
            <a:off x="192505" y="1066800"/>
            <a:ext cx="11871158" cy="5715000"/>
          </a:xfrm>
        </p:spPr>
        <p:txBody>
          <a:bodyPr>
            <a:normAutofit/>
          </a:bodyPr>
          <a:lstStyle/>
          <a:p>
            <a:pPr algn="just">
              <a:buFont typeface="Wingdings" pitchFamily="2" charset="2"/>
              <a:buChar char="v"/>
            </a:pPr>
            <a:r>
              <a:rPr lang="ne-NP" sz="3200" dirty="0">
                <a:cs typeface="Kalimati" pitchFamily="2"/>
              </a:rPr>
              <a:t>आदेश बमोजिम खुलाउनु पर्ने सबै विवरण नखुलाइएको ।</a:t>
            </a:r>
          </a:p>
          <a:p>
            <a:pPr algn="just">
              <a:buFont typeface="Wingdings" pitchFamily="2" charset="2"/>
              <a:buChar char="v"/>
            </a:pPr>
            <a:r>
              <a:rPr lang="ne-NP" sz="3200" dirty="0">
                <a:cs typeface="Kalimati" pitchFamily="2"/>
              </a:rPr>
              <a:t>नक्साको ब्लुप्रिन्ट र भई आएको नक्सामा जग्गाको आकृति प्रकृति अस्वभाविक रुपमा फरक परेको ।</a:t>
            </a:r>
          </a:p>
          <a:p>
            <a:pPr algn="just">
              <a:buFont typeface="Wingdings" pitchFamily="2" charset="2"/>
              <a:buChar char="v"/>
            </a:pPr>
            <a:r>
              <a:rPr lang="ne-NP" sz="3200" dirty="0">
                <a:cs typeface="Kalimati" pitchFamily="2"/>
              </a:rPr>
              <a:t>नक्साको तारेखमा नक्सा नगरी पृथक मितिमा नक्सा गरी पक्षहरु रोहवरमा बस्न नपाएको ।</a:t>
            </a:r>
          </a:p>
          <a:p>
            <a:pPr algn="just">
              <a:buFont typeface="Wingdings" pitchFamily="2" charset="2"/>
              <a:buChar char="v"/>
            </a:pPr>
            <a:r>
              <a:rPr lang="ne-NP" sz="3200" dirty="0">
                <a:cs typeface="Kalimati" pitchFamily="2"/>
              </a:rPr>
              <a:t>स्थानीय निकायलाई सूचना नदिई नाप नक्सा गरेको ।</a:t>
            </a:r>
          </a:p>
          <a:p>
            <a:pPr algn="just">
              <a:buFont typeface="Wingdings" pitchFamily="2" charset="2"/>
              <a:buChar char="v"/>
            </a:pPr>
            <a:r>
              <a:rPr lang="ne-NP" sz="3200" dirty="0" err="1">
                <a:cs typeface="Kalimati" pitchFamily="2"/>
              </a:rPr>
              <a:t>सारतः</a:t>
            </a:r>
            <a:r>
              <a:rPr lang="ne-NP" sz="3200" dirty="0">
                <a:cs typeface="Kalimati" pitchFamily="2"/>
              </a:rPr>
              <a:t> अ. </a:t>
            </a:r>
            <a:r>
              <a:rPr lang="ne-NP" sz="3200" dirty="0" err="1">
                <a:cs typeface="Kalimati" pitchFamily="2"/>
              </a:rPr>
              <a:t>वं</a:t>
            </a:r>
            <a:r>
              <a:rPr lang="ne-NP" sz="3200" dirty="0">
                <a:cs typeface="Kalimati" pitchFamily="2"/>
              </a:rPr>
              <a:t>. १७१ नं. र </a:t>
            </a:r>
            <a:r>
              <a:rPr lang="ne-NP" sz="3200" dirty="0" err="1">
                <a:cs typeface="Kalimati" pitchFamily="2"/>
              </a:rPr>
              <a:t>मुदेकासंको</a:t>
            </a:r>
            <a:r>
              <a:rPr lang="ne-NP" sz="3200" dirty="0">
                <a:cs typeface="Kalimati" pitchFamily="2"/>
              </a:rPr>
              <a:t> दफा १७७ बमोजिमको प्रक्रिया पुरा नगरिएको ।</a:t>
            </a:r>
          </a:p>
          <a:p>
            <a:pPr algn="just">
              <a:buFont typeface="Wingdings" pitchFamily="2" charset="2"/>
              <a:buChar char="v"/>
            </a:pPr>
            <a:r>
              <a:rPr lang="ne-NP" sz="3200" dirty="0">
                <a:cs typeface="Kalimati" pitchFamily="2"/>
              </a:rPr>
              <a:t>बदर नै गर्नु पर्ने विशेष अवस्थामा बाहेक पुरक नक्सा गराई थप कुरा खुलाउन लगाउनु उचित हुने ।</a:t>
            </a:r>
          </a:p>
          <a:p>
            <a:pPr algn="just">
              <a:buFont typeface="Wingdings" pitchFamily="2" charset="2"/>
              <a:buChar char="v"/>
            </a:pPr>
            <a:endParaRPr lang="ne-NP" sz="3200" dirty="0">
              <a:cs typeface="Kalimati" pitchFamily="2"/>
            </a:endParaRPr>
          </a:p>
          <a:p>
            <a:pPr algn="just">
              <a:buFont typeface="Wingdings" pitchFamily="2" charset="2"/>
              <a:buChar char="v"/>
            </a:pPr>
            <a:endParaRPr lang="en-US" sz="3200" dirty="0">
              <a:cs typeface="Kalimati" pitchFamily="2"/>
            </a:endParaRPr>
          </a:p>
        </p:txBody>
      </p:sp>
      <p:sp>
        <p:nvSpPr>
          <p:cNvPr id="4" name="Slide Number Placeholder 3"/>
          <p:cNvSpPr>
            <a:spLocks noGrp="1"/>
          </p:cNvSpPr>
          <p:nvPr>
            <p:ph type="sldNum" sz="quarter" idx="12"/>
          </p:nvPr>
        </p:nvSpPr>
        <p:spPr>
          <a:xfrm>
            <a:off x="8666018" y="6600297"/>
            <a:ext cx="2133600" cy="60854"/>
          </a:xfrm>
        </p:spPr>
        <p:txBody>
          <a:bodyPr/>
          <a:lstStyle/>
          <a:p>
            <a:fld id="{1AB988AC-FA38-437B-B260-9A3FBAC857AD}" type="slidenum">
              <a:rPr lang="en-US" sz="2400" smtClean="0"/>
              <a:pPr/>
              <a:t>28</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609600"/>
          </a:xfrm>
        </p:spPr>
        <p:txBody>
          <a:bodyPr>
            <a:normAutofit/>
          </a:bodyPr>
          <a:lstStyle/>
          <a:p>
            <a:pPr algn="ctr"/>
            <a:r>
              <a:rPr lang="ne-NP" sz="3200" b="1" dirty="0">
                <a:cs typeface="Kalimati" pitchFamily="2"/>
              </a:rPr>
              <a:t> </a:t>
            </a:r>
            <a:r>
              <a:rPr lang="ne-NP" sz="3200" b="1" u="sng" dirty="0">
                <a:cs typeface="Kalimati" pitchFamily="2"/>
              </a:rPr>
              <a:t>सर्वोच्च अदालतबाट भएका केही व्याख्याहरु</a:t>
            </a:r>
            <a:endParaRPr lang="en-US" sz="3200" b="1" u="sng" dirty="0">
              <a:cs typeface="Kalimati" pitchFamily="2"/>
            </a:endParaRPr>
          </a:p>
        </p:txBody>
      </p:sp>
      <p:sp>
        <p:nvSpPr>
          <p:cNvPr id="3" name="Content Placeholder 2"/>
          <p:cNvSpPr>
            <a:spLocks noGrp="1"/>
          </p:cNvSpPr>
          <p:nvPr>
            <p:ph idx="1"/>
          </p:nvPr>
        </p:nvSpPr>
        <p:spPr>
          <a:xfrm>
            <a:off x="160421" y="762000"/>
            <a:ext cx="11806990" cy="5867400"/>
          </a:xfrm>
        </p:spPr>
        <p:txBody>
          <a:bodyPr>
            <a:normAutofit/>
          </a:bodyPr>
          <a:lstStyle/>
          <a:p>
            <a:pPr algn="just">
              <a:buFont typeface="Wingdings" pitchFamily="2" charset="2"/>
              <a:buChar char="v"/>
            </a:pPr>
            <a:r>
              <a:rPr lang="ne-NP" sz="3200" dirty="0">
                <a:cs typeface="Kalimati" pitchFamily="2"/>
              </a:rPr>
              <a:t>नक्सामा झगडा परेको जग्गाको चौतर्फी साँधमा लेखिएको सँधियारको नामसंग मिल्न भिड्न नआए झगडा परेको जग्गाको सँधियार मान्न नमिल्ने ।</a:t>
            </a:r>
          </a:p>
          <a:p>
            <a:pPr algn="r">
              <a:buNone/>
            </a:pPr>
            <a:r>
              <a:rPr lang="ne-NP" sz="3200" b="1" dirty="0">
                <a:cs typeface="Kalimati" pitchFamily="2"/>
              </a:rPr>
              <a:t>(ने. का. प. २०३३ नि. नं. ८८५)</a:t>
            </a:r>
          </a:p>
          <a:p>
            <a:pPr algn="just">
              <a:buFont typeface="Wingdings" pitchFamily="2" charset="2"/>
              <a:buChar char="v"/>
            </a:pPr>
            <a:r>
              <a:rPr lang="ne-NP" sz="3200" dirty="0">
                <a:cs typeface="Kalimati" pitchFamily="2"/>
              </a:rPr>
              <a:t>अघि नक्सा हुँदा वादी प्रतिवादीको सहि नभएको र पुनः नक्सा हुँदा वादीले रोहवरमा सहि नगरेको भनी जनिएर नक्सा भई आएको देखिन्छ । चित्त नबुझे कारण जनाई सहि गर्नु पर्नेमा सो भए गरेको नदेखिदा सो नक्साले मान्यता पाउने ।</a:t>
            </a:r>
          </a:p>
          <a:p>
            <a:pPr algn="r">
              <a:buNone/>
            </a:pPr>
            <a:r>
              <a:rPr lang="ne-NP" sz="3200" b="1" dirty="0">
                <a:cs typeface="Kalimati" pitchFamily="2"/>
              </a:rPr>
              <a:t>(ने. का. प. २०४१ पृष्ठ ८२१)</a:t>
            </a:r>
            <a:endParaRPr lang="en-US" sz="3200" b="1"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29</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Autofit/>
          </a:bodyPr>
          <a:lstStyle/>
          <a:p>
            <a:pPr algn="r"/>
            <a:r>
              <a:rPr lang="ne-NP" sz="2400" b="1" dirty="0">
                <a:cs typeface="Kalimati" pitchFamily="2"/>
              </a:rPr>
              <a:t>...क्रमश</a:t>
            </a:r>
            <a:endParaRPr lang="en-US" sz="2400" b="1" dirty="0">
              <a:cs typeface="Kalimati" pitchFamily="2"/>
            </a:endParaRPr>
          </a:p>
        </p:txBody>
      </p:sp>
      <p:sp>
        <p:nvSpPr>
          <p:cNvPr id="3" name="Content Placeholder 2"/>
          <p:cNvSpPr>
            <a:spLocks noGrp="1"/>
          </p:cNvSpPr>
          <p:nvPr>
            <p:ph idx="1"/>
          </p:nvPr>
        </p:nvSpPr>
        <p:spPr>
          <a:xfrm>
            <a:off x="224589" y="685800"/>
            <a:ext cx="11839074" cy="6019800"/>
          </a:xfrm>
        </p:spPr>
        <p:txBody>
          <a:bodyPr>
            <a:normAutofit/>
          </a:bodyPr>
          <a:lstStyle/>
          <a:p>
            <a:pPr algn="just">
              <a:buFont typeface="Wingdings" pitchFamily="2" charset="2"/>
              <a:buChar char="v"/>
            </a:pPr>
            <a:r>
              <a:rPr lang="ne-NP" sz="3200" dirty="0">
                <a:cs typeface="Kalimati" pitchFamily="2"/>
              </a:rPr>
              <a:t>ठूलो स्केल र सानो स्केलमा भएको नक्सा झट्ट हेर्दा फरक देखिए जस्तो हुने भए पनि खास बस्तुस्थिति फरक नपरेको अवस्थामा त्यतिकै कारणले भई आएको नक्सालाई प्रमाणको रुपमा ग्रहण गर्न मिल्दैन भन्न युक्तिसंगत नहुने ।</a:t>
            </a:r>
          </a:p>
          <a:p>
            <a:pPr algn="just">
              <a:buNone/>
            </a:pPr>
            <a:r>
              <a:rPr lang="ne-NP" sz="3200" b="1" dirty="0">
                <a:cs typeface="Kalimati" pitchFamily="2"/>
              </a:rPr>
              <a:t>                                 (ने. का. प.२०४४ पृष्ठ ७५७)</a:t>
            </a:r>
          </a:p>
          <a:p>
            <a:pPr algn="just">
              <a:buFont typeface="Wingdings" pitchFamily="2" charset="2"/>
              <a:buChar char="v"/>
            </a:pPr>
            <a:r>
              <a:rPr lang="ne-NP" sz="3200" dirty="0">
                <a:cs typeface="Kalimati" pitchFamily="2"/>
              </a:rPr>
              <a:t>नक्सामा नक्साको रुप स्पष्ट देखिने गरी कैफियत खोली लेख्ने कुरा बाहेक अरु कुरा सो नक्सामा लेख्न नहुनेमा लेखेको प्रमाण लिन नमिल्ने ।</a:t>
            </a:r>
          </a:p>
          <a:p>
            <a:pPr algn="just">
              <a:buNone/>
            </a:pPr>
            <a:r>
              <a:rPr lang="ne-NP" sz="3200" b="1" dirty="0">
                <a:cs typeface="Kalimati" pitchFamily="2"/>
              </a:rPr>
              <a:t>                         (स. अ. निर्णय संग्रह भाग ८ पृष्ठ १६६)</a:t>
            </a:r>
            <a:endParaRPr lang="en-US" sz="3200" b="1"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30</a:t>
            </a:fld>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FAC1C-7136-04B3-6748-7CB63EBED76B}"/>
              </a:ext>
            </a:extLst>
          </p:cNvPr>
          <p:cNvSpPr>
            <a:spLocks noGrp="1"/>
          </p:cNvSpPr>
          <p:nvPr>
            <p:ph type="title"/>
          </p:nvPr>
        </p:nvSpPr>
        <p:spPr>
          <a:xfrm>
            <a:off x="838200" y="136525"/>
            <a:ext cx="10515600" cy="433101"/>
          </a:xfrm>
        </p:spPr>
        <p:txBody>
          <a:bodyPr>
            <a:noAutofit/>
          </a:bodyPr>
          <a:lstStyle/>
          <a:p>
            <a:pPr algn="ctr"/>
            <a:r>
              <a:rPr lang="ne-NP" sz="3200" b="1" u="sng" dirty="0">
                <a:cs typeface="Kalimati" panose="00000400000000000000" pitchFamily="2"/>
              </a:rPr>
              <a:t>खिचोला मुद्दाको केही अभ्यास</a:t>
            </a:r>
            <a:endParaRPr lang="en-US" sz="3200" b="1" u="sng" dirty="0">
              <a:cs typeface="Kalimati" panose="00000400000000000000" pitchFamily="2"/>
            </a:endParaRPr>
          </a:p>
        </p:txBody>
      </p:sp>
      <p:sp>
        <p:nvSpPr>
          <p:cNvPr id="3" name="Content Placeholder 2">
            <a:extLst>
              <a:ext uri="{FF2B5EF4-FFF2-40B4-BE49-F238E27FC236}">
                <a16:creationId xmlns:a16="http://schemas.microsoft.com/office/drawing/2014/main" id="{1E8B1ECE-E92B-5EB5-FBE9-4F24F91A4E0A}"/>
              </a:ext>
            </a:extLst>
          </p:cNvPr>
          <p:cNvSpPr>
            <a:spLocks noGrp="1"/>
          </p:cNvSpPr>
          <p:nvPr>
            <p:ph idx="1"/>
          </p:nvPr>
        </p:nvSpPr>
        <p:spPr>
          <a:xfrm>
            <a:off x="256673" y="674557"/>
            <a:ext cx="11710737" cy="6046918"/>
          </a:xfrm>
        </p:spPr>
        <p:txBody>
          <a:bodyPr>
            <a:normAutofit fontScale="92500" lnSpcReduction="10000"/>
          </a:bodyPr>
          <a:lstStyle/>
          <a:p>
            <a:pPr algn="just">
              <a:buFont typeface="Wingdings" panose="05000000000000000000" pitchFamily="2" charset="2"/>
              <a:buChar char="v"/>
            </a:pPr>
            <a:r>
              <a:rPr lang="ne-NP" sz="3200" dirty="0">
                <a:cs typeface="Kalimati" panose="00000400000000000000" pitchFamily="2"/>
              </a:rPr>
              <a:t>मेरो नाम दर्ताको कि. नं. १६० को १६-०-० जग्गा मध्ये पश्चिम तर्फ बाट ३-२-० जग्गा च्यापी ....... नगरपालिकाले </a:t>
            </a:r>
            <a:r>
              <a:rPr lang="ne-NP" sz="3200" dirty="0" err="1">
                <a:cs typeface="Kalimati" panose="00000400000000000000" pitchFamily="2"/>
              </a:rPr>
              <a:t>भ्यु</a:t>
            </a:r>
            <a:r>
              <a:rPr lang="ne-NP" sz="3200" dirty="0">
                <a:cs typeface="Kalimati" panose="00000400000000000000" pitchFamily="2"/>
              </a:rPr>
              <a:t> टावर र पार्क निर्माण गरी खिचोला गरेकोले प्रतिवादीले मेरो जग्गामा निर्माण गरेको </a:t>
            </a:r>
            <a:r>
              <a:rPr lang="ne-NP" sz="3200" dirty="0" err="1">
                <a:cs typeface="Kalimati" panose="00000400000000000000" pitchFamily="2"/>
              </a:rPr>
              <a:t>भ्यु</a:t>
            </a:r>
            <a:r>
              <a:rPr lang="ne-NP" sz="3200" dirty="0">
                <a:cs typeface="Kalimati" panose="00000400000000000000" pitchFamily="2"/>
              </a:rPr>
              <a:t> टावर र पार्क भत्काई खिचोला मेटाई चलन चलाई पाउँ भन्ने </a:t>
            </a:r>
            <a:r>
              <a:rPr lang="ne-NP" sz="3200" dirty="0">
                <a:solidFill>
                  <a:srgbClr val="FF0000"/>
                </a:solidFill>
                <a:cs typeface="Kalimati" panose="00000400000000000000" pitchFamily="2"/>
              </a:rPr>
              <a:t>“क”</a:t>
            </a:r>
            <a:r>
              <a:rPr lang="ne-NP" sz="3200" dirty="0">
                <a:cs typeface="Kalimati" panose="00000400000000000000" pitchFamily="2"/>
              </a:rPr>
              <a:t> को बादी दाबीमा बादीको जग्गाको साँधमा रहेको </a:t>
            </a:r>
            <a:r>
              <a:rPr lang="ne-NP" sz="3200" dirty="0">
                <a:solidFill>
                  <a:srgbClr val="FF0000"/>
                </a:solidFill>
                <a:cs typeface="Kalimati" panose="00000400000000000000" pitchFamily="2"/>
              </a:rPr>
              <a:t>“ख”</a:t>
            </a:r>
            <a:r>
              <a:rPr lang="ne-NP" sz="3200" dirty="0">
                <a:cs typeface="Kalimati" panose="00000400000000000000" pitchFamily="2"/>
              </a:rPr>
              <a:t> को कि. नं. १६१ को ४०-०-० जग्गा अधिग्रहण गरी सोही जग्गामा </a:t>
            </a:r>
            <a:r>
              <a:rPr lang="ne-NP" sz="3200" dirty="0" err="1">
                <a:cs typeface="Kalimati" panose="00000400000000000000" pitchFamily="2"/>
              </a:rPr>
              <a:t>भ्यु</a:t>
            </a:r>
            <a:r>
              <a:rPr lang="ne-NP" sz="3200" dirty="0">
                <a:cs typeface="Kalimati" panose="00000400000000000000" pitchFamily="2"/>
              </a:rPr>
              <a:t> टावर र पार्क निर्माण गरिएको हो, बादीको जग्गा मिचेर निर्माण गरिएको छैन भन्ने नगरपालिकाको प्रतिउत्तर जिकिर रहेको यस मुद्दामा अदालतबाट गरिएको नाप नक्साबाट वादीको २-२-० जग्गा </a:t>
            </a:r>
            <a:r>
              <a:rPr lang="ne-NP" sz="3200" dirty="0" err="1">
                <a:cs typeface="Kalimati" panose="00000400000000000000" pitchFamily="2"/>
              </a:rPr>
              <a:t>भ्यु</a:t>
            </a:r>
            <a:r>
              <a:rPr lang="ne-NP" sz="3200" dirty="0">
                <a:cs typeface="Kalimati" panose="00000400000000000000" pitchFamily="2"/>
              </a:rPr>
              <a:t> टावर र पार्क भित्र परेको देखियो ।</a:t>
            </a:r>
          </a:p>
          <a:p>
            <a:pPr algn="just">
              <a:buFont typeface="Wingdings" panose="05000000000000000000" pitchFamily="2" charset="2"/>
              <a:buChar char="v"/>
            </a:pPr>
            <a:r>
              <a:rPr lang="ne-NP" sz="3200" dirty="0">
                <a:cs typeface="Kalimati" panose="00000400000000000000" pitchFamily="2"/>
              </a:rPr>
              <a:t>मिलापत्र गराउन अदालतबाट भएको प्रयास उपलब्धि मूलक हुन सकेको </a:t>
            </a:r>
            <a:r>
              <a:rPr lang="ne-NP" sz="3200" dirty="0" err="1">
                <a:cs typeface="Kalimati" panose="00000400000000000000" pitchFamily="2"/>
              </a:rPr>
              <a:t>रहेनछ</a:t>
            </a:r>
            <a:r>
              <a:rPr lang="ne-NP" sz="3200" dirty="0">
                <a:cs typeface="Kalimati" panose="00000400000000000000" pitchFamily="2"/>
              </a:rPr>
              <a:t> ।</a:t>
            </a:r>
          </a:p>
          <a:p>
            <a:pPr marL="0" indent="0" algn="ctr">
              <a:buNone/>
            </a:pPr>
            <a:r>
              <a:rPr lang="ne-NP" sz="3200" b="1" dirty="0">
                <a:cs typeface="Kalimati" panose="00000400000000000000" pitchFamily="2"/>
              </a:rPr>
              <a:t>फैसला ? </a:t>
            </a:r>
          </a:p>
          <a:p>
            <a:pPr algn="just">
              <a:buFont typeface="Wingdings" panose="05000000000000000000" pitchFamily="2" charset="2"/>
              <a:buChar char="v"/>
            </a:pPr>
            <a:r>
              <a:rPr lang="ne-NP" sz="3200" dirty="0">
                <a:cs typeface="Kalimati" panose="00000400000000000000" pitchFamily="2"/>
              </a:rPr>
              <a:t>फैसला </a:t>
            </a:r>
            <a:r>
              <a:rPr lang="en-US" sz="3200" dirty="0">
                <a:cs typeface="Kalimati" panose="00000400000000000000" pitchFamily="2"/>
              </a:rPr>
              <a:t>/</a:t>
            </a:r>
            <a:r>
              <a:rPr lang="ne-NP" sz="3200" dirty="0">
                <a:cs typeface="Kalimati" panose="00000400000000000000" pitchFamily="2"/>
              </a:rPr>
              <a:t> फैसला कार्यान्वयनमा </a:t>
            </a:r>
            <a:r>
              <a:rPr lang="ne-NP" sz="3200" dirty="0" err="1">
                <a:cs typeface="Kalimati" panose="00000400000000000000" pitchFamily="2"/>
              </a:rPr>
              <a:t>मुदेकासंको</a:t>
            </a:r>
            <a:r>
              <a:rPr lang="ne-NP" sz="3200" dirty="0">
                <a:cs typeface="Kalimati" panose="00000400000000000000" pitchFamily="2"/>
              </a:rPr>
              <a:t> दफा २३८(२३) आकर्षित होला की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0D9F862F-A4E5-BADD-F181-1A59AF70692D}"/>
              </a:ext>
            </a:extLst>
          </p:cNvPr>
          <p:cNvSpPr>
            <a:spLocks noGrp="1"/>
          </p:cNvSpPr>
          <p:nvPr>
            <p:ph type="sldNum" sz="quarter" idx="12"/>
          </p:nvPr>
        </p:nvSpPr>
        <p:spPr/>
        <p:txBody>
          <a:bodyPr/>
          <a:lstStyle/>
          <a:p>
            <a:fld id="{FBEE1443-9B50-414A-932B-DC12F1E761CB}" type="slidenum">
              <a:rPr lang="en-US" sz="2400" smtClean="0"/>
              <a:t>31</a:t>
            </a:fld>
            <a:endParaRPr lang="en-US" sz="2400" dirty="0"/>
          </a:p>
        </p:txBody>
      </p:sp>
    </p:spTree>
    <p:extLst>
      <p:ext uri="{BB962C8B-B14F-4D97-AF65-F5344CB8AC3E}">
        <p14:creationId xmlns:p14="http://schemas.microsoft.com/office/powerpoint/2010/main" val="17206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C850A-E2C8-88D2-FEF6-AE3BAF03C86B}"/>
              </a:ext>
            </a:extLst>
          </p:cNvPr>
          <p:cNvSpPr>
            <a:spLocks noGrp="1"/>
          </p:cNvSpPr>
          <p:nvPr>
            <p:ph type="title"/>
          </p:nvPr>
        </p:nvSpPr>
        <p:spPr>
          <a:xfrm>
            <a:off x="838200" y="136526"/>
            <a:ext cx="10515600" cy="544512"/>
          </a:xfrm>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D05BF582-2F41-DE13-E7C7-0C6903DCA754}"/>
              </a:ext>
            </a:extLst>
          </p:cNvPr>
          <p:cNvSpPr>
            <a:spLocks noGrp="1"/>
          </p:cNvSpPr>
          <p:nvPr>
            <p:ph idx="1"/>
          </p:nvPr>
        </p:nvSpPr>
        <p:spPr>
          <a:xfrm>
            <a:off x="149901" y="681038"/>
            <a:ext cx="11872209" cy="6040436"/>
          </a:xfrm>
        </p:spPr>
        <p:txBody>
          <a:bodyPr>
            <a:normAutofit/>
          </a:bodyPr>
          <a:lstStyle/>
          <a:p>
            <a:pPr marL="0" indent="0" algn="just">
              <a:buNone/>
            </a:pPr>
            <a:endParaRPr lang="ne-NP" sz="3200" dirty="0">
              <a:cs typeface="Kalimati" panose="00000400000000000000" pitchFamily="2"/>
            </a:endParaRPr>
          </a:p>
          <a:p>
            <a:pPr algn="just">
              <a:buFont typeface="Wingdings" panose="05000000000000000000" pitchFamily="2" charset="2"/>
              <a:buChar char="v"/>
            </a:pPr>
            <a:r>
              <a:rPr lang="ne-NP" sz="3200" dirty="0">
                <a:cs typeface="Kalimati" panose="00000400000000000000" pitchFamily="2"/>
              </a:rPr>
              <a:t>मेरो नाम दर्ताको कीर्तिपुर नगरपालिका वडा नं. ४ को २-०-० जग्गा </a:t>
            </a:r>
            <a:r>
              <a:rPr lang="ne-NP" sz="3200" dirty="0" err="1">
                <a:cs typeface="Kalimati" panose="00000400000000000000" pitchFamily="2"/>
              </a:rPr>
              <a:t>त्रिविविले</a:t>
            </a:r>
            <a:r>
              <a:rPr lang="ne-NP" sz="3200" dirty="0">
                <a:cs typeface="Kalimati" panose="00000400000000000000" pitchFamily="2"/>
              </a:rPr>
              <a:t> पर्खाल लगाइ आफ्नो जग्गामा मिसाई खिचोला गरेकोले पर्खाल भत्काई खिचोला मेटाई चलन चलाई पाउँ भन्ने </a:t>
            </a:r>
            <a:r>
              <a:rPr lang="ne-NP" sz="3200" dirty="0">
                <a:solidFill>
                  <a:srgbClr val="FF0000"/>
                </a:solidFill>
                <a:cs typeface="Kalimati" panose="00000400000000000000" pitchFamily="2"/>
              </a:rPr>
              <a:t>“क” </a:t>
            </a:r>
            <a:r>
              <a:rPr lang="ne-NP" sz="3200" dirty="0">
                <a:cs typeface="Kalimati" panose="00000400000000000000" pitchFamily="2"/>
              </a:rPr>
              <a:t>को बादी दाबीमा दाबीको जग्गा अधिग्रहणमा परी बादीका पिताले २०२५ सालमा नै सो जग्गाको क्षतिपूर्ति (मुआवजा) लिई सेकेको हुँदा खिचोला गरेको होइन भन्ने प्रतिउत्तर जिकिरमा अदालतबाट भएको आदेश बमोजिम प्रतिवादीले बादीका पितालाई मुआवजा बुझाएको भरपाई </a:t>
            </a:r>
            <a:r>
              <a:rPr lang="ne-NP" sz="3200" dirty="0" err="1">
                <a:cs typeface="Kalimati" panose="00000400000000000000" pitchFamily="2"/>
              </a:rPr>
              <a:t>पेश</a:t>
            </a:r>
            <a:r>
              <a:rPr lang="ne-NP" sz="3200" dirty="0">
                <a:cs typeface="Kalimati" panose="00000400000000000000" pitchFamily="2"/>
              </a:rPr>
              <a:t> गर्न सकेको </a:t>
            </a:r>
            <a:r>
              <a:rPr lang="ne-NP" sz="3200" dirty="0" err="1">
                <a:cs typeface="Kalimati" panose="00000400000000000000" pitchFamily="2"/>
              </a:rPr>
              <a:t>रहेनछ</a:t>
            </a:r>
            <a:r>
              <a:rPr lang="ne-NP" sz="3200" dirty="0">
                <a:cs typeface="Kalimati" panose="00000400000000000000" pitchFamily="2"/>
              </a:rPr>
              <a:t>। यस अवस्थामा प्रतिवादीले सो जग्गा खिचोला ठहर्ला नठहर्ला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7EC51FBC-476B-3369-2DE5-83A1AA9E3D02}"/>
              </a:ext>
            </a:extLst>
          </p:cNvPr>
          <p:cNvSpPr>
            <a:spLocks noGrp="1"/>
          </p:cNvSpPr>
          <p:nvPr>
            <p:ph type="sldNum" sz="quarter" idx="12"/>
          </p:nvPr>
        </p:nvSpPr>
        <p:spPr/>
        <p:txBody>
          <a:bodyPr/>
          <a:lstStyle/>
          <a:p>
            <a:fld id="{FBEE1443-9B50-414A-932B-DC12F1E761CB}" type="slidenum">
              <a:rPr lang="en-US" sz="2400" smtClean="0"/>
              <a:t>32</a:t>
            </a:fld>
            <a:endParaRPr lang="en-US" sz="2400" dirty="0"/>
          </a:p>
        </p:txBody>
      </p:sp>
    </p:spTree>
    <p:extLst>
      <p:ext uri="{BB962C8B-B14F-4D97-AF65-F5344CB8AC3E}">
        <p14:creationId xmlns:p14="http://schemas.microsoft.com/office/powerpoint/2010/main" val="1881620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098FF-B0C4-0C5B-49CF-02B1CCF0A055}"/>
              </a:ext>
            </a:extLst>
          </p:cNvPr>
          <p:cNvSpPr>
            <a:spLocks noGrp="1"/>
          </p:cNvSpPr>
          <p:nvPr>
            <p:ph type="title"/>
          </p:nvPr>
        </p:nvSpPr>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D4EFE367-52ED-D02C-2F55-E4EBC8FF20B4}"/>
              </a:ext>
            </a:extLst>
          </p:cNvPr>
          <p:cNvSpPr>
            <a:spLocks noGrp="1"/>
          </p:cNvSpPr>
          <p:nvPr>
            <p:ph idx="1"/>
          </p:nvPr>
        </p:nvSpPr>
        <p:spPr>
          <a:xfrm>
            <a:off x="194871" y="1825625"/>
            <a:ext cx="11827239" cy="4351338"/>
          </a:xfrm>
        </p:spPr>
        <p:txBody>
          <a:bodyPr>
            <a:normAutofit/>
          </a:bodyPr>
          <a:lstStyle/>
          <a:p>
            <a:pPr marL="0" indent="0" algn="just">
              <a:buNone/>
            </a:pPr>
            <a:r>
              <a:rPr lang="ne-NP" sz="3200" dirty="0">
                <a:cs typeface="Kalimati" panose="00000400000000000000" pitchFamily="2"/>
              </a:rPr>
              <a:t>मेरो कि. नं. १२० को ०-१२-० जग्गा मध्ये पूर्व तर्फका सँधियार </a:t>
            </a:r>
            <a:r>
              <a:rPr lang="ne-NP" sz="3200" dirty="0">
                <a:solidFill>
                  <a:srgbClr val="FF0000"/>
                </a:solidFill>
                <a:cs typeface="Kalimati" panose="00000400000000000000" pitchFamily="2"/>
              </a:rPr>
              <a:t>“क”</a:t>
            </a:r>
            <a:r>
              <a:rPr lang="ne-NP" sz="3200" dirty="0">
                <a:cs typeface="Kalimati" panose="00000400000000000000" pitchFamily="2"/>
              </a:rPr>
              <a:t> ले आफ्नो कि. नं. १२१ को ०-१८-० जग्गाको पश्चिम तर्फबाट ०-१-० जग्गा आफ्नो जग्गामा मिसाई खिचोला गरेकोले खिचोला मेटाई चलन चलाई पाउँ भन्ने </a:t>
            </a:r>
            <a:r>
              <a:rPr lang="ne-NP" sz="3200" dirty="0">
                <a:solidFill>
                  <a:srgbClr val="FF0000"/>
                </a:solidFill>
                <a:cs typeface="Kalimati" panose="00000400000000000000" pitchFamily="2"/>
              </a:rPr>
              <a:t>“ख”</a:t>
            </a:r>
            <a:r>
              <a:rPr lang="ne-NP" sz="3200" dirty="0">
                <a:cs typeface="Kalimati" panose="00000400000000000000" pitchFamily="2"/>
              </a:rPr>
              <a:t> को बादी दाबीमा इन्कारी प्रतिउत्तर रहेको यस मुद्दामा यस्तो नक्सा भई आएको रहेछ । </a:t>
            </a:r>
          </a:p>
          <a:p>
            <a:pPr marL="0" indent="0" algn="ctr">
              <a:buNone/>
            </a:pPr>
            <a:endParaRPr lang="ne-NP" sz="3200" dirty="0">
              <a:cs typeface="Kalimati" panose="00000400000000000000" pitchFamily="2"/>
            </a:endParaRPr>
          </a:p>
          <a:p>
            <a:pPr marL="0" indent="0" algn="ctr">
              <a:buNone/>
            </a:pPr>
            <a:r>
              <a:rPr lang="ne-NP" sz="3200" dirty="0">
                <a:cs typeface="Kalimati" panose="00000400000000000000" pitchFamily="2"/>
              </a:rPr>
              <a:t>फैसला ?</a:t>
            </a:r>
            <a:endParaRPr lang="en-US" sz="3200" dirty="0">
              <a:cs typeface="Kalimati" panose="00000400000000000000" pitchFamily="2"/>
            </a:endParaRPr>
          </a:p>
          <a:p>
            <a:endParaRPr lang="en-US" sz="3200" dirty="0"/>
          </a:p>
        </p:txBody>
      </p:sp>
      <p:sp>
        <p:nvSpPr>
          <p:cNvPr id="4" name="Slide Number Placeholder 3">
            <a:extLst>
              <a:ext uri="{FF2B5EF4-FFF2-40B4-BE49-F238E27FC236}">
                <a16:creationId xmlns:a16="http://schemas.microsoft.com/office/drawing/2014/main" id="{4EE45E44-1719-A1E3-01CB-F80A5AF09DC5}"/>
              </a:ext>
            </a:extLst>
          </p:cNvPr>
          <p:cNvSpPr>
            <a:spLocks noGrp="1"/>
          </p:cNvSpPr>
          <p:nvPr>
            <p:ph type="sldNum" sz="quarter" idx="12"/>
          </p:nvPr>
        </p:nvSpPr>
        <p:spPr/>
        <p:txBody>
          <a:bodyPr/>
          <a:lstStyle/>
          <a:p>
            <a:fld id="{FBEE1443-9B50-414A-932B-DC12F1E761CB}" type="slidenum">
              <a:rPr lang="en-US" sz="2400" smtClean="0"/>
              <a:t>33</a:t>
            </a:fld>
            <a:endParaRPr lang="en-US" sz="2400" dirty="0"/>
          </a:p>
        </p:txBody>
      </p:sp>
    </p:spTree>
    <p:extLst>
      <p:ext uri="{BB962C8B-B14F-4D97-AF65-F5344CB8AC3E}">
        <p14:creationId xmlns:p14="http://schemas.microsoft.com/office/powerpoint/2010/main" val="4129297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3800" y="76200"/>
            <a:ext cx="7620000" cy="762000"/>
          </a:xfrm>
        </p:spPr>
        <p:txBody>
          <a:bodyPr>
            <a:normAutofit/>
          </a:bodyPr>
          <a:lstStyle/>
          <a:p>
            <a:pPr algn="r"/>
            <a:r>
              <a:rPr lang="ne-NP" sz="2400" b="1" dirty="0">
                <a:cs typeface="Kalimati" pitchFamily="2"/>
              </a:rPr>
              <a:t>...</a:t>
            </a:r>
            <a:r>
              <a:rPr lang="ne-NP" sz="2400" b="1" dirty="0" err="1">
                <a:cs typeface="Kalimati" pitchFamily="2"/>
              </a:rPr>
              <a:t>क्रमश</a:t>
            </a:r>
            <a:endParaRPr lang="en-US" sz="2400" b="1" dirty="0">
              <a:cs typeface="Kalimati" pitchFamily="2"/>
            </a:endParaRPr>
          </a:p>
        </p:txBody>
      </p:sp>
      <p:sp>
        <p:nvSpPr>
          <p:cNvPr id="4" name="Slide Number Placeholder 3"/>
          <p:cNvSpPr>
            <a:spLocks noGrp="1"/>
          </p:cNvSpPr>
          <p:nvPr>
            <p:ph type="sldNum" sz="quarter" idx="12"/>
          </p:nvPr>
        </p:nvSpPr>
        <p:spPr/>
        <p:txBody>
          <a:bodyPr/>
          <a:lstStyle/>
          <a:p>
            <a:fld id="{1AB988AC-FA38-437B-B260-9A3FBAC857AD}" type="slidenum">
              <a:rPr lang="en-US" sz="2400" smtClean="0"/>
              <a:pPr/>
              <a:t>34</a:t>
            </a:fld>
            <a:endParaRPr lang="en-US" sz="2400" dirty="0"/>
          </a:p>
        </p:txBody>
      </p:sp>
      <p:pic>
        <p:nvPicPr>
          <p:cNvPr id="1026" name="Picture 2" descr="E:\ \ID\jpg\first-1 copy.jpg"/>
          <p:cNvPicPr>
            <a:picLocks noChangeAspect="1" noChangeArrowheads="1"/>
          </p:cNvPicPr>
          <p:nvPr/>
        </p:nvPicPr>
        <p:blipFill>
          <a:blip r:embed="rId2" cstate="print"/>
          <a:srcRect/>
          <a:stretch>
            <a:fillRect/>
          </a:stretch>
        </p:blipFill>
        <p:spPr bwMode="auto">
          <a:xfrm>
            <a:off x="192505" y="819872"/>
            <a:ext cx="11806990" cy="5657129"/>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E328F-034B-F3CA-466F-8F6ABCE83EE1}"/>
              </a:ext>
            </a:extLst>
          </p:cNvPr>
          <p:cNvSpPr>
            <a:spLocks noGrp="1"/>
          </p:cNvSpPr>
          <p:nvPr>
            <p:ph type="title"/>
          </p:nvPr>
        </p:nvSpPr>
        <p:spPr/>
        <p:txBody>
          <a:bodyPr>
            <a:normAutofit/>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C606F2FA-6D89-952F-D73C-6202F42BE17E}"/>
              </a:ext>
            </a:extLst>
          </p:cNvPr>
          <p:cNvSpPr>
            <a:spLocks noGrp="1"/>
          </p:cNvSpPr>
          <p:nvPr>
            <p:ph idx="1"/>
          </p:nvPr>
        </p:nvSpPr>
        <p:spPr>
          <a:xfrm>
            <a:off x="194871" y="1825625"/>
            <a:ext cx="11782269" cy="4351338"/>
          </a:xfrm>
        </p:spPr>
        <p:txBody>
          <a:bodyPr>
            <a:normAutofit/>
          </a:bodyPr>
          <a:lstStyle/>
          <a:p>
            <a:pPr marL="0" indent="0" algn="just">
              <a:buNone/>
            </a:pPr>
            <a:r>
              <a:rPr lang="ne-NP" sz="3200" dirty="0">
                <a:cs typeface="Kalimati" panose="00000400000000000000" pitchFamily="2"/>
              </a:rPr>
              <a:t>मेरो कि. नं. १८६ को ०-१२-० जग्गा मध्ये पूर्व तर्फका सँधियार </a:t>
            </a:r>
            <a:r>
              <a:rPr lang="ne-NP" sz="3200" dirty="0">
                <a:solidFill>
                  <a:srgbClr val="FF0000"/>
                </a:solidFill>
                <a:cs typeface="Kalimati" panose="00000400000000000000" pitchFamily="2"/>
              </a:rPr>
              <a:t>“क”</a:t>
            </a:r>
            <a:r>
              <a:rPr lang="ne-NP" sz="3200" dirty="0">
                <a:cs typeface="Kalimati" panose="00000400000000000000" pitchFamily="2"/>
              </a:rPr>
              <a:t> ले आफ्नो कि. नं. १८५ को ०-१४-० जग्गाको पश्चिम तर्फबाट ०-१-० जग्गा आफ्नो जग्गामा मिसाई खिचोला गरेकोले खिचोला मेटाई चलन चलाई पाउँ भन्ने </a:t>
            </a:r>
            <a:r>
              <a:rPr lang="ne-NP" sz="3200" dirty="0">
                <a:solidFill>
                  <a:srgbClr val="FF0000"/>
                </a:solidFill>
                <a:cs typeface="Kalimati" panose="00000400000000000000" pitchFamily="2"/>
              </a:rPr>
              <a:t>“ख”</a:t>
            </a:r>
            <a:r>
              <a:rPr lang="ne-NP" sz="3200" dirty="0">
                <a:cs typeface="Kalimati" panose="00000400000000000000" pitchFamily="2"/>
              </a:rPr>
              <a:t> को बादी दाबीमा इन्कारी प्रतिउत्तर रहेको यस मुद्दामा यस्तो नक्सा भई आएको रहेछ । </a:t>
            </a:r>
          </a:p>
          <a:p>
            <a:pPr marL="0" indent="0" algn="ctr">
              <a:buNone/>
            </a:pPr>
            <a:endParaRPr lang="ne-NP" sz="3200" dirty="0">
              <a:cs typeface="Kalimati" panose="00000400000000000000" pitchFamily="2"/>
            </a:endParaRPr>
          </a:p>
          <a:p>
            <a:pPr marL="0" indent="0" algn="ctr">
              <a:buNone/>
            </a:pPr>
            <a:r>
              <a:rPr lang="ne-NP" sz="3200" dirty="0">
                <a:cs typeface="Kalimati" panose="00000400000000000000" pitchFamily="2"/>
              </a:rPr>
              <a:t>फैसला ?</a:t>
            </a:r>
            <a:endParaRPr lang="en-US" sz="3200" dirty="0">
              <a:cs typeface="Kalimati" panose="00000400000000000000" pitchFamily="2"/>
            </a:endParaRPr>
          </a:p>
          <a:p>
            <a:pPr marL="0" indent="0">
              <a:buNone/>
            </a:pP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8E9ED90F-9E6B-459B-A69E-9333AE68D2D5}"/>
              </a:ext>
            </a:extLst>
          </p:cNvPr>
          <p:cNvSpPr>
            <a:spLocks noGrp="1"/>
          </p:cNvSpPr>
          <p:nvPr>
            <p:ph type="sldNum" sz="quarter" idx="12"/>
          </p:nvPr>
        </p:nvSpPr>
        <p:spPr/>
        <p:txBody>
          <a:bodyPr/>
          <a:lstStyle/>
          <a:p>
            <a:fld id="{FBEE1443-9B50-414A-932B-DC12F1E761CB}" type="slidenum">
              <a:rPr lang="en-US" sz="2400" smtClean="0"/>
              <a:t>35</a:t>
            </a:fld>
            <a:endParaRPr lang="en-US" sz="2400" dirty="0"/>
          </a:p>
        </p:txBody>
      </p:sp>
    </p:spTree>
    <p:extLst>
      <p:ext uri="{BB962C8B-B14F-4D97-AF65-F5344CB8AC3E}">
        <p14:creationId xmlns:p14="http://schemas.microsoft.com/office/powerpoint/2010/main" val="716480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B988AC-FA38-437B-B260-9A3FBAC857AD}" type="slidenum">
              <a:rPr lang="en-US" sz="2400" smtClean="0"/>
              <a:pPr/>
              <a:t>36</a:t>
            </a:fld>
            <a:endParaRPr lang="en-US" sz="2400" dirty="0"/>
          </a:p>
        </p:txBody>
      </p:sp>
      <p:pic>
        <p:nvPicPr>
          <p:cNvPr id="2050" name="Picture 2" descr="E:\ \ID\jpg\SECOND-1 copy.jpg"/>
          <p:cNvPicPr>
            <a:picLocks noChangeAspect="1" noChangeArrowheads="1"/>
          </p:cNvPicPr>
          <p:nvPr/>
        </p:nvPicPr>
        <p:blipFill>
          <a:blip r:embed="rId2" cstate="print"/>
          <a:srcRect/>
          <a:stretch>
            <a:fillRect/>
          </a:stretch>
        </p:blipFill>
        <p:spPr bwMode="auto">
          <a:xfrm>
            <a:off x="208547" y="152400"/>
            <a:ext cx="11726779" cy="6071937"/>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E2578-B720-F219-4FFC-3596210AB3CC}"/>
              </a:ext>
            </a:extLst>
          </p:cNvPr>
          <p:cNvSpPr>
            <a:spLocks noGrp="1"/>
          </p:cNvSpPr>
          <p:nvPr>
            <p:ph type="title"/>
          </p:nvPr>
        </p:nvSpPr>
        <p:spPr>
          <a:xfrm>
            <a:off x="838200" y="365126"/>
            <a:ext cx="10515600" cy="315912"/>
          </a:xfrm>
        </p:spPr>
        <p:txBody>
          <a:bodyPr>
            <a:normAutofit fontScale="90000"/>
          </a:bodyPr>
          <a:lstStyle/>
          <a:p>
            <a:pPr algn="r"/>
            <a:r>
              <a:rPr lang="ne-NP" sz="2800" b="1" dirty="0">
                <a:cs typeface="Kalimati" panose="00000400000000000000" pitchFamily="2"/>
              </a:rPr>
              <a:t>...</a:t>
            </a:r>
            <a:r>
              <a:rPr lang="ne-NP" sz="2800" b="1" dirty="0" err="1">
                <a:cs typeface="Kalimati" panose="00000400000000000000" pitchFamily="2"/>
              </a:rPr>
              <a:t>क्रमश</a:t>
            </a:r>
            <a:endParaRPr lang="en-US" sz="2800" b="1" dirty="0">
              <a:cs typeface="Kalimati" panose="00000400000000000000" pitchFamily="2"/>
            </a:endParaRPr>
          </a:p>
        </p:txBody>
      </p:sp>
      <p:sp>
        <p:nvSpPr>
          <p:cNvPr id="3" name="Content Placeholder 2">
            <a:extLst>
              <a:ext uri="{FF2B5EF4-FFF2-40B4-BE49-F238E27FC236}">
                <a16:creationId xmlns:a16="http://schemas.microsoft.com/office/drawing/2014/main" id="{B096AECD-F5A6-2571-5450-987AB05936C1}"/>
              </a:ext>
            </a:extLst>
          </p:cNvPr>
          <p:cNvSpPr>
            <a:spLocks noGrp="1"/>
          </p:cNvSpPr>
          <p:nvPr>
            <p:ph idx="1"/>
          </p:nvPr>
        </p:nvSpPr>
        <p:spPr>
          <a:xfrm>
            <a:off x="160421" y="640890"/>
            <a:ext cx="11839074" cy="6370136"/>
          </a:xfrm>
        </p:spPr>
        <p:txBody>
          <a:bodyPr>
            <a:normAutofit/>
          </a:bodyPr>
          <a:lstStyle/>
          <a:p>
            <a:pPr marL="0" indent="0" algn="just">
              <a:buNone/>
            </a:pPr>
            <a:endParaRPr lang="ne-NP" sz="3200" dirty="0">
              <a:cs typeface="Kalimati" panose="00000400000000000000" pitchFamily="2"/>
            </a:endParaRPr>
          </a:p>
          <a:p>
            <a:pPr marL="0" indent="0" algn="just">
              <a:buNone/>
            </a:pPr>
            <a:r>
              <a:rPr lang="ne-NP" sz="3200" dirty="0">
                <a:cs typeface="Kalimati" panose="00000400000000000000" pitchFamily="2"/>
              </a:rPr>
              <a:t>मेरो कि. नं. २०६ को ०-१५-० जग्गा मध्ये पूर्व तर्फका सँधियार </a:t>
            </a:r>
            <a:r>
              <a:rPr lang="ne-NP" sz="3200" dirty="0">
                <a:solidFill>
                  <a:srgbClr val="FF0000"/>
                </a:solidFill>
                <a:cs typeface="Kalimati" panose="00000400000000000000" pitchFamily="2"/>
              </a:rPr>
              <a:t>“ख”</a:t>
            </a:r>
            <a:r>
              <a:rPr lang="ne-NP" sz="3200" dirty="0">
                <a:cs typeface="Kalimati" panose="00000400000000000000" pitchFamily="2"/>
              </a:rPr>
              <a:t> ले आफ्नो कि. नं. २०५ को ०-१८-१० जग्गाको पश्चिम तर्फबाट ०-१-० जग्गा आफ्नो जग्गामा मिसाई खिचोला गरेकोले खिचोला मेटाई चलन चलाई पाउँ भन्ने </a:t>
            </a:r>
            <a:r>
              <a:rPr lang="ne-NP" sz="3200" dirty="0">
                <a:solidFill>
                  <a:srgbClr val="FF0000"/>
                </a:solidFill>
                <a:cs typeface="Kalimati" panose="00000400000000000000" pitchFamily="2"/>
              </a:rPr>
              <a:t>“क” </a:t>
            </a:r>
            <a:r>
              <a:rPr lang="ne-NP" sz="3200" dirty="0">
                <a:cs typeface="Kalimati" panose="00000400000000000000" pitchFamily="2"/>
              </a:rPr>
              <a:t>को बादी दाबीमा इन्कारी प्रतिउत्तर रहेको यस मुद्दामा यस्तो नक्सा भई आएको रहेछ । </a:t>
            </a:r>
          </a:p>
          <a:p>
            <a:pPr marL="0" indent="0" algn="ctr">
              <a:buNone/>
            </a:pPr>
            <a:endParaRPr lang="ne-NP" sz="3200" dirty="0">
              <a:cs typeface="Kalimati" panose="00000400000000000000" pitchFamily="2"/>
            </a:endParaRPr>
          </a:p>
          <a:p>
            <a:pPr marL="0" indent="0" algn="ctr">
              <a:buNone/>
            </a:pPr>
            <a:r>
              <a:rPr lang="ne-NP" sz="3200" dirty="0">
                <a:cs typeface="Kalimati" panose="00000400000000000000" pitchFamily="2"/>
              </a:rPr>
              <a:t>फैसला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8B4908F4-455F-DA2C-D0CD-8E26CA144A23}"/>
              </a:ext>
            </a:extLst>
          </p:cNvPr>
          <p:cNvSpPr>
            <a:spLocks noGrp="1"/>
          </p:cNvSpPr>
          <p:nvPr>
            <p:ph type="sldNum" sz="quarter" idx="12"/>
          </p:nvPr>
        </p:nvSpPr>
        <p:spPr/>
        <p:txBody>
          <a:bodyPr/>
          <a:lstStyle/>
          <a:p>
            <a:fld id="{FBEE1443-9B50-414A-932B-DC12F1E761CB}" type="slidenum">
              <a:rPr lang="en-US" sz="2400" smtClean="0"/>
              <a:t>37</a:t>
            </a:fld>
            <a:endParaRPr lang="en-US" sz="2400" dirty="0"/>
          </a:p>
        </p:txBody>
      </p:sp>
    </p:spTree>
    <p:extLst>
      <p:ext uri="{BB962C8B-B14F-4D97-AF65-F5344CB8AC3E}">
        <p14:creationId xmlns:p14="http://schemas.microsoft.com/office/powerpoint/2010/main" val="3155673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B988AC-FA38-437B-B260-9A3FBAC857AD}" type="slidenum">
              <a:rPr lang="en-US" sz="2400" smtClean="0"/>
              <a:pPr/>
              <a:t>38</a:t>
            </a:fld>
            <a:endParaRPr lang="en-US" sz="2400" dirty="0"/>
          </a:p>
        </p:txBody>
      </p:sp>
      <p:pic>
        <p:nvPicPr>
          <p:cNvPr id="3074" name="Picture 2" descr="E:\ \ID\jpg\third-1 copy.jpg"/>
          <p:cNvPicPr>
            <a:picLocks noChangeAspect="1" noChangeArrowheads="1"/>
          </p:cNvPicPr>
          <p:nvPr/>
        </p:nvPicPr>
        <p:blipFill>
          <a:blip r:embed="rId2" cstate="print"/>
          <a:srcRect/>
          <a:stretch>
            <a:fillRect/>
          </a:stretch>
        </p:blipFill>
        <p:spPr bwMode="auto">
          <a:xfrm>
            <a:off x="160421" y="304800"/>
            <a:ext cx="11839074" cy="60198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BBD9-74D7-18BD-DB2C-346265F7F2C2}"/>
              </a:ext>
            </a:extLst>
          </p:cNvPr>
          <p:cNvSpPr>
            <a:spLocks noGrp="1"/>
          </p:cNvSpPr>
          <p:nvPr>
            <p:ph type="title"/>
          </p:nvPr>
        </p:nvSpPr>
        <p:spPr>
          <a:xfrm>
            <a:off x="838200" y="365126"/>
            <a:ext cx="10515600" cy="315912"/>
          </a:xfrm>
        </p:spPr>
        <p:txBody>
          <a:bodyPr>
            <a:normAutofit fontScale="90000"/>
          </a:bodyPr>
          <a:lstStyle/>
          <a:p>
            <a:pPr algn="r"/>
            <a:r>
              <a:rPr lang="ne-NP" sz="2800" dirty="0">
                <a:cs typeface="Kalimati" panose="00000400000000000000" pitchFamily="2"/>
              </a:rPr>
              <a:t>...</a:t>
            </a:r>
            <a:r>
              <a:rPr lang="ne-NP" sz="2800" dirty="0" err="1">
                <a:cs typeface="Kalimati" panose="00000400000000000000" pitchFamily="2"/>
              </a:rPr>
              <a:t>क्रमश</a:t>
            </a:r>
            <a:endParaRPr lang="en-US" sz="2800" dirty="0">
              <a:cs typeface="Kalimati" panose="00000400000000000000" pitchFamily="2"/>
            </a:endParaRPr>
          </a:p>
        </p:txBody>
      </p:sp>
      <p:sp>
        <p:nvSpPr>
          <p:cNvPr id="3" name="Content Placeholder 2">
            <a:extLst>
              <a:ext uri="{FF2B5EF4-FFF2-40B4-BE49-F238E27FC236}">
                <a16:creationId xmlns:a16="http://schemas.microsoft.com/office/drawing/2014/main" id="{79FD8826-CE59-1127-5B4C-25EED1D30E6A}"/>
              </a:ext>
            </a:extLst>
          </p:cNvPr>
          <p:cNvSpPr>
            <a:spLocks noGrp="1"/>
          </p:cNvSpPr>
          <p:nvPr>
            <p:ph idx="1"/>
          </p:nvPr>
        </p:nvSpPr>
        <p:spPr>
          <a:xfrm>
            <a:off x="208547" y="1825625"/>
            <a:ext cx="11758863" cy="4351338"/>
          </a:xfrm>
        </p:spPr>
        <p:txBody>
          <a:bodyPr>
            <a:normAutofit/>
          </a:bodyPr>
          <a:lstStyle/>
          <a:p>
            <a:pPr marL="0" indent="0" algn="just">
              <a:buNone/>
            </a:pPr>
            <a:r>
              <a:rPr lang="ne-NP" sz="3200" dirty="0">
                <a:cs typeface="Kalimati" panose="00000400000000000000" pitchFamily="2"/>
              </a:rPr>
              <a:t>मेरो कि. नं. ५२५ को ०-३-० जग्गा मध्ये उत्तर तर्फबाट सो तर्फका सँधियार </a:t>
            </a:r>
            <a:r>
              <a:rPr lang="ne-NP" sz="3200" dirty="0">
                <a:solidFill>
                  <a:srgbClr val="FF0000"/>
                </a:solidFill>
                <a:cs typeface="Kalimati" panose="00000400000000000000" pitchFamily="2"/>
              </a:rPr>
              <a:t>“क”</a:t>
            </a:r>
            <a:r>
              <a:rPr lang="ne-NP" sz="3200" dirty="0">
                <a:cs typeface="Kalimati" panose="00000400000000000000" pitchFamily="2"/>
              </a:rPr>
              <a:t> ले ०-१-० जग्गा खिचोला गरी आफ्नो कि. नं. ५२४ को जग्गामा मिसाई खिचोला गरेकोले खिचोला मेटाई चलन चलाई पाउँ भन्ने </a:t>
            </a:r>
            <a:r>
              <a:rPr lang="ne-NP" sz="3200" dirty="0">
                <a:solidFill>
                  <a:srgbClr val="FF0000"/>
                </a:solidFill>
                <a:cs typeface="Kalimati" panose="00000400000000000000" pitchFamily="2"/>
              </a:rPr>
              <a:t>“ख”</a:t>
            </a:r>
            <a:r>
              <a:rPr lang="ne-NP" sz="3200" dirty="0">
                <a:cs typeface="Kalimati" panose="00000400000000000000" pitchFamily="2"/>
              </a:rPr>
              <a:t> को बादी दाबीमा इन्कारी प्रतिउत्तर रहेको यस मुद्दामा भई आएको नक्सा यस्तो रहेछ । खिचोला ठहर्ला नहर्ला ?</a:t>
            </a:r>
            <a:endParaRPr lang="en-US" sz="3200" dirty="0">
              <a:cs typeface="Kalimati" panose="00000400000000000000" pitchFamily="2"/>
            </a:endParaRPr>
          </a:p>
        </p:txBody>
      </p:sp>
      <p:sp>
        <p:nvSpPr>
          <p:cNvPr id="4" name="Slide Number Placeholder 3">
            <a:extLst>
              <a:ext uri="{FF2B5EF4-FFF2-40B4-BE49-F238E27FC236}">
                <a16:creationId xmlns:a16="http://schemas.microsoft.com/office/drawing/2014/main" id="{32B6C7C9-9AA6-1CF5-0920-0DAFBE040771}"/>
              </a:ext>
            </a:extLst>
          </p:cNvPr>
          <p:cNvSpPr>
            <a:spLocks noGrp="1"/>
          </p:cNvSpPr>
          <p:nvPr>
            <p:ph type="sldNum" sz="quarter" idx="12"/>
          </p:nvPr>
        </p:nvSpPr>
        <p:spPr/>
        <p:txBody>
          <a:bodyPr/>
          <a:lstStyle/>
          <a:p>
            <a:fld id="{FBEE1443-9B50-414A-932B-DC12F1E761CB}" type="slidenum">
              <a:rPr lang="en-US" sz="2400" smtClean="0"/>
              <a:t>39</a:t>
            </a:fld>
            <a:endParaRPr lang="en-US" sz="2400" dirty="0"/>
          </a:p>
        </p:txBody>
      </p:sp>
    </p:spTree>
    <p:extLst>
      <p:ext uri="{BB962C8B-B14F-4D97-AF65-F5344CB8AC3E}">
        <p14:creationId xmlns:p14="http://schemas.microsoft.com/office/powerpoint/2010/main" val="37034262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B988AC-FA38-437B-B260-9A3FBAC857AD}" type="slidenum">
              <a:rPr lang="en-US" sz="2400" smtClean="0"/>
              <a:pPr/>
              <a:t>40</a:t>
            </a:fld>
            <a:endParaRPr lang="en-US" sz="2400" dirty="0"/>
          </a:p>
        </p:txBody>
      </p:sp>
      <p:pic>
        <p:nvPicPr>
          <p:cNvPr id="4098" name="Picture 2" descr="E:\ \ID\jpg\4 -1 copy.jpg"/>
          <p:cNvPicPr>
            <a:picLocks noChangeAspect="1" noChangeArrowheads="1"/>
          </p:cNvPicPr>
          <p:nvPr/>
        </p:nvPicPr>
        <p:blipFill>
          <a:blip r:embed="rId2" cstate="print"/>
          <a:srcRect/>
          <a:stretch>
            <a:fillRect/>
          </a:stretch>
        </p:blipFill>
        <p:spPr bwMode="auto">
          <a:xfrm>
            <a:off x="144379" y="228600"/>
            <a:ext cx="11806989" cy="594995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D32D7-4FCB-CA1D-22FE-EEEB5B1F381F}"/>
              </a:ext>
            </a:extLst>
          </p:cNvPr>
          <p:cNvSpPr>
            <a:spLocks noGrp="1"/>
          </p:cNvSpPr>
          <p:nvPr>
            <p:ph type="title"/>
          </p:nvPr>
        </p:nvSpPr>
        <p:spPr>
          <a:xfrm>
            <a:off x="838200" y="136526"/>
            <a:ext cx="10515600" cy="852826"/>
          </a:xfrm>
        </p:spPr>
        <p:txBody>
          <a:bodyPr/>
          <a:lstStyle/>
          <a:p>
            <a:pPr algn="ctr"/>
            <a:r>
              <a:rPr lang="ne-NP" b="1" dirty="0">
                <a:cs typeface="Kalimati" panose="00000400000000000000" pitchFamily="2"/>
              </a:rPr>
              <a:t>जाँदा जाँदै</a:t>
            </a:r>
            <a:endParaRPr lang="en-US" b="1" dirty="0">
              <a:cs typeface="Kalimati" panose="00000400000000000000" pitchFamily="2"/>
            </a:endParaRPr>
          </a:p>
        </p:txBody>
      </p:sp>
      <p:sp>
        <p:nvSpPr>
          <p:cNvPr id="3" name="Content Placeholder 2">
            <a:extLst>
              <a:ext uri="{FF2B5EF4-FFF2-40B4-BE49-F238E27FC236}">
                <a16:creationId xmlns:a16="http://schemas.microsoft.com/office/drawing/2014/main" id="{84FC4BBF-ECB7-1185-3AE2-8FEBE9A1A7E9}"/>
              </a:ext>
            </a:extLst>
          </p:cNvPr>
          <p:cNvSpPr>
            <a:spLocks noGrp="1"/>
          </p:cNvSpPr>
          <p:nvPr>
            <p:ph idx="1"/>
          </p:nvPr>
        </p:nvSpPr>
        <p:spPr>
          <a:xfrm>
            <a:off x="838200" y="1825625"/>
            <a:ext cx="10515600" cy="4667250"/>
          </a:xfrm>
        </p:spPr>
        <p:txBody>
          <a:bodyPr>
            <a:normAutofit/>
          </a:bodyPr>
          <a:lstStyle/>
          <a:p>
            <a:pPr marL="0" indent="0" algn="ctr">
              <a:buNone/>
            </a:pPr>
            <a:r>
              <a:rPr lang="ne-NP" sz="4400" b="1" dirty="0">
                <a:cs typeface="Kalimati" panose="00000400000000000000" pitchFamily="2"/>
              </a:rPr>
              <a:t>कुनै जिज्ञासा ???</a:t>
            </a:r>
          </a:p>
          <a:p>
            <a:pPr marL="0" indent="0" algn="ctr">
              <a:buNone/>
            </a:pPr>
            <a:endParaRPr lang="ne-NP" sz="4400" b="1" dirty="0">
              <a:cs typeface="Kalimati" panose="00000400000000000000" pitchFamily="2"/>
            </a:endParaRPr>
          </a:p>
          <a:p>
            <a:pPr marL="0" indent="0" algn="ctr">
              <a:buNone/>
            </a:pPr>
            <a:r>
              <a:rPr lang="ne-NP" sz="4400" b="1" dirty="0" err="1">
                <a:cs typeface="Kalimati" panose="00000400000000000000" pitchFamily="2"/>
              </a:rPr>
              <a:t>सकृय</a:t>
            </a:r>
            <a:r>
              <a:rPr lang="ne-NP" sz="4400" b="1" dirty="0">
                <a:cs typeface="Kalimati" panose="00000400000000000000" pitchFamily="2"/>
              </a:rPr>
              <a:t> सहभागिताको लागि </a:t>
            </a:r>
            <a:endParaRPr lang="en-US" sz="4400" b="1" dirty="0">
              <a:cs typeface="Kalimati" panose="00000400000000000000" pitchFamily="2"/>
            </a:endParaRPr>
          </a:p>
          <a:p>
            <a:pPr marL="0" indent="0" algn="ctr">
              <a:buNone/>
            </a:pPr>
            <a:r>
              <a:rPr lang="ne-NP" sz="4400" b="1" dirty="0">
                <a:cs typeface="Kalimati" panose="00000400000000000000" pitchFamily="2"/>
              </a:rPr>
              <a:t>सबै</a:t>
            </a:r>
            <a:r>
              <a:rPr lang="en-US" sz="4400" b="1" dirty="0">
                <a:cs typeface="Kalimati" panose="00000400000000000000" pitchFamily="2"/>
              </a:rPr>
              <a:t> </a:t>
            </a:r>
            <a:r>
              <a:rPr lang="ne-NP" sz="4400" b="1" dirty="0">
                <a:cs typeface="Kalimati" panose="00000400000000000000" pitchFamily="2"/>
              </a:rPr>
              <a:t>माननीय ज्यूमा </a:t>
            </a:r>
          </a:p>
          <a:p>
            <a:pPr marL="0" indent="0" algn="ctr">
              <a:buNone/>
            </a:pPr>
            <a:r>
              <a:rPr lang="ne-NP" sz="4400" b="1" dirty="0">
                <a:cs typeface="Kalimati" panose="00000400000000000000" pitchFamily="2"/>
              </a:rPr>
              <a:t>धन्यवाद र नमस्कार पनि !!!</a:t>
            </a:r>
            <a:endParaRPr lang="en-US" sz="4400" b="1" dirty="0">
              <a:cs typeface="Kalimati" panose="00000400000000000000" pitchFamily="2"/>
            </a:endParaRPr>
          </a:p>
        </p:txBody>
      </p:sp>
      <p:sp>
        <p:nvSpPr>
          <p:cNvPr id="4" name="Slide Number Placeholder 3">
            <a:extLst>
              <a:ext uri="{FF2B5EF4-FFF2-40B4-BE49-F238E27FC236}">
                <a16:creationId xmlns:a16="http://schemas.microsoft.com/office/drawing/2014/main" id="{CBE93F3E-CDF1-0C1C-4C93-CA03B80659B7}"/>
              </a:ext>
            </a:extLst>
          </p:cNvPr>
          <p:cNvSpPr>
            <a:spLocks noGrp="1"/>
          </p:cNvSpPr>
          <p:nvPr>
            <p:ph type="sldNum" sz="quarter" idx="12"/>
          </p:nvPr>
        </p:nvSpPr>
        <p:spPr/>
        <p:txBody>
          <a:bodyPr/>
          <a:lstStyle/>
          <a:p>
            <a:fld id="{FBEE1443-9B50-414A-932B-DC12F1E761CB}" type="slidenum">
              <a:rPr lang="en-US" sz="2400" smtClean="0"/>
              <a:t>41</a:t>
            </a:fld>
            <a:endParaRPr lang="en-US" sz="2400" dirty="0"/>
          </a:p>
        </p:txBody>
      </p:sp>
    </p:spTree>
    <p:extLst>
      <p:ext uri="{BB962C8B-B14F-4D97-AF65-F5344CB8AC3E}">
        <p14:creationId xmlns:p14="http://schemas.microsoft.com/office/powerpoint/2010/main" val="11579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3090</Words>
  <Application>Microsoft Office PowerPoint</Application>
  <PresentationFormat>Widescreen</PresentationFormat>
  <Paragraphs>289</Paragraphs>
  <Slides>41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Calibri Light</vt:lpstr>
      <vt:lpstr>Kalimati</vt:lpstr>
      <vt:lpstr>MS Shell Dlg 2</vt:lpstr>
      <vt:lpstr>Symbol</vt:lpstr>
      <vt:lpstr>Times New Roman</vt:lpstr>
      <vt:lpstr>Wingdings</vt:lpstr>
      <vt:lpstr>Office Theme</vt:lpstr>
      <vt:lpstr>जग्गा विवादमा नाप नक्सा अध्ययन तथा नक्साको विवेचना</vt:lpstr>
      <vt:lpstr>जग्गाको स्वामित्व ??</vt:lpstr>
      <vt:lpstr>जग्गा खिचोला मुद्दाको संख्यात्मक स्थिति (सर्वोच्च अदालतको वार्षिक प्रतिवेदन)</vt:lpstr>
      <vt:lpstr>अदालतमा आउने जग्गा सम्बन्धी विवादका स्वरूपहरू</vt:lpstr>
      <vt:lpstr>खिचोला के हो ?</vt:lpstr>
      <vt:lpstr>जग्गाको स्वामित्व यकिन गर्ने कानूनी आधार</vt:lpstr>
      <vt:lpstr>जग्गामा जग्गाधनी  हक हुने व्यक्ति र हक प्राप्तिका आधार</vt:lpstr>
      <vt:lpstr>...क्रमश</vt:lpstr>
      <vt:lpstr>सर्वोच्च अदालतबाट भएका केही व्याख्या</vt:lpstr>
      <vt:lpstr>जग्गाको नाप जाँच के हो ?</vt:lpstr>
      <vt:lpstr>जग्गाको साँध सिमाना</vt:lpstr>
      <vt:lpstr>...क्रमश</vt:lpstr>
      <vt:lpstr> जग्गा खिचोला मुद्दामा भेटिने विवादका स्वरुपहरु</vt:lpstr>
      <vt:lpstr>...क्रमश</vt:lpstr>
      <vt:lpstr>                      ...क्रमश</vt:lpstr>
      <vt:lpstr>                      ...क्रमश</vt:lpstr>
      <vt:lpstr>ख. जग्गाको साँध सिमाना सम्बन्धी विवाद</vt:lpstr>
      <vt:lpstr>                       ...क्रमश</vt:lpstr>
      <vt:lpstr>ग. जग्गाको स्वामित्व सम्बन्धी विवाद</vt:lpstr>
      <vt:lpstr>                       ...क्रमश</vt:lpstr>
      <vt:lpstr>जग्गाको क्षेत्रफल मापनको लागि लेखिने पुरानो चलन</vt:lpstr>
      <vt:lpstr>जग्गा खिचोला मुद्दा निर्णय गर्न आवश्यक पर्ने प्रमाणहरू</vt:lpstr>
      <vt:lpstr>सर्भे नक्सामा रहने जग्गाको मान (scale) नाप</vt:lpstr>
      <vt:lpstr> नाप नक्सा सम्बन्धी कानूनी प्रावधान</vt:lpstr>
      <vt:lpstr> नाप नक्साको आदेश र नक्सामा खुलाउनु पर्ने कुराहरू</vt:lpstr>
      <vt:lpstr>नाप नक्साको आदेश भए पछिका कार्यविधि</vt:lpstr>
      <vt:lpstr>                      ...क्रमश</vt:lpstr>
      <vt:lpstr> नाप नक्सा बदर गरी पाउन पर्ने निवेदन र नक्सा बदर हुने अवस्था  </vt:lpstr>
      <vt:lpstr> सर्वोच्च अदालतबाट भएका केही व्याख्याहरु</vt:lpstr>
      <vt:lpstr>...क्रमश</vt:lpstr>
      <vt:lpstr>खिचोला मुद्दाको केही अभ्यास</vt:lpstr>
      <vt:lpstr>...क्रमश</vt:lpstr>
      <vt:lpstr>...क्रमश</vt:lpstr>
      <vt:lpstr>...क्रमश</vt:lpstr>
      <vt:lpstr>...क्रमश</vt:lpstr>
      <vt:lpstr>PowerPoint Presentation</vt:lpstr>
      <vt:lpstr>...क्रमश</vt:lpstr>
      <vt:lpstr>PowerPoint Presentation</vt:lpstr>
      <vt:lpstr>...क्रमश</vt:lpstr>
      <vt:lpstr>PowerPoint Presentation</vt:lpstr>
      <vt:lpstr>जाँदा जाँदै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Kumar Pokharel</dc:creator>
  <cp:lastModifiedBy>Hari Kumar Pokharel</cp:lastModifiedBy>
  <cp:revision>109</cp:revision>
  <dcterms:created xsi:type="dcterms:W3CDTF">2025-01-11T01:58:43Z</dcterms:created>
  <dcterms:modified xsi:type="dcterms:W3CDTF">2026-01-21T01:03:48Z</dcterms:modified>
</cp:coreProperties>
</file>