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2">
  <p:sldMasterIdLst>
    <p:sldMasterId id="2147483648" r:id="rId1"/>
  </p:sldMasterIdLst>
  <p:notesMasterIdLst>
    <p:notesMasterId r:id="rId43"/>
  </p:notesMasterIdLst>
  <p:sldIdLst>
    <p:sldId id="256" r:id="rId2"/>
    <p:sldId id="415" r:id="rId3"/>
    <p:sldId id="416" r:id="rId4"/>
    <p:sldId id="417" r:id="rId5"/>
    <p:sldId id="418" r:id="rId6"/>
    <p:sldId id="367" r:id="rId7"/>
    <p:sldId id="376" r:id="rId8"/>
    <p:sldId id="409" r:id="rId9"/>
    <p:sldId id="410" r:id="rId10"/>
    <p:sldId id="411" r:id="rId11"/>
    <p:sldId id="412" r:id="rId12"/>
    <p:sldId id="413" r:id="rId13"/>
    <p:sldId id="414" r:id="rId14"/>
    <p:sldId id="379" r:id="rId15"/>
    <p:sldId id="380" r:id="rId16"/>
    <p:sldId id="381" r:id="rId17"/>
    <p:sldId id="382" r:id="rId18"/>
    <p:sldId id="383" r:id="rId19"/>
    <p:sldId id="384" r:id="rId20"/>
    <p:sldId id="385" r:id="rId21"/>
    <p:sldId id="386" r:id="rId22"/>
    <p:sldId id="387" r:id="rId23"/>
    <p:sldId id="388" r:id="rId24"/>
    <p:sldId id="389" r:id="rId25"/>
    <p:sldId id="390" r:id="rId26"/>
    <p:sldId id="391" r:id="rId27"/>
    <p:sldId id="392" r:id="rId28"/>
    <p:sldId id="393" r:id="rId29"/>
    <p:sldId id="394" r:id="rId30"/>
    <p:sldId id="395" r:id="rId31"/>
    <p:sldId id="397" r:id="rId32"/>
    <p:sldId id="398" r:id="rId33"/>
    <p:sldId id="399" r:id="rId34"/>
    <p:sldId id="400" r:id="rId35"/>
    <p:sldId id="401" r:id="rId36"/>
    <p:sldId id="402" r:id="rId37"/>
    <p:sldId id="404" r:id="rId38"/>
    <p:sldId id="405" r:id="rId39"/>
    <p:sldId id="406" r:id="rId40"/>
    <p:sldId id="407" r:id="rId41"/>
    <p:sldId id="408" r:id="rId4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863" autoAdjust="0"/>
    <p:restoredTop sz="90456" autoAdjust="0"/>
  </p:normalViewPr>
  <p:slideViewPr>
    <p:cSldViewPr snapToGrid="0">
      <p:cViewPr varScale="1">
        <p:scale>
          <a:sx n="58" d="100"/>
          <a:sy n="58" d="100"/>
        </p:scale>
        <p:origin x="1152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9453E8-3441-4035-B1FC-E129F1F4EAF3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287EFA-296F-44EE-988E-C109D1FD92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09087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287EFA-296F-44EE-988E-C109D1FD92F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48421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287EFA-296F-44EE-988E-C109D1FD92F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5321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287EFA-296F-44EE-988E-C109D1FD92F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76124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29792-EAE5-4479-8741-CD717C4D9089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2BDB8E-A8D3-4444-94B4-D5008E7E97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00033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29792-EAE5-4479-8741-CD717C4D9089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2BDB8E-A8D3-4444-94B4-D5008E7E97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02252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29792-EAE5-4479-8741-CD717C4D9089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2BDB8E-A8D3-4444-94B4-D5008E7E97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82257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29792-EAE5-4479-8741-CD717C4D9089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2BDB8E-A8D3-4444-94B4-D5008E7E97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54284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29792-EAE5-4479-8741-CD717C4D9089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2BDB8E-A8D3-4444-94B4-D5008E7E97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8232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29792-EAE5-4479-8741-CD717C4D9089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2BDB8E-A8D3-4444-94B4-D5008E7E97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64086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29792-EAE5-4479-8741-CD717C4D9089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2BDB8E-A8D3-4444-94B4-D5008E7E97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35460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29792-EAE5-4479-8741-CD717C4D9089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2BDB8E-A8D3-4444-94B4-D5008E7E97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4814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29792-EAE5-4479-8741-CD717C4D9089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2BDB8E-A8D3-4444-94B4-D5008E7E97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671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29792-EAE5-4479-8741-CD717C4D9089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2BDB8E-A8D3-4444-94B4-D5008E7E97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13415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29792-EAE5-4479-8741-CD717C4D9089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2BDB8E-A8D3-4444-94B4-D5008E7E97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36032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629792-EAE5-4479-8741-CD717C4D9089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2BDB8E-A8D3-4444-94B4-D5008E7E97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0179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31065" y="1371600"/>
            <a:ext cx="11140225" cy="3898900"/>
          </a:xfrm>
        </p:spPr>
        <p:txBody>
          <a:bodyPr>
            <a:normAutofit fontScale="90000"/>
          </a:bodyPr>
          <a:lstStyle/>
          <a:p>
            <a:r>
              <a:rPr lang="en-US" dirty="0">
                <a:cs typeface="Kalimati" panose="00000400000000000000" pitchFamily="2"/>
              </a:rPr>
              <a:t/>
            </a:r>
            <a:br>
              <a:rPr lang="en-US" dirty="0">
                <a:cs typeface="Kalimati" panose="00000400000000000000" pitchFamily="2"/>
              </a:rPr>
            </a:br>
            <a:r>
              <a:rPr lang="en-US" dirty="0">
                <a:cs typeface="Kalimati" panose="00000400000000000000" pitchFamily="2"/>
              </a:rPr>
              <a:t/>
            </a:r>
            <a:br>
              <a:rPr lang="en-US" dirty="0">
                <a:cs typeface="Kalimati" panose="00000400000000000000" pitchFamily="2"/>
              </a:rPr>
            </a:br>
            <a:r>
              <a:rPr lang="ne-NP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Kalimati" panose="00000400000000000000" pitchFamily="2"/>
              </a:rPr>
              <a:t>न्यायपालिकाको</a:t>
            </a:r>
            <a:r>
              <a:rPr lang="ne-NP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पाँचौ पञ्चबर्षीय रणनीतिक योजना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ne-NP" sz="3600" b="1" dirty="0"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Kalimati" panose="00000400000000000000" pitchFamily="2"/>
              </a:rPr>
              <a:t>(2081/082-2085/086)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/>
            </a:r>
            <a:b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</a:br>
            <a:r>
              <a:rPr lang="en-US" dirty="0"/>
              <a:t> </a:t>
            </a:r>
            <a:r>
              <a:rPr lang="ne-NP" dirty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76319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71DA34-E448-4B0F-BA76-63B4ACCB6A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" y="966952"/>
            <a:ext cx="11988800" cy="5891047"/>
          </a:xfrm>
        </p:spPr>
        <p:txBody>
          <a:bodyPr>
            <a:normAutofit lnSpcReduction="10000"/>
          </a:bodyPr>
          <a:lstStyle/>
          <a:p>
            <a:pPr algn="just">
              <a:buFont typeface="Wingdings" panose="05000000000000000000" pitchFamily="2" charset="2"/>
              <a:buChar char="v"/>
            </a:pPr>
            <a:r>
              <a:rPr lang="ne-NP" dirty="0">
                <a:cs typeface="Kalimati" panose="00000400000000000000" pitchFamily="2"/>
              </a:rPr>
              <a:t> </a:t>
            </a:r>
            <a:r>
              <a:rPr lang="ne-NP" b="1" dirty="0" smtClean="0">
                <a:cs typeface="Kalimati" panose="00000400000000000000" pitchFamily="2"/>
              </a:rPr>
              <a:t>रणनीतिक योजनाको आवश्यकता, सन्दर्भ, राष्ट्रिय एवम् अन्तरराष्ट्रिय परिवेश ।</a:t>
            </a:r>
          </a:p>
          <a:p>
            <a:pPr marL="0" indent="0" algn="just">
              <a:buNone/>
            </a:pPr>
            <a:endParaRPr lang="ne-NP" b="1" dirty="0" smtClean="0">
              <a:cs typeface="Kalimati" panose="00000400000000000000" pitchFamily="2"/>
            </a:endParaRPr>
          </a:p>
          <a:p>
            <a:pPr marL="461963" indent="-461963" algn="just">
              <a:buFont typeface="Wingdings" panose="05000000000000000000" pitchFamily="2" charset="2"/>
              <a:buChar char="v"/>
            </a:pPr>
            <a:r>
              <a:rPr lang="ne-NP" b="1" dirty="0" smtClean="0">
                <a:cs typeface="Kalimati" panose="00000400000000000000" pitchFamily="2"/>
              </a:rPr>
              <a:t>न्यायपालिकाको आफ्नै सोच, सक्रियता र प्रतिवद्धताको परिणामको रुपमा  न्यायपालिकाको रणनीतिक योजना ।</a:t>
            </a:r>
          </a:p>
          <a:p>
            <a:pPr marL="0" indent="0" algn="just">
              <a:buNone/>
            </a:pPr>
            <a:endParaRPr lang="ne-NP" b="1" dirty="0" smtClean="0">
              <a:cs typeface="Kalimati" panose="00000400000000000000" pitchFamily="2"/>
            </a:endParaRPr>
          </a:p>
          <a:p>
            <a:pPr marL="461963" indent="-461963" algn="just">
              <a:buFont typeface="Wingdings" panose="05000000000000000000" pitchFamily="2" charset="2"/>
              <a:buChar char="v"/>
            </a:pPr>
            <a:r>
              <a:rPr lang="ne-NP" b="1" dirty="0" smtClean="0">
                <a:cs typeface="Kalimati" panose="00000400000000000000" pitchFamily="2"/>
              </a:rPr>
              <a:t>२०६१ सालमा प्रारम्भ भएको योजनावद्ध सुधार प्रयासका दूई दशकको यात्रा पूरा, चारवटा योजनाहरुको कार्यान्वयन सम्पन्न, पाँचौं पञ्चवर्षीय रणनीतिक योजना कार्यान्वयनको पहिलो वर्षमा ।</a:t>
            </a:r>
          </a:p>
          <a:p>
            <a:pPr marL="0" indent="0" algn="just">
              <a:buNone/>
            </a:pPr>
            <a:endParaRPr lang="ne-NP" b="1" dirty="0" smtClean="0">
              <a:cs typeface="Kalimati" panose="00000400000000000000" pitchFamily="2"/>
            </a:endParaRPr>
          </a:p>
          <a:p>
            <a:pPr marL="461963" indent="-461963" algn="just">
              <a:buFont typeface="Wingdings" panose="05000000000000000000" pitchFamily="2" charset="2"/>
              <a:buChar char="v"/>
            </a:pPr>
            <a:r>
              <a:rPr lang="ne-NP" b="1" dirty="0" smtClean="0">
                <a:cs typeface="Kalimati" panose="00000400000000000000" pitchFamily="2"/>
              </a:rPr>
              <a:t>रणनीतिक योजना कार्यान्वयनका आफ्नै किसिमका अनुभव र अनुभुति, योजनाका मिश्रित उपलव्धी वा नतीजाहरु।</a:t>
            </a:r>
          </a:p>
          <a:p>
            <a:pPr marL="0" indent="0" algn="just">
              <a:buNone/>
            </a:pPr>
            <a:endParaRPr lang="ne-NP" b="1" dirty="0" smtClean="0">
              <a:cs typeface="Kalimati" panose="00000400000000000000" pitchFamily="2"/>
            </a:endParaRPr>
          </a:p>
          <a:p>
            <a:pPr marL="461963" indent="-461963" algn="just">
              <a:buFont typeface="Wingdings" panose="05000000000000000000" pitchFamily="2" charset="2"/>
              <a:buChar char="v"/>
            </a:pPr>
            <a:r>
              <a:rPr lang="ne-NP" b="1" dirty="0" smtClean="0">
                <a:cs typeface="Kalimati" panose="00000400000000000000" pitchFamily="2"/>
              </a:rPr>
              <a:t>योजनाको निरन्तरताको आवश्यकता र वर्तमान परिवेश ।</a:t>
            </a:r>
          </a:p>
          <a:p>
            <a:pPr marL="461963" indent="-461963" algn="just">
              <a:buFont typeface="Wingdings" panose="05000000000000000000" pitchFamily="2" charset="2"/>
              <a:buChar char="v"/>
            </a:pPr>
            <a:endParaRPr lang="ne-NP" b="1" dirty="0" smtClean="0">
              <a:cs typeface="Kalimati" panose="00000400000000000000" pitchFamily="2"/>
            </a:endParaRPr>
          </a:p>
          <a:p>
            <a:pPr marL="461963" indent="-461963" algn="just">
              <a:buFont typeface="Wingdings" panose="05000000000000000000" pitchFamily="2" charset="2"/>
              <a:buChar char="v"/>
            </a:pPr>
            <a:endParaRPr lang="en-US" b="1" dirty="0">
              <a:cs typeface="Kalimati" panose="00000400000000000000" pitchFamily="2"/>
            </a:endParaRPr>
          </a:p>
          <a:p>
            <a:pPr marL="461963" indent="-461963" algn="just">
              <a:buFont typeface="Wingdings" panose="05000000000000000000" pitchFamily="2" charset="2"/>
              <a:buChar char="v"/>
            </a:pPr>
            <a:endParaRPr lang="en-US" b="1" dirty="0">
              <a:cs typeface="Kalimati" panose="00000400000000000000" pitchFamily="2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804982-8AC4-47C1-861E-4AC56739E0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2401"/>
            <a:ext cx="10515600" cy="814551"/>
          </a:xfrm>
        </p:spPr>
        <p:txBody>
          <a:bodyPr>
            <a:noAutofit/>
          </a:bodyPr>
          <a:lstStyle/>
          <a:p>
            <a:pPr algn="ctr"/>
            <a:r>
              <a:rPr lang="ne-NP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Kalimati" panose="00000400000000000000" pitchFamily="2"/>
              </a:rPr>
              <a:t>न्यायपालिकामा रणनीतिक योजनाको पृष्ठभुमी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Kalimati" panose="00000400000000000000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2632453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804982-8AC4-47C1-861E-4AC56739E0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2401"/>
            <a:ext cx="10515600" cy="784033"/>
          </a:xfrm>
        </p:spPr>
        <p:txBody>
          <a:bodyPr>
            <a:noAutofit/>
          </a:bodyPr>
          <a:lstStyle/>
          <a:p>
            <a:pPr algn="ctr"/>
            <a:r>
              <a:rPr lang="ne-NP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Kalimati" panose="00000400000000000000" pitchFamily="2"/>
              </a:rPr>
              <a:t>रणनीतिक योजनाहरुको तर्जुमा र कार्यान्वयन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Kalimati" panose="00000400000000000000" pitchFamily="2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71DA34-E448-4B0F-BA76-63B4ACCB6A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" y="1002536"/>
            <a:ext cx="11988800" cy="5855464"/>
          </a:xfrm>
        </p:spPr>
        <p:txBody>
          <a:bodyPr>
            <a:normAutofit/>
          </a:bodyPr>
          <a:lstStyle/>
          <a:p>
            <a:pPr marL="461963" indent="-461963" algn="just">
              <a:buFont typeface="Wingdings" panose="05000000000000000000" pitchFamily="2" charset="2"/>
              <a:buChar char="v"/>
            </a:pPr>
            <a:r>
              <a:rPr lang="ne-NP" b="1" dirty="0" smtClean="0">
                <a:cs typeface="Kalimati" panose="00000400000000000000" pitchFamily="2"/>
              </a:rPr>
              <a:t>प्रथम पञ्चवर्षीय रणनीतिक योजना २०६१-२०६६ (</a:t>
            </a:r>
            <a:r>
              <a:rPr lang="en-US" b="1" dirty="0" smtClean="0">
                <a:cs typeface="Kalimati" panose="00000400000000000000" pitchFamily="2"/>
              </a:rPr>
              <a:t>Top Down Approach</a:t>
            </a:r>
            <a:r>
              <a:rPr lang="ne-NP" b="1" dirty="0" smtClean="0">
                <a:cs typeface="Kalimati" panose="00000400000000000000" pitchFamily="2"/>
              </a:rPr>
              <a:t>, न्यायप</a:t>
            </a:r>
            <a:r>
              <a:rPr lang="ne-NP" b="1" dirty="0">
                <a:cs typeface="Kalimati" panose="00000400000000000000" pitchFamily="2"/>
              </a:rPr>
              <a:t>ा</a:t>
            </a:r>
            <a:r>
              <a:rPr lang="ne-NP" b="1" dirty="0" smtClean="0">
                <a:cs typeface="Kalimati" panose="00000400000000000000" pitchFamily="2"/>
              </a:rPr>
              <a:t>लिकाको </a:t>
            </a:r>
            <a:r>
              <a:rPr lang="ne-NP" b="1" u="sng" dirty="0" smtClean="0">
                <a:cs typeface="Kalimati" panose="00000400000000000000" pitchFamily="2"/>
              </a:rPr>
              <a:t>परिदृश्य, परिलक्ष्य, मूल्य मान्यता स्पष्ट, सुधारका क्षेत्रहरुको पहिचान,</a:t>
            </a:r>
            <a:r>
              <a:rPr lang="ne-NP" b="1" dirty="0" smtClean="0">
                <a:cs typeface="Kalimati" panose="00000400000000000000" pitchFamily="2"/>
              </a:rPr>
              <a:t> अध्ययन अनुसन्धान, उपलव्धी न्यून)</a:t>
            </a:r>
          </a:p>
          <a:p>
            <a:pPr marL="461963" indent="-461963" algn="just">
              <a:buFont typeface="Wingdings" panose="05000000000000000000" pitchFamily="2" charset="2"/>
              <a:buChar char="v"/>
            </a:pPr>
            <a:r>
              <a:rPr lang="ne-NP" b="1" dirty="0" smtClean="0">
                <a:cs typeface="Kalimati" panose="00000400000000000000" pitchFamily="2"/>
              </a:rPr>
              <a:t>दोस्रो </a:t>
            </a:r>
            <a:r>
              <a:rPr lang="ne-NP" b="1" dirty="0">
                <a:cs typeface="Kalimati" panose="00000400000000000000" pitchFamily="2"/>
              </a:rPr>
              <a:t>पञ्चवर्षीय रणनीतिक योजना </a:t>
            </a:r>
            <a:r>
              <a:rPr lang="ne-NP" b="1" dirty="0" smtClean="0">
                <a:cs typeface="Kalimati" panose="00000400000000000000" pitchFamily="2"/>
              </a:rPr>
              <a:t>२०६६-२०७१ (</a:t>
            </a:r>
            <a:r>
              <a:rPr lang="en-US" b="1" dirty="0" smtClean="0">
                <a:cs typeface="Kalimati" panose="00000400000000000000" pitchFamily="2"/>
              </a:rPr>
              <a:t>Bottom Up </a:t>
            </a:r>
            <a:r>
              <a:rPr lang="en-US" b="1" dirty="0">
                <a:cs typeface="Kalimati" panose="00000400000000000000" pitchFamily="2"/>
              </a:rPr>
              <a:t>Approach</a:t>
            </a:r>
            <a:r>
              <a:rPr lang="ne-NP" b="1" dirty="0">
                <a:cs typeface="Kalimati" panose="00000400000000000000" pitchFamily="2"/>
              </a:rPr>
              <a:t>, </a:t>
            </a:r>
            <a:r>
              <a:rPr lang="ne-NP" b="1" u="sng" dirty="0" smtClean="0">
                <a:cs typeface="Kalimati" panose="00000400000000000000" pitchFamily="2"/>
              </a:rPr>
              <a:t>योजना निर्माणको उपयुक्त विधि, प्रकृया </a:t>
            </a:r>
            <a:r>
              <a:rPr lang="ne-NP" b="1" dirty="0" smtClean="0">
                <a:cs typeface="Kalimati" panose="00000400000000000000" pitchFamily="2"/>
              </a:rPr>
              <a:t>र योजनाको संरचना, योजनाप्रतिको स्वामित्व र प्रतिवद्धता, </a:t>
            </a:r>
            <a:r>
              <a:rPr lang="ne-NP" b="1" u="sng" dirty="0" smtClean="0">
                <a:cs typeface="Kalimati" panose="00000400000000000000" pitchFamily="2"/>
              </a:rPr>
              <a:t>मूल योजनाको अधिनमा रही सबै अदालतका वार्षिक कार्ययोजना निर्माण र कार्यान्वयन</a:t>
            </a:r>
            <a:r>
              <a:rPr lang="ne-NP" b="1" dirty="0" smtClean="0">
                <a:cs typeface="Kalimati" panose="00000400000000000000" pitchFamily="2"/>
              </a:rPr>
              <a:t>, योजनाको प्रभावकारी कार्यान्वयन र उपलव्धी)</a:t>
            </a:r>
          </a:p>
          <a:p>
            <a:pPr marL="461963" indent="-461963" algn="just">
              <a:buFont typeface="Wingdings" panose="05000000000000000000" pitchFamily="2" charset="2"/>
              <a:buChar char="v"/>
            </a:pPr>
            <a:r>
              <a:rPr lang="ne-NP" b="1" dirty="0" smtClean="0">
                <a:cs typeface="Kalimati" panose="00000400000000000000" pitchFamily="2"/>
              </a:rPr>
              <a:t>तेस्रो </a:t>
            </a:r>
            <a:r>
              <a:rPr lang="ne-NP" b="1" dirty="0">
                <a:cs typeface="Kalimati" panose="00000400000000000000" pitchFamily="2"/>
              </a:rPr>
              <a:t>पञ्चवर्षीय रणनीतिक योजना </a:t>
            </a:r>
            <a:r>
              <a:rPr lang="ne-NP" b="1" dirty="0" smtClean="0">
                <a:cs typeface="Kalimati" panose="00000400000000000000" pitchFamily="2"/>
              </a:rPr>
              <a:t>२०७१-२०७६ (योजना तर्जुमा परिस्कृत, </a:t>
            </a:r>
            <a:r>
              <a:rPr lang="en-US" b="1" u="sng" dirty="0" smtClean="0">
                <a:cs typeface="Kalimati" panose="00000400000000000000" pitchFamily="2"/>
              </a:rPr>
              <a:t>Short Term/Long Term Goals,</a:t>
            </a:r>
            <a:r>
              <a:rPr lang="en-US" b="1" dirty="0" smtClean="0">
                <a:cs typeface="Kalimati" panose="00000400000000000000" pitchFamily="2"/>
              </a:rPr>
              <a:t> </a:t>
            </a:r>
            <a:r>
              <a:rPr lang="ne-NP" b="1" u="sng" dirty="0" smtClean="0">
                <a:cs typeface="Kalimati" panose="00000400000000000000" pitchFamily="2"/>
              </a:rPr>
              <a:t>नीतिगत र कार्यान्वयन तह</a:t>
            </a:r>
            <a:r>
              <a:rPr lang="ne-NP" b="1" dirty="0" smtClean="0">
                <a:cs typeface="Kalimati" panose="00000400000000000000" pitchFamily="2"/>
              </a:rPr>
              <a:t>को कार्यान्वयन योजना, यथार्थपरक लक्ष्य निर्धारण, </a:t>
            </a:r>
            <a:r>
              <a:rPr lang="ne-NP" b="1" u="sng" dirty="0" smtClean="0">
                <a:cs typeface="Kalimati" panose="00000400000000000000" pitchFamily="2"/>
              </a:rPr>
              <a:t>लक्षित वर्गको सुविधा र सन्तुष्टि </a:t>
            </a:r>
            <a:r>
              <a:rPr lang="ne-NP" b="1" dirty="0" smtClean="0">
                <a:cs typeface="Kalimati" panose="00000400000000000000" pitchFamily="2"/>
              </a:rPr>
              <a:t>अभिवृद्धिमा प्राथमिकता, कार्यान्वयन र उपलव्धी सकारात्मक)</a:t>
            </a:r>
          </a:p>
          <a:p>
            <a:pPr marL="461963" indent="-461963" algn="just">
              <a:buFont typeface="Wingdings" panose="05000000000000000000" pitchFamily="2" charset="2"/>
              <a:buChar char="v"/>
            </a:pPr>
            <a:r>
              <a:rPr lang="ne-NP" b="1" dirty="0" smtClean="0">
                <a:cs typeface="Kalimati" panose="00000400000000000000" pitchFamily="2"/>
              </a:rPr>
              <a:t>चौंथो </a:t>
            </a:r>
            <a:r>
              <a:rPr lang="ne-NP" b="1" dirty="0">
                <a:cs typeface="Kalimati" panose="00000400000000000000" pitchFamily="2"/>
              </a:rPr>
              <a:t>पञ्चवर्षीय रणनीतिक योजना </a:t>
            </a:r>
            <a:r>
              <a:rPr lang="ne-NP" b="1" dirty="0" smtClean="0">
                <a:cs typeface="Kalimati" panose="00000400000000000000" pitchFamily="2"/>
              </a:rPr>
              <a:t>२०७६-२०८१ </a:t>
            </a:r>
            <a:r>
              <a:rPr lang="ne-NP" b="1" dirty="0">
                <a:cs typeface="Kalimati" panose="00000400000000000000" pitchFamily="2"/>
              </a:rPr>
              <a:t>(योजना </a:t>
            </a:r>
            <a:r>
              <a:rPr lang="ne-NP" b="1" dirty="0" smtClean="0">
                <a:cs typeface="Kalimati" panose="00000400000000000000" pitchFamily="2"/>
              </a:rPr>
              <a:t>थप </a:t>
            </a:r>
            <a:r>
              <a:rPr lang="ne-NP" b="1" dirty="0">
                <a:cs typeface="Kalimati" panose="00000400000000000000" pitchFamily="2"/>
              </a:rPr>
              <a:t>परिस्कृत</a:t>
            </a:r>
            <a:r>
              <a:rPr lang="ne-NP" b="1" dirty="0" smtClean="0">
                <a:cs typeface="Kalimati" panose="00000400000000000000" pitchFamily="2"/>
              </a:rPr>
              <a:t>,</a:t>
            </a:r>
            <a:r>
              <a:rPr lang="en-US" b="1" dirty="0" smtClean="0">
                <a:cs typeface="Kalimati" panose="00000400000000000000" pitchFamily="2"/>
              </a:rPr>
              <a:t> </a:t>
            </a:r>
            <a:r>
              <a:rPr lang="ne-NP" b="1" dirty="0" smtClean="0">
                <a:cs typeface="Kalimati" panose="00000400000000000000" pitchFamily="2"/>
              </a:rPr>
              <a:t>विज्ञहरुसंग व्यापक परामर्श, </a:t>
            </a:r>
            <a:r>
              <a:rPr lang="ne-NP" b="1" u="sng" dirty="0" smtClean="0">
                <a:cs typeface="Kalimati" panose="00000400000000000000" pitchFamily="2"/>
              </a:rPr>
              <a:t>मुद्दा व्यवस्थापनको</a:t>
            </a:r>
            <a:r>
              <a:rPr lang="en-US" b="1" u="sng" dirty="0" smtClean="0">
                <a:cs typeface="Kalimati" panose="00000400000000000000" pitchFamily="2"/>
              </a:rPr>
              <a:t> DCM </a:t>
            </a:r>
            <a:r>
              <a:rPr lang="ne-NP" b="1" u="sng" dirty="0" smtClean="0">
                <a:cs typeface="Kalimati" panose="00000400000000000000" pitchFamily="2"/>
              </a:rPr>
              <a:t>पद्धति</a:t>
            </a:r>
            <a:r>
              <a:rPr lang="en-US" b="1" dirty="0" smtClean="0">
                <a:cs typeface="Kalimati" panose="00000400000000000000" pitchFamily="2"/>
              </a:rPr>
              <a:t>  </a:t>
            </a:r>
            <a:r>
              <a:rPr lang="ne-NP" b="1" dirty="0" smtClean="0">
                <a:cs typeface="Kalimati" panose="00000400000000000000" pitchFamily="2"/>
              </a:rPr>
              <a:t>लागू, </a:t>
            </a:r>
            <a:r>
              <a:rPr lang="ne-NP" b="1" u="sng" dirty="0" smtClean="0">
                <a:cs typeface="Kalimati" panose="00000400000000000000" pitchFamily="2"/>
              </a:rPr>
              <a:t>सुशासन प्राथमिकतामा,</a:t>
            </a:r>
            <a:r>
              <a:rPr lang="ne-NP" b="1" dirty="0" smtClean="0">
                <a:cs typeface="Kalimati" panose="00000400000000000000" pitchFamily="2"/>
              </a:rPr>
              <a:t> कोभिडको प्रभाव/उपलव्धी औषत्)</a:t>
            </a:r>
            <a:endParaRPr lang="ne-NP" b="1" dirty="0">
              <a:cs typeface="Kalimati" panose="00000400000000000000" pitchFamily="2"/>
            </a:endParaRPr>
          </a:p>
          <a:p>
            <a:pPr marL="461963" indent="-461963" algn="just">
              <a:buFont typeface="Wingdings" panose="05000000000000000000" pitchFamily="2" charset="2"/>
              <a:buChar char="v"/>
            </a:pPr>
            <a:endParaRPr lang="ne-NP" b="1" dirty="0" smtClean="0">
              <a:cs typeface="Kalimati" panose="00000400000000000000" pitchFamily="2"/>
            </a:endParaRPr>
          </a:p>
          <a:p>
            <a:pPr marL="461963" indent="-461963" algn="just">
              <a:buFont typeface="Wingdings" panose="05000000000000000000" pitchFamily="2" charset="2"/>
              <a:buChar char="v"/>
            </a:pPr>
            <a:endParaRPr lang="ne-NP" b="1" dirty="0">
              <a:cs typeface="Kalimati" panose="00000400000000000000" pitchFamily="2"/>
            </a:endParaRPr>
          </a:p>
          <a:p>
            <a:pPr marL="461963" indent="-461963" algn="just">
              <a:buFont typeface="Wingdings" panose="05000000000000000000" pitchFamily="2" charset="2"/>
              <a:buChar char="v"/>
            </a:pPr>
            <a:endParaRPr lang="ne-NP" b="1" dirty="0">
              <a:cs typeface="Kalimati" panose="00000400000000000000" pitchFamily="2"/>
            </a:endParaRPr>
          </a:p>
          <a:p>
            <a:pPr marL="461963" indent="-461963" algn="just">
              <a:buFont typeface="Wingdings" panose="05000000000000000000" pitchFamily="2" charset="2"/>
              <a:buChar char="v"/>
            </a:pPr>
            <a:endParaRPr lang="ne-NP" b="1" dirty="0" smtClean="0">
              <a:cs typeface="Kalimati" panose="00000400000000000000" pitchFamily="2"/>
            </a:endParaRPr>
          </a:p>
          <a:p>
            <a:pPr marL="0" indent="0" algn="just">
              <a:buNone/>
            </a:pPr>
            <a:endParaRPr lang="ne-NP" b="1" dirty="0" smtClean="0">
              <a:cs typeface="Kalimati" panose="00000400000000000000" pitchFamily="2"/>
            </a:endParaRPr>
          </a:p>
          <a:p>
            <a:pPr marL="461963" indent="-461963" algn="just">
              <a:buFont typeface="Wingdings" panose="05000000000000000000" pitchFamily="2" charset="2"/>
              <a:buChar char="v"/>
            </a:pPr>
            <a:endParaRPr lang="en-US" b="1" dirty="0">
              <a:cs typeface="Kalimati" panose="00000400000000000000" pitchFamily="2"/>
            </a:endParaRPr>
          </a:p>
          <a:p>
            <a:pPr marL="461963" indent="-461963" algn="just">
              <a:buFont typeface="Wingdings" panose="05000000000000000000" pitchFamily="2" charset="2"/>
              <a:buChar char="v"/>
            </a:pPr>
            <a:endParaRPr lang="en-US" b="1" dirty="0">
              <a:cs typeface="Kalimati" panose="00000400000000000000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515312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804982-8AC4-47C1-861E-4AC56739E0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756" y="152401"/>
            <a:ext cx="11780322" cy="927251"/>
          </a:xfrm>
        </p:spPr>
        <p:txBody>
          <a:bodyPr>
            <a:noAutofit/>
          </a:bodyPr>
          <a:lstStyle/>
          <a:p>
            <a:pPr algn="ctr"/>
            <a:r>
              <a:rPr lang="ne-NP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Kalimati" panose="00000400000000000000" pitchFamily="2"/>
              </a:rPr>
              <a:t>पाँचौ पञ्चवर्षीय रणनितिक योजना र यसका मुख्य विशेषता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Kalimati" panose="00000400000000000000" pitchFamily="2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71DA34-E448-4B0F-BA76-63B4ACCB6A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" y="890650"/>
            <a:ext cx="11988800" cy="5967350"/>
          </a:xfrm>
          <a:solidFill>
            <a:schemeClr val="bg1"/>
          </a:solidFill>
        </p:spPr>
        <p:txBody>
          <a:bodyPr>
            <a:normAutofit/>
          </a:bodyPr>
          <a:lstStyle/>
          <a:p>
            <a:pPr marL="0" indent="0" algn="just">
              <a:buNone/>
            </a:pPr>
            <a:endParaRPr lang="ne-NP" dirty="0" smtClean="0">
              <a:highlight>
                <a:srgbClr val="FFFF00"/>
              </a:highlight>
              <a:cs typeface="Kalimati" panose="00000400000000000000" pitchFamily="2"/>
            </a:endParaRPr>
          </a:p>
          <a:p>
            <a:pPr marL="517525" indent="-517525" algn="just">
              <a:buFont typeface="Wingdings" panose="05000000000000000000" pitchFamily="2" charset="2"/>
              <a:buChar char="v"/>
            </a:pPr>
            <a:r>
              <a:rPr lang="ne-NP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Kalimati" panose="00000400000000000000" pitchFamily="2"/>
              </a:rPr>
              <a:t>योजनामा निरन्तर परिमार्जन हुँदै आएको (</a:t>
            </a:r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Kalimati" panose="00000400000000000000" pitchFamily="2"/>
              </a:rPr>
              <a:t>Dynamic Process)</a:t>
            </a:r>
            <a:endParaRPr lang="ne-NP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Kalimati" panose="00000400000000000000" pitchFamily="2"/>
            </a:endParaRPr>
          </a:p>
          <a:p>
            <a:pPr marL="517525" indent="-517525" algn="just">
              <a:buFont typeface="Wingdings" panose="05000000000000000000" pitchFamily="2" charset="2"/>
              <a:buChar char="v"/>
            </a:pPr>
            <a:r>
              <a:rPr lang="ne-NP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Kalimati" panose="00000400000000000000" pitchFamily="2"/>
              </a:rPr>
              <a:t>योजना </a:t>
            </a:r>
            <a:r>
              <a:rPr lang="ne-NP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Kalimati" panose="00000400000000000000" pitchFamily="2"/>
              </a:rPr>
              <a:t>संक्षिप्त </a:t>
            </a:r>
            <a:r>
              <a:rPr lang="ne-NP" dirty="0">
                <a:cs typeface="Kalimati" panose="00000400000000000000" pitchFamily="2"/>
              </a:rPr>
              <a:t>(</a:t>
            </a:r>
            <a:r>
              <a:rPr lang="en-US" dirty="0">
                <a:cs typeface="Kalimati" panose="00000400000000000000" pitchFamily="2"/>
              </a:rPr>
              <a:t>Output Based Data </a:t>
            </a:r>
            <a:r>
              <a:rPr lang="ne-NP" dirty="0">
                <a:cs typeface="Kalimati" panose="00000400000000000000" pitchFamily="2"/>
              </a:rPr>
              <a:t>योजनामा अन्य </a:t>
            </a:r>
            <a:r>
              <a:rPr lang="en-US" dirty="0">
                <a:cs typeface="Kalimati" panose="00000400000000000000" pitchFamily="2"/>
              </a:rPr>
              <a:t>Process Based Data </a:t>
            </a:r>
            <a:r>
              <a:rPr lang="ne-NP" dirty="0">
                <a:cs typeface="Kalimati" panose="00000400000000000000" pitchFamily="2"/>
              </a:rPr>
              <a:t>छुट्टै सन्दर्भ सामग्रीको </a:t>
            </a:r>
            <a:r>
              <a:rPr lang="ne-NP" dirty="0" smtClean="0">
                <a:cs typeface="Kalimati" panose="00000400000000000000" pitchFamily="2"/>
              </a:rPr>
              <a:t>रुपमा ।</a:t>
            </a:r>
          </a:p>
          <a:p>
            <a:pPr marL="517525" indent="-517525" algn="just">
              <a:buFont typeface="Wingdings" panose="05000000000000000000" pitchFamily="2" charset="2"/>
              <a:buChar char="v"/>
            </a:pPr>
            <a:r>
              <a:rPr lang="ne-NP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Kalimati" panose="00000400000000000000" pitchFamily="2"/>
              </a:rPr>
              <a:t>योजनाका </a:t>
            </a:r>
            <a:r>
              <a:rPr lang="ne-NP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Kalimati" panose="00000400000000000000" pitchFamily="2"/>
              </a:rPr>
              <a:t>पाँच प्राथमिकता, </a:t>
            </a:r>
            <a:r>
              <a:rPr lang="ne-NP" dirty="0">
                <a:cs typeface="Kalimati" panose="00000400000000000000" pitchFamily="2"/>
              </a:rPr>
              <a:t>प्राथमिकता अनुसार छुट्टै परिच्छेद र कार्ययोजना (</a:t>
            </a:r>
            <a:r>
              <a:rPr lang="ne-NP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Kalimati" panose="00000400000000000000" pitchFamily="2"/>
              </a:rPr>
              <a:t>योजना विशिष्टिकृत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Kalimati" panose="00000400000000000000" pitchFamily="2"/>
              </a:rPr>
              <a:t>, </a:t>
            </a:r>
            <a:r>
              <a:rPr lang="ne-NP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Kalimati" panose="00000400000000000000" pitchFamily="2"/>
              </a:rPr>
              <a:t>लक्ष्य केन्द्रित र परियोजनामा </a:t>
            </a:r>
            <a:r>
              <a:rPr lang="ne-NP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Kalimati" panose="00000400000000000000" pitchFamily="2"/>
              </a:rPr>
              <a:t>आधारित)</a:t>
            </a:r>
            <a:endParaRPr lang="ne-NP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Kalimati" panose="00000400000000000000" pitchFamily="2"/>
            </a:endParaRPr>
          </a:p>
          <a:p>
            <a:pPr marL="517525" indent="-517525" algn="just">
              <a:buFont typeface="Wingdings" panose="05000000000000000000" pitchFamily="2" charset="2"/>
              <a:buChar char="v"/>
            </a:pPr>
            <a:r>
              <a:rPr lang="ne-NP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Kalimati" panose="00000400000000000000" pitchFamily="2"/>
              </a:rPr>
              <a:t>रणनीतिक प्रकृतिका </a:t>
            </a:r>
            <a:r>
              <a:rPr lang="ne-NP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Kalimati" panose="00000400000000000000" pitchFamily="2"/>
              </a:rPr>
              <a:t>अर्थात् 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Kalimati" panose="00000400000000000000" pitchFamily="2"/>
              </a:rPr>
              <a:t>Program Based </a:t>
            </a:r>
            <a:r>
              <a:rPr lang="ne-NP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Kalimati" panose="00000400000000000000" pitchFamily="2"/>
              </a:rPr>
              <a:t>क्रियाकलापहरु </a:t>
            </a:r>
            <a:r>
              <a:rPr lang="ne-NP" dirty="0">
                <a:cs typeface="Kalimati" panose="00000400000000000000" pitchFamily="2"/>
              </a:rPr>
              <a:t>योजनामा समावेश गरी नियमित रुपमा गर्नुपर्ने प्रकृतिका कार्यहरु योजनामा </a:t>
            </a:r>
            <a:r>
              <a:rPr lang="ne-NP" dirty="0" smtClean="0">
                <a:cs typeface="Kalimati" panose="00000400000000000000" pitchFamily="2"/>
              </a:rPr>
              <a:t>न्यून समावेश ।</a:t>
            </a:r>
            <a:endParaRPr lang="ne-NP" dirty="0">
              <a:cs typeface="Kalimati" panose="00000400000000000000" pitchFamily="2"/>
            </a:endParaRPr>
          </a:p>
          <a:p>
            <a:pPr marL="517525" indent="-517525" algn="just">
              <a:buFont typeface="Wingdings" panose="05000000000000000000" pitchFamily="2" charset="2"/>
              <a:buChar char="v"/>
            </a:pPr>
            <a:r>
              <a:rPr lang="ne-NP" dirty="0" smtClean="0">
                <a:cs typeface="Kalimati" panose="00000400000000000000" pitchFamily="2"/>
              </a:rPr>
              <a:t>योजनामा </a:t>
            </a:r>
            <a:r>
              <a:rPr lang="ne-NP" dirty="0">
                <a:cs typeface="Kalimati" panose="00000400000000000000" pitchFamily="2"/>
              </a:rPr>
              <a:t>रहेका अधिकांश कार्यहरु (क्रियाकलापहरु) को </a:t>
            </a:r>
            <a:r>
              <a:rPr lang="ne-NP" dirty="0" smtClean="0">
                <a:cs typeface="Kalimati" panose="00000400000000000000" pitchFamily="2"/>
              </a:rPr>
              <a:t>थप </a:t>
            </a:r>
            <a:r>
              <a:rPr lang="ne-NP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Kalimati" panose="00000400000000000000" pitchFamily="2"/>
              </a:rPr>
              <a:t>कार्यक्रम </a:t>
            </a:r>
            <a:r>
              <a:rPr lang="ne-NP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Kalimati" panose="00000400000000000000" pitchFamily="2"/>
              </a:rPr>
              <a:t>निर्माण र माइलस्टोन (चरण सूचक) बनाई कार्यान्वयन </a:t>
            </a:r>
            <a:r>
              <a:rPr lang="ne-NP" dirty="0">
                <a:cs typeface="Kalimati" panose="00000400000000000000" pitchFamily="2"/>
              </a:rPr>
              <a:t>गर्नुपर्ने </a:t>
            </a:r>
            <a:r>
              <a:rPr lang="ne-NP" dirty="0" smtClean="0">
                <a:cs typeface="Kalimati" panose="00000400000000000000" pitchFamily="2"/>
              </a:rPr>
              <a:t>।</a:t>
            </a:r>
          </a:p>
          <a:p>
            <a:pPr marL="517525" indent="-517525" algn="just">
              <a:buFont typeface="Wingdings" panose="05000000000000000000" pitchFamily="2" charset="2"/>
              <a:buChar char="v"/>
            </a:pPr>
            <a:r>
              <a:rPr lang="ne-NP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Kalimati" panose="00000400000000000000" pitchFamily="2"/>
              </a:rPr>
              <a:t>योजना </a:t>
            </a:r>
            <a:r>
              <a:rPr lang="ne-NP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Kalimati" panose="00000400000000000000" pitchFamily="2"/>
              </a:rPr>
              <a:t>कार्यान्वयनको अनुगमन र मूल्याङ्कन प्रणाली विस्तृत </a:t>
            </a:r>
            <a:r>
              <a:rPr lang="ne-NP" dirty="0">
                <a:cs typeface="Kalimati" panose="00000400000000000000" pitchFamily="2"/>
              </a:rPr>
              <a:t>र प्रभावकारी (कार्यान्वयन योजनालाई अनुगमन प्रणालीको खाकाभित्र राखेर सफ्टवेयरमार्फत स्वचालित रुपमा अनुगमन)</a:t>
            </a:r>
            <a:endParaRPr lang="en-US" dirty="0">
              <a:cs typeface="Kalimati" panose="00000400000000000000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31639273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804982-8AC4-47C1-861E-4AC56739E0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382" y="152402"/>
            <a:ext cx="11673444" cy="738248"/>
          </a:xfrm>
        </p:spPr>
        <p:txBody>
          <a:bodyPr>
            <a:noAutofit/>
          </a:bodyPr>
          <a:lstStyle/>
          <a:p>
            <a:pPr algn="ctr"/>
            <a:r>
              <a:rPr lang="ne-NP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Kalimati" panose="00000400000000000000" pitchFamily="2"/>
              </a:rPr>
              <a:t>मुख्य विशेषता............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Kalimati" panose="00000400000000000000" pitchFamily="2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71DA34-E448-4B0F-BA76-63B4ACCB6A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" y="1123720"/>
            <a:ext cx="11988800" cy="5734280"/>
          </a:xfrm>
        </p:spPr>
        <p:txBody>
          <a:bodyPr>
            <a:noAutofit/>
          </a:bodyPr>
          <a:lstStyle/>
          <a:p>
            <a:pPr algn="just">
              <a:buFont typeface="Wingdings" panose="05000000000000000000" pitchFamily="2" charset="2"/>
              <a:buChar char="v"/>
            </a:pPr>
            <a:r>
              <a:rPr lang="ne-NP" dirty="0">
                <a:cs typeface="Kalimati" panose="00000400000000000000" pitchFamily="2"/>
              </a:rPr>
              <a:t>योजनाको मध्यावधि प्रगति </a:t>
            </a:r>
            <a:r>
              <a:rPr lang="ne-NP" dirty="0" smtClean="0">
                <a:cs typeface="Kalimati" panose="00000400000000000000" pitchFamily="2"/>
              </a:rPr>
              <a:t>समीक्षाको छुट्टै प्रतिवेदन तयार गरिने, </a:t>
            </a:r>
            <a:r>
              <a:rPr lang="ne-NP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Kalimati" panose="00000400000000000000" pitchFamily="2"/>
              </a:rPr>
              <a:t>मध्यावधिपछिको </a:t>
            </a:r>
            <a:r>
              <a:rPr lang="ne-NP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Kalimati" panose="00000400000000000000" pitchFamily="2"/>
              </a:rPr>
              <a:t>छुट्टै योजना </a:t>
            </a:r>
            <a:r>
              <a:rPr lang="ne-NP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Kalimati" panose="00000400000000000000" pitchFamily="2"/>
              </a:rPr>
              <a:t>निर्माण </a:t>
            </a:r>
            <a:r>
              <a:rPr lang="ne-NP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Kalimati" panose="00000400000000000000" pitchFamily="2"/>
              </a:rPr>
              <a:t>नगर्ने</a:t>
            </a:r>
            <a:r>
              <a:rPr lang="ne-NP" dirty="0" smtClean="0">
                <a:cs typeface="Kalimati" panose="00000400000000000000" pitchFamily="2"/>
              </a:rPr>
              <a:t>, योजनाको </a:t>
            </a:r>
            <a:r>
              <a:rPr lang="ne-NP" dirty="0">
                <a:cs typeface="Kalimati" panose="00000400000000000000" pitchFamily="2"/>
              </a:rPr>
              <a:t>अन्तिम वर्षमा </a:t>
            </a:r>
            <a:r>
              <a:rPr lang="ne-NP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Kalimati" panose="00000400000000000000" pitchFamily="2"/>
              </a:rPr>
              <a:t>योजनाहरुको प्रभाव मूल्यांकनसम्बन्धी अध्ययन</a:t>
            </a:r>
            <a:r>
              <a:rPr lang="ne-NP" dirty="0">
                <a:cs typeface="Kalimati" panose="00000400000000000000" pitchFamily="2"/>
              </a:rPr>
              <a:t> समेत गर्ने ।</a:t>
            </a:r>
          </a:p>
          <a:p>
            <a:pPr algn="just">
              <a:buFont typeface="Wingdings" panose="05000000000000000000" pitchFamily="2" charset="2"/>
              <a:buChar char="v"/>
            </a:pPr>
            <a:r>
              <a:rPr lang="ne-NP" dirty="0">
                <a:cs typeface="Kalimati" panose="00000400000000000000" pitchFamily="2"/>
              </a:rPr>
              <a:t>योजनाका लक्ष्यहरु सकेसम्म व्यवहारिक र </a:t>
            </a:r>
            <a:r>
              <a:rPr lang="ne-NP" dirty="0" smtClean="0">
                <a:cs typeface="Kalimati" panose="00000400000000000000" pitchFamily="2"/>
              </a:rPr>
              <a:t>हासिल </a:t>
            </a:r>
            <a:r>
              <a:rPr lang="ne-NP" dirty="0">
                <a:cs typeface="Kalimati" panose="00000400000000000000" pitchFamily="2"/>
              </a:rPr>
              <a:t>गर्न सकिने बनाउने प्रयास </a:t>
            </a:r>
          </a:p>
          <a:p>
            <a:pPr lvl="1" algn="just">
              <a:buFont typeface="Wingdings" panose="05000000000000000000" pitchFamily="2" charset="2"/>
              <a:buChar char="v"/>
            </a:pPr>
            <a:r>
              <a:rPr lang="ne-NP" sz="2800" dirty="0">
                <a:cs typeface="Kalimati" panose="00000400000000000000" pitchFamily="2"/>
              </a:rPr>
              <a:t>उच्च र जिल्ला अदालतहरुमा फरक मुद्दा व्यवस्थापन पद्धति – मार्गसमूह अनुसारको निश्चित प्रतिशत लक्ष्य÷सरल मार्गको समयावधि वृद्धि÷मार्ग समूहमा रहने आधारहरुको परिमार्जन गर्ने विषय, </a:t>
            </a:r>
          </a:p>
          <a:p>
            <a:pPr lvl="1" algn="just">
              <a:buFont typeface="Wingdings" panose="05000000000000000000" pitchFamily="2" charset="2"/>
              <a:buChar char="v"/>
            </a:pPr>
            <a:r>
              <a:rPr lang="ne-NP" sz="2800" dirty="0">
                <a:cs typeface="Kalimati" panose="00000400000000000000" pitchFamily="2"/>
              </a:rPr>
              <a:t>सर्वोच्च अदालतमा माघ र फागुन महिनाको पूर्ण क्षमतामा कार्य गर्दाको औषत अवस्थालाई आधारविन्दु मानेर लक्ष्यहरुको निर्धारण</a:t>
            </a:r>
          </a:p>
          <a:p>
            <a:pPr algn="just">
              <a:buFont typeface="Wingdings" panose="05000000000000000000" pitchFamily="2" charset="2"/>
              <a:buChar char="v"/>
            </a:pPr>
            <a:r>
              <a:rPr lang="ne-NP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Kalimati" panose="00000400000000000000" pitchFamily="2"/>
              </a:rPr>
              <a:t>कार्यवोझ </a:t>
            </a:r>
            <a:r>
              <a:rPr lang="ne-NP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Kalimati" panose="00000400000000000000" pitchFamily="2"/>
              </a:rPr>
              <a:t>बढी भएका </a:t>
            </a:r>
            <a:r>
              <a:rPr lang="ne-NP" dirty="0">
                <a:cs typeface="Kalimati" panose="00000400000000000000" pitchFamily="2"/>
              </a:rPr>
              <a:t>(मुद्दातर्फ ४६, फैसला कार्यान्वयनतर्फ २७) अदालतको छुट्टै व्यवस्थापन, </a:t>
            </a:r>
            <a:r>
              <a:rPr lang="ne-NP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Kalimati" panose="00000400000000000000" pitchFamily="2"/>
              </a:rPr>
              <a:t>सूचना पद्धतिमा आधारित योजना</a:t>
            </a:r>
            <a:r>
              <a:rPr lang="ne-NP" dirty="0">
                <a:cs typeface="Kalimati" panose="00000400000000000000" pitchFamily="2"/>
              </a:rPr>
              <a:t>, </a:t>
            </a:r>
            <a:r>
              <a:rPr lang="ne-NP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Kalimati" panose="00000400000000000000" pitchFamily="2"/>
              </a:rPr>
              <a:t>वजेटको सुनिश्चितता</a:t>
            </a:r>
            <a:r>
              <a:rPr lang="ne-NP" dirty="0">
                <a:cs typeface="Kalimati" panose="00000400000000000000" pitchFamily="2"/>
              </a:rPr>
              <a:t>, मानव संशाधन विकास, परिचालन र जवाफदेहिता, </a:t>
            </a:r>
            <a:r>
              <a:rPr lang="ne-NP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Kalimati" panose="00000400000000000000" pitchFamily="2"/>
              </a:rPr>
              <a:t>सेवाग्राहीहरुको सुविधा र जनआस्था</a:t>
            </a:r>
            <a:r>
              <a:rPr lang="ne-NP" dirty="0">
                <a:cs typeface="Kalimati" panose="00000400000000000000" pitchFamily="2"/>
              </a:rPr>
              <a:t>लाई केन्द्रविन्दुमा  राखेको ।</a:t>
            </a:r>
            <a:endParaRPr lang="en-US" dirty="0">
              <a:cs typeface="Kalimati" panose="00000400000000000000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41863156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804982-8AC4-47C1-861E-4AC56739E0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2401"/>
            <a:ext cx="10515600" cy="622299"/>
          </a:xfrm>
        </p:spPr>
        <p:txBody>
          <a:bodyPr>
            <a:noAutofit/>
          </a:bodyPr>
          <a:lstStyle/>
          <a:p>
            <a:pPr algn="ctr"/>
            <a:r>
              <a:rPr lang="ne-NP" sz="3200" b="1" dirty="0">
                <a:cs typeface="Kalimati" panose="00000400000000000000" pitchFamily="2"/>
              </a:rPr>
              <a:t>योजना तर्जुमाका आधार वा मार्गदर्शनहरु</a:t>
            </a:r>
            <a:endParaRPr lang="en-US" sz="3200" b="1" dirty="0">
              <a:cs typeface="Kalimati" panose="00000400000000000000" pitchFamily="2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71DA34-E448-4B0F-BA76-63B4ACCB6A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" y="774700"/>
            <a:ext cx="11988800" cy="6083300"/>
          </a:xfrm>
        </p:spPr>
        <p:txBody>
          <a:bodyPr>
            <a:normAutofit fontScale="92500"/>
          </a:bodyPr>
          <a:lstStyle/>
          <a:p>
            <a:pPr algn="just">
              <a:buFont typeface="Wingdings" panose="05000000000000000000" pitchFamily="2" charset="2"/>
              <a:buChar char="v"/>
            </a:pPr>
            <a:r>
              <a:rPr lang="ne-NP" dirty="0">
                <a:cs typeface="Kalimati" panose="00000400000000000000" pitchFamily="2"/>
              </a:rPr>
              <a:t>योजना तर्जुमासम्बन्धी कार्यादेश/कार्ययोजना</a:t>
            </a:r>
          </a:p>
          <a:p>
            <a:pPr algn="just">
              <a:buFont typeface="Wingdings" panose="05000000000000000000" pitchFamily="2" charset="2"/>
              <a:buChar char="v"/>
            </a:pPr>
            <a:r>
              <a:rPr lang="ne-NP" dirty="0">
                <a:cs typeface="Kalimati" panose="00000400000000000000" pitchFamily="2"/>
              </a:rPr>
              <a:t>चौंथो पञ्चवर्षीय रणनीतिक योजनाको प्रगति समीक्षा, लक्ष्य बमोजिम प्रगति हुन नसक्नुका कारण र प्रभावको विश्लेषण ।</a:t>
            </a:r>
            <a:endParaRPr lang="en-US" dirty="0">
              <a:cs typeface="Kalimati" panose="00000400000000000000" pitchFamily="2"/>
            </a:endParaRPr>
          </a:p>
          <a:p>
            <a:pPr algn="just">
              <a:buFont typeface="Wingdings" panose="05000000000000000000" pitchFamily="2" charset="2"/>
              <a:buChar char="v"/>
            </a:pPr>
            <a:r>
              <a:rPr lang="ne-NP" dirty="0">
                <a:cs typeface="Kalimati" panose="00000400000000000000" pitchFamily="2"/>
              </a:rPr>
              <a:t>प्रश्नावली </a:t>
            </a:r>
            <a:r>
              <a:rPr lang="en-US" dirty="0">
                <a:cs typeface="Kalimati" panose="00000400000000000000" pitchFamily="2"/>
              </a:rPr>
              <a:t>(</a:t>
            </a:r>
            <a:r>
              <a:rPr lang="ne-NP" sz="2400" dirty="0">
                <a:solidFill>
                  <a:srgbClr val="FF0000"/>
                </a:solidFill>
                <a:cs typeface="Kalimati" panose="00000400000000000000" pitchFamily="2"/>
              </a:rPr>
              <a:t>७३/८</a:t>
            </a:r>
            <a:r>
              <a:rPr lang="en-US" dirty="0">
                <a:solidFill>
                  <a:srgbClr val="FF0000"/>
                </a:solidFill>
                <a:cs typeface="Kalimati" panose="00000400000000000000" pitchFamily="2"/>
              </a:rPr>
              <a:t>)</a:t>
            </a:r>
            <a:r>
              <a:rPr lang="ne-NP" dirty="0">
                <a:solidFill>
                  <a:srgbClr val="FF0000"/>
                </a:solidFill>
                <a:cs typeface="Kalimati" panose="00000400000000000000" pitchFamily="2"/>
              </a:rPr>
              <a:t> </a:t>
            </a:r>
            <a:r>
              <a:rPr lang="ne-NP" dirty="0">
                <a:cs typeface="Kalimati" panose="00000400000000000000" pitchFamily="2"/>
              </a:rPr>
              <a:t>र परामर्श कार्यक्रमहरु </a:t>
            </a:r>
            <a:r>
              <a:rPr lang="en-US" sz="2400" dirty="0">
                <a:cs typeface="Kalimati" panose="00000400000000000000" pitchFamily="2"/>
              </a:rPr>
              <a:t>(</a:t>
            </a:r>
            <a:r>
              <a:rPr lang="ne-NP" sz="2400" dirty="0">
                <a:solidFill>
                  <a:srgbClr val="FF0000"/>
                </a:solidFill>
                <a:cs typeface="Kalimati" panose="00000400000000000000" pitchFamily="2"/>
              </a:rPr>
              <a:t>२१/५९४</a:t>
            </a:r>
            <a:r>
              <a:rPr lang="en-US" sz="2400" dirty="0">
                <a:solidFill>
                  <a:srgbClr val="FF0000"/>
                </a:solidFill>
                <a:cs typeface="Kalimati" panose="00000400000000000000" pitchFamily="2"/>
              </a:rPr>
              <a:t>)</a:t>
            </a:r>
            <a:r>
              <a:rPr lang="ne-NP" sz="2400" dirty="0">
                <a:solidFill>
                  <a:srgbClr val="FF0000"/>
                </a:solidFill>
                <a:cs typeface="Kalimati" panose="00000400000000000000" pitchFamily="2"/>
              </a:rPr>
              <a:t> </a:t>
            </a:r>
            <a:r>
              <a:rPr lang="ne-NP" dirty="0">
                <a:cs typeface="Kalimati" panose="00000400000000000000" pitchFamily="2"/>
              </a:rPr>
              <a:t>मार्फत सरोकारवालाहरुबाट प्राप्त सुझाव र पृष्ठपोषणहरुको विश्लेषण ।</a:t>
            </a:r>
            <a:endParaRPr lang="en-US" dirty="0">
              <a:cs typeface="Kalimati" panose="00000400000000000000" pitchFamily="2"/>
            </a:endParaRPr>
          </a:p>
          <a:p>
            <a:pPr algn="just">
              <a:buFont typeface="Wingdings" panose="05000000000000000000" pitchFamily="2" charset="2"/>
              <a:buChar char="v"/>
            </a:pPr>
            <a:r>
              <a:rPr lang="ne-NP" dirty="0">
                <a:cs typeface="Kalimati" panose="00000400000000000000" pitchFamily="2"/>
              </a:rPr>
              <a:t>न्यायपालिकाको वस्तुस्थिति विश्लेषण (</a:t>
            </a:r>
            <a:r>
              <a:rPr lang="en-US" dirty="0">
                <a:cs typeface="Kalimati" panose="00000400000000000000" pitchFamily="2"/>
              </a:rPr>
              <a:t>SWOT Analysis</a:t>
            </a:r>
            <a:r>
              <a:rPr lang="ne-NP" dirty="0">
                <a:cs typeface="Kalimati" panose="00000400000000000000" pitchFamily="2"/>
              </a:rPr>
              <a:t>)।</a:t>
            </a:r>
            <a:endParaRPr lang="en-US" dirty="0">
              <a:cs typeface="Kalimati" panose="00000400000000000000" pitchFamily="2"/>
            </a:endParaRPr>
          </a:p>
          <a:p>
            <a:pPr algn="just">
              <a:buFont typeface="Wingdings" panose="05000000000000000000" pitchFamily="2" charset="2"/>
              <a:buChar char="v"/>
            </a:pPr>
            <a:r>
              <a:rPr lang="ne-NP" dirty="0">
                <a:cs typeface="Kalimati" panose="00000400000000000000" pitchFamily="2"/>
              </a:rPr>
              <a:t>न्यायपालिकाका विगत चारवटै योजनाहरुमा निर्धारित लक्ष्य र प्रगतिको तुलनात्मक अध्ययन, कार्यक्रमहरुको कार्यान्वयन अवस्था तथा समस्या र चूनौतिहरुको विश्लेषण ।</a:t>
            </a:r>
            <a:endParaRPr lang="en-US" dirty="0">
              <a:cs typeface="Kalimati" panose="00000400000000000000" pitchFamily="2"/>
            </a:endParaRPr>
          </a:p>
          <a:p>
            <a:pPr algn="just">
              <a:buFont typeface="Wingdings" panose="05000000000000000000" pitchFamily="2" charset="2"/>
              <a:buChar char="v"/>
            </a:pPr>
            <a:r>
              <a:rPr lang="ne-NP" dirty="0">
                <a:cs typeface="Kalimati" panose="00000400000000000000" pitchFamily="2"/>
              </a:rPr>
              <a:t>अन्य मूलुकका न्यायपालिकाका योजनाहरु, अन्तरराष्ट्रिय र क्षेत्रीय स्तरमा भएका विभिन्न सम्मेलनहरुका घोषणापत्र, (इस्तानवुल/नँया दिल्ली)। अन्तरराष्ट्रिय रुपमा विकसित र अवलम्वित मापदण्डहरुको (</a:t>
            </a:r>
            <a:r>
              <a:rPr lang="en-US" dirty="0">
                <a:cs typeface="Kalimati" panose="00000400000000000000" pitchFamily="2"/>
              </a:rPr>
              <a:t>SDG, </a:t>
            </a:r>
            <a:r>
              <a:rPr lang="en-US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Consortium for Court Excellence, UN, EU</a:t>
            </a:r>
            <a:r>
              <a:rPr lang="ne-NP" sz="2600" dirty="0">
                <a:effectLst/>
                <a:latin typeface="Preeti" pitchFamily="2" charset="0"/>
                <a:ea typeface="Calibri" panose="020F0502020204030204" pitchFamily="34" charset="0"/>
                <a:cs typeface="Kalimati" panose="00000400000000000000" pitchFamily="2"/>
              </a:rPr>
              <a:t> </a:t>
            </a:r>
            <a:r>
              <a:rPr lang="ne-NP" dirty="0">
                <a:cs typeface="Kalimati" panose="00000400000000000000" pitchFamily="2"/>
              </a:rPr>
              <a:t>)</a:t>
            </a:r>
            <a:r>
              <a:rPr lang="en-US" dirty="0">
                <a:cs typeface="Kalimati" panose="00000400000000000000" pitchFamily="2"/>
              </a:rPr>
              <a:t> </a:t>
            </a:r>
            <a:r>
              <a:rPr lang="ne-NP" dirty="0">
                <a:cs typeface="Kalimati" panose="00000400000000000000" pitchFamily="2"/>
              </a:rPr>
              <a:t>अध्ययन</a:t>
            </a:r>
            <a:endParaRPr lang="en-US" dirty="0">
              <a:cs typeface="Kalimati" panose="00000400000000000000" pitchFamily="2"/>
            </a:endParaRPr>
          </a:p>
          <a:p>
            <a:pPr algn="just">
              <a:buFont typeface="Wingdings" panose="05000000000000000000" pitchFamily="2" charset="2"/>
              <a:buChar char="v"/>
            </a:pPr>
            <a:r>
              <a:rPr lang="ne-NP" dirty="0">
                <a:cs typeface="Kalimati" panose="00000400000000000000" pitchFamily="2"/>
              </a:rPr>
              <a:t>सम्माननीय प्रधान न्यायाधीशज्यूबाट अगाडि बढाइएका सुधारसम्बन्धी कार्यक्रमहरु</a:t>
            </a:r>
            <a:endParaRPr lang="en-US" dirty="0">
              <a:cs typeface="Kalimati" panose="00000400000000000000" pitchFamily="2"/>
            </a:endParaRPr>
          </a:p>
          <a:p>
            <a:pPr algn="just">
              <a:buFont typeface="Wingdings" panose="05000000000000000000" pitchFamily="2" charset="2"/>
              <a:buChar char="v"/>
            </a:pPr>
            <a:r>
              <a:rPr lang="ne-NP" dirty="0">
                <a:cs typeface="Kalimati" panose="00000400000000000000" pitchFamily="2"/>
              </a:rPr>
              <a:t>योजना र व्यवस्थापनसम्बन्धी विज्ञहरुको राय सुझाव र परामर्शहरु।</a:t>
            </a:r>
            <a:endParaRPr lang="en-US" dirty="0">
              <a:cs typeface="Kalimati" panose="00000400000000000000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23932418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774492-B82C-BAE8-AC48-B91B149A5C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800" y="352541"/>
            <a:ext cx="11836400" cy="892060"/>
          </a:xfrm>
        </p:spPr>
        <p:txBody>
          <a:bodyPr>
            <a:normAutofit fontScale="90000"/>
          </a:bodyPr>
          <a:lstStyle/>
          <a:p>
            <a:pPr algn="ctr"/>
            <a:r>
              <a:rPr lang="ne-NP" sz="4400" b="1" dirty="0">
                <a:cs typeface="Kalimati" panose="00000400000000000000" pitchFamily="2"/>
              </a:rPr>
              <a:t/>
            </a:r>
            <a:br>
              <a:rPr lang="ne-NP" sz="4400" b="1" dirty="0">
                <a:cs typeface="Kalimati" panose="00000400000000000000" pitchFamily="2"/>
              </a:rPr>
            </a:br>
            <a:r>
              <a:rPr lang="ne-NP" sz="3600" b="1" dirty="0">
                <a:cs typeface="Kalimati" panose="00000400000000000000" pitchFamily="2"/>
              </a:rPr>
              <a:t>पाँचौ योजनाको </a:t>
            </a:r>
            <a:r>
              <a:rPr lang="ne-NP" sz="36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परिदृश्य</a:t>
            </a:r>
            <a:r>
              <a:rPr lang="en-US" sz="36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, </a:t>
            </a:r>
            <a:r>
              <a:rPr lang="ne-NP" sz="36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परिलक्ष्य र मूल्यहरू </a:t>
            </a:r>
            <a:endParaRPr lang="en-US" sz="3600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F1DB8D4-78DA-370A-0212-F05ACA55766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63773927"/>
              </p:ext>
            </p:extLst>
          </p:nvPr>
        </p:nvGraphicFramePr>
        <p:xfrm>
          <a:off x="88900" y="1524000"/>
          <a:ext cx="11925300" cy="49717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63110">
                  <a:extLst>
                    <a:ext uri="{9D8B030D-6E8A-4147-A177-3AD203B41FA5}">
                      <a16:colId xmlns:a16="http://schemas.microsoft.com/office/drawing/2014/main" val="3507189485"/>
                    </a:ext>
                  </a:extLst>
                </a:gridCol>
                <a:gridCol w="7062190">
                  <a:extLst>
                    <a:ext uri="{9D8B030D-6E8A-4147-A177-3AD203B41FA5}">
                      <a16:colId xmlns:a16="http://schemas.microsoft.com/office/drawing/2014/main" val="3536124214"/>
                    </a:ext>
                  </a:extLst>
                </a:gridCol>
              </a:tblGrid>
              <a:tr h="1164891"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e-NP" sz="2800" b="1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Kalimati" panose="00000400000000000000" pitchFamily="2"/>
                        </a:rPr>
                        <a:t>परिदृश्य </a:t>
                      </a:r>
                      <a:r>
                        <a:rPr lang="en-US" sz="2800" b="1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Kalimati" panose="00000400000000000000" pitchFamily="2"/>
                        </a:rPr>
                        <a:t>(Vison)</a:t>
                      </a:r>
                      <a:endParaRPr lang="en-US" sz="28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  <a:p>
                      <a:pPr marL="0" marR="0" indent="0"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dirty="0">
                          <a:effectLst/>
                          <a:highlight>
                            <a:srgbClr val="0000FF"/>
                          </a:highlight>
                          <a:latin typeface="Calibri" panose="020F0502020204030204" pitchFamily="34" charset="0"/>
                          <a:ea typeface="Calibri" panose="020F0502020204030204" pitchFamily="34" charset="0"/>
                          <a:cs typeface="Kalimati" panose="00000400000000000000" pitchFamily="2"/>
                        </a:rPr>
                        <a:t>"</a:t>
                      </a:r>
                      <a:r>
                        <a:rPr lang="ne-NP" sz="2800" dirty="0">
                          <a:effectLst/>
                          <a:highlight>
                            <a:srgbClr val="0000FF"/>
                          </a:highlight>
                          <a:latin typeface="Preeti" pitchFamily="2" charset="0"/>
                          <a:ea typeface="Calibri" panose="020F0502020204030204" pitchFamily="34" charset="0"/>
                          <a:cs typeface="Kalimati" panose="00000400000000000000" pitchFamily="2"/>
                        </a:rPr>
                        <a:t>सबैका लागि न्याय</a:t>
                      </a:r>
                      <a:r>
                        <a:rPr lang="en-US" sz="2800" dirty="0">
                          <a:effectLst/>
                          <a:highlight>
                            <a:srgbClr val="0000FF"/>
                          </a:highlight>
                          <a:latin typeface="Calibri" panose="020F0502020204030204" pitchFamily="34" charset="0"/>
                          <a:ea typeface="Calibri" panose="020F0502020204030204" pitchFamily="34" charset="0"/>
                          <a:cs typeface="Kalimati" panose="00000400000000000000" pitchFamily="2"/>
                        </a:rPr>
                        <a:t>"</a:t>
                      </a:r>
                      <a:r>
                        <a:rPr lang="ne-NP" sz="2800" dirty="0">
                          <a:effectLst/>
                          <a:highlight>
                            <a:srgbClr val="0000FF"/>
                          </a:highlight>
                          <a:latin typeface="Times New Roman" panose="02020603050405020304" pitchFamily="18" charset="0"/>
                          <a:ea typeface="Calibri" panose="020F0502020204030204" pitchFamily="34" charset="0"/>
                          <a:cs typeface="Kalimati" panose="00000400000000000000" pitchFamily="2"/>
                        </a:rPr>
                        <a:t>  </a:t>
                      </a:r>
                      <a:endParaRPr lang="en-US" sz="2800" dirty="0">
                        <a:effectLst/>
                        <a:highlight>
                          <a:srgbClr val="0000FF"/>
                        </a:highlight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e-NP" sz="2800" b="1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Kalimati" panose="00000400000000000000" pitchFamily="2"/>
                        </a:rPr>
                        <a:t>परिलक्ष्य </a:t>
                      </a:r>
                      <a:r>
                        <a:rPr lang="en-US" sz="2800" b="1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Kalimati" panose="00000400000000000000" pitchFamily="2"/>
                        </a:rPr>
                        <a:t>(Mission)</a:t>
                      </a:r>
                      <a:endParaRPr lang="en-US" sz="28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  <a:p>
                      <a:pPr marL="0" marR="0" indent="0" algn="just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e-NP" sz="2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Kalimati" panose="00000400000000000000" pitchFamily="2"/>
                        </a:rPr>
                        <a:t>"संविधान</a:t>
                      </a:r>
                      <a:r>
                        <a:rPr lang="en-US" sz="2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Kalimati" panose="00000400000000000000" pitchFamily="2"/>
                        </a:rPr>
                        <a:t>, </a:t>
                      </a:r>
                      <a:r>
                        <a:rPr lang="ne-NP" sz="2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Kalimati" panose="00000400000000000000" pitchFamily="2"/>
                        </a:rPr>
                        <a:t>कानून र न्यायका मान्य सिद्धान्तका आधारमा स्वच्छ एवं निष्पक्ष न्याय सम्पादन गर्नु"</a:t>
                      </a: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0486184"/>
                  </a:ext>
                </a:extLst>
              </a:tr>
              <a:tr h="2965437">
                <a:tc>
                  <a:txBody>
                    <a:bodyPr/>
                    <a:lstStyle/>
                    <a:p>
                      <a:pPr marL="0" marR="0" indent="0" algn="just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ne-NP" sz="2800" b="1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Kalimati" panose="00000400000000000000" pitchFamily="2"/>
                        </a:rPr>
                        <a:t>मूल्यहरू </a:t>
                      </a:r>
                      <a:r>
                        <a:rPr lang="en-US" sz="2800" b="1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Kalimati" panose="00000400000000000000" pitchFamily="2"/>
                        </a:rPr>
                        <a:t>(Values)</a:t>
                      </a:r>
                      <a:endParaRPr lang="en-US" sz="28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ne-NP" sz="24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Kalimati" panose="00000400000000000000" pitchFamily="2"/>
                        </a:rPr>
                        <a:t>संविधान र कानूनप्रति </a:t>
                      </a:r>
                    </a:p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ne-NP" sz="24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Kalimati" panose="00000400000000000000" pitchFamily="2"/>
                        </a:rPr>
                        <a:t>स्वतन्त्रता</a:t>
                      </a:r>
                      <a:r>
                        <a:rPr lang="en-US" sz="24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Kalimati" panose="00000400000000000000" pitchFamily="2"/>
                        </a:rPr>
                        <a:t>,</a:t>
                      </a:r>
                      <a:r>
                        <a:rPr lang="ne-NP" sz="24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Kalimati" panose="00000400000000000000" pitchFamily="2"/>
                        </a:rPr>
                        <a:t> निष्पक्षता र सक्षमताः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ne-NP" sz="24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Kalimati" panose="00000400000000000000" pitchFamily="2"/>
                        </a:rPr>
                        <a:t>स्वायत्तताः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ne-NP" sz="24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Kalimati" panose="00000400000000000000" pitchFamily="2"/>
                        </a:rPr>
                        <a:t>उत्तरदायित्व </a:t>
                      </a:r>
                      <a:r>
                        <a:rPr lang="ne-NP" sz="2400" b="1" dirty="0">
                          <a:effectLst/>
                          <a:latin typeface="Preeti" pitchFamily="2" charset="0"/>
                          <a:ea typeface="Calibri" panose="020F0502020204030204" pitchFamily="34" charset="0"/>
                          <a:cs typeface="Kalimati" panose="00000400000000000000" pitchFamily="2"/>
                        </a:rPr>
                        <a:t>र जवाफदेहिता</a:t>
                      </a:r>
                      <a:r>
                        <a:rPr lang="en-US" sz="2400" b="1" dirty="0">
                          <a:effectLst/>
                          <a:latin typeface="Preeti" pitchFamily="2" charset="0"/>
                          <a:ea typeface="Calibri" panose="020F0502020204030204" pitchFamily="34" charset="0"/>
                          <a:cs typeface="Kalimati" panose="00000400000000000000" pitchFamily="2"/>
                        </a:rPr>
                        <a:t>M</a:t>
                      </a:r>
                      <a:r>
                        <a:rPr lang="ne-NP" sz="24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Kalimati" panose="00000400000000000000" pitchFamily="2"/>
                        </a:rPr>
                        <a:t> </a:t>
                      </a:r>
                      <a:endParaRPr lang="en-US" sz="24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limati" panose="00000400000000000000" pitchFamily="2"/>
                      </a:endParaRPr>
                    </a:p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endParaRPr lang="ne-NP" sz="24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limati" panose="00000400000000000000" pitchFamily="2"/>
                      </a:endParaRP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ne-NP" sz="24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Kalimati" panose="00000400000000000000" pitchFamily="2"/>
                        </a:rPr>
                        <a:t>स्वच्छता र समानताः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ne-NP" sz="24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Kalimati" panose="00000400000000000000" pitchFamily="2"/>
                        </a:rPr>
                        <a:t>गुणस्तरीयताः </a:t>
                      </a:r>
                    </a:p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ne-NP" sz="24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Kalimati" panose="00000400000000000000" pitchFamily="2"/>
                        </a:rPr>
                        <a:t>सदाचारः</a:t>
                      </a:r>
                    </a:p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ne-NP" sz="24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Kalimati" panose="00000400000000000000" pitchFamily="2"/>
                        </a:rPr>
                        <a:t>प्रतिनिधित्व र समावेशिताः</a:t>
                      </a:r>
                      <a:r>
                        <a:rPr lang="ne-NP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Kalimati" panose="00000400000000000000" pitchFamily="2"/>
                        </a:rPr>
                        <a:t> </a:t>
                      </a:r>
                    </a:p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ne-NP" sz="24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Kalimati" panose="00000400000000000000" pitchFamily="2"/>
                        </a:rPr>
                        <a:t>स्वामित्वः</a:t>
                      </a:r>
                      <a:r>
                        <a:rPr lang="ne-NP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Kalimati" panose="00000400000000000000" pitchFamily="2"/>
                        </a:rPr>
                        <a:t> </a:t>
                      </a:r>
                      <a:endParaRPr lang="ne-NP" sz="2400" dirty="0">
                        <a:latin typeface="Calibri" panose="020F0502020204030204" pitchFamily="34" charset="0"/>
                        <a:ea typeface="Calibri" panose="020F0502020204030204" pitchFamily="34" charset="0"/>
                        <a:cs typeface="Kalimati" panose="00000400000000000000" pitchFamily="2"/>
                      </a:endParaRPr>
                    </a:p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ne-NP" sz="2400" b="1" dirty="0">
                          <a:effectLst/>
                          <a:highlight>
                            <a:srgbClr val="FFFF00"/>
                          </a:highlight>
                          <a:latin typeface="Calibri" panose="020F0502020204030204" pitchFamily="34" charset="0"/>
                          <a:ea typeface="Calibri" panose="020F0502020204030204" pitchFamily="34" charset="0"/>
                          <a:cs typeface="Kalimati" panose="00000400000000000000" pitchFamily="2"/>
                        </a:rPr>
                        <a:t>सामुहिकताः</a:t>
                      </a:r>
                      <a:endParaRPr lang="en-US" sz="1600" dirty="0">
                        <a:effectLst/>
                        <a:highlight>
                          <a:srgbClr val="FFFF00"/>
                        </a:highlight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56198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315484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0040" y="365125"/>
            <a:ext cx="11681460" cy="835025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200" b="1" dirty="0"/>
              <a:t/>
            </a:r>
            <a:br>
              <a:rPr lang="en-US" sz="3200" b="1" dirty="0"/>
            </a:br>
            <a:r>
              <a:rPr lang="ne-NP" sz="4000" b="1">
                <a:cs typeface="Kalimati" panose="00000400000000000000" pitchFamily="2"/>
              </a:rPr>
              <a:t>पाँचौ योजनाका </a:t>
            </a:r>
            <a:r>
              <a:rPr lang="ne-NP" sz="4000" b="1" dirty="0">
                <a:cs typeface="Kalimati" panose="00000400000000000000" pitchFamily="2"/>
              </a:rPr>
              <a:t>प्राथमिकताहरू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0040" y="1200150"/>
            <a:ext cx="11487150" cy="5292090"/>
          </a:xfrm>
        </p:spPr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ne-NP" b="1" dirty="0">
                <a:cs typeface="Kalimati" panose="00000400000000000000" pitchFamily="2"/>
              </a:rPr>
              <a:t>न्याय सम्पादन</a:t>
            </a:r>
            <a:endParaRPr lang="en-US" b="1" dirty="0">
              <a:cs typeface="Kalimati" panose="00000400000000000000" pitchFamily="2"/>
            </a:endParaRPr>
          </a:p>
          <a:p>
            <a:pPr marL="0" indent="0">
              <a:buNone/>
            </a:pPr>
            <a:endParaRPr lang="en-US" dirty="0">
              <a:cs typeface="Kalimati" panose="00000400000000000000" pitchFamily="2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ne-NP" b="1" dirty="0">
                <a:cs typeface="Kalimati" panose="00000400000000000000" pitchFamily="2"/>
              </a:rPr>
              <a:t>न्यायमा पहुँच</a:t>
            </a:r>
            <a:endParaRPr lang="en-US" b="1" dirty="0">
              <a:cs typeface="Kalimati" panose="00000400000000000000" pitchFamily="2"/>
            </a:endParaRPr>
          </a:p>
          <a:p>
            <a:pPr marL="0" indent="0">
              <a:buNone/>
            </a:pPr>
            <a:endParaRPr lang="en-US" dirty="0">
              <a:cs typeface="Kalimati" panose="00000400000000000000" pitchFamily="2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ne-NP" b="1" dirty="0">
                <a:cs typeface="Kalimati" panose="00000400000000000000" pitchFamily="2"/>
              </a:rPr>
              <a:t>सुशासन र जनआस्था</a:t>
            </a:r>
          </a:p>
          <a:p>
            <a:pPr marL="0" indent="0">
              <a:buNone/>
            </a:pPr>
            <a:endParaRPr lang="ne-NP" b="1" dirty="0">
              <a:cs typeface="Kalimati" panose="00000400000000000000" pitchFamily="2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ne-NP" b="1" dirty="0">
                <a:cs typeface="Kalimati" panose="00000400000000000000" pitchFamily="2"/>
              </a:rPr>
              <a:t>सूचना प्रविधि </a:t>
            </a:r>
            <a:endParaRPr lang="en-US" b="1" dirty="0">
              <a:cs typeface="Kalimati" panose="00000400000000000000" pitchFamily="2"/>
            </a:endParaRPr>
          </a:p>
          <a:p>
            <a:pPr marL="0" indent="0">
              <a:buNone/>
            </a:pPr>
            <a:endParaRPr lang="en-US" dirty="0">
              <a:cs typeface="Kalimati" panose="00000400000000000000" pitchFamily="2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ne-NP" b="1" dirty="0">
                <a:cs typeface="Kalimati" panose="00000400000000000000" pitchFamily="2"/>
              </a:rPr>
              <a:t>मानव संशाधन तथा भौतिक पूर्वाधार</a:t>
            </a:r>
            <a:endParaRPr lang="en-US" dirty="0">
              <a:cs typeface="Kalimati" panose="00000400000000000000" pitchFamily="2"/>
            </a:endParaRPr>
          </a:p>
          <a:p>
            <a:pPr>
              <a:buFont typeface="Wingdings" panose="05000000000000000000" pitchFamily="2" charset="2"/>
              <a:buChar char="v"/>
            </a:pPr>
            <a:endParaRPr lang="en-US" dirty="0">
              <a:cs typeface="Kalimati" panose="00000400000000000000" pitchFamily="2"/>
            </a:endParaRPr>
          </a:p>
          <a:p>
            <a:pPr>
              <a:buFont typeface="Wingdings" panose="05000000000000000000" pitchFamily="2" charset="2"/>
              <a:buChar char="v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62221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22F56D64-9685-E8C4-B94A-6CA6E5A6BEAF}"/>
              </a:ext>
            </a:extLst>
          </p:cNvPr>
          <p:cNvGraphicFramePr>
            <a:graphicFrameLocks noGrp="1"/>
          </p:cNvGraphicFramePr>
          <p:nvPr>
            <p:ph idx="1"/>
            <p:extLst/>
          </p:nvPr>
        </p:nvGraphicFramePr>
        <p:xfrm>
          <a:off x="142504" y="249382"/>
          <a:ext cx="11720948" cy="681643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676893">
                  <a:extLst>
                    <a:ext uri="{9D8B030D-6E8A-4147-A177-3AD203B41FA5}">
                      <a16:colId xmlns:a16="http://schemas.microsoft.com/office/drawing/2014/main" val="3683947570"/>
                    </a:ext>
                  </a:extLst>
                </a:gridCol>
                <a:gridCol w="1317747">
                  <a:extLst>
                    <a:ext uri="{9D8B030D-6E8A-4147-A177-3AD203B41FA5}">
                      <a16:colId xmlns:a16="http://schemas.microsoft.com/office/drawing/2014/main" val="4067387386"/>
                    </a:ext>
                  </a:extLst>
                </a:gridCol>
                <a:gridCol w="1562986">
                  <a:extLst>
                    <a:ext uri="{9D8B030D-6E8A-4147-A177-3AD203B41FA5}">
                      <a16:colId xmlns:a16="http://schemas.microsoft.com/office/drawing/2014/main" val="3052430384"/>
                    </a:ext>
                  </a:extLst>
                </a:gridCol>
                <a:gridCol w="925034">
                  <a:extLst>
                    <a:ext uri="{9D8B030D-6E8A-4147-A177-3AD203B41FA5}">
                      <a16:colId xmlns:a16="http://schemas.microsoft.com/office/drawing/2014/main" val="2020753204"/>
                    </a:ext>
                  </a:extLst>
                </a:gridCol>
                <a:gridCol w="7238288">
                  <a:extLst>
                    <a:ext uri="{9D8B030D-6E8A-4147-A177-3AD203B41FA5}">
                      <a16:colId xmlns:a16="http://schemas.microsoft.com/office/drawing/2014/main" val="3326871453"/>
                    </a:ext>
                  </a:extLst>
                </a:gridCol>
              </a:tblGrid>
              <a:tr h="588733"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e-NP" sz="2400" dirty="0">
                          <a:effectLst/>
                          <a:cs typeface="Kalimati" panose="00000400000000000000" pitchFamily="2"/>
                        </a:rPr>
                        <a:t>प्राथमिकता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limati" panose="00000400000000000000" pitchFamily="2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e-NP" sz="2400" dirty="0">
                          <a:effectLst/>
                          <a:cs typeface="Kalimati" panose="00000400000000000000" pitchFamily="2"/>
                        </a:rPr>
                        <a:t>लक्ष्य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limati" panose="00000400000000000000" pitchFamily="2"/>
                      </a:endParaRPr>
                    </a:p>
                  </a:txBody>
                  <a:tcPr marL="68580" marR="68580" marT="0" marB="0"/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e-NP" sz="2400" dirty="0">
                          <a:effectLst/>
                          <a:cs typeface="Kalimati" panose="00000400000000000000" pitchFamily="2"/>
                        </a:rPr>
                        <a:t>रणनीतिक उद्देश्य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limati" panose="00000400000000000000" pitchFamily="2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7863234"/>
                  </a:ext>
                </a:extLst>
              </a:tr>
              <a:tr h="500969">
                <a:tc rowSpan="9"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e-NP" sz="2000">
                          <a:effectLst/>
                        </a:rPr>
                        <a:t>१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tc rowSpan="9"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e-NP" sz="2400" dirty="0">
                          <a:effectLst/>
                        </a:rPr>
                        <a:t>न्याय सम्पादन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tc rowSpan="9"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e-NP" sz="2400" dirty="0">
                          <a:effectLst/>
                          <a:cs typeface="Kalimati" panose="00000400000000000000" pitchFamily="2"/>
                        </a:rPr>
                        <a:t>छिटो छरितो र गुणस्तरीय न्याय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limati" panose="00000400000000000000" pitchFamily="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376555" marR="0" indent="-376555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e-NP" sz="2400" dirty="0">
                          <a:effectLst/>
                          <a:cs typeface="Kalimati" panose="00000400000000000000" pitchFamily="2"/>
                        </a:rPr>
                        <a:t>१.१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limati" panose="00000400000000000000" pitchFamily="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e-NP" sz="2400">
                          <a:effectLst/>
                          <a:cs typeface="Kalimati" panose="00000400000000000000" pitchFamily="2"/>
                        </a:rPr>
                        <a:t>न्याय सम्पादनमा शीघ्रता कायम गर्नु।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limati" panose="00000400000000000000" pitchFamily="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91299056"/>
                  </a:ext>
                </a:extLst>
              </a:tr>
              <a:tr h="78809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76555" marR="0" indent="-376555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e-NP" sz="2400" dirty="0">
                          <a:effectLst/>
                          <a:cs typeface="Kalimati" panose="00000400000000000000" pitchFamily="2"/>
                        </a:rPr>
                        <a:t>१.२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limati" panose="00000400000000000000" pitchFamily="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e-NP" sz="2400">
                          <a:effectLst/>
                          <a:cs typeface="Kalimati" panose="00000400000000000000" pitchFamily="2"/>
                        </a:rPr>
                        <a:t>कार्यबोझ बढी  भएका अदालतहरूको विशेष व्यवस्थापन गर्नु।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limati" panose="00000400000000000000" pitchFamily="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97428514"/>
                  </a:ext>
                </a:extLst>
              </a:tr>
              <a:tr h="97480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76555" marR="0" indent="-376555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e-NP" sz="2400" dirty="0">
                          <a:effectLst/>
                          <a:cs typeface="Kalimati" panose="00000400000000000000" pitchFamily="2"/>
                        </a:rPr>
                        <a:t>१.३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limati" panose="00000400000000000000" pitchFamily="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e-NP" sz="2400" dirty="0">
                          <a:effectLst/>
                          <a:cs typeface="Kalimati" panose="00000400000000000000" pitchFamily="2"/>
                        </a:rPr>
                        <a:t>सर्वोच्च अदालतको मुद्दा व्यवस्थापनका लागि प्रभावकारी उपाय अवलम्बन गर्नु।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limati" panose="00000400000000000000" pitchFamily="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70765851"/>
                  </a:ext>
                </a:extLst>
              </a:tr>
              <a:tr h="97480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76555" marR="0" indent="-376555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e-NP" sz="2400" dirty="0">
                          <a:effectLst/>
                          <a:cs typeface="Kalimati" panose="00000400000000000000" pitchFamily="2"/>
                        </a:rPr>
                        <a:t>१.४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limati" panose="00000400000000000000" pitchFamily="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e-NP" sz="2400" dirty="0">
                          <a:effectLst/>
                          <a:cs typeface="Kalimati" panose="00000400000000000000" pitchFamily="2"/>
                        </a:rPr>
                        <a:t>उच्च तथा जिल्ला अदालतमा फरक मुद्दा व्यवस्थापन पद्धतिको प्रभावकारी कार्यान्वयन गर्नु।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limati" panose="00000400000000000000" pitchFamily="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66430432"/>
                  </a:ext>
                </a:extLst>
              </a:tr>
              <a:tr h="45593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76555" marR="0" indent="-376555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e-NP" sz="2400" dirty="0">
                          <a:effectLst/>
                          <a:cs typeface="Kalimati" panose="00000400000000000000" pitchFamily="2"/>
                        </a:rPr>
                        <a:t>१.५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limati" panose="00000400000000000000" pitchFamily="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e-NP" sz="2400" dirty="0">
                          <a:effectLst/>
                          <a:cs typeface="Kalimati" panose="00000400000000000000" pitchFamily="2"/>
                        </a:rPr>
                        <a:t>न्याय सम्पादनको कार्यमा गुणस्तरीयता कायम गर्नु।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limati" panose="00000400000000000000" pitchFamily="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82972509"/>
                  </a:ext>
                </a:extLst>
              </a:tr>
              <a:tr h="45593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76555" marR="0" lvl="0" indent="-376555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e-NP" sz="2400" dirty="0">
                          <a:effectLst/>
                          <a:cs typeface="Kalimati" panose="00000400000000000000" pitchFamily="2"/>
                        </a:rPr>
                        <a:t>१.६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limati" panose="00000400000000000000" pitchFamily="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e-NP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Kalimati" panose="00000400000000000000" pitchFamily="2"/>
                        </a:rPr>
                        <a:t>फैसला तयारीमा शीघ्रता ल्याउनु ।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limati" panose="00000400000000000000" pitchFamily="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19078743"/>
                  </a:ext>
                </a:extLst>
              </a:tr>
              <a:tr h="78809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76555" marR="0" indent="-376555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e-NP" sz="2400" dirty="0">
                          <a:effectLst/>
                          <a:cs typeface="Kalimati" panose="00000400000000000000" pitchFamily="2"/>
                        </a:rPr>
                        <a:t>१.७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limati" panose="00000400000000000000" pitchFamily="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e-NP" sz="2400" dirty="0">
                          <a:effectLst/>
                          <a:cs typeface="Kalimati" panose="00000400000000000000" pitchFamily="2"/>
                        </a:rPr>
                        <a:t>विवाद समाधानका लागि मेलिमिलाप पद्धतिलाई सुदृढ बनाउनु।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limati" panose="00000400000000000000" pitchFamily="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5250875"/>
                  </a:ext>
                </a:extLst>
              </a:tr>
              <a:tr h="78809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76555" marR="0" indent="-376555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e-NP" sz="2400" dirty="0">
                          <a:effectLst/>
                          <a:cs typeface="Kalimati" panose="00000400000000000000" pitchFamily="2"/>
                        </a:rPr>
                        <a:t>१.८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limati" panose="00000400000000000000" pitchFamily="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e-NP" sz="2400" dirty="0">
                          <a:effectLst/>
                          <a:cs typeface="Kalimati" panose="00000400000000000000" pitchFamily="2"/>
                        </a:rPr>
                        <a:t>मुद्दा ब्यबस्थापनमा सूचना प्रबिधीको अधिकतम उपयोग गर्नु।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limati" panose="00000400000000000000" pitchFamily="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27423154"/>
                  </a:ext>
                </a:extLst>
              </a:tr>
              <a:tr h="50096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76555" marR="0" indent="-376555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e-NP" sz="2400" dirty="0">
                          <a:effectLst/>
                          <a:cs typeface="Kalimati" panose="00000400000000000000" pitchFamily="2"/>
                        </a:rPr>
                        <a:t>१.९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limati" panose="00000400000000000000" pitchFamily="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e-NP" sz="2400" dirty="0">
                          <a:effectLst/>
                          <a:cs typeface="Kalimati" panose="00000400000000000000" pitchFamily="2"/>
                        </a:rPr>
                        <a:t>फैसला कार्यान्वयनको कार्यलाई प्रभावकारी बनाउनु।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limati" panose="00000400000000000000" pitchFamily="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420139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909971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0D7875A-7EFF-C4C4-388A-64DB95B61D83}"/>
              </a:ext>
            </a:extLst>
          </p:cNvPr>
          <p:cNvGraphicFramePr>
            <a:graphicFrameLocks noGrp="1"/>
          </p:cNvGraphicFramePr>
          <p:nvPr>
            <p:ph idx="1"/>
            <p:extLst/>
          </p:nvPr>
        </p:nvGraphicFramePr>
        <p:xfrm>
          <a:off x="118752" y="166255"/>
          <a:ext cx="11910951" cy="638892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89491">
                  <a:extLst>
                    <a:ext uri="{9D8B030D-6E8A-4147-A177-3AD203B41FA5}">
                      <a16:colId xmlns:a16="http://schemas.microsoft.com/office/drawing/2014/main" val="31631137"/>
                    </a:ext>
                  </a:extLst>
                </a:gridCol>
                <a:gridCol w="1232432">
                  <a:extLst>
                    <a:ext uri="{9D8B030D-6E8A-4147-A177-3AD203B41FA5}">
                      <a16:colId xmlns:a16="http://schemas.microsoft.com/office/drawing/2014/main" val="784858179"/>
                    </a:ext>
                  </a:extLst>
                </a:gridCol>
                <a:gridCol w="1223159">
                  <a:extLst>
                    <a:ext uri="{9D8B030D-6E8A-4147-A177-3AD203B41FA5}">
                      <a16:colId xmlns:a16="http://schemas.microsoft.com/office/drawing/2014/main" val="2566681366"/>
                    </a:ext>
                  </a:extLst>
                </a:gridCol>
                <a:gridCol w="736270">
                  <a:extLst>
                    <a:ext uri="{9D8B030D-6E8A-4147-A177-3AD203B41FA5}">
                      <a16:colId xmlns:a16="http://schemas.microsoft.com/office/drawing/2014/main" val="99966496"/>
                    </a:ext>
                  </a:extLst>
                </a:gridCol>
                <a:gridCol w="8229599">
                  <a:extLst>
                    <a:ext uri="{9D8B030D-6E8A-4147-A177-3AD203B41FA5}">
                      <a16:colId xmlns:a16="http://schemas.microsoft.com/office/drawing/2014/main" val="1886247374"/>
                    </a:ext>
                  </a:extLst>
                </a:gridCol>
              </a:tblGrid>
              <a:tr h="768025"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e-NP" sz="2400" dirty="0">
                          <a:effectLst/>
                          <a:cs typeface="Kalimati" panose="00000400000000000000" pitchFamily="2"/>
                        </a:rPr>
                        <a:t>प्राथमिकता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limati" panose="00000400000000000000" pitchFamily="2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e-NP" sz="2400">
                          <a:effectLst/>
                          <a:cs typeface="Kalimati" panose="00000400000000000000" pitchFamily="2"/>
                        </a:rPr>
                        <a:t>लक्ष्य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limati" panose="00000400000000000000" pitchFamily="2"/>
                      </a:endParaRPr>
                    </a:p>
                  </a:txBody>
                  <a:tcPr marL="68580" marR="68580" marT="0" marB="0"/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e-NP" sz="2400" dirty="0">
                          <a:effectLst/>
                          <a:cs typeface="Kalimati" panose="00000400000000000000" pitchFamily="2"/>
                        </a:rPr>
                        <a:t>रणनीतिक उद्देश्य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limati" panose="00000400000000000000" pitchFamily="2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0384281"/>
                  </a:ext>
                </a:extLst>
              </a:tr>
              <a:tr h="888690">
                <a:tc rowSpan="6"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e-NP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Kalimati" panose="00000400000000000000" pitchFamily="2"/>
                        </a:rPr>
                        <a:t>२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limati" panose="00000400000000000000" pitchFamily="2"/>
                      </a:endParaRPr>
                    </a:p>
                  </a:txBody>
                  <a:tcPr marL="68580" marR="68580" marT="0" marB="0"/>
                </a:tc>
                <a:tc rowSpan="6"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e-NP" sz="2400">
                          <a:effectLst/>
                          <a:cs typeface="Kalimati" panose="00000400000000000000" pitchFamily="2"/>
                        </a:rPr>
                        <a:t>न्यायमा पहुँच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limati" panose="00000400000000000000" pitchFamily="2"/>
                      </a:endParaRPr>
                    </a:p>
                  </a:txBody>
                  <a:tcPr marL="68580" marR="68580" marT="0" marB="0"/>
                </a:tc>
                <a:tc rowSpan="6"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e-NP" sz="2400">
                          <a:effectLst/>
                          <a:cs typeface="Kalimati" panose="00000400000000000000" pitchFamily="2"/>
                        </a:rPr>
                        <a:t>न्यायमा सहज पहुँच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limati" panose="00000400000000000000" pitchFamily="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376555" marR="0" indent="-376555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e-NP" sz="2400">
                          <a:effectLst/>
                          <a:cs typeface="Kalimati" panose="00000400000000000000" pitchFamily="2"/>
                        </a:rPr>
                        <a:t>2.1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limati" panose="00000400000000000000" pitchFamily="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e-NP" sz="2400" dirty="0">
                          <a:effectLst/>
                          <a:cs typeface="Kalimati" panose="00000400000000000000" pitchFamily="2"/>
                        </a:rPr>
                        <a:t>न्यायमा पहुँचका अवरोधहरूलाई प्राथमिकीकरण गरी सम्बोधन गर्नु।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limati" panose="00000400000000000000" pitchFamily="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19393040"/>
                  </a:ext>
                </a:extLst>
              </a:tr>
              <a:tr h="88869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76555" marR="0" indent="-376555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e-NP" sz="2400">
                          <a:effectLst/>
                          <a:cs typeface="Kalimati" panose="00000400000000000000" pitchFamily="2"/>
                        </a:rPr>
                        <a:t>2.2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limati" panose="00000400000000000000" pitchFamily="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e-NP" sz="2400" dirty="0">
                          <a:effectLst/>
                          <a:cs typeface="Kalimati" panose="00000400000000000000" pitchFamily="2"/>
                        </a:rPr>
                        <a:t>अदालतको कार्य वातावरण तथा सेवा प्रवाहलाई सेवाग्राही मैत्री बनाउनु।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limati" panose="00000400000000000000" pitchFamily="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96305324"/>
                  </a:ext>
                </a:extLst>
              </a:tr>
              <a:tr h="11774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76555" marR="0" indent="-376555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e-NP" sz="2400">
                          <a:effectLst/>
                          <a:cs typeface="Kalimati" panose="00000400000000000000" pitchFamily="2"/>
                        </a:rPr>
                        <a:t>2.3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limati" panose="00000400000000000000" pitchFamily="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e-NP" sz="2400" dirty="0">
                          <a:effectLst/>
                          <a:cs typeface="Kalimati" panose="00000400000000000000" pitchFamily="2"/>
                        </a:rPr>
                        <a:t>मुद्दाको कारवाही प्रक्रियामा सूचना प्रविधिको प्रयोगलाई गुणस्तरीय र प्रभावकारी बनाउनु।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limati" panose="00000400000000000000" pitchFamily="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37415138"/>
                  </a:ext>
                </a:extLst>
              </a:tr>
              <a:tr h="88869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76555" marR="0" indent="-376555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e-NP" sz="2400">
                          <a:effectLst/>
                          <a:cs typeface="Kalimati" panose="00000400000000000000" pitchFamily="2"/>
                        </a:rPr>
                        <a:t>2.4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limati" panose="00000400000000000000" pitchFamily="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e-NP" sz="2400" dirty="0">
                          <a:effectLst/>
                          <a:cs typeface="Kalimati" panose="00000400000000000000" pitchFamily="2"/>
                        </a:rPr>
                        <a:t>कानूनी सहायता प्रणालीलाई सुदृढ र गुणस्तरीय बनाउनु।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limati" panose="00000400000000000000" pitchFamily="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22887090"/>
                  </a:ext>
                </a:extLst>
              </a:tr>
              <a:tr h="88869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76555" marR="0" indent="-376555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e-NP" sz="2400">
                          <a:effectLst/>
                          <a:cs typeface="Kalimati" panose="00000400000000000000" pitchFamily="2"/>
                        </a:rPr>
                        <a:t>2.5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limati" panose="00000400000000000000" pitchFamily="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e-NP" sz="2400" dirty="0">
                          <a:effectLst/>
                          <a:cs typeface="Kalimati" panose="00000400000000000000" pitchFamily="2"/>
                        </a:rPr>
                        <a:t>पीडितमैत्री न्यायप्रणालीलाई सँस्थागत गर्नु।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limati" panose="00000400000000000000" pitchFamily="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22990435"/>
                  </a:ext>
                </a:extLst>
              </a:tr>
              <a:tr h="88869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76555" marR="0" indent="-376555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e-NP" sz="2400">
                          <a:effectLst/>
                          <a:cs typeface="Kalimati" panose="00000400000000000000" pitchFamily="2"/>
                        </a:rPr>
                        <a:t>2.6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limati" panose="00000400000000000000" pitchFamily="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e-NP" sz="2400" dirty="0">
                          <a:effectLst/>
                          <a:cs typeface="Kalimati" panose="00000400000000000000" pitchFamily="2"/>
                        </a:rPr>
                        <a:t>न्यायप्रणालीलाई लैङ्गिकमैत्री तथा सामाजिक रूपमा समावेशी बनाउनु।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limati" panose="00000400000000000000" pitchFamily="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115276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39112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CC5C1400-939A-000C-B07B-0DD7D70C91CB}"/>
              </a:ext>
            </a:extLst>
          </p:cNvPr>
          <p:cNvGraphicFramePr>
            <a:graphicFrameLocks noGrp="1"/>
          </p:cNvGraphicFramePr>
          <p:nvPr>
            <p:ph idx="1"/>
            <p:extLst/>
          </p:nvPr>
        </p:nvGraphicFramePr>
        <p:xfrm>
          <a:off x="127000" y="330200"/>
          <a:ext cx="11963400" cy="636270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71541">
                  <a:extLst>
                    <a:ext uri="{9D8B030D-6E8A-4147-A177-3AD203B41FA5}">
                      <a16:colId xmlns:a16="http://schemas.microsoft.com/office/drawing/2014/main" val="1935079943"/>
                    </a:ext>
                  </a:extLst>
                </a:gridCol>
                <a:gridCol w="1535059">
                  <a:extLst>
                    <a:ext uri="{9D8B030D-6E8A-4147-A177-3AD203B41FA5}">
                      <a16:colId xmlns:a16="http://schemas.microsoft.com/office/drawing/2014/main" val="2880550117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302055624"/>
                    </a:ext>
                  </a:extLst>
                </a:gridCol>
                <a:gridCol w="863600">
                  <a:extLst>
                    <a:ext uri="{9D8B030D-6E8A-4147-A177-3AD203B41FA5}">
                      <a16:colId xmlns:a16="http://schemas.microsoft.com/office/drawing/2014/main" val="307110377"/>
                    </a:ext>
                  </a:extLst>
                </a:gridCol>
                <a:gridCol w="7416800">
                  <a:extLst>
                    <a:ext uri="{9D8B030D-6E8A-4147-A177-3AD203B41FA5}">
                      <a16:colId xmlns:a16="http://schemas.microsoft.com/office/drawing/2014/main" val="807581315"/>
                    </a:ext>
                  </a:extLst>
                </a:gridCol>
              </a:tblGrid>
              <a:tr h="676392"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e-NP" sz="2400" dirty="0">
                          <a:effectLst/>
                          <a:cs typeface="Kalimati" panose="00000400000000000000" pitchFamily="2"/>
                        </a:rPr>
                        <a:t>प्राथमिकता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limati" panose="00000400000000000000" pitchFamily="2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e-NP" sz="2400">
                          <a:effectLst/>
                          <a:cs typeface="Kalimati" panose="00000400000000000000" pitchFamily="2"/>
                        </a:rPr>
                        <a:t>लक्ष्य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limati" panose="00000400000000000000" pitchFamily="2"/>
                      </a:endParaRPr>
                    </a:p>
                  </a:txBody>
                  <a:tcPr marL="68580" marR="68580" marT="0" marB="0"/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e-NP" sz="2400">
                          <a:effectLst/>
                          <a:cs typeface="Kalimati" panose="00000400000000000000" pitchFamily="2"/>
                        </a:rPr>
                        <a:t>रणनीतिक उद्देश्य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limati" panose="00000400000000000000" pitchFamily="2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9999026"/>
                  </a:ext>
                </a:extLst>
              </a:tr>
              <a:tr h="1137262">
                <a:tc rowSpan="5"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e-NP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Kalimati" panose="00000400000000000000" pitchFamily="2"/>
                        </a:rPr>
                        <a:t>३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limati" panose="00000400000000000000" pitchFamily="2"/>
                      </a:endParaRPr>
                    </a:p>
                  </a:txBody>
                  <a:tcPr marL="68580" marR="68580" marT="0" marB="0"/>
                </a:tc>
                <a:tc rowSpan="5"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e-NP" sz="2400" dirty="0">
                          <a:effectLst/>
                          <a:cs typeface="Kalimati" panose="00000400000000000000" pitchFamily="2"/>
                        </a:rPr>
                        <a:t>सुशासन तथा जनआस्था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limati" panose="00000400000000000000" pitchFamily="2"/>
                      </a:endParaRPr>
                    </a:p>
                  </a:txBody>
                  <a:tcPr marL="68580" marR="68580" marT="0" marB="0"/>
                </a:tc>
                <a:tc rowSpan="5"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e-NP" sz="2400" dirty="0">
                          <a:effectLst/>
                          <a:cs typeface="Kalimati" panose="00000400000000000000" pitchFamily="2"/>
                        </a:rPr>
                        <a:t>सुशासनको प्रबर्द्धन तथा जनआस्था अभिबृद्धि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limati" panose="00000400000000000000" pitchFamily="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376555" marR="0" indent="-376555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e-NP" sz="2400">
                          <a:effectLst/>
                          <a:cs typeface="Kalimati" panose="00000400000000000000" pitchFamily="2"/>
                        </a:rPr>
                        <a:t>3.1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limati" panose="00000400000000000000" pitchFamily="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e-NP" sz="2400" dirty="0">
                          <a:effectLst/>
                          <a:cs typeface="Kalimati" panose="00000400000000000000" pitchFamily="2"/>
                        </a:rPr>
                        <a:t>न्यायपालिकाको स्वतन्त्रता</a:t>
                      </a:r>
                      <a:r>
                        <a:rPr lang="en-US" sz="2400" dirty="0">
                          <a:effectLst/>
                          <a:cs typeface="Kalimati" panose="00000400000000000000" pitchFamily="2"/>
                        </a:rPr>
                        <a:t>,</a:t>
                      </a:r>
                      <a:r>
                        <a:rPr lang="ne-NP" sz="2400" dirty="0">
                          <a:effectLst/>
                          <a:cs typeface="Kalimati" panose="00000400000000000000" pitchFamily="2"/>
                        </a:rPr>
                        <a:t> स्वायत्तता तथा न्यायिक सुशासन सम्बन्धी मूल्य मान्यताको प्रबर्द्धन गर्नु।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limati" panose="00000400000000000000" pitchFamily="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58315749"/>
                  </a:ext>
                </a:extLst>
              </a:tr>
              <a:tr h="113726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76555" marR="0" indent="-376555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e-NP" sz="2400" dirty="0">
                          <a:effectLst/>
                          <a:cs typeface="Kalimati" panose="00000400000000000000" pitchFamily="2"/>
                        </a:rPr>
                        <a:t>3.2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limati" panose="00000400000000000000" pitchFamily="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e-NP" sz="2400" dirty="0">
                          <a:effectLst/>
                          <a:cs typeface="Kalimati" panose="00000400000000000000" pitchFamily="2"/>
                        </a:rPr>
                        <a:t>न्यायिक सुशासनको प्रबर्द्धन र सुशासन विपरितका गतिविधि नियन्त्रण सम्बन्धी प्रभावकारी उपायको अवलम्बन गर्नु।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limati" panose="00000400000000000000" pitchFamily="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2503883"/>
                  </a:ext>
                </a:extLst>
              </a:tr>
              <a:tr h="113726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76555" marR="0" indent="-376555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e-NP" sz="2400" dirty="0">
                          <a:effectLst/>
                          <a:cs typeface="Kalimati" panose="00000400000000000000" pitchFamily="2"/>
                        </a:rPr>
                        <a:t>3.3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limati" panose="00000400000000000000" pitchFamily="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e-NP" sz="2400" dirty="0">
                          <a:effectLst/>
                          <a:cs typeface="Kalimati" panose="00000400000000000000" pitchFamily="2"/>
                        </a:rPr>
                        <a:t>अदालतबाट हुने निरीक्षण र अनुगमनको कार्यलाई बस्तुपरक र उद्देश्यमूलक बनाउनु।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limati" panose="00000400000000000000" pitchFamily="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36619127"/>
                  </a:ext>
                </a:extLst>
              </a:tr>
              <a:tr h="113726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76555" marR="0" indent="-376555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e-NP" sz="2400">
                          <a:effectLst/>
                          <a:cs typeface="Kalimati" panose="00000400000000000000" pitchFamily="2"/>
                        </a:rPr>
                        <a:t>3.4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limati" panose="00000400000000000000" pitchFamily="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e-NP" sz="2400" dirty="0">
                          <a:effectLst/>
                          <a:cs typeface="Kalimati" panose="00000400000000000000" pitchFamily="2"/>
                        </a:rPr>
                        <a:t>न्यायपालिकाप्रतिको आस्था र विश्‍वास अभिबृद्धिका उपायको पहिचान र अवलम्बन गर्नु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limati" panose="00000400000000000000" pitchFamily="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03385114"/>
                  </a:ext>
                </a:extLst>
              </a:tr>
              <a:tr h="113726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76555" marR="0" indent="-376555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e-NP" sz="2400">
                          <a:effectLst/>
                          <a:cs typeface="Kalimati" panose="00000400000000000000" pitchFamily="2"/>
                        </a:rPr>
                        <a:t>3.5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limati" panose="00000400000000000000" pitchFamily="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e-NP" sz="2400" dirty="0">
                          <a:effectLst/>
                          <a:cs typeface="Kalimati" panose="00000400000000000000" pitchFamily="2"/>
                        </a:rPr>
                        <a:t>न्यायपालिकाका सरोकारवालाहरूसँगको सहयोग</a:t>
                      </a:r>
                      <a:r>
                        <a:rPr lang="en-US" sz="2400" dirty="0">
                          <a:effectLst/>
                          <a:cs typeface="Kalimati" panose="00000400000000000000" pitchFamily="2"/>
                        </a:rPr>
                        <a:t>,</a:t>
                      </a:r>
                      <a:r>
                        <a:rPr lang="ne-NP" sz="2400" dirty="0">
                          <a:effectLst/>
                          <a:cs typeface="Kalimati" panose="00000400000000000000" pitchFamily="2"/>
                        </a:rPr>
                        <a:t> समन्वय र सहकार्यलाई परिणाममुखी बनाउनु।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limati" panose="00000400000000000000" pitchFamily="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651120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770539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4A2D6E0-6D70-DFDF-1065-87B62816F6FC}"/>
              </a:ext>
            </a:extLst>
          </p:cNvPr>
          <p:cNvGraphicFramePr>
            <a:graphicFrameLocks noGrp="1"/>
          </p:cNvGraphicFramePr>
          <p:nvPr>
            <p:ph idx="1"/>
            <p:extLst/>
          </p:nvPr>
        </p:nvGraphicFramePr>
        <p:xfrm>
          <a:off x="381000" y="406400"/>
          <a:ext cx="11506200" cy="517242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53521">
                  <a:extLst>
                    <a:ext uri="{9D8B030D-6E8A-4147-A177-3AD203B41FA5}">
                      <a16:colId xmlns:a16="http://schemas.microsoft.com/office/drawing/2014/main" val="1156447130"/>
                    </a:ext>
                  </a:extLst>
                </a:gridCol>
                <a:gridCol w="1146679">
                  <a:extLst>
                    <a:ext uri="{9D8B030D-6E8A-4147-A177-3AD203B41FA5}">
                      <a16:colId xmlns:a16="http://schemas.microsoft.com/office/drawing/2014/main" val="2839446321"/>
                    </a:ext>
                  </a:extLst>
                </a:gridCol>
                <a:gridCol w="2603500">
                  <a:extLst>
                    <a:ext uri="{9D8B030D-6E8A-4147-A177-3AD203B41FA5}">
                      <a16:colId xmlns:a16="http://schemas.microsoft.com/office/drawing/2014/main" val="476425659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97826101"/>
                    </a:ext>
                  </a:extLst>
                </a:gridCol>
                <a:gridCol w="6578600">
                  <a:extLst>
                    <a:ext uri="{9D8B030D-6E8A-4147-A177-3AD203B41FA5}">
                      <a16:colId xmlns:a16="http://schemas.microsoft.com/office/drawing/2014/main" val="3402589641"/>
                    </a:ext>
                  </a:extLst>
                </a:gridCol>
              </a:tblGrid>
              <a:tr h="860853"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e-NP" sz="2400" dirty="0">
                          <a:effectLst/>
                          <a:cs typeface="Kalimati" panose="00000400000000000000" pitchFamily="2"/>
                        </a:rPr>
                        <a:t>प्राथमिकता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limati" panose="00000400000000000000" pitchFamily="2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e-NP" sz="2400">
                          <a:effectLst/>
                          <a:cs typeface="Kalimati" panose="00000400000000000000" pitchFamily="2"/>
                        </a:rPr>
                        <a:t>लक्ष्य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limati" panose="00000400000000000000" pitchFamily="2"/>
                      </a:endParaRPr>
                    </a:p>
                  </a:txBody>
                  <a:tcPr marL="68580" marR="68580" marT="0" marB="0"/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e-NP" sz="2400">
                          <a:effectLst/>
                          <a:cs typeface="Kalimati" panose="00000400000000000000" pitchFamily="2"/>
                        </a:rPr>
                        <a:t>रणनीतिक उद्देश्य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limati" panose="00000400000000000000" pitchFamily="2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9078135"/>
                  </a:ext>
                </a:extLst>
              </a:tr>
              <a:tr h="1535324">
                <a:tc rowSpan="3"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e-NP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Kalimati" panose="00000400000000000000" pitchFamily="2"/>
                        </a:rPr>
                        <a:t>४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limati" panose="00000400000000000000" pitchFamily="2"/>
                      </a:endParaRPr>
                    </a:p>
                  </a:txBody>
                  <a:tcPr marL="68580" marR="68580" marT="0" marB="0"/>
                </a:tc>
                <a:tc rowSpan="3"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e-NP" sz="2400">
                          <a:effectLst/>
                          <a:cs typeface="Kalimati" panose="00000400000000000000" pitchFamily="2"/>
                        </a:rPr>
                        <a:t>सूचना प्रविधि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limati" panose="00000400000000000000" pitchFamily="2"/>
                      </a:endParaRPr>
                    </a:p>
                  </a:txBody>
                  <a:tcPr marL="68580" marR="68580" marT="0" marB="0"/>
                </a:tc>
                <a:tc rowSpan="3"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e-NP" sz="2400" dirty="0">
                          <a:effectLst/>
                          <a:cs typeface="Kalimati" panose="00000400000000000000" pitchFamily="2"/>
                        </a:rPr>
                        <a:t>सूचना प्रविधिको सँस्थागत विकास र प्रभावकारी उपयोग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limati" panose="00000400000000000000" pitchFamily="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376555" marR="0" indent="-376555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e-NP" sz="2400" dirty="0">
                          <a:effectLst/>
                          <a:cs typeface="Kalimati" panose="00000400000000000000" pitchFamily="2"/>
                        </a:rPr>
                        <a:t>4.1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limati" panose="00000400000000000000" pitchFamily="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e-NP" sz="2400" dirty="0">
                          <a:effectLst/>
                          <a:cs typeface="Kalimati" panose="00000400000000000000" pitchFamily="2"/>
                        </a:rPr>
                        <a:t>सूचना प्रबिधिको विकास र दीगो व्यवस्थापन गर्नु।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limati" panose="00000400000000000000" pitchFamily="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19940581"/>
                  </a:ext>
                </a:extLst>
              </a:tr>
              <a:tr h="168629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76555" marR="0" indent="-376555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e-NP" sz="2400">
                          <a:effectLst/>
                          <a:cs typeface="Kalimati" panose="00000400000000000000" pitchFamily="2"/>
                        </a:rPr>
                        <a:t>4.2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limati" panose="00000400000000000000" pitchFamily="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e-NP" sz="2400" dirty="0">
                          <a:effectLst/>
                          <a:cs typeface="Kalimati" panose="00000400000000000000" pitchFamily="2"/>
                        </a:rPr>
                        <a:t>सूचना प्रबिधिको प्रयोगलाई परिणाममुखी बनाउनु।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limati" panose="00000400000000000000" pitchFamily="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093522028"/>
                  </a:ext>
                </a:extLst>
              </a:tr>
              <a:tr h="108994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76555" marR="0" indent="-376555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e-NP" sz="2400">
                          <a:effectLst/>
                          <a:cs typeface="Kalimati" panose="00000400000000000000" pitchFamily="2"/>
                        </a:rPr>
                        <a:t>4.3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limati" panose="00000400000000000000" pitchFamily="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e-NP" sz="2400" dirty="0">
                          <a:effectLst/>
                          <a:cs typeface="Kalimati" panose="00000400000000000000" pitchFamily="2"/>
                        </a:rPr>
                        <a:t>सूचना प्रबिधि सम्बन्धी जनशक्तिको उपयुक्त प्रबन्ध गर्नु।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limati" panose="00000400000000000000" pitchFamily="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710889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388072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F9C70FA4-F10E-773D-00D1-ECD46FD87750}"/>
              </a:ext>
            </a:extLst>
          </p:cNvPr>
          <p:cNvGraphicFramePr>
            <a:graphicFrameLocks noGrp="1"/>
          </p:cNvGraphicFramePr>
          <p:nvPr>
            <p:ph idx="1"/>
            <p:extLst/>
          </p:nvPr>
        </p:nvGraphicFramePr>
        <p:xfrm>
          <a:off x="241300" y="342900"/>
          <a:ext cx="11684000" cy="621029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80164">
                  <a:extLst>
                    <a:ext uri="{9D8B030D-6E8A-4147-A177-3AD203B41FA5}">
                      <a16:colId xmlns:a16="http://schemas.microsoft.com/office/drawing/2014/main" val="2854675894"/>
                    </a:ext>
                  </a:extLst>
                </a:gridCol>
                <a:gridCol w="1234336">
                  <a:extLst>
                    <a:ext uri="{9D8B030D-6E8A-4147-A177-3AD203B41FA5}">
                      <a16:colId xmlns:a16="http://schemas.microsoft.com/office/drawing/2014/main" val="568688825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3581591061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392238416"/>
                    </a:ext>
                  </a:extLst>
                </a:gridCol>
                <a:gridCol w="7340600">
                  <a:extLst>
                    <a:ext uri="{9D8B030D-6E8A-4147-A177-3AD203B41FA5}">
                      <a16:colId xmlns:a16="http://schemas.microsoft.com/office/drawing/2014/main" val="356818035"/>
                    </a:ext>
                  </a:extLst>
                </a:gridCol>
              </a:tblGrid>
              <a:tr h="685011"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e-NP" sz="2400" dirty="0">
                          <a:effectLst/>
                          <a:cs typeface="Kalimati" panose="00000400000000000000" pitchFamily="2"/>
                        </a:rPr>
                        <a:t>प्राथमिकता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limati" panose="00000400000000000000" pitchFamily="2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3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e-NP" sz="2400" dirty="0">
                          <a:effectLst/>
                          <a:cs typeface="Kalimati" panose="00000400000000000000" pitchFamily="2"/>
                        </a:rPr>
                        <a:t>लक्ष्य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limati" panose="00000400000000000000" pitchFamily="2"/>
                      </a:endParaRPr>
                    </a:p>
                  </a:txBody>
                  <a:tcPr marL="68580" marR="68580" marT="0" marB="0"/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e-NP" sz="2400" dirty="0">
                          <a:effectLst/>
                          <a:cs typeface="Kalimati" panose="00000400000000000000" pitchFamily="2"/>
                        </a:rPr>
                        <a:t>रणनीतिक उद्देश्य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limati" panose="00000400000000000000" pitchFamily="2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658938"/>
                  </a:ext>
                </a:extLst>
              </a:tr>
              <a:tr h="867308">
                <a:tc rowSpan="6"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e-NP" sz="2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Kalimati" panose="00000400000000000000" pitchFamily="2"/>
                        </a:rPr>
                        <a:t>५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limati" panose="00000400000000000000" pitchFamily="2"/>
                      </a:endParaRPr>
                    </a:p>
                  </a:txBody>
                  <a:tcPr marL="68580" marR="68580" marT="0" marB="0"/>
                </a:tc>
                <a:tc rowSpan="6"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e-NP" sz="2400">
                          <a:effectLst/>
                          <a:cs typeface="Kalimati" panose="00000400000000000000" pitchFamily="2"/>
                        </a:rPr>
                        <a:t>मानव संशाधन तथा भौतिक पूर्वाधार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limati" panose="00000400000000000000" pitchFamily="2"/>
                      </a:endParaRPr>
                    </a:p>
                  </a:txBody>
                  <a:tcPr marL="68580" marR="68580" marT="0" marB="0"/>
                </a:tc>
                <a:tc rowSpan="6"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e-NP" sz="2400">
                          <a:effectLst/>
                          <a:cs typeface="Kalimati" panose="00000400000000000000" pitchFamily="2"/>
                        </a:rPr>
                        <a:t>मानव संशाधन विकास तथा भौतिक पूर्वाधारको सुदृढीकरण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limati" panose="00000400000000000000" pitchFamily="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376555" marR="0" indent="-376555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e-NP" sz="2400">
                          <a:effectLst/>
                          <a:cs typeface="Kalimati" panose="00000400000000000000" pitchFamily="2"/>
                        </a:rPr>
                        <a:t>5.1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limati" panose="00000400000000000000" pitchFamily="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e-NP" sz="2400" dirty="0">
                          <a:effectLst/>
                          <a:cs typeface="Kalimati" panose="00000400000000000000" pitchFamily="2"/>
                        </a:rPr>
                        <a:t>मानव संशाधन विकासको लागि उपयुक्त नीति निर्माण गर्नु।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limati" panose="00000400000000000000" pitchFamily="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48373093"/>
                  </a:ext>
                </a:extLst>
              </a:tr>
              <a:tr h="86730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76555" marR="0" indent="-376555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e-NP" sz="2400">
                          <a:effectLst/>
                          <a:cs typeface="Kalimati" panose="00000400000000000000" pitchFamily="2"/>
                        </a:rPr>
                        <a:t>5.2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limati" panose="00000400000000000000" pitchFamily="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e-NP" sz="2400" dirty="0">
                          <a:effectLst/>
                          <a:cs typeface="Kalimati" panose="00000400000000000000" pitchFamily="2"/>
                        </a:rPr>
                        <a:t>मानव संशाधन विकास सम्बन्धी योजना निर्माण र कार्यान्वयन गर्नु।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limati" panose="00000400000000000000" pitchFamily="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28448225"/>
                  </a:ext>
                </a:extLst>
              </a:tr>
              <a:tr h="86730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76555" marR="0" indent="-376555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e-NP" sz="2400">
                          <a:effectLst/>
                          <a:cs typeface="Kalimati" panose="00000400000000000000" pitchFamily="2"/>
                        </a:rPr>
                        <a:t>5.3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limati" panose="00000400000000000000" pitchFamily="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e-NP" sz="2400" dirty="0">
                          <a:effectLst/>
                          <a:cs typeface="Kalimati" panose="00000400000000000000" pitchFamily="2"/>
                        </a:rPr>
                        <a:t>अदालतहरूको भवन लगायतको भौतिक पूर्वाधार सुधार र स्तरोन्नति गर्नु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limati" panose="00000400000000000000" pitchFamily="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3916405"/>
                  </a:ext>
                </a:extLst>
              </a:tr>
              <a:tr h="115175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76555" marR="0" indent="-376555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e-NP" sz="2400" dirty="0">
                          <a:effectLst/>
                          <a:cs typeface="Kalimati" panose="00000400000000000000" pitchFamily="2"/>
                        </a:rPr>
                        <a:t>5.4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limati" panose="00000400000000000000" pitchFamily="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e-NP" sz="2400" dirty="0">
                          <a:effectLst/>
                          <a:cs typeface="Kalimati" panose="00000400000000000000" pitchFamily="2"/>
                        </a:rPr>
                        <a:t>अदालतहरूमा सवारी साधन</a:t>
                      </a:r>
                      <a:r>
                        <a:rPr lang="en-US" sz="2400" dirty="0">
                          <a:effectLst/>
                          <a:cs typeface="Kalimati" panose="00000400000000000000" pitchFamily="2"/>
                        </a:rPr>
                        <a:t>,</a:t>
                      </a:r>
                      <a:r>
                        <a:rPr lang="ne-NP" sz="2400" dirty="0">
                          <a:effectLst/>
                          <a:cs typeface="Kalimati" panose="00000400000000000000" pitchFamily="2"/>
                        </a:rPr>
                        <a:t> कम्प्युटर लगायत अन्य उपकरणहरूको पर्याप्‍त व्यवस्था गर्नु।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limati" panose="00000400000000000000" pitchFamily="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94117391"/>
                  </a:ext>
                </a:extLst>
              </a:tr>
              <a:tr h="86730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76555" marR="0" indent="-376555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e-NP" sz="2400">
                          <a:effectLst/>
                          <a:cs typeface="Kalimati" panose="00000400000000000000" pitchFamily="2"/>
                        </a:rPr>
                        <a:t>5.5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limati" panose="00000400000000000000" pitchFamily="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e-NP" sz="2400" dirty="0">
                          <a:effectLst/>
                          <a:cs typeface="Kalimati" panose="00000400000000000000" pitchFamily="2"/>
                        </a:rPr>
                        <a:t>योजनाले प्रक्षेपण गरेबमोजिमको बजेटको सुनिश्चितता गर्नु।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limati" panose="00000400000000000000" pitchFamily="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339527132"/>
                  </a:ext>
                </a:extLst>
              </a:tr>
              <a:tr h="90430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76555" marR="0" indent="-376555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e-NP" sz="2400">
                          <a:effectLst/>
                          <a:cs typeface="Kalimati" panose="00000400000000000000" pitchFamily="2"/>
                        </a:rPr>
                        <a:t>5.6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limati" panose="00000400000000000000" pitchFamily="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e-NP" sz="2400" dirty="0">
                          <a:ln>
                            <a:noFill/>
                          </a:ln>
                          <a:effectLst/>
                          <a:cs typeface="Kalimati" panose="00000400000000000000" pitchFamily="2"/>
                        </a:rPr>
                        <a:t>योजना कार्यान्वयन प्रणालीलाई प्रभावकारी बनाउनु।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limati" panose="00000400000000000000" pitchFamily="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107112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979955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500" y="0"/>
            <a:ext cx="11811000" cy="831273"/>
          </a:xfrm>
        </p:spPr>
        <p:txBody>
          <a:bodyPr>
            <a:normAutofit/>
          </a:bodyPr>
          <a:lstStyle/>
          <a:p>
            <a:pPr algn="ctr"/>
            <a:r>
              <a:rPr lang="ne-NP" sz="3200" b="1" dirty="0">
                <a:cs typeface="Kalimati" panose="00000400000000000000" pitchFamily="2"/>
              </a:rPr>
              <a:t>न्याय सम्पादनका सँख्यात्मक र अवधिगत लक्ष्य</a:t>
            </a:r>
            <a:endParaRPr lang="en-US" sz="3200" b="1" dirty="0">
              <a:cs typeface="Kalimati" panose="00000400000000000000" pitchFamily="2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26275"/>
            <a:ext cx="12100955" cy="59317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e-NP" sz="2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न्याय सम्पादनमा शीघ्रता कायम गर्नु।</a:t>
            </a:r>
          </a:p>
          <a:p>
            <a:pPr marL="0" indent="0">
              <a:buNone/>
            </a:pPr>
            <a:r>
              <a:rPr lang="ne-NP" sz="2400" b="1" u="sng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सर्वोच्च अदालत</a:t>
            </a:r>
            <a:endParaRPr lang="en-US" sz="2400" u="sng" dirty="0">
              <a:solidFill>
                <a:srgbClr val="FF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marL="0" indent="0">
              <a:buNone/>
            </a:pPr>
            <a:endParaRPr lang="en-US" b="1" dirty="0">
              <a:cs typeface="Kalimati" panose="00000400000000000000" pitchFamily="2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E7D4136-BD8E-6257-CF4A-87AA3D8015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6180621"/>
              </p:ext>
            </p:extLst>
          </p:nvPr>
        </p:nvGraphicFramePr>
        <p:xfrm>
          <a:off x="0" y="1781299"/>
          <a:ext cx="12100953" cy="503745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7490873">
                  <a:extLst>
                    <a:ext uri="{9D8B030D-6E8A-4147-A177-3AD203B41FA5}">
                      <a16:colId xmlns:a16="http://schemas.microsoft.com/office/drawing/2014/main" val="483097575"/>
                    </a:ext>
                  </a:extLst>
                </a:gridCol>
                <a:gridCol w="2525735">
                  <a:extLst>
                    <a:ext uri="{9D8B030D-6E8A-4147-A177-3AD203B41FA5}">
                      <a16:colId xmlns:a16="http://schemas.microsoft.com/office/drawing/2014/main" val="4277785932"/>
                    </a:ext>
                  </a:extLst>
                </a:gridCol>
                <a:gridCol w="2084345">
                  <a:extLst>
                    <a:ext uri="{9D8B030D-6E8A-4147-A177-3AD203B41FA5}">
                      <a16:colId xmlns:a16="http://schemas.microsoft.com/office/drawing/2014/main" val="2481155338"/>
                    </a:ext>
                  </a:extLst>
                </a:gridCol>
              </a:tblGrid>
              <a:tr h="40376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e-NP" sz="2000" dirty="0">
                          <a:ln>
                            <a:noFill/>
                          </a:ln>
                          <a:effectLst/>
                        </a:rPr>
                        <a:t>कार्य</a:t>
                      </a:r>
                      <a:endParaRPr lang="en-US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e-NP" sz="2000">
                          <a:ln>
                            <a:noFill/>
                          </a:ln>
                          <a:effectLst/>
                        </a:rPr>
                        <a:t>कार्यसम्पादन सूचक</a:t>
                      </a:r>
                      <a:endParaRPr lang="en-US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e-NP" sz="2000">
                          <a:ln>
                            <a:noFill/>
                          </a:ln>
                          <a:effectLst/>
                        </a:rPr>
                        <a:t>समयावधि</a:t>
                      </a:r>
                      <a:endParaRPr lang="en-US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62532778"/>
                  </a:ext>
                </a:extLst>
              </a:tr>
              <a:tr h="672785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e-NP" sz="200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</a:rPr>
                        <a:t>पाँच वर्ष नाघेका </a:t>
                      </a:r>
                      <a:r>
                        <a:rPr lang="ne-NP" sz="2000" dirty="0">
                          <a:ln>
                            <a:noFill/>
                          </a:ln>
                          <a:effectLst/>
                        </a:rPr>
                        <a:t>सबै मुद्दा तथा रिट फर्छ्यौट गर्ने।</a:t>
                      </a:r>
                      <a:endParaRPr lang="en-US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e-NP" sz="2000">
                          <a:ln>
                            <a:noFill/>
                          </a:ln>
                          <a:effectLst/>
                        </a:rPr>
                        <a:t>फैसला</a:t>
                      </a:r>
                      <a:r>
                        <a:rPr lang="en-US" sz="2000">
                          <a:ln>
                            <a:noFill/>
                          </a:ln>
                          <a:effectLst/>
                        </a:rPr>
                        <a:t>/</a:t>
                      </a:r>
                      <a:r>
                        <a:rPr lang="ne-NP" sz="2000">
                          <a:ln>
                            <a:noFill/>
                          </a:ln>
                          <a:effectLst/>
                        </a:rPr>
                        <a:t>अन्तिम आदेश</a:t>
                      </a:r>
                      <a:endParaRPr lang="en-US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e-NP" sz="2000" dirty="0">
                          <a:ln>
                            <a:noFill/>
                          </a:ln>
                          <a:effectLst/>
                          <a:highlight>
                            <a:srgbClr val="FFFF00"/>
                          </a:highlight>
                        </a:rPr>
                        <a:t>२०८३ असार मसान्तसम्म</a:t>
                      </a:r>
                      <a:endParaRPr lang="en-US" sz="2800" dirty="0">
                        <a:effectLst/>
                        <a:highlight>
                          <a:srgbClr val="FFFF00"/>
                        </a:highlight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35511908"/>
                  </a:ext>
                </a:extLst>
              </a:tr>
              <a:tr h="672785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e-NP" sz="200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</a:rPr>
                        <a:t>तीन वर्ष नाघेका </a:t>
                      </a:r>
                      <a:r>
                        <a:rPr lang="ne-NP" sz="2000" dirty="0">
                          <a:ln>
                            <a:noFill/>
                          </a:ln>
                          <a:effectLst/>
                        </a:rPr>
                        <a:t>सबै मुद्दा तथा रिट फर्छ्यौट गर्ने।</a:t>
                      </a:r>
                      <a:endParaRPr lang="en-US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e-NP" sz="2000">
                          <a:ln>
                            <a:noFill/>
                          </a:ln>
                          <a:effectLst/>
                        </a:rPr>
                        <a:t>फैसला</a:t>
                      </a:r>
                      <a:r>
                        <a:rPr lang="en-US" sz="2000">
                          <a:ln>
                            <a:noFill/>
                          </a:ln>
                          <a:effectLst/>
                        </a:rPr>
                        <a:t>/</a:t>
                      </a:r>
                      <a:r>
                        <a:rPr lang="ne-NP" sz="2000">
                          <a:ln>
                            <a:noFill/>
                          </a:ln>
                          <a:effectLst/>
                        </a:rPr>
                        <a:t>अन्तिम आदेश</a:t>
                      </a:r>
                      <a:endParaRPr lang="en-US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e-NP" sz="2000" dirty="0">
                          <a:ln>
                            <a:noFill/>
                          </a:ln>
                          <a:effectLst/>
                          <a:highlight>
                            <a:srgbClr val="00FFFF"/>
                          </a:highlight>
                        </a:rPr>
                        <a:t>२०८५ असार मसान्त सम्म</a:t>
                      </a:r>
                      <a:endParaRPr lang="en-US" sz="2800" dirty="0">
                        <a:effectLst/>
                        <a:highlight>
                          <a:srgbClr val="00FFFF"/>
                        </a:highlight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5219751"/>
                  </a:ext>
                </a:extLst>
              </a:tr>
              <a:tr h="672785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e-NP" sz="200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</a:rPr>
                        <a:t>दुई वर्ष नाघेका </a:t>
                      </a:r>
                      <a:r>
                        <a:rPr lang="ne-NP" sz="2000" dirty="0">
                          <a:ln>
                            <a:noFill/>
                          </a:ln>
                          <a:effectLst/>
                        </a:rPr>
                        <a:t>सबै मुद्दा तथा रिट फर्छ्यौट गर्ने।</a:t>
                      </a:r>
                      <a:endParaRPr lang="en-US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e-NP" sz="2000" dirty="0">
                          <a:ln>
                            <a:noFill/>
                          </a:ln>
                          <a:effectLst/>
                        </a:rPr>
                        <a:t>फैसला</a:t>
                      </a:r>
                      <a:r>
                        <a:rPr lang="en-US" sz="2000" dirty="0">
                          <a:ln>
                            <a:noFill/>
                          </a:ln>
                          <a:effectLst/>
                        </a:rPr>
                        <a:t>/</a:t>
                      </a:r>
                      <a:r>
                        <a:rPr lang="ne-NP" sz="2000" dirty="0">
                          <a:ln>
                            <a:noFill/>
                          </a:ln>
                          <a:effectLst/>
                        </a:rPr>
                        <a:t>अन्तिम आदेश</a:t>
                      </a:r>
                      <a:endParaRPr lang="en-US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e-NP" sz="2000" dirty="0">
                          <a:ln>
                            <a:noFill/>
                          </a:ln>
                          <a:effectLst/>
                          <a:highlight>
                            <a:srgbClr val="FF00FF"/>
                          </a:highlight>
                        </a:rPr>
                        <a:t>२०८६ असार मसान्तसम्म</a:t>
                      </a:r>
                      <a:endParaRPr lang="en-US" sz="2800" dirty="0">
                        <a:effectLst/>
                        <a:highlight>
                          <a:srgbClr val="FF00FF"/>
                        </a:highlight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76511296"/>
                  </a:ext>
                </a:extLst>
              </a:tr>
              <a:tr h="617501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e-NP" sz="2000">
                          <a:ln>
                            <a:noFill/>
                          </a:ln>
                          <a:effectLst/>
                        </a:rPr>
                        <a:t>साधकको रोहबाट हेरिने मुद्दा ९ महिनाभित्र फर्छ्यौट गर्ने।</a:t>
                      </a:r>
                      <a:endParaRPr lang="en-US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e-NP" sz="2000" dirty="0">
                          <a:ln>
                            <a:noFill/>
                          </a:ln>
                          <a:effectLst/>
                        </a:rPr>
                        <a:t>फैसला</a:t>
                      </a:r>
                      <a:endParaRPr lang="en-US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e-NP" sz="2000">
                          <a:ln>
                            <a:noFill/>
                          </a:ln>
                          <a:effectLst/>
                        </a:rPr>
                        <a:t>२०८१</a:t>
                      </a:r>
                      <a:r>
                        <a:rPr lang="en-US" sz="2000">
                          <a:ln>
                            <a:noFill/>
                          </a:ln>
                          <a:effectLst/>
                        </a:rPr>
                        <a:t>-</a:t>
                      </a:r>
                      <a:r>
                        <a:rPr lang="ne-NP" sz="2000">
                          <a:ln>
                            <a:noFill/>
                          </a:ln>
                          <a:effectLst/>
                        </a:rPr>
                        <a:t>०८६</a:t>
                      </a:r>
                      <a:endParaRPr lang="en-US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38315463"/>
                  </a:ext>
                </a:extLst>
              </a:tr>
              <a:tr h="363396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e-NP" sz="2000" dirty="0">
                          <a:ln>
                            <a:noFill/>
                          </a:ln>
                          <a:effectLst/>
                        </a:rPr>
                        <a:t>थुनुवा भएका मुद्दा २ वर्षभित्र फैसला गर्ने।</a:t>
                      </a:r>
                      <a:endParaRPr lang="en-US" sz="2800" dirty="0">
                        <a:effectLst/>
                      </a:endParaRPr>
                    </a:p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e-NP" sz="2000" dirty="0">
                          <a:ln>
                            <a:noFill/>
                          </a:ln>
                          <a:effectLst/>
                        </a:rPr>
                        <a:t> </a:t>
                      </a:r>
                      <a:endParaRPr lang="en-US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e-NP" sz="2000" dirty="0">
                          <a:ln>
                            <a:noFill/>
                          </a:ln>
                          <a:effectLst/>
                        </a:rPr>
                        <a:t>फैसला</a:t>
                      </a:r>
                      <a:endParaRPr lang="en-US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e-NP" sz="2000" dirty="0">
                          <a:ln>
                            <a:noFill/>
                          </a:ln>
                          <a:effectLst/>
                        </a:rPr>
                        <a:t>२०८१</a:t>
                      </a:r>
                      <a:r>
                        <a:rPr lang="en-US" sz="2000" dirty="0">
                          <a:ln>
                            <a:noFill/>
                          </a:ln>
                          <a:effectLst/>
                        </a:rPr>
                        <a:t>-</a:t>
                      </a:r>
                      <a:r>
                        <a:rPr lang="ne-NP" sz="2000" dirty="0">
                          <a:ln>
                            <a:noFill/>
                          </a:ln>
                          <a:effectLst/>
                        </a:rPr>
                        <a:t>०८६</a:t>
                      </a:r>
                      <a:endParaRPr lang="en-US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5234138"/>
                  </a:ext>
                </a:extLst>
              </a:tr>
              <a:tr h="101195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e-NP" sz="2000" dirty="0">
                          <a:ln>
                            <a:noFill/>
                          </a:ln>
                          <a:effectLst/>
                        </a:rPr>
                        <a:t>मुद्दा</a:t>
                      </a:r>
                      <a:r>
                        <a:rPr lang="en-US" sz="2000" dirty="0">
                          <a:ln>
                            <a:noFill/>
                          </a:ln>
                          <a:effectLst/>
                        </a:rPr>
                        <a:t>,</a:t>
                      </a:r>
                      <a:r>
                        <a:rPr lang="ne-NP" sz="2000" dirty="0">
                          <a:ln>
                            <a:noFill/>
                          </a:ln>
                          <a:effectLst/>
                        </a:rPr>
                        <a:t> रिट निवेदन तथा दोहोर्‍याई पाउँ, पुनरावलोकन, अनुमतिका निवेदन र साधकसमेत समग्र </a:t>
                      </a:r>
                      <a:r>
                        <a:rPr lang="ne-NP" sz="200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</a:rPr>
                        <a:t>लगतको वार्षिक कम्तीमा ५० प्रतिशत </a:t>
                      </a:r>
                      <a:r>
                        <a:rPr lang="ne-NP" sz="2000" dirty="0">
                          <a:ln>
                            <a:noFill/>
                          </a:ln>
                          <a:effectLst/>
                        </a:rPr>
                        <a:t>फर्छ्यौट गर्ने।</a:t>
                      </a:r>
                      <a:endParaRPr lang="en-US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e-NP" sz="2000" dirty="0">
                          <a:ln>
                            <a:noFill/>
                          </a:ln>
                          <a:effectLst/>
                        </a:rPr>
                        <a:t>फैसला</a:t>
                      </a:r>
                      <a:r>
                        <a:rPr lang="en-US" sz="2000" dirty="0">
                          <a:ln>
                            <a:noFill/>
                          </a:ln>
                          <a:effectLst/>
                        </a:rPr>
                        <a:t>/</a:t>
                      </a:r>
                      <a:r>
                        <a:rPr lang="ne-NP" sz="2000" dirty="0">
                          <a:ln>
                            <a:noFill/>
                          </a:ln>
                          <a:effectLst/>
                        </a:rPr>
                        <a:t>अन्तिम आदेश</a:t>
                      </a:r>
                      <a:endParaRPr lang="en-US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e-NP" sz="2000" dirty="0">
                          <a:ln>
                            <a:noFill/>
                          </a:ln>
                          <a:effectLst/>
                        </a:rPr>
                        <a:t>२०८१</a:t>
                      </a:r>
                      <a:r>
                        <a:rPr lang="en-US" sz="2000" dirty="0">
                          <a:ln>
                            <a:noFill/>
                          </a:ln>
                          <a:effectLst/>
                        </a:rPr>
                        <a:t>-</a:t>
                      </a:r>
                      <a:r>
                        <a:rPr lang="ne-NP" sz="2000" dirty="0">
                          <a:ln>
                            <a:noFill/>
                          </a:ln>
                          <a:effectLst/>
                        </a:rPr>
                        <a:t>०८६</a:t>
                      </a:r>
                      <a:endParaRPr lang="en-US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64493201"/>
                  </a:ext>
                </a:extLst>
              </a:tr>
              <a:tr h="333618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e-NP" sz="2000" dirty="0">
                          <a:effectLst/>
                        </a:rPr>
                        <a:t>प्रतिवेदनहरू दर्ता भएको मितिले ३ महिनाभित्र फर्छ्यौट गर्ने।</a:t>
                      </a:r>
                      <a:endParaRPr lang="en-US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e-NP" sz="2000" dirty="0">
                          <a:ln>
                            <a:noFill/>
                          </a:ln>
                          <a:effectLst/>
                        </a:rPr>
                        <a:t>अन्तिम आदेश</a:t>
                      </a:r>
                      <a:endParaRPr lang="en-US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e-NP" sz="2000" dirty="0">
                          <a:ln>
                            <a:noFill/>
                          </a:ln>
                          <a:effectLst/>
                        </a:rPr>
                        <a:t>२०८१</a:t>
                      </a:r>
                      <a:r>
                        <a:rPr lang="en-US" sz="2000" dirty="0">
                          <a:ln>
                            <a:noFill/>
                          </a:ln>
                          <a:effectLst/>
                        </a:rPr>
                        <a:t>-</a:t>
                      </a:r>
                      <a:r>
                        <a:rPr lang="ne-NP" sz="2000" dirty="0">
                          <a:ln>
                            <a:noFill/>
                          </a:ln>
                          <a:effectLst/>
                        </a:rPr>
                        <a:t>०८६</a:t>
                      </a:r>
                      <a:endParaRPr lang="en-US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160974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65102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500" y="0"/>
            <a:ext cx="11811000" cy="831273"/>
          </a:xfrm>
        </p:spPr>
        <p:txBody>
          <a:bodyPr>
            <a:normAutofit/>
          </a:bodyPr>
          <a:lstStyle/>
          <a:p>
            <a:pPr algn="ctr"/>
            <a:r>
              <a:rPr lang="ne-NP" sz="3200" b="1" dirty="0">
                <a:cs typeface="Kalimati" panose="00000400000000000000" pitchFamily="2"/>
              </a:rPr>
              <a:t>न्याय सम्पादनका सँख्यात्मक र अवधिगत लक्ष्य</a:t>
            </a:r>
            <a:endParaRPr lang="en-US" sz="3200" b="1" dirty="0">
              <a:cs typeface="Kalimati" panose="00000400000000000000" pitchFamily="2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26275"/>
            <a:ext cx="12100955" cy="59317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e-NP" sz="2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न्याय सम्पादनमा शीघ्रता कायम गर्नु।</a:t>
            </a:r>
          </a:p>
          <a:p>
            <a:pPr marL="0" indent="0">
              <a:buNone/>
            </a:pPr>
            <a:r>
              <a:rPr lang="ne-NP" sz="2400" b="1" u="sng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उच्च अदालततर्फ</a:t>
            </a:r>
          </a:p>
          <a:p>
            <a:pPr marL="0" indent="0">
              <a:buNone/>
            </a:pPr>
            <a:endParaRPr lang="en-US" sz="3200" b="1" dirty="0">
              <a:cs typeface="Kalimati" panose="00000400000000000000" pitchFamily="2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E7D4136-BD8E-6257-CF4A-87AA3D8015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4960258"/>
              </p:ext>
            </p:extLst>
          </p:nvPr>
        </p:nvGraphicFramePr>
        <p:xfrm>
          <a:off x="190500" y="1757548"/>
          <a:ext cx="11910452" cy="489263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7611588">
                  <a:extLst>
                    <a:ext uri="{9D8B030D-6E8A-4147-A177-3AD203B41FA5}">
                      <a16:colId xmlns:a16="http://schemas.microsoft.com/office/drawing/2014/main" val="483097575"/>
                    </a:ext>
                  </a:extLst>
                </a:gridCol>
                <a:gridCol w="2434442">
                  <a:extLst>
                    <a:ext uri="{9D8B030D-6E8A-4147-A177-3AD203B41FA5}">
                      <a16:colId xmlns:a16="http://schemas.microsoft.com/office/drawing/2014/main" val="4277785932"/>
                    </a:ext>
                  </a:extLst>
                </a:gridCol>
                <a:gridCol w="1864422">
                  <a:extLst>
                    <a:ext uri="{9D8B030D-6E8A-4147-A177-3AD203B41FA5}">
                      <a16:colId xmlns:a16="http://schemas.microsoft.com/office/drawing/2014/main" val="2481155338"/>
                    </a:ext>
                  </a:extLst>
                </a:gridCol>
              </a:tblGrid>
              <a:tr h="44448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e-NP" sz="2000" b="1">
                          <a:ln>
                            <a:noFill/>
                          </a:ln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Kalimati" panose="00000400000000000000" pitchFamily="2"/>
                        </a:rPr>
                        <a:t>कार्य</a:t>
                      </a:r>
                      <a:endParaRPr lang="en-US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e-NP" sz="2400" b="1">
                          <a:ln>
                            <a:noFill/>
                          </a:ln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Kalimati" panose="00000400000000000000" pitchFamily="2"/>
                        </a:rPr>
                        <a:t>कार्यसम्पादन सूचक</a:t>
                      </a:r>
                      <a:endParaRPr lang="en-US" sz="3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e-NP" sz="2400" b="1">
                          <a:ln>
                            <a:noFill/>
                          </a:ln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Kalimati" panose="00000400000000000000" pitchFamily="2"/>
                        </a:rPr>
                        <a:t>समयावधि</a:t>
                      </a:r>
                      <a:endParaRPr lang="en-US" sz="3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62532778"/>
                  </a:ext>
                </a:extLst>
              </a:tr>
              <a:tr h="740637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e-NP" sz="2000">
                          <a:ln>
                            <a:noFill/>
                          </a:ln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Kalimati" panose="00000400000000000000" pitchFamily="2"/>
                        </a:rPr>
                        <a:t>सरल मार्गसमूहमा रहने मुद्दा तथा रिट निवेदन सो मार्गसमूहको लागि निर्धारित अवधिभित्र फर्छ्यौट गर्ने।</a:t>
                      </a:r>
                      <a:endParaRPr lang="en-US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e-NP" sz="2000" dirty="0">
                          <a:ln>
                            <a:noFill/>
                          </a:ln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Kalimati" panose="00000400000000000000" pitchFamily="2"/>
                        </a:rPr>
                        <a:t>फैसला</a:t>
                      </a:r>
                      <a:r>
                        <a:rPr lang="en-US" sz="2000" dirty="0">
                          <a:ln>
                            <a:noFill/>
                          </a:ln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Kalimati" panose="00000400000000000000" pitchFamily="2"/>
                        </a:rPr>
                        <a:t>/</a:t>
                      </a:r>
                      <a:r>
                        <a:rPr lang="ne-NP" sz="2000" dirty="0">
                          <a:ln>
                            <a:noFill/>
                          </a:ln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Kalimati" panose="00000400000000000000" pitchFamily="2"/>
                        </a:rPr>
                        <a:t>अन्तिम आदेश</a:t>
                      </a:r>
                      <a:endParaRPr lang="en-US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e-NP" sz="2000">
                          <a:ln>
                            <a:noFill/>
                          </a:ln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Kalimati" panose="00000400000000000000" pitchFamily="2"/>
                        </a:rPr>
                        <a:t>२०८१</a:t>
                      </a:r>
                      <a:r>
                        <a:rPr lang="en-US" sz="2000">
                          <a:ln>
                            <a:noFill/>
                          </a:ln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Kalimati" panose="00000400000000000000" pitchFamily="2"/>
                        </a:rPr>
                        <a:t>-</a:t>
                      </a:r>
                      <a:r>
                        <a:rPr lang="ne-NP" sz="2000">
                          <a:ln>
                            <a:noFill/>
                          </a:ln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Kalimati" panose="00000400000000000000" pitchFamily="2"/>
                        </a:rPr>
                        <a:t>०८६</a:t>
                      </a:r>
                      <a:endParaRPr lang="en-US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35511908"/>
                  </a:ext>
                </a:extLst>
              </a:tr>
              <a:tr h="740637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e-NP" sz="2000" dirty="0">
                          <a:ln>
                            <a:noFill/>
                          </a:ln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Kalimati" panose="00000400000000000000" pitchFamily="2"/>
                        </a:rPr>
                        <a:t>सामान्य मार्गसमूहमा रहने मुद्दा तथा रिट निवेदन सो मार्गसमूहको लागि निर्धारित अवधिभित्र फर्छ्यौट गर्ने।</a:t>
                      </a:r>
                      <a:endParaRPr lang="en-US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e-NP" sz="2000" dirty="0">
                          <a:ln>
                            <a:noFill/>
                          </a:ln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Kalimati" panose="00000400000000000000" pitchFamily="2"/>
                        </a:rPr>
                        <a:t>फैसला</a:t>
                      </a:r>
                      <a:r>
                        <a:rPr lang="en-US" sz="2000" dirty="0">
                          <a:ln>
                            <a:noFill/>
                          </a:ln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Kalimati" panose="00000400000000000000" pitchFamily="2"/>
                        </a:rPr>
                        <a:t>/</a:t>
                      </a:r>
                      <a:r>
                        <a:rPr lang="ne-NP" sz="2000" dirty="0">
                          <a:ln>
                            <a:noFill/>
                          </a:ln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Kalimati" panose="00000400000000000000" pitchFamily="2"/>
                        </a:rPr>
                        <a:t>अन्तिम आदेश</a:t>
                      </a:r>
                      <a:endParaRPr lang="en-US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e-NP" sz="2000">
                          <a:ln>
                            <a:noFill/>
                          </a:ln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Kalimati" panose="00000400000000000000" pitchFamily="2"/>
                        </a:rPr>
                        <a:t>२०८१</a:t>
                      </a:r>
                      <a:r>
                        <a:rPr lang="en-US" sz="2000">
                          <a:ln>
                            <a:noFill/>
                          </a:ln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Kalimati" panose="00000400000000000000" pitchFamily="2"/>
                        </a:rPr>
                        <a:t>-</a:t>
                      </a:r>
                      <a:r>
                        <a:rPr lang="ne-NP" sz="2000">
                          <a:ln>
                            <a:noFill/>
                          </a:ln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Kalimati" panose="00000400000000000000" pitchFamily="2"/>
                        </a:rPr>
                        <a:t>०८६</a:t>
                      </a:r>
                      <a:endParaRPr lang="en-US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5219751"/>
                  </a:ext>
                </a:extLst>
              </a:tr>
              <a:tr h="740637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e-NP" sz="2000" dirty="0">
                          <a:ln>
                            <a:noFill/>
                          </a:ln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Kalimati" panose="00000400000000000000" pitchFamily="2"/>
                        </a:rPr>
                        <a:t>विशेष मार्गसमूहमा रहने मुद्दा तथा रिट निवेदन सो मार्गसमूहको लागि निर्धारित अवधिभित्र फर्छ्यौट गर्ने।</a:t>
                      </a:r>
                      <a:endParaRPr lang="en-US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e-NP" sz="2000">
                          <a:ln>
                            <a:noFill/>
                          </a:ln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Kalimati" panose="00000400000000000000" pitchFamily="2"/>
                        </a:rPr>
                        <a:t>फैसला</a:t>
                      </a:r>
                      <a:endParaRPr lang="en-US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e-NP" sz="2000">
                          <a:ln>
                            <a:noFill/>
                          </a:ln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Kalimati" panose="00000400000000000000" pitchFamily="2"/>
                        </a:rPr>
                        <a:t>२०८१</a:t>
                      </a:r>
                      <a:r>
                        <a:rPr lang="en-US" sz="2000">
                          <a:ln>
                            <a:noFill/>
                          </a:ln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Kalimati" panose="00000400000000000000" pitchFamily="2"/>
                        </a:rPr>
                        <a:t>-</a:t>
                      </a:r>
                      <a:r>
                        <a:rPr lang="ne-NP" sz="2000">
                          <a:ln>
                            <a:noFill/>
                          </a:ln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Kalimati" panose="00000400000000000000" pitchFamily="2"/>
                        </a:rPr>
                        <a:t>०८६</a:t>
                      </a:r>
                      <a:endParaRPr lang="en-US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76511296"/>
                  </a:ext>
                </a:extLst>
              </a:tr>
              <a:tr h="712184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e-NP" sz="200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Kalimati" panose="00000400000000000000" pitchFamily="2"/>
                        </a:rPr>
                        <a:t>योजना लागु हुँदा १८ महिना अवधि नाघेका </a:t>
                      </a:r>
                      <a:r>
                        <a:rPr lang="ne-NP" sz="2000" dirty="0">
                          <a:ln>
                            <a:noFill/>
                          </a:ln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Kalimati" panose="00000400000000000000" pitchFamily="2"/>
                        </a:rPr>
                        <a:t>बाँकी मुद्दा तथा रिट निवेदन फर्छ्यौट गर्ने।</a:t>
                      </a:r>
                      <a:endParaRPr lang="en-US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e-NP" sz="2000">
                          <a:ln>
                            <a:noFill/>
                          </a:ln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Kalimati" panose="00000400000000000000" pitchFamily="2"/>
                        </a:rPr>
                        <a:t>फैसला</a:t>
                      </a:r>
                      <a:r>
                        <a:rPr lang="en-US" sz="2000">
                          <a:ln>
                            <a:noFill/>
                          </a:ln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Kalimati" panose="00000400000000000000" pitchFamily="2"/>
                        </a:rPr>
                        <a:t>/</a:t>
                      </a:r>
                      <a:r>
                        <a:rPr lang="ne-NP" sz="2000">
                          <a:ln>
                            <a:noFill/>
                          </a:ln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Kalimati" panose="00000400000000000000" pitchFamily="2"/>
                        </a:rPr>
                        <a:t>अन्तिम आदेश</a:t>
                      </a:r>
                      <a:endParaRPr lang="en-US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e-NP" sz="200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Kalimati" panose="00000400000000000000" pitchFamily="2"/>
                        </a:rPr>
                        <a:t>२०८२ असार मसान्तसम्म </a:t>
                      </a:r>
                      <a:endParaRPr lang="en-US" sz="28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38315463"/>
                  </a:ext>
                </a:extLst>
              </a:tr>
              <a:tr h="400046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e-NP" sz="2000" dirty="0">
                          <a:ln>
                            <a:noFill/>
                          </a:ln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Kalimati" panose="00000400000000000000" pitchFamily="2"/>
                        </a:rPr>
                        <a:t>मध्यस्थतासम्बन्धी निवेदन कानूनले  तोकेको अवधिभित्र  फर्छ्यौट गर्ने।</a:t>
                      </a:r>
                      <a:endParaRPr lang="en-US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e-NP" sz="2000">
                          <a:ln>
                            <a:noFill/>
                          </a:ln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Kalimati" panose="00000400000000000000" pitchFamily="2"/>
                        </a:rPr>
                        <a:t>अन्तिम आदेश</a:t>
                      </a:r>
                      <a:r>
                        <a:rPr lang="en-US" sz="2000">
                          <a:ln>
                            <a:noFill/>
                          </a:ln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Kalimati" panose="00000400000000000000" pitchFamily="2"/>
                        </a:rPr>
                        <a:t>/ </a:t>
                      </a:r>
                      <a:r>
                        <a:rPr lang="ne-NP" sz="2000">
                          <a:ln>
                            <a:noFill/>
                          </a:ln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Kalimati" panose="00000400000000000000" pitchFamily="2"/>
                        </a:rPr>
                        <a:t>निर्णय</a:t>
                      </a:r>
                      <a:endParaRPr lang="en-US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e-NP" sz="2000">
                          <a:ln>
                            <a:noFill/>
                          </a:ln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Kalimati" panose="00000400000000000000" pitchFamily="2"/>
                        </a:rPr>
                        <a:t>२०८१</a:t>
                      </a:r>
                      <a:r>
                        <a:rPr lang="en-US" sz="2000">
                          <a:ln>
                            <a:noFill/>
                          </a:ln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Kalimati" panose="00000400000000000000" pitchFamily="2"/>
                        </a:rPr>
                        <a:t>-</a:t>
                      </a:r>
                      <a:r>
                        <a:rPr lang="ne-NP" sz="2000">
                          <a:ln>
                            <a:noFill/>
                          </a:ln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Kalimati" panose="00000400000000000000" pitchFamily="2"/>
                        </a:rPr>
                        <a:t>०८६</a:t>
                      </a:r>
                      <a:endParaRPr lang="en-US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5234138"/>
                  </a:ext>
                </a:extLst>
              </a:tr>
              <a:tr h="1114009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e-NP" sz="20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Kalimati" panose="00000400000000000000" pitchFamily="2"/>
                        </a:rPr>
                        <a:t>प्रतिवेदनहरू दर्ता भएको मितिले 1 महिनाभित्र फर्छ्यौट गर्ने।</a:t>
                      </a:r>
                      <a:endParaRPr lang="en-US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e-NP" sz="2000" dirty="0">
                          <a:ln>
                            <a:noFill/>
                          </a:ln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Kalimati" panose="00000400000000000000" pitchFamily="2"/>
                        </a:rPr>
                        <a:t>अन्तिम आदेश</a:t>
                      </a:r>
                      <a:endParaRPr lang="en-US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e-NP" sz="2000" dirty="0">
                          <a:ln>
                            <a:noFill/>
                          </a:ln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Kalimati" panose="00000400000000000000" pitchFamily="2"/>
                        </a:rPr>
                        <a:t>२०८१</a:t>
                      </a:r>
                      <a:r>
                        <a:rPr lang="en-US" sz="2000" dirty="0">
                          <a:ln>
                            <a:noFill/>
                          </a:ln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Kalimati" panose="00000400000000000000" pitchFamily="2"/>
                        </a:rPr>
                        <a:t>-</a:t>
                      </a:r>
                      <a:r>
                        <a:rPr lang="ne-NP" sz="2000" dirty="0">
                          <a:ln>
                            <a:noFill/>
                          </a:ln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Kalimati" panose="00000400000000000000" pitchFamily="2"/>
                        </a:rPr>
                        <a:t>०८६</a:t>
                      </a:r>
                      <a:endParaRPr lang="en-US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644932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535967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500" y="0"/>
            <a:ext cx="11811000" cy="831273"/>
          </a:xfrm>
        </p:spPr>
        <p:txBody>
          <a:bodyPr>
            <a:normAutofit/>
          </a:bodyPr>
          <a:lstStyle/>
          <a:p>
            <a:pPr algn="ctr"/>
            <a:r>
              <a:rPr lang="ne-NP" sz="3200" b="1" dirty="0">
                <a:cs typeface="Kalimati" panose="00000400000000000000" pitchFamily="2"/>
              </a:rPr>
              <a:t>न्याय सम्पादनका सँख्यात्मक र अवधिगत लक्ष्य</a:t>
            </a:r>
            <a:endParaRPr lang="en-US" sz="3200" b="1" dirty="0">
              <a:cs typeface="Kalimati" panose="00000400000000000000" pitchFamily="2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26275"/>
            <a:ext cx="12100955" cy="59317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e-NP" sz="2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न्याय सम्पादनमा शीघ्रता कायम गर्नु।</a:t>
            </a:r>
          </a:p>
          <a:p>
            <a:pPr marL="0" indent="0">
              <a:buNone/>
            </a:pPr>
            <a:r>
              <a:rPr lang="ne-NP" sz="2400" b="1" u="sng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जिल्ला अदालततर्फ</a:t>
            </a:r>
            <a:endParaRPr lang="en-US" sz="4000" b="1" dirty="0">
              <a:solidFill>
                <a:srgbClr val="FF0000"/>
              </a:solidFill>
              <a:cs typeface="Kalimati" panose="00000400000000000000" pitchFamily="2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E7D4136-BD8E-6257-CF4A-87AA3D8015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019031"/>
              </p:ext>
            </p:extLst>
          </p:nvPr>
        </p:nvGraphicFramePr>
        <p:xfrm>
          <a:off x="91045" y="1838847"/>
          <a:ext cx="11910452" cy="496042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7611588">
                  <a:extLst>
                    <a:ext uri="{9D8B030D-6E8A-4147-A177-3AD203B41FA5}">
                      <a16:colId xmlns:a16="http://schemas.microsoft.com/office/drawing/2014/main" val="483097575"/>
                    </a:ext>
                  </a:extLst>
                </a:gridCol>
                <a:gridCol w="2434442">
                  <a:extLst>
                    <a:ext uri="{9D8B030D-6E8A-4147-A177-3AD203B41FA5}">
                      <a16:colId xmlns:a16="http://schemas.microsoft.com/office/drawing/2014/main" val="4277785932"/>
                    </a:ext>
                  </a:extLst>
                </a:gridCol>
                <a:gridCol w="1864422">
                  <a:extLst>
                    <a:ext uri="{9D8B030D-6E8A-4147-A177-3AD203B41FA5}">
                      <a16:colId xmlns:a16="http://schemas.microsoft.com/office/drawing/2014/main" val="2481155338"/>
                    </a:ext>
                  </a:extLst>
                </a:gridCol>
              </a:tblGrid>
              <a:tr h="57226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e-NP" sz="2000" b="1" dirty="0">
                          <a:ln>
                            <a:noFill/>
                          </a:ln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Kalimati" panose="00000400000000000000" pitchFamily="2"/>
                        </a:rPr>
                        <a:t>कार्य</a:t>
                      </a:r>
                      <a:endParaRPr lang="en-US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e-NP" sz="2000" b="1">
                          <a:ln>
                            <a:noFill/>
                          </a:ln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Kalimati" panose="00000400000000000000" pitchFamily="2"/>
                        </a:rPr>
                        <a:t>कार्यसम्पादन सूचक</a:t>
                      </a:r>
                      <a:endParaRPr lang="en-US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e-NP" sz="2000" b="1">
                          <a:ln>
                            <a:noFill/>
                          </a:ln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Kalimati" panose="00000400000000000000" pitchFamily="2"/>
                        </a:rPr>
                        <a:t>समयावधि</a:t>
                      </a:r>
                      <a:endParaRPr lang="en-US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62532778"/>
                  </a:ext>
                </a:extLst>
              </a:tr>
              <a:tr h="953562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e-NP" sz="2000" dirty="0">
                          <a:ln>
                            <a:noFill/>
                          </a:ln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Kalimati" panose="00000400000000000000" pitchFamily="2"/>
                        </a:rPr>
                        <a:t>सरल मार्गसमूहमा रहने मुद्दा तथा रिट निवेदन सो मार्गसमूहको लागि निर्धारित अवधिभित्र फर्छ्यौट गर्ने।</a:t>
                      </a:r>
                      <a:endParaRPr lang="en-US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e-NP" sz="2000">
                          <a:ln>
                            <a:noFill/>
                          </a:ln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Kalimati" panose="00000400000000000000" pitchFamily="2"/>
                        </a:rPr>
                        <a:t>फैसला</a:t>
                      </a:r>
                      <a:r>
                        <a:rPr lang="en-US" sz="2000">
                          <a:ln>
                            <a:noFill/>
                          </a:ln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Kalimati" panose="00000400000000000000" pitchFamily="2"/>
                        </a:rPr>
                        <a:t>/</a:t>
                      </a:r>
                      <a:r>
                        <a:rPr lang="ne-NP" sz="2000">
                          <a:ln>
                            <a:noFill/>
                          </a:ln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Kalimati" panose="00000400000000000000" pitchFamily="2"/>
                        </a:rPr>
                        <a:t>अन्तिम आदेश</a:t>
                      </a:r>
                      <a:endParaRPr lang="en-US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e-NP" sz="2000">
                          <a:ln>
                            <a:noFill/>
                          </a:ln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Kalimati" panose="00000400000000000000" pitchFamily="2"/>
                        </a:rPr>
                        <a:t>२०८१</a:t>
                      </a:r>
                      <a:r>
                        <a:rPr lang="en-US" sz="2000">
                          <a:ln>
                            <a:noFill/>
                          </a:ln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Kalimati" panose="00000400000000000000" pitchFamily="2"/>
                        </a:rPr>
                        <a:t>-</a:t>
                      </a:r>
                      <a:r>
                        <a:rPr lang="ne-NP" sz="2000">
                          <a:ln>
                            <a:noFill/>
                          </a:ln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Kalimati" panose="00000400000000000000" pitchFamily="2"/>
                        </a:rPr>
                        <a:t>०८६</a:t>
                      </a:r>
                      <a:endParaRPr lang="en-US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35511908"/>
                  </a:ext>
                </a:extLst>
              </a:tr>
              <a:tr h="953562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e-NP" sz="2000" dirty="0">
                          <a:ln>
                            <a:noFill/>
                          </a:ln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Kalimati" panose="00000400000000000000" pitchFamily="2"/>
                        </a:rPr>
                        <a:t>सामान्य मार्गसमूहमा रहने मुद्दा तथा रिट निवेदन सो मार्गसमूहको लागि निर्धारित अवधिभित्र फर्छ्यौट गर्ने।</a:t>
                      </a:r>
                      <a:endParaRPr lang="en-US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e-NP" sz="2000">
                          <a:ln>
                            <a:noFill/>
                          </a:ln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Kalimati" panose="00000400000000000000" pitchFamily="2"/>
                        </a:rPr>
                        <a:t>फैसला</a:t>
                      </a:r>
                      <a:r>
                        <a:rPr lang="en-US" sz="2000">
                          <a:ln>
                            <a:noFill/>
                          </a:ln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Kalimati" panose="00000400000000000000" pitchFamily="2"/>
                        </a:rPr>
                        <a:t>/</a:t>
                      </a:r>
                      <a:r>
                        <a:rPr lang="ne-NP" sz="2000">
                          <a:ln>
                            <a:noFill/>
                          </a:ln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Kalimati" panose="00000400000000000000" pitchFamily="2"/>
                        </a:rPr>
                        <a:t>अन्तिम आदेश</a:t>
                      </a:r>
                      <a:endParaRPr lang="en-US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e-NP" sz="2000">
                          <a:ln>
                            <a:noFill/>
                          </a:ln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Kalimati" panose="00000400000000000000" pitchFamily="2"/>
                        </a:rPr>
                        <a:t>२०८१</a:t>
                      </a:r>
                      <a:r>
                        <a:rPr lang="en-US" sz="2000">
                          <a:ln>
                            <a:noFill/>
                          </a:ln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Kalimati" panose="00000400000000000000" pitchFamily="2"/>
                        </a:rPr>
                        <a:t>-</a:t>
                      </a:r>
                      <a:r>
                        <a:rPr lang="ne-NP" sz="2000">
                          <a:ln>
                            <a:noFill/>
                          </a:ln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Kalimati" panose="00000400000000000000" pitchFamily="2"/>
                        </a:rPr>
                        <a:t>०८६</a:t>
                      </a:r>
                      <a:endParaRPr lang="en-US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5219751"/>
                  </a:ext>
                </a:extLst>
              </a:tr>
              <a:tr h="953562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e-NP" sz="2000" dirty="0">
                          <a:ln>
                            <a:noFill/>
                          </a:ln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Kalimati" panose="00000400000000000000" pitchFamily="2"/>
                        </a:rPr>
                        <a:t>विशेष मार्गसमूहमा रहने मुद्दा तथा रिट निवेदन सो मार्गसमूहको लागि निर्धारित अवधिभित्र फर्छ्यौट गर्ने।</a:t>
                      </a:r>
                      <a:endParaRPr lang="en-US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e-NP" sz="2000" dirty="0">
                          <a:ln>
                            <a:noFill/>
                          </a:ln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Kalimati" panose="00000400000000000000" pitchFamily="2"/>
                        </a:rPr>
                        <a:t>फैसला</a:t>
                      </a:r>
                      <a:endParaRPr lang="en-US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e-NP" sz="2000">
                          <a:ln>
                            <a:noFill/>
                          </a:ln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Kalimati" panose="00000400000000000000" pitchFamily="2"/>
                        </a:rPr>
                        <a:t>२०८१</a:t>
                      </a:r>
                      <a:r>
                        <a:rPr lang="en-US" sz="2000">
                          <a:ln>
                            <a:noFill/>
                          </a:ln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Kalimati" panose="00000400000000000000" pitchFamily="2"/>
                        </a:rPr>
                        <a:t>-</a:t>
                      </a:r>
                      <a:r>
                        <a:rPr lang="ne-NP" sz="2000">
                          <a:ln>
                            <a:noFill/>
                          </a:ln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Kalimati" panose="00000400000000000000" pitchFamily="2"/>
                        </a:rPr>
                        <a:t>०८६</a:t>
                      </a:r>
                      <a:endParaRPr lang="en-US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76511296"/>
                  </a:ext>
                </a:extLst>
              </a:tr>
              <a:tr h="875206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e-NP" sz="200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Kalimati" panose="00000400000000000000" pitchFamily="2"/>
                        </a:rPr>
                        <a:t>योजना लागु हुँदा १८ महिना अवधि नाघेका </a:t>
                      </a:r>
                      <a:r>
                        <a:rPr lang="ne-NP" sz="2000" dirty="0">
                          <a:ln>
                            <a:noFill/>
                          </a:ln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Kalimati" panose="00000400000000000000" pitchFamily="2"/>
                        </a:rPr>
                        <a:t>बाँकी मुद्दा तथा रिट निवेदन फर्छ्यौट गर्ने</a:t>
                      </a:r>
                      <a:endParaRPr lang="en-US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e-NP" sz="2000" dirty="0">
                          <a:ln>
                            <a:noFill/>
                          </a:ln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Kalimati" panose="00000400000000000000" pitchFamily="2"/>
                        </a:rPr>
                        <a:t>फैसला</a:t>
                      </a:r>
                      <a:r>
                        <a:rPr lang="en-US" sz="2000" dirty="0">
                          <a:ln>
                            <a:noFill/>
                          </a:ln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Kalimati" panose="00000400000000000000" pitchFamily="2"/>
                        </a:rPr>
                        <a:t>/</a:t>
                      </a:r>
                      <a:r>
                        <a:rPr lang="ne-NP" sz="2000" dirty="0">
                          <a:ln>
                            <a:noFill/>
                          </a:ln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Kalimati" panose="00000400000000000000" pitchFamily="2"/>
                        </a:rPr>
                        <a:t>अन्तिम आदेश</a:t>
                      </a:r>
                      <a:endParaRPr lang="en-US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e-NP" sz="2000" dirty="0">
                          <a:ln>
                            <a:noFill/>
                          </a:ln>
                          <a:effectLst/>
                          <a:highlight>
                            <a:srgbClr val="FFFF00"/>
                          </a:highlight>
                          <a:latin typeface="Calibri" panose="020F0502020204030204" pitchFamily="34" charset="0"/>
                          <a:ea typeface="Calibri" panose="020F0502020204030204" pitchFamily="34" charset="0"/>
                          <a:cs typeface="Kalimati" panose="00000400000000000000" pitchFamily="2"/>
                        </a:rPr>
                        <a:t>२०८२ असार मसान्तसम्म </a:t>
                      </a:r>
                      <a:endParaRPr lang="en-US" sz="2800" dirty="0">
                        <a:effectLst/>
                        <a:highlight>
                          <a:srgbClr val="FFFF00"/>
                        </a:highlight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38315463"/>
                  </a:ext>
                </a:extLst>
              </a:tr>
              <a:tr h="515054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e-NP" sz="20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Kalimati" panose="00000400000000000000" pitchFamily="2"/>
                        </a:rPr>
                        <a:t>विशेष प्रकृतिका निवेदन दर्ता भएको वा प्रमाण बुझेको  मितिले मितिले ७ दिनभित्र फर्छ्यौट गर्ने।</a:t>
                      </a:r>
                      <a:endParaRPr lang="en-US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e-NP" sz="2000">
                          <a:ln>
                            <a:noFill/>
                          </a:ln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Kalimati" panose="00000400000000000000" pitchFamily="2"/>
                        </a:rPr>
                        <a:t>अन्तिम आदेश</a:t>
                      </a:r>
                      <a:endParaRPr lang="en-US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e-NP" sz="2000" dirty="0">
                          <a:ln>
                            <a:noFill/>
                          </a:ln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Kalimati" panose="00000400000000000000" pitchFamily="2"/>
                        </a:rPr>
                        <a:t>२०८१</a:t>
                      </a:r>
                      <a:r>
                        <a:rPr lang="en-US" sz="2000" dirty="0">
                          <a:ln>
                            <a:noFill/>
                          </a:ln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Kalimati" panose="00000400000000000000" pitchFamily="2"/>
                        </a:rPr>
                        <a:t>-</a:t>
                      </a:r>
                      <a:r>
                        <a:rPr lang="ne-NP" sz="2000" dirty="0">
                          <a:ln>
                            <a:noFill/>
                          </a:ln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Kalimati" panose="00000400000000000000" pitchFamily="2"/>
                        </a:rPr>
                        <a:t>०८६</a:t>
                      </a:r>
                      <a:endParaRPr lang="en-US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52341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150170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500" y="0"/>
            <a:ext cx="11811000" cy="831273"/>
          </a:xfrm>
        </p:spPr>
        <p:txBody>
          <a:bodyPr>
            <a:normAutofit/>
          </a:bodyPr>
          <a:lstStyle/>
          <a:p>
            <a:pPr algn="ctr"/>
            <a:r>
              <a:rPr lang="ne-NP" sz="3200" b="1" dirty="0">
                <a:cs typeface="Kalimati" panose="00000400000000000000" pitchFamily="2"/>
              </a:rPr>
              <a:t>न्याय सम्पादनका सँख्यात्मक र अवधिगत लक्ष्य</a:t>
            </a:r>
            <a:endParaRPr lang="en-US" sz="3200" b="1" dirty="0">
              <a:cs typeface="Kalimati" panose="00000400000000000000" pitchFamily="2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26275"/>
            <a:ext cx="12100955" cy="59317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e-NP" sz="2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रणनीतिक उद्देश्य १</a:t>
            </a:r>
            <a:r>
              <a:rPr lang="en-US" sz="2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.</a:t>
            </a:r>
            <a:r>
              <a:rPr lang="ne-NP" sz="2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 न्याय सम्पादनमा शीघ्रता कायम गर्नु।</a:t>
            </a:r>
          </a:p>
          <a:p>
            <a:pPr marL="0" indent="0">
              <a:buNone/>
            </a:pPr>
            <a:r>
              <a:rPr lang="ne-NP" b="1" u="sng" dirty="0">
                <a:ln>
                  <a:noFill/>
                </a:ln>
                <a:solidFill>
                  <a:srgbClr val="FF0000"/>
                </a:solidFill>
                <a:effectLst/>
                <a:latin typeface="Mangal" panose="02040503050203030202" pitchFamily="18" charset="0"/>
                <a:ea typeface="Calibri" panose="020F0502020204030204" pitchFamily="34" charset="0"/>
                <a:cs typeface="Kalimati" panose="00000400000000000000" pitchFamily="2"/>
              </a:rPr>
              <a:t>मेलमिलापः</a:t>
            </a:r>
            <a:endParaRPr lang="en-US" dirty="0">
              <a:solidFill>
                <a:srgbClr val="FF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E7D4136-BD8E-6257-CF4A-87AA3D8015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3336726"/>
              </p:ext>
            </p:extLst>
          </p:nvPr>
        </p:nvGraphicFramePr>
        <p:xfrm>
          <a:off x="91044" y="2185061"/>
          <a:ext cx="12009912" cy="383198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751870">
                  <a:extLst>
                    <a:ext uri="{9D8B030D-6E8A-4147-A177-3AD203B41FA5}">
                      <a16:colId xmlns:a16="http://schemas.microsoft.com/office/drawing/2014/main" val="483097575"/>
                    </a:ext>
                  </a:extLst>
                </a:gridCol>
                <a:gridCol w="4089735">
                  <a:extLst>
                    <a:ext uri="{9D8B030D-6E8A-4147-A177-3AD203B41FA5}">
                      <a16:colId xmlns:a16="http://schemas.microsoft.com/office/drawing/2014/main" val="129079728"/>
                    </a:ext>
                  </a:extLst>
                </a:gridCol>
                <a:gridCol w="2363682">
                  <a:extLst>
                    <a:ext uri="{9D8B030D-6E8A-4147-A177-3AD203B41FA5}">
                      <a16:colId xmlns:a16="http://schemas.microsoft.com/office/drawing/2014/main" val="4277785932"/>
                    </a:ext>
                  </a:extLst>
                </a:gridCol>
                <a:gridCol w="1804625">
                  <a:extLst>
                    <a:ext uri="{9D8B030D-6E8A-4147-A177-3AD203B41FA5}">
                      <a16:colId xmlns:a16="http://schemas.microsoft.com/office/drawing/2014/main" val="1910962953"/>
                    </a:ext>
                  </a:extLst>
                </a:gridCol>
              </a:tblGrid>
              <a:tr h="109252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e-NP" sz="2400" b="1">
                          <a:ln>
                            <a:noFill/>
                          </a:ln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Kalimati" panose="00000400000000000000" pitchFamily="2"/>
                        </a:rPr>
                        <a:t>निकाय</a:t>
                      </a:r>
                      <a:endParaRPr lang="en-US" sz="3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e-NP" sz="2400" b="1" dirty="0">
                          <a:ln>
                            <a:noFill/>
                          </a:ln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Kalimati" panose="00000400000000000000" pitchFamily="2"/>
                        </a:rPr>
                        <a:t>कार्य</a:t>
                      </a:r>
                      <a:endParaRPr lang="en-US" sz="3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e-NP" sz="2400" b="1">
                          <a:ln>
                            <a:noFill/>
                          </a:ln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Kalimati" panose="00000400000000000000" pitchFamily="2"/>
                        </a:rPr>
                        <a:t>कार्यसम्पादन सूचक</a:t>
                      </a:r>
                      <a:endParaRPr lang="en-US" sz="3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e-NP" sz="2400" b="1">
                          <a:ln>
                            <a:noFill/>
                          </a:ln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Kalimati" panose="00000400000000000000" pitchFamily="2"/>
                        </a:rPr>
                        <a:t>समयावधि</a:t>
                      </a:r>
                      <a:endParaRPr lang="en-US" sz="3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35511908"/>
                  </a:ext>
                </a:extLst>
              </a:tr>
              <a:tr h="1137062"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e-NP" sz="2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सर्वोच्च</a:t>
                      </a:r>
                      <a:r>
                        <a:rPr lang="en-US" sz="2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ne-NP" sz="2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उच्च</a:t>
                      </a:r>
                      <a:r>
                        <a:rPr lang="en-US" sz="2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 </a:t>
                      </a:r>
                      <a:r>
                        <a:rPr lang="ne-NP" sz="2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जिल्ला अदालत </a:t>
                      </a:r>
                      <a:endParaRPr lang="en-US" sz="4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e-NP" sz="2400" dirty="0">
                          <a:ln>
                            <a:noFill/>
                          </a:ln>
                          <a:effectLst/>
                          <a:highlight>
                            <a:srgbClr val="FFFF00"/>
                          </a:highlight>
                          <a:latin typeface="Calibri" panose="020F0502020204030204" pitchFamily="34" charset="0"/>
                          <a:ea typeface="Calibri" panose="020F0502020204030204" pitchFamily="34" charset="0"/>
                          <a:cs typeface="Kalimati" panose="00000400000000000000" pitchFamily="2"/>
                        </a:rPr>
                        <a:t>मिलापत्र हुनसक्ने प्रकृतिका ५० </a:t>
                      </a:r>
                      <a:r>
                        <a:rPr lang="ne-NP" sz="2400" dirty="0">
                          <a:ln>
                            <a:noFill/>
                          </a:ln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Kalimati" panose="00000400000000000000" pitchFamily="2"/>
                        </a:rPr>
                        <a:t>प्रतिशत मुद्दाहरू मेलमिलाप प्रक्रियामा पठाउने।</a:t>
                      </a:r>
                      <a:endParaRPr lang="en-US" sz="3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e-NP" sz="2400" dirty="0">
                          <a:ln>
                            <a:noFill/>
                          </a:ln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Kalimati" panose="00000400000000000000" pitchFamily="2"/>
                        </a:rPr>
                        <a:t>आदेश</a:t>
                      </a:r>
                      <a:endParaRPr lang="en-US" sz="3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e-NP" sz="2400">
                          <a:ln>
                            <a:noFill/>
                          </a:ln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Kalimati" panose="00000400000000000000" pitchFamily="2"/>
                        </a:rPr>
                        <a:t>२०८१</a:t>
                      </a:r>
                      <a:r>
                        <a:rPr lang="en-US" sz="2400">
                          <a:ln>
                            <a:noFill/>
                          </a:ln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Kalimati" panose="00000400000000000000" pitchFamily="2"/>
                        </a:rPr>
                        <a:t>-</a:t>
                      </a:r>
                      <a:r>
                        <a:rPr lang="ne-NP" sz="2400">
                          <a:ln>
                            <a:noFill/>
                          </a:ln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Kalimati" panose="00000400000000000000" pitchFamily="2"/>
                        </a:rPr>
                        <a:t>०८६</a:t>
                      </a:r>
                      <a:endParaRPr lang="en-US" sz="3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010461214"/>
                  </a:ext>
                </a:extLst>
              </a:tr>
              <a:tr h="113706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e-NP" sz="2400" dirty="0">
                          <a:ln>
                            <a:noFill/>
                          </a:ln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Kalimati" panose="00000400000000000000" pitchFamily="2"/>
                        </a:rPr>
                        <a:t>मेलमिलाप प्रक्रियामा </a:t>
                      </a:r>
                      <a:r>
                        <a:rPr lang="ne-NP" sz="2400" dirty="0">
                          <a:ln>
                            <a:noFill/>
                          </a:ln>
                          <a:effectLst/>
                          <a:highlight>
                            <a:srgbClr val="FFFF00"/>
                          </a:highlight>
                          <a:latin typeface="Calibri" panose="020F0502020204030204" pitchFamily="34" charset="0"/>
                          <a:ea typeface="Calibri" panose="020F0502020204030204" pitchFamily="34" charset="0"/>
                          <a:cs typeface="Kalimati" panose="00000400000000000000" pitchFamily="2"/>
                        </a:rPr>
                        <a:t>पठाइएका ५० प्रतिशत मुद्दामा मेलमिलापबाट विवाद समाधान </a:t>
                      </a:r>
                      <a:r>
                        <a:rPr lang="ne-NP" sz="2400" dirty="0">
                          <a:ln>
                            <a:noFill/>
                          </a:ln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Kalimati" panose="00000400000000000000" pitchFamily="2"/>
                        </a:rPr>
                        <a:t>गर्ने।</a:t>
                      </a:r>
                      <a:endParaRPr lang="en-US" sz="3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e-NP" sz="2400" dirty="0">
                          <a:ln>
                            <a:noFill/>
                          </a:ln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Kalimati" panose="00000400000000000000" pitchFamily="2"/>
                        </a:rPr>
                        <a:t>मिलापत्र</a:t>
                      </a:r>
                      <a:endParaRPr lang="en-US" sz="3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e-NP" sz="2400" dirty="0">
                          <a:ln>
                            <a:noFill/>
                          </a:ln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Kalimati" panose="00000400000000000000" pitchFamily="2"/>
                        </a:rPr>
                        <a:t>२०८१</a:t>
                      </a:r>
                      <a:r>
                        <a:rPr lang="en-US" sz="2400" dirty="0">
                          <a:ln>
                            <a:noFill/>
                          </a:ln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Kalimati" panose="00000400000000000000" pitchFamily="2"/>
                        </a:rPr>
                        <a:t>-</a:t>
                      </a:r>
                      <a:r>
                        <a:rPr lang="ne-NP" sz="2400" dirty="0">
                          <a:ln>
                            <a:noFill/>
                          </a:ln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Kalimati" panose="00000400000000000000" pitchFamily="2"/>
                        </a:rPr>
                        <a:t>०८६</a:t>
                      </a:r>
                      <a:endParaRPr lang="en-US" sz="3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3687504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162231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500" y="0"/>
            <a:ext cx="11811000" cy="831273"/>
          </a:xfrm>
        </p:spPr>
        <p:txBody>
          <a:bodyPr>
            <a:normAutofit/>
          </a:bodyPr>
          <a:lstStyle/>
          <a:p>
            <a:pPr algn="ctr"/>
            <a:r>
              <a:rPr lang="ne-NP" sz="3200" b="1" dirty="0">
                <a:cs typeface="Kalimati" panose="00000400000000000000" pitchFamily="2"/>
              </a:rPr>
              <a:t>न्याय सम्पादनका सँख्यात्मक र अवधिगत लक्ष्य</a:t>
            </a:r>
            <a:endParaRPr lang="en-US" sz="3200" b="1" dirty="0">
              <a:cs typeface="Kalimati" panose="00000400000000000000" pitchFamily="2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26275"/>
            <a:ext cx="12100955" cy="59317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e-NP" sz="2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न्याय सम्पादनमा शीघ्रता कायम गर्नु।</a:t>
            </a:r>
          </a:p>
          <a:p>
            <a:pPr marL="0" indent="0">
              <a:buNone/>
            </a:pPr>
            <a:r>
              <a:rPr lang="ne-NP" sz="2400" b="1" u="sng" dirty="0">
                <a:ln>
                  <a:noFill/>
                </a:ln>
                <a:solidFill>
                  <a:srgbClr val="FF0000"/>
                </a:solidFill>
                <a:effectLst/>
                <a:latin typeface="Mangal" panose="02040503050203030202" pitchFamily="18" charset="0"/>
                <a:ea typeface="Calibri" panose="020F0502020204030204" pitchFamily="34" charset="0"/>
                <a:cs typeface="Kalimati" panose="00000400000000000000" pitchFamily="2"/>
              </a:rPr>
              <a:t>फैसला लेखन र तयारीः</a:t>
            </a:r>
            <a:endParaRPr lang="en-US" sz="2400" dirty="0">
              <a:solidFill>
                <a:srgbClr val="FF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marL="0" indent="0">
              <a:buNone/>
            </a:pPr>
            <a:endParaRPr lang="ne-NP" sz="24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Kalimati" panose="00000400000000000000" pitchFamily="2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E7D4136-BD8E-6257-CF4A-87AA3D8015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141131"/>
              </p:ext>
            </p:extLst>
          </p:nvPr>
        </p:nvGraphicFramePr>
        <p:xfrm>
          <a:off x="91044" y="2185061"/>
          <a:ext cx="12009912" cy="336665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329050">
                  <a:extLst>
                    <a:ext uri="{9D8B030D-6E8A-4147-A177-3AD203B41FA5}">
                      <a16:colId xmlns:a16="http://schemas.microsoft.com/office/drawing/2014/main" val="483097575"/>
                    </a:ext>
                  </a:extLst>
                </a:gridCol>
                <a:gridCol w="4512555">
                  <a:extLst>
                    <a:ext uri="{9D8B030D-6E8A-4147-A177-3AD203B41FA5}">
                      <a16:colId xmlns:a16="http://schemas.microsoft.com/office/drawing/2014/main" val="129079728"/>
                    </a:ext>
                  </a:extLst>
                </a:gridCol>
                <a:gridCol w="2363682">
                  <a:extLst>
                    <a:ext uri="{9D8B030D-6E8A-4147-A177-3AD203B41FA5}">
                      <a16:colId xmlns:a16="http://schemas.microsoft.com/office/drawing/2014/main" val="4277785932"/>
                    </a:ext>
                  </a:extLst>
                </a:gridCol>
                <a:gridCol w="1804625">
                  <a:extLst>
                    <a:ext uri="{9D8B030D-6E8A-4147-A177-3AD203B41FA5}">
                      <a16:colId xmlns:a16="http://schemas.microsoft.com/office/drawing/2014/main" val="1910962953"/>
                    </a:ext>
                  </a:extLst>
                </a:gridCol>
              </a:tblGrid>
              <a:tr h="109252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e-NP" sz="2400" b="1" dirty="0">
                          <a:ln>
                            <a:noFill/>
                          </a:ln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Kalimati" panose="00000400000000000000" pitchFamily="2"/>
                        </a:rPr>
                        <a:t>निकाय</a:t>
                      </a:r>
                      <a:endParaRPr lang="en-US" sz="3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e-NP" sz="2400" b="1" dirty="0">
                          <a:ln>
                            <a:noFill/>
                          </a:ln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Kalimati" panose="00000400000000000000" pitchFamily="2"/>
                        </a:rPr>
                        <a:t>कार्य</a:t>
                      </a:r>
                      <a:endParaRPr lang="en-US" sz="3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e-NP" sz="2400" b="1">
                          <a:ln>
                            <a:noFill/>
                          </a:ln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Kalimati" panose="00000400000000000000" pitchFamily="2"/>
                        </a:rPr>
                        <a:t>कार्यसम्पादन सूचक</a:t>
                      </a:r>
                      <a:endParaRPr lang="en-US" sz="3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e-NP" sz="2400" b="1">
                          <a:ln>
                            <a:noFill/>
                          </a:ln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Kalimati" panose="00000400000000000000" pitchFamily="2"/>
                        </a:rPr>
                        <a:t>समयावधि</a:t>
                      </a:r>
                      <a:endParaRPr lang="en-US" sz="3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35511908"/>
                  </a:ext>
                </a:extLst>
              </a:tr>
              <a:tr h="1137062"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e-NP" sz="2400" dirty="0">
                          <a:ln>
                            <a:noFill/>
                          </a:ln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Kalimati" panose="00000400000000000000" pitchFamily="2"/>
                        </a:rPr>
                        <a:t>सबै तहका अदालत र अन्य अदालत तथा न्यायाधिकरण </a:t>
                      </a:r>
                      <a:endParaRPr lang="en-US" sz="3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e-NP" sz="2400" dirty="0">
                          <a:ln>
                            <a:noFill/>
                          </a:ln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Kalimati" panose="00000400000000000000" pitchFamily="2"/>
                        </a:rPr>
                        <a:t>कानूनको म्यादभित्र फैसला/ अन्तिम आदेश तयार गर्ने।</a:t>
                      </a:r>
                      <a:endParaRPr lang="en-US" sz="3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e-NP" sz="2400" dirty="0">
                          <a:ln>
                            <a:noFill/>
                          </a:ln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Kalimati" panose="00000400000000000000" pitchFamily="2"/>
                        </a:rPr>
                        <a:t>फैसला/ अन्तिम आदेश प्रमाणीकरण</a:t>
                      </a:r>
                      <a:endParaRPr lang="en-US" sz="3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e-NP" sz="2400" dirty="0">
                          <a:ln>
                            <a:noFill/>
                          </a:ln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Kalimati" panose="00000400000000000000" pitchFamily="2"/>
                        </a:rPr>
                        <a:t>२०८१</a:t>
                      </a:r>
                      <a:r>
                        <a:rPr lang="en-US" sz="2400" dirty="0">
                          <a:ln>
                            <a:noFill/>
                          </a:ln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Kalimati" panose="00000400000000000000" pitchFamily="2"/>
                        </a:rPr>
                        <a:t>-</a:t>
                      </a:r>
                      <a:r>
                        <a:rPr lang="ne-NP" sz="2400" dirty="0">
                          <a:ln>
                            <a:noFill/>
                          </a:ln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Kalimati" panose="00000400000000000000" pitchFamily="2"/>
                        </a:rPr>
                        <a:t>०८६</a:t>
                      </a:r>
                      <a:endParaRPr lang="en-US" sz="3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010461214"/>
                  </a:ext>
                </a:extLst>
              </a:tr>
              <a:tr h="113706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e-NP" sz="2400" dirty="0">
                          <a:ln>
                            <a:noFill/>
                          </a:ln>
                          <a:effectLst/>
                          <a:highlight>
                            <a:srgbClr val="FFFF00"/>
                          </a:highlight>
                          <a:latin typeface="Calibri" panose="020F0502020204030204" pitchFamily="34" charset="0"/>
                          <a:ea typeface="Calibri" panose="020F0502020204030204" pitchFamily="34" charset="0"/>
                          <a:cs typeface="Kalimati" panose="00000400000000000000" pitchFamily="2"/>
                        </a:rPr>
                        <a:t>योजना लागु हुँदा तयार गर्न बाँकी फैसला/ </a:t>
                      </a:r>
                      <a:r>
                        <a:rPr lang="ne-NP" sz="2400" dirty="0">
                          <a:ln>
                            <a:noFill/>
                          </a:ln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Kalimati" panose="00000400000000000000" pitchFamily="2"/>
                        </a:rPr>
                        <a:t>अन्तिम आदेश तयार गर्ने।</a:t>
                      </a:r>
                      <a:endParaRPr lang="en-US" sz="3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e-NP" sz="2400" dirty="0">
                          <a:ln>
                            <a:noFill/>
                          </a:ln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Kalimati" panose="00000400000000000000" pitchFamily="2"/>
                        </a:rPr>
                        <a:t>फैसला/ अन्तिम आदेश प्रमाणीकरण</a:t>
                      </a:r>
                      <a:endParaRPr lang="en-US" sz="3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e-NP" sz="2400" dirty="0">
                          <a:ln>
                            <a:noFill/>
                          </a:ln>
                          <a:effectLst/>
                          <a:highlight>
                            <a:srgbClr val="FFFF00"/>
                          </a:highlight>
                          <a:latin typeface="Calibri" panose="020F0502020204030204" pitchFamily="34" charset="0"/>
                          <a:ea typeface="Calibri" panose="020F0502020204030204" pitchFamily="34" charset="0"/>
                          <a:cs typeface="Kalimati" panose="00000400000000000000" pitchFamily="2"/>
                        </a:rPr>
                        <a:t>२०८१ पुषसम्म</a:t>
                      </a:r>
                      <a:endParaRPr lang="en-US" sz="3200" dirty="0">
                        <a:effectLst/>
                        <a:highlight>
                          <a:srgbClr val="FFFF00"/>
                        </a:highlight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3687504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150400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500" y="166255"/>
            <a:ext cx="11811000" cy="760020"/>
          </a:xfrm>
        </p:spPr>
        <p:txBody>
          <a:bodyPr>
            <a:normAutofit/>
          </a:bodyPr>
          <a:lstStyle/>
          <a:p>
            <a:pPr algn="ctr">
              <a:tabLst>
                <a:tab pos="5830888" algn="l"/>
              </a:tabLst>
            </a:pPr>
            <a:r>
              <a:rPr lang="ne-NP" sz="2800" b="1" dirty="0">
                <a:cs typeface="Kalimati" panose="00000400000000000000" pitchFamily="2"/>
              </a:rPr>
              <a:t>न्याय सम्पादनका सँख्यात्मक र अवधिगत लक्ष्य</a:t>
            </a:r>
            <a:endParaRPr lang="en-US" sz="2800" b="1" dirty="0">
              <a:cs typeface="Kalimati" panose="00000400000000000000" pitchFamily="2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26275"/>
            <a:ext cx="12100955" cy="59317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e-NP" sz="2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न्याय सम्पादनमा शीघ्रता कायम गर्नु।</a:t>
            </a:r>
          </a:p>
          <a:p>
            <a:pPr marL="0" indent="0">
              <a:buNone/>
            </a:pPr>
            <a:r>
              <a:rPr lang="ne-NP" sz="2400" b="1" u="sng" dirty="0">
                <a:ln>
                  <a:noFill/>
                </a:ln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फैसला</a:t>
            </a:r>
            <a:r>
              <a:rPr lang="ne-NP" sz="2400" b="1" dirty="0">
                <a:ln>
                  <a:noFill/>
                </a:ln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 </a:t>
            </a:r>
            <a:r>
              <a:rPr lang="ne-NP" sz="2400" b="1" u="sng" dirty="0">
                <a:ln>
                  <a:noFill/>
                </a:ln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कार्यान्वयन</a:t>
            </a:r>
          </a:p>
          <a:p>
            <a:pPr marL="0" indent="0">
              <a:buNone/>
            </a:pPr>
            <a:endParaRPr lang="en-US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marL="0" indent="0">
              <a:buNone/>
            </a:pPr>
            <a:endParaRPr lang="ne-NP" sz="24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Kalimati" panose="00000400000000000000" pitchFamily="2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19C6896-7D90-2C53-B8DB-8C832E7737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026227"/>
              </p:ext>
            </p:extLst>
          </p:nvPr>
        </p:nvGraphicFramePr>
        <p:xfrm>
          <a:off x="190500" y="1900052"/>
          <a:ext cx="11684823" cy="52688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1206">
                  <a:extLst>
                    <a:ext uri="{9D8B030D-6E8A-4147-A177-3AD203B41FA5}">
                      <a16:colId xmlns:a16="http://schemas.microsoft.com/office/drawing/2014/main" val="3210049324"/>
                    </a:ext>
                  </a:extLst>
                </a:gridCol>
                <a:gridCol w="5034767">
                  <a:extLst>
                    <a:ext uri="{9D8B030D-6E8A-4147-A177-3AD203B41FA5}">
                      <a16:colId xmlns:a16="http://schemas.microsoft.com/office/drawing/2014/main" val="1505999161"/>
                    </a:ext>
                  </a:extLst>
                </a:gridCol>
                <a:gridCol w="2113808">
                  <a:extLst>
                    <a:ext uri="{9D8B030D-6E8A-4147-A177-3AD203B41FA5}">
                      <a16:colId xmlns:a16="http://schemas.microsoft.com/office/drawing/2014/main" val="4235862551"/>
                    </a:ext>
                  </a:extLst>
                </a:gridCol>
                <a:gridCol w="1615042">
                  <a:extLst>
                    <a:ext uri="{9D8B030D-6E8A-4147-A177-3AD203B41FA5}">
                      <a16:colId xmlns:a16="http://schemas.microsoft.com/office/drawing/2014/main" val="3352808025"/>
                    </a:ext>
                  </a:extLst>
                </a:gridCol>
              </a:tblGrid>
              <a:tr h="486459"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e-NP" sz="1800" b="1" dirty="0">
                          <a:ln>
                            <a:noFill/>
                          </a:ln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Kalimati" panose="00000400000000000000" pitchFamily="2"/>
                        </a:rPr>
                        <a:t>कार्य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e-NP" sz="1800" b="1">
                          <a:ln>
                            <a:noFill/>
                          </a:ln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Kalimati" panose="00000400000000000000" pitchFamily="2"/>
                        </a:rPr>
                        <a:t>कार्यसम्पादन सूचक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e-NP" sz="1800" b="1">
                          <a:ln>
                            <a:noFill/>
                          </a:ln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Kalimati" panose="00000400000000000000" pitchFamily="2"/>
                        </a:rPr>
                        <a:t>समयावधि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085743616"/>
                  </a:ext>
                </a:extLst>
              </a:tr>
              <a:tr h="833953">
                <a:tc gridSpan="2"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e-NP" sz="1800" dirty="0">
                          <a:ln>
                            <a:noFill/>
                          </a:ln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Kalimati" panose="00000400000000000000" pitchFamily="2"/>
                        </a:rPr>
                        <a:t>देवानी मुद्दामा फैसला अन्तिम भई कायम भएको लगत बमोजिम फैसला कार्यान्वयनको लागि पक्ष अदालतमा उपस्थित भएको मितिले ६ महिनाभित्र फर्छ्यौट गर्ने।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e-NP" sz="1800">
                          <a:ln>
                            <a:noFill/>
                          </a:ln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Kalimati" panose="00000400000000000000" pitchFamily="2"/>
                        </a:rPr>
                        <a:t>तामेली आदेश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e-NP" sz="1800">
                          <a:ln>
                            <a:noFill/>
                          </a:ln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Kalimati" panose="00000400000000000000" pitchFamily="2"/>
                        </a:rPr>
                        <a:t>20८१-०८६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48034979"/>
                  </a:ext>
                </a:extLst>
              </a:tr>
              <a:tr h="667678">
                <a:tc gridSpan="2"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e-NP" sz="1800" dirty="0">
                          <a:ln>
                            <a:noFill/>
                          </a:ln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Kalimati" panose="00000400000000000000" pitchFamily="2"/>
                        </a:rPr>
                        <a:t>फौजदारी मुद्दामा फैसला अन्तिम भई कायम भएको लगत बमोजिम निजी बिगो र क्षतिपूर्ति सम्बन्धमा निवेदन परेको मितिले ६ महिनाभित्र फर्छ्यौट गर्ने।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e-NP" sz="1800" dirty="0">
                          <a:ln>
                            <a:noFill/>
                          </a:ln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Kalimati" panose="00000400000000000000" pitchFamily="2"/>
                        </a:rPr>
                        <a:t>लगत किताब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e-NP" sz="1800">
                          <a:ln>
                            <a:noFill/>
                          </a:ln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Kalimati" panose="00000400000000000000" pitchFamily="2"/>
                        </a:rPr>
                        <a:t>20८१-०८६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684288644"/>
                  </a:ext>
                </a:extLst>
              </a:tr>
              <a:tr h="893861">
                <a:tc gridSpan="2"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e-NP" sz="1800" dirty="0">
                          <a:ln>
                            <a:noFill/>
                          </a:ln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Kalimati" panose="00000400000000000000" pitchFamily="2"/>
                        </a:rPr>
                        <a:t>फौजदारी मुद्दामा फैसला अन्तिम भई कायम भएको कैद</a:t>
                      </a:r>
                      <a:r>
                        <a:rPr lang="en-US" sz="1800" dirty="0">
                          <a:ln>
                            <a:noFill/>
                          </a:ln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Kalimati" panose="00000400000000000000" pitchFamily="2"/>
                        </a:rPr>
                        <a:t>,</a:t>
                      </a:r>
                      <a:r>
                        <a:rPr lang="ne-NP" sz="1800" dirty="0">
                          <a:ln>
                            <a:noFill/>
                          </a:ln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Kalimati" panose="00000400000000000000" pitchFamily="2"/>
                        </a:rPr>
                        <a:t> जरिवाना</a:t>
                      </a:r>
                      <a:r>
                        <a:rPr lang="en-US" sz="1800" dirty="0">
                          <a:ln>
                            <a:noFill/>
                          </a:ln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Kalimati" panose="00000400000000000000" pitchFamily="2"/>
                        </a:rPr>
                        <a:t>, </a:t>
                      </a:r>
                      <a:r>
                        <a:rPr lang="ne-NP" sz="1800" dirty="0">
                          <a:ln>
                            <a:noFill/>
                          </a:ln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Kalimati" panose="00000400000000000000" pitchFamily="2"/>
                        </a:rPr>
                        <a:t>सरकारी बिगो र </a:t>
                      </a:r>
                      <a:r>
                        <a:rPr lang="ne-NP" sz="1800" dirty="0">
                          <a:ln>
                            <a:noFill/>
                          </a:ln>
                          <a:effectLst/>
                          <a:highlight>
                            <a:srgbClr val="FFFF00"/>
                          </a:highlight>
                          <a:latin typeface="Calibri" panose="020F0502020204030204" pitchFamily="34" charset="0"/>
                          <a:ea typeface="Calibri" panose="020F0502020204030204" pitchFamily="34" charset="0"/>
                          <a:cs typeface="Kalimati" panose="00000400000000000000" pitchFamily="2"/>
                        </a:rPr>
                        <a:t>अपराध पीडितलाई भराउनु पर्ने क्षतिपूर्ति </a:t>
                      </a:r>
                      <a:r>
                        <a:rPr lang="ne-NP" sz="1800" dirty="0">
                          <a:ln>
                            <a:noFill/>
                          </a:ln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Kalimati" panose="00000400000000000000" pitchFamily="2"/>
                        </a:rPr>
                        <a:t>प्रत्येक वर्ष कम्तीमा सो वर्ष कायम हुने लगत बराबर असुल गर्ने।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e-NP" sz="1800" dirty="0">
                          <a:ln>
                            <a:noFill/>
                          </a:ln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Kalimati" panose="00000400000000000000" pitchFamily="2"/>
                        </a:rPr>
                        <a:t>प्रतिवेदन/ लगत किताब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e-NP" sz="1800">
                          <a:ln>
                            <a:noFill/>
                          </a:ln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Kalimati" panose="00000400000000000000" pitchFamily="2"/>
                        </a:rPr>
                        <a:t>20८१-०८६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55396509"/>
                  </a:ext>
                </a:extLst>
              </a:tr>
              <a:tr h="893861">
                <a:tc gridSpan="2"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e-NP" sz="1800" dirty="0">
                          <a:ln>
                            <a:noFill/>
                          </a:ln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Kalimati" panose="00000400000000000000" pitchFamily="2"/>
                        </a:rPr>
                        <a:t>फौजदारी मुद्दाको कैद</a:t>
                      </a:r>
                      <a:r>
                        <a:rPr lang="en-US" sz="1800" dirty="0">
                          <a:ln>
                            <a:noFill/>
                          </a:ln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Kalimati" panose="00000400000000000000" pitchFamily="2"/>
                        </a:rPr>
                        <a:t>,</a:t>
                      </a:r>
                      <a:r>
                        <a:rPr lang="ne-NP" sz="1800" dirty="0">
                          <a:ln>
                            <a:noFill/>
                          </a:ln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Kalimati" panose="00000400000000000000" pitchFamily="2"/>
                        </a:rPr>
                        <a:t> जरिवाना</a:t>
                      </a:r>
                      <a:r>
                        <a:rPr lang="en-US" sz="1800" dirty="0">
                          <a:ln>
                            <a:noFill/>
                          </a:ln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Kalimati" panose="00000400000000000000" pitchFamily="2"/>
                        </a:rPr>
                        <a:t>, </a:t>
                      </a:r>
                      <a:r>
                        <a:rPr lang="ne-NP" sz="1800" dirty="0">
                          <a:ln>
                            <a:noFill/>
                          </a:ln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Kalimati" panose="00000400000000000000" pitchFamily="2"/>
                        </a:rPr>
                        <a:t>सरकारी बिगो र </a:t>
                      </a:r>
                      <a:r>
                        <a:rPr lang="ne-NP" sz="1800" dirty="0">
                          <a:ln>
                            <a:noFill/>
                          </a:ln>
                          <a:effectLst/>
                          <a:highlight>
                            <a:srgbClr val="FFFF00"/>
                          </a:highlight>
                          <a:latin typeface="Calibri" panose="020F0502020204030204" pitchFamily="34" charset="0"/>
                          <a:ea typeface="Calibri" panose="020F0502020204030204" pitchFamily="34" charset="0"/>
                          <a:cs typeface="Kalimati" panose="00000400000000000000" pitchFamily="2"/>
                        </a:rPr>
                        <a:t>अपराध पीडितलाई भराउनु पर्ने क्षतिपूर्ति योजना </a:t>
                      </a:r>
                      <a:r>
                        <a:rPr lang="ne-NP" sz="1800" dirty="0">
                          <a:ln>
                            <a:noFill/>
                          </a:ln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Kalimati" panose="00000400000000000000" pitchFamily="2"/>
                        </a:rPr>
                        <a:t>लागु हुँदा बाँकी रहेको लगतमध्ये प्रत्येक वर्ष १० प्रतिशतले </a:t>
                      </a:r>
                      <a:r>
                        <a:rPr lang="ne-NP" sz="1800" dirty="0">
                          <a:effectLst/>
                          <a:latin typeface="Preeti" pitchFamily="2" charset="0"/>
                          <a:ea typeface="Calibri" panose="020F0502020204030204" pitchFamily="34" charset="0"/>
                          <a:cs typeface="Kalimati" panose="00000400000000000000" pitchFamily="2"/>
                        </a:rPr>
                        <a:t>कम गर्ने।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e-NP" sz="1800" dirty="0">
                          <a:ln>
                            <a:noFill/>
                          </a:ln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Kalimati" panose="00000400000000000000" pitchFamily="2"/>
                        </a:rPr>
                        <a:t>प्रतिवेदन/ लगत किताब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e-NP" sz="1800" dirty="0">
                          <a:ln>
                            <a:noFill/>
                          </a:ln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Kalimati" panose="00000400000000000000" pitchFamily="2"/>
                        </a:rPr>
                        <a:t>20८१-०८६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182992891"/>
                  </a:ext>
                </a:extLst>
              </a:tr>
              <a:tr h="554457">
                <a:tc rowSpan="2"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e-NP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Kalimati" panose="00000400000000000000" pitchFamily="2"/>
                        </a:rPr>
                        <a:t>सार्वजनिक सरोकारका विवाद र अन्य रिट निवेदनमा सर्वोच्च अदालत तथा उच्च अदालतबाट भएका आदेशहरू कार्यान्वयन गर्ने।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e-NP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Kalimati" panose="00000400000000000000" pitchFamily="2"/>
                        </a:rPr>
                        <a:t>आदेशमा अवधि उल्लेख भएकोमा सोही अवधिभित्र  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e-NP" sz="1800">
                          <a:ln>
                            <a:noFill/>
                          </a:ln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Kalimati" panose="00000400000000000000" pitchFamily="2"/>
                        </a:rPr>
                        <a:t>लगत रजिस्टर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e-NP" sz="1800" dirty="0">
                          <a:ln>
                            <a:noFill/>
                          </a:ln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Kalimati" panose="00000400000000000000" pitchFamily="2"/>
                        </a:rPr>
                        <a:t>20८१-08६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77791567"/>
                  </a:ext>
                </a:extLst>
              </a:tr>
              <a:tr h="93855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e-NP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Kalimati" panose="00000400000000000000" pitchFamily="2"/>
                        </a:rPr>
                        <a:t>आदेशमा अवधि उल्लेख नभएकोमा बढीमा १ वर्षभित्र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e-NP" sz="1800">
                          <a:ln>
                            <a:noFill/>
                          </a:ln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Kalimati" panose="00000400000000000000" pitchFamily="2"/>
                        </a:rPr>
                        <a:t>लगत रजिस्टर</a:t>
                      </a:r>
                      <a:endParaRPr lang="en-U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e-NP" sz="1800" dirty="0">
                          <a:ln>
                            <a:noFill/>
                          </a:ln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Kalimati" panose="00000400000000000000" pitchFamily="2"/>
                        </a:rPr>
                        <a:t>20८१-08६</a:t>
                      </a:r>
                      <a:endParaRPr lang="en-U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624517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2151342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500" y="166255"/>
            <a:ext cx="11811000" cy="760020"/>
          </a:xfrm>
        </p:spPr>
        <p:txBody>
          <a:bodyPr>
            <a:normAutofit/>
          </a:bodyPr>
          <a:lstStyle/>
          <a:p>
            <a:pPr algn="ctr">
              <a:tabLst>
                <a:tab pos="5830888" algn="l"/>
              </a:tabLst>
            </a:pPr>
            <a:r>
              <a:rPr lang="ne-NP" sz="2800" b="1" dirty="0">
                <a:cs typeface="Kalimati" panose="00000400000000000000" pitchFamily="2"/>
              </a:rPr>
              <a:t>न्याय सम्पादन : मुख्य क्रियाकलापहरु</a:t>
            </a:r>
            <a:endParaRPr lang="en-US" sz="2800" b="1" dirty="0">
              <a:cs typeface="Kalimati" panose="00000400000000000000" pitchFamily="2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0500" y="1068779"/>
            <a:ext cx="11910455" cy="5789221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ne-NP" sz="3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ne-NP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सर्वोच्च अदालतको मुद्दा व्यवस्थापनका लागि प्रभावकारी उपाय अवलम्बन गर्नु।</a:t>
            </a:r>
          </a:p>
          <a:p>
            <a:pPr lvl="1" algn="just">
              <a:buFont typeface="Wingdings" panose="05000000000000000000" pitchFamily="2" charset="2"/>
              <a:buChar char="v"/>
            </a:pPr>
            <a:r>
              <a:rPr lang="ne-NP" sz="220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सर्वोच्च अदालतमा मुद्दाको प्रभावकारी ब्यबस्थापनको लागि मुद्दा तथा रिट महाशाखाबाट हुने काम कारबाहीलाई कार्यवोझ समेतका आधारमा</a:t>
            </a:r>
            <a:r>
              <a:rPr lang="ne-NP" sz="2200" dirty="0">
                <a:ln>
                  <a:noFill/>
                </a:ln>
                <a:effectLst/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 ३ वटा समूह </a:t>
            </a:r>
            <a:r>
              <a:rPr lang="ne-NP" sz="220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बनाई प्रत्येक समुहको व्यवस्थापनको जिम्मेबारी सह-रजिष्ट्रारलाई तोक्ने।</a:t>
            </a:r>
          </a:p>
          <a:p>
            <a:pPr lvl="1" algn="just">
              <a:buFont typeface="Wingdings" panose="05000000000000000000" pitchFamily="2" charset="2"/>
              <a:buChar char="v"/>
            </a:pPr>
            <a:r>
              <a:rPr lang="ne-NP" sz="220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पुराना बक्यौता मुद्दा लक्ष्य बमोजिम फर्छ्यौट गर्न पेशी लगायत बक्यौता मुद्दाको व्यवस्थापन सम्बन्धी </a:t>
            </a:r>
            <a:r>
              <a:rPr lang="ne-NP" sz="2200" dirty="0">
                <a:ln>
                  <a:noFill/>
                </a:ln>
                <a:effectLst/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बिशेष कार्य योजना निर्माण </a:t>
            </a:r>
            <a:r>
              <a:rPr lang="ne-NP" sz="220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गरी कार्यान्वयन गर्ने। </a:t>
            </a:r>
            <a:endParaRPr lang="ne-NP" sz="2200" dirty="0">
              <a:latin typeface="Calibri" panose="020F0502020204030204" pitchFamily="34" charset="0"/>
              <a:ea typeface="Calibri" panose="020F0502020204030204" pitchFamily="34" charset="0"/>
              <a:cs typeface="Kalimati" panose="00000400000000000000" pitchFamily="2"/>
            </a:endParaRPr>
          </a:p>
          <a:p>
            <a:pPr lvl="1" algn="just">
              <a:buFont typeface="Wingdings" panose="05000000000000000000" pitchFamily="2" charset="2"/>
              <a:buChar char="v"/>
            </a:pPr>
            <a:r>
              <a:rPr lang="ne-NP" sz="220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प्रत्येक मुद्दाको अंग पुगेको बेहोरा प्रमाणीकरण गरी मिसिल संलग्न गर्ने र सो बेहोरा सम्बन्धित अधिकृतले </a:t>
            </a:r>
            <a:r>
              <a:rPr lang="ne-NP" sz="2200" dirty="0">
                <a:ln>
                  <a:noFill/>
                </a:ln>
                <a:effectLst/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सफ्टवेयरमा प्रमाणित </a:t>
            </a:r>
            <a:r>
              <a:rPr lang="ne-NP" sz="220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नगरेसम्म मुद्दाको पेशी चढाउन नसकिने स्वचालित पद्धति बिकास गर्ने।</a:t>
            </a:r>
          </a:p>
          <a:p>
            <a:pPr lvl="1" algn="just">
              <a:buFont typeface="Wingdings" panose="05000000000000000000" pitchFamily="2" charset="2"/>
              <a:buChar char="v"/>
            </a:pPr>
            <a:r>
              <a:rPr lang="ne-NP" sz="220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मुद्दाको प्रकृति, बिषयबस्तु र मुद्दामा रहेको बिबादित बिषयबस्तुको गाम्भिर्यताको आधारमा </a:t>
            </a:r>
            <a:r>
              <a:rPr lang="ne-NP" sz="2200" dirty="0">
                <a:ln>
                  <a:noFill/>
                </a:ln>
                <a:effectLst/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बहसको समय निर्धारण र समय सूचकको प्रयोग </a:t>
            </a:r>
            <a:r>
              <a:rPr lang="ne-NP" sz="220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लगायत सुनुवाई ब्यबस्थापनलाई प्रभावकारी बनाउने उपायहरूको अवलम्बन गर्ने। </a:t>
            </a:r>
          </a:p>
          <a:p>
            <a:pPr lvl="1" algn="just">
              <a:buFont typeface="Wingdings" panose="05000000000000000000" pitchFamily="2" charset="2"/>
              <a:buChar char="v"/>
            </a:pPr>
            <a:r>
              <a:rPr lang="ne-NP" sz="220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दर्ता, दरपीठ लगायत मुद्दाको प्रक्रियागत विषयमा एकरूपता र सहजताको लागि </a:t>
            </a:r>
            <a:r>
              <a:rPr lang="ne-NP" sz="2200" dirty="0">
                <a:ln>
                  <a:noFill/>
                </a:ln>
                <a:effectLst/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चेकलिष्ट सहितको मापदण्ड निर्माण </a:t>
            </a:r>
            <a:r>
              <a:rPr lang="ne-NP" sz="220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गरी प्रयोगमा ल्याउने।</a:t>
            </a:r>
            <a:endParaRPr lang="ne-NP" sz="2200" dirty="0">
              <a:latin typeface="Calibri" panose="020F0502020204030204" pitchFamily="34" charset="0"/>
              <a:ea typeface="Calibri" panose="020F0502020204030204" pitchFamily="34" charset="0"/>
              <a:cs typeface="Kalimati" panose="00000400000000000000" pitchFamily="2"/>
            </a:endParaRPr>
          </a:p>
          <a:p>
            <a:pPr marL="457200" lvl="1" indent="0">
              <a:buNone/>
            </a:pPr>
            <a:endParaRPr lang="ne-NP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Kalimati" panose="00000400000000000000" pitchFamily="2"/>
            </a:endParaRPr>
          </a:p>
          <a:p>
            <a:pPr marL="0" indent="0">
              <a:buNone/>
            </a:pPr>
            <a:endParaRPr lang="en-US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marL="0" indent="0">
              <a:buNone/>
            </a:pPr>
            <a:endParaRPr lang="ne-NP" sz="24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Kalimati" panose="00000400000000000000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385571949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500" y="225631"/>
            <a:ext cx="11811000" cy="700644"/>
          </a:xfrm>
        </p:spPr>
        <p:txBody>
          <a:bodyPr>
            <a:normAutofit/>
          </a:bodyPr>
          <a:lstStyle/>
          <a:p>
            <a:pPr algn="ctr">
              <a:tabLst>
                <a:tab pos="5830888" algn="l"/>
              </a:tabLst>
            </a:pPr>
            <a:r>
              <a:rPr lang="ne-NP" sz="2800" b="1" dirty="0">
                <a:cs typeface="Kalimati" panose="00000400000000000000" pitchFamily="2"/>
              </a:rPr>
              <a:t>न्याय सम्पादन : मुख्य क्रियाकलापहरु</a:t>
            </a:r>
            <a:endParaRPr lang="en-US" sz="2800" b="1" dirty="0">
              <a:cs typeface="Kalimati" panose="00000400000000000000" pitchFamily="2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0500" y="1068779"/>
            <a:ext cx="11910455" cy="5789221"/>
          </a:xfrm>
        </p:spPr>
        <p:txBody>
          <a:bodyPr>
            <a:normAutofit fontScale="92500" lnSpcReduction="10000"/>
          </a:bodyPr>
          <a:lstStyle/>
          <a:p>
            <a:pPr marR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v"/>
            </a:pPr>
            <a:r>
              <a:rPr lang="ne-NP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कार्यबोझ बढी भएका अदालतहरूको विशेष व्यवस्थापन गर्नु</a:t>
            </a:r>
          </a:p>
          <a:p>
            <a:pPr lvl="1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v"/>
            </a:pPr>
            <a:r>
              <a:rPr lang="ne-NP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कार्यबोझ बढी भएका अदालतहरूमा दरबन्दी अनुसारको जनशक्ति आपूर्तिमा प्राथमिकता दिने र </a:t>
            </a:r>
            <a:r>
              <a:rPr lang="ne-NP" dirty="0">
                <a:effectLst/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जनशक्तिको कमी हुन नदिने</a:t>
            </a:r>
            <a:r>
              <a:rPr lang="ne-NP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।</a:t>
            </a:r>
            <a:endParaRPr lang="ne-NP" b="1" dirty="0">
              <a:latin typeface="Calibri" panose="020F0502020204030204" pitchFamily="34" charset="0"/>
              <a:ea typeface="Calibri" panose="020F0502020204030204" pitchFamily="34" charset="0"/>
              <a:cs typeface="Kalimati" panose="00000400000000000000" pitchFamily="2"/>
            </a:endParaRPr>
          </a:p>
          <a:p>
            <a:pPr lvl="1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v"/>
            </a:pPr>
            <a:r>
              <a:rPr lang="ne-NP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कार्यबोझ बढी भएका</a:t>
            </a:r>
            <a:r>
              <a:rPr lang="ne-NP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 अदालतहरूमा </a:t>
            </a:r>
            <a:r>
              <a:rPr lang="ne-NP" dirty="0">
                <a:ln>
                  <a:noFill/>
                </a:ln>
                <a:effectLst/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दक्ष तथा  अनुभबी जनशक्ति खटाउने तथा विशेष नेतृत्व </a:t>
            </a:r>
            <a:r>
              <a:rPr lang="ne-NP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र ब्यबस्थापन क्षमता भएका न्यायाधीश एवम् कर्मचारीलाई नेतृत्वको जिम्मेवारी दिने।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lvl="1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v"/>
            </a:pPr>
            <a:r>
              <a:rPr lang="ne-NP" dirty="0">
                <a:ln>
                  <a:noFill/>
                </a:ln>
                <a:effectLst/>
                <a:latin typeface="Preeti" pitchFamily="2" charset="0"/>
                <a:ea typeface="Calibri" panose="020F0502020204030204" pitchFamily="34" charset="0"/>
                <a:cs typeface="Kalimati" panose="00000400000000000000" pitchFamily="2"/>
              </a:rPr>
              <a:t>जनशक्तिको </a:t>
            </a:r>
            <a:r>
              <a:rPr lang="ne-NP" dirty="0">
                <a:ln>
                  <a:noFill/>
                </a:ln>
                <a:effectLst/>
                <a:highlight>
                  <a:srgbClr val="FFFF00"/>
                </a:highlight>
                <a:latin typeface="Preeti" pitchFamily="2" charset="0"/>
                <a:ea typeface="Calibri" panose="020F0502020204030204" pitchFamily="34" charset="0"/>
                <a:cs typeface="Kalimati" panose="00000400000000000000" pitchFamily="2"/>
              </a:rPr>
              <a:t>क्षमता अभिबृद्धि सम्बन्धी कार्यक्रम</a:t>
            </a:r>
            <a:r>
              <a:rPr lang="ne-NP" dirty="0">
                <a:ln>
                  <a:noFill/>
                </a:ln>
                <a:effectLst/>
                <a:latin typeface="Preeti" pitchFamily="2" charset="0"/>
                <a:ea typeface="Calibri" panose="020F0502020204030204" pitchFamily="34" charset="0"/>
                <a:cs typeface="Kalimati" panose="00000400000000000000" pitchFamily="2"/>
              </a:rPr>
              <a:t>मा </a:t>
            </a:r>
            <a:r>
              <a:rPr lang="ne-NP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कार्यबोझ बढी भएका</a:t>
            </a:r>
            <a:r>
              <a:rPr lang="ne-NP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 अदालतहरूमा कार्यरत जनशक्तिलाई </a:t>
            </a:r>
            <a:r>
              <a:rPr lang="ne-NP" dirty="0">
                <a:ln>
                  <a:noFill/>
                </a:ln>
                <a:effectLst/>
                <a:latin typeface="Preeti" pitchFamily="2" charset="0"/>
                <a:ea typeface="Calibri" panose="020F0502020204030204" pitchFamily="34" charset="0"/>
                <a:cs typeface="Kalimati" panose="00000400000000000000" pitchFamily="2"/>
              </a:rPr>
              <a:t>प्राथमिकता दिने।</a:t>
            </a:r>
            <a:endParaRPr lang="ne-NP" b="1" dirty="0">
              <a:ln>
                <a:noFill/>
              </a:ln>
              <a:effectLst/>
              <a:latin typeface="Calibri" panose="020F0502020204030204" pitchFamily="34" charset="0"/>
              <a:ea typeface="Calibri" panose="020F0502020204030204" pitchFamily="34" charset="0"/>
              <a:cs typeface="Kalimati" panose="00000400000000000000" pitchFamily="2"/>
            </a:endParaRPr>
          </a:p>
          <a:p>
            <a:pPr lvl="1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v"/>
            </a:pPr>
            <a:r>
              <a:rPr lang="ne-NP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कार्यबोझ बढी भएका</a:t>
            </a:r>
            <a:r>
              <a:rPr lang="ne-NP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 अदालतहरूका </a:t>
            </a:r>
            <a:r>
              <a:rPr lang="ne-NP" dirty="0">
                <a:ln>
                  <a:noFill/>
                </a:ln>
                <a:effectLst/>
                <a:latin typeface="Preeti" pitchFamily="2" charset="0"/>
                <a:ea typeface="Calibri" panose="020F0502020204030204" pitchFamily="34" charset="0"/>
                <a:cs typeface="Kalimati" panose="00000400000000000000" pitchFamily="2"/>
              </a:rPr>
              <a:t>समस्या र आवश्यकतालाई तत्काल सम्बोधन गर्न सर्बोच्च अदालतमा </a:t>
            </a:r>
            <a:r>
              <a:rPr lang="ne-NP" dirty="0">
                <a:ln>
                  <a:noFill/>
                </a:ln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Kalimati" panose="00000400000000000000" pitchFamily="2"/>
              </a:rPr>
              <a:t>प्रशासन</a:t>
            </a:r>
            <a:r>
              <a:rPr lang="en-US" dirty="0">
                <a:ln>
                  <a:noFill/>
                </a:ln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Kalimati" panose="00000400000000000000" pitchFamily="2"/>
              </a:rPr>
              <a:t>, </a:t>
            </a:r>
            <a:r>
              <a:rPr lang="ne-NP" dirty="0">
                <a:ln>
                  <a:noFill/>
                </a:ln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Kalimati" panose="00000400000000000000" pitchFamily="2"/>
              </a:rPr>
              <a:t>योजना, अनुगमन, सूचना प्रबिधि महाशाखा र आर्थिक प्रशासन शाखाको संलग्नतामा </a:t>
            </a:r>
            <a:r>
              <a:rPr lang="en-US" dirty="0">
                <a:ln>
                  <a:noFill/>
                </a:ln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Calibri" panose="020F0502020204030204" pitchFamily="34" charset="0"/>
                <a:cs typeface="Kalimati" panose="00000400000000000000" pitchFamily="2"/>
              </a:rPr>
              <a:t>Rapid Response Team</a:t>
            </a:r>
            <a:r>
              <a:rPr lang="ne-NP" dirty="0">
                <a:ln>
                  <a:noFill/>
                </a:ln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Calibri" panose="020F0502020204030204" pitchFamily="34" charset="0"/>
                <a:cs typeface="Kalimati" panose="00000400000000000000" pitchFamily="2"/>
              </a:rPr>
              <a:t> </a:t>
            </a:r>
            <a:r>
              <a:rPr lang="ne-NP" dirty="0">
                <a:ln>
                  <a:noFill/>
                </a:ln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Kalimati" panose="00000400000000000000" pitchFamily="2"/>
              </a:rPr>
              <a:t>बनाउने</a:t>
            </a:r>
            <a:r>
              <a:rPr lang="ne-NP" dirty="0">
                <a:ln>
                  <a:noFill/>
                </a:ln>
                <a:effectLst/>
                <a:latin typeface="Preeti" pitchFamily="2" charset="0"/>
                <a:ea typeface="Calibri" panose="020F0502020204030204" pitchFamily="34" charset="0"/>
                <a:cs typeface="Kalimati" panose="00000400000000000000" pitchFamily="2"/>
              </a:rPr>
              <a:t>। </a:t>
            </a:r>
            <a:endParaRPr lang="ne-NP" b="1" dirty="0">
              <a:latin typeface="Calibri" panose="020F0502020204030204" pitchFamily="34" charset="0"/>
              <a:ea typeface="Calibri" panose="020F0502020204030204" pitchFamily="34" charset="0"/>
              <a:cs typeface="Kalimati" panose="00000400000000000000" pitchFamily="2"/>
            </a:endParaRPr>
          </a:p>
          <a:p>
            <a:pPr lvl="1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v"/>
            </a:pPr>
            <a:r>
              <a:rPr lang="ne-NP" dirty="0">
                <a:ln>
                  <a:noFill/>
                </a:ln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Kalimati" panose="00000400000000000000" pitchFamily="2"/>
              </a:rPr>
              <a:t>अदालतबाट वा अन्य निकायहरूको सहयोगमा सञ्चालन हुने सुधार सम्बन्धी कार्यक्रमहरू </a:t>
            </a:r>
            <a:r>
              <a:rPr lang="ne-NP" dirty="0">
                <a:ln>
                  <a:noFill/>
                </a:ln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Calibri" panose="020F0502020204030204" pitchFamily="34" charset="0"/>
                <a:cs typeface="Kalimati" panose="00000400000000000000" pitchFamily="2"/>
              </a:rPr>
              <a:t>कार्यबोझ बढी भएका अदालतहरूमा लक्षित </a:t>
            </a:r>
            <a:r>
              <a:rPr lang="ne-NP" dirty="0">
                <a:ln>
                  <a:noFill/>
                </a:ln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Kalimati" panose="00000400000000000000" pitchFamily="2"/>
              </a:rPr>
              <a:t>गरी सञ्‍चालन गर्ने। </a:t>
            </a:r>
            <a:endParaRPr lang="ne-NP" b="1" dirty="0">
              <a:ln>
                <a:noFill/>
              </a:ln>
              <a:effectLst/>
              <a:latin typeface="Calibri" panose="020F0502020204030204" pitchFamily="34" charset="0"/>
              <a:ea typeface="Calibri" panose="020F0502020204030204" pitchFamily="34" charset="0"/>
              <a:cs typeface="Kalimati" panose="00000400000000000000" pitchFamily="2"/>
            </a:endParaRPr>
          </a:p>
          <a:p>
            <a:pPr lvl="1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v"/>
            </a:pPr>
            <a:r>
              <a:rPr lang="ne-NP" dirty="0">
                <a:ln>
                  <a:noFill/>
                </a:ln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Kalimati" panose="00000400000000000000" pitchFamily="2"/>
              </a:rPr>
              <a:t>कार्यबोझ बढी भएका अदालतहरूमा कार्यरत जनशक्तिलाई निजले चाहेको स्थानमा </a:t>
            </a:r>
            <a:r>
              <a:rPr lang="ne-NP" dirty="0">
                <a:ln>
                  <a:noFill/>
                </a:ln>
                <a:effectLst/>
                <a:highlight>
                  <a:srgbClr val="FFFF00"/>
                </a:highlight>
                <a:latin typeface="Times New Roman" panose="02020603050405020304" pitchFamily="18" charset="0"/>
                <a:ea typeface="Calibri" panose="020F0502020204030204" pitchFamily="34" charset="0"/>
                <a:cs typeface="Kalimati" panose="00000400000000000000" pitchFamily="2"/>
              </a:rPr>
              <a:t>सरुवा  लगायत अन्य अवसरहरूमा प्राथमिकता</a:t>
            </a:r>
            <a:r>
              <a:rPr lang="ne-NP" dirty="0">
                <a:ln>
                  <a:noFill/>
                </a:ln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Kalimati" panose="00000400000000000000" pitchFamily="2"/>
              </a:rPr>
              <a:t> दिने।</a:t>
            </a:r>
            <a:endParaRPr lang="en-US" sz="32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>
              <a:buFont typeface="Wingdings" panose="05000000000000000000" pitchFamily="2" charset="2"/>
              <a:buChar char="v"/>
            </a:pPr>
            <a:endParaRPr lang="ne-NP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Kalimati" panose="00000400000000000000" pitchFamily="2"/>
            </a:endParaRPr>
          </a:p>
          <a:p>
            <a:pPr marL="0" indent="0">
              <a:buNone/>
            </a:pPr>
            <a:endParaRPr lang="ne-NP" sz="24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Kalimati" panose="00000400000000000000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9418797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500" y="166255"/>
            <a:ext cx="11811000" cy="760020"/>
          </a:xfrm>
        </p:spPr>
        <p:txBody>
          <a:bodyPr>
            <a:normAutofit/>
          </a:bodyPr>
          <a:lstStyle/>
          <a:p>
            <a:pPr algn="ctr">
              <a:tabLst>
                <a:tab pos="5830888" algn="l"/>
              </a:tabLst>
            </a:pPr>
            <a:r>
              <a:rPr lang="ne-NP" sz="2800" b="1" dirty="0">
                <a:cs typeface="Kalimati" panose="00000400000000000000" pitchFamily="2"/>
              </a:rPr>
              <a:t>न्याय सम्पादन : मुख्य क्रियाकलापहरु</a:t>
            </a:r>
            <a:endParaRPr lang="en-US" sz="2800" b="1" dirty="0">
              <a:cs typeface="Kalimati" panose="00000400000000000000" pitchFamily="2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068779"/>
            <a:ext cx="12192000" cy="5789221"/>
          </a:xfrm>
        </p:spPr>
        <p:txBody>
          <a:bodyPr>
            <a:normAutofit fontScale="92500" lnSpcReduction="20000"/>
          </a:bodyPr>
          <a:lstStyle/>
          <a:p>
            <a:pPr marR="0" algn="just">
              <a:lnSpc>
                <a:spcPct val="107000"/>
              </a:lnSpc>
              <a:spcBef>
                <a:spcPts val="1200"/>
              </a:spcBef>
              <a:spcAft>
                <a:spcPts val="800"/>
              </a:spcAft>
              <a:buFont typeface="Wingdings" panose="05000000000000000000" pitchFamily="2" charset="2"/>
              <a:buChar char="v"/>
            </a:pPr>
            <a:r>
              <a:rPr lang="ne-NP" sz="26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उच्च तथा जिल्ला अदालतमा फरक मुद्दा व्यवस्थापन पद्धतिको प्रभावकारी कार्यान्वयन गर्नु।</a:t>
            </a:r>
          </a:p>
          <a:p>
            <a:pPr lvl="1" algn="just">
              <a:lnSpc>
                <a:spcPct val="107000"/>
              </a:lnSpc>
              <a:spcBef>
                <a:spcPts val="1200"/>
              </a:spcBef>
              <a:spcAft>
                <a:spcPts val="800"/>
              </a:spcAft>
              <a:buFont typeface="Wingdings" panose="05000000000000000000" pitchFamily="2" charset="2"/>
              <a:buChar char="v"/>
            </a:pPr>
            <a:r>
              <a:rPr lang="ne-NP" sz="20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 </a:t>
            </a:r>
            <a:r>
              <a:rPr lang="ne-NP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विभिन्न मार्ग समुहमा मुद्दाहरू रहने आधार लगायत फरक मुद्दा व्यवस्थापन पद्धतिको प्रभावकारी कार्यान्वयनका लागि  आवश्यक अन्य बिषयहरूमा जिल्ला अदालत नियमावली, उच्च अदालत </a:t>
            </a:r>
            <a:r>
              <a:rPr lang="ne-NP" dirty="0">
                <a:effectLst/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नियमावली र फरक मुद्दा ब्यबस्थापन सम्बन्धी  दिग्दर्शन तथा सो सम्बन्धी सफ्टवेयर परिमार्जन </a:t>
            </a:r>
            <a:r>
              <a:rPr lang="ne-NP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गर्ने। 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Kalimati" panose="00000400000000000000" pitchFamily="2"/>
            </a:endParaRPr>
          </a:p>
          <a:p>
            <a:pPr lvl="1" algn="just">
              <a:lnSpc>
                <a:spcPct val="107000"/>
              </a:lnSpc>
              <a:spcBef>
                <a:spcPts val="1200"/>
              </a:spcBef>
              <a:spcAft>
                <a:spcPts val="800"/>
              </a:spcAft>
              <a:buFont typeface="Wingdings" panose="05000000000000000000" pitchFamily="2" charset="2"/>
              <a:buChar char="v"/>
            </a:pPr>
            <a:r>
              <a:rPr lang="ne-NP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फरक मुद्दा ब्यबस्थापन पद्धतिको कार्यान्वयनको लागि अदालतहरूलाई आवश्यक पर्ने कम्प्युटर, प्रिन्टर, स्क्यानर,पावर ब्याकअप ईन्टरनेट ब्याण्डबीथ लगायतका </a:t>
            </a:r>
            <a:r>
              <a:rPr lang="ne-NP" dirty="0">
                <a:effectLst/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पर्याप्त भौतिक सामग्री र जनशक्ति उपलब्ध </a:t>
            </a:r>
            <a:r>
              <a:rPr lang="ne-NP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गराउने। 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Kalimati" panose="00000400000000000000" pitchFamily="2"/>
            </a:endParaRPr>
          </a:p>
          <a:p>
            <a:pPr lvl="1" algn="just">
              <a:lnSpc>
                <a:spcPct val="107000"/>
              </a:lnSpc>
              <a:spcBef>
                <a:spcPts val="1200"/>
              </a:spcBef>
              <a:spcAft>
                <a:spcPts val="800"/>
              </a:spcAft>
              <a:buFont typeface="Wingdings" panose="05000000000000000000" pitchFamily="2" charset="2"/>
              <a:buChar char="v"/>
            </a:pPr>
            <a:r>
              <a:rPr lang="ne-NP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फरक मुद्दा व्यवस्थापन पद्धतिप्रतिको प्रतिबद्धता, स्वामित्वबोध तथा यससम्बन्धी अवधारणागत स्पष्टताका लागि </a:t>
            </a:r>
            <a:r>
              <a:rPr lang="ne-NP" dirty="0">
                <a:effectLst/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सरोकारवालाहरू समेतको सहभागितामा आवधिक रूपमा कार्यक्रम </a:t>
            </a:r>
            <a:r>
              <a:rPr lang="ne-NP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सञ्चालन गर्ने। 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Kalimati" panose="00000400000000000000" pitchFamily="2"/>
            </a:endParaRPr>
          </a:p>
          <a:p>
            <a:pPr lvl="1" algn="just">
              <a:lnSpc>
                <a:spcPct val="107000"/>
              </a:lnSpc>
              <a:spcBef>
                <a:spcPts val="1200"/>
              </a:spcBef>
              <a:spcAft>
                <a:spcPts val="800"/>
              </a:spcAft>
              <a:buFont typeface="Wingdings" panose="05000000000000000000" pitchFamily="2" charset="2"/>
              <a:buChar char="v"/>
            </a:pPr>
            <a:r>
              <a:rPr lang="ne-NP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फरक मुद्दा व्यवस्थापन</a:t>
            </a:r>
            <a:r>
              <a:rPr lang="ne-NP" dirty="0">
                <a:effectLst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ne-NP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पद्धति कार्यान्वयनको नेतृत्व, अनुगमन प्रणाली र जबाफदेहिताको लागि उच्च अदालतका रजिष्ट्रार, जिल्ला अदालतका स्रेष्तेदार र  सम्बन्धित अदालतमा यस सम्बन्धी कार्यको लागि तोकिएको </a:t>
            </a:r>
            <a:r>
              <a:rPr lang="ne-NP" dirty="0">
                <a:effectLst/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सुपरीबेक्षकसँग जिम्मेवारी सहितको कार्यसम्पादन सम्झौता</a:t>
            </a:r>
            <a:r>
              <a:rPr lang="ne-NP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 गर्ने। 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Kalimati" panose="00000400000000000000" pitchFamily="2"/>
            </a:endParaRPr>
          </a:p>
          <a:p>
            <a:pPr lvl="1" algn="just">
              <a:lnSpc>
                <a:spcPct val="107000"/>
              </a:lnSpc>
              <a:spcBef>
                <a:spcPts val="1200"/>
              </a:spcBef>
              <a:spcAft>
                <a:spcPts val="800"/>
              </a:spcAft>
              <a:buFont typeface="Wingdings" panose="05000000000000000000" pitchFamily="2" charset="2"/>
              <a:buChar char="v"/>
            </a:pPr>
            <a:r>
              <a:rPr lang="ne-NP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फरक मुद्दा ब्यबस्थापन पद्धतिको प्रभावकारी  कार्यान्वयनको लागि सम्बद्ध जनशक्तिको क्षमता अभिबृद्धि गर्न नियमित रूपमा </a:t>
            </a:r>
            <a:r>
              <a:rPr lang="ne-NP" dirty="0">
                <a:effectLst/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कार्यस्थलमा नै ब्याबहारिक र कार्यमुलक तालिम  </a:t>
            </a:r>
            <a:r>
              <a:rPr lang="ne-NP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सञ्चालन गर्ने।</a:t>
            </a:r>
            <a:endParaRPr lang="ne-NP" sz="28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Kalimati" panose="00000400000000000000" pitchFamily="2"/>
            </a:endParaRPr>
          </a:p>
          <a:p>
            <a:pPr marR="0" algn="just">
              <a:lnSpc>
                <a:spcPct val="107000"/>
              </a:lnSpc>
              <a:spcBef>
                <a:spcPts val="1200"/>
              </a:spcBef>
              <a:spcAft>
                <a:spcPts val="800"/>
              </a:spcAft>
              <a:buFont typeface="Wingdings" panose="05000000000000000000" pitchFamily="2" charset="2"/>
              <a:buChar char="v"/>
            </a:pPr>
            <a:endParaRPr lang="ne-NP" sz="2700" dirty="0"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lvl="1" algn="just">
              <a:lnSpc>
                <a:spcPct val="107000"/>
              </a:lnSpc>
              <a:spcBef>
                <a:spcPts val="1200"/>
              </a:spcBef>
              <a:spcAft>
                <a:spcPts val="800"/>
              </a:spcAft>
              <a:buFont typeface="Wingdings" panose="05000000000000000000" pitchFamily="2" charset="2"/>
              <a:buChar char="v"/>
            </a:pPr>
            <a:endParaRPr lang="ne-NP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Kalimati" panose="00000400000000000000" pitchFamily="2"/>
            </a:endParaRPr>
          </a:p>
          <a:p>
            <a:pPr marL="0" indent="0">
              <a:buNone/>
            </a:pPr>
            <a:endParaRPr lang="ne-NP" sz="24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Kalimati" panose="00000400000000000000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43799494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500" y="166255"/>
            <a:ext cx="11811000" cy="760020"/>
          </a:xfrm>
        </p:spPr>
        <p:txBody>
          <a:bodyPr>
            <a:normAutofit/>
          </a:bodyPr>
          <a:lstStyle/>
          <a:p>
            <a:pPr algn="ctr">
              <a:tabLst>
                <a:tab pos="5830888" algn="l"/>
              </a:tabLst>
            </a:pPr>
            <a:r>
              <a:rPr lang="ne-NP" sz="2800" b="1" dirty="0">
                <a:cs typeface="Kalimati" panose="00000400000000000000" pitchFamily="2"/>
              </a:rPr>
              <a:t>न्याय सम्पादन : मुख्य क्रियाकलापहरु</a:t>
            </a:r>
            <a:endParaRPr lang="en-US" sz="2800" b="1" dirty="0">
              <a:cs typeface="Kalimati" panose="00000400000000000000" pitchFamily="2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068779"/>
            <a:ext cx="12192000" cy="5789221"/>
          </a:xfrm>
        </p:spPr>
        <p:txBody>
          <a:bodyPr>
            <a:normAutofit fontScale="92500" lnSpcReduction="20000"/>
          </a:bodyPr>
          <a:lstStyle/>
          <a:p>
            <a:pPr marR="0" algn="just">
              <a:lnSpc>
                <a:spcPct val="107000"/>
              </a:lnSpc>
              <a:spcBef>
                <a:spcPts val="1200"/>
              </a:spcBef>
              <a:spcAft>
                <a:spcPts val="800"/>
              </a:spcAft>
              <a:buFont typeface="Wingdings" panose="05000000000000000000" pitchFamily="2" charset="2"/>
              <a:buChar char="v"/>
            </a:pPr>
            <a:r>
              <a:rPr lang="ne-NP" sz="26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उच्च तथा जिल्ला अदालतमा फरक मुद्दा व्यवस्थापन पद्धतिको प्रभावकारी कार्यान्वयन गर्नु।</a:t>
            </a:r>
          </a:p>
          <a:p>
            <a:pPr lvl="1" algn="just">
              <a:lnSpc>
                <a:spcPct val="107000"/>
              </a:lnSpc>
              <a:spcBef>
                <a:spcPts val="1200"/>
              </a:spcBef>
              <a:spcAft>
                <a:spcPts val="800"/>
              </a:spcAft>
              <a:buFont typeface="Wingdings" panose="05000000000000000000" pitchFamily="2" charset="2"/>
              <a:buChar char="v"/>
            </a:pPr>
            <a:r>
              <a:rPr lang="ne-NP" sz="20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 </a:t>
            </a:r>
            <a:r>
              <a:rPr lang="ne-NP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मुद्दामा म्याद तामेली, नापनक्सा, बिशेषज्ञको राय लगायतका प्रमाणको सँकलन र परीक्षण सम्बन्धी कार्यलाई मार्ग समुहको निर्धारित कार्यतालिका बमोजिम सम्पन्न गर्न सो सम्बन्धी </a:t>
            </a:r>
            <a:r>
              <a:rPr lang="ne-NP" dirty="0">
                <a:effectLst/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समन्वय</a:t>
            </a:r>
            <a:r>
              <a:rPr lang="ne-NP" dirty="0">
                <a:effectLst/>
                <a:highlight>
                  <a:srgbClr val="FFFF00"/>
                </a:highlight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ne-NP" dirty="0">
                <a:effectLst/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र अनुगमनको कार्यलाई प्रभावकारी </a:t>
            </a:r>
            <a:r>
              <a:rPr lang="ne-NP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बनाउने।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Kalimati" panose="00000400000000000000" pitchFamily="2"/>
            </a:endParaRPr>
          </a:p>
          <a:p>
            <a:pPr lvl="1" algn="just">
              <a:lnSpc>
                <a:spcPct val="107000"/>
              </a:lnSpc>
              <a:spcBef>
                <a:spcPts val="1200"/>
              </a:spcBef>
              <a:spcAft>
                <a:spcPts val="800"/>
              </a:spcAft>
              <a:buFont typeface="Wingdings" panose="05000000000000000000" pitchFamily="2" charset="2"/>
              <a:buChar char="v"/>
            </a:pPr>
            <a:r>
              <a:rPr lang="ne-NP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मुद्दामा मार्ग परिबर्तन गर्नुपर्ने अवस्था सिर्जना  भएमा तत्काल </a:t>
            </a:r>
            <a:r>
              <a:rPr lang="ne-NP" dirty="0">
                <a:effectLst/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मार्ग परिबर्तन </a:t>
            </a:r>
            <a:r>
              <a:rPr lang="ne-NP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गर्ने र सो बमोजिम भए नभएको अनुगमन गर्ने।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Kalimati" panose="00000400000000000000" pitchFamily="2"/>
            </a:endParaRPr>
          </a:p>
          <a:p>
            <a:pPr lvl="1" algn="just">
              <a:lnSpc>
                <a:spcPct val="107000"/>
              </a:lnSpc>
              <a:spcBef>
                <a:spcPts val="1200"/>
              </a:spcBef>
              <a:spcAft>
                <a:spcPts val="800"/>
              </a:spcAft>
              <a:buFont typeface="Wingdings" panose="05000000000000000000" pitchFamily="2" charset="2"/>
              <a:buChar char="v"/>
            </a:pPr>
            <a:r>
              <a:rPr lang="ne-NP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मुद्दाको मार्गसमूह अनुसारको </a:t>
            </a:r>
            <a:r>
              <a:rPr lang="ne-NP" dirty="0">
                <a:effectLst/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 कार्यतालिका र पक्षलाई उपलब्ध गराउने तारिख पर्चाबीच सामञ्‍जश्‍यता </a:t>
            </a:r>
            <a:r>
              <a:rPr lang="ne-NP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कायम गर्न तारिख पर्चामा नै कार्यतालिका समेत समावेश गर्ने गरी तारिख पर्चामा सुधार गर्ने।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Kalimati" panose="00000400000000000000" pitchFamily="2"/>
            </a:endParaRPr>
          </a:p>
          <a:p>
            <a:pPr lvl="1" algn="just">
              <a:lnSpc>
                <a:spcPct val="107000"/>
              </a:lnSpc>
              <a:spcBef>
                <a:spcPts val="1200"/>
              </a:spcBef>
              <a:spcAft>
                <a:spcPts val="800"/>
              </a:spcAft>
              <a:buFont typeface="Wingdings" panose="05000000000000000000" pitchFamily="2" charset="2"/>
              <a:buChar char="v"/>
            </a:pPr>
            <a:r>
              <a:rPr lang="ne-NP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फरक मुद्दा व्यवस्थापन पद्धति अनुसारको </a:t>
            </a:r>
            <a:r>
              <a:rPr lang="ne-NP" dirty="0">
                <a:effectLst/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निर्धारित प्रक्रिया पूरा गरी सफ्टवेयरमा इन्ट्रि गरेरमात्र मुद्दाका थप प्रक्रिया </a:t>
            </a:r>
            <a:r>
              <a:rPr lang="ne-NP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अगाडि बढाउन सकिने गरी सफ्टवेयरमा सुधार गरी प्रयोगमा ल्याउने।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Kalimati" panose="00000400000000000000" pitchFamily="2"/>
            </a:endParaRPr>
          </a:p>
          <a:p>
            <a:pPr lvl="1" algn="just">
              <a:lnSpc>
                <a:spcPct val="107000"/>
              </a:lnSpc>
              <a:spcBef>
                <a:spcPts val="1200"/>
              </a:spcBef>
              <a:spcAft>
                <a:spcPts val="800"/>
              </a:spcAft>
              <a:buFont typeface="Wingdings" panose="05000000000000000000" pitchFamily="2" charset="2"/>
              <a:buChar char="v"/>
            </a:pPr>
            <a:r>
              <a:rPr lang="ne-NP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फरक मुद्दा ब्यवस्थापन पद्धतिको कार्यान्वयनको अबस्था, देखा परेका समस्या र सुधारका उपायहरूको बारेमा </a:t>
            </a:r>
            <a:r>
              <a:rPr lang="ne-NP" dirty="0">
                <a:effectLst/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नियमित अध्ययन अनुसन्धान </a:t>
            </a:r>
            <a:r>
              <a:rPr lang="ne-NP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गर्ने।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Kalimati" panose="00000400000000000000" pitchFamily="2"/>
            </a:endParaRPr>
          </a:p>
          <a:p>
            <a:pPr lvl="1" algn="just">
              <a:lnSpc>
                <a:spcPct val="107000"/>
              </a:lnSpc>
              <a:spcBef>
                <a:spcPts val="1200"/>
              </a:spcBef>
              <a:spcAft>
                <a:spcPts val="800"/>
              </a:spcAft>
              <a:buFont typeface="Wingdings" panose="05000000000000000000" pitchFamily="2" charset="2"/>
              <a:buChar char="v"/>
            </a:pPr>
            <a:r>
              <a:rPr lang="ne-NP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फरक मुद्दा व्यवस्थापन पद्धतिको मार्ग समूह अनुसारको </a:t>
            </a:r>
            <a:r>
              <a:rPr lang="ne-NP" dirty="0">
                <a:effectLst/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कार्यविधि निर्माण </a:t>
            </a:r>
            <a:r>
              <a:rPr lang="ne-NP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गर्ने सम्बन्धमा अध्ययन गर्ने।</a:t>
            </a:r>
            <a:endParaRPr lang="ne-NP" sz="32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Kalimati" panose="00000400000000000000" pitchFamily="2"/>
            </a:endParaRPr>
          </a:p>
          <a:p>
            <a:pPr marL="0" indent="0">
              <a:buNone/>
            </a:pPr>
            <a:endParaRPr lang="ne-NP" sz="24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Kalimati" panose="00000400000000000000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88094149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500" y="166255"/>
            <a:ext cx="11811000" cy="760020"/>
          </a:xfrm>
        </p:spPr>
        <p:txBody>
          <a:bodyPr>
            <a:normAutofit/>
          </a:bodyPr>
          <a:lstStyle/>
          <a:p>
            <a:pPr algn="ctr">
              <a:tabLst>
                <a:tab pos="5830888" algn="l"/>
              </a:tabLst>
            </a:pPr>
            <a:r>
              <a:rPr lang="ne-NP" sz="2800" b="1" dirty="0">
                <a:cs typeface="Kalimati" panose="00000400000000000000" pitchFamily="2"/>
              </a:rPr>
              <a:t>न्याय सम्पादन : मुख्य क्रियाकलापहरु</a:t>
            </a:r>
            <a:endParaRPr lang="en-US" sz="2800" b="1" dirty="0">
              <a:cs typeface="Kalimati" panose="00000400000000000000" pitchFamily="2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068779"/>
            <a:ext cx="12192000" cy="5789221"/>
          </a:xfrm>
        </p:spPr>
        <p:txBody>
          <a:bodyPr>
            <a:normAutofit lnSpcReduction="10000"/>
          </a:bodyPr>
          <a:lstStyle/>
          <a:p>
            <a:pPr marR="0" algn="just">
              <a:lnSpc>
                <a:spcPct val="107000"/>
              </a:lnSpc>
              <a:spcBef>
                <a:spcPts val="1200"/>
              </a:spcBef>
              <a:spcAft>
                <a:spcPts val="800"/>
              </a:spcAft>
              <a:buFont typeface="Wingdings" panose="05000000000000000000" pitchFamily="2" charset="2"/>
              <a:buChar char="v"/>
            </a:pPr>
            <a:r>
              <a:rPr lang="ne-NP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न्याय सम्पादनको कार्यमा गुणस्तरीयता कायम गर्नु।</a:t>
            </a:r>
            <a:endParaRPr lang="en-US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Kalimati" panose="00000400000000000000" pitchFamily="2"/>
            </a:endParaRPr>
          </a:p>
          <a:p>
            <a:pPr lvl="1" algn="just">
              <a:lnSpc>
                <a:spcPct val="107000"/>
              </a:lnSpc>
              <a:spcBef>
                <a:spcPts val="1200"/>
              </a:spcBef>
              <a:spcAft>
                <a:spcPts val="800"/>
              </a:spcAft>
              <a:buFont typeface="Wingdings" panose="05000000000000000000" pitchFamily="2" charset="2"/>
              <a:buChar char="v"/>
            </a:pPr>
            <a:r>
              <a:rPr lang="ne-NP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अदालतका ईजलासहरूको कार्यवाताबरण अनुकुल बनाई गुणस्तरीय न्याय सम्पादन गर्न </a:t>
            </a:r>
            <a:r>
              <a:rPr lang="ne-NP" dirty="0">
                <a:effectLst/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ईजलासमा आवश्यक पर्ने कानून सम्बन्धी पुस्तक, नजीर सँग्रह, कम्प्युटर, ईन्टरनेट लगायतका स्रोत </a:t>
            </a:r>
            <a:r>
              <a:rPr lang="ne-NP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सामग्रीको पर्याप्त ब्यबस्था गर्ने। </a:t>
            </a:r>
            <a:endParaRPr lang="en-US" b="1" dirty="0">
              <a:latin typeface="Calibri" panose="020F0502020204030204" pitchFamily="34" charset="0"/>
              <a:ea typeface="Calibri" panose="020F0502020204030204" pitchFamily="34" charset="0"/>
              <a:cs typeface="Kalimati" panose="00000400000000000000" pitchFamily="2"/>
            </a:endParaRPr>
          </a:p>
          <a:p>
            <a:pPr lvl="1" algn="just">
              <a:lnSpc>
                <a:spcPct val="107000"/>
              </a:lnSpc>
              <a:spcBef>
                <a:spcPts val="1200"/>
              </a:spcBef>
              <a:spcAft>
                <a:spcPts val="800"/>
              </a:spcAft>
              <a:buFont typeface="Wingdings" panose="05000000000000000000" pitchFamily="2" charset="2"/>
              <a:buChar char="v"/>
            </a:pPr>
            <a:r>
              <a:rPr lang="ne-NP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गुणस्तरीय न्याय सम्पादनका लागि न्यायाधीशको बिशेषज्ञता र ब्यायबसायिक क्षमता अभिबृद्धि हुने गरी बिशेष कार्यक्रम सञ्चालन गर्ने।</a:t>
            </a:r>
            <a:endParaRPr lang="en-US" b="1" dirty="0">
              <a:latin typeface="Calibri" panose="020F0502020204030204" pitchFamily="34" charset="0"/>
              <a:ea typeface="Calibri" panose="020F0502020204030204" pitchFamily="34" charset="0"/>
              <a:cs typeface="Kalimati" panose="00000400000000000000" pitchFamily="2"/>
            </a:endParaRPr>
          </a:p>
          <a:p>
            <a:pPr lvl="1" algn="just">
              <a:lnSpc>
                <a:spcPct val="107000"/>
              </a:lnSpc>
              <a:spcBef>
                <a:spcPts val="1200"/>
              </a:spcBef>
              <a:spcAft>
                <a:spcPts val="800"/>
              </a:spcAft>
              <a:buFont typeface="Wingdings" panose="05000000000000000000" pitchFamily="2" charset="2"/>
              <a:buChar char="v"/>
            </a:pPr>
            <a:r>
              <a:rPr lang="ne-NP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न्यायसम्पादनको कार्यमा कार्यबिधिगत एकरूपता र गुणस्तरीयता कायम गर्न तथा अनुभवको आदान प्रदान गर्न </a:t>
            </a:r>
            <a:r>
              <a:rPr lang="ne-NP" dirty="0">
                <a:effectLst/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न्यायाधीशहरूका बीच आवधिक रूपमा आन्तरिक छलफल </a:t>
            </a:r>
            <a:r>
              <a:rPr lang="ne-NP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गर्ने।</a:t>
            </a:r>
            <a:endParaRPr lang="en-US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Kalimati" panose="00000400000000000000" pitchFamily="2"/>
            </a:endParaRPr>
          </a:p>
          <a:p>
            <a:pPr lvl="1" algn="just">
              <a:lnSpc>
                <a:spcPct val="107000"/>
              </a:lnSpc>
              <a:spcBef>
                <a:spcPts val="1200"/>
              </a:spcBef>
              <a:spcAft>
                <a:spcPts val="800"/>
              </a:spcAft>
              <a:buFont typeface="Wingdings" panose="05000000000000000000" pitchFamily="2" charset="2"/>
              <a:buChar char="v"/>
            </a:pPr>
            <a:r>
              <a:rPr lang="ne-NP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सर्वोच्च अदालतका महत्वपूर्ण फैसलाहरूको विषयगत प्रकाशन र </a:t>
            </a:r>
            <a:r>
              <a:rPr lang="ne-NP" dirty="0">
                <a:effectLst/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अग्रेजी भाषामा अनुवाद गरी वेवसाइटमा प्रविष्ट</a:t>
            </a:r>
            <a:r>
              <a:rPr lang="ne-NP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 गर्ने। </a:t>
            </a:r>
            <a:endParaRPr lang="en-US" b="1" dirty="0">
              <a:latin typeface="Calibri" panose="020F0502020204030204" pitchFamily="34" charset="0"/>
              <a:ea typeface="Calibri" panose="020F0502020204030204" pitchFamily="34" charset="0"/>
              <a:cs typeface="Kalimati" panose="00000400000000000000" pitchFamily="2"/>
            </a:endParaRPr>
          </a:p>
          <a:p>
            <a:pPr lvl="1" algn="just">
              <a:lnSpc>
                <a:spcPct val="107000"/>
              </a:lnSpc>
              <a:spcBef>
                <a:spcPts val="1200"/>
              </a:spcBef>
              <a:spcAft>
                <a:spcPts val="800"/>
              </a:spcAft>
              <a:buFont typeface="Wingdings" panose="05000000000000000000" pitchFamily="2" charset="2"/>
              <a:buChar char="v"/>
            </a:pPr>
            <a:r>
              <a:rPr lang="ne-NP" dirty="0">
                <a:effectLst/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सजाय निर्धारण सम्बन्धी समान्य मार्गदर्शनहरूको अवलम्बनको सुनिश्‍चितताको </a:t>
            </a:r>
            <a:r>
              <a:rPr lang="ne-NP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लागि हालको प्रयोगको अवस्था सम्बन्धमा अध्ययन गरी पुनरावलोकन गर्ने।</a:t>
            </a:r>
            <a:endParaRPr lang="en-US" sz="32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Kalimati" panose="00000400000000000000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3770674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500" y="166255"/>
            <a:ext cx="11811000" cy="760020"/>
          </a:xfrm>
        </p:spPr>
        <p:txBody>
          <a:bodyPr>
            <a:normAutofit/>
          </a:bodyPr>
          <a:lstStyle/>
          <a:p>
            <a:pPr algn="ctr">
              <a:tabLst>
                <a:tab pos="5830888" algn="l"/>
              </a:tabLst>
            </a:pPr>
            <a:r>
              <a:rPr lang="ne-NP" sz="2800" b="1" dirty="0">
                <a:cs typeface="Kalimati" panose="00000400000000000000" pitchFamily="2"/>
              </a:rPr>
              <a:t>न्याय सम्पादन : मुख्य क्रियाकलापहरु</a:t>
            </a:r>
            <a:endParaRPr lang="en-US" sz="2800" b="1" dirty="0">
              <a:cs typeface="Kalimati" panose="00000400000000000000" pitchFamily="2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807523"/>
            <a:ext cx="12192000" cy="6050478"/>
          </a:xfrm>
        </p:spPr>
        <p:txBody>
          <a:bodyPr>
            <a:normAutofit fontScale="92500"/>
          </a:bodyPr>
          <a:lstStyle/>
          <a:p>
            <a:pPr marR="0" algn="just">
              <a:lnSpc>
                <a:spcPct val="107000"/>
              </a:lnSpc>
              <a:spcBef>
                <a:spcPts val="1200"/>
              </a:spcBef>
              <a:spcAft>
                <a:spcPts val="800"/>
              </a:spcAft>
              <a:buFont typeface="Wingdings" panose="05000000000000000000" pitchFamily="2" charset="2"/>
              <a:buChar char="v"/>
            </a:pPr>
            <a:r>
              <a:rPr lang="ne-NP" sz="26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फैसला तयारीमा शीघ्रता ल्याउनु।</a:t>
            </a:r>
            <a:endParaRPr lang="en-US" sz="2600" b="1" dirty="0">
              <a:latin typeface="Calibri" panose="020F0502020204030204" pitchFamily="34" charset="0"/>
              <a:ea typeface="Calibri" panose="020F0502020204030204" pitchFamily="34" charset="0"/>
              <a:cs typeface="Kalimati" panose="00000400000000000000" pitchFamily="2"/>
            </a:endParaRPr>
          </a:p>
          <a:p>
            <a:pPr marL="344488" lvl="1" indent="-285750" algn="just">
              <a:lnSpc>
                <a:spcPct val="107000"/>
              </a:lnSpc>
              <a:spcBef>
                <a:spcPts val="1200"/>
              </a:spcBef>
              <a:spcAft>
                <a:spcPts val="800"/>
              </a:spcAft>
              <a:buFont typeface="Wingdings" panose="05000000000000000000" pitchFamily="2" charset="2"/>
              <a:buChar char="v"/>
            </a:pPr>
            <a:r>
              <a:rPr lang="ne-NP" sz="180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फैसला तयारीको कार्यमा संलग्न जनशक्तिको व्यवस्थापन</a:t>
            </a:r>
            <a:r>
              <a:rPr lang="en-US" sz="180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,</a:t>
            </a:r>
            <a:r>
              <a:rPr lang="ne-NP" sz="180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 परिचालन</a:t>
            </a:r>
            <a:r>
              <a:rPr lang="ne-NP" sz="1800" dirty="0">
                <a:ln>
                  <a:noFill/>
                </a:ln>
                <a:effectLst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ne-NP" sz="180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र आन्तरिक कार्यवातावरण सम्बन्धी मापदण्ड निर्माण गरी लागु गर्ने।</a:t>
            </a:r>
            <a:endParaRPr lang="en-US" sz="1800" dirty="0">
              <a:ln>
                <a:noFill/>
              </a:ln>
              <a:effectLst/>
              <a:latin typeface="Calibri" panose="020F0502020204030204" pitchFamily="34" charset="0"/>
              <a:ea typeface="Calibri" panose="020F0502020204030204" pitchFamily="34" charset="0"/>
              <a:cs typeface="Kalimati" panose="00000400000000000000" pitchFamily="2"/>
            </a:endParaRPr>
          </a:p>
          <a:p>
            <a:pPr lvl="1" algn="just">
              <a:lnSpc>
                <a:spcPct val="107000"/>
              </a:lnSpc>
              <a:spcBef>
                <a:spcPts val="1200"/>
              </a:spcBef>
              <a:spcAft>
                <a:spcPts val="800"/>
              </a:spcAft>
              <a:buFont typeface="Wingdings" panose="05000000000000000000" pitchFamily="2" charset="2"/>
              <a:buChar char="v"/>
            </a:pPr>
            <a:r>
              <a:rPr lang="ne-NP" sz="180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सर्वोच्च अदालत लगायत सवै तहका अदालतहरूमा फैसला लेखनको कार्यवोझ</a:t>
            </a:r>
            <a:r>
              <a:rPr lang="en-US" sz="180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,</a:t>
            </a:r>
            <a:r>
              <a:rPr lang="ne-NP" sz="180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 फैसला लेखनमा संलग्न  जनशक्ति तथा फैसला लेखनको लागि लाग्ने औषत समय समेतको </a:t>
            </a:r>
            <a:r>
              <a:rPr lang="ne-NP" sz="1800" dirty="0">
                <a:ln>
                  <a:noFill/>
                </a:ln>
                <a:effectLst/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आधारमा प्रतिव्यक्ति मासिक रूपमा फैसला लेखन गर्नुपर्ने न्यूनतम संख्या निर्धारण </a:t>
            </a:r>
            <a:r>
              <a:rPr lang="ne-NP" sz="180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गर्ने।</a:t>
            </a: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Kalimati" panose="00000400000000000000" pitchFamily="2"/>
            </a:endParaRPr>
          </a:p>
          <a:p>
            <a:pPr lvl="1" algn="just">
              <a:lnSpc>
                <a:spcPct val="107000"/>
              </a:lnSpc>
              <a:spcBef>
                <a:spcPts val="1200"/>
              </a:spcBef>
              <a:spcAft>
                <a:spcPts val="800"/>
              </a:spcAft>
              <a:buFont typeface="Wingdings" panose="05000000000000000000" pitchFamily="2" charset="2"/>
              <a:buChar char="v"/>
            </a:pPr>
            <a:r>
              <a:rPr lang="ne-NP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सर्वोच्च अदालतमा मासिक रूपमा फैसला लेखनका लागि निर्धारित </a:t>
            </a:r>
            <a:r>
              <a:rPr lang="ne-NP" sz="1800" dirty="0">
                <a:effectLst/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न्यूनतम सँख्याभन्दा बढी गुणस्तरीय फैसला तयार गर्ने कर्मचारीलाई प्रोत्साहित गर्ने</a:t>
            </a:r>
            <a:r>
              <a:rPr lang="ne-NP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 व्यवस्था मिलाउने। 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Kalimati" panose="00000400000000000000" pitchFamily="2"/>
            </a:endParaRPr>
          </a:p>
          <a:p>
            <a:pPr lvl="1" algn="just">
              <a:lnSpc>
                <a:spcPct val="107000"/>
              </a:lnSpc>
              <a:spcBef>
                <a:spcPts val="1200"/>
              </a:spcBef>
              <a:spcAft>
                <a:spcPts val="800"/>
              </a:spcAft>
              <a:buFont typeface="Wingdings" panose="05000000000000000000" pitchFamily="2" charset="2"/>
              <a:buChar char="v"/>
            </a:pPr>
            <a:r>
              <a:rPr lang="ne-NP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फैसला तथा आदेश लेखनमा गुणस्तरीयता कायम गर्न सो कार्यमा संलग्न जनशक्तिको क्षमता अभिबृद्धिको लागि </a:t>
            </a:r>
            <a:r>
              <a:rPr lang="ne-NP" sz="1800" dirty="0">
                <a:effectLst/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नियमित रूपमा व्यवहारिक र कार्यमूलक तालिम </a:t>
            </a:r>
            <a:r>
              <a:rPr lang="ne-NP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प्रदान गर्ने।</a:t>
            </a: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Kalimati" panose="00000400000000000000" pitchFamily="2"/>
            </a:endParaRPr>
          </a:p>
          <a:p>
            <a:pPr lvl="1" algn="just">
              <a:lnSpc>
                <a:spcPct val="107000"/>
              </a:lnSpc>
              <a:spcBef>
                <a:spcPts val="1200"/>
              </a:spcBef>
              <a:spcAft>
                <a:spcPts val="800"/>
              </a:spcAft>
              <a:buFont typeface="Wingdings" panose="05000000000000000000" pitchFamily="2" charset="2"/>
              <a:buChar char="v"/>
            </a:pPr>
            <a:r>
              <a:rPr lang="ne-NP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फैसला तयारीलाई अध्ययन अनुसन्धानमा आधारित बनाई गुणस्तरीय फैसला तयार गर्ने कार्यमा सहयोग पुर्‍याउन सर्वोच्च अदालतका </a:t>
            </a:r>
            <a:r>
              <a:rPr lang="ne-NP" sz="1800" dirty="0">
                <a:effectLst/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इजलाशहरूमा अनुसन्धान सहयोगी </a:t>
            </a:r>
            <a:r>
              <a:rPr lang="en-US" sz="1800" dirty="0">
                <a:effectLst/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(Research Assistant)</a:t>
            </a:r>
            <a:r>
              <a:rPr lang="ne-NP" sz="1800" dirty="0">
                <a:effectLst/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 को परिचालन सम्बन्धमा अध्ययन </a:t>
            </a:r>
            <a:r>
              <a:rPr lang="ne-NP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गरी उपयुक्त नीति अवलम्बन गर्ने। 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Kalimati" panose="00000400000000000000" pitchFamily="2"/>
            </a:endParaRPr>
          </a:p>
          <a:p>
            <a:pPr lvl="1" algn="just">
              <a:lnSpc>
                <a:spcPct val="107000"/>
              </a:lnSpc>
              <a:spcBef>
                <a:spcPts val="1200"/>
              </a:spcBef>
              <a:spcAft>
                <a:spcPts val="800"/>
              </a:spcAft>
              <a:buFont typeface="Wingdings" panose="05000000000000000000" pitchFamily="2" charset="2"/>
              <a:buChar char="v"/>
            </a:pPr>
            <a:r>
              <a:rPr lang="ne-NP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सर्वोच्च अदालतमा फैसला लेखनको कार्यमा संलग्न जनशक्तिहरूको परिचालन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,</a:t>
            </a:r>
            <a:r>
              <a:rPr lang="ne-NP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 नियमित समन्वय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,</a:t>
            </a:r>
            <a:r>
              <a:rPr lang="ne-NP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 सहजीकरण र निर्देशनका लागि </a:t>
            </a:r>
            <a:r>
              <a:rPr lang="ne-NP" sz="1800" dirty="0">
                <a:effectLst/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न्यायाधीश र सम्बन्धित कर्मचारीहरूबीच आवधिक बैठकहरू </a:t>
            </a:r>
            <a:r>
              <a:rPr lang="ne-NP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गर्ने। 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Kalimati" panose="00000400000000000000" pitchFamily="2"/>
            </a:endParaRPr>
          </a:p>
          <a:p>
            <a:pPr lvl="1" algn="just">
              <a:lnSpc>
                <a:spcPct val="107000"/>
              </a:lnSpc>
              <a:spcBef>
                <a:spcPts val="1200"/>
              </a:spcBef>
              <a:spcAft>
                <a:spcPts val="800"/>
              </a:spcAft>
              <a:buFont typeface="Wingdings" panose="05000000000000000000" pitchFamily="2" charset="2"/>
              <a:buChar char="v"/>
            </a:pPr>
            <a:r>
              <a:rPr lang="ne-NP" sz="180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योजना लागु हुँदा बाँकी रहेका फैसला</a:t>
            </a:r>
            <a:r>
              <a:rPr lang="en-US" sz="180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/</a:t>
            </a:r>
            <a:r>
              <a:rPr lang="ne-NP" sz="180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आदेशको तयारी निर्धारित अवधिमा सम्पन्न गर्न इजलास अधिकृतलाई थप </a:t>
            </a:r>
            <a:r>
              <a:rPr lang="ne-NP" sz="1800" dirty="0">
                <a:ln>
                  <a:noFill/>
                </a:ln>
                <a:effectLst/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प्रोत्साहन उपलब्ध गराई अतिरिक्त समय काम लगाउने </a:t>
            </a:r>
            <a:r>
              <a:rPr lang="ne-NP" sz="180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लगायत सो सम्बन्धी विशेष कार्यक्रम बनाई कार्यान्वयन गर्ने। 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Kalimati" panose="00000400000000000000" pitchFamily="2"/>
            </a:endParaRPr>
          </a:p>
          <a:p>
            <a:pPr lvl="1" algn="just">
              <a:lnSpc>
                <a:spcPct val="107000"/>
              </a:lnSpc>
              <a:spcBef>
                <a:spcPts val="1200"/>
              </a:spcBef>
              <a:spcAft>
                <a:spcPts val="800"/>
              </a:spcAft>
              <a:buFont typeface="Wingdings" panose="05000000000000000000" pitchFamily="2" charset="2"/>
              <a:buChar char="v"/>
            </a:pPr>
            <a:endParaRPr lang="en-US" sz="28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Kalimati" panose="00000400000000000000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413015757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500" y="166255"/>
            <a:ext cx="11811000" cy="760020"/>
          </a:xfrm>
        </p:spPr>
        <p:txBody>
          <a:bodyPr>
            <a:normAutofit/>
          </a:bodyPr>
          <a:lstStyle/>
          <a:p>
            <a:pPr algn="ctr">
              <a:tabLst>
                <a:tab pos="5830888" algn="l"/>
              </a:tabLst>
            </a:pPr>
            <a:r>
              <a:rPr lang="ne-NP" sz="2800" b="1" dirty="0">
                <a:cs typeface="Kalimati" panose="00000400000000000000" pitchFamily="2"/>
              </a:rPr>
              <a:t>न्याय सम्पादन : मुख्य क्रियाकलापहरु</a:t>
            </a:r>
            <a:endParaRPr lang="en-US" sz="2800" b="1" dirty="0">
              <a:cs typeface="Kalimati" panose="00000400000000000000" pitchFamily="2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807523"/>
            <a:ext cx="12192000" cy="6050478"/>
          </a:xfrm>
        </p:spPr>
        <p:txBody>
          <a:bodyPr>
            <a:normAutofit/>
          </a:bodyPr>
          <a:lstStyle/>
          <a:p>
            <a:pPr marR="0" algn="just">
              <a:lnSpc>
                <a:spcPct val="107000"/>
              </a:lnSpc>
              <a:spcBef>
                <a:spcPts val="1200"/>
              </a:spcBef>
              <a:spcAft>
                <a:spcPts val="800"/>
              </a:spcAft>
              <a:buFont typeface="Wingdings" panose="05000000000000000000" pitchFamily="2" charset="2"/>
              <a:buChar char="v"/>
            </a:pPr>
            <a:r>
              <a:rPr lang="ne-NP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विवाद समाधानका लागि मेलमिलाप पद्धतिलाई सुदृढ बनाउनु।</a:t>
            </a:r>
            <a:endParaRPr lang="en-US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Kalimati" panose="00000400000000000000" pitchFamily="2"/>
            </a:endParaRPr>
          </a:p>
          <a:p>
            <a:pPr lvl="1" algn="just">
              <a:lnSpc>
                <a:spcPct val="107000"/>
              </a:lnSpc>
              <a:spcBef>
                <a:spcPts val="1200"/>
              </a:spcBef>
              <a:spcAft>
                <a:spcPts val="800"/>
              </a:spcAft>
              <a:buFont typeface="Wingdings" panose="05000000000000000000" pitchFamily="2" charset="2"/>
              <a:buChar char="v"/>
            </a:pPr>
            <a:r>
              <a:rPr lang="ne-NP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अदालतबाट हुने मेलमिलापको हालसम्मको अभ्यास र अनुभवको आधारमा यस पद्धतिलाई थप प्रभावकारी बनाउन मुद्दा दर्ता हुनुपूर्व नै मेलमिलापको प्रक्रियामा पठाउने लगायत सो सम्बन्धी अन्य </a:t>
            </a:r>
            <a:r>
              <a:rPr lang="ne-NP" dirty="0">
                <a:ln>
                  <a:noFill/>
                </a:ln>
                <a:effectLst/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प्रक्रिया र ढाँचामा गर्नुपर्ने परिबर्तन सम्बन्धमा अध्ययन </a:t>
            </a:r>
            <a:r>
              <a:rPr lang="ne-NP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गर्ने।</a:t>
            </a:r>
            <a:endParaRPr lang="en-US" b="1" dirty="0">
              <a:ln>
                <a:noFill/>
              </a:ln>
              <a:latin typeface="Calibri" panose="020F0502020204030204" pitchFamily="34" charset="0"/>
              <a:ea typeface="Calibri" panose="020F0502020204030204" pitchFamily="34" charset="0"/>
              <a:cs typeface="Kalimati" panose="00000400000000000000" pitchFamily="2"/>
            </a:endParaRPr>
          </a:p>
          <a:p>
            <a:pPr lvl="1" algn="just">
              <a:lnSpc>
                <a:spcPct val="107000"/>
              </a:lnSpc>
              <a:spcBef>
                <a:spcPts val="1200"/>
              </a:spcBef>
              <a:spcAft>
                <a:spcPts val="800"/>
              </a:spcAft>
              <a:buFont typeface="Wingdings" panose="05000000000000000000" pitchFamily="2" charset="2"/>
              <a:buChar char="v"/>
            </a:pPr>
            <a:r>
              <a:rPr lang="ne-NP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मेलमिलाप पद्धतिलाई प्रोत्साहित गर्न यस पद्धतिको उद्देश्य र फाईदाहरूको बारेमा अदालतहरूमा न्यायाधीश</a:t>
            </a:r>
            <a:r>
              <a:rPr lang="en-US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, </a:t>
            </a:r>
            <a:r>
              <a:rPr lang="ne-NP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कर्मचारी तथा मेलमिलापकर्ताहरूमार्फत् आवधिक रूपमा मुद्दाका पक्षहरूलाई परामर्श (काउन्सिलिङ) दिने।</a:t>
            </a:r>
            <a:r>
              <a:rPr lang="ne-NP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 </a:t>
            </a:r>
            <a:endParaRPr lang="en-US" b="1" dirty="0">
              <a:latin typeface="Calibri" panose="020F0502020204030204" pitchFamily="34" charset="0"/>
              <a:ea typeface="Calibri" panose="020F0502020204030204" pitchFamily="34" charset="0"/>
              <a:cs typeface="Kalimati" panose="00000400000000000000" pitchFamily="2"/>
            </a:endParaRPr>
          </a:p>
          <a:p>
            <a:pPr lvl="1" algn="just">
              <a:lnSpc>
                <a:spcPct val="107000"/>
              </a:lnSpc>
              <a:spcBef>
                <a:spcPts val="1200"/>
              </a:spcBef>
              <a:spcAft>
                <a:spcPts val="800"/>
              </a:spcAft>
              <a:buFont typeface="Wingdings" panose="05000000000000000000" pitchFamily="2" charset="2"/>
              <a:buChar char="v"/>
            </a:pPr>
            <a:r>
              <a:rPr lang="ne-NP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मेलमिलापकर्ताको </a:t>
            </a:r>
            <a:r>
              <a:rPr lang="ne-NP" dirty="0">
                <a:ln>
                  <a:noFill/>
                </a:ln>
                <a:effectLst/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बिशेषज्ञता र ब्याबसायिक विकाससम्बन्धी नीति </a:t>
            </a:r>
            <a:r>
              <a:rPr lang="ne-NP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बनाई कार्यान्वयन गर्ने।</a:t>
            </a:r>
            <a:endParaRPr lang="en-US" b="1" dirty="0">
              <a:ln>
                <a:noFill/>
              </a:ln>
              <a:effectLst/>
              <a:latin typeface="Calibri" panose="020F0502020204030204" pitchFamily="34" charset="0"/>
              <a:ea typeface="Calibri" panose="020F0502020204030204" pitchFamily="34" charset="0"/>
              <a:cs typeface="Kalimati" panose="00000400000000000000" pitchFamily="2"/>
            </a:endParaRPr>
          </a:p>
          <a:p>
            <a:pPr lvl="1" algn="just">
              <a:lnSpc>
                <a:spcPct val="107000"/>
              </a:lnSpc>
              <a:spcBef>
                <a:spcPts val="1200"/>
              </a:spcBef>
              <a:spcAft>
                <a:spcPts val="800"/>
              </a:spcAft>
              <a:buFont typeface="Wingdings" panose="05000000000000000000" pitchFamily="2" charset="2"/>
              <a:buChar char="v"/>
            </a:pPr>
            <a:r>
              <a:rPr lang="ne-NP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मेलमिलापको सफल सँख्याको आधारमा </a:t>
            </a:r>
            <a:r>
              <a:rPr lang="ne-NP" dirty="0">
                <a:ln>
                  <a:noFill/>
                </a:ln>
                <a:effectLst/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मेलमिलापकर्तालाई  वार्षिक रूपमा सम्मान </a:t>
            </a:r>
            <a:r>
              <a:rPr lang="ne-NP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गर्ने। </a:t>
            </a:r>
            <a:endParaRPr lang="en-US" b="1" dirty="0">
              <a:ln>
                <a:noFill/>
              </a:ln>
              <a:effectLst/>
              <a:latin typeface="Calibri" panose="020F0502020204030204" pitchFamily="34" charset="0"/>
              <a:ea typeface="Calibri" panose="020F0502020204030204" pitchFamily="34" charset="0"/>
              <a:cs typeface="Kalimati" panose="00000400000000000000" pitchFamily="2"/>
            </a:endParaRPr>
          </a:p>
          <a:p>
            <a:pPr marL="457200" lvl="1" indent="0" algn="just">
              <a:lnSpc>
                <a:spcPct val="107000"/>
              </a:lnSpc>
              <a:spcBef>
                <a:spcPts val="1200"/>
              </a:spcBef>
              <a:spcAft>
                <a:spcPts val="800"/>
              </a:spcAft>
              <a:buNone/>
            </a:pPr>
            <a:endParaRPr lang="en-US" sz="28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Kalimati" panose="00000400000000000000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325453348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500" y="166255"/>
            <a:ext cx="11811000" cy="760020"/>
          </a:xfrm>
        </p:spPr>
        <p:txBody>
          <a:bodyPr>
            <a:normAutofit/>
          </a:bodyPr>
          <a:lstStyle/>
          <a:p>
            <a:pPr algn="ctr">
              <a:tabLst>
                <a:tab pos="5830888" algn="l"/>
              </a:tabLst>
            </a:pPr>
            <a:r>
              <a:rPr lang="ne-NP" sz="2800" b="1" dirty="0">
                <a:cs typeface="Kalimati" panose="00000400000000000000" pitchFamily="2"/>
              </a:rPr>
              <a:t>न्याय सम्पादन : मुख्य क्रियाकलापहरु</a:t>
            </a:r>
            <a:endParaRPr lang="en-US" sz="2800" b="1" dirty="0">
              <a:cs typeface="Kalimati" panose="00000400000000000000" pitchFamily="2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807523"/>
            <a:ext cx="12192000" cy="6050478"/>
          </a:xfrm>
        </p:spPr>
        <p:txBody>
          <a:bodyPr>
            <a:normAutofit fontScale="92500"/>
          </a:bodyPr>
          <a:lstStyle/>
          <a:p>
            <a:pPr marR="0" algn="just">
              <a:lnSpc>
                <a:spcPct val="107000"/>
              </a:lnSpc>
              <a:spcBef>
                <a:spcPts val="1200"/>
              </a:spcBef>
              <a:spcAft>
                <a:spcPts val="800"/>
              </a:spcAft>
              <a:buFont typeface="Wingdings" panose="05000000000000000000" pitchFamily="2" charset="2"/>
              <a:buChar char="v"/>
            </a:pPr>
            <a:r>
              <a:rPr lang="ne-NP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फैसला कार्यान्वयनको कार्यलाई प्रभावकारी बनाउनु।</a:t>
            </a:r>
            <a:endParaRPr lang="en-US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Kalimati" panose="00000400000000000000" pitchFamily="2"/>
            </a:endParaRPr>
          </a:p>
          <a:p>
            <a:pPr lvl="1" algn="just">
              <a:lnSpc>
                <a:spcPct val="107000"/>
              </a:lnSpc>
              <a:spcBef>
                <a:spcPts val="1200"/>
              </a:spcBef>
              <a:spcAft>
                <a:spcPts val="800"/>
              </a:spcAft>
              <a:buFont typeface="Wingdings" panose="05000000000000000000" pitchFamily="2" charset="2"/>
              <a:buChar char="v"/>
            </a:pPr>
            <a:r>
              <a:rPr lang="ne-NP" sz="2200" dirty="0">
                <a:effectLst/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कैद</a:t>
            </a:r>
            <a:r>
              <a:rPr lang="en-US" sz="2200" dirty="0">
                <a:effectLst/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, </a:t>
            </a:r>
            <a:r>
              <a:rPr lang="ne-NP" sz="2200" dirty="0">
                <a:effectLst/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जरिवाना र सरकारी विगो असुलीको जिम्मेवारी  </a:t>
            </a:r>
            <a:r>
              <a:rPr lang="ne-NP" sz="2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सङ्‍घीय/प्रदेश/स्थानिय सरकारलाई प्रदान गर्न विद्यमान कानूनमा गर्नुपर्ने परिमार्जन समेतको लागि सम्बन्धित निकायमा समन्वय र पहल गर्ने।</a:t>
            </a:r>
            <a:endParaRPr lang="en-US" sz="2200" b="1" dirty="0">
              <a:latin typeface="Calibri" panose="020F0502020204030204" pitchFamily="34" charset="0"/>
              <a:ea typeface="Calibri" panose="020F0502020204030204" pitchFamily="34" charset="0"/>
              <a:cs typeface="Kalimati" panose="00000400000000000000" pitchFamily="2"/>
            </a:endParaRPr>
          </a:p>
          <a:p>
            <a:pPr lvl="1" algn="just">
              <a:lnSpc>
                <a:spcPct val="107000"/>
              </a:lnSpc>
              <a:spcBef>
                <a:spcPts val="1200"/>
              </a:spcBef>
              <a:spcAft>
                <a:spcPts val="800"/>
              </a:spcAft>
              <a:buFont typeface="Wingdings" panose="05000000000000000000" pitchFamily="2" charset="2"/>
              <a:buChar char="v"/>
            </a:pPr>
            <a:r>
              <a:rPr lang="ne-NP" sz="2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फैसला कार्यान्वयन सम्बन्धी बक्यौता लगत (कैद, जरिबाना निजी तथा सरकारी बिगो, क्षतिपूर्ति) सम्बन्धित मिसिलका आधारमा </a:t>
            </a:r>
            <a:r>
              <a:rPr lang="ne-NP" sz="2200" dirty="0">
                <a:effectLst/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अध्याबधिक गर्ने र फैसला कार्यान्वयन सम्बन्धी एकिकृत सफ्टवेयरमा प्रबिष्ट </a:t>
            </a:r>
            <a:r>
              <a:rPr lang="ne-NP" sz="2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गर्ने। </a:t>
            </a:r>
            <a:endParaRPr lang="en-US" sz="22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Kalimati" panose="00000400000000000000" pitchFamily="2"/>
            </a:endParaRPr>
          </a:p>
          <a:p>
            <a:pPr lvl="1" algn="just">
              <a:lnSpc>
                <a:spcPct val="107000"/>
              </a:lnSpc>
              <a:spcBef>
                <a:spcPts val="1200"/>
              </a:spcBef>
              <a:spcAft>
                <a:spcPts val="800"/>
              </a:spcAft>
              <a:buFont typeface="Wingdings" panose="05000000000000000000" pitchFamily="2" charset="2"/>
              <a:buChar char="v"/>
            </a:pPr>
            <a:r>
              <a:rPr lang="ne-NP" sz="2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मुलुकी फौजदारी कार्यबिधि संहिता</a:t>
            </a:r>
            <a:r>
              <a:rPr lang="en-US" sz="2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,</a:t>
            </a:r>
            <a:r>
              <a:rPr lang="ne-NP" sz="2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 २०७४ को दफा १५३ बमोजिम  </a:t>
            </a:r>
            <a:r>
              <a:rPr lang="ne-NP" sz="2200" dirty="0">
                <a:effectLst/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स्थगित भएको फैसला कार्यान्वयन सम्बन्धी विवरण लगत किताव र सफ्टवेयरमा जनाई छुट्टै प्रतिवेदन </a:t>
            </a:r>
            <a:r>
              <a:rPr lang="ne-NP" sz="2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गर्ने।</a:t>
            </a:r>
            <a:endParaRPr lang="en-US" sz="2200" b="1" dirty="0">
              <a:latin typeface="Calibri" panose="020F0502020204030204" pitchFamily="34" charset="0"/>
              <a:ea typeface="Calibri" panose="020F0502020204030204" pitchFamily="34" charset="0"/>
              <a:cs typeface="Kalimati" panose="00000400000000000000" pitchFamily="2"/>
            </a:endParaRPr>
          </a:p>
          <a:p>
            <a:pPr lvl="1" algn="just">
              <a:lnSpc>
                <a:spcPct val="107000"/>
              </a:lnSpc>
              <a:spcBef>
                <a:spcPts val="1200"/>
              </a:spcBef>
              <a:spcAft>
                <a:spcPts val="800"/>
              </a:spcAft>
              <a:buFont typeface="Wingdings" panose="05000000000000000000" pitchFamily="2" charset="2"/>
              <a:buChar char="v"/>
            </a:pPr>
            <a:r>
              <a:rPr lang="ne-NP" sz="2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फैसला कार्यान्वयन सम्बन्धी कैद, जरिबाना, सरकारी बिगोको </a:t>
            </a:r>
            <a:r>
              <a:rPr lang="ne-NP" sz="2200" dirty="0">
                <a:effectLst/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लगत बढी भएका अदालतहरूमा दण्ड जरिबानाको रकम असुलीको कार्यलाई प्रभावकारी बनाउन प्रहरी</a:t>
            </a:r>
            <a:r>
              <a:rPr lang="en-US" sz="2200" dirty="0">
                <a:effectLst/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,</a:t>
            </a:r>
            <a:r>
              <a:rPr lang="ne-NP" sz="2200" dirty="0">
                <a:effectLst/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 अदालतका कर्मचारी र आबश्यकता अनुसार स्थानिय निकायका प्रतिनिधी सहितको फैसला कार्यान्वयन टोली </a:t>
            </a:r>
            <a:r>
              <a:rPr lang="ne-NP" sz="2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बनाई कैद, जरिबाना, सरकारी बिगो असूल गर्ने।</a:t>
            </a:r>
            <a:endParaRPr lang="en-US" sz="4300" b="1" dirty="0">
              <a:latin typeface="Calibri" panose="020F0502020204030204" pitchFamily="34" charset="0"/>
              <a:ea typeface="Calibri" panose="020F0502020204030204" pitchFamily="34" charset="0"/>
              <a:cs typeface="Kalimati" panose="00000400000000000000" pitchFamily="2"/>
            </a:endParaRPr>
          </a:p>
          <a:p>
            <a:pPr lvl="1" algn="just">
              <a:lnSpc>
                <a:spcPct val="107000"/>
              </a:lnSpc>
              <a:spcBef>
                <a:spcPts val="1200"/>
              </a:spcBef>
              <a:spcAft>
                <a:spcPts val="800"/>
              </a:spcAft>
              <a:buFont typeface="Wingdings" panose="05000000000000000000" pitchFamily="2" charset="2"/>
              <a:buChar char="v"/>
            </a:pPr>
            <a:r>
              <a:rPr lang="ne-NP" sz="2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फैसला कार्यान्बयनको बढी लगत भएका अदालतहरूमा फैसला कार्यान्वयन सम्बन्धी कार्यको </a:t>
            </a:r>
            <a:r>
              <a:rPr lang="ne-NP" sz="2200" dirty="0">
                <a:effectLst/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अनुभव र कार्यक्षमता समेतका आधारमा तहसिलदार</a:t>
            </a:r>
            <a:r>
              <a:rPr lang="en-US" sz="2200" dirty="0">
                <a:effectLst/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/</a:t>
            </a:r>
            <a:r>
              <a:rPr lang="ne-NP" sz="2200" dirty="0">
                <a:effectLst/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फैसला कार्यान्वयन अधिकारी </a:t>
            </a:r>
            <a:r>
              <a:rPr lang="ne-NP" sz="2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खटाउने तथा निजहरूसँग फैसला कार्यान्वयनको  लक्ष्य सहितको कार्यसम्पादन सम्झौता गर्ने। </a:t>
            </a:r>
            <a:endParaRPr lang="en-US" sz="2200" dirty="0">
              <a:effectLst/>
              <a:latin typeface="Calibri" panose="020F0502020204030204" pitchFamily="34" charset="0"/>
              <a:ea typeface="Calibri" panose="020F0502020204030204" pitchFamily="34" charset="0"/>
              <a:cs typeface="Kalimati" panose="00000400000000000000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81350540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500" y="166255"/>
            <a:ext cx="11811000" cy="760020"/>
          </a:xfrm>
        </p:spPr>
        <p:txBody>
          <a:bodyPr>
            <a:normAutofit/>
          </a:bodyPr>
          <a:lstStyle/>
          <a:p>
            <a:pPr algn="ctr">
              <a:tabLst>
                <a:tab pos="5830888" algn="l"/>
              </a:tabLst>
            </a:pPr>
            <a:r>
              <a:rPr lang="ne-NP" sz="2800" b="1" dirty="0">
                <a:cs typeface="Kalimati" panose="00000400000000000000" pitchFamily="2"/>
              </a:rPr>
              <a:t>न्याय सम्पादन : लक्ष्य, रणनीति, क्रियाकलापहरु र वजेट</a:t>
            </a:r>
            <a:endParaRPr lang="en-US" sz="2800" b="1" dirty="0">
              <a:cs typeface="Kalimati" panose="00000400000000000000" pitchFamily="2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807523"/>
            <a:ext cx="12192000" cy="6050478"/>
          </a:xfrm>
        </p:spPr>
        <p:txBody>
          <a:bodyPr>
            <a:normAutofit/>
          </a:bodyPr>
          <a:lstStyle/>
          <a:p>
            <a:pPr marL="0" marR="0" indent="0" algn="just">
              <a:lnSpc>
                <a:spcPct val="107000"/>
              </a:lnSpc>
              <a:spcBef>
                <a:spcPts val="1200"/>
              </a:spcBef>
              <a:spcAft>
                <a:spcPts val="800"/>
              </a:spcAft>
              <a:buNone/>
            </a:pPr>
            <a:endParaRPr lang="ne-NP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Kalimati" panose="00000400000000000000" pitchFamily="2"/>
            </a:endParaRPr>
          </a:p>
          <a:p>
            <a:pPr marR="0" algn="just">
              <a:lnSpc>
                <a:spcPct val="107000"/>
              </a:lnSpc>
              <a:spcBef>
                <a:spcPts val="1200"/>
              </a:spcBef>
              <a:spcAft>
                <a:spcPts val="800"/>
              </a:spcAft>
              <a:buFont typeface="Wingdings" panose="05000000000000000000" pitchFamily="2" charset="2"/>
              <a:buChar char="v"/>
            </a:pPr>
            <a:r>
              <a:rPr lang="ne-NP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न्याय सम्पादन सम्बन्धी प्राथमिकता अन्तर्गत </a:t>
            </a:r>
            <a:r>
              <a:rPr lang="ne-NP" b="1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९ वटा रणनिति </a:t>
            </a:r>
            <a:r>
              <a:rPr lang="ne-NP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तथा ती रणनितिहरु अन्तरगत जम्मा </a:t>
            </a:r>
            <a:r>
              <a:rPr lang="ne-NP" b="1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१३६ वटा क्रियाकलापहरु </a:t>
            </a:r>
            <a:r>
              <a:rPr lang="ne-NP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रहेका</a:t>
            </a:r>
          </a:p>
          <a:p>
            <a:pPr marR="0" algn="just">
              <a:lnSpc>
                <a:spcPct val="107000"/>
              </a:lnSpc>
              <a:spcBef>
                <a:spcPts val="1200"/>
              </a:spcBef>
              <a:spcAft>
                <a:spcPts val="800"/>
              </a:spcAft>
              <a:buFont typeface="Wingdings" panose="05000000000000000000" pitchFamily="2" charset="2"/>
              <a:buChar char="v"/>
            </a:pPr>
            <a:r>
              <a:rPr lang="ne-NP" b="1" dirty="0"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 यस प्राथमिकता अन्तर्गतका कार्यक्रमहरुको कार्यान्वयन गर्न योजना अवधिको लागि अनुमानित </a:t>
            </a:r>
            <a:r>
              <a:rPr lang="ne-NP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रु २९ करोड ९४ लाख ४० हजार प्रक्षेपण </a:t>
            </a:r>
            <a:r>
              <a:rPr lang="ne-NP" b="1" dirty="0"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गरिएको ।</a:t>
            </a:r>
            <a:endParaRPr lang="ne-NP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Kalimati" panose="00000400000000000000" pitchFamily="2"/>
            </a:endParaRPr>
          </a:p>
          <a:p>
            <a:pPr marR="0" algn="just">
              <a:lnSpc>
                <a:spcPct val="107000"/>
              </a:lnSpc>
              <a:spcBef>
                <a:spcPts val="1200"/>
              </a:spcBef>
              <a:spcAft>
                <a:spcPts val="800"/>
              </a:spcAft>
              <a:buFont typeface="Wingdings" panose="05000000000000000000" pitchFamily="2" charset="2"/>
              <a:buChar char="v"/>
            </a:pPr>
            <a:endParaRPr lang="en-US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Kalimati" panose="00000400000000000000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225365365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500" y="166255"/>
            <a:ext cx="11811000" cy="760020"/>
          </a:xfrm>
        </p:spPr>
        <p:txBody>
          <a:bodyPr>
            <a:normAutofit/>
          </a:bodyPr>
          <a:lstStyle/>
          <a:p>
            <a:pPr algn="ctr">
              <a:tabLst>
                <a:tab pos="5830888" algn="l"/>
              </a:tabLst>
            </a:pPr>
            <a:r>
              <a:rPr lang="ne-NP" sz="2800" b="1" dirty="0">
                <a:cs typeface="Kalimati" panose="00000400000000000000" pitchFamily="2"/>
              </a:rPr>
              <a:t>न्यायमा पहुँच : मुख्य क्रियाकलापहरु</a:t>
            </a:r>
            <a:endParaRPr lang="en-US" sz="2800" b="1" dirty="0">
              <a:cs typeface="Kalimati" panose="00000400000000000000" pitchFamily="2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807523"/>
            <a:ext cx="12192000" cy="6050478"/>
          </a:xfrm>
        </p:spPr>
        <p:txBody>
          <a:bodyPr>
            <a:normAutofit fontScale="92500"/>
          </a:bodyPr>
          <a:lstStyle/>
          <a:p>
            <a:pPr marR="0" algn="just">
              <a:lnSpc>
                <a:spcPct val="107000"/>
              </a:lnSpc>
              <a:spcBef>
                <a:spcPts val="1200"/>
              </a:spcBef>
              <a:spcAft>
                <a:spcPts val="800"/>
              </a:spcAft>
              <a:buFont typeface="Wingdings" panose="05000000000000000000" pitchFamily="2" charset="2"/>
              <a:buChar char="v"/>
            </a:pPr>
            <a:r>
              <a:rPr lang="ne-NP" sz="240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न्यायमा पहुँचको अवस्था </a:t>
            </a:r>
            <a:r>
              <a:rPr lang="ne-NP" sz="2400" dirty="0">
                <a:ln>
                  <a:noFill/>
                </a:ln>
                <a:effectLst/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मापनका सूचकहरू विकास </a:t>
            </a:r>
            <a:r>
              <a:rPr lang="ne-NP" sz="240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गरी निर्धारित सूचकहरूको आधारमा न्यायपालिकामा </a:t>
            </a:r>
            <a:r>
              <a:rPr lang="ne-NP" sz="2400" dirty="0">
                <a:ln>
                  <a:noFill/>
                </a:ln>
                <a:effectLst/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न्यायमा पहुँचको अवस्थाको बारेमा सर्भेक्षण </a:t>
            </a:r>
            <a:r>
              <a:rPr lang="ne-NP" sz="240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गर्ने।</a:t>
            </a:r>
          </a:p>
          <a:p>
            <a:pPr marR="0" algn="just">
              <a:lnSpc>
                <a:spcPct val="107000"/>
              </a:lnSpc>
              <a:spcBef>
                <a:spcPts val="1200"/>
              </a:spcBef>
              <a:spcAft>
                <a:spcPts val="800"/>
              </a:spcAft>
              <a:buFont typeface="Wingdings" panose="05000000000000000000" pitchFamily="2" charset="2"/>
              <a:buChar char="v"/>
            </a:pPr>
            <a:r>
              <a:rPr lang="ne-NP" sz="2400" dirty="0">
                <a:effectLst/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अदालत परिसरभित्र आवश्यक स्थानमा</a:t>
            </a:r>
            <a:r>
              <a:rPr lang="ne-NP" sz="2400" dirty="0">
                <a:effectLst/>
                <a:highlight>
                  <a:srgbClr val="FFFF00"/>
                </a:highlight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ne-NP" sz="2400" dirty="0">
                <a:effectLst/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डिजिटल डिस्प्ले </a:t>
            </a:r>
            <a:r>
              <a:rPr lang="ne-NP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जडान गरी अदालतका काम कारबाही एबम् सूचनाहरूको जानकारी दिने ब्यबस्था गर्ने।</a:t>
            </a:r>
          </a:p>
          <a:p>
            <a:pPr marR="0" algn="just">
              <a:lnSpc>
                <a:spcPct val="107000"/>
              </a:lnSpc>
              <a:spcBef>
                <a:spcPts val="1200"/>
              </a:spcBef>
              <a:spcAft>
                <a:spcPts val="800"/>
              </a:spcAft>
              <a:buFont typeface="Wingdings" panose="05000000000000000000" pitchFamily="2" charset="2"/>
              <a:buChar char="v"/>
            </a:pPr>
            <a:r>
              <a:rPr lang="ne-NP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सर्वोच्च अदालतमा प्रारम्भ भएको </a:t>
            </a:r>
            <a:r>
              <a:rPr lang="ne-NP" sz="2400" dirty="0">
                <a:effectLst/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मुद्दाहरूको अनलाईन दर्ता गर्ने कार्यलाई क्रमश सबै तहका अदालतहरू</a:t>
            </a:r>
            <a:r>
              <a:rPr lang="ne-NP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मा बिस्तार गर्दै जाने। </a:t>
            </a:r>
            <a:endParaRPr lang="ne-NP" sz="2400" dirty="0">
              <a:latin typeface="Calibri" panose="020F0502020204030204" pitchFamily="34" charset="0"/>
              <a:ea typeface="Calibri" panose="020F0502020204030204" pitchFamily="34" charset="0"/>
              <a:cs typeface="Kalimati" panose="00000400000000000000" pitchFamily="2"/>
            </a:endParaRPr>
          </a:p>
          <a:p>
            <a:pPr marR="0" algn="just">
              <a:lnSpc>
                <a:spcPct val="107000"/>
              </a:lnSpc>
              <a:spcBef>
                <a:spcPts val="1200"/>
              </a:spcBef>
              <a:spcAft>
                <a:spcPts val="800"/>
              </a:spcAft>
              <a:buFont typeface="Wingdings" panose="05000000000000000000" pitchFamily="2" charset="2"/>
              <a:buChar char="v"/>
            </a:pPr>
            <a:r>
              <a:rPr lang="ne-NP" sz="240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भिडियो कन्फरेन्सिङमार्फत बहस लगायत मुद्दाको कारवाही र सुनुवाइमा बिद्युतीय माध्यमको प्रयोग गर्ने कार्यलाई आबश्यक उपकरण जडान गरी </a:t>
            </a:r>
            <a:r>
              <a:rPr lang="ne-NP" sz="2400" dirty="0">
                <a:ln>
                  <a:noFill/>
                </a:ln>
                <a:effectLst/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भौगोलिक विकटतालाई प्राथमिकता दिई क्रमशः सबै अदालतमा  विस्तार गर्ने।</a:t>
            </a:r>
          </a:p>
          <a:p>
            <a:pPr marR="0" algn="just">
              <a:lnSpc>
                <a:spcPct val="107000"/>
              </a:lnSpc>
              <a:spcBef>
                <a:spcPts val="1200"/>
              </a:spcBef>
              <a:spcAft>
                <a:spcPts val="800"/>
              </a:spcAft>
              <a:buFont typeface="Wingdings" panose="05000000000000000000" pitchFamily="2" charset="2"/>
              <a:buChar char="v"/>
            </a:pPr>
            <a:r>
              <a:rPr lang="ne-NP" sz="2400" dirty="0">
                <a:effectLst/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विद्युतीय प्रति तयार भएका चालु तथा अभिलेखमा रहेका मिसिलका कागजातको प्रतिलिपी मुद्दाका पक्षले जुनसुकै अदालतबाट प्राप्त गर्न सक्ने प्रबन्ध </a:t>
            </a:r>
            <a:r>
              <a:rPr lang="ne-NP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मिलाउने। </a:t>
            </a:r>
            <a:endParaRPr lang="ne-NP" sz="2400" dirty="0">
              <a:latin typeface="Calibri" panose="020F0502020204030204" pitchFamily="34" charset="0"/>
              <a:ea typeface="Calibri" panose="020F0502020204030204" pitchFamily="34" charset="0"/>
              <a:cs typeface="Kalimati" panose="00000400000000000000" pitchFamily="2"/>
            </a:endParaRPr>
          </a:p>
          <a:p>
            <a:pPr marR="0" algn="just">
              <a:lnSpc>
                <a:spcPct val="107000"/>
              </a:lnSpc>
              <a:spcBef>
                <a:spcPts val="1200"/>
              </a:spcBef>
              <a:spcAft>
                <a:spcPts val="800"/>
              </a:spcAft>
              <a:buFont typeface="Wingdings" panose="05000000000000000000" pitchFamily="2" charset="2"/>
              <a:buChar char="v"/>
            </a:pPr>
            <a:r>
              <a:rPr lang="ne-NP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कानूनी सहायता लिन चाहने सेवाग्राहीहरूका  लागि सहयोग पुग्ने गरी </a:t>
            </a:r>
            <a:r>
              <a:rPr lang="ne-NP" sz="2400" dirty="0">
                <a:effectLst/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मोवाइल एप प्रयोगमा </a:t>
            </a:r>
            <a:r>
              <a:rPr lang="ne-NP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ल्याउने। </a:t>
            </a:r>
            <a:endParaRPr lang="ne-NP" sz="2400" b="1" dirty="0">
              <a:ln>
                <a:noFill/>
              </a:ln>
              <a:latin typeface="Calibri" panose="020F0502020204030204" pitchFamily="34" charset="0"/>
              <a:ea typeface="Calibri" panose="020F0502020204030204" pitchFamily="34" charset="0"/>
              <a:cs typeface="Kalimati" panose="00000400000000000000" pitchFamily="2"/>
            </a:endParaRPr>
          </a:p>
          <a:p>
            <a:pPr marR="0" algn="just">
              <a:lnSpc>
                <a:spcPct val="107000"/>
              </a:lnSpc>
              <a:spcBef>
                <a:spcPts val="1200"/>
              </a:spcBef>
              <a:spcAft>
                <a:spcPts val="800"/>
              </a:spcAft>
              <a:buFont typeface="Wingdings" panose="05000000000000000000" pitchFamily="2" charset="2"/>
              <a:buChar char="v"/>
            </a:pPr>
            <a:endParaRPr lang="ne-NP" sz="1800" dirty="0">
              <a:ln>
                <a:noFill/>
              </a:ln>
              <a:effectLst/>
              <a:latin typeface="Calibri" panose="020F0502020204030204" pitchFamily="34" charset="0"/>
              <a:ea typeface="Calibri" panose="020F0502020204030204" pitchFamily="34" charset="0"/>
              <a:cs typeface="Kalimati" panose="00000400000000000000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316213001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500" y="166255"/>
            <a:ext cx="11811000" cy="760020"/>
          </a:xfrm>
        </p:spPr>
        <p:txBody>
          <a:bodyPr>
            <a:normAutofit/>
          </a:bodyPr>
          <a:lstStyle/>
          <a:p>
            <a:pPr algn="ctr">
              <a:tabLst>
                <a:tab pos="5830888" algn="l"/>
              </a:tabLst>
            </a:pPr>
            <a:r>
              <a:rPr lang="ne-NP" sz="2800" b="1" dirty="0">
                <a:cs typeface="Kalimati" panose="00000400000000000000" pitchFamily="2"/>
              </a:rPr>
              <a:t>न्यायमा पहुँच : मुख्य क्रियाकलापहरु</a:t>
            </a:r>
            <a:endParaRPr lang="en-US" sz="2800" b="1" dirty="0">
              <a:cs typeface="Kalimati" panose="00000400000000000000" pitchFamily="2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807523"/>
            <a:ext cx="12192000" cy="6050478"/>
          </a:xfrm>
        </p:spPr>
        <p:txBody>
          <a:bodyPr>
            <a:normAutofit lnSpcReduction="10000"/>
          </a:bodyPr>
          <a:lstStyle/>
          <a:p>
            <a:pPr marR="0" algn="just">
              <a:lnSpc>
                <a:spcPct val="107000"/>
              </a:lnSpc>
              <a:spcBef>
                <a:spcPts val="1200"/>
              </a:spcBef>
              <a:spcAft>
                <a:spcPts val="800"/>
              </a:spcAft>
              <a:buFont typeface="Wingdings" panose="05000000000000000000" pitchFamily="2" charset="2"/>
              <a:buChar char="v"/>
            </a:pPr>
            <a:r>
              <a:rPr lang="ne-NP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अदालतका काम कारबाही, मुद्दाको कारबाही प्रक्रिया तथा सेवाग्राहीहरूलाई आवश्यक पर्ने अन्य </a:t>
            </a:r>
            <a:r>
              <a:rPr lang="ne-NP" sz="2400" dirty="0">
                <a:effectLst/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सूचना,जानकारीहरू उपलब्ध गराउन एप प्रयोग</a:t>
            </a:r>
            <a:r>
              <a:rPr lang="ne-NP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मा ल्याउने।</a:t>
            </a:r>
          </a:p>
          <a:p>
            <a:pPr marR="0" algn="just">
              <a:lnSpc>
                <a:spcPct val="107000"/>
              </a:lnSpc>
              <a:spcBef>
                <a:spcPts val="1200"/>
              </a:spcBef>
              <a:spcAft>
                <a:spcPts val="800"/>
              </a:spcAft>
              <a:buFont typeface="Wingdings" panose="05000000000000000000" pitchFamily="2" charset="2"/>
              <a:buChar char="v"/>
            </a:pPr>
            <a:r>
              <a:rPr lang="ne-NP" sz="240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प्रत्येक अदालतमा स्वेच्छिक निशुल्क कानूनी सेवा (प्रोवोनो) उपलब्ध गराउने कानून व्यवसायीलाई सेवा उपलब्ध गराएको सँख्याको आधारमा </a:t>
            </a:r>
            <a:r>
              <a:rPr lang="ne-NP" sz="2400" dirty="0">
                <a:ln>
                  <a:noFill/>
                </a:ln>
                <a:effectLst/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वार्षिक रूपमा सम्मान गर्ने प्रबन्ध मिलाउने। </a:t>
            </a:r>
          </a:p>
          <a:p>
            <a:pPr marR="0" algn="just">
              <a:lnSpc>
                <a:spcPct val="107000"/>
              </a:lnSpc>
              <a:spcBef>
                <a:spcPts val="1200"/>
              </a:spcBef>
              <a:spcAft>
                <a:spcPts val="800"/>
              </a:spcAft>
              <a:buFont typeface="Wingdings" panose="05000000000000000000" pitchFamily="2" charset="2"/>
              <a:buChar char="v"/>
            </a:pPr>
            <a:r>
              <a:rPr lang="ne-NP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अदालतबाट वैतनिक कानून व्यवसायीको सेवा र </a:t>
            </a:r>
            <a:r>
              <a:rPr lang="ne-NP" sz="240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स्वेच्छिक निशुल्क कानूनी सेवा (प्रोवोनो) उपलब्ध हुने वारेको जानकारी सर्वसाधारणलाई सम्प्रेषण गर्न आवश्यक सामग्री तयार गरी</a:t>
            </a:r>
            <a:r>
              <a:rPr lang="ne-NP" sz="2400" dirty="0">
                <a:ln>
                  <a:noFill/>
                </a:ln>
                <a:effectLst/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 विभिन्न माध्यमबाट प्रकाशन तथा प्रसारण </a:t>
            </a:r>
            <a:r>
              <a:rPr lang="ne-NP" sz="240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गर्ने।</a:t>
            </a:r>
            <a:endParaRPr lang="ne-NP" sz="2400" dirty="0">
              <a:latin typeface="Calibri" panose="020F0502020204030204" pitchFamily="34" charset="0"/>
              <a:ea typeface="Calibri" panose="020F0502020204030204" pitchFamily="34" charset="0"/>
              <a:cs typeface="Kalimati" panose="00000400000000000000" pitchFamily="2"/>
            </a:endParaRPr>
          </a:p>
          <a:p>
            <a:pPr marR="0" algn="just">
              <a:lnSpc>
                <a:spcPct val="107000"/>
              </a:lnSpc>
              <a:spcBef>
                <a:spcPts val="1200"/>
              </a:spcBef>
              <a:spcAft>
                <a:spcPts val="800"/>
              </a:spcAft>
              <a:buFont typeface="Wingdings" panose="05000000000000000000" pitchFamily="2" charset="2"/>
              <a:buChar char="v"/>
            </a:pPr>
            <a:r>
              <a:rPr lang="ne-NP" sz="240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अदालतमा बैतनिक कानून व्यवसायी, प्रोबोनो सेवा दिने कानून ब्यबसायी,  कानूनी सहायता समिति तथा</a:t>
            </a:r>
            <a:r>
              <a:rPr lang="ne-NP" sz="2400" dirty="0">
                <a:ln>
                  <a:noFill/>
                </a:ln>
                <a:effectLst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ne-NP" sz="240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अन्य सामाजिक संस्थाहरूमार्फत उपलब्ध गराईने  निशुल्क कानूनी सेवालाई थप प्रभावकारी </a:t>
            </a:r>
            <a:r>
              <a:rPr lang="ne-NP" sz="2400" dirty="0">
                <a:ln>
                  <a:noFill/>
                </a:ln>
                <a:effectLst/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बनाउन एकीकृत निशुल्क कानूनी सेवा सम्बन्धी निर्देशिका बनाई </a:t>
            </a:r>
            <a:r>
              <a:rPr lang="ne-NP" sz="240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लागु गर्ने।</a:t>
            </a:r>
            <a:endParaRPr lang="en-US" sz="2400" dirty="0">
              <a:ln>
                <a:noFill/>
              </a:ln>
              <a:effectLst/>
              <a:latin typeface="Calibri" panose="020F0502020204030204" pitchFamily="34" charset="0"/>
              <a:ea typeface="Calibri" panose="020F0502020204030204" pitchFamily="34" charset="0"/>
              <a:cs typeface="Kalimati" panose="00000400000000000000" pitchFamily="2"/>
            </a:endParaRPr>
          </a:p>
          <a:p>
            <a:pPr algn="just">
              <a:lnSpc>
                <a:spcPct val="107000"/>
              </a:lnSpc>
              <a:spcBef>
                <a:spcPts val="1200"/>
              </a:spcBef>
              <a:spcAft>
                <a:spcPts val="800"/>
              </a:spcAft>
              <a:buFont typeface="Wingdings" panose="05000000000000000000" pitchFamily="2" charset="2"/>
              <a:buChar char="v"/>
            </a:pPr>
            <a:r>
              <a:rPr lang="ne-NP" sz="2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पीडित राहत कोषको व्यवस्थापन र परिचालनलाई थप सुदृढ र प्रभावकारी बनाउन सो सम्बन्धी </a:t>
            </a:r>
            <a:r>
              <a:rPr lang="ne-NP" sz="2200" dirty="0">
                <a:effectLst/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कार्यबिधि निर्माण </a:t>
            </a:r>
            <a:r>
              <a:rPr lang="ne-NP" sz="2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गरी  लागु गर्ने।</a:t>
            </a:r>
          </a:p>
          <a:p>
            <a:pPr marR="0" algn="just">
              <a:lnSpc>
                <a:spcPct val="107000"/>
              </a:lnSpc>
              <a:spcBef>
                <a:spcPts val="1200"/>
              </a:spcBef>
              <a:spcAft>
                <a:spcPts val="800"/>
              </a:spcAft>
              <a:buFont typeface="Wingdings" panose="05000000000000000000" pitchFamily="2" charset="2"/>
              <a:buChar char="v"/>
            </a:pPr>
            <a:r>
              <a:rPr lang="ne-NP" sz="2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न्यायपालिकामा </a:t>
            </a:r>
            <a:r>
              <a:rPr lang="ne-NP" sz="2200" dirty="0">
                <a:effectLst/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लैङ्गिक समानता र सामाजिक समावेशीकरण सम्बन्धी रणनीति निर्माण गरी लागु </a:t>
            </a:r>
            <a:r>
              <a:rPr lang="ne-NP" sz="2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गर्ने।</a:t>
            </a:r>
            <a:endParaRPr lang="ne-NP" sz="2200" dirty="0">
              <a:latin typeface="Calibri" panose="020F0502020204030204" pitchFamily="34" charset="0"/>
              <a:ea typeface="Calibri" panose="020F0502020204030204" pitchFamily="34" charset="0"/>
              <a:cs typeface="Kalimati" panose="00000400000000000000" pitchFamily="2"/>
            </a:endParaRPr>
          </a:p>
          <a:p>
            <a:pPr marR="0" algn="just">
              <a:lnSpc>
                <a:spcPct val="107000"/>
              </a:lnSpc>
              <a:spcBef>
                <a:spcPts val="1200"/>
              </a:spcBef>
              <a:spcAft>
                <a:spcPts val="800"/>
              </a:spcAft>
              <a:buFont typeface="Wingdings" panose="05000000000000000000" pitchFamily="2" charset="2"/>
              <a:buChar char="v"/>
            </a:pPr>
            <a:endParaRPr lang="ne-NP" sz="1800" dirty="0">
              <a:ln>
                <a:noFill/>
              </a:ln>
              <a:effectLst/>
              <a:latin typeface="Calibri" panose="020F0502020204030204" pitchFamily="34" charset="0"/>
              <a:ea typeface="Calibri" panose="020F0502020204030204" pitchFamily="34" charset="0"/>
              <a:cs typeface="Kalimati" panose="00000400000000000000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365744125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500" y="166255"/>
            <a:ext cx="11811000" cy="760020"/>
          </a:xfrm>
        </p:spPr>
        <p:txBody>
          <a:bodyPr>
            <a:normAutofit/>
          </a:bodyPr>
          <a:lstStyle/>
          <a:p>
            <a:pPr algn="ctr">
              <a:tabLst>
                <a:tab pos="5830888" algn="l"/>
              </a:tabLst>
            </a:pPr>
            <a:r>
              <a:rPr lang="ne-NP" sz="2800" b="1" dirty="0">
                <a:cs typeface="Kalimati" panose="00000400000000000000" pitchFamily="2"/>
              </a:rPr>
              <a:t>न्यायमा पहुँच :</a:t>
            </a:r>
            <a:r>
              <a:rPr lang="en-US" sz="2800" b="1" dirty="0">
                <a:cs typeface="Kalimati" panose="00000400000000000000" pitchFamily="2"/>
              </a:rPr>
              <a:t> </a:t>
            </a:r>
            <a:r>
              <a:rPr lang="ne-NP" sz="2800" b="1" dirty="0">
                <a:cs typeface="Kalimati" panose="00000400000000000000" pitchFamily="2"/>
              </a:rPr>
              <a:t>लक्ष्य, रणनीति, क्रियाकलापहरु र वजेट</a:t>
            </a:r>
            <a:endParaRPr lang="en-US" sz="2800" b="1" dirty="0">
              <a:cs typeface="Kalimati" panose="00000400000000000000" pitchFamily="2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807523"/>
            <a:ext cx="12192000" cy="6050478"/>
          </a:xfrm>
        </p:spPr>
        <p:txBody>
          <a:bodyPr>
            <a:normAutofit/>
          </a:bodyPr>
          <a:lstStyle/>
          <a:p>
            <a:pPr marL="0" marR="0" indent="0" algn="just">
              <a:lnSpc>
                <a:spcPct val="107000"/>
              </a:lnSpc>
              <a:spcBef>
                <a:spcPts val="1200"/>
              </a:spcBef>
              <a:spcAft>
                <a:spcPts val="800"/>
              </a:spcAft>
              <a:buNone/>
            </a:pPr>
            <a:endParaRPr lang="ne-NP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Kalimati" panose="00000400000000000000" pitchFamily="2"/>
            </a:endParaRPr>
          </a:p>
          <a:p>
            <a:pPr marR="0" algn="just">
              <a:lnSpc>
                <a:spcPct val="107000"/>
              </a:lnSpc>
              <a:spcBef>
                <a:spcPts val="1200"/>
              </a:spcBef>
              <a:spcAft>
                <a:spcPts val="800"/>
              </a:spcAft>
              <a:buFont typeface="Wingdings" panose="05000000000000000000" pitchFamily="2" charset="2"/>
              <a:buChar char="v"/>
            </a:pPr>
            <a:r>
              <a:rPr lang="ne-NP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न्याय सम्पादन सम्बन्धी प्राथमिकता अन्तर्गत </a:t>
            </a:r>
            <a:r>
              <a:rPr lang="ne-NP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६</a:t>
            </a:r>
            <a:r>
              <a:rPr lang="ne-NP" b="1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 वटा रणनिति </a:t>
            </a:r>
            <a:r>
              <a:rPr lang="ne-NP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तथा ती रणनितिहरु अन्तरगत जम्मा </a:t>
            </a:r>
            <a:r>
              <a:rPr lang="ne-NP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५१</a:t>
            </a:r>
            <a:r>
              <a:rPr lang="ne-NP" b="1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 वटा क्रियाकलापहरु </a:t>
            </a:r>
            <a:r>
              <a:rPr lang="ne-NP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रहेका</a:t>
            </a:r>
          </a:p>
          <a:p>
            <a:pPr marR="0" algn="just">
              <a:lnSpc>
                <a:spcPct val="107000"/>
              </a:lnSpc>
              <a:spcBef>
                <a:spcPts val="1200"/>
              </a:spcBef>
              <a:spcAft>
                <a:spcPts val="800"/>
              </a:spcAft>
              <a:buFont typeface="Wingdings" panose="05000000000000000000" pitchFamily="2" charset="2"/>
              <a:buChar char="v"/>
            </a:pPr>
            <a:r>
              <a:rPr lang="ne-NP" b="1" dirty="0"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 यस प्राथमिकता अन्तर्गतका कार्यक्रमहरुको कार्यान्वयन गर्न योजना अवधिको लागि अनुमानित </a:t>
            </a:r>
            <a:r>
              <a:rPr lang="ne-NP" b="1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रु ९ करोड ९१ लाख ६५ </a:t>
            </a:r>
            <a:r>
              <a:rPr lang="ne-NP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हजार प्रक्षेपण </a:t>
            </a:r>
            <a:r>
              <a:rPr lang="ne-NP" b="1" dirty="0"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गरिएको ।</a:t>
            </a:r>
            <a:endParaRPr lang="ne-NP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Kalimati" panose="00000400000000000000" pitchFamily="2"/>
            </a:endParaRPr>
          </a:p>
          <a:p>
            <a:pPr marR="0" algn="just">
              <a:lnSpc>
                <a:spcPct val="107000"/>
              </a:lnSpc>
              <a:spcBef>
                <a:spcPts val="1200"/>
              </a:spcBef>
              <a:spcAft>
                <a:spcPts val="800"/>
              </a:spcAft>
              <a:buFont typeface="Wingdings" panose="05000000000000000000" pitchFamily="2" charset="2"/>
              <a:buChar char="v"/>
            </a:pPr>
            <a:endParaRPr lang="en-US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Kalimati" panose="00000400000000000000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334065649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500" y="166255"/>
            <a:ext cx="11811000" cy="760020"/>
          </a:xfrm>
        </p:spPr>
        <p:txBody>
          <a:bodyPr>
            <a:normAutofit/>
          </a:bodyPr>
          <a:lstStyle/>
          <a:p>
            <a:pPr algn="ctr">
              <a:tabLst>
                <a:tab pos="5830888" algn="l"/>
              </a:tabLst>
            </a:pPr>
            <a:r>
              <a:rPr lang="ne-NP" sz="2800" b="1" dirty="0">
                <a:cs typeface="Kalimati" panose="00000400000000000000" pitchFamily="2"/>
              </a:rPr>
              <a:t>सुशासन र जनआस्था: मुख्य क्रियाकलापहरु</a:t>
            </a:r>
            <a:endParaRPr lang="en-US" sz="2800" b="1" dirty="0">
              <a:cs typeface="Kalimati" panose="00000400000000000000" pitchFamily="2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26275"/>
            <a:ext cx="12192000" cy="5931726"/>
          </a:xfrm>
        </p:spPr>
        <p:txBody>
          <a:bodyPr>
            <a:normAutofit fontScale="92500" lnSpcReduction="20000"/>
          </a:bodyPr>
          <a:lstStyle/>
          <a:p>
            <a:pPr marR="0" algn="just">
              <a:lnSpc>
                <a:spcPct val="107000"/>
              </a:lnSpc>
              <a:spcBef>
                <a:spcPts val="1200"/>
              </a:spcBef>
              <a:spcAft>
                <a:spcPts val="800"/>
              </a:spcAft>
              <a:buFont typeface="Wingdings" panose="05000000000000000000" pitchFamily="2" charset="2"/>
              <a:buChar char="v"/>
            </a:pPr>
            <a:r>
              <a:rPr lang="ne-NP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न्यायाधीश तथा अदालतमा कार्यरत कर्मचारीको पारिश्रमिक लगायतको सुविधा अन्तर्राष्ट्रिय मापदण्ड अनुकूल उपयुक्त र सम्मानजनक रूपमा  निर्धारण </a:t>
            </a:r>
            <a:r>
              <a:rPr lang="ne-NP" dirty="0">
                <a:effectLst/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गर्न </a:t>
            </a:r>
            <a:r>
              <a:rPr lang="en-US" dirty="0">
                <a:effectLst/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Judicial Pay Commission</a:t>
            </a:r>
            <a:r>
              <a:rPr lang="ne-NP" dirty="0">
                <a:effectLst/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 गठन गर्ने र सोको प्रतिवेदन </a:t>
            </a:r>
            <a:r>
              <a:rPr lang="ne-NP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कार्यान्वयन गर्न सिफारिश गर्ने।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Kalimati" panose="00000400000000000000" pitchFamily="2"/>
            </a:endParaRPr>
          </a:p>
          <a:p>
            <a:pPr marR="0" algn="just">
              <a:lnSpc>
                <a:spcPct val="107000"/>
              </a:lnSpc>
              <a:spcBef>
                <a:spcPts val="1200"/>
              </a:spcBef>
              <a:spcAft>
                <a:spcPts val="800"/>
              </a:spcAft>
              <a:buFont typeface="Wingdings" panose="05000000000000000000" pitchFamily="2" charset="2"/>
              <a:buChar char="v"/>
            </a:pPr>
            <a:r>
              <a:rPr lang="ne-NP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अदालतमा कार्यरत कर्मचारीहरूबाट हुन सक्ने अनियमितता र प्राप्त गुनासो उपर न्यायप्रशासन ऐन २०७३ को दफा </a:t>
            </a:r>
            <a:r>
              <a:rPr lang="ne-NP" dirty="0">
                <a:effectLst/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२४ बमोजिम जाँचबुझ गर्ने कार्यलाई नियमित, ब्यबस्थित र प्रभावकारी </a:t>
            </a:r>
            <a:r>
              <a:rPr lang="ne-NP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बनाउन संयन्त्र र आन्तरिक कार्यबिधि बनाउने। 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Kalimati" panose="00000400000000000000" pitchFamily="2"/>
            </a:endParaRPr>
          </a:p>
          <a:p>
            <a:pPr marR="0" algn="just">
              <a:lnSpc>
                <a:spcPct val="107000"/>
              </a:lnSpc>
              <a:spcBef>
                <a:spcPts val="1200"/>
              </a:spcBef>
              <a:spcAft>
                <a:spcPts val="800"/>
              </a:spcAft>
              <a:buFont typeface="Wingdings" panose="05000000000000000000" pitchFamily="2" charset="2"/>
              <a:buChar char="v"/>
            </a:pPr>
            <a:r>
              <a:rPr lang="ne-NP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न्यायपालिकामा सुशासनको प्रबर्द्धन, सुशासन बिपरितका गतिबिधिको नियन्त्रण तथा सम्बन्धित निकायहरूसँगको समन्वय लगायतका विषयहरूमा  नीति निर्धारण गर्न </a:t>
            </a:r>
            <a:r>
              <a:rPr lang="ne-NP" dirty="0">
                <a:effectLst/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सुशासन तथा सदाचार प्रबर्द्धन समितिको गठन </a:t>
            </a:r>
            <a:r>
              <a:rPr lang="ne-NP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गर्ने।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Kalimati" panose="00000400000000000000" pitchFamily="2"/>
            </a:endParaRPr>
          </a:p>
          <a:p>
            <a:pPr marR="0" algn="just">
              <a:lnSpc>
                <a:spcPct val="107000"/>
              </a:lnSpc>
              <a:spcBef>
                <a:spcPts val="1200"/>
              </a:spcBef>
              <a:spcAft>
                <a:spcPts val="800"/>
              </a:spcAft>
              <a:buFont typeface="Wingdings" panose="05000000000000000000" pitchFamily="2" charset="2"/>
              <a:buChar char="v"/>
            </a:pPr>
            <a:r>
              <a:rPr lang="ne-NP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अदालतमा </a:t>
            </a:r>
            <a:r>
              <a:rPr lang="ne-NP" dirty="0">
                <a:effectLst/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मुद्दाको सुनुवाईको प्रत्यक्ष प्रसारण (</a:t>
            </a:r>
            <a:r>
              <a:rPr lang="en-US" dirty="0">
                <a:effectLst/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live streaming</a:t>
            </a:r>
            <a:r>
              <a:rPr lang="ne-NP" dirty="0">
                <a:effectLst/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) गर्ने </a:t>
            </a:r>
            <a:r>
              <a:rPr lang="ne-NP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सम्बन्धमा अध्ययन गरी कार्यान्वयन गर्ने। 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Kalimati" panose="00000400000000000000" pitchFamily="2"/>
            </a:endParaRPr>
          </a:p>
          <a:p>
            <a:pPr marR="0" algn="just">
              <a:lnSpc>
                <a:spcPct val="107000"/>
              </a:lnSpc>
              <a:spcBef>
                <a:spcPts val="1200"/>
              </a:spcBef>
              <a:spcAft>
                <a:spcPts val="800"/>
              </a:spcAft>
              <a:buFont typeface="Wingdings" panose="05000000000000000000" pitchFamily="2" charset="2"/>
              <a:buChar char="v"/>
            </a:pPr>
            <a:r>
              <a:rPr lang="ne-NP" dirty="0">
                <a:effectLst/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महिनाको कुनै एक दिन सर्बसाधारण </a:t>
            </a:r>
            <a:r>
              <a:rPr lang="ne-NP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तथा विदेशी नागरिकलाई अवलोकनका लागि अदालत खुला गरी  जानकारी दिने व्यवस्था गर्ने।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Kalimati" panose="00000400000000000000" pitchFamily="2"/>
            </a:endParaRPr>
          </a:p>
          <a:p>
            <a:pPr marR="0" algn="just">
              <a:lnSpc>
                <a:spcPct val="107000"/>
              </a:lnSpc>
              <a:spcBef>
                <a:spcPts val="1200"/>
              </a:spcBef>
              <a:spcAft>
                <a:spcPts val="800"/>
              </a:spcAft>
              <a:buFont typeface="Wingdings" panose="05000000000000000000" pitchFamily="2" charset="2"/>
              <a:buChar char="v"/>
            </a:pPr>
            <a:endParaRPr lang="en-US" sz="2400" dirty="0">
              <a:ln>
                <a:noFill/>
              </a:ln>
              <a:effectLst/>
              <a:latin typeface="Calibri" panose="020F0502020204030204" pitchFamily="34" charset="0"/>
              <a:ea typeface="Calibri" panose="020F0502020204030204" pitchFamily="34" charset="0"/>
              <a:cs typeface="Kalimati" panose="00000400000000000000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360133083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500" y="166255"/>
            <a:ext cx="11811000" cy="760020"/>
          </a:xfrm>
        </p:spPr>
        <p:txBody>
          <a:bodyPr>
            <a:normAutofit/>
          </a:bodyPr>
          <a:lstStyle/>
          <a:p>
            <a:pPr algn="ctr">
              <a:tabLst>
                <a:tab pos="5830888" algn="l"/>
              </a:tabLst>
            </a:pPr>
            <a:r>
              <a:rPr lang="ne-NP" sz="2800" b="1" dirty="0">
                <a:cs typeface="Kalimati" panose="00000400000000000000" pitchFamily="2"/>
              </a:rPr>
              <a:t>सुशासन र जनआस्था :</a:t>
            </a:r>
            <a:r>
              <a:rPr lang="en-US" sz="2800" b="1" dirty="0">
                <a:cs typeface="Kalimati" panose="00000400000000000000" pitchFamily="2"/>
              </a:rPr>
              <a:t> </a:t>
            </a:r>
            <a:r>
              <a:rPr lang="ne-NP" sz="2800" b="1" dirty="0">
                <a:cs typeface="Kalimati" panose="00000400000000000000" pitchFamily="2"/>
              </a:rPr>
              <a:t>रणनीति, कार्यक्रम र वजेट</a:t>
            </a:r>
            <a:endParaRPr lang="en-US" sz="2800" b="1" dirty="0">
              <a:cs typeface="Kalimati" panose="00000400000000000000" pitchFamily="2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807523"/>
            <a:ext cx="12192000" cy="6050478"/>
          </a:xfrm>
        </p:spPr>
        <p:txBody>
          <a:bodyPr>
            <a:normAutofit/>
          </a:bodyPr>
          <a:lstStyle/>
          <a:p>
            <a:pPr marL="0" marR="0" indent="0" algn="just">
              <a:lnSpc>
                <a:spcPct val="107000"/>
              </a:lnSpc>
              <a:spcBef>
                <a:spcPts val="1200"/>
              </a:spcBef>
              <a:spcAft>
                <a:spcPts val="800"/>
              </a:spcAft>
              <a:buNone/>
            </a:pPr>
            <a:endParaRPr lang="ne-NP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Kalimati" panose="00000400000000000000" pitchFamily="2"/>
            </a:endParaRPr>
          </a:p>
          <a:p>
            <a:pPr marR="0" algn="just">
              <a:lnSpc>
                <a:spcPct val="107000"/>
              </a:lnSpc>
              <a:spcBef>
                <a:spcPts val="1200"/>
              </a:spcBef>
              <a:spcAft>
                <a:spcPts val="800"/>
              </a:spcAft>
              <a:buFont typeface="Wingdings" panose="05000000000000000000" pitchFamily="2" charset="2"/>
              <a:buChar char="v"/>
            </a:pPr>
            <a:r>
              <a:rPr lang="ne-NP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न्याय सम्पादन सम्बन्धी प्राथमिकता अन्तर्गत </a:t>
            </a:r>
            <a:r>
              <a:rPr lang="ne-NP" b="1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५ वटा रणनिति </a:t>
            </a:r>
            <a:r>
              <a:rPr lang="ne-NP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तथा ती रणनितिहरु अन्तरगत जम्मा </a:t>
            </a:r>
            <a:r>
              <a:rPr lang="ne-NP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५२</a:t>
            </a:r>
            <a:r>
              <a:rPr lang="ne-NP" b="1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 वटा क्रियाकलापहरु </a:t>
            </a:r>
            <a:r>
              <a:rPr lang="ne-NP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रहेका</a:t>
            </a:r>
          </a:p>
          <a:p>
            <a:pPr marR="0" algn="just">
              <a:lnSpc>
                <a:spcPct val="107000"/>
              </a:lnSpc>
              <a:spcBef>
                <a:spcPts val="1200"/>
              </a:spcBef>
              <a:spcAft>
                <a:spcPts val="800"/>
              </a:spcAft>
              <a:buFont typeface="Wingdings" panose="05000000000000000000" pitchFamily="2" charset="2"/>
              <a:buChar char="v"/>
            </a:pPr>
            <a:r>
              <a:rPr lang="ne-NP" b="1" dirty="0"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 यस प्राथमिकता अन्तर्गतका कार्यक्रमहरुको कार्यान्वयन गर्न योजना अवधिको लागि अनुमानित </a:t>
            </a:r>
            <a:r>
              <a:rPr lang="ne-NP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रु १३ करोड ०१ लाख ७० हजार प्रक्षेपण </a:t>
            </a:r>
            <a:r>
              <a:rPr lang="ne-NP" b="1" dirty="0"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गरिएको ।</a:t>
            </a:r>
            <a:endParaRPr lang="ne-NP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Kalimati" panose="00000400000000000000" pitchFamily="2"/>
            </a:endParaRPr>
          </a:p>
          <a:p>
            <a:pPr marR="0" algn="just">
              <a:lnSpc>
                <a:spcPct val="107000"/>
              </a:lnSpc>
              <a:spcBef>
                <a:spcPts val="1200"/>
              </a:spcBef>
              <a:spcAft>
                <a:spcPts val="800"/>
              </a:spcAft>
              <a:buFont typeface="Wingdings" panose="05000000000000000000" pitchFamily="2" charset="2"/>
              <a:buChar char="v"/>
            </a:pPr>
            <a:endParaRPr lang="en-US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Kalimati" panose="00000400000000000000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391459692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500" y="166255"/>
            <a:ext cx="11811000" cy="760020"/>
          </a:xfrm>
        </p:spPr>
        <p:txBody>
          <a:bodyPr>
            <a:normAutofit/>
          </a:bodyPr>
          <a:lstStyle/>
          <a:p>
            <a:pPr algn="ctr">
              <a:tabLst>
                <a:tab pos="5830888" algn="l"/>
              </a:tabLst>
            </a:pPr>
            <a:r>
              <a:rPr lang="ne-NP" sz="2800" b="1" dirty="0">
                <a:cs typeface="Kalimati" panose="00000400000000000000" pitchFamily="2"/>
              </a:rPr>
              <a:t>सूचना प्रविधि: मुख्य क्रियाकलापहरु</a:t>
            </a:r>
            <a:endParaRPr lang="en-US" sz="2800" b="1" dirty="0">
              <a:cs typeface="Kalimati" panose="00000400000000000000" pitchFamily="2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26275"/>
            <a:ext cx="12192000" cy="5931726"/>
          </a:xfrm>
        </p:spPr>
        <p:txBody>
          <a:bodyPr>
            <a:normAutofit/>
          </a:bodyPr>
          <a:lstStyle/>
          <a:p>
            <a:pPr marR="0" algn="just">
              <a:lnSpc>
                <a:spcPct val="107000"/>
              </a:lnSpc>
              <a:spcBef>
                <a:spcPts val="1200"/>
              </a:spcBef>
              <a:spcAft>
                <a:spcPts val="800"/>
              </a:spcAft>
              <a:buFont typeface="Wingdings" panose="05000000000000000000" pitchFamily="2" charset="2"/>
              <a:buChar char="v"/>
            </a:pPr>
            <a:r>
              <a:rPr lang="ne-NP" sz="240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न्यायपालिकाको सूचना प्रविधिसम्बन्धी </a:t>
            </a:r>
            <a:r>
              <a:rPr lang="ne-NP" sz="2400" dirty="0">
                <a:ln>
                  <a:noFill/>
                </a:ln>
                <a:effectLst/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दिर्घकालीन नीति </a:t>
            </a:r>
            <a:r>
              <a:rPr lang="ne-NP" sz="240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तर्जुमा गर्ने।</a:t>
            </a:r>
          </a:p>
          <a:p>
            <a:pPr marR="0" algn="just">
              <a:lnSpc>
                <a:spcPct val="107000"/>
              </a:lnSpc>
              <a:spcBef>
                <a:spcPts val="1200"/>
              </a:spcBef>
              <a:spcAft>
                <a:spcPts val="800"/>
              </a:spcAft>
              <a:buFont typeface="Wingdings" panose="05000000000000000000" pitchFamily="2" charset="2"/>
              <a:buChar char="v"/>
            </a:pPr>
            <a:r>
              <a:rPr lang="ne-NP" sz="240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बिद्युतीय अदालतको अवधारणा अनुरूप अदालतहरूमा </a:t>
            </a:r>
            <a:r>
              <a:rPr lang="en-US" sz="2400" dirty="0">
                <a:ln>
                  <a:noFill/>
                </a:ln>
                <a:effectLst/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Courtroom technology </a:t>
            </a:r>
            <a:r>
              <a:rPr lang="ne-NP" sz="2400" dirty="0">
                <a:ln>
                  <a:noFill/>
                </a:ln>
                <a:effectLst/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को प्रयोगका लागि पूर्बाधार बिकास</a:t>
            </a:r>
            <a:r>
              <a:rPr lang="ne-NP" sz="240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 गरी क्रमशः कार्यान्वयन गर्ने।</a:t>
            </a:r>
          </a:p>
          <a:p>
            <a:pPr marR="0" algn="just">
              <a:lnSpc>
                <a:spcPct val="107000"/>
              </a:lnSpc>
              <a:spcBef>
                <a:spcPts val="1200"/>
              </a:spcBef>
              <a:spcAft>
                <a:spcPts val="800"/>
              </a:spcAft>
              <a:buFont typeface="Wingdings" panose="05000000000000000000" pitchFamily="2" charset="2"/>
              <a:buChar char="v"/>
            </a:pPr>
            <a:r>
              <a:rPr lang="ne-NP" sz="2400" dirty="0">
                <a:ln>
                  <a:noFill/>
                </a:ln>
                <a:effectLst/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बिद्युतीय प्रणालिमार्फत मुद्दा दर्ता</a:t>
            </a:r>
            <a:r>
              <a:rPr lang="ne-NP" sz="2400" dirty="0">
                <a:ln>
                  <a:noFill/>
                </a:ln>
                <a:effectLst/>
                <a:highlight>
                  <a:srgbClr val="FFFF00"/>
                </a:highlight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ne-NP" sz="2400" dirty="0">
                <a:ln>
                  <a:noFill/>
                </a:ln>
                <a:effectLst/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(</a:t>
            </a:r>
            <a:r>
              <a:rPr lang="en-US" sz="2400" dirty="0">
                <a:ln>
                  <a:noFill/>
                </a:ln>
                <a:effectLst/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Online Registration </a:t>
            </a:r>
            <a:r>
              <a:rPr lang="en-US" sz="240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) </a:t>
            </a:r>
            <a:r>
              <a:rPr lang="ne-NP" sz="240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तथा मिसिल कागजातहरूको बिद्युतीय प्रति तयारी गर्ने कार्यलाई प्राथमिकतापूर्बक लागु गर्ने।</a:t>
            </a:r>
            <a:endParaRPr lang="ne-NP" sz="2400" dirty="0">
              <a:latin typeface="Calibri" panose="020F0502020204030204" pitchFamily="34" charset="0"/>
              <a:ea typeface="Calibri" panose="020F0502020204030204" pitchFamily="34" charset="0"/>
              <a:cs typeface="Kalimati" panose="00000400000000000000" pitchFamily="2"/>
            </a:endParaRPr>
          </a:p>
          <a:p>
            <a:pPr marR="0" algn="just">
              <a:lnSpc>
                <a:spcPct val="107000"/>
              </a:lnSpc>
              <a:spcBef>
                <a:spcPts val="1200"/>
              </a:spcBef>
              <a:spcAft>
                <a:spcPts val="800"/>
              </a:spcAft>
              <a:buFont typeface="Wingdings" panose="05000000000000000000" pitchFamily="2" charset="2"/>
              <a:buChar char="v"/>
            </a:pPr>
            <a:r>
              <a:rPr lang="ne-NP" sz="240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अदालतका </a:t>
            </a:r>
            <a:r>
              <a:rPr lang="ne-NP" sz="2400" dirty="0">
                <a:ln>
                  <a:noFill/>
                </a:ln>
                <a:effectLst/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अभिलेखहरूको बिद्युतीय प्रति तयार </a:t>
            </a:r>
            <a:r>
              <a:rPr lang="ne-NP" sz="240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गरी  सुचना प्रबिधिमार्फत खोजी र प्राप्ति गर्न सकिने गरी  बिद्युतीय अभिलेख तयार गर्ने।</a:t>
            </a:r>
          </a:p>
          <a:p>
            <a:pPr marR="0" algn="just">
              <a:lnSpc>
                <a:spcPct val="107000"/>
              </a:lnSpc>
              <a:spcBef>
                <a:spcPts val="1200"/>
              </a:spcBef>
              <a:spcAft>
                <a:spcPts val="800"/>
              </a:spcAft>
              <a:buFont typeface="Wingdings" panose="05000000000000000000" pitchFamily="2" charset="2"/>
              <a:buChar char="v"/>
            </a:pPr>
            <a:r>
              <a:rPr lang="ne-NP" sz="2400" dirty="0">
                <a:ln>
                  <a:noFill/>
                </a:ln>
                <a:effectLst/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बायोमेट्रिक पद्धति बिकास </a:t>
            </a:r>
            <a:r>
              <a:rPr lang="ne-NP" sz="240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गरी अदालतहरूमा हुने मुद्दाका पक्षहरूको उपस्थिति तथा अनलाईन तारेखमार्फत हुने उपस्थितिमा सोको प्रयोग गर्ने।</a:t>
            </a:r>
            <a:endParaRPr lang="ne-NP" sz="2400" dirty="0">
              <a:latin typeface="Calibri" panose="020F0502020204030204" pitchFamily="34" charset="0"/>
              <a:ea typeface="Calibri" panose="020F0502020204030204" pitchFamily="34" charset="0"/>
              <a:cs typeface="Kalimati" panose="00000400000000000000" pitchFamily="2"/>
            </a:endParaRPr>
          </a:p>
          <a:p>
            <a:pPr marR="0" algn="just">
              <a:lnSpc>
                <a:spcPct val="107000"/>
              </a:lnSpc>
              <a:spcBef>
                <a:spcPts val="1200"/>
              </a:spcBef>
              <a:spcAft>
                <a:spcPts val="800"/>
              </a:spcAft>
              <a:buFont typeface="Wingdings" panose="05000000000000000000" pitchFamily="2" charset="2"/>
              <a:buChar char="v"/>
            </a:pPr>
            <a:r>
              <a:rPr lang="ne-NP" sz="2400" dirty="0">
                <a:ln>
                  <a:noFill/>
                </a:ln>
                <a:effectLst/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मुद्दाका काम कारबाहीसंग सम्बन्धित बिभिन्न मोड्युल, एप्लिकेशन र टेम्पलेटसहरूको बिकास </a:t>
            </a:r>
            <a:r>
              <a:rPr lang="ne-NP" sz="240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गरी प्रयोगमा ल्याउने। </a:t>
            </a:r>
            <a:endParaRPr lang="en-US" sz="3200" dirty="0">
              <a:ln>
                <a:noFill/>
              </a:ln>
              <a:effectLst/>
              <a:latin typeface="Calibri" panose="020F0502020204030204" pitchFamily="34" charset="0"/>
              <a:ea typeface="Calibri" panose="020F0502020204030204" pitchFamily="34" charset="0"/>
              <a:cs typeface="Kalimati" panose="00000400000000000000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332884125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500" y="166255"/>
            <a:ext cx="11811000" cy="760020"/>
          </a:xfrm>
        </p:spPr>
        <p:txBody>
          <a:bodyPr>
            <a:normAutofit/>
          </a:bodyPr>
          <a:lstStyle/>
          <a:p>
            <a:pPr algn="ctr">
              <a:tabLst>
                <a:tab pos="5830888" algn="l"/>
              </a:tabLst>
            </a:pPr>
            <a:r>
              <a:rPr lang="ne-NP" sz="2800" b="1" dirty="0">
                <a:cs typeface="Kalimati" panose="00000400000000000000" pitchFamily="2"/>
              </a:rPr>
              <a:t>सूचना प्रविधि: मुख्य क्रियाकलापहरु</a:t>
            </a:r>
            <a:endParaRPr lang="en-US" sz="2800" b="1" dirty="0">
              <a:cs typeface="Kalimati" panose="00000400000000000000" pitchFamily="2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26275"/>
            <a:ext cx="12192000" cy="5931726"/>
          </a:xfrm>
        </p:spPr>
        <p:txBody>
          <a:bodyPr>
            <a:normAutofit/>
          </a:bodyPr>
          <a:lstStyle/>
          <a:p>
            <a:pPr marR="0" algn="just">
              <a:lnSpc>
                <a:spcPct val="107000"/>
              </a:lnSpc>
              <a:spcBef>
                <a:spcPts val="1200"/>
              </a:spcBef>
              <a:spcAft>
                <a:spcPts val="800"/>
              </a:spcAft>
              <a:buFont typeface="Wingdings" panose="05000000000000000000" pitchFamily="2" charset="2"/>
              <a:buChar char="v"/>
            </a:pPr>
            <a:r>
              <a:rPr lang="ne-NP" sz="240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अदालतमा </a:t>
            </a:r>
            <a:r>
              <a:rPr lang="en-US" sz="2400" dirty="0">
                <a:ln>
                  <a:noFill/>
                </a:ln>
                <a:effectLst/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Artificial Intelligence </a:t>
            </a:r>
            <a:r>
              <a:rPr lang="en-US" sz="240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( AI,</a:t>
            </a:r>
            <a:r>
              <a:rPr lang="ne-NP" sz="240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 </a:t>
            </a:r>
            <a:r>
              <a:rPr lang="en-US" sz="240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Blockchain, Machine Learning,</a:t>
            </a:r>
            <a:r>
              <a:rPr lang="ne-NP" sz="240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 </a:t>
            </a:r>
            <a:r>
              <a:rPr lang="en-US" sz="240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Online Dispute Resolution </a:t>
            </a:r>
            <a:r>
              <a:rPr lang="ne-NP" sz="240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 लगायतका सुचना प्रबिधिमैत्री मुद्दा ब्यबस्थापन र न्यायसम्पादनको सम्भाब्यताको बारेमा अध्ययन गरी क्रमश कार्यान्वयन गर्ने। </a:t>
            </a:r>
            <a:endParaRPr lang="ne-NP" sz="2400" dirty="0">
              <a:latin typeface="Calibri" panose="020F0502020204030204" pitchFamily="34" charset="0"/>
              <a:ea typeface="Calibri" panose="020F0502020204030204" pitchFamily="34" charset="0"/>
              <a:cs typeface="Kalimati" panose="00000400000000000000" pitchFamily="2"/>
            </a:endParaRPr>
          </a:p>
          <a:p>
            <a:pPr marR="0" algn="just">
              <a:lnSpc>
                <a:spcPct val="107000"/>
              </a:lnSpc>
              <a:spcBef>
                <a:spcPts val="1200"/>
              </a:spcBef>
              <a:spcAft>
                <a:spcPts val="800"/>
              </a:spcAft>
              <a:buFont typeface="Wingdings" panose="05000000000000000000" pitchFamily="2" charset="2"/>
              <a:buChar char="v"/>
            </a:pPr>
            <a:r>
              <a:rPr lang="en-US" sz="2400" dirty="0">
                <a:ln>
                  <a:noFill/>
                </a:ln>
                <a:effectLst/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Judge Decision  Support system  </a:t>
            </a:r>
            <a:r>
              <a:rPr lang="ne-NP" sz="240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का लागि आवश्यक मोड्युल</a:t>
            </a:r>
            <a:r>
              <a:rPr lang="en-US" sz="240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/</a:t>
            </a:r>
            <a:r>
              <a:rPr lang="ne-NP" sz="240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एप तयार गरी प्रयोगमा ल्याउने।</a:t>
            </a:r>
          </a:p>
          <a:p>
            <a:pPr marR="0" algn="just">
              <a:lnSpc>
                <a:spcPct val="107000"/>
              </a:lnSpc>
              <a:spcBef>
                <a:spcPts val="1200"/>
              </a:spcBef>
              <a:spcAft>
                <a:spcPts val="800"/>
              </a:spcAft>
              <a:buFont typeface="Wingdings" panose="05000000000000000000" pitchFamily="2" charset="2"/>
              <a:buChar char="v"/>
            </a:pPr>
            <a:r>
              <a:rPr lang="ne-NP" sz="240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अदालतहरूमा </a:t>
            </a:r>
            <a:r>
              <a:rPr lang="en-US" sz="2400" dirty="0">
                <a:ln>
                  <a:noFill/>
                </a:ln>
                <a:effectLst/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Audio to Text transcription  </a:t>
            </a:r>
            <a:r>
              <a:rPr lang="ne-NP" sz="240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सेवा प्रारम्भ गर्ने।</a:t>
            </a:r>
            <a:endParaRPr lang="ne-NP" sz="2400" dirty="0">
              <a:latin typeface="Calibri" panose="020F0502020204030204" pitchFamily="34" charset="0"/>
              <a:ea typeface="Calibri" panose="020F0502020204030204" pitchFamily="34" charset="0"/>
              <a:cs typeface="Kalimati" panose="00000400000000000000" pitchFamily="2"/>
            </a:endParaRPr>
          </a:p>
          <a:p>
            <a:pPr marR="0" algn="just">
              <a:lnSpc>
                <a:spcPct val="107000"/>
              </a:lnSpc>
              <a:spcBef>
                <a:spcPts val="1200"/>
              </a:spcBef>
              <a:spcAft>
                <a:spcPts val="800"/>
              </a:spcAft>
              <a:buFont typeface="Wingdings" panose="05000000000000000000" pitchFamily="2" charset="2"/>
              <a:buChar char="v"/>
            </a:pPr>
            <a:r>
              <a:rPr lang="ne-NP" sz="240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अदालत तथा न्याय क्षेत्रका </a:t>
            </a:r>
            <a:r>
              <a:rPr lang="ne-NP" sz="2400" dirty="0">
                <a:ln>
                  <a:noFill/>
                </a:ln>
                <a:effectLst/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सरोकारवाला निकायहरूबिच </a:t>
            </a:r>
            <a:r>
              <a:rPr lang="en-US" sz="2400" dirty="0">
                <a:ln>
                  <a:noFill/>
                </a:ln>
                <a:effectLst/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Data sharing</a:t>
            </a:r>
            <a:r>
              <a:rPr lang="en-US" sz="240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 </a:t>
            </a:r>
            <a:r>
              <a:rPr lang="ne-NP" sz="240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लगायत सुचना प्रबिधिको आबद्धता हुने गरी सो सम्बन्धी पद्धति बिस्तार गर्ने।</a:t>
            </a:r>
          </a:p>
          <a:p>
            <a:pPr marR="0" algn="just">
              <a:lnSpc>
                <a:spcPct val="107000"/>
              </a:lnSpc>
              <a:spcBef>
                <a:spcPts val="1200"/>
              </a:spcBef>
              <a:spcAft>
                <a:spcPts val="800"/>
              </a:spcAft>
              <a:buFont typeface="Wingdings" panose="05000000000000000000" pitchFamily="2" charset="2"/>
              <a:buChar char="v"/>
            </a:pPr>
            <a:r>
              <a:rPr lang="ne-NP" sz="240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अदालतमा पक्षहरूको </a:t>
            </a:r>
            <a:r>
              <a:rPr lang="ne-NP" sz="2400" dirty="0">
                <a:ln>
                  <a:noFill/>
                </a:ln>
                <a:effectLst/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भौतिक उपस्थिति विना  मुद्दाको सम्पूर्ण कारवाही प्रक्रिया अनलाइनबाट </a:t>
            </a:r>
            <a:r>
              <a:rPr lang="ne-NP" sz="240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गर्ने विषयको सम्भाव्यताको वारेमा अध्ययन गर्ने।</a:t>
            </a:r>
            <a:endParaRPr lang="ne-NP" sz="2400" dirty="0">
              <a:latin typeface="Calibri" panose="020F0502020204030204" pitchFamily="34" charset="0"/>
              <a:ea typeface="Calibri" panose="020F0502020204030204" pitchFamily="34" charset="0"/>
              <a:cs typeface="Kalimati" panose="00000400000000000000" pitchFamily="2"/>
            </a:endParaRPr>
          </a:p>
          <a:p>
            <a:pPr marR="0" algn="just">
              <a:lnSpc>
                <a:spcPct val="107000"/>
              </a:lnSpc>
              <a:spcBef>
                <a:spcPts val="1200"/>
              </a:spcBef>
              <a:spcAft>
                <a:spcPts val="800"/>
              </a:spcAft>
              <a:buFont typeface="Wingdings" panose="05000000000000000000" pitchFamily="2" charset="2"/>
              <a:buChar char="v"/>
            </a:pPr>
            <a:r>
              <a:rPr lang="ne-NP" sz="2400" dirty="0">
                <a:ln>
                  <a:noFill/>
                </a:ln>
                <a:effectLst/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सुचना प्रबिधि सम्बन्धी जनशक्तिको आपूर्ति</a:t>
            </a:r>
            <a:r>
              <a:rPr lang="ne-NP" sz="240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, स्थायित्व, परिचालन र उत्प्रेरणा लगायत सेवा सुबिधा सम्बन्धी नीति तर्जुमा गरी कार्यान्वयन गर्ने। </a:t>
            </a:r>
            <a:endParaRPr lang="en-US" sz="3600" dirty="0">
              <a:ln>
                <a:noFill/>
              </a:ln>
              <a:effectLst/>
              <a:latin typeface="Calibri" panose="020F0502020204030204" pitchFamily="34" charset="0"/>
              <a:ea typeface="Calibri" panose="020F0502020204030204" pitchFamily="34" charset="0"/>
              <a:cs typeface="Kalimati" panose="00000400000000000000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211766009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500" y="166255"/>
            <a:ext cx="11811000" cy="760020"/>
          </a:xfrm>
        </p:spPr>
        <p:txBody>
          <a:bodyPr>
            <a:normAutofit/>
          </a:bodyPr>
          <a:lstStyle/>
          <a:p>
            <a:pPr algn="ctr">
              <a:tabLst>
                <a:tab pos="5830888" algn="l"/>
              </a:tabLst>
            </a:pPr>
            <a:r>
              <a:rPr lang="ne-NP" sz="2800" b="1" dirty="0">
                <a:cs typeface="Kalimati" panose="00000400000000000000" pitchFamily="2"/>
              </a:rPr>
              <a:t>सूचना प्रविधि :</a:t>
            </a:r>
            <a:r>
              <a:rPr lang="en-US" sz="2800" b="1" dirty="0">
                <a:cs typeface="Kalimati" panose="00000400000000000000" pitchFamily="2"/>
              </a:rPr>
              <a:t> </a:t>
            </a:r>
            <a:r>
              <a:rPr lang="ne-NP" sz="2800" b="1" dirty="0">
                <a:cs typeface="Kalimati" panose="00000400000000000000" pitchFamily="2"/>
              </a:rPr>
              <a:t>रणनीति, कार्यक्रम र वजेट</a:t>
            </a:r>
            <a:endParaRPr lang="en-US" sz="2800" b="1" dirty="0">
              <a:cs typeface="Kalimati" panose="00000400000000000000" pitchFamily="2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807523"/>
            <a:ext cx="12192000" cy="6050478"/>
          </a:xfrm>
        </p:spPr>
        <p:txBody>
          <a:bodyPr>
            <a:normAutofit/>
          </a:bodyPr>
          <a:lstStyle/>
          <a:p>
            <a:pPr marL="0" marR="0" indent="0" algn="just">
              <a:lnSpc>
                <a:spcPct val="107000"/>
              </a:lnSpc>
              <a:spcBef>
                <a:spcPts val="1200"/>
              </a:spcBef>
              <a:spcAft>
                <a:spcPts val="800"/>
              </a:spcAft>
              <a:buNone/>
            </a:pPr>
            <a:endParaRPr lang="ne-NP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Kalimati" panose="00000400000000000000" pitchFamily="2"/>
            </a:endParaRPr>
          </a:p>
          <a:p>
            <a:pPr marR="0" algn="just">
              <a:lnSpc>
                <a:spcPct val="107000"/>
              </a:lnSpc>
              <a:spcBef>
                <a:spcPts val="1200"/>
              </a:spcBef>
              <a:spcAft>
                <a:spcPts val="800"/>
              </a:spcAft>
              <a:buFont typeface="Wingdings" panose="05000000000000000000" pitchFamily="2" charset="2"/>
              <a:buChar char="v"/>
            </a:pPr>
            <a:r>
              <a:rPr lang="ne-NP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न्याय सम्पादन सम्बन्धी प्राथमिकता अन्तर्गत </a:t>
            </a:r>
            <a:r>
              <a:rPr lang="ne-NP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३</a:t>
            </a:r>
            <a:r>
              <a:rPr lang="ne-NP" b="1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 वटा रणनिति </a:t>
            </a:r>
            <a:r>
              <a:rPr lang="ne-NP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तथा ती रणनितिहरु अन्तरगत जम्मा </a:t>
            </a:r>
            <a:r>
              <a:rPr lang="ne-NP" b="1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३३ वटा क्रियाकलापहरु </a:t>
            </a:r>
            <a:r>
              <a:rPr lang="ne-NP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रहेका</a:t>
            </a:r>
          </a:p>
          <a:p>
            <a:pPr marR="0" algn="just">
              <a:lnSpc>
                <a:spcPct val="107000"/>
              </a:lnSpc>
              <a:spcBef>
                <a:spcPts val="1200"/>
              </a:spcBef>
              <a:spcAft>
                <a:spcPts val="800"/>
              </a:spcAft>
              <a:buFont typeface="Wingdings" panose="05000000000000000000" pitchFamily="2" charset="2"/>
              <a:buChar char="v"/>
            </a:pPr>
            <a:r>
              <a:rPr lang="ne-NP" b="1" dirty="0"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 यस प्राथमिकता अन्तर्गतका कार्यक्रमहरुको कार्यान्वयन गर्न योजना अवधिको लागि अनुमानित </a:t>
            </a:r>
            <a:r>
              <a:rPr lang="ne-NP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रु ५ अर्ब १८ करोड ०५ लाख ५० हजार प्रक्षेपण </a:t>
            </a:r>
            <a:r>
              <a:rPr lang="ne-NP" b="1" dirty="0"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गरिएको ।</a:t>
            </a:r>
            <a:endParaRPr lang="ne-NP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Kalimati" panose="00000400000000000000" pitchFamily="2"/>
            </a:endParaRPr>
          </a:p>
          <a:p>
            <a:pPr marR="0" algn="just">
              <a:lnSpc>
                <a:spcPct val="107000"/>
              </a:lnSpc>
              <a:spcBef>
                <a:spcPts val="1200"/>
              </a:spcBef>
              <a:spcAft>
                <a:spcPts val="800"/>
              </a:spcAft>
              <a:buFont typeface="Wingdings" panose="05000000000000000000" pitchFamily="2" charset="2"/>
              <a:buChar char="v"/>
            </a:pPr>
            <a:endParaRPr lang="en-US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Kalimati" panose="00000400000000000000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67072575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500" y="166255"/>
            <a:ext cx="11811000" cy="760020"/>
          </a:xfrm>
        </p:spPr>
        <p:txBody>
          <a:bodyPr>
            <a:normAutofit/>
          </a:bodyPr>
          <a:lstStyle/>
          <a:p>
            <a:pPr algn="ctr">
              <a:tabLst>
                <a:tab pos="5830888" algn="l"/>
              </a:tabLs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/>
            </a:r>
            <a:b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</a:br>
            <a:r>
              <a:rPr lang="ne-NP" sz="2800" b="1" dirty="0">
                <a:latin typeface="Preeti" pitchFamily="2" charset="0"/>
                <a:ea typeface="Calibri" panose="020F0502020204030204" pitchFamily="34" charset="0"/>
                <a:cs typeface="Kalimati" panose="00000400000000000000" pitchFamily="2"/>
              </a:rPr>
              <a:t>मानव संशाधन तथा भौतिक पूर्वाधार</a:t>
            </a:r>
            <a:r>
              <a:rPr lang="ne-NP" sz="2800" b="1" dirty="0">
                <a:cs typeface="Kalimati" panose="00000400000000000000" pitchFamily="2"/>
              </a:rPr>
              <a:t>: मुख्य क्रियाकलापहरु</a:t>
            </a:r>
            <a:endParaRPr lang="en-US" sz="2800" b="1" dirty="0">
              <a:cs typeface="Kalimati" panose="00000400000000000000" pitchFamily="2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26275"/>
            <a:ext cx="12192000" cy="5931726"/>
          </a:xfrm>
        </p:spPr>
        <p:txBody>
          <a:bodyPr>
            <a:normAutofit/>
          </a:bodyPr>
          <a:lstStyle/>
          <a:p>
            <a:pPr marR="0" algn="just">
              <a:lnSpc>
                <a:spcPct val="107000"/>
              </a:lnSpc>
              <a:spcBef>
                <a:spcPts val="1200"/>
              </a:spcBef>
              <a:spcAft>
                <a:spcPts val="800"/>
              </a:spcAft>
              <a:buFont typeface="Wingdings" panose="05000000000000000000" pitchFamily="2" charset="2"/>
              <a:buChar char="v"/>
            </a:pPr>
            <a:r>
              <a:rPr lang="ne-NP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मानब संशाधन सम्बन्धी पूर्ब अध्ययनहरूको पुनरावलोकन गरी मानव संशाधन बिकास सम्बन्धी एकीकृत </a:t>
            </a:r>
            <a:r>
              <a:rPr lang="ne-NP" sz="2400" dirty="0">
                <a:effectLst/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दिर्घकालीन नीति तर्जुमा ग</a:t>
            </a:r>
            <a:r>
              <a:rPr lang="ne-NP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र्ने। </a:t>
            </a:r>
          </a:p>
          <a:p>
            <a:pPr marR="0" algn="just">
              <a:lnSpc>
                <a:spcPct val="107000"/>
              </a:lnSpc>
              <a:spcBef>
                <a:spcPts val="1200"/>
              </a:spcBef>
              <a:spcAft>
                <a:spcPts val="800"/>
              </a:spcAft>
              <a:buFont typeface="Wingdings" panose="05000000000000000000" pitchFamily="2" charset="2"/>
              <a:buChar char="v"/>
            </a:pPr>
            <a:r>
              <a:rPr lang="ne-NP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अदालतहरूको कार्यबोझ, कार्यप्रकृति र अवलम्बित ब्यबस्थापनका पद्धति समेतको दृष्टिकोणबाट न्यायपालिकामा जनशक्तिको आवश्यकता पहिचान र दरबन्दी पुनरावलोकन गर्न संगठन तथा ब्यबस्थापन सर्बेक्षण (</a:t>
            </a: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O &amp; M) </a:t>
            </a:r>
            <a:r>
              <a:rPr lang="ne-NP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गर्ने। </a:t>
            </a:r>
          </a:p>
          <a:p>
            <a:pPr marR="0" algn="just">
              <a:lnSpc>
                <a:spcPct val="107000"/>
              </a:lnSpc>
              <a:spcBef>
                <a:spcPts val="1200"/>
              </a:spcBef>
              <a:spcAft>
                <a:spcPts val="800"/>
              </a:spcAft>
              <a:buFont typeface="Wingdings" panose="05000000000000000000" pitchFamily="2" charset="2"/>
              <a:buChar char="v"/>
            </a:pPr>
            <a:r>
              <a:rPr lang="ne-NP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बिभिन्न तहका </a:t>
            </a:r>
            <a:r>
              <a:rPr lang="ne-NP" sz="2400" dirty="0">
                <a:effectLst/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अदालतहरूमा कार्यरत जनशक्तिको कार्यसम्पादन मापदण्ड सहितको स्पष्ट कार्य बिबर</a:t>
            </a:r>
            <a:r>
              <a:rPr lang="ne-NP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ण (</a:t>
            </a: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TOR ) </a:t>
            </a:r>
            <a:r>
              <a:rPr lang="ne-NP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तयार गरी लागु गर्ने।</a:t>
            </a:r>
          </a:p>
          <a:p>
            <a:pPr marR="0" algn="just">
              <a:lnSpc>
                <a:spcPct val="107000"/>
              </a:lnSpc>
              <a:spcBef>
                <a:spcPts val="1200"/>
              </a:spcBef>
              <a:spcAft>
                <a:spcPts val="800"/>
              </a:spcAft>
              <a:buFont typeface="Wingdings" panose="05000000000000000000" pitchFamily="2" charset="2"/>
              <a:buChar char="v"/>
            </a:pPr>
            <a:r>
              <a:rPr lang="ne-NP" sz="240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ब्यबस्थापकीय जिम्मेवारीका पदहरूमा कार्यरत पदाधिकारीहरूसँग </a:t>
            </a:r>
            <a:r>
              <a:rPr lang="ne-NP" sz="2400" dirty="0">
                <a:ln>
                  <a:noFill/>
                </a:ln>
                <a:effectLst/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कार्यसम्पादन सम्झौता </a:t>
            </a:r>
            <a:r>
              <a:rPr lang="ne-NP" sz="240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गरी कार्यान्वयनको आवधिक मूल्यांकन गर्ने पद्धति बिकास गर्ने।</a:t>
            </a:r>
            <a:endParaRPr lang="ne-NP" sz="2400" dirty="0">
              <a:ln>
                <a:noFill/>
              </a:ln>
              <a:latin typeface="Calibri" panose="020F0502020204030204" pitchFamily="34" charset="0"/>
              <a:ea typeface="Calibri" panose="020F0502020204030204" pitchFamily="34" charset="0"/>
              <a:cs typeface="Kalimati" panose="00000400000000000000" pitchFamily="2"/>
            </a:endParaRPr>
          </a:p>
          <a:p>
            <a:pPr marR="0" algn="just">
              <a:lnSpc>
                <a:spcPct val="107000"/>
              </a:lnSpc>
              <a:spcBef>
                <a:spcPts val="1200"/>
              </a:spcBef>
              <a:spcAft>
                <a:spcPts val="800"/>
              </a:spcAft>
              <a:buFont typeface="Wingdings" panose="05000000000000000000" pitchFamily="2" charset="2"/>
              <a:buChar char="v"/>
            </a:pPr>
            <a:r>
              <a:rPr lang="ne-NP" sz="2400" dirty="0">
                <a:ln>
                  <a:noFill/>
                </a:ln>
                <a:effectLst/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न्यायाधीश लगायत न्यायिक जनशक्तिको शारीरिक तथा मानसिक </a:t>
            </a:r>
            <a:r>
              <a:rPr lang="en-US" sz="2400" dirty="0">
                <a:ln>
                  <a:noFill/>
                </a:ln>
                <a:effectLst/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wellbeing,</a:t>
            </a:r>
            <a:r>
              <a:rPr lang="ne-NP" sz="2400" dirty="0">
                <a:ln>
                  <a:noFill/>
                </a:ln>
                <a:effectLst/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 </a:t>
            </a:r>
            <a:r>
              <a:rPr lang="ne-NP" sz="240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स्वास्थ्य उपचार</a:t>
            </a:r>
            <a:r>
              <a:rPr lang="en-US" sz="240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, </a:t>
            </a:r>
            <a:r>
              <a:rPr lang="ne-NP" sz="240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विमा लगायतका कल्याणकारी नीति र कार्यक्रम तयार   गरी कार्यान्वयन गर्ने।</a:t>
            </a:r>
            <a:endParaRPr lang="en-US" sz="4000" dirty="0">
              <a:ln>
                <a:noFill/>
              </a:ln>
              <a:effectLst/>
              <a:latin typeface="Calibri" panose="020F0502020204030204" pitchFamily="34" charset="0"/>
              <a:ea typeface="Calibri" panose="020F0502020204030204" pitchFamily="34" charset="0"/>
              <a:cs typeface="Kalimati" panose="00000400000000000000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91097355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500" y="166255"/>
            <a:ext cx="11811000" cy="760020"/>
          </a:xfrm>
        </p:spPr>
        <p:txBody>
          <a:bodyPr>
            <a:normAutofit/>
          </a:bodyPr>
          <a:lstStyle/>
          <a:p>
            <a:pPr algn="ctr">
              <a:tabLst>
                <a:tab pos="5830888" algn="l"/>
              </a:tabLs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/>
            </a:r>
            <a:b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</a:br>
            <a:r>
              <a:rPr lang="ne-NP" sz="2800" b="1" dirty="0">
                <a:latin typeface="Preeti" pitchFamily="2" charset="0"/>
                <a:ea typeface="Calibri" panose="020F0502020204030204" pitchFamily="34" charset="0"/>
                <a:cs typeface="Kalimati" panose="00000400000000000000" pitchFamily="2"/>
              </a:rPr>
              <a:t>मानव संशाधन तथा भौतिक पूर्वाधार</a:t>
            </a:r>
            <a:r>
              <a:rPr lang="ne-NP" sz="2800" b="1" dirty="0">
                <a:cs typeface="Kalimati" panose="00000400000000000000" pitchFamily="2"/>
              </a:rPr>
              <a:t>: लक्ष्य तथा मुख्य क्रियाकलापहरु</a:t>
            </a:r>
            <a:endParaRPr lang="en-US" sz="2800" b="1" dirty="0">
              <a:cs typeface="Kalimati" panose="00000400000000000000" pitchFamily="2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26275"/>
            <a:ext cx="12192000" cy="5931726"/>
          </a:xfrm>
        </p:spPr>
        <p:txBody>
          <a:bodyPr>
            <a:normAutofit/>
          </a:bodyPr>
          <a:lstStyle/>
          <a:p>
            <a:pPr marR="0" algn="just">
              <a:lnSpc>
                <a:spcPct val="107000"/>
              </a:lnSpc>
              <a:spcBef>
                <a:spcPts val="1200"/>
              </a:spcBef>
              <a:spcAft>
                <a:spcPts val="800"/>
              </a:spcAft>
              <a:buFont typeface="Wingdings" panose="05000000000000000000" pitchFamily="2" charset="2"/>
              <a:buChar char="v"/>
            </a:pPr>
            <a:r>
              <a:rPr lang="ne-NP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सर्वोच्च अदालत मातहत रहने गरी </a:t>
            </a:r>
            <a:r>
              <a:rPr lang="ne-NP" sz="2400" b="1" dirty="0">
                <a:effectLst/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मानव संशाधन विकास निर्देशनालय</a:t>
            </a:r>
            <a:r>
              <a:rPr lang="ne-NP" sz="2400" dirty="0">
                <a:effectLst/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 </a:t>
            </a:r>
            <a:r>
              <a:rPr lang="ne-NP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स्थापना गर्ने।</a:t>
            </a:r>
          </a:p>
          <a:p>
            <a:pPr marR="0" algn="just">
              <a:lnSpc>
                <a:spcPct val="107000"/>
              </a:lnSpc>
              <a:spcBef>
                <a:spcPts val="1200"/>
              </a:spcBef>
              <a:spcAft>
                <a:spcPts val="800"/>
              </a:spcAft>
              <a:buFont typeface="Wingdings" panose="05000000000000000000" pitchFamily="2" charset="2"/>
              <a:buChar char="v"/>
            </a:pPr>
            <a:r>
              <a:rPr lang="ne-NP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न्यायपालिकामा </a:t>
            </a:r>
            <a:r>
              <a:rPr lang="ne-NP" sz="2400" dirty="0">
                <a:effectLst/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उत्तराधिकार योजना</a:t>
            </a:r>
            <a:r>
              <a:rPr lang="en-US" sz="2400" dirty="0">
                <a:effectLst/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 ( Succession Plan) </a:t>
            </a:r>
            <a:r>
              <a:rPr lang="ne-NP" sz="2400" dirty="0">
                <a:effectLst/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तथा</a:t>
            </a:r>
            <a:r>
              <a:rPr lang="ne-NP" sz="2400" dirty="0">
                <a:effectLst/>
                <a:highlight>
                  <a:srgbClr val="FFFF00"/>
                </a:highlight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ne-NP" sz="2400" dirty="0">
                <a:effectLst/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प्रतिभावान जनशक्तिको उपयोग (</a:t>
            </a:r>
            <a:r>
              <a:rPr lang="en-US" sz="2400" dirty="0">
                <a:effectLst/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Talent </a:t>
            </a:r>
            <a:r>
              <a:rPr lang="en-US" sz="2400" dirty="0"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Retention</a:t>
            </a:r>
            <a:r>
              <a:rPr lang="ne-NP" sz="2400" dirty="0">
                <a:effectLst/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)</a:t>
            </a:r>
            <a:r>
              <a:rPr lang="ne-NP" sz="2400" dirty="0">
                <a:effectLst/>
                <a:highlight>
                  <a:srgbClr val="FFFF00"/>
                </a:highlight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ne-NP" sz="2400" dirty="0">
                <a:effectLst/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सम्बन्धी कार्यक्रम </a:t>
            </a:r>
            <a:r>
              <a:rPr lang="ne-NP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तयार गरी लागु गर्ने।</a:t>
            </a:r>
          </a:p>
          <a:p>
            <a:pPr marR="0" algn="just">
              <a:lnSpc>
                <a:spcPct val="107000"/>
              </a:lnSpc>
              <a:spcBef>
                <a:spcPts val="1200"/>
              </a:spcBef>
              <a:spcAft>
                <a:spcPts val="800"/>
              </a:spcAft>
              <a:buFont typeface="Wingdings" panose="05000000000000000000" pitchFamily="2" charset="2"/>
              <a:buChar char="v"/>
            </a:pPr>
            <a:r>
              <a:rPr lang="ne-NP" sz="240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अदालत तथा न्यायाधिकरणको लागि आवश्यक भौतिक पूर्वाधार (अदालत भवन तथा एकीकृत आवाससमेत) निर्माण र विकासको लागि पूर्व अध्ययन प्रतिवेदनको </a:t>
            </a:r>
            <a:r>
              <a:rPr lang="ne-NP" sz="2400" dirty="0">
                <a:ln>
                  <a:noFill/>
                </a:ln>
                <a:effectLst/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पुनरावलोकन गरी मापदण्ड परिमार्जन गर्ने। </a:t>
            </a:r>
            <a:endParaRPr lang="ne-NP" sz="2400" dirty="0">
              <a:ln>
                <a:noFill/>
              </a:ln>
              <a:highlight>
                <a:srgbClr val="FFFF00"/>
              </a:highlight>
              <a:latin typeface="Calibri" panose="020F0502020204030204" pitchFamily="34" charset="0"/>
              <a:ea typeface="Calibri" panose="020F0502020204030204" pitchFamily="34" charset="0"/>
              <a:cs typeface="Kalimati" panose="00000400000000000000" pitchFamily="2"/>
            </a:endParaRPr>
          </a:p>
          <a:p>
            <a:pPr marR="0" algn="just">
              <a:lnSpc>
                <a:spcPct val="107000"/>
              </a:lnSpc>
              <a:spcBef>
                <a:spcPts val="1200"/>
              </a:spcBef>
              <a:spcAft>
                <a:spcPts val="800"/>
              </a:spcAft>
              <a:buFont typeface="Wingdings" panose="05000000000000000000" pitchFamily="2" charset="2"/>
              <a:buChar char="v"/>
            </a:pPr>
            <a:r>
              <a:rPr lang="ne-NP" sz="240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सबै अदालतहरूको </a:t>
            </a:r>
            <a:r>
              <a:rPr lang="ne-NP" sz="2400" dirty="0">
                <a:ln>
                  <a:noFill/>
                </a:ln>
                <a:effectLst/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भौतिक संरचना</a:t>
            </a:r>
            <a:r>
              <a:rPr lang="en-US" sz="2400" dirty="0">
                <a:ln>
                  <a:noFill/>
                </a:ln>
                <a:effectLst/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,</a:t>
            </a:r>
            <a:r>
              <a:rPr lang="ne-NP" sz="2400" dirty="0">
                <a:ln>
                  <a:noFill/>
                </a:ln>
                <a:effectLst/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 अन्य पूर्वाधार र उपकरणहरूको अवस्था देखिने गरी </a:t>
            </a:r>
            <a:r>
              <a:rPr lang="en-US" sz="2400" dirty="0">
                <a:ln>
                  <a:noFill/>
                </a:ln>
                <a:effectLst/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Inventory  </a:t>
            </a:r>
            <a:r>
              <a:rPr lang="ne-NP" sz="240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तयार गर्ने।</a:t>
            </a:r>
            <a:endParaRPr lang="ne-NP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Kalimati" panose="00000400000000000000" pitchFamily="2"/>
            </a:endParaRPr>
          </a:p>
          <a:p>
            <a:pPr marR="0" algn="just">
              <a:lnSpc>
                <a:spcPct val="107000"/>
              </a:lnSpc>
              <a:spcBef>
                <a:spcPts val="1200"/>
              </a:spcBef>
              <a:spcAft>
                <a:spcPts val="800"/>
              </a:spcAft>
              <a:buFont typeface="Wingdings" panose="05000000000000000000" pitchFamily="2" charset="2"/>
              <a:buChar char="v"/>
            </a:pPr>
            <a:r>
              <a:rPr lang="ne-NP" sz="2400" dirty="0">
                <a:ln>
                  <a:noFill/>
                </a:ln>
                <a:effectLst/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न्यायिक सङ्ग्रहालयलाई सर्वोच्च अदालतको पुरानो (मूल भवन) मा स्थानान्तरणका </a:t>
            </a:r>
            <a:r>
              <a:rPr lang="ne-NP" sz="240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लागि ड्रइङ</a:t>
            </a:r>
            <a:r>
              <a:rPr lang="en-US" sz="240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,</a:t>
            </a:r>
            <a:r>
              <a:rPr lang="ne-NP" sz="2400" dirty="0">
                <a:ln>
                  <a:noFill/>
                </a:ln>
                <a:effectLst/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 डिजाइन र सामग्रीहरूको सङ्ग्रह र प्रदर्शनीको लागि उपयुक्त कक्ष र पूर्वाधार निर्माण सम्बन्धी कार्य सम्पन्न गर्ने।</a:t>
            </a:r>
            <a:endParaRPr lang="ne-NP" sz="2400" dirty="0">
              <a:latin typeface="Calibri" panose="020F0502020204030204" pitchFamily="34" charset="0"/>
              <a:ea typeface="Calibri" panose="020F0502020204030204" pitchFamily="34" charset="0"/>
              <a:cs typeface="Kalimati" panose="00000400000000000000" pitchFamily="2"/>
            </a:endParaRPr>
          </a:p>
          <a:p>
            <a:pPr marR="0" algn="just">
              <a:lnSpc>
                <a:spcPct val="107000"/>
              </a:lnSpc>
              <a:spcBef>
                <a:spcPts val="1200"/>
              </a:spcBef>
              <a:spcAft>
                <a:spcPts val="800"/>
              </a:spcAft>
              <a:buFont typeface="Wingdings" panose="05000000000000000000" pitchFamily="2" charset="2"/>
              <a:buChar char="v"/>
            </a:pPr>
            <a:endParaRPr lang="en-US" sz="3600" dirty="0">
              <a:ln>
                <a:noFill/>
              </a:ln>
              <a:effectLst/>
              <a:latin typeface="Calibri" panose="020F0502020204030204" pitchFamily="34" charset="0"/>
              <a:ea typeface="Calibri" panose="020F0502020204030204" pitchFamily="34" charset="0"/>
              <a:cs typeface="Kalimati" panose="00000400000000000000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75098887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500" y="166255"/>
            <a:ext cx="11811000" cy="760020"/>
          </a:xfrm>
        </p:spPr>
        <p:txBody>
          <a:bodyPr>
            <a:normAutofit/>
          </a:bodyPr>
          <a:lstStyle/>
          <a:p>
            <a:pPr algn="ctr">
              <a:tabLst>
                <a:tab pos="5830888" algn="l"/>
              </a:tabLst>
            </a:pPr>
            <a:r>
              <a:rPr lang="ne-NP" sz="2800" b="1" dirty="0">
                <a:latin typeface="Preeti" pitchFamily="2" charset="0"/>
                <a:ea typeface="Calibri" panose="020F0502020204030204" pitchFamily="34" charset="0"/>
                <a:cs typeface="Kalimati" panose="00000400000000000000" pitchFamily="2"/>
              </a:rPr>
              <a:t>मानव संशाधन तथा भौतिक पूर्वाधार </a:t>
            </a:r>
            <a:r>
              <a:rPr lang="ne-NP" sz="2800" b="1" dirty="0">
                <a:cs typeface="Kalimati" panose="00000400000000000000" pitchFamily="2"/>
              </a:rPr>
              <a:t>:</a:t>
            </a:r>
            <a:r>
              <a:rPr lang="en-US" sz="2800" b="1" dirty="0">
                <a:cs typeface="Kalimati" panose="00000400000000000000" pitchFamily="2"/>
              </a:rPr>
              <a:t> </a:t>
            </a:r>
            <a:r>
              <a:rPr lang="ne-NP" sz="2800" b="1" dirty="0">
                <a:cs typeface="Kalimati" panose="00000400000000000000" pitchFamily="2"/>
              </a:rPr>
              <a:t>रणनीति, कार्यक्रम र वजेट</a:t>
            </a:r>
            <a:endParaRPr lang="en-US" sz="2800" b="1" dirty="0">
              <a:cs typeface="Kalimati" panose="00000400000000000000" pitchFamily="2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807523"/>
            <a:ext cx="12192000" cy="6050478"/>
          </a:xfrm>
        </p:spPr>
        <p:txBody>
          <a:bodyPr>
            <a:normAutofit/>
          </a:bodyPr>
          <a:lstStyle/>
          <a:p>
            <a:pPr marL="0" marR="0" indent="0" algn="just">
              <a:lnSpc>
                <a:spcPct val="107000"/>
              </a:lnSpc>
              <a:spcBef>
                <a:spcPts val="1200"/>
              </a:spcBef>
              <a:spcAft>
                <a:spcPts val="800"/>
              </a:spcAft>
              <a:buNone/>
            </a:pPr>
            <a:endParaRPr lang="ne-NP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Kalimati" panose="00000400000000000000" pitchFamily="2"/>
            </a:endParaRPr>
          </a:p>
          <a:p>
            <a:pPr marR="0" algn="just">
              <a:lnSpc>
                <a:spcPct val="107000"/>
              </a:lnSpc>
              <a:spcBef>
                <a:spcPts val="1200"/>
              </a:spcBef>
              <a:spcAft>
                <a:spcPts val="800"/>
              </a:spcAft>
              <a:buFont typeface="Wingdings" panose="05000000000000000000" pitchFamily="2" charset="2"/>
              <a:buChar char="v"/>
            </a:pPr>
            <a:r>
              <a:rPr lang="ne-NP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न्याय सम्पादन सम्बन्धी प्राथमिकता अन्तर्गत </a:t>
            </a:r>
            <a:r>
              <a:rPr lang="ne-NP" b="1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६ वटा रणनिति </a:t>
            </a:r>
            <a:r>
              <a:rPr lang="ne-NP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तथा ती रणनितिहरु अन्तरगत जम्मा </a:t>
            </a:r>
            <a:r>
              <a:rPr lang="ne-NP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५९</a:t>
            </a:r>
            <a:r>
              <a:rPr lang="ne-NP" b="1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 वटा क्रियाकलापहरु </a:t>
            </a:r>
            <a:r>
              <a:rPr lang="ne-NP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रहेका</a:t>
            </a:r>
          </a:p>
          <a:p>
            <a:pPr marR="0" algn="just">
              <a:lnSpc>
                <a:spcPct val="107000"/>
              </a:lnSpc>
              <a:spcBef>
                <a:spcPts val="1200"/>
              </a:spcBef>
              <a:spcAft>
                <a:spcPts val="800"/>
              </a:spcAft>
              <a:buFont typeface="Wingdings" panose="05000000000000000000" pitchFamily="2" charset="2"/>
              <a:buChar char="v"/>
            </a:pPr>
            <a:r>
              <a:rPr lang="ne-NP" b="1" dirty="0"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 यस प्राथमिकता अन्तर्गतका कार्यक्रमहरुको कार्यान्वयन गर्न योजना अवधिको लागि अनुमानित </a:t>
            </a:r>
            <a:r>
              <a:rPr lang="ne-NP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रु २० अर्ब ५१ करोड ७८ लाख ९५ हजार प्रक्षेपण </a:t>
            </a:r>
            <a:r>
              <a:rPr lang="ne-NP" b="1" dirty="0">
                <a:latin typeface="Calibri" panose="020F0502020204030204" pitchFamily="34" charset="0"/>
                <a:ea typeface="Calibri" panose="020F0502020204030204" pitchFamily="34" charset="0"/>
                <a:cs typeface="Kalimati" panose="00000400000000000000" pitchFamily="2"/>
              </a:rPr>
              <a:t>गरिएको ।</a:t>
            </a:r>
            <a:endParaRPr lang="ne-NP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Kalimati" panose="00000400000000000000" pitchFamily="2"/>
            </a:endParaRPr>
          </a:p>
          <a:p>
            <a:pPr marR="0" algn="just">
              <a:lnSpc>
                <a:spcPct val="107000"/>
              </a:lnSpc>
              <a:spcBef>
                <a:spcPts val="1200"/>
              </a:spcBef>
              <a:spcAft>
                <a:spcPts val="800"/>
              </a:spcAft>
              <a:buFont typeface="Wingdings" panose="05000000000000000000" pitchFamily="2" charset="2"/>
              <a:buChar char="v"/>
            </a:pPr>
            <a:endParaRPr lang="en-US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Kalimati" panose="00000400000000000000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125103902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500" y="166255"/>
            <a:ext cx="11811000" cy="760020"/>
          </a:xfrm>
        </p:spPr>
        <p:txBody>
          <a:bodyPr>
            <a:normAutofit fontScale="90000"/>
          </a:bodyPr>
          <a:lstStyle/>
          <a:p>
            <a:pPr algn="ctr">
              <a:tabLst>
                <a:tab pos="5830888" algn="l"/>
              </a:tabLs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/>
            </a:r>
            <a:b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</a:br>
            <a:r>
              <a:rPr lang="ne-NP" sz="3600" b="1" dirty="0">
                <a:effectLst/>
                <a:latin typeface="Preeti" pitchFamily="2" charset="0"/>
                <a:ea typeface="Calibri" panose="020F0502020204030204" pitchFamily="34" charset="0"/>
                <a:cs typeface="Kalimati" panose="00000400000000000000" pitchFamily="2"/>
              </a:rPr>
              <a:t>अनुगमन तथा मूल्याङ्कन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/>
            </a:r>
            <a:b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</a:br>
            <a:endParaRPr lang="en-US" sz="2800" b="1" dirty="0">
              <a:cs typeface="Kalimati" panose="00000400000000000000" pitchFamily="2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26275"/>
            <a:ext cx="12192000" cy="5931726"/>
          </a:xfrm>
        </p:spPr>
        <p:txBody>
          <a:bodyPr>
            <a:normAutofit lnSpcReduction="10000"/>
          </a:bodyPr>
          <a:lstStyle/>
          <a:p>
            <a:pPr marR="0" algn="just">
              <a:lnSpc>
                <a:spcPct val="107000"/>
              </a:lnSpc>
              <a:spcBef>
                <a:spcPts val="1200"/>
              </a:spcBef>
              <a:spcAft>
                <a:spcPts val="800"/>
              </a:spcAft>
              <a:buFont typeface="Wingdings" panose="05000000000000000000" pitchFamily="2" charset="2"/>
              <a:buChar char="v"/>
            </a:pPr>
            <a:r>
              <a:rPr lang="ne-NP" sz="2400" b="1" dirty="0">
                <a:effectLst/>
                <a:latin typeface="Preeti" pitchFamily="2" charset="0"/>
                <a:ea typeface="Calibri" panose="020F0502020204030204" pitchFamily="34" charset="0"/>
                <a:cs typeface="Kalimati" panose="00000400000000000000" pitchFamily="2"/>
              </a:rPr>
              <a:t>योजनाको अनुगमन तथा मूल्यांकन संयन्त्र</a:t>
            </a:r>
          </a:p>
          <a:p>
            <a:pPr marR="0" algn="just">
              <a:lnSpc>
                <a:spcPct val="107000"/>
              </a:lnSpc>
              <a:spcBef>
                <a:spcPts val="1200"/>
              </a:spcBef>
              <a:spcAft>
                <a:spcPts val="800"/>
              </a:spcAft>
              <a:buFont typeface="Wingdings" panose="05000000000000000000" pitchFamily="2" charset="2"/>
              <a:buChar char="v"/>
            </a:pPr>
            <a:r>
              <a:rPr lang="ne-NP" sz="2400" b="1" dirty="0">
                <a:effectLst/>
                <a:latin typeface="Preeti" pitchFamily="2" charset="0"/>
                <a:ea typeface="Calibri" panose="020F0502020204030204" pitchFamily="34" charset="0"/>
                <a:cs typeface="Kalimati" panose="00000400000000000000" pitchFamily="2"/>
              </a:rPr>
              <a:t>योजनाको अनुगमन तथा मूल्याङ्कनको विधि र प्रक्रिया</a:t>
            </a:r>
          </a:p>
          <a:p>
            <a:pPr lvl="1" algn="just">
              <a:lnSpc>
                <a:spcPct val="107000"/>
              </a:lnSpc>
              <a:spcBef>
                <a:spcPts val="1200"/>
              </a:spcBef>
              <a:spcAft>
                <a:spcPts val="800"/>
              </a:spcAft>
              <a:buFont typeface="Wingdings" panose="05000000000000000000" pitchFamily="2" charset="2"/>
              <a:buChar char="v"/>
            </a:pPr>
            <a:r>
              <a:rPr lang="ne-NP" b="1" dirty="0">
                <a:effectLst/>
                <a:latin typeface="Preeti" pitchFamily="2" charset="0"/>
                <a:ea typeface="Calibri" panose="020F0502020204030204" pitchFamily="34" charset="0"/>
                <a:cs typeface="Kalimati" panose="00000400000000000000" pitchFamily="2"/>
              </a:rPr>
              <a:t>अदालतहरुको आन्तरिक समीक्षा तथा सर्वोच्च अदालतमा हुने वार्षिक समीक्षा</a:t>
            </a:r>
          </a:p>
          <a:p>
            <a:pPr lvl="1" algn="just">
              <a:lnSpc>
                <a:spcPct val="107000"/>
              </a:lnSpc>
              <a:spcBef>
                <a:spcPts val="1200"/>
              </a:spcBef>
              <a:spcAft>
                <a:spcPts val="800"/>
              </a:spcAft>
              <a:buFont typeface="Wingdings" panose="05000000000000000000" pitchFamily="2" charset="2"/>
              <a:buChar char="v"/>
            </a:pPr>
            <a:r>
              <a:rPr lang="ne-NP" b="1" dirty="0">
                <a:effectLst/>
                <a:latin typeface="Preeti" pitchFamily="2" charset="0"/>
                <a:ea typeface="Calibri" panose="020F0502020204030204" pitchFamily="34" charset="0"/>
                <a:cs typeface="Kalimati" panose="00000400000000000000" pitchFamily="2"/>
              </a:rPr>
              <a:t>अनुसन्धान तथा योजना समितिमा हुने आवधिक प्रतिवेदन र प्रगति समीक्षा</a:t>
            </a:r>
            <a:endParaRPr lang="ne-NP" b="1" dirty="0">
              <a:latin typeface="Preeti" pitchFamily="2" charset="0"/>
              <a:ea typeface="Calibri" panose="020F0502020204030204" pitchFamily="34" charset="0"/>
              <a:cs typeface="Kalimati" panose="00000400000000000000" pitchFamily="2"/>
            </a:endParaRPr>
          </a:p>
          <a:p>
            <a:pPr lvl="1" algn="just">
              <a:lnSpc>
                <a:spcPct val="107000"/>
              </a:lnSpc>
              <a:spcBef>
                <a:spcPts val="1200"/>
              </a:spcBef>
              <a:spcAft>
                <a:spcPts val="800"/>
              </a:spcAft>
              <a:buFont typeface="Wingdings" panose="05000000000000000000" pitchFamily="2" charset="2"/>
              <a:buChar char="v"/>
            </a:pPr>
            <a:r>
              <a:rPr lang="ne-NP" b="1" dirty="0">
                <a:effectLst/>
                <a:highlight>
                  <a:srgbClr val="FFFF00"/>
                </a:highlight>
                <a:latin typeface="Preeti" pitchFamily="2" charset="0"/>
                <a:ea typeface="Calibri" panose="020F0502020204030204" pitchFamily="34" charset="0"/>
                <a:cs typeface="Kalimati" panose="00000400000000000000" pitchFamily="2"/>
              </a:rPr>
              <a:t>मध्यावधि समीक्षा</a:t>
            </a:r>
          </a:p>
          <a:p>
            <a:pPr lvl="1" algn="just">
              <a:lnSpc>
                <a:spcPct val="107000"/>
              </a:lnSpc>
              <a:spcBef>
                <a:spcPts val="1200"/>
              </a:spcBef>
              <a:spcAft>
                <a:spcPts val="800"/>
              </a:spcAft>
              <a:buFont typeface="Wingdings" panose="05000000000000000000" pitchFamily="2" charset="2"/>
              <a:buChar char="v"/>
            </a:pPr>
            <a:r>
              <a:rPr lang="ne-NP" b="1" dirty="0">
                <a:effectLst/>
                <a:latin typeface="Preeti" pitchFamily="2" charset="0"/>
                <a:ea typeface="Calibri" panose="020F0502020204030204" pitchFamily="34" charset="0"/>
                <a:cs typeface="Kalimati" panose="00000400000000000000" pitchFamily="2"/>
              </a:rPr>
              <a:t>योजनाको अन्तिम मूल्यांकन</a:t>
            </a:r>
            <a:endParaRPr lang="ne-NP" b="1" dirty="0">
              <a:latin typeface="Preeti" pitchFamily="2" charset="0"/>
              <a:ea typeface="Calibri" panose="020F0502020204030204" pitchFamily="34" charset="0"/>
              <a:cs typeface="Kalimati" panose="00000400000000000000" pitchFamily="2"/>
            </a:endParaRPr>
          </a:p>
          <a:p>
            <a:pPr lvl="1" algn="just">
              <a:lnSpc>
                <a:spcPct val="107000"/>
              </a:lnSpc>
              <a:spcBef>
                <a:spcPts val="1200"/>
              </a:spcBef>
              <a:spcAft>
                <a:spcPts val="800"/>
              </a:spcAft>
              <a:buFont typeface="Wingdings" panose="05000000000000000000" pitchFamily="2" charset="2"/>
              <a:buChar char="v"/>
            </a:pPr>
            <a:r>
              <a:rPr lang="ne-NP" b="1" dirty="0">
                <a:effectLst/>
                <a:highlight>
                  <a:srgbClr val="FFFF00"/>
                </a:highlight>
                <a:latin typeface="Preeti" pitchFamily="2" charset="0"/>
                <a:ea typeface="Calibri" panose="020F0502020204030204" pitchFamily="34" charset="0"/>
                <a:cs typeface="Kalimati" panose="00000400000000000000" pitchFamily="2"/>
              </a:rPr>
              <a:t>योजनाको प्रभाव मूल्यांकन</a:t>
            </a:r>
            <a:endParaRPr lang="ne-NP" sz="1800" b="1" dirty="0">
              <a:effectLst/>
              <a:highlight>
                <a:srgbClr val="FFFF00"/>
              </a:highlight>
              <a:latin typeface="Preeti" pitchFamily="2" charset="0"/>
              <a:ea typeface="Calibri" panose="020F0502020204030204" pitchFamily="34" charset="0"/>
              <a:cs typeface="Kalimati" panose="00000400000000000000" pitchFamily="2"/>
            </a:endParaRPr>
          </a:p>
          <a:p>
            <a:pPr marR="0" algn="just">
              <a:lnSpc>
                <a:spcPct val="107000"/>
              </a:lnSpc>
              <a:spcBef>
                <a:spcPts val="1200"/>
              </a:spcBef>
              <a:spcAft>
                <a:spcPts val="800"/>
              </a:spcAft>
              <a:buFont typeface="Wingdings" panose="05000000000000000000" pitchFamily="2" charset="2"/>
              <a:buChar char="v"/>
            </a:pPr>
            <a:r>
              <a:rPr lang="ne-NP" sz="2400" b="1" dirty="0">
                <a:effectLst/>
                <a:latin typeface="Preeti" pitchFamily="2" charset="0"/>
                <a:ea typeface="Calibri" panose="020F0502020204030204" pitchFamily="34" charset="0"/>
                <a:cs typeface="Kalimati" panose="00000400000000000000" pitchFamily="2"/>
              </a:rPr>
              <a:t>योजनाको अनुगमन तथा मूल्यांकन सम्बन्धी कार्ययोजना र प्रतिवेदन पद्धति</a:t>
            </a:r>
          </a:p>
          <a:p>
            <a:pPr lvl="1" algn="just">
              <a:lnSpc>
                <a:spcPct val="107000"/>
              </a:lnSpc>
              <a:spcBef>
                <a:spcPts val="1200"/>
              </a:spcBef>
              <a:spcAft>
                <a:spcPts val="800"/>
              </a:spcAft>
              <a:buFont typeface="Wingdings" panose="05000000000000000000" pitchFamily="2" charset="2"/>
              <a:buChar char="v"/>
            </a:pPr>
            <a:r>
              <a:rPr lang="ne-NP" b="1" dirty="0">
                <a:effectLst/>
                <a:latin typeface="Preeti" pitchFamily="2" charset="0"/>
                <a:ea typeface="Calibri" panose="020F0502020204030204" pitchFamily="34" charset="0"/>
                <a:cs typeface="Kalimati" panose="00000400000000000000" pitchFamily="2"/>
              </a:rPr>
              <a:t>परिमाणात्मक (संख्यात्मक) प्रगति प्रतिवेदन </a:t>
            </a:r>
            <a:endParaRPr lang="ne-NP" b="1" dirty="0">
              <a:latin typeface="Preeti" pitchFamily="2" charset="0"/>
              <a:ea typeface="Calibri" panose="020F0502020204030204" pitchFamily="34" charset="0"/>
              <a:cs typeface="Kalimati" panose="00000400000000000000" pitchFamily="2"/>
            </a:endParaRPr>
          </a:p>
          <a:p>
            <a:pPr lvl="1" algn="just">
              <a:lnSpc>
                <a:spcPct val="107000"/>
              </a:lnSpc>
              <a:spcBef>
                <a:spcPts val="1200"/>
              </a:spcBef>
              <a:spcAft>
                <a:spcPts val="800"/>
              </a:spcAft>
              <a:buFont typeface="Wingdings" panose="05000000000000000000" pitchFamily="2" charset="2"/>
              <a:buChar char="v"/>
            </a:pPr>
            <a:r>
              <a:rPr lang="ne-NP" b="1" dirty="0">
                <a:effectLst/>
                <a:highlight>
                  <a:srgbClr val="FFFF00"/>
                </a:highlight>
                <a:latin typeface="Preeti" pitchFamily="2" charset="0"/>
                <a:ea typeface="Calibri" panose="020F0502020204030204" pitchFamily="34" charset="0"/>
                <a:cs typeface="Kalimati" panose="00000400000000000000" pitchFamily="2"/>
              </a:rPr>
              <a:t>गुणात्मक प्रगति प्रतिवेदन </a:t>
            </a:r>
            <a:endParaRPr lang="en-US" sz="3200" dirty="0">
              <a:ln>
                <a:noFill/>
              </a:ln>
              <a:effectLst/>
              <a:highlight>
                <a:srgbClr val="FFFF00"/>
              </a:highlight>
              <a:latin typeface="Calibri" panose="020F0502020204030204" pitchFamily="34" charset="0"/>
              <a:ea typeface="Calibri" panose="020F0502020204030204" pitchFamily="34" charset="0"/>
              <a:cs typeface="Kalimati" panose="00000400000000000000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118054947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500" y="166255"/>
            <a:ext cx="11811000" cy="760020"/>
          </a:xfrm>
        </p:spPr>
        <p:txBody>
          <a:bodyPr>
            <a:normAutofit fontScale="90000"/>
          </a:bodyPr>
          <a:lstStyle/>
          <a:p>
            <a:pPr algn="ctr">
              <a:tabLst>
                <a:tab pos="5830888" algn="l"/>
              </a:tabLs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/>
            </a:r>
            <a:b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</a:br>
            <a:r>
              <a:rPr lang="ne-NP" sz="3600" b="1" dirty="0">
                <a:effectLst/>
                <a:latin typeface="Preeti" pitchFamily="2" charset="0"/>
                <a:ea typeface="Calibri" panose="020F0502020204030204" pitchFamily="34" charset="0"/>
                <a:cs typeface="Kalimati" panose="00000400000000000000" pitchFamily="2"/>
              </a:rPr>
              <a:t>अनुगमन तथा मूल्याङ्कन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/>
            </a:r>
            <a:b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</a:br>
            <a:endParaRPr lang="en-US" sz="2800" b="1" dirty="0">
              <a:cs typeface="Kalimati" panose="00000400000000000000" pitchFamily="2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CB62AC7-C702-79E7-17BE-F654505341D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82991424"/>
              </p:ext>
            </p:extLst>
          </p:nvPr>
        </p:nvGraphicFramePr>
        <p:xfrm>
          <a:off x="498764" y="1270661"/>
          <a:ext cx="10996549" cy="193573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090246">
                  <a:extLst>
                    <a:ext uri="{9D8B030D-6E8A-4147-A177-3AD203B41FA5}">
                      <a16:colId xmlns:a16="http://schemas.microsoft.com/office/drawing/2014/main" val="2607825632"/>
                    </a:ext>
                  </a:extLst>
                </a:gridCol>
                <a:gridCol w="1730046">
                  <a:extLst>
                    <a:ext uri="{9D8B030D-6E8A-4147-A177-3AD203B41FA5}">
                      <a16:colId xmlns:a16="http://schemas.microsoft.com/office/drawing/2014/main" val="2253209009"/>
                    </a:ext>
                  </a:extLst>
                </a:gridCol>
                <a:gridCol w="1364279">
                  <a:extLst>
                    <a:ext uri="{9D8B030D-6E8A-4147-A177-3AD203B41FA5}">
                      <a16:colId xmlns:a16="http://schemas.microsoft.com/office/drawing/2014/main" val="2340592410"/>
                    </a:ext>
                  </a:extLst>
                </a:gridCol>
                <a:gridCol w="1627724">
                  <a:extLst>
                    <a:ext uri="{9D8B030D-6E8A-4147-A177-3AD203B41FA5}">
                      <a16:colId xmlns:a16="http://schemas.microsoft.com/office/drawing/2014/main" val="2844861476"/>
                    </a:ext>
                  </a:extLst>
                </a:gridCol>
                <a:gridCol w="1167868">
                  <a:extLst>
                    <a:ext uri="{9D8B030D-6E8A-4147-A177-3AD203B41FA5}">
                      <a16:colId xmlns:a16="http://schemas.microsoft.com/office/drawing/2014/main" val="3559895739"/>
                    </a:ext>
                  </a:extLst>
                </a:gridCol>
                <a:gridCol w="1198448">
                  <a:extLst>
                    <a:ext uri="{9D8B030D-6E8A-4147-A177-3AD203B41FA5}">
                      <a16:colId xmlns:a16="http://schemas.microsoft.com/office/drawing/2014/main" val="2038072021"/>
                    </a:ext>
                  </a:extLst>
                </a:gridCol>
                <a:gridCol w="1190214">
                  <a:extLst>
                    <a:ext uri="{9D8B030D-6E8A-4147-A177-3AD203B41FA5}">
                      <a16:colId xmlns:a16="http://schemas.microsoft.com/office/drawing/2014/main" val="3012440852"/>
                    </a:ext>
                  </a:extLst>
                </a:gridCol>
                <a:gridCol w="1627724">
                  <a:extLst>
                    <a:ext uri="{9D8B030D-6E8A-4147-A177-3AD203B41FA5}">
                      <a16:colId xmlns:a16="http://schemas.microsoft.com/office/drawing/2014/main" val="3436392578"/>
                    </a:ext>
                  </a:extLst>
                </a:gridCol>
              </a:tblGrid>
              <a:tr h="771895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e-NP" sz="1800" dirty="0">
                          <a:effectLst/>
                        </a:rPr>
                        <a:t>सि</a:t>
                      </a:r>
                      <a:r>
                        <a:rPr lang="en-US" sz="2000" dirty="0">
                          <a:effectLst/>
                        </a:rPr>
                        <a:t>. </a:t>
                      </a:r>
                      <a:r>
                        <a:rPr lang="ne-NP" sz="1800" dirty="0">
                          <a:effectLst/>
                        </a:rPr>
                        <a:t>नं</a:t>
                      </a:r>
                      <a:r>
                        <a:rPr lang="en-US" sz="2000" dirty="0">
                          <a:effectLst/>
                        </a:rPr>
                        <a:t>.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e-NP" sz="1800" dirty="0">
                          <a:effectLst/>
                        </a:rPr>
                        <a:t>प्रमुख क्रियाकलापहरु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e-NP" sz="1800" dirty="0">
                          <a:effectLst/>
                        </a:rPr>
                        <a:t>माइलस्टोन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e-NP" sz="1800">
                          <a:effectLst/>
                        </a:rPr>
                        <a:t>माइलस्टोनका प्रकार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e-NP" sz="1800">
                          <a:effectLst/>
                        </a:rPr>
                        <a:t>प्रगति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e-NP" sz="1800">
                          <a:effectLst/>
                        </a:rPr>
                        <a:t>लक्षित महिना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e-NP" sz="1800">
                          <a:effectLst/>
                        </a:rPr>
                        <a:t>इकाई</a:t>
                      </a:r>
                      <a:endParaRPr lang="en-US" sz="1800">
                        <a:effectLst/>
                      </a:endParaRPr>
                    </a:p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 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e-NP" sz="1800">
                          <a:effectLst/>
                        </a:rPr>
                        <a:t>माइलस्टोनको अवस्था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41991136"/>
                  </a:ext>
                </a:extLst>
              </a:tr>
              <a:tr h="514637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e-NP" sz="1800">
                          <a:effectLst/>
                        </a:rPr>
                        <a:t>१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 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 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 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 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 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 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 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2574942"/>
                  </a:ext>
                </a:extLst>
              </a:tr>
              <a:tr h="649205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e-NP" sz="1800">
                          <a:effectLst/>
                        </a:rPr>
                        <a:t>२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 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 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 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 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 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 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 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78427959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3C74935-8B64-5B3E-D707-029A23FCAE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9231836"/>
              </p:ext>
            </p:extLst>
          </p:nvPr>
        </p:nvGraphicFramePr>
        <p:xfrm>
          <a:off x="498764" y="3788228"/>
          <a:ext cx="10996548" cy="270399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487140">
                  <a:extLst>
                    <a:ext uri="{9D8B030D-6E8A-4147-A177-3AD203B41FA5}">
                      <a16:colId xmlns:a16="http://schemas.microsoft.com/office/drawing/2014/main" val="3669562854"/>
                    </a:ext>
                  </a:extLst>
                </a:gridCol>
                <a:gridCol w="3598870">
                  <a:extLst>
                    <a:ext uri="{9D8B030D-6E8A-4147-A177-3AD203B41FA5}">
                      <a16:colId xmlns:a16="http://schemas.microsoft.com/office/drawing/2014/main" val="1998678704"/>
                    </a:ext>
                  </a:extLst>
                </a:gridCol>
                <a:gridCol w="2328681">
                  <a:extLst>
                    <a:ext uri="{9D8B030D-6E8A-4147-A177-3AD203B41FA5}">
                      <a16:colId xmlns:a16="http://schemas.microsoft.com/office/drawing/2014/main" val="3852920828"/>
                    </a:ext>
                  </a:extLst>
                </a:gridCol>
                <a:gridCol w="1581857">
                  <a:extLst>
                    <a:ext uri="{9D8B030D-6E8A-4147-A177-3AD203B41FA5}">
                      <a16:colId xmlns:a16="http://schemas.microsoft.com/office/drawing/2014/main" val="3698029469"/>
                    </a:ext>
                  </a:extLst>
                </a:gridCol>
              </a:tblGrid>
              <a:tr h="962163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e-NP" sz="1800" dirty="0">
                          <a:effectLst/>
                        </a:rPr>
                        <a:t>माइलस्टोन प्रकार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…….</a:t>
                      </a:r>
                      <a:r>
                        <a:rPr lang="ne-NP" sz="1800" dirty="0">
                          <a:effectLst/>
                        </a:rPr>
                        <a:t>महिनासम्म शुरु भई निर्धारित लक्ष्य हासिल हुनुपर्ने</a:t>
                      </a:r>
                      <a:r>
                        <a:rPr lang="en-US" sz="1800" dirty="0">
                          <a:effectLst/>
                        </a:rPr>
                        <a:t> (</a:t>
                      </a:r>
                      <a:r>
                        <a:rPr lang="en-US" sz="1800" dirty="0" err="1">
                          <a:effectLst/>
                        </a:rPr>
                        <a:t>Multimonth</a:t>
                      </a:r>
                      <a:r>
                        <a:rPr lang="en-US" sz="1800" dirty="0">
                          <a:effectLst/>
                        </a:rPr>
                        <a:t>) (Weightage 50%)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……  </a:t>
                      </a:r>
                      <a:r>
                        <a:rPr lang="ne-NP" sz="1800">
                          <a:effectLst/>
                        </a:rPr>
                        <a:t>सम्म सम्पन्न हुनुपर्ने </a:t>
                      </a:r>
                      <a:r>
                        <a:rPr lang="en-US" sz="1800">
                          <a:effectLst/>
                        </a:rPr>
                        <a:t>(Weightage 50%)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e-NP" sz="1800">
                          <a:effectLst/>
                        </a:rPr>
                        <a:t>कुल जम्मा 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73885662"/>
                  </a:ext>
                </a:extLst>
              </a:tr>
              <a:tr h="378838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e-NP" sz="1800">
                          <a:effectLst/>
                        </a:rPr>
                        <a:t>जम्मा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 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93916508"/>
                  </a:ext>
                </a:extLst>
              </a:tr>
              <a:tr h="239272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e-NP" sz="1800">
                          <a:effectLst/>
                        </a:rPr>
                        <a:t>निर्धारित लक्ष्य हासिल भएका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 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30544167"/>
                  </a:ext>
                </a:extLst>
              </a:tr>
              <a:tr h="482502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e-NP" sz="1800">
                          <a:effectLst/>
                        </a:rPr>
                        <a:t>निर्धारित लक्ष्य हासिल नभएका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 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30607322"/>
                  </a:ext>
                </a:extLst>
              </a:tr>
              <a:tr h="239272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e-NP" sz="1800">
                          <a:effectLst/>
                        </a:rPr>
                        <a:t>प्रगति प्रतिशत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 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 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86695767"/>
                  </a:ext>
                </a:extLst>
              </a:tr>
              <a:tr h="239272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ne-NP" sz="1800">
                          <a:effectLst/>
                        </a:rPr>
                        <a:t>भारित प्रगति प्रतिशत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 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 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Mangal" panose="02040503050203030202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648258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10366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2229</TotalTime>
  <Words>4004</Words>
  <Application>Microsoft Office PowerPoint</Application>
  <PresentationFormat>Widescreen</PresentationFormat>
  <Paragraphs>476</Paragraphs>
  <Slides>41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51" baseType="lpstr">
      <vt:lpstr>Arial</vt:lpstr>
      <vt:lpstr>Calibri</vt:lpstr>
      <vt:lpstr>Calibri Light</vt:lpstr>
      <vt:lpstr>Cambria</vt:lpstr>
      <vt:lpstr>Kalimati</vt:lpstr>
      <vt:lpstr>Mangal</vt:lpstr>
      <vt:lpstr>Preeti</vt:lpstr>
      <vt:lpstr>Times New Roman</vt:lpstr>
      <vt:lpstr>Wingdings</vt:lpstr>
      <vt:lpstr>Office Theme</vt:lpstr>
      <vt:lpstr>  न्यायपालिकाको पाँचौ पञ्चबर्षीय रणनीतिक योजना   (2081/082-2085/086)   </vt:lpstr>
      <vt:lpstr>न्यायपालिकामा रणनीतिक योजनाको पृष्ठभुमी</vt:lpstr>
      <vt:lpstr>रणनीतिक योजनाहरुको तर्जुमा र कार्यान्वयन</vt:lpstr>
      <vt:lpstr>पाँचौ पञ्चवर्षीय रणनितिक योजना र यसका मुख्य विशेषता</vt:lpstr>
      <vt:lpstr>मुख्य विशेषता............</vt:lpstr>
      <vt:lpstr>योजना तर्जुमाका आधार वा मार्गदर्शनहरु</vt:lpstr>
      <vt:lpstr> पाँचौ योजनाको परिदृश्य, परिलक्ष्य र मूल्यहरू </vt:lpstr>
      <vt:lpstr> पाँचौ योजनाका प्राथमिकताहरू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न्याय सम्पादनका सँख्यात्मक र अवधिगत लक्ष्य</vt:lpstr>
      <vt:lpstr>न्याय सम्पादनका सँख्यात्मक र अवधिगत लक्ष्य</vt:lpstr>
      <vt:lpstr>न्याय सम्पादनका सँख्यात्मक र अवधिगत लक्ष्य</vt:lpstr>
      <vt:lpstr>न्याय सम्पादनका सँख्यात्मक र अवधिगत लक्ष्य</vt:lpstr>
      <vt:lpstr>न्याय सम्पादनका सँख्यात्मक र अवधिगत लक्ष्य</vt:lpstr>
      <vt:lpstr>न्याय सम्पादनका सँख्यात्मक र अवधिगत लक्ष्य</vt:lpstr>
      <vt:lpstr>न्याय सम्पादन : मुख्य क्रियाकलापहरु</vt:lpstr>
      <vt:lpstr>न्याय सम्पादन : मुख्य क्रियाकलापहरु</vt:lpstr>
      <vt:lpstr>न्याय सम्पादन : मुख्य क्रियाकलापहरु</vt:lpstr>
      <vt:lpstr>न्याय सम्पादन : मुख्य क्रियाकलापहरु</vt:lpstr>
      <vt:lpstr>न्याय सम्पादन : मुख्य क्रियाकलापहरु</vt:lpstr>
      <vt:lpstr>न्याय सम्पादन : मुख्य क्रियाकलापहरु</vt:lpstr>
      <vt:lpstr>न्याय सम्पादन : मुख्य क्रियाकलापहरु</vt:lpstr>
      <vt:lpstr>न्याय सम्पादन : मुख्य क्रियाकलापहरु</vt:lpstr>
      <vt:lpstr>न्याय सम्पादन : लक्ष्य, रणनीति, क्रियाकलापहरु र वजेट</vt:lpstr>
      <vt:lpstr>न्यायमा पहुँच : मुख्य क्रियाकलापहरु</vt:lpstr>
      <vt:lpstr>न्यायमा पहुँच : मुख्य क्रियाकलापहरु</vt:lpstr>
      <vt:lpstr>न्यायमा पहुँच : लक्ष्य, रणनीति, क्रियाकलापहरु र वजेट</vt:lpstr>
      <vt:lpstr>सुशासन र जनआस्था: मुख्य क्रियाकलापहरु</vt:lpstr>
      <vt:lpstr>सुशासन र जनआस्था : रणनीति, कार्यक्रम र वजेट</vt:lpstr>
      <vt:lpstr>सूचना प्रविधि: मुख्य क्रियाकलापहरु</vt:lpstr>
      <vt:lpstr>सूचना प्रविधि: मुख्य क्रियाकलापहरु</vt:lpstr>
      <vt:lpstr>सूचना प्रविधि : रणनीति, कार्यक्रम र वजेट</vt:lpstr>
      <vt:lpstr> मानव संशाधन तथा भौतिक पूर्वाधार: मुख्य क्रियाकलापहरु</vt:lpstr>
      <vt:lpstr> मानव संशाधन तथा भौतिक पूर्वाधार: लक्ष्य तथा मुख्य क्रियाकलापहरु</vt:lpstr>
      <vt:lpstr>मानव संशाधन तथा भौतिक पूर्वाधार : रणनीति, कार्यक्रम र वजेट</vt:lpstr>
      <vt:lpstr> अनुगमन तथा मूल्याङ्कन </vt:lpstr>
      <vt:lpstr> अनुगमन तथा मूल्याङ्कन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bishnu prasad</dc:creator>
  <cp:lastModifiedBy>Lalbahadur kunwar</cp:lastModifiedBy>
  <cp:revision>516</cp:revision>
  <dcterms:created xsi:type="dcterms:W3CDTF">2024-04-05T04:54:39Z</dcterms:created>
  <dcterms:modified xsi:type="dcterms:W3CDTF">2026-01-17T07:49:31Z</dcterms:modified>
</cp:coreProperties>
</file>