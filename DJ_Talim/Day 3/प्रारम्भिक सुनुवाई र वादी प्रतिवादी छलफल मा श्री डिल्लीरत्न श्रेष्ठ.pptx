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5" r:id="rId4"/>
    <p:sldId id="257" r:id="rId5"/>
    <p:sldId id="259" r:id="rId6"/>
    <p:sldId id="260" r:id="rId7"/>
    <p:sldId id="261" r:id="rId8"/>
    <p:sldId id="278" r:id="rId9"/>
    <p:sldId id="279" r:id="rId10"/>
    <p:sldId id="280" r:id="rId11"/>
    <p:sldId id="263" r:id="rId12"/>
    <p:sldId id="265" r:id="rId13"/>
    <p:sldId id="266" r:id="rId14"/>
    <p:sldId id="267" r:id="rId15"/>
    <p:sldId id="268" r:id="rId16"/>
    <p:sldId id="271" r:id="rId17"/>
    <p:sldId id="272" r:id="rId18"/>
    <p:sldId id="274" r:id="rId19"/>
    <p:sldId id="277" r:id="rId20"/>
    <p:sldId id="281" r:id="rId21"/>
    <p:sldId id="282" r:id="rId22"/>
    <p:sldId id="283" r:id="rId23"/>
    <p:sldId id="28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A90E-18D9-433C-A91A-91B4DE79CD3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76854-06F3-4466-B87B-7A1DD14A1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533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A90E-18D9-433C-A91A-91B4DE79CD3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76854-06F3-4466-B87B-7A1DD14A1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40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A90E-18D9-433C-A91A-91B4DE79CD3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76854-06F3-4466-B87B-7A1DD14A1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000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A90E-18D9-433C-A91A-91B4DE79CD3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76854-06F3-4466-B87B-7A1DD14A1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988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A90E-18D9-433C-A91A-91B4DE79CD3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76854-06F3-4466-B87B-7A1DD14A1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10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A90E-18D9-433C-A91A-91B4DE79CD3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76854-06F3-4466-B87B-7A1DD14A1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60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A90E-18D9-433C-A91A-91B4DE79CD3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76854-06F3-4466-B87B-7A1DD14A1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77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A90E-18D9-433C-A91A-91B4DE79CD3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76854-06F3-4466-B87B-7A1DD14A1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791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A90E-18D9-433C-A91A-91B4DE79CD3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76854-06F3-4466-B87B-7A1DD14A1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382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A90E-18D9-433C-A91A-91B4DE79CD3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76854-06F3-4466-B87B-7A1DD14A1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128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A90E-18D9-433C-A91A-91B4DE79CD3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76854-06F3-4466-B87B-7A1DD14A1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132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3A90E-18D9-433C-A91A-91B4DE79CD3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676854-06F3-4466-B87B-7A1DD14A1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06292"/>
          </a:xfrm>
        </p:spPr>
        <p:txBody>
          <a:bodyPr/>
          <a:lstStyle/>
          <a:p>
            <a:r>
              <a:rPr lang="ne-NP" dirty="0" smtClean="0">
                <a:cs typeface="Kalimati" panose="00000400000000000000" pitchFamily="2"/>
              </a:rPr>
              <a:t>प्रारम्भिक सुनुवाई </a:t>
            </a:r>
            <a:r>
              <a:rPr lang="en-US" dirty="0" smtClean="0">
                <a:cs typeface="Kalimati" panose="00000400000000000000" pitchFamily="2"/>
              </a:rPr>
              <a:t/>
            </a:r>
            <a:br>
              <a:rPr lang="en-US" dirty="0" smtClean="0">
                <a:cs typeface="Kalimati" panose="00000400000000000000" pitchFamily="2"/>
              </a:rPr>
            </a:br>
            <a:r>
              <a:rPr lang="ne-NP" dirty="0" smtClean="0">
                <a:cs typeface="Kalimati" panose="00000400000000000000" pitchFamily="2"/>
              </a:rPr>
              <a:t>र </a:t>
            </a:r>
            <a:r>
              <a:rPr lang="en-US" dirty="0" smtClean="0">
                <a:cs typeface="Kalimati" panose="00000400000000000000" pitchFamily="2"/>
              </a:rPr>
              <a:t/>
            </a:r>
            <a:br>
              <a:rPr lang="en-US" dirty="0" smtClean="0">
                <a:cs typeface="Kalimati" panose="00000400000000000000" pitchFamily="2"/>
              </a:rPr>
            </a:br>
            <a:r>
              <a:rPr lang="ne-NP" dirty="0" smtClean="0">
                <a:cs typeface="Kalimati" panose="00000400000000000000" pitchFamily="2"/>
              </a:rPr>
              <a:t>वादी प्रतिवादी छलफल</a:t>
            </a:r>
            <a:endParaRPr lang="en-US" dirty="0">
              <a:cs typeface="Kalimati" panose="00000400000000000000" pitchFamily="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39708" y="4848943"/>
            <a:ext cx="3528291" cy="1655762"/>
          </a:xfrm>
        </p:spPr>
        <p:txBody>
          <a:bodyPr/>
          <a:lstStyle/>
          <a:p>
            <a:r>
              <a:rPr lang="ne-NP" dirty="0" smtClean="0"/>
              <a:t>डिल्लीरत्न श्रेष्ठ</a:t>
            </a:r>
          </a:p>
          <a:p>
            <a:r>
              <a:rPr lang="ne-NP" dirty="0" smtClean="0"/>
              <a:t>विशेष अदालत</a:t>
            </a:r>
          </a:p>
          <a:p>
            <a:r>
              <a:rPr lang="en-US" dirty="0" smtClean="0"/>
              <a:t>dilliratna@gmail.com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321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प्रारम्भिक सुनुवाई किन?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e-NP" dirty="0" smtClean="0"/>
              <a:t>अनाबश्यक मुद्दाहरूको रोकथाम</a:t>
            </a:r>
          </a:p>
          <a:p>
            <a:pPr marL="0" indent="0">
              <a:buNone/>
            </a:pPr>
            <a:r>
              <a:rPr lang="ne-NP" dirty="0" smtClean="0"/>
              <a:t>...</a:t>
            </a:r>
            <a:endParaRPr lang="en-US" dirty="0" smtClean="0"/>
          </a:p>
          <a:p>
            <a:pPr marL="0" indent="0">
              <a:buNone/>
            </a:pPr>
            <a:endParaRPr lang="ne-NP" dirty="0" smtClean="0"/>
          </a:p>
          <a:p>
            <a:pPr marL="0" indent="0">
              <a:buNone/>
            </a:pPr>
            <a:endParaRPr lang="ne-NP" dirty="0"/>
          </a:p>
          <a:p>
            <a:pPr marL="0" indent="0">
              <a:buNone/>
            </a:pPr>
            <a:endParaRPr lang="ne-NP" dirty="0" smtClean="0"/>
          </a:p>
          <a:p>
            <a:pPr marL="0" indent="0">
              <a:buNone/>
            </a:pPr>
            <a:endParaRPr lang="ne-NP" dirty="0" smtClean="0"/>
          </a:p>
          <a:p>
            <a:pPr marL="0" indent="0">
              <a:buNone/>
            </a:pPr>
            <a:endParaRPr lang="ne-NP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ne-NP" dirty="0" smtClean="0"/>
              <a:t>हरेक कानून प्रणालीका आ-आफ्नै</a:t>
            </a:r>
          </a:p>
          <a:p>
            <a:pPr marL="0" indent="0">
              <a:buNone/>
            </a:pPr>
            <a:r>
              <a:rPr lang="ne-NP" dirty="0" smtClean="0"/>
              <a:t>अभ्यासहरु छन्।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2858" y="1825625"/>
            <a:ext cx="6592246" cy="438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86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730"/>
          </a:xfrm>
        </p:spPr>
        <p:txBody>
          <a:bodyPr/>
          <a:lstStyle/>
          <a:p>
            <a:r>
              <a:rPr lang="ne-NP" dirty="0" smtClean="0"/>
              <a:t>अम्यास-१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3856"/>
            <a:ext cx="10515600" cy="4893107"/>
          </a:xfrm>
        </p:spPr>
        <p:txBody>
          <a:bodyPr/>
          <a:lstStyle/>
          <a:p>
            <a:r>
              <a:rPr lang="ne-NP" dirty="0" smtClean="0"/>
              <a:t>आर सप्लायर्सबाट टि कन्स्ट्रक्सनले नगद तथा उधारोमा सामान लाने गरेकोमा केही रकम तिर्न बाँकी रहेको।</a:t>
            </a:r>
          </a:p>
          <a:p>
            <a:r>
              <a:rPr lang="ne-NP" dirty="0" smtClean="0"/>
              <a:t>२०७२।०४।२४ मा ७ दिन भित्र बाँकी रकम चुक्ता नगरेमा कानूनी कार्वाही अगाडी बढाउने पत्र लेखेको तर विवाद यथावत रहेको।</a:t>
            </a:r>
          </a:p>
          <a:p>
            <a:r>
              <a:rPr lang="ne-NP" dirty="0" smtClean="0"/>
              <a:t>२०७५।।१।११ मा बाँकी रकम रू ४,२६,४११।– चुक्ता गर्नु भन्ने पत्र लेखी जिल्ला अदालतमा २०७६।०१।०२ मा फिराद दायर भएको।</a:t>
            </a:r>
          </a:p>
          <a:p>
            <a:r>
              <a:rPr lang="ne-NP" dirty="0" smtClean="0"/>
              <a:t>लेनदेन ब्यबहारको ४० नं. को हदम्याद नघाई दायर भएको फिराद प्रारम्भिक सुनुवाईबाट खारेज गरी पाँउ भन्ने प्रतिउत्तर पत्र।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933" y="4919786"/>
            <a:ext cx="7628521" cy="12700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933" y="6034815"/>
            <a:ext cx="7628521" cy="757856"/>
          </a:xfrm>
          <a:prstGeom prst="rect">
            <a:avLst/>
          </a:prstGeom>
        </p:spPr>
      </p:pic>
      <p:cxnSp>
        <p:nvCxnSpPr>
          <p:cNvPr id="7" name="Straight Connector 6"/>
          <p:cNvCxnSpPr>
            <a:endCxn id="5" idx="3"/>
          </p:cNvCxnSpPr>
          <p:nvPr/>
        </p:nvCxnSpPr>
        <p:spPr>
          <a:xfrm>
            <a:off x="5763491" y="6400800"/>
            <a:ext cx="3749963" cy="1294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908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ऐतिहासिक पृष्टभूमि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39" y="1690688"/>
            <a:ext cx="11173952" cy="4980228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1212945" y="3463636"/>
            <a:ext cx="41563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838200" y="400129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838200" y="4091709"/>
            <a:ext cx="5257800" cy="923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262909" y="4692073"/>
            <a:ext cx="8719127" cy="3694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5781964" y="2817091"/>
            <a:ext cx="5763491" cy="3694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838200" y="3463636"/>
            <a:ext cx="3622964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8843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5457"/>
          </a:xfrm>
        </p:spPr>
        <p:txBody>
          <a:bodyPr>
            <a:normAutofit fontScale="90000"/>
          </a:bodyPr>
          <a:lstStyle/>
          <a:p>
            <a:r>
              <a:rPr lang="ne-NP" dirty="0" smtClean="0"/>
              <a:t>क्रमशः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257" y="1459345"/>
            <a:ext cx="11300016" cy="16192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332" y="4648948"/>
            <a:ext cx="11108174" cy="129927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454697" y="3448288"/>
            <a:ext cx="65138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e-NP" sz="2400" dirty="0" smtClean="0">
                <a:solidFill>
                  <a:srgbClr val="555555"/>
                </a:solidFill>
                <a:ea typeface="Times New Roman" panose="02020603050405020304" pitchFamily="18" charset="0"/>
                <a:cs typeface="Kokila" panose="020B0604020202020204" pitchFamily="34" charset="0"/>
              </a:rPr>
              <a:t> </a:t>
            </a:r>
            <a:r>
              <a:rPr lang="ne-NP" sz="2400" dirty="0">
                <a:solidFill>
                  <a:srgbClr val="555555"/>
                </a:solidFill>
                <a:ea typeface="Times New Roman" panose="02020603050405020304" pitchFamily="18" charset="0"/>
                <a:cs typeface="Kokila" panose="020B0604020202020204" pitchFamily="34" charset="0"/>
              </a:rPr>
              <a:t>ने।का।प। २०५६ नि। नं। ६६९० मा हदम्यादको प्रश्न कानूनी प्रश्न भएकोले पक्षले चुनौती नदिए पनि अदालतले जहिलेसुकै पनि त्यो विषयमा विचार </a:t>
            </a:r>
            <a:r>
              <a:rPr lang="ne-NP" sz="2400" dirty="0" smtClean="0">
                <a:solidFill>
                  <a:srgbClr val="555555"/>
                </a:solidFill>
                <a:ea typeface="Times New Roman" panose="02020603050405020304" pitchFamily="18" charset="0"/>
                <a:cs typeface="Kokila" panose="020B0604020202020204" pitchFamily="34" charset="0"/>
              </a:rPr>
              <a:t>गर्नुपर्ने।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41035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/>
              <a:t>क्रमशः</a:t>
            </a:r>
            <a:br>
              <a:rPr lang="ne-NP" dirty="0"/>
            </a:br>
            <a:r>
              <a:rPr lang="ne-NP" dirty="0"/>
              <a:t>अ.बं. २९ क्षेत्राधिकार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8788" y="2632364"/>
            <a:ext cx="11338257" cy="2733963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838200" y="3648364"/>
            <a:ext cx="206201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0039927" y="4729018"/>
            <a:ext cx="148705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748145" y="5255491"/>
            <a:ext cx="7407564" cy="2770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177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क्रमशः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739" y="3038764"/>
            <a:ext cx="11083636" cy="1985818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1644073" y="3925455"/>
            <a:ext cx="4054763" cy="1847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069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4293"/>
            <a:ext cx="10515600" cy="641639"/>
          </a:xfrm>
        </p:spPr>
        <p:txBody>
          <a:bodyPr>
            <a:normAutofit fontScale="90000"/>
          </a:bodyPr>
          <a:lstStyle/>
          <a:p>
            <a:r>
              <a:rPr lang="ne-NP" dirty="0" smtClean="0"/>
              <a:t>क्रमशः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362" y="1071423"/>
            <a:ext cx="10871002" cy="5694611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7148945" y="1939636"/>
            <a:ext cx="3833091" cy="923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692727" y="2364509"/>
            <a:ext cx="6742546" cy="6465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775200" y="4304145"/>
            <a:ext cx="6206836" cy="2771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692727" y="4756727"/>
            <a:ext cx="2429164" cy="1847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717964" y="6188364"/>
            <a:ext cx="9264072" cy="2770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692727" y="6659418"/>
            <a:ext cx="201352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440873" y="3777673"/>
            <a:ext cx="7028872" cy="4618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6810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मध्यस्थता ऐन, २०५५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518" y="1334908"/>
            <a:ext cx="9633523" cy="551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44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226964" cy="989123"/>
          </a:xfrm>
        </p:spPr>
        <p:txBody>
          <a:bodyPr/>
          <a:lstStyle/>
          <a:p>
            <a:r>
              <a:rPr lang="ne-NP" dirty="0" smtClean="0"/>
              <a:t>मुलुकी फौजदारी कार्यविधि संहिता, २०७४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54248"/>
            <a:ext cx="9321799" cy="5361964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7906327" y="2900218"/>
            <a:ext cx="1736437" cy="1847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717964" y="3297382"/>
            <a:ext cx="266930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320145" y="3731489"/>
            <a:ext cx="3796146" cy="1847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865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मुलुकी देवानी कार्यविधि संहिता, २०७४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453967"/>
            <a:ext cx="11201372" cy="34967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016" y="4932219"/>
            <a:ext cx="8444326" cy="106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6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008" y="55431"/>
            <a:ext cx="10546391" cy="657941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</p:pic>
      <p:cxnSp>
        <p:nvCxnSpPr>
          <p:cNvPr id="3" name="Straight Connector 2"/>
          <p:cNvCxnSpPr/>
          <p:nvPr/>
        </p:nvCxnSpPr>
        <p:spPr>
          <a:xfrm>
            <a:off x="6271491" y="1052946"/>
            <a:ext cx="4331854" cy="923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1394691" y="1487055"/>
            <a:ext cx="3953164" cy="923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996873" y="471055"/>
            <a:ext cx="2946400" cy="923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5661891" y="2392218"/>
            <a:ext cx="4941454" cy="923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084945" y="6123709"/>
            <a:ext cx="7389091" cy="2770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1394691" y="6539345"/>
            <a:ext cx="2558473" cy="1847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240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623" y="1219212"/>
            <a:ext cx="12020982" cy="4257951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7786255" y="3583709"/>
            <a:ext cx="3999345" cy="3694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1968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5279" y="341746"/>
            <a:ext cx="10482393" cy="312241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145" y="3243547"/>
            <a:ext cx="9619300" cy="3249617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4184073" y="2456873"/>
            <a:ext cx="6936509" cy="2770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1856509" y="3029527"/>
            <a:ext cx="7989455" cy="5541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551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9596" y="217812"/>
            <a:ext cx="9279860" cy="22205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1630" y="2401459"/>
            <a:ext cx="7980894" cy="9051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595" y="3386529"/>
            <a:ext cx="8968949" cy="342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22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अभ्यास क्रमशः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6364"/>
            <a:ext cx="10864272" cy="4858327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ne-NP" dirty="0" smtClean="0"/>
              <a:t>प्रतिवादीलाई </a:t>
            </a:r>
            <a:r>
              <a:rPr lang="ne-NP" dirty="0"/>
              <a:t>अन्तिम पटक रकम भुक्तानीका </a:t>
            </a:r>
            <a:r>
              <a:rPr lang="ne-NP" dirty="0" smtClean="0"/>
              <a:t>लागि मिति </a:t>
            </a:r>
            <a:r>
              <a:rPr lang="ne-NP" dirty="0"/>
              <a:t>२०७५।।१।११ मा पत्र पठाउँदासमेत रकम नदिएको हुँदा सोही मितिबाट मुद्दा गर्नुपर्ने कारण </a:t>
            </a:r>
            <a:r>
              <a:rPr lang="ne-NP" dirty="0" smtClean="0"/>
              <a:t>परेको मान्नु पर्ने हुँदा वादीको फिराद हदम्याद नाघी दर्ता भएको भन्न मिलेन </a:t>
            </a:r>
            <a:r>
              <a:rPr lang="ne-NP" dirty="0"/>
              <a:t>भनी काठमाडौं जिल्ला अदालतबाट मिति २०७६।०५।२६ मा भएको </a:t>
            </a:r>
            <a:r>
              <a:rPr lang="ne-NP" dirty="0" smtClean="0"/>
              <a:t>आदेश। </a:t>
            </a:r>
          </a:p>
          <a:p>
            <a:pPr marL="0" indent="0" algn="just">
              <a:buNone/>
            </a:pPr>
            <a:endParaRPr lang="ne-NP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ne-NP" dirty="0" smtClean="0"/>
              <a:t>प्रतिवादीतर्फबाट </a:t>
            </a:r>
            <a:r>
              <a:rPr lang="ne-NP" dirty="0"/>
              <a:t>मुलुकी देवानी कार्यविधि संहिता</a:t>
            </a:r>
            <a:r>
              <a:rPr lang="en-US" dirty="0"/>
              <a:t>, </a:t>
            </a:r>
            <a:r>
              <a:rPr lang="ne-NP" dirty="0"/>
              <a:t>२०७४ को दफा १५७ को उपदफा </a:t>
            </a:r>
            <a:r>
              <a:rPr lang="ne-NP" dirty="0" smtClean="0"/>
              <a:t>(१) </a:t>
            </a:r>
            <a:r>
              <a:rPr lang="ne-NP" dirty="0"/>
              <a:t>को खण्ड </a:t>
            </a:r>
            <a:r>
              <a:rPr lang="ne-NP" dirty="0" smtClean="0"/>
              <a:t>(ग) बमोजिम परेको निवेदन। </a:t>
            </a:r>
          </a:p>
          <a:p>
            <a:pPr marL="0" indent="0" algn="just">
              <a:buNone/>
            </a:pPr>
            <a:endParaRPr lang="ne-NP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ne-NP" dirty="0" smtClean="0"/>
              <a:t>शुरु अदालतको आदेश कानून बमोजिम कै देखिँदा सदर हुने भनी उच्च </a:t>
            </a:r>
            <a:r>
              <a:rPr lang="ne-NP" dirty="0"/>
              <a:t>अदालत पाटनबाट मिति २०७६।०९।१७ मा काठमाडौं जिल्ला अदालतबाट</a:t>
            </a:r>
            <a:r>
              <a:rPr lang="en-US" dirty="0"/>
              <a:t>  </a:t>
            </a:r>
            <a:r>
              <a:rPr lang="ne-NP" dirty="0"/>
              <a:t>भएको आदेश सदर </a:t>
            </a:r>
            <a:r>
              <a:rPr lang="ne-NP" dirty="0" smtClean="0"/>
              <a:t>भएको। </a:t>
            </a:r>
            <a:endParaRPr lang="ne-NP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226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सर्वोच्च अदालतमा रिट दायर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679545" cy="4626985"/>
          </a:xfrm>
        </p:spPr>
        <p:txBody>
          <a:bodyPr/>
          <a:lstStyle/>
          <a:p>
            <a:pPr algn="just"/>
            <a:r>
              <a:rPr lang="ne-NP" dirty="0"/>
              <a:t>व्यक्तिको मुद्दा गर्ने हकदैया</a:t>
            </a:r>
            <a:r>
              <a:rPr lang="en-US" dirty="0"/>
              <a:t>, </a:t>
            </a:r>
            <a:r>
              <a:rPr lang="ne-NP" dirty="0"/>
              <a:t>हदम्याद र मुद्दाको </a:t>
            </a:r>
            <a:r>
              <a:rPr lang="ne-NP" dirty="0" smtClean="0"/>
              <a:t>सुनुवाई </a:t>
            </a:r>
            <a:r>
              <a:rPr lang="ne-NP" dirty="0"/>
              <a:t>तथा किनारा गर्ने अदालतको अधिकारक्षेत्र नदेखिएको भनी मुद्दाको आधारभूत गम्भीर प्रश्नमा गरिएको </a:t>
            </a:r>
            <a:r>
              <a:rPr lang="ne-NP" dirty="0" smtClean="0"/>
              <a:t>निर्णय उपरको </a:t>
            </a:r>
            <a:r>
              <a:rPr lang="ne-NP" dirty="0" smtClean="0"/>
              <a:t>अपिलीय </a:t>
            </a:r>
            <a:r>
              <a:rPr lang="ne-NP" dirty="0"/>
              <a:t>अधिकारलाई पूर्णविराम लगाउने गरी भएको कानूनी प्रावधानका सम्बन्धमा यस अदालतबाट विविध मुद्दाहरूमा भए गरिएका व्याख्याहरूको परिप्रेक्ष्यमा गहनतम व्याख्या हुनुपर्ने देखिँदा पूर्ण इजलासबाट निर्णय भई एकरूपता र स्पष्ट मार्गदर्शन हुन वाञ्छनीय हुने भनी यस इजलासले महसुस गरेकोले सर्वोच्च अदालत नियमावली</a:t>
            </a:r>
            <a:r>
              <a:rPr lang="en-US" dirty="0"/>
              <a:t>, </a:t>
            </a:r>
            <a:r>
              <a:rPr lang="ne-NP" dirty="0"/>
              <a:t>२०७४ को नियम </a:t>
            </a:r>
            <a:r>
              <a:rPr lang="ne-NP" dirty="0" smtClean="0"/>
              <a:t>२३(२)(ग) </a:t>
            </a:r>
            <a:r>
              <a:rPr lang="ne-NP" dirty="0"/>
              <a:t>बमोजिम प्रस्तुत मुद्दा यस अदालतको पूर्ण इजलाससमक्ष पेस गर्नु भन्नेसमेत बेहोराको </a:t>
            </a:r>
            <a:r>
              <a:rPr lang="ne-NP" dirty="0" smtClean="0"/>
              <a:t>सर्वोच्च </a:t>
            </a:r>
            <a:r>
              <a:rPr lang="ne-NP" dirty="0"/>
              <a:t>अदालतको संयुक्त इजलासबाट मिति २०७९।१०।११ मा भएको </a:t>
            </a:r>
            <a:r>
              <a:rPr lang="ne-NP" dirty="0" smtClean="0"/>
              <a:t>आदेश।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555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पूर्ण इजलाशको फैसला आदेश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291"/>
            <a:ext cx="10515600" cy="527396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ne-NP" dirty="0" smtClean="0">
                <a:cs typeface="Kalimati" panose="00000400000000000000" pitchFamily="2"/>
              </a:rPr>
              <a:t>कानूनत</a:t>
            </a:r>
            <a:r>
              <a:rPr lang="en-US" dirty="0" smtClean="0">
                <a:cs typeface="Kalimati" panose="00000400000000000000" pitchFamily="2"/>
              </a:rPr>
              <a:t>:</a:t>
            </a:r>
            <a:r>
              <a:rPr lang="ne-NP" dirty="0" smtClean="0">
                <a:cs typeface="Kalimati" panose="00000400000000000000" pitchFamily="2"/>
              </a:rPr>
              <a:t> </a:t>
            </a:r>
            <a:r>
              <a:rPr lang="ne-NP" dirty="0">
                <a:cs typeface="Kalimati" panose="00000400000000000000" pitchFamily="2"/>
              </a:rPr>
              <a:t>प्रारम्भिक </a:t>
            </a:r>
            <a:r>
              <a:rPr lang="ne-NP" dirty="0" smtClean="0">
                <a:cs typeface="Kalimati" panose="00000400000000000000" pitchFamily="2"/>
              </a:rPr>
              <a:t>सुनुवाई </a:t>
            </a:r>
            <a:r>
              <a:rPr lang="ne-NP" dirty="0">
                <a:cs typeface="Kalimati" panose="00000400000000000000" pitchFamily="2"/>
              </a:rPr>
              <a:t>गर्ने अधिकार जिल्ला अदालतलाई नभएको भन्ने अवस्था </a:t>
            </a:r>
            <a:r>
              <a:rPr lang="ne-NP" dirty="0" smtClean="0">
                <a:cs typeface="Kalimati" panose="00000400000000000000" pitchFamily="2"/>
              </a:rPr>
              <a:t>देखिँदैन। </a:t>
            </a:r>
            <a:endParaRPr lang="ne-NP" dirty="0" smtClean="0">
              <a:cs typeface="Kalimati" panose="00000400000000000000" pitchFamily="2"/>
            </a:endParaRPr>
          </a:p>
          <a:p>
            <a:pPr algn="just"/>
            <a:r>
              <a:rPr lang="ne-NP" dirty="0" smtClean="0">
                <a:cs typeface="Kalimati" panose="00000400000000000000" pitchFamily="2"/>
              </a:rPr>
              <a:t>निवेदकले </a:t>
            </a:r>
            <a:r>
              <a:rPr lang="ne-NP" dirty="0">
                <a:cs typeface="Kalimati" panose="00000400000000000000" pitchFamily="2"/>
              </a:rPr>
              <a:t>उठाएको हदम्यादको प्रश्नमा एउटै निर्विकल्प निष्कर्षमा पुग्नुपर्ने कानूनी अवस्था रहेकोमा अर्को निष्कर्षमा पुगेको भन्ने पनि </a:t>
            </a:r>
            <a:r>
              <a:rPr lang="ne-NP" dirty="0" smtClean="0">
                <a:cs typeface="Kalimati" panose="00000400000000000000" pitchFamily="2"/>
              </a:rPr>
              <a:t>देखिँदैन। </a:t>
            </a:r>
            <a:endParaRPr lang="ne-NP" dirty="0" smtClean="0">
              <a:cs typeface="Kalimati" panose="00000400000000000000" pitchFamily="2"/>
            </a:endParaRPr>
          </a:p>
          <a:p>
            <a:pPr algn="just"/>
            <a:r>
              <a:rPr lang="ne-NP" dirty="0" smtClean="0">
                <a:cs typeface="Kalimati" panose="00000400000000000000" pitchFamily="2"/>
              </a:rPr>
              <a:t>जिल्ला </a:t>
            </a:r>
            <a:r>
              <a:rPr lang="ne-NP" dirty="0">
                <a:cs typeface="Kalimati" panose="00000400000000000000" pitchFamily="2"/>
              </a:rPr>
              <a:t>अदालतले गरेको आदेशउपर कानूनबमोजिम माथिल्लो तहको उच्च अदालतबाट एक तहको कानूनी परीक्षण भएकै </a:t>
            </a:r>
            <a:r>
              <a:rPr lang="ne-NP" dirty="0" smtClean="0">
                <a:cs typeface="Kalimati" panose="00000400000000000000" pitchFamily="2"/>
              </a:rPr>
              <a:t>देखिन्छ। </a:t>
            </a:r>
            <a:endParaRPr lang="ne-NP" dirty="0" smtClean="0">
              <a:cs typeface="Kalimati" panose="00000400000000000000" pitchFamily="2"/>
            </a:endParaRPr>
          </a:p>
          <a:p>
            <a:pPr algn="just"/>
            <a:r>
              <a:rPr lang="ne-NP" dirty="0" smtClean="0">
                <a:cs typeface="Kalimati" panose="00000400000000000000" pitchFamily="2"/>
              </a:rPr>
              <a:t>निवेदन </a:t>
            </a:r>
            <a:r>
              <a:rPr lang="ne-NP" dirty="0">
                <a:cs typeface="Kalimati" panose="00000400000000000000" pitchFamily="2"/>
              </a:rPr>
              <a:t>माग दाबीबमोजिम जिल्ला अदालतबाट भएको आदेश बदर </a:t>
            </a:r>
            <a:r>
              <a:rPr lang="ne-NP" dirty="0" smtClean="0">
                <a:cs typeface="Kalimati" panose="00000400000000000000" pitchFamily="2"/>
              </a:rPr>
              <a:t>गरी </a:t>
            </a:r>
            <a:r>
              <a:rPr lang="ne-NP" dirty="0">
                <a:cs typeface="Kalimati" panose="00000400000000000000" pitchFamily="2"/>
              </a:rPr>
              <a:t>हदम्यादका सम्बन्धमा </a:t>
            </a:r>
            <a:r>
              <a:rPr lang="ne-NP" dirty="0" smtClean="0">
                <a:cs typeface="Kalimati" panose="00000400000000000000" pitchFamily="2"/>
              </a:rPr>
              <a:t>पुनः निर्णय गर्नु </a:t>
            </a:r>
            <a:r>
              <a:rPr lang="ne-NP" dirty="0">
                <a:cs typeface="Kalimati" panose="00000400000000000000" pitchFamily="2"/>
              </a:rPr>
              <a:t>भनेर परमादेशको आदेश जारी गर्ने हो भने </a:t>
            </a:r>
            <a:r>
              <a:rPr lang="ne-NP" dirty="0" smtClean="0">
                <a:cs typeface="Kalimati" panose="00000400000000000000" pitchFamily="2"/>
              </a:rPr>
              <a:t>सारतः </a:t>
            </a:r>
            <a:r>
              <a:rPr lang="ne-NP" dirty="0">
                <a:cs typeface="Kalimati" panose="00000400000000000000" pitchFamily="2"/>
              </a:rPr>
              <a:t>फिरादपत्र हदम्यादभित्र नपरेको भनी आदेश </a:t>
            </a:r>
            <a:r>
              <a:rPr lang="ne-NP" dirty="0" smtClean="0">
                <a:cs typeface="Kalimati" panose="00000400000000000000" pitchFamily="2"/>
              </a:rPr>
              <a:t>गरे सरहको </a:t>
            </a:r>
            <a:r>
              <a:rPr lang="ne-NP" dirty="0">
                <a:cs typeface="Kalimati" panose="00000400000000000000" pitchFamily="2"/>
              </a:rPr>
              <a:t>स्थिति बन्न जाने </a:t>
            </a:r>
            <a:r>
              <a:rPr lang="ne-NP" dirty="0" smtClean="0">
                <a:cs typeface="Kalimati" panose="00000400000000000000" pitchFamily="2"/>
              </a:rPr>
              <a:t>देखिन्छ। </a:t>
            </a:r>
            <a:endParaRPr lang="ne-NP" dirty="0" smtClean="0">
              <a:cs typeface="Kalimati" panose="00000400000000000000" pitchFamily="2"/>
            </a:endParaRPr>
          </a:p>
          <a:p>
            <a:pPr algn="just"/>
            <a:r>
              <a:rPr lang="ne-NP" dirty="0" smtClean="0">
                <a:cs typeface="Kalimati" panose="00000400000000000000" pitchFamily="2"/>
              </a:rPr>
              <a:t>यसो </a:t>
            </a:r>
            <a:r>
              <a:rPr lang="ne-NP" dirty="0">
                <a:cs typeface="Kalimati" panose="00000400000000000000" pitchFamily="2"/>
              </a:rPr>
              <a:t>गर्नु भनेको प्रकारान्तरले मुलुकी देवानी कार्यविधि संहिता</a:t>
            </a:r>
            <a:r>
              <a:rPr lang="en-US" dirty="0">
                <a:cs typeface="Kalimati" panose="00000400000000000000" pitchFamily="2"/>
              </a:rPr>
              <a:t>, </a:t>
            </a:r>
            <a:r>
              <a:rPr lang="ne-NP" dirty="0">
                <a:cs typeface="Kalimati" panose="00000400000000000000" pitchFamily="2"/>
              </a:rPr>
              <a:t>२०७४ को दफा १३३ बमोजिम जिल्ला अदालतमा विचाराधीन </a:t>
            </a:r>
            <a:r>
              <a:rPr lang="ne-NP" dirty="0" smtClean="0">
                <a:cs typeface="Kalimati" panose="00000400000000000000" pitchFamily="2"/>
              </a:rPr>
              <a:t>सो मुद्दा खारेज </a:t>
            </a:r>
            <a:r>
              <a:rPr lang="ne-NP" dirty="0">
                <a:cs typeface="Kalimati" panose="00000400000000000000" pitchFamily="2"/>
              </a:rPr>
              <a:t>भई मुद्दाको कारबाही अन्त्य हुने अवस्था सिर्जना हुने भएकोले संहिताको दफा १३३ को अधिकार यसै अदालतबाट प्रयोग गरेको जस्तो देखिन </a:t>
            </a:r>
            <a:r>
              <a:rPr lang="ne-NP" dirty="0" smtClean="0">
                <a:cs typeface="Kalimati" panose="00000400000000000000" pitchFamily="2"/>
              </a:rPr>
              <a:t>आउँछ।</a:t>
            </a:r>
            <a:r>
              <a:rPr lang="en-US" dirty="0">
                <a:cs typeface="Kalimati" panose="00000400000000000000" pitchFamily="2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183038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e-NP" dirty="0" smtClean="0"/>
              <a:t>वादी प्रतिवादी छलफल</a:t>
            </a:r>
            <a:r>
              <a:rPr lang="ne-NP" dirty="0"/>
              <a:t/>
            </a:r>
            <a:br>
              <a:rPr lang="ne-NP" dirty="0"/>
            </a:br>
            <a:r>
              <a:rPr lang="ne-NP" dirty="0" smtClean="0"/>
              <a:t>अभ्यास-२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आर सप्लायर्सबाट टि कन्सट्रक्सनले नगद तथा उधारोमा सामान लाने गरेकोमा कारोबार बन्द गरेको तर केही रकम तिर्न बाँकी रहेको। </a:t>
            </a:r>
          </a:p>
          <a:p>
            <a:r>
              <a:rPr lang="ne-NP" dirty="0" smtClean="0"/>
              <a:t>२०७५।।१।११ मा बाँकी रकम रू ४,२६,४११।– चुक्ता गर्नु भन्ने पत्र लेखी जिल्ला अदालतमा फिराद दायर भएको।</a:t>
            </a:r>
          </a:p>
          <a:p>
            <a:r>
              <a:rPr lang="ne-NP" dirty="0" smtClean="0"/>
              <a:t>समयमा सामान नदिएकोले कारोबार बन्द गरेको। आफुले नगदमा कारोबार गरेकोले कुनै रकम तिर्न बाँकी छैन। कुनै लिखत छैन। आफु खुशी राखेको बहीखातालाई प्रमाणिक मान्न मिल्दैन भन्ने समेतको प्रतिउत्तर पत्र।</a:t>
            </a:r>
          </a:p>
        </p:txBody>
      </p:sp>
    </p:spTree>
    <p:extLst>
      <p:ext uri="{BB962C8B-B14F-4D97-AF65-F5344CB8AC3E}">
        <p14:creationId xmlns:p14="http://schemas.microsoft.com/office/powerpoint/2010/main" val="2513852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फौजदारी कार्यविधि संहिता, २०७४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8074" y="1681451"/>
            <a:ext cx="8281417" cy="8991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569" y="2543642"/>
            <a:ext cx="7621922" cy="4321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876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मुलुकी देवानी कार्यविधि संहिता, २०७४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834709"/>
            <a:ext cx="10430821" cy="4298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732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5709" y="187455"/>
            <a:ext cx="9180946" cy="56406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156" y="5994407"/>
            <a:ext cx="8380189" cy="80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382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4980"/>
            <a:ext cx="10515600" cy="1943965"/>
          </a:xfrm>
        </p:spPr>
        <p:txBody>
          <a:bodyPr>
            <a:normAutofit/>
          </a:bodyPr>
          <a:lstStyle/>
          <a:p>
            <a:pPr algn="ctr"/>
            <a:r>
              <a:rPr lang="ne-NP" dirty="0" smtClean="0">
                <a:solidFill>
                  <a:srgbClr val="C00000"/>
                </a:solidFill>
              </a:rPr>
              <a:t>न्यायालयको जिम्मेवारी </a:t>
            </a:r>
            <a:br>
              <a:rPr lang="ne-NP" dirty="0" smtClean="0">
                <a:solidFill>
                  <a:srgbClr val="C00000"/>
                </a:solidFill>
              </a:rPr>
            </a:br>
            <a:r>
              <a:rPr lang="ne-NP" dirty="0" smtClean="0">
                <a:solidFill>
                  <a:srgbClr val="C00000"/>
                </a:solidFill>
              </a:rPr>
              <a:t>विवाद समाधान गर्नु हो, बल्झाउनु होइन।</a:t>
            </a:r>
            <a:br>
              <a:rPr lang="ne-NP" dirty="0" smtClean="0">
                <a:solidFill>
                  <a:srgbClr val="C00000"/>
                </a:solidFill>
              </a:rPr>
            </a:br>
            <a:r>
              <a:rPr lang="ne-NP" dirty="0" smtClean="0">
                <a:solidFill>
                  <a:srgbClr val="C00000"/>
                </a:solidFill>
              </a:rPr>
              <a:t>धन्यवाद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164" y="2023312"/>
            <a:ext cx="9254836" cy="4557376"/>
          </a:xfrm>
        </p:spPr>
      </p:pic>
    </p:spTree>
    <p:extLst>
      <p:ext uri="{BB962C8B-B14F-4D97-AF65-F5344CB8AC3E}">
        <p14:creationId xmlns:p14="http://schemas.microsoft.com/office/powerpoint/2010/main" val="13566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580</Words>
  <Application>Microsoft Office PowerPoint</Application>
  <PresentationFormat>Widescreen</PresentationFormat>
  <Paragraphs>50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Calibri Light</vt:lpstr>
      <vt:lpstr>Kalimati</vt:lpstr>
      <vt:lpstr>Kokila</vt:lpstr>
      <vt:lpstr>Mangal</vt:lpstr>
      <vt:lpstr>Times New Roman</vt:lpstr>
      <vt:lpstr>Wingdings</vt:lpstr>
      <vt:lpstr>Office Theme</vt:lpstr>
      <vt:lpstr>प्रारम्भिक सुनुवाई  र  वादी प्रतिवादी छलफल</vt:lpstr>
      <vt:lpstr>प्रारम्भिक सुनुवाई किन?</vt:lpstr>
      <vt:lpstr>अम्यास-१</vt:lpstr>
      <vt:lpstr>ऐतिहासिक पृष्टभूमि</vt:lpstr>
      <vt:lpstr>क्रमशः</vt:lpstr>
      <vt:lpstr>क्रमशः अ.बं. २९ क्षेत्राधिकार</vt:lpstr>
      <vt:lpstr>क्रमशः</vt:lpstr>
      <vt:lpstr>क्रमशः</vt:lpstr>
      <vt:lpstr>मध्यस्थता ऐन, २०५५</vt:lpstr>
      <vt:lpstr>मुलुकी फौजदारी कार्यविधि संहिता, २०७४</vt:lpstr>
      <vt:lpstr>मुलुकी देवानी कार्यविधि संहिता, २०७४</vt:lpstr>
      <vt:lpstr>PowerPoint Presentation</vt:lpstr>
      <vt:lpstr>PowerPoint Presentation</vt:lpstr>
      <vt:lpstr>PowerPoint Presentation</vt:lpstr>
      <vt:lpstr>PowerPoint Presentation</vt:lpstr>
      <vt:lpstr>अभ्यास क्रमशः</vt:lpstr>
      <vt:lpstr>सर्वोच्च अदालतमा रिट दायर</vt:lpstr>
      <vt:lpstr>पूर्ण इजलाशको फैसला आदेश</vt:lpstr>
      <vt:lpstr>वादी प्रतिवादी छलफल अभ्यास-२</vt:lpstr>
      <vt:lpstr>फौजदारी कार्यविधि संहिता, २०७४</vt:lpstr>
      <vt:lpstr>मुलुकी देवानी कार्यविधि संहिता, २०७४</vt:lpstr>
      <vt:lpstr>PowerPoint Presentation</vt:lpstr>
      <vt:lpstr>न्यायालयको जिम्मेवारी  विवाद समाधान गर्नु हो, बल्झाउनु होइन। धन्यवाद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प्रारम्भिक सुनुवाई</dc:title>
  <dc:creator>Microsoft account</dc:creator>
  <cp:lastModifiedBy>Microsoft account</cp:lastModifiedBy>
  <cp:revision>49</cp:revision>
  <dcterms:created xsi:type="dcterms:W3CDTF">2025-12-02T13:55:09Z</dcterms:created>
  <dcterms:modified xsi:type="dcterms:W3CDTF">2026-01-12T15:57:36Z</dcterms:modified>
</cp:coreProperties>
</file>